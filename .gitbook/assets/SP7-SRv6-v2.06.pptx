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327"/>
  </p:notesMasterIdLst>
  <p:handoutMasterIdLst>
    <p:handoutMasterId r:id="rId328"/>
  </p:handoutMasterIdLst>
  <p:sldIdLst>
    <p:sldId id="256" r:id="rId5"/>
    <p:sldId id="259" r:id="rId6"/>
    <p:sldId id="1092" r:id="rId7"/>
    <p:sldId id="1090" r:id="rId8"/>
    <p:sldId id="1091" r:id="rId9"/>
    <p:sldId id="1093" r:id="rId10"/>
    <p:sldId id="262" r:id="rId11"/>
    <p:sldId id="263" r:id="rId12"/>
    <p:sldId id="782" r:id="rId13"/>
    <p:sldId id="783" r:id="rId14"/>
    <p:sldId id="784" r:id="rId15"/>
    <p:sldId id="785" r:id="rId16"/>
    <p:sldId id="786" r:id="rId17"/>
    <p:sldId id="789" r:id="rId18"/>
    <p:sldId id="787" r:id="rId19"/>
    <p:sldId id="790" r:id="rId20"/>
    <p:sldId id="870" r:id="rId21"/>
    <p:sldId id="871" r:id="rId22"/>
    <p:sldId id="1504" r:id="rId23"/>
    <p:sldId id="1505" r:id="rId24"/>
    <p:sldId id="791" r:id="rId25"/>
    <p:sldId id="905" r:id="rId26"/>
    <p:sldId id="796" r:id="rId27"/>
    <p:sldId id="797" r:id="rId28"/>
    <p:sldId id="798" r:id="rId29"/>
    <p:sldId id="799" r:id="rId30"/>
    <p:sldId id="801" r:id="rId31"/>
    <p:sldId id="800" r:id="rId32"/>
    <p:sldId id="804" r:id="rId33"/>
    <p:sldId id="1411" r:id="rId34"/>
    <p:sldId id="1412" r:id="rId35"/>
    <p:sldId id="1281" r:id="rId36"/>
    <p:sldId id="856" r:id="rId37"/>
    <p:sldId id="1282" r:id="rId38"/>
    <p:sldId id="855" r:id="rId39"/>
    <p:sldId id="1317" r:id="rId40"/>
    <p:sldId id="1085" r:id="rId41"/>
    <p:sldId id="1086" r:id="rId42"/>
    <p:sldId id="1094" r:id="rId43"/>
    <p:sldId id="1087" r:id="rId44"/>
    <p:sldId id="1095" r:id="rId45"/>
    <p:sldId id="1096" r:id="rId46"/>
    <p:sldId id="1088" r:id="rId47"/>
    <p:sldId id="1084" r:id="rId48"/>
    <p:sldId id="1089" r:id="rId49"/>
    <p:sldId id="1079" r:id="rId50"/>
    <p:sldId id="1284" r:id="rId51"/>
    <p:sldId id="1285" r:id="rId52"/>
    <p:sldId id="1286" r:id="rId53"/>
    <p:sldId id="1287" r:id="rId54"/>
    <p:sldId id="1289" r:id="rId55"/>
    <p:sldId id="1288" r:id="rId56"/>
    <p:sldId id="1077" r:id="rId57"/>
    <p:sldId id="1078" r:id="rId58"/>
    <p:sldId id="1080" r:id="rId59"/>
    <p:sldId id="1304" r:id="rId60"/>
    <p:sldId id="1305" r:id="rId61"/>
    <p:sldId id="1306" r:id="rId62"/>
    <p:sldId id="1307" r:id="rId63"/>
    <p:sldId id="1308" r:id="rId64"/>
    <p:sldId id="1309" r:id="rId65"/>
    <p:sldId id="1310" r:id="rId66"/>
    <p:sldId id="1311" r:id="rId67"/>
    <p:sldId id="1312" r:id="rId68"/>
    <p:sldId id="1313" r:id="rId69"/>
    <p:sldId id="1314" r:id="rId70"/>
    <p:sldId id="1315" r:id="rId71"/>
    <p:sldId id="1450" r:id="rId72"/>
    <p:sldId id="1447" r:id="rId73"/>
    <p:sldId id="1448" r:id="rId74"/>
    <p:sldId id="1449" r:id="rId75"/>
    <p:sldId id="1395" r:id="rId76"/>
    <p:sldId id="1396" r:id="rId77"/>
    <p:sldId id="1397" r:id="rId78"/>
    <p:sldId id="1398" r:id="rId79"/>
    <p:sldId id="861" r:id="rId80"/>
    <p:sldId id="860" r:id="rId81"/>
    <p:sldId id="865" r:id="rId82"/>
    <p:sldId id="866" r:id="rId83"/>
    <p:sldId id="862" r:id="rId84"/>
    <p:sldId id="863" r:id="rId85"/>
    <p:sldId id="867" r:id="rId86"/>
    <p:sldId id="1082" r:id="rId87"/>
    <p:sldId id="1083" r:id="rId88"/>
    <p:sldId id="1517" r:id="rId89"/>
    <p:sldId id="1506" r:id="rId90"/>
    <p:sldId id="1495" r:id="rId91"/>
    <p:sldId id="1524" r:id="rId92"/>
    <p:sldId id="1491" r:id="rId93"/>
    <p:sldId id="1492" r:id="rId94"/>
    <p:sldId id="1493" r:id="rId95"/>
    <p:sldId id="1494" r:id="rId96"/>
    <p:sldId id="1512" r:id="rId97"/>
    <p:sldId id="1513" r:id="rId98"/>
    <p:sldId id="1514" r:id="rId99"/>
    <p:sldId id="1515" r:id="rId100"/>
    <p:sldId id="1435" r:id="rId101"/>
    <p:sldId id="1572" r:id="rId102"/>
    <p:sldId id="1573" r:id="rId103"/>
    <p:sldId id="1434" r:id="rId104"/>
    <p:sldId id="1530" r:id="rId105"/>
    <p:sldId id="1531" r:id="rId106"/>
    <p:sldId id="1532" r:id="rId107"/>
    <p:sldId id="1533" r:id="rId108"/>
    <p:sldId id="1534" r:id="rId109"/>
    <p:sldId id="2147483418" r:id="rId110"/>
    <p:sldId id="2147483417" r:id="rId111"/>
    <p:sldId id="1436" r:id="rId112"/>
    <p:sldId id="1456" r:id="rId113"/>
    <p:sldId id="1536" r:id="rId114"/>
    <p:sldId id="1535" r:id="rId115"/>
    <p:sldId id="1290" r:id="rId116"/>
    <p:sldId id="1291" r:id="rId117"/>
    <p:sldId id="1518" r:id="rId118"/>
    <p:sldId id="1414" r:id="rId119"/>
    <p:sldId id="1519" r:id="rId120"/>
    <p:sldId id="1415" r:id="rId121"/>
    <p:sldId id="1416" r:id="rId122"/>
    <p:sldId id="1417" r:id="rId123"/>
    <p:sldId id="1418" r:id="rId124"/>
    <p:sldId id="1419" r:id="rId125"/>
    <p:sldId id="1420" r:id="rId126"/>
    <p:sldId id="1292" r:id="rId127"/>
    <p:sldId id="1293" r:id="rId128"/>
    <p:sldId id="1294" r:id="rId129"/>
    <p:sldId id="1296" r:id="rId130"/>
    <p:sldId id="1297" r:id="rId131"/>
    <p:sldId id="1298" r:id="rId132"/>
    <p:sldId id="1299" r:id="rId133"/>
    <p:sldId id="1300" r:id="rId134"/>
    <p:sldId id="1301" r:id="rId135"/>
    <p:sldId id="1302" r:id="rId136"/>
    <p:sldId id="1421" r:id="rId137"/>
    <p:sldId id="1422" r:id="rId138"/>
    <p:sldId id="1521" r:id="rId139"/>
    <p:sldId id="1522" r:id="rId140"/>
    <p:sldId id="1523" r:id="rId141"/>
    <p:sldId id="1525" r:id="rId142"/>
    <p:sldId id="1520" r:id="rId143"/>
    <p:sldId id="1428" r:id="rId144"/>
    <p:sldId id="1423" r:id="rId145"/>
    <p:sldId id="1427" r:id="rId146"/>
    <p:sldId id="1424" r:id="rId147"/>
    <p:sldId id="1509" r:id="rId148"/>
    <p:sldId id="1496" r:id="rId149"/>
    <p:sldId id="1498" r:id="rId150"/>
    <p:sldId id="1499" r:id="rId151"/>
    <p:sldId id="1500" r:id="rId152"/>
    <p:sldId id="1501" r:id="rId153"/>
    <p:sldId id="1502" r:id="rId154"/>
    <p:sldId id="1295" r:id="rId155"/>
    <p:sldId id="1316" r:id="rId156"/>
    <p:sldId id="1081" r:id="rId157"/>
    <p:sldId id="1401" r:id="rId158"/>
    <p:sldId id="1402" r:id="rId159"/>
    <p:sldId id="1403" r:id="rId160"/>
    <p:sldId id="1404" r:id="rId161"/>
    <p:sldId id="1405" r:id="rId162"/>
    <p:sldId id="1406" r:id="rId163"/>
    <p:sldId id="1407" r:id="rId164"/>
    <p:sldId id="1408" r:id="rId165"/>
    <p:sldId id="1409" r:id="rId166"/>
    <p:sldId id="1410" r:id="rId167"/>
    <p:sldId id="1413" r:id="rId168"/>
    <p:sldId id="1425" r:id="rId169"/>
    <p:sldId id="1426" r:id="rId170"/>
    <p:sldId id="1438" r:id="rId171"/>
    <p:sldId id="1439" r:id="rId172"/>
    <p:sldId id="1537" r:id="rId173"/>
    <p:sldId id="1318" r:id="rId174"/>
    <p:sldId id="1526" r:id="rId175"/>
    <p:sldId id="1544" r:id="rId176"/>
    <p:sldId id="1322" r:id="rId177"/>
    <p:sldId id="1323" r:id="rId178"/>
    <p:sldId id="1324" r:id="rId179"/>
    <p:sldId id="1527" r:id="rId180"/>
    <p:sldId id="1538" r:id="rId181"/>
    <p:sldId id="1541" r:id="rId182"/>
    <p:sldId id="1540" r:id="rId183"/>
    <p:sldId id="1542" r:id="rId184"/>
    <p:sldId id="1543" r:id="rId185"/>
    <p:sldId id="1546" r:id="rId186"/>
    <p:sldId id="1545" r:id="rId187"/>
    <p:sldId id="1319" r:id="rId188"/>
    <p:sldId id="1446" r:id="rId189"/>
    <p:sldId id="1320" r:id="rId190"/>
    <p:sldId id="1321" r:id="rId191"/>
    <p:sldId id="1564" r:id="rId192"/>
    <p:sldId id="1529" r:id="rId193"/>
    <p:sldId id="1549" r:id="rId194"/>
    <p:sldId id="1548" r:id="rId195"/>
    <p:sldId id="1459" r:id="rId196"/>
    <p:sldId id="1460" r:id="rId197"/>
    <p:sldId id="1461" r:id="rId198"/>
    <p:sldId id="1462" r:id="rId199"/>
    <p:sldId id="1463" r:id="rId200"/>
    <p:sldId id="1464" r:id="rId201"/>
    <p:sldId id="1465" r:id="rId202"/>
    <p:sldId id="1466" r:id="rId203"/>
    <p:sldId id="1467" r:id="rId204"/>
    <p:sldId id="1468" r:id="rId205"/>
    <p:sldId id="1547" r:id="rId206"/>
    <p:sldId id="1471" r:id="rId207"/>
    <p:sldId id="1470" r:id="rId208"/>
    <p:sldId id="1472" r:id="rId209"/>
    <p:sldId id="1473" r:id="rId210"/>
    <p:sldId id="1474" r:id="rId211"/>
    <p:sldId id="1475" r:id="rId212"/>
    <p:sldId id="1476" r:id="rId213"/>
    <p:sldId id="1477" r:id="rId214"/>
    <p:sldId id="1478" r:id="rId215"/>
    <p:sldId id="1479" r:id="rId216"/>
    <p:sldId id="1480" r:id="rId217"/>
    <p:sldId id="1481" r:id="rId218"/>
    <p:sldId id="1482" r:id="rId219"/>
    <p:sldId id="1483" r:id="rId220"/>
    <p:sldId id="1484" r:id="rId221"/>
    <p:sldId id="1486" r:id="rId222"/>
    <p:sldId id="1487" r:id="rId223"/>
    <p:sldId id="1488" r:id="rId224"/>
    <p:sldId id="1489" r:id="rId225"/>
    <p:sldId id="1490" r:id="rId226"/>
    <p:sldId id="1565" r:id="rId227"/>
    <p:sldId id="1566" r:id="rId228"/>
    <p:sldId id="1444" r:id="rId229"/>
    <p:sldId id="1283" r:id="rId230"/>
    <p:sldId id="2147483339" r:id="rId231"/>
    <p:sldId id="2147483347" r:id="rId232"/>
    <p:sldId id="2147483348" r:id="rId233"/>
    <p:sldId id="2147483349" r:id="rId234"/>
    <p:sldId id="1559" r:id="rId235"/>
    <p:sldId id="1560" r:id="rId236"/>
    <p:sldId id="1557" r:id="rId237"/>
    <p:sldId id="1558" r:id="rId238"/>
    <p:sldId id="1563" r:id="rId239"/>
    <p:sldId id="2147483351" r:id="rId240"/>
    <p:sldId id="2147483350" r:id="rId241"/>
    <p:sldId id="2147483352" r:id="rId242"/>
    <p:sldId id="2147483353" r:id="rId243"/>
    <p:sldId id="2147483354" r:id="rId244"/>
    <p:sldId id="1567" r:id="rId245"/>
    <p:sldId id="1561" r:id="rId246"/>
    <p:sldId id="1569" r:id="rId247"/>
    <p:sldId id="1570" r:id="rId248"/>
    <p:sldId id="2147483355" r:id="rId249"/>
    <p:sldId id="2147483356" r:id="rId250"/>
    <p:sldId id="2147483357" r:id="rId251"/>
    <p:sldId id="2147483358" r:id="rId252"/>
    <p:sldId id="2147483359" r:id="rId253"/>
    <p:sldId id="2147483360" r:id="rId254"/>
    <p:sldId id="2147483361" r:id="rId255"/>
    <p:sldId id="2147483363" r:id="rId256"/>
    <p:sldId id="2147483362" r:id="rId257"/>
    <p:sldId id="1568" r:id="rId258"/>
    <p:sldId id="2147483364" r:id="rId259"/>
    <p:sldId id="1571" r:id="rId260"/>
    <p:sldId id="2147483419" r:id="rId261"/>
    <p:sldId id="2147483365" r:id="rId262"/>
    <p:sldId id="1562" r:id="rId263"/>
    <p:sldId id="1511" r:id="rId264"/>
    <p:sldId id="2147483420" r:id="rId265"/>
    <p:sldId id="2147483416" r:id="rId266"/>
    <p:sldId id="1507" r:id="rId267"/>
    <p:sldId id="2147483366" r:id="rId268"/>
    <p:sldId id="1445" r:id="rId269"/>
    <p:sldId id="1555" r:id="rId270"/>
    <p:sldId id="2147483367" r:id="rId271"/>
    <p:sldId id="1451" r:id="rId272"/>
    <p:sldId id="1453" r:id="rId273"/>
    <p:sldId id="1553" r:id="rId274"/>
    <p:sldId id="1554" r:id="rId275"/>
    <p:sldId id="1552" r:id="rId276"/>
    <p:sldId id="2147483368" r:id="rId277"/>
    <p:sldId id="1550" r:id="rId278"/>
    <p:sldId id="1454" r:id="rId279"/>
    <p:sldId id="2147483369" r:id="rId280"/>
    <p:sldId id="1455" r:id="rId281"/>
    <p:sldId id="1457" r:id="rId282"/>
    <p:sldId id="2147483370" r:id="rId283"/>
    <p:sldId id="2147483380" r:id="rId284"/>
    <p:sldId id="2147483376" r:id="rId285"/>
    <p:sldId id="2147483381" r:id="rId286"/>
    <p:sldId id="2147483377" r:id="rId287"/>
    <p:sldId id="2147483382" r:id="rId288"/>
    <p:sldId id="2147483383" r:id="rId289"/>
    <p:sldId id="2147483384" r:id="rId290"/>
    <p:sldId id="2147483385" r:id="rId291"/>
    <p:sldId id="2147483371" r:id="rId292"/>
    <p:sldId id="2147483387" r:id="rId293"/>
    <p:sldId id="2147483388" r:id="rId294"/>
    <p:sldId id="2147483389" r:id="rId295"/>
    <p:sldId id="2147483390" r:id="rId296"/>
    <p:sldId id="2147483391" r:id="rId297"/>
    <p:sldId id="2147483392" r:id="rId298"/>
    <p:sldId id="2147483393" r:id="rId299"/>
    <p:sldId id="2147483394" r:id="rId300"/>
    <p:sldId id="2147483395" r:id="rId301"/>
    <p:sldId id="2147483396" r:id="rId302"/>
    <p:sldId id="2147483397" r:id="rId303"/>
    <p:sldId id="2147483398" r:id="rId304"/>
    <p:sldId id="2147483399" r:id="rId305"/>
    <p:sldId id="2147483400" r:id="rId306"/>
    <p:sldId id="2147483403" r:id="rId307"/>
    <p:sldId id="2147483404" r:id="rId308"/>
    <p:sldId id="2147483406" r:id="rId309"/>
    <p:sldId id="2147483407" r:id="rId310"/>
    <p:sldId id="2147483408" r:id="rId311"/>
    <p:sldId id="2147483409" r:id="rId312"/>
    <p:sldId id="2147483410" r:id="rId313"/>
    <p:sldId id="2147483411" r:id="rId314"/>
    <p:sldId id="2147483412" r:id="rId315"/>
    <p:sldId id="2147483401" r:id="rId316"/>
    <p:sldId id="2147483402" r:id="rId317"/>
    <p:sldId id="2147483413" r:id="rId318"/>
    <p:sldId id="2147483414" r:id="rId319"/>
    <p:sldId id="2147483415" r:id="rId320"/>
    <p:sldId id="1503" r:id="rId321"/>
    <p:sldId id="1097" r:id="rId322"/>
    <p:sldId id="1098" r:id="rId323"/>
    <p:sldId id="1099" r:id="rId324"/>
    <p:sldId id="1556" r:id="rId325"/>
    <p:sldId id="780" r:id="rId326"/>
  </p:sldIdLst>
  <p:sldSz cx="12192000" cy="6858000"/>
  <p:notesSz cx="6858000" cy="9144000"/>
  <p:defaultTextStyle>
    <a:defPPr>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661C"/>
    <a:srgbClr val="0066FF"/>
    <a:srgbClr val="04AB5D"/>
    <a:srgbClr val="73BF4A"/>
    <a:srgbClr val="7030A0"/>
    <a:srgbClr val="06AB5E"/>
    <a:srgbClr val="FFBB00"/>
    <a:srgbClr val="FDC003"/>
    <a:srgbClr val="4F81BC"/>
    <a:srgbClr val="9398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CC3AF2-919A-4B53-B5F0-CB273024A122}" v="5" dt="2026-04-06T08:54:37.4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8" autoAdjust="0"/>
    <p:restoredTop sz="88107" autoAdjust="0"/>
  </p:normalViewPr>
  <p:slideViewPr>
    <p:cSldViewPr snapToGrid="0">
      <p:cViewPr varScale="1">
        <p:scale>
          <a:sx n="72" d="100"/>
          <a:sy n="72" d="100"/>
        </p:scale>
        <p:origin x="998" y="67"/>
      </p:cViewPr>
      <p:guideLst/>
    </p:cSldViewPr>
  </p:slideViewPr>
  <p:outlineViewPr>
    <p:cViewPr>
      <p:scale>
        <a:sx n="33" d="100"/>
        <a:sy n="33" d="100"/>
      </p:scale>
      <p:origin x="0" y="-249686"/>
    </p:cViewPr>
  </p:outlineViewPr>
  <p:notesTextViewPr>
    <p:cViewPr>
      <p:scale>
        <a:sx n="1" d="1"/>
        <a:sy n="1" d="1"/>
      </p:scale>
      <p:origin x="0" y="0"/>
    </p:cViewPr>
  </p:notesTextViewPr>
  <p:sorterViewPr>
    <p:cViewPr>
      <p:scale>
        <a:sx n="150" d="100"/>
        <a:sy n="150" d="100"/>
      </p:scale>
      <p:origin x="0" y="-271195"/>
    </p:cViewPr>
  </p:sorterViewPr>
  <p:notesViewPr>
    <p:cSldViewPr snapToGrid="0">
      <p:cViewPr varScale="1">
        <p:scale>
          <a:sx n="51" d="100"/>
          <a:sy n="51" d="100"/>
        </p:scale>
        <p:origin x="2328" y="84"/>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99" Type="http://schemas.openxmlformats.org/officeDocument/2006/relationships/slide" Target="slides/slide295.xml"/><Relationship Id="rId21" Type="http://schemas.openxmlformats.org/officeDocument/2006/relationships/slide" Target="slides/slide17.xml"/><Relationship Id="rId63" Type="http://schemas.openxmlformats.org/officeDocument/2006/relationships/slide" Target="slides/slide59.xml"/><Relationship Id="rId159" Type="http://schemas.openxmlformats.org/officeDocument/2006/relationships/slide" Target="slides/slide155.xml"/><Relationship Id="rId324" Type="http://schemas.openxmlformats.org/officeDocument/2006/relationships/slide" Target="slides/slide320.xml"/><Relationship Id="rId170" Type="http://schemas.openxmlformats.org/officeDocument/2006/relationships/slide" Target="slides/slide166.xml"/><Relationship Id="rId226" Type="http://schemas.openxmlformats.org/officeDocument/2006/relationships/slide" Target="slides/slide222.xml"/><Relationship Id="rId268" Type="http://schemas.openxmlformats.org/officeDocument/2006/relationships/slide" Target="slides/slide264.xml"/><Relationship Id="rId32" Type="http://schemas.openxmlformats.org/officeDocument/2006/relationships/slide" Target="slides/slide28.xml"/><Relationship Id="rId74" Type="http://schemas.openxmlformats.org/officeDocument/2006/relationships/slide" Target="slides/slide70.xml"/><Relationship Id="rId128" Type="http://schemas.openxmlformats.org/officeDocument/2006/relationships/slide" Target="slides/slide124.xml"/><Relationship Id="rId5" Type="http://schemas.openxmlformats.org/officeDocument/2006/relationships/slide" Target="slides/slide1.xml"/><Relationship Id="rId181" Type="http://schemas.openxmlformats.org/officeDocument/2006/relationships/slide" Target="slides/slide177.xml"/><Relationship Id="rId237" Type="http://schemas.openxmlformats.org/officeDocument/2006/relationships/slide" Target="slides/slide233.xml"/><Relationship Id="rId279" Type="http://schemas.openxmlformats.org/officeDocument/2006/relationships/slide" Target="slides/slide275.xml"/><Relationship Id="rId43" Type="http://schemas.openxmlformats.org/officeDocument/2006/relationships/slide" Target="slides/slide39.xml"/><Relationship Id="rId139" Type="http://schemas.openxmlformats.org/officeDocument/2006/relationships/slide" Target="slides/slide135.xml"/><Relationship Id="rId290" Type="http://schemas.openxmlformats.org/officeDocument/2006/relationships/slide" Target="slides/slide286.xml"/><Relationship Id="rId304" Type="http://schemas.openxmlformats.org/officeDocument/2006/relationships/slide" Target="slides/slide300.xml"/><Relationship Id="rId85" Type="http://schemas.openxmlformats.org/officeDocument/2006/relationships/slide" Target="slides/slide81.xml"/><Relationship Id="rId150" Type="http://schemas.openxmlformats.org/officeDocument/2006/relationships/slide" Target="slides/slide146.xml"/><Relationship Id="rId192" Type="http://schemas.openxmlformats.org/officeDocument/2006/relationships/slide" Target="slides/slide188.xml"/><Relationship Id="rId206" Type="http://schemas.openxmlformats.org/officeDocument/2006/relationships/slide" Target="slides/slide202.xml"/><Relationship Id="rId248" Type="http://schemas.openxmlformats.org/officeDocument/2006/relationships/slide" Target="slides/slide244.xml"/><Relationship Id="rId12" Type="http://schemas.openxmlformats.org/officeDocument/2006/relationships/slide" Target="slides/slide8.xml"/><Relationship Id="rId108" Type="http://schemas.openxmlformats.org/officeDocument/2006/relationships/slide" Target="slides/slide104.xml"/><Relationship Id="rId315" Type="http://schemas.openxmlformats.org/officeDocument/2006/relationships/slide" Target="slides/slide311.xml"/><Relationship Id="rId54" Type="http://schemas.openxmlformats.org/officeDocument/2006/relationships/slide" Target="slides/slide50.xml"/><Relationship Id="rId96" Type="http://schemas.openxmlformats.org/officeDocument/2006/relationships/slide" Target="slides/slide92.xml"/><Relationship Id="rId161" Type="http://schemas.openxmlformats.org/officeDocument/2006/relationships/slide" Target="slides/slide157.xml"/><Relationship Id="rId217" Type="http://schemas.openxmlformats.org/officeDocument/2006/relationships/slide" Target="slides/slide213.xml"/><Relationship Id="rId259" Type="http://schemas.openxmlformats.org/officeDocument/2006/relationships/slide" Target="slides/slide255.xml"/><Relationship Id="rId23" Type="http://schemas.openxmlformats.org/officeDocument/2006/relationships/slide" Target="slides/slide19.xml"/><Relationship Id="rId119" Type="http://schemas.openxmlformats.org/officeDocument/2006/relationships/slide" Target="slides/slide115.xml"/><Relationship Id="rId270" Type="http://schemas.openxmlformats.org/officeDocument/2006/relationships/slide" Target="slides/slide266.xml"/><Relationship Id="rId326" Type="http://schemas.openxmlformats.org/officeDocument/2006/relationships/slide" Target="slides/slide322.xml"/><Relationship Id="rId65" Type="http://schemas.openxmlformats.org/officeDocument/2006/relationships/slide" Target="slides/slide61.xml"/><Relationship Id="rId130" Type="http://schemas.openxmlformats.org/officeDocument/2006/relationships/slide" Target="slides/slide126.xml"/><Relationship Id="rId172" Type="http://schemas.openxmlformats.org/officeDocument/2006/relationships/slide" Target="slides/slide168.xml"/><Relationship Id="rId228" Type="http://schemas.openxmlformats.org/officeDocument/2006/relationships/slide" Target="slides/slide224.xml"/><Relationship Id="rId281" Type="http://schemas.openxmlformats.org/officeDocument/2006/relationships/slide" Target="slides/slide277.xml"/><Relationship Id="rId34" Type="http://schemas.openxmlformats.org/officeDocument/2006/relationships/slide" Target="slides/slide30.xml"/><Relationship Id="rId76" Type="http://schemas.openxmlformats.org/officeDocument/2006/relationships/slide" Target="slides/slide72.xml"/><Relationship Id="rId141" Type="http://schemas.openxmlformats.org/officeDocument/2006/relationships/slide" Target="slides/slide137.xml"/><Relationship Id="rId7" Type="http://schemas.openxmlformats.org/officeDocument/2006/relationships/slide" Target="slides/slide3.xml"/><Relationship Id="rId183" Type="http://schemas.openxmlformats.org/officeDocument/2006/relationships/slide" Target="slides/slide179.xml"/><Relationship Id="rId239" Type="http://schemas.openxmlformats.org/officeDocument/2006/relationships/slide" Target="slides/slide235.xml"/><Relationship Id="rId250" Type="http://schemas.openxmlformats.org/officeDocument/2006/relationships/slide" Target="slides/slide246.xml"/><Relationship Id="rId292" Type="http://schemas.openxmlformats.org/officeDocument/2006/relationships/slide" Target="slides/slide288.xml"/><Relationship Id="rId306" Type="http://schemas.openxmlformats.org/officeDocument/2006/relationships/slide" Target="slides/slide302.xml"/><Relationship Id="rId24" Type="http://schemas.openxmlformats.org/officeDocument/2006/relationships/slide" Target="slides/slide20.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31" Type="http://schemas.openxmlformats.org/officeDocument/2006/relationships/slide" Target="slides/slide127.xml"/><Relationship Id="rId327" Type="http://schemas.openxmlformats.org/officeDocument/2006/relationships/notesMaster" Target="notesMasters/notesMaster1.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208" Type="http://schemas.openxmlformats.org/officeDocument/2006/relationships/slide" Target="slides/slide204.xml"/><Relationship Id="rId229" Type="http://schemas.openxmlformats.org/officeDocument/2006/relationships/slide" Target="slides/slide225.xml"/><Relationship Id="rId240" Type="http://schemas.openxmlformats.org/officeDocument/2006/relationships/slide" Target="slides/slide236.xml"/><Relationship Id="rId261" Type="http://schemas.openxmlformats.org/officeDocument/2006/relationships/slide" Target="slides/slide257.xml"/><Relationship Id="rId14" Type="http://schemas.openxmlformats.org/officeDocument/2006/relationships/slide" Target="slides/slide10.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282" Type="http://schemas.openxmlformats.org/officeDocument/2006/relationships/slide" Target="slides/slide278.xml"/><Relationship Id="rId317" Type="http://schemas.openxmlformats.org/officeDocument/2006/relationships/slide" Target="slides/slide313.xml"/><Relationship Id="rId8" Type="http://schemas.openxmlformats.org/officeDocument/2006/relationships/slide" Target="slides/slide4.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219" Type="http://schemas.openxmlformats.org/officeDocument/2006/relationships/slide" Target="slides/slide215.xml"/><Relationship Id="rId230" Type="http://schemas.openxmlformats.org/officeDocument/2006/relationships/slide" Target="slides/slide226.xml"/><Relationship Id="rId251" Type="http://schemas.openxmlformats.org/officeDocument/2006/relationships/slide" Target="slides/slide247.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72" Type="http://schemas.openxmlformats.org/officeDocument/2006/relationships/slide" Target="slides/slide268.xml"/><Relationship Id="rId293" Type="http://schemas.openxmlformats.org/officeDocument/2006/relationships/slide" Target="slides/slide289.xml"/><Relationship Id="rId307" Type="http://schemas.openxmlformats.org/officeDocument/2006/relationships/slide" Target="slides/slide303.xml"/><Relationship Id="rId328" Type="http://schemas.openxmlformats.org/officeDocument/2006/relationships/handoutMaster" Target="handoutMasters/handoutMaster1.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95" Type="http://schemas.openxmlformats.org/officeDocument/2006/relationships/slide" Target="slides/slide191.xml"/><Relationship Id="rId209" Type="http://schemas.openxmlformats.org/officeDocument/2006/relationships/slide" Target="slides/slide205.xml"/><Relationship Id="rId220" Type="http://schemas.openxmlformats.org/officeDocument/2006/relationships/slide" Target="slides/slide216.xml"/><Relationship Id="rId241" Type="http://schemas.openxmlformats.org/officeDocument/2006/relationships/slide" Target="slides/slide23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262" Type="http://schemas.openxmlformats.org/officeDocument/2006/relationships/slide" Target="slides/slide258.xml"/><Relationship Id="rId283" Type="http://schemas.openxmlformats.org/officeDocument/2006/relationships/slide" Target="slides/slide279.xml"/><Relationship Id="rId318" Type="http://schemas.openxmlformats.org/officeDocument/2006/relationships/slide" Target="slides/slide314.xml"/><Relationship Id="rId78" Type="http://schemas.openxmlformats.org/officeDocument/2006/relationships/slide" Target="slides/slide74.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64" Type="http://schemas.openxmlformats.org/officeDocument/2006/relationships/slide" Target="slides/slide160.xml"/><Relationship Id="rId185" Type="http://schemas.openxmlformats.org/officeDocument/2006/relationships/slide" Target="slides/slide181.xml"/><Relationship Id="rId9" Type="http://schemas.openxmlformats.org/officeDocument/2006/relationships/slide" Target="slides/slide5.xml"/><Relationship Id="rId210" Type="http://schemas.openxmlformats.org/officeDocument/2006/relationships/slide" Target="slides/slide206.xml"/><Relationship Id="rId26" Type="http://schemas.openxmlformats.org/officeDocument/2006/relationships/slide" Target="slides/slide22.xml"/><Relationship Id="rId231" Type="http://schemas.openxmlformats.org/officeDocument/2006/relationships/slide" Target="slides/slide227.xml"/><Relationship Id="rId252" Type="http://schemas.openxmlformats.org/officeDocument/2006/relationships/slide" Target="slides/slide248.xml"/><Relationship Id="rId273" Type="http://schemas.openxmlformats.org/officeDocument/2006/relationships/slide" Target="slides/slide269.xml"/><Relationship Id="rId294" Type="http://schemas.openxmlformats.org/officeDocument/2006/relationships/slide" Target="slides/slide290.xml"/><Relationship Id="rId308" Type="http://schemas.openxmlformats.org/officeDocument/2006/relationships/slide" Target="slides/slide304.xml"/><Relationship Id="rId329" Type="http://schemas.openxmlformats.org/officeDocument/2006/relationships/presProps" Target="presProps.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slide" Target="slides/slide192.xml"/><Relationship Id="rId200" Type="http://schemas.openxmlformats.org/officeDocument/2006/relationships/slide" Target="slides/slide196.xml"/><Relationship Id="rId16" Type="http://schemas.openxmlformats.org/officeDocument/2006/relationships/slide" Target="slides/slide12.xml"/><Relationship Id="rId221" Type="http://schemas.openxmlformats.org/officeDocument/2006/relationships/slide" Target="slides/slide217.xml"/><Relationship Id="rId242" Type="http://schemas.openxmlformats.org/officeDocument/2006/relationships/slide" Target="slides/slide238.xml"/><Relationship Id="rId263" Type="http://schemas.openxmlformats.org/officeDocument/2006/relationships/slide" Target="slides/slide259.xml"/><Relationship Id="rId284" Type="http://schemas.openxmlformats.org/officeDocument/2006/relationships/slide" Target="slides/slide280.xml"/><Relationship Id="rId319" Type="http://schemas.openxmlformats.org/officeDocument/2006/relationships/slide" Target="slides/slide315.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330" Type="http://schemas.openxmlformats.org/officeDocument/2006/relationships/viewProps" Target="viewProps.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211" Type="http://schemas.openxmlformats.org/officeDocument/2006/relationships/slide" Target="slides/slide207.xml"/><Relationship Id="rId232" Type="http://schemas.openxmlformats.org/officeDocument/2006/relationships/slide" Target="slides/slide228.xml"/><Relationship Id="rId253" Type="http://schemas.openxmlformats.org/officeDocument/2006/relationships/slide" Target="slides/slide249.xml"/><Relationship Id="rId274" Type="http://schemas.openxmlformats.org/officeDocument/2006/relationships/slide" Target="slides/slide270.xml"/><Relationship Id="rId295" Type="http://schemas.openxmlformats.org/officeDocument/2006/relationships/slide" Target="slides/slide291.xml"/><Relationship Id="rId309" Type="http://schemas.openxmlformats.org/officeDocument/2006/relationships/slide" Target="slides/slide305.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320" Type="http://schemas.openxmlformats.org/officeDocument/2006/relationships/slide" Target="slides/slide316.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201" Type="http://schemas.openxmlformats.org/officeDocument/2006/relationships/slide" Target="slides/slide197.xml"/><Relationship Id="rId222" Type="http://schemas.openxmlformats.org/officeDocument/2006/relationships/slide" Target="slides/slide218.xml"/><Relationship Id="rId243" Type="http://schemas.openxmlformats.org/officeDocument/2006/relationships/slide" Target="slides/slide239.xml"/><Relationship Id="rId264" Type="http://schemas.openxmlformats.org/officeDocument/2006/relationships/slide" Target="slides/slide260.xml"/><Relationship Id="rId285" Type="http://schemas.openxmlformats.org/officeDocument/2006/relationships/slide" Target="slides/slide281.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310" Type="http://schemas.openxmlformats.org/officeDocument/2006/relationships/slide" Target="slides/slide306.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331" Type="http://schemas.openxmlformats.org/officeDocument/2006/relationships/theme" Target="theme/theme1.xml"/><Relationship Id="rId1" Type="http://schemas.openxmlformats.org/officeDocument/2006/relationships/customXml" Target="../customXml/item1.xml"/><Relationship Id="rId212" Type="http://schemas.openxmlformats.org/officeDocument/2006/relationships/slide" Target="slides/slide208.xml"/><Relationship Id="rId233" Type="http://schemas.openxmlformats.org/officeDocument/2006/relationships/slide" Target="slides/slide229.xml"/><Relationship Id="rId254" Type="http://schemas.openxmlformats.org/officeDocument/2006/relationships/slide" Target="slides/slide250.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275" Type="http://schemas.openxmlformats.org/officeDocument/2006/relationships/slide" Target="slides/slide271.xml"/><Relationship Id="rId296" Type="http://schemas.openxmlformats.org/officeDocument/2006/relationships/slide" Target="slides/slide292.xml"/><Relationship Id="rId300" Type="http://schemas.openxmlformats.org/officeDocument/2006/relationships/slide" Target="slides/slide296.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321" Type="http://schemas.openxmlformats.org/officeDocument/2006/relationships/slide" Target="slides/slide317.xml"/><Relationship Id="rId202" Type="http://schemas.openxmlformats.org/officeDocument/2006/relationships/slide" Target="slides/slide198.xml"/><Relationship Id="rId223" Type="http://schemas.openxmlformats.org/officeDocument/2006/relationships/slide" Target="slides/slide219.xml"/><Relationship Id="rId244" Type="http://schemas.openxmlformats.org/officeDocument/2006/relationships/slide" Target="slides/slide240.xml"/><Relationship Id="rId18" Type="http://schemas.openxmlformats.org/officeDocument/2006/relationships/slide" Target="slides/slide14.xml"/><Relationship Id="rId39" Type="http://schemas.openxmlformats.org/officeDocument/2006/relationships/slide" Target="slides/slide35.xml"/><Relationship Id="rId265" Type="http://schemas.openxmlformats.org/officeDocument/2006/relationships/slide" Target="slides/slide261.xml"/><Relationship Id="rId286" Type="http://schemas.openxmlformats.org/officeDocument/2006/relationships/slide" Target="slides/slide282.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311" Type="http://schemas.openxmlformats.org/officeDocument/2006/relationships/slide" Target="slides/slide307.xml"/><Relationship Id="rId332" Type="http://schemas.openxmlformats.org/officeDocument/2006/relationships/tableStyles" Target="tableStyles.xml"/><Relationship Id="rId71" Type="http://schemas.openxmlformats.org/officeDocument/2006/relationships/slide" Target="slides/slide67.xml"/><Relationship Id="rId92" Type="http://schemas.openxmlformats.org/officeDocument/2006/relationships/slide" Target="slides/slide88.xml"/><Relationship Id="rId213" Type="http://schemas.openxmlformats.org/officeDocument/2006/relationships/slide" Target="slides/slide209.xml"/><Relationship Id="rId234" Type="http://schemas.openxmlformats.org/officeDocument/2006/relationships/slide" Target="slides/slide230.xml"/><Relationship Id="rId2" Type="http://schemas.openxmlformats.org/officeDocument/2006/relationships/customXml" Target="../customXml/item2.xml"/><Relationship Id="rId29" Type="http://schemas.openxmlformats.org/officeDocument/2006/relationships/slide" Target="slides/slide25.xml"/><Relationship Id="rId255" Type="http://schemas.openxmlformats.org/officeDocument/2006/relationships/slide" Target="slides/slide251.xml"/><Relationship Id="rId276" Type="http://schemas.openxmlformats.org/officeDocument/2006/relationships/slide" Target="slides/slide272.xml"/><Relationship Id="rId297" Type="http://schemas.openxmlformats.org/officeDocument/2006/relationships/slide" Target="slides/slide293.xml"/><Relationship Id="rId40" Type="http://schemas.openxmlformats.org/officeDocument/2006/relationships/slide" Target="slides/slide36.xml"/><Relationship Id="rId115" Type="http://schemas.openxmlformats.org/officeDocument/2006/relationships/slide" Target="slides/slide111.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301" Type="http://schemas.openxmlformats.org/officeDocument/2006/relationships/slide" Target="slides/slide297.xml"/><Relationship Id="rId322" Type="http://schemas.openxmlformats.org/officeDocument/2006/relationships/slide" Target="slides/slide318.xml"/><Relationship Id="rId61" Type="http://schemas.openxmlformats.org/officeDocument/2006/relationships/slide" Target="slides/slide57.xml"/><Relationship Id="rId82" Type="http://schemas.openxmlformats.org/officeDocument/2006/relationships/slide" Target="slides/slide78.xml"/><Relationship Id="rId199" Type="http://schemas.openxmlformats.org/officeDocument/2006/relationships/slide" Target="slides/slide195.xml"/><Relationship Id="rId203" Type="http://schemas.openxmlformats.org/officeDocument/2006/relationships/slide" Target="slides/slide199.xml"/><Relationship Id="rId19" Type="http://schemas.openxmlformats.org/officeDocument/2006/relationships/slide" Target="slides/slide15.xml"/><Relationship Id="rId224" Type="http://schemas.openxmlformats.org/officeDocument/2006/relationships/slide" Target="slides/slide220.xml"/><Relationship Id="rId245" Type="http://schemas.openxmlformats.org/officeDocument/2006/relationships/slide" Target="slides/slide241.xml"/><Relationship Id="rId266" Type="http://schemas.openxmlformats.org/officeDocument/2006/relationships/slide" Target="slides/slide262.xml"/><Relationship Id="rId287" Type="http://schemas.openxmlformats.org/officeDocument/2006/relationships/slide" Target="slides/slide283.xml"/><Relationship Id="rId30" Type="http://schemas.openxmlformats.org/officeDocument/2006/relationships/slide" Target="slides/slide2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312" Type="http://schemas.openxmlformats.org/officeDocument/2006/relationships/slide" Target="slides/slide308.xml"/><Relationship Id="rId333" Type="http://schemas.microsoft.com/office/2016/11/relationships/changesInfo" Target="changesInfos/changesInfo1.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189" Type="http://schemas.openxmlformats.org/officeDocument/2006/relationships/slide" Target="slides/slide185.xml"/><Relationship Id="rId3" Type="http://schemas.openxmlformats.org/officeDocument/2006/relationships/customXml" Target="../customXml/item3.xml"/><Relationship Id="rId214" Type="http://schemas.openxmlformats.org/officeDocument/2006/relationships/slide" Target="slides/slide210.xml"/><Relationship Id="rId235" Type="http://schemas.openxmlformats.org/officeDocument/2006/relationships/slide" Target="slides/slide231.xml"/><Relationship Id="rId256" Type="http://schemas.openxmlformats.org/officeDocument/2006/relationships/slide" Target="slides/slide252.xml"/><Relationship Id="rId277" Type="http://schemas.openxmlformats.org/officeDocument/2006/relationships/slide" Target="slides/slide273.xml"/><Relationship Id="rId298" Type="http://schemas.openxmlformats.org/officeDocument/2006/relationships/slide" Target="slides/slide294.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302" Type="http://schemas.openxmlformats.org/officeDocument/2006/relationships/slide" Target="slides/slide298.xml"/><Relationship Id="rId323" Type="http://schemas.openxmlformats.org/officeDocument/2006/relationships/slide" Target="slides/slide319.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179" Type="http://schemas.openxmlformats.org/officeDocument/2006/relationships/slide" Target="slides/slide175.xml"/><Relationship Id="rId190" Type="http://schemas.openxmlformats.org/officeDocument/2006/relationships/slide" Target="slides/slide186.xml"/><Relationship Id="rId204" Type="http://schemas.openxmlformats.org/officeDocument/2006/relationships/slide" Target="slides/slide200.xml"/><Relationship Id="rId225" Type="http://schemas.openxmlformats.org/officeDocument/2006/relationships/slide" Target="slides/slide221.xml"/><Relationship Id="rId246" Type="http://schemas.openxmlformats.org/officeDocument/2006/relationships/slide" Target="slides/slide242.xml"/><Relationship Id="rId267" Type="http://schemas.openxmlformats.org/officeDocument/2006/relationships/slide" Target="slides/slide263.xml"/><Relationship Id="rId288" Type="http://schemas.openxmlformats.org/officeDocument/2006/relationships/slide" Target="slides/slide284.xml"/><Relationship Id="rId106" Type="http://schemas.openxmlformats.org/officeDocument/2006/relationships/slide" Target="slides/slide102.xml"/><Relationship Id="rId127" Type="http://schemas.openxmlformats.org/officeDocument/2006/relationships/slide" Target="slides/slide123.xml"/><Relationship Id="rId313" Type="http://schemas.openxmlformats.org/officeDocument/2006/relationships/slide" Target="slides/slide309.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94" Type="http://schemas.openxmlformats.org/officeDocument/2006/relationships/slide" Target="slides/slide90.xml"/><Relationship Id="rId148" Type="http://schemas.openxmlformats.org/officeDocument/2006/relationships/slide" Target="slides/slide144.xml"/><Relationship Id="rId169" Type="http://schemas.openxmlformats.org/officeDocument/2006/relationships/slide" Target="slides/slide165.xml"/><Relationship Id="rId334" Type="http://schemas.microsoft.com/office/2015/10/relationships/revisionInfo" Target="revisionInfo.xml"/><Relationship Id="rId4" Type="http://schemas.openxmlformats.org/officeDocument/2006/relationships/slideMaster" Target="slideMasters/slideMaster1.xml"/><Relationship Id="rId180" Type="http://schemas.openxmlformats.org/officeDocument/2006/relationships/slide" Target="slides/slide176.xml"/><Relationship Id="rId215" Type="http://schemas.openxmlformats.org/officeDocument/2006/relationships/slide" Target="slides/slide211.xml"/><Relationship Id="rId236" Type="http://schemas.openxmlformats.org/officeDocument/2006/relationships/slide" Target="slides/slide232.xml"/><Relationship Id="rId257" Type="http://schemas.openxmlformats.org/officeDocument/2006/relationships/slide" Target="slides/slide253.xml"/><Relationship Id="rId278" Type="http://schemas.openxmlformats.org/officeDocument/2006/relationships/slide" Target="slides/slide274.xml"/><Relationship Id="rId303" Type="http://schemas.openxmlformats.org/officeDocument/2006/relationships/slide" Target="slides/slide299.xml"/><Relationship Id="rId42" Type="http://schemas.openxmlformats.org/officeDocument/2006/relationships/slide" Target="slides/slide38.xml"/><Relationship Id="rId84" Type="http://schemas.openxmlformats.org/officeDocument/2006/relationships/slide" Target="slides/slide80.xml"/><Relationship Id="rId138" Type="http://schemas.openxmlformats.org/officeDocument/2006/relationships/slide" Target="slides/slide134.xml"/><Relationship Id="rId191" Type="http://schemas.openxmlformats.org/officeDocument/2006/relationships/slide" Target="slides/slide187.xml"/><Relationship Id="rId205" Type="http://schemas.openxmlformats.org/officeDocument/2006/relationships/slide" Target="slides/slide201.xml"/><Relationship Id="rId247" Type="http://schemas.openxmlformats.org/officeDocument/2006/relationships/slide" Target="slides/slide243.xml"/><Relationship Id="rId107" Type="http://schemas.openxmlformats.org/officeDocument/2006/relationships/slide" Target="slides/slide103.xml"/><Relationship Id="rId289" Type="http://schemas.openxmlformats.org/officeDocument/2006/relationships/slide" Target="slides/slide285.xml"/><Relationship Id="rId11" Type="http://schemas.openxmlformats.org/officeDocument/2006/relationships/slide" Target="slides/slide7.xml"/><Relationship Id="rId53" Type="http://schemas.openxmlformats.org/officeDocument/2006/relationships/slide" Target="slides/slide49.xml"/><Relationship Id="rId149" Type="http://schemas.openxmlformats.org/officeDocument/2006/relationships/slide" Target="slides/slide145.xml"/><Relationship Id="rId314" Type="http://schemas.openxmlformats.org/officeDocument/2006/relationships/slide" Target="slides/slide310.xml"/><Relationship Id="rId95" Type="http://schemas.openxmlformats.org/officeDocument/2006/relationships/slide" Target="slides/slide91.xml"/><Relationship Id="rId160" Type="http://schemas.openxmlformats.org/officeDocument/2006/relationships/slide" Target="slides/slide156.xml"/><Relationship Id="rId216" Type="http://schemas.openxmlformats.org/officeDocument/2006/relationships/slide" Target="slides/slide212.xml"/><Relationship Id="rId258" Type="http://schemas.openxmlformats.org/officeDocument/2006/relationships/slide" Target="slides/slide254.xml"/><Relationship Id="rId22" Type="http://schemas.openxmlformats.org/officeDocument/2006/relationships/slide" Target="slides/slide18.xml"/><Relationship Id="rId64" Type="http://schemas.openxmlformats.org/officeDocument/2006/relationships/slide" Target="slides/slide60.xml"/><Relationship Id="rId118" Type="http://schemas.openxmlformats.org/officeDocument/2006/relationships/slide" Target="slides/slide114.xml"/><Relationship Id="rId325" Type="http://schemas.openxmlformats.org/officeDocument/2006/relationships/slide" Target="slides/slide321.xml"/><Relationship Id="rId171" Type="http://schemas.openxmlformats.org/officeDocument/2006/relationships/slide" Target="slides/slide167.xml"/><Relationship Id="rId227" Type="http://schemas.openxmlformats.org/officeDocument/2006/relationships/slide" Target="slides/slide223.xml"/><Relationship Id="rId269" Type="http://schemas.openxmlformats.org/officeDocument/2006/relationships/slide" Target="slides/slide265.xml"/><Relationship Id="rId33" Type="http://schemas.openxmlformats.org/officeDocument/2006/relationships/slide" Target="slides/slide29.xml"/><Relationship Id="rId129" Type="http://schemas.openxmlformats.org/officeDocument/2006/relationships/slide" Target="slides/slide125.xml"/><Relationship Id="rId280" Type="http://schemas.openxmlformats.org/officeDocument/2006/relationships/slide" Target="slides/slide276.xml"/><Relationship Id="rId75" Type="http://schemas.openxmlformats.org/officeDocument/2006/relationships/slide" Target="slides/slide71.xml"/><Relationship Id="rId140" Type="http://schemas.openxmlformats.org/officeDocument/2006/relationships/slide" Target="slides/slide136.xml"/><Relationship Id="rId182" Type="http://schemas.openxmlformats.org/officeDocument/2006/relationships/slide" Target="slides/slide178.xml"/><Relationship Id="rId6" Type="http://schemas.openxmlformats.org/officeDocument/2006/relationships/slide" Target="slides/slide2.xml"/><Relationship Id="rId238" Type="http://schemas.openxmlformats.org/officeDocument/2006/relationships/slide" Target="slides/slide234.xml"/><Relationship Id="rId291" Type="http://schemas.openxmlformats.org/officeDocument/2006/relationships/slide" Target="slides/slide287.xml"/><Relationship Id="rId305" Type="http://schemas.openxmlformats.org/officeDocument/2006/relationships/slide" Target="slides/slide301.xml"/><Relationship Id="rId44" Type="http://schemas.openxmlformats.org/officeDocument/2006/relationships/slide" Target="slides/slide40.xml"/><Relationship Id="rId86" Type="http://schemas.openxmlformats.org/officeDocument/2006/relationships/slide" Target="slides/slide82.xml"/><Relationship Id="rId151" Type="http://schemas.openxmlformats.org/officeDocument/2006/relationships/slide" Target="slides/slide147.xml"/><Relationship Id="rId193" Type="http://schemas.openxmlformats.org/officeDocument/2006/relationships/slide" Target="slides/slide189.xml"/><Relationship Id="rId207" Type="http://schemas.openxmlformats.org/officeDocument/2006/relationships/slide" Target="slides/slide203.xml"/><Relationship Id="rId249" Type="http://schemas.openxmlformats.org/officeDocument/2006/relationships/slide" Target="slides/slide245.xml"/><Relationship Id="rId13" Type="http://schemas.openxmlformats.org/officeDocument/2006/relationships/slide" Target="slides/slide9.xml"/><Relationship Id="rId109" Type="http://schemas.openxmlformats.org/officeDocument/2006/relationships/slide" Target="slides/slide105.xml"/><Relationship Id="rId260" Type="http://schemas.openxmlformats.org/officeDocument/2006/relationships/slide" Target="slides/slide256.xml"/><Relationship Id="rId316" Type="http://schemas.openxmlformats.org/officeDocument/2006/relationships/slide" Target="slides/slide312.xml"/><Relationship Id="rId55" Type="http://schemas.openxmlformats.org/officeDocument/2006/relationships/slide" Target="slides/slide51.xml"/><Relationship Id="rId97" Type="http://schemas.openxmlformats.org/officeDocument/2006/relationships/slide" Target="slides/slide93.xml"/><Relationship Id="rId120" Type="http://schemas.openxmlformats.org/officeDocument/2006/relationships/slide" Target="slides/slide116.xml"/><Relationship Id="rId162" Type="http://schemas.openxmlformats.org/officeDocument/2006/relationships/slide" Target="slides/slide158.xml"/><Relationship Id="rId218" Type="http://schemas.openxmlformats.org/officeDocument/2006/relationships/slide" Target="slides/slide214.xml"/><Relationship Id="rId271" Type="http://schemas.openxmlformats.org/officeDocument/2006/relationships/slide" Target="slides/slide26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ladimir Bures" userId="9b63a660-1fcf-42ea-afac-8461236dfbd9" providerId="ADAL" clId="{36F65C94-03D9-41CF-85A1-2BAC333742A7}"/>
    <pc:docChg chg="custSel addSld modSld sldOrd">
      <pc:chgData name="Vladimir Bures" userId="9b63a660-1fcf-42ea-afac-8461236dfbd9" providerId="ADAL" clId="{36F65C94-03D9-41CF-85A1-2BAC333742A7}" dt="2025-06-11T11:01:23.793" v="534" actId="1076"/>
      <pc:docMkLst>
        <pc:docMk/>
      </pc:docMkLst>
      <pc:sldChg chg="modSp mod">
        <pc:chgData name="Vladimir Bures" userId="9b63a660-1fcf-42ea-afac-8461236dfbd9" providerId="ADAL" clId="{36F65C94-03D9-41CF-85A1-2BAC333742A7}" dt="2025-06-11T07:20:11.150" v="236" actId="20577"/>
        <pc:sldMkLst>
          <pc:docMk/>
          <pc:sldMk cId="1043927078" sldId="256"/>
        </pc:sldMkLst>
      </pc:sldChg>
      <pc:sldChg chg="addSp delSp modSp mod modClrScheme chgLayout">
        <pc:chgData name="Vladimir Bures" userId="9b63a660-1fcf-42ea-afac-8461236dfbd9" providerId="ADAL" clId="{36F65C94-03D9-41CF-85A1-2BAC333742A7}" dt="2025-06-11T07:26:46.855" v="318" actId="20577"/>
        <pc:sldMkLst>
          <pc:docMk/>
          <pc:sldMk cId="631550945" sldId="259"/>
        </pc:sldMkLst>
      </pc:sldChg>
      <pc:sldChg chg="delSp modSp mod">
        <pc:chgData name="Vladimir Bures" userId="9b63a660-1fcf-42ea-afac-8461236dfbd9" providerId="ADAL" clId="{36F65C94-03D9-41CF-85A1-2BAC333742A7}" dt="2025-06-11T10:54:27.450" v="461" actId="20577"/>
        <pc:sldMkLst>
          <pc:docMk/>
          <pc:sldMk cId="2414286213" sldId="1571"/>
        </pc:sldMkLst>
      </pc:sldChg>
      <pc:sldChg chg="modSp add mod">
        <pc:chgData name="Vladimir Bures" userId="9b63a660-1fcf-42ea-afac-8461236dfbd9" providerId="ADAL" clId="{36F65C94-03D9-41CF-85A1-2BAC333742A7}" dt="2025-06-11T07:29:06.365" v="322" actId="20577"/>
        <pc:sldMkLst>
          <pc:docMk/>
          <pc:sldMk cId="3677975884" sldId="2147483416"/>
        </pc:sldMkLst>
      </pc:sldChg>
      <pc:sldChg chg="addSp delSp modSp new mod modNotesTx">
        <pc:chgData name="Vladimir Bures" userId="9b63a660-1fcf-42ea-afac-8461236dfbd9" providerId="ADAL" clId="{36F65C94-03D9-41CF-85A1-2BAC333742A7}" dt="2025-06-11T10:50:47.918" v="398"/>
        <pc:sldMkLst>
          <pc:docMk/>
          <pc:sldMk cId="3274104812" sldId="2147483417"/>
        </pc:sldMkLst>
      </pc:sldChg>
      <pc:sldChg chg="delSp modSp add mod ord">
        <pc:chgData name="Vladimir Bures" userId="9b63a660-1fcf-42ea-afac-8461236dfbd9" providerId="ADAL" clId="{36F65C94-03D9-41CF-85A1-2BAC333742A7}" dt="2025-06-11T10:48:47.277" v="359" actId="20577"/>
        <pc:sldMkLst>
          <pc:docMk/>
          <pc:sldMk cId="2629669799" sldId="2147483418"/>
        </pc:sldMkLst>
      </pc:sldChg>
      <pc:sldChg chg="add">
        <pc:chgData name="Vladimir Bures" userId="9b63a660-1fcf-42ea-afac-8461236dfbd9" providerId="ADAL" clId="{36F65C94-03D9-41CF-85A1-2BAC333742A7}" dt="2025-06-11T10:52:33.438" v="399" actId="2890"/>
        <pc:sldMkLst>
          <pc:docMk/>
          <pc:sldMk cId="2401520378" sldId="2147483419"/>
        </pc:sldMkLst>
      </pc:sldChg>
      <pc:sldChg chg="addSp modSp new mod">
        <pc:chgData name="Vladimir Bures" userId="9b63a660-1fcf-42ea-afac-8461236dfbd9" providerId="ADAL" clId="{36F65C94-03D9-41CF-85A1-2BAC333742A7}" dt="2025-06-11T11:01:23.793" v="534" actId="1076"/>
        <pc:sldMkLst>
          <pc:docMk/>
          <pc:sldMk cId="4237656585" sldId="2147483420"/>
        </pc:sldMkLst>
      </pc:sldChg>
    </pc:docChg>
  </pc:docChgLst>
  <pc:docChgLst>
    <pc:chgData name="Martin Brenek" userId="8c06a74c-746e-4ddd-9751-1359f03b7ac4" providerId="ADAL" clId="{76C14B7C-1368-46F0-A676-9D8E81324E96}"/>
    <pc:docChg chg="modSld">
      <pc:chgData name="Martin Brenek" userId="8c06a74c-746e-4ddd-9751-1359f03b7ac4" providerId="ADAL" clId="{76C14B7C-1368-46F0-A676-9D8E81324E96}" dt="2026-04-06T07:46:23.044" v="103" actId="20577"/>
      <pc:docMkLst>
        <pc:docMk/>
      </pc:docMkLst>
      <pc:sldChg chg="modSp mod">
        <pc:chgData name="Martin Brenek" userId="8c06a74c-746e-4ddd-9751-1359f03b7ac4" providerId="ADAL" clId="{76C14B7C-1368-46F0-A676-9D8E81324E96}" dt="2026-04-03T18:01:55.557" v="1" actId="20577"/>
        <pc:sldMkLst>
          <pc:docMk/>
          <pc:sldMk cId="368621378" sldId="856"/>
        </pc:sldMkLst>
        <pc:spChg chg="mod">
          <ac:chgData name="Martin Brenek" userId="8c06a74c-746e-4ddd-9751-1359f03b7ac4" providerId="ADAL" clId="{76C14B7C-1368-46F0-A676-9D8E81324E96}" dt="2026-04-03T18:01:55.557" v="1" actId="20577"/>
          <ac:spMkLst>
            <pc:docMk/>
            <pc:sldMk cId="368621378" sldId="856"/>
            <ac:spMk id="5" creationId="{00000000-0000-0000-0000-000000000000}"/>
          </ac:spMkLst>
        </pc:spChg>
      </pc:sldChg>
      <pc:sldChg chg="modSp">
        <pc:chgData name="Martin Brenek" userId="8c06a74c-746e-4ddd-9751-1359f03b7ac4" providerId="ADAL" clId="{76C14B7C-1368-46F0-A676-9D8E81324E96}" dt="2026-04-04T07:51:32.948" v="2" actId="20577"/>
        <pc:sldMkLst>
          <pc:docMk/>
          <pc:sldMk cId="2331608217" sldId="1317"/>
        </pc:sldMkLst>
        <pc:spChg chg="mod">
          <ac:chgData name="Martin Brenek" userId="8c06a74c-746e-4ddd-9751-1359f03b7ac4" providerId="ADAL" clId="{76C14B7C-1368-46F0-A676-9D8E81324E96}" dt="2026-04-04T07:51:32.948" v="2" actId="20577"/>
          <ac:spMkLst>
            <pc:docMk/>
            <pc:sldMk cId="2331608217" sldId="1317"/>
            <ac:spMk id="7" creationId="{9892584C-34E3-67BE-0D37-1367434C6BF8}"/>
          </ac:spMkLst>
        </pc:spChg>
      </pc:sldChg>
      <pc:sldChg chg="modSp mod">
        <pc:chgData name="Martin Brenek" userId="8c06a74c-746e-4ddd-9751-1359f03b7ac4" providerId="ADAL" clId="{76C14B7C-1368-46F0-A676-9D8E81324E96}" dt="2026-04-04T17:49:56.831" v="48" actId="1037"/>
        <pc:sldMkLst>
          <pc:docMk/>
          <pc:sldMk cId="2303047284" sldId="1396"/>
        </pc:sldMkLst>
        <pc:spChg chg="mod">
          <ac:chgData name="Martin Brenek" userId="8c06a74c-746e-4ddd-9751-1359f03b7ac4" providerId="ADAL" clId="{76C14B7C-1368-46F0-A676-9D8E81324E96}" dt="2026-04-04T17:49:56.831" v="48" actId="1037"/>
          <ac:spMkLst>
            <pc:docMk/>
            <pc:sldMk cId="2303047284" sldId="1396"/>
            <ac:spMk id="138" creationId="{00000000-0000-0000-0000-000000000000}"/>
          </ac:spMkLst>
        </pc:spChg>
      </pc:sldChg>
      <pc:sldChg chg="modSp mod">
        <pc:chgData name="Martin Brenek" userId="8c06a74c-746e-4ddd-9751-1359f03b7ac4" providerId="ADAL" clId="{76C14B7C-1368-46F0-A676-9D8E81324E96}" dt="2026-04-04T17:50:32.317" v="88" actId="14100"/>
        <pc:sldMkLst>
          <pc:docMk/>
          <pc:sldMk cId="327582596" sldId="1397"/>
        </pc:sldMkLst>
        <pc:spChg chg="mod">
          <ac:chgData name="Martin Brenek" userId="8c06a74c-746e-4ddd-9751-1359f03b7ac4" providerId="ADAL" clId="{76C14B7C-1368-46F0-A676-9D8E81324E96}" dt="2026-04-04T17:50:32.317" v="88" actId="14100"/>
          <ac:spMkLst>
            <pc:docMk/>
            <pc:sldMk cId="327582596" sldId="1397"/>
            <ac:spMk id="4" creationId="{00000000-0000-0000-0000-000000000000}"/>
          </ac:spMkLst>
        </pc:spChg>
        <pc:spChg chg="mod">
          <ac:chgData name="Martin Brenek" userId="8c06a74c-746e-4ddd-9751-1359f03b7ac4" providerId="ADAL" clId="{76C14B7C-1368-46F0-A676-9D8E81324E96}" dt="2026-04-04T17:50:15.322" v="87" actId="1037"/>
          <ac:spMkLst>
            <pc:docMk/>
            <pc:sldMk cId="327582596" sldId="1397"/>
            <ac:spMk id="138" creationId="{00000000-0000-0000-0000-000000000000}"/>
          </ac:spMkLst>
        </pc:spChg>
      </pc:sldChg>
      <pc:sldChg chg="modSp mod">
        <pc:chgData name="Martin Brenek" userId="8c06a74c-746e-4ddd-9751-1359f03b7ac4" providerId="ADAL" clId="{76C14B7C-1368-46F0-A676-9D8E81324E96}" dt="2026-04-04T10:37:27.230" v="9" actId="20577"/>
        <pc:sldMkLst>
          <pc:docMk/>
          <pc:sldMk cId="3772126779" sldId="1450"/>
        </pc:sldMkLst>
        <pc:spChg chg="mod">
          <ac:chgData name="Martin Brenek" userId="8c06a74c-746e-4ddd-9751-1359f03b7ac4" providerId="ADAL" clId="{76C14B7C-1368-46F0-A676-9D8E81324E96}" dt="2026-04-04T10:37:27.230" v="9" actId="20577"/>
          <ac:spMkLst>
            <pc:docMk/>
            <pc:sldMk cId="3772126779" sldId="1450"/>
            <ac:spMk id="2" creationId="{581DADA0-3AA6-49C4-9215-F7B5F2D501F5}"/>
          </ac:spMkLst>
        </pc:spChg>
        <pc:spChg chg="mod">
          <ac:chgData name="Martin Brenek" userId="8c06a74c-746e-4ddd-9751-1359f03b7ac4" providerId="ADAL" clId="{76C14B7C-1368-46F0-A676-9D8E81324E96}" dt="2026-04-04T08:34:25.625" v="3" actId="20577"/>
          <ac:spMkLst>
            <pc:docMk/>
            <pc:sldMk cId="3772126779" sldId="1450"/>
            <ac:spMk id="3" creationId="{CB36547A-DD08-C985-E00E-559FD810FA7E}"/>
          </ac:spMkLst>
        </pc:spChg>
      </pc:sldChg>
      <pc:sldChg chg="modSp mod">
        <pc:chgData name="Martin Brenek" userId="8c06a74c-746e-4ddd-9751-1359f03b7ac4" providerId="ADAL" clId="{76C14B7C-1368-46F0-A676-9D8E81324E96}" dt="2026-04-06T07:46:23.044" v="103" actId="20577"/>
        <pc:sldMkLst>
          <pc:docMk/>
          <pc:sldMk cId="3231941135" sldId="1518"/>
        </pc:sldMkLst>
        <pc:spChg chg="mod">
          <ac:chgData name="Martin Brenek" userId="8c06a74c-746e-4ddd-9751-1359f03b7ac4" providerId="ADAL" clId="{76C14B7C-1368-46F0-A676-9D8E81324E96}" dt="2026-04-06T07:46:23.044" v="103" actId="20577"/>
          <ac:spMkLst>
            <pc:docMk/>
            <pc:sldMk cId="3231941135" sldId="1518"/>
            <ac:spMk id="2" creationId="{AD07BA45-FF89-24D6-586E-CA6E90DC683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a:extLst>
              <a:ext uri="{FF2B5EF4-FFF2-40B4-BE49-F238E27FC236}">
                <a16:creationId xmlns:a16="http://schemas.microsoft.com/office/drawing/2014/main" id="{47DF66D9-EA4F-4F86-B2B5-2D204FD000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cs-CZ"/>
          </a:p>
        </p:txBody>
      </p:sp>
      <p:sp>
        <p:nvSpPr>
          <p:cNvPr id="3" name="Zástupný symbol pro datum 2">
            <a:extLst>
              <a:ext uri="{FF2B5EF4-FFF2-40B4-BE49-F238E27FC236}">
                <a16:creationId xmlns:a16="http://schemas.microsoft.com/office/drawing/2014/main" id="{5ED568AC-D862-4D46-B35B-693823C0D55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CAD25B3-981A-45D8-BB43-31A14EA6AEE0}" type="datetimeFigureOut">
              <a:rPr lang="cs-CZ" smtClean="0"/>
              <a:t>03.04.2026</a:t>
            </a:fld>
            <a:endParaRPr lang="cs-CZ"/>
          </a:p>
        </p:txBody>
      </p:sp>
      <p:sp>
        <p:nvSpPr>
          <p:cNvPr id="4" name="Zástupný symbol pro zápatí 3">
            <a:extLst>
              <a:ext uri="{FF2B5EF4-FFF2-40B4-BE49-F238E27FC236}">
                <a16:creationId xmlns:a16="http://schemas.microsoft.com/office/drawing/2014/main" id="{F2058E37-C347-42A4-BB5A-CFD20B896E0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cs-CZ"/>
          </a:p>
        </p:txBody>
      </p:sp>
      <p:sp>
        <p:nvSpPr>
          <p:cNvPr id="5" name="Zástupný symbol pro číslo snímku 4">
            <a:extLst>
              <a:ext uri="{FF2B5EF4-FFF2-40B4-BE49-F238E27FC236}">
                <a16:creationId xmlns:a16="http://schemas.microsoft.com/office/drawing/2014/main" id="{633CC93C-80AE-484E-9CB9-095A4DFF246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CA9F60-A7A0-499D-8656-0314B363EEAE}" type="slidenum">
              <a:rPr lang="cs-CZ" smtClean="0"/>
              <a:t>‹#›</a:t>
            </a:fld>
            <a:endParaRPr lang="cs-CZ"/>
          </a:p>
        </p:txBody>
      </p:sp>
    </p:spTree>
    <p:extLst>
      <p:ext uri="{BB962C8B-B14F-4D97-AF65-F5344CB8AC3E}">
        <p14:creationId xmlns:p14="http://schemas.microsoft.com/office/powerpoint/2010/main" val="33208883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cs-CZ"/>
          </a:p>
        </p:txBody>
      </p:sp>
      <p:sp>
        <p:nvSpPr>
          <p:cNvPr id="3" name="Zástupný symbol pro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E229D9-1424-4165-A239-94B968DB92B1}" type="datetimeFigureOut">
              <a:rPr lang="cs-CZ" smtClean="0"/>
              <a:t>03.04.2026</a:t>
            </a:fld>
            <a:endParaRPr lang="cs-CZ"/>
          </a:p>
        </p:txBody>
      </p:sp>
      <p:sp>
        <p:nvSpPr>
          <p:cNvPr id="4" name="Zástupný symbol pro obrázek snímk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cs-CZ"/>
          </a:p>
        </p:txBody>
      </p:sp>
      <p:sp>
        <p:nvSpPr>
          <p:cNvPr id="5" name="Zástupný symbol pro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6" name="Zástupný symbol pro zápatí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cs-CZ"/>
          </a:p>
        </p:txBody>
      </p:sp>
      <p:sp>
        <p:nvSpPr>
          <p:cNvPr id="7" name="Zástupný symbol pro číslo snímk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11A444-F3BB-4215-8D61-19749E97F2CD}" type="slidenum">
              <a:rPr lang="cs-CZ" smtClean="0"/>
              <a:t>‹#›</a:t>
            </a:fld>
            <a:endParaRPr lang="cs-CZ"/>
          </a:p>
        </p:txBody>
      </p:sp>
    </p:spTree>
    <p:extLst>
      <p:ext uri="{BB962C8B-B14F-4D97-AF65-F5344CB8AC3E}">
        <p14:creationId xmlns:p14="http://schemas.microsoft.com/office/powerpoint/2010/main" val="1024727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www.iana.org/go/rfc8986"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283.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285.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286.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287.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301.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305.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30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307.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308.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309.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312.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316.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3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5"/>
          </p:nvPr>
        </p:nvSpPr>
        <p:spPr/>
        <p:txBody>
          <a:bodyPr/>
          <a:lstStyle/>
          <a:p>
            <a:fld id="{8211A444-F3BB-4215-8D61-19749E97F2CD}" type="slidenum">
              <a:rPr lang="cs-CZ" smtClean="0"/>
              <a:t>1</a:t>
            </a:fld>
            <a:endParaRPr lang="cs-CZ"/>
          </a:p>
        </p:txBody>
      </p:sp>
    </p:spTree>
    <p:extLst>
      <p:ext uri="{BB962C8B-B14F-4D97-AF65-F5344CB8AC3E}">
        <p14:creationId xmlns:p14="http://schemas.microsoft.com/office/powerpoint/2010/main" val="1440563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5"/>
          </p:nvPr>
        </p:nvSpPr>
        <p:spPr/>
        <p:txBody>
          <a:bodyPr/>
          <a:lstStyle/>
          <a:p>
            <a:fld id="{8211A444-F3BB-4215-8D61-19749E97F2CD}" type="slidenum">
              <a:rPr lang="cs-CZ" smtClean="0"/>
              <a:t>2</a:t>
            </a:fld>
            <a:endParaRPr lang="cs-CZ"/>
          </a:p>
        </p:txBody>
      </p:sp>
    </p:spTree>
    <p:extLst>
      <p:ext uri="{BB962C8B-B14F-4D97-AF65-F5344CB8AC3E}">
        <p14:creationId xmlns:p14="http://schemas.microsoft.com/office/powerpoint/2010/main" val="22340234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ATM  was complex technology to be able to do everything… and </a:t>
            </a:r>
            <a:r>
              <a:rPr lang="en-US" dirty="0" err="1"/>
              <a:t>disappered</a:t>
            </a:r>
            <a:endParaRPr lang="en-US" dirty="0"/>
          </a:p>
          <a:p>
            <a:r>
              <a:rPr lang="en-US" dirty="0"/>
              <a:t>MPLS is simple technology to be able to do the same as ATM   …. But become complex to be useful for every  “possible” </a:t>
            </a:r>
            <a:r>
              <a:rPr lang="en-US" dirty="0" err="1"/>
              <a:t>usecase</a:t>
            </a:r>
            <a:r>
              <a:rPr lang="en-US" dirty="0"/>
              <a:t>   … it will disappear</a:t>
            </a:r>
          </a:p>
          <a:p>
            <a:endParaRPr lang="en-US" dirty="0"/>
          </a:p>
          <a:p>
            <a:r>
              <a:rPr lang="en-US" dirty="0"/>
              <a:t>SRv6 is simple and is able to to “everything” </a:t>
            </a:r>
            <a:r>
              <a:rPr lang="en-US" dirty="0">
                <a:sym typeface="Wingdings" panose="05000000000000000000" pitchFamily="2" charset="2"/>
              </a:rPr>
              <a:t></a:t>
            </a:r>
            <a:endParaRPr lang="en-US" dirty="0"/>
          </a:p>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3</a:t>
            </a:fld>
            <a:endParaRPr lang="cs-CZ"/>
          </a:p>
        </p:txBody>
      </p:sp>
    </p:spTree>
    <p:extLst>
      <p:ext uri="{BB962C8B-B14F-4D97-AF65-F5344CB8AC3E}">
        <p14:creationId xmlns:p14="http://schemas.microsoft.com/office/powerpoint/2010/main" val="4166903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to scale and technology limitation each part of data path, part of network  needs to be managed separately and build “stitching” points on the edge of Access, Core and </a:t>
            </a:r>
            <a:r>
              <a:rPr lang="en-US" dirty="0" err="1"/>
              <a:t>DataCenter</a:t>
            </a:r>
            <a:r>
              <a:rPr lang="en-US" dirty="0"/>
              <a:t> domain</a:t>
            </a:r>
          </a:p>
          <a:p>
            <a:r>
              <a:rPr lang="en-US" dirty="0"/>
              <a:t>It is complex, hard to Automate, different teams are involved in configuration, different technologies and Vendors are used</a:t>
            </a:r>
          </a:p>
        </p:txBody>
      </p:sp>
      <p:sp>
        <p:nvSpPr>
          <p:cNvPr id="4" name="Slide Number Placeholder 3"/>
          <p:cNvSpPr>
            <a:spLocks noGrp="1"/>
          </p:cNvSpPr>
          <p:nvPr>
            <p:ph type="sldNum" sz="quarter" idx="5"/>
          </p:nvPr>
        </p:nvSpPr>
        <p:spPr/>
        <p:txBody>
          <a:bodyPr/>
          <a:lstStyle/>
          <a:p>
            <a:fld id="{8211A444-F3BB-4215-8D61-19749E97F2CD}" type="slidenum">
              <a:rPr lang="cs-CZ" smtClean="0"/>
              <a:t>4</a:t>
            </a:fld>
            <a:endParaRPr lang="cs-CZ"/>
          </a:p>
        </p:txBody>
      </p:sp>
    </p:spTree>
    <p:extLst>
      <p:ext uri="{BB962C8B-B14F-4D97-AF65-F5344CB8AC3E}">
        <p14:creationId xmlns:p14="http://schemas.microsoft.com/office/powerpoint/2010/main" val="37075290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simplification by using Segment routing (about 10 years ago), </a:t>
            </a:r>
          </a:p>
          <a:p>
            <a:r>
              <a:rPr lang="en-US" dirty="0"/>
              <a:t>Lets build One single large network, it is possible by using SR MPLS – huge simplification. Just One technology span across whole network, network forwarding is simple and Stitching point are gone. You can build your service End-to-end</a:t>
            </a:r>
          </a:p>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5</a:t>
            </a:fld>
            <a:endParaRPr lang="cs-CZ"/>
          </a:p>
        </p:txBody>
      </p:sp>
    </p:spTree>
    <p:extLst>
      <p:ext uri="{BB962C8B-B14F-4D97-AF65-F5344CB8AC3E}">
        <p14:creationId xmlns:p14="http://schemas.microsoft.com/office/powerpoint/2010/main" val="6775987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Homogenous network, very simple routing. Service is moved to “compute”</a:t>
            </a:r>
          </a:p>
        </p:txBody>
      </p:sp>
      <p:sp>
        <p:nvSpPr>
          <p:cNvPr id="4" name="Slide Number Placeholder 3"/>
          <p:cNvSpPr>
            <a:spLocks noGrp="1"/>
          </p:cNvSpPr>
          <p:nvPr>
            <p:ph type="sldNum" sz="quarter" idx="5"/>
          </p:nvPr>
        </p:nvSpPr>
        <p:spPr/>
        <p:txBody>
          <a:bodyPr/>
          <a:lstStyle/>
          <a:p>
            <a:fld id="{8211A444-F3BB-4215-8D61-19749E97F2CD}" type="slidenum">
              <a:rPr lang="cs-CZ" smtClean="0"/>
              <a:t>6</a:t>
            </a:fld>
            <a:endParaRPr lang="cs-CZ"/>
          </a:p>
        </p:txBody>
      </p:sp>
    </p:spTree>
    <p:extLst>
      <p:ext uri="{BB962C8B-B14F-4D97-AF65-F5344CB8AC3E}">
        <p14:creationId xmlns:p14="http://schemas.microsoft.com/office/powerpoint/2010/main" val="3469658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IETF's MPLS Working Group was formed in 1997</a:t>
            </a:r>
          </a:p>
          <a:p>
            <a:r>
              <a:rPr lang="en-US" dirty="0"/>
              <a:t>1998</a:t>
            </a:r>
            <a:r>
              <a:rPr lang="en-US" baseline="0" dirty="0"/>
              <a:t> First MPLS VPNs Deployed</a:t>
            </a:r>
          </a:p>
          <a:p>
            <a:r>
              <a:rPr lang="en-US" baseline="0" dirty="0"/>
              <a:t>1999 MPLS TE</a:t>
            </a:r>
          </a:p>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8</a:t>
            </a:fld>
            <a:endParaRPr lang="cs-CZ"/>
          </a:p>
        </p:txBody>
      </p:sp>
    </p:spTree>
    <p:extLst>
      <p:ext uri="{BB962C8B-B14F-4D97-AF65-F5344CB8AC3E}">
        <p14:creationId xmlns:p14="http://schemas.microsoft.com/office/powerpoint/2010/main" val="23079840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11</a:t>
            </a:fld>
            <a:endParaRPr lang="cs-CZ"/>
          </a:p>
        </p:txBody>
      </p:sp>
    </p:spTree>
    <p:extLst>
      <p:ext uri="{BB962C8B-B14F-4D97-AF65-F5344CB8AC3E}">
        <p14:creationId xmlns:p14="http://schemas.microsoft.com/office/powerpoint/2010/main" val="21149273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RSVP-TE – ATM/FR circuit based approach</a:t>
            </a:r>
          </a:p>
          <a:p>
            <a:r>
              <a:rPr lang="en-US" dirty="0"/>
              <a:t>MPLS-FRR – SONET/SDH approach</a:t>
            </a:r>
            <a:endParaRPr lang="sk-SK" dirty="0"/>
          </a:p>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13</a:t>
            </a:fld>
            <a:endParaRPr lang="cs-CZ"/>
          </a:p>
        </p:txBody>
      </p:sp>
    </p:spTree>
    <p:extLst>
      <p:ext uri="{BB962C8B-B14F-4D97-AF65-F5344CB8AC3E}">
        <p14:creationId xmlns:p14="http://schemas.microsoft.com/office/powerpoint/2010/main" val="5302072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14</a:t>
            </a:fld>
            <a:endParaRPr lang="cs-CZ"/>
          </a:p>
        </p:txBody>
      </p:sp>
    </p:spTree>
    <p:extLst>
      <p:ext uri="{BB962C8B-B14F-4D97-AF65-F5344CB8AC3E}">
        <p14:creationId xmlns:p14="http://schemas.microsoft.com/office/powerpoint/2010/main" val="27202207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dirty="0"/>
              <a:t>https://www.esnog.net/gore23/gore23-files/20190515-ESNOG-SRv6.pdf</a:t>
            </a:r>
          </a:p>
        </p:txBody>
      </p:sp>
      <p:sp>
        <p:nvSpPr>
          <p:cNvPr id="4" name="Slide Number Placeholder 3"/>
          <p:cNvSpPr>
            <a:spLocks noGrp="1"/>
          </p:cNvSpPr>
          <p:nvPr>
            <p:ph type="sldNum" sz="quarter" idx="10"/>
          </p:nvPr>
        </p:nvSpPr>
        <p:spPr/>
        <p:txBody>
          <a:bodyPr/>
          <a:lstStyle/>
          <a:p>
            <a:fld id="{8211A444-F3BB-4215-8D61-19749E97F2CD}" type="slidenum">
              <a:rPr lang="cs-CZ" smtClean="0"/>
              <a:t>15</a:t>
            </a:fld>
            <a:endParaRPr lang="cs-CZ"/>
          </a:p>
        </p:txBody>
      </p:sp>
    </p:spTree>
    <p:extLst>
      <p:ext uri="{BB962C8B-B14F-4D97-AF65-F5344CB8AC3E}">
        <p14:creationId xmlns:p14="http://schemas.microsoft.com/office/powerpoint/2010/main" val="17628242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presentation: IGP-based forwarding construct</a:t>
            </a:r>
            <a:endParaRPr lang="sk-SK" dirty="0"/>
          </a:p>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16</a:t>
            </a:fld>
            <a:endParaRPr lang="cs-CZ"/>
          </a:p>
        </p:txBody>
      </p:sp>
    </p:spTree>
    <p:extLst>
      <p:ext uri="{BB962C8B-B14F-4D97-AF65-F5344CB8AC3E}">
        <p14:creationId xmlns:p14="http://schemas.microsoft.com/office/powerpoint/2010/main" val="35285030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www.ciscolive.com</a:t>
            </a:r>
            <a:r>
              <a:rPr lang="en-US" dirty="0"/>
              <a:t>/c/dam/r/</a:t>
            </a:r>
            <a:r>
              <a:rPr lang="en-US" dirty="0" err="1"/>
              <a:t>ciscolive</a:t>
            </a:r>
            <a:r>
              <a:rPr lang="en-US" dirty="0"/>
              <a:t>/</a:t>
            </a:r>
            <a:r>
              <a:rPr lang="en-US" dirty="0" err="1"/>
              <a:t>emea</a:t>
            </a:r>
            <a:r>
              <a:rPr lang="en-US" dirty="0"/>
              <a:t>/docs/2025/pdf/</a:t>
            </a:r>
            <a:r>
              <a:rPr lang="en-US" dirty="0" err="1"/>
              <a:t>BRKMPL-2253.pdf</a:t>
            </a:r>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19</a:t>
            </a:fld>
            <a:endParaRPr lang="cs-CZ"/>
          </a:p>
        </p:txBody>
      </p:sp>
    </p:spTree>
    <p:extLst>
      <p:ext uri="{BB962C8B-B14F-4D97-AF65-F5344CB8AC3E}">
        <p14:creationId xmlns:p14="http://schemas.microsoft.com/office/powerpoint/2010/main" val="21066723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www.ciscolive.com</a:t>
            </a:r>
            <a:r>
              <a:rPr lang="en-US" dirty="0"/>
              <a:t>/c/dam/r/</a:t>
            </a:r>
            <a:r>
              <a:rPr lang="en-US" dirty="0" err="1"/>
              <a:t>ciscolive</a:t>
            </a:r>
            <a:r>
              <a:rPr lang="en-US" dirty="0"/>
              <a:t>/</a:t>
            </a:r>
            <a:r>
              <a:rPr lang="en-US" dirty="0" err="1"/>
              <a:t>emea</a:t>
            </a:r>
            <a:r>
              <a:rPr lang="en-US" dirty="0"/>
              <a:t>/docs/2025/pdf/</a:t>
            </a:r>
            <a:r>
              <a:rPr lang="en-US" dirty="0" err="1"/>
              <a:t>BRKMPL-2253.pdf</a:t>
            </a:r>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20</a:t>
            </a:fld>
            <a:endParaRPr lang="cs-CZ"/>
          </a:p>
        </p:txBody>
      </p:sp>
    </p:spTree>
    <p:extLst>
      <p:ext uri="{BB962C8B-B14F-4D97-AF65-F5344CB8AC3E}">
        <p14:creationId xmlns:p14="http://schemas.microsoft.com/office/powerpoint/2010/main" val="3095975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presentation: IGP-based forwarding construct</a:t>
            </a:r>
            <a:endParaRPr lang="sk-SK" dirty="0"/>
          </a:p>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21</a:t>
            </a:fld>
            <a:endParaRPr lang="cs-CZ"/>
          </a:p>
        </p:txBody>
      </p:sp>
    </p:spTree>
    <p:extLst>
      <p:ext uri="{BB962C8B-B14F-4D97-AF65-F5344CB8AC3E}">
        <p14:creationId xmlns:p14="http://schemas.microsoft.com/office/powerpoint/2010/main" val="29542818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solidFill>
                  <a:srgbClr val="FF0000"/>
                </a:solidFill>
              </a:rPr>
              <a:t>455-436-SR-MENOG-18-km.pptx  - </a:t>
            </a:r>
            <a:r>
              <a:rPr lang="en-US" b="1" i="1" dirty="0" err="1">
                <a:solidFill>
                  <a:srgbClr val="FF0000"/>
                </a:solidFill>
              </a:rPr>
              <a:t>odsud</a:t>
            </a:r>
            <a:r>
              <a:rPr lang="en-US" b="1" i="1" dirty="0">
                <a:solidFill>
                  <a:srgbClr val="FF0000"/>
                </a:solidFill>
              </a:rPr>
              <a:t> </a:t>
            </a:r>
            <a:r>
              <a:rPr lang="en-US" b="1" i="1" dirty="0" err="1">
                <a:solidFill>
                  <a:srgbClr val="FF0000"/>
                </a:solidFill>
              </a:rPr>
              <a:t>doplnit</a:t>
            </a:r>
            <a:endParaRPr lang="cs-CZ" b="1" i="1" dirty="0">
              <a:solidFill>
                <a:srgbClr val="FF0000"/>
              </a:solidFill>
            </a:endParaRPr>
          </a:p>
        </p:txBody>
      </p:sp>
      <p:sp>
        <p:nvSpPr>
          <p:cNvPr id="4" name="Slide Number Placeholder 3"/>
          <p:cNvSpPr>
            <a:spLocks noGrp="1"/>
          </p:cNvSpPr>
          <p:nvPr>
            <p:ph type="sldNum" sz="quarter" idx="10"/>
          </p:nvPr>
        </p:nvSpPr>
        <p:spPr/>
        <p:txBody>
          <a:bodyPr/>
          <a:lstStyle/>
          <a:p>
            <a:fld id="{8211A444-F3BB-4215-8D61-19749E97F2CD}" type="slidenum">
              <a:rPr lang="cs-CZ" smtClean="0"/>
              <a:t>22</a:t>
            </a:fld>
            <a:endParaRPr lang="cs-CZ"/>
          </a:p>
        </p:txBody>
      </p:sp>
    </p:spTree>
    <p:extLst>
      <p:ext uri="{BB962C8B-B14F-4D97-AF65-F5344CB8AC3E}">
        <p14:creationId xmlns:p14="http://schemas.microsoft.com/office/powerpoint/2010/main" val="38075208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24</a:t>
            </a:fld>
            <a:endParaRPr lang="cs-CZ"/>
          </a:p>
        </p:txBody>
      </p:sp>
    </p:spTree>
    <p:extLst>
      <p:ext uri="{BB962C8B-B14F-4D97-AF65-F5344CB8AC3E}">
        <p14:creationId xmlns:p14="http://schemas.microsoft.com/office/powerpoint/2010/main" val="35275324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29</a:t>
            </a:fld>
            <a:endParaRPr lang="cs-CZ"/>
          </a:p>
        </p:txBody>
      </p:sp>
    </p:spTree>
    <p:extLst>
      <p:ext uri="{BB962C8B-B14F-4D97-AF65-F5344CB8AC3E}">
        <p14:creationId xmlns:p14="http://schemas.microsoft.com/office/powerpoint/2010/main" val="10492875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30</a:t>
            </a:fld>
            <a:endParaRPr lang="cs-CZ"/>
          </a:p>
        </p:txBody>
      </p:sp>
    </p:spTree>
    <p:extLst>
      <p:ext uri="{BB962C8B-B14F-4D97-AF65-F5344CB8AC3E}">
        <p14:creationId xmlns:p14="http://schemas.microsoft.com/office/powerpoint/2010/main" val="11926058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Twice is just for Algo 0</a:t>
            </a:r>
          </a:p>
        </p:txBody>
      </p:sp>
      <p:sp>
        <p:nvSpPr>
          <p:cNvPr id="4" name="Slide Number Placeholder 3"/>
          <p:cNvSpPr>
            <a:spLocks noGrp="1"/>
          </p:cNvSpPr>
          <p:nvPr>
            <p:ph type="sldNum" sz="quarter" idx="5"/>
          </p:nvPr>
        </p:nvSpPr>
        <p:spPr/>
        <p:txBody>
          <a:bodyPr/>
          <a:lstStyle/>
          <a:p>
            <a:fld id="{8211A444-F3BB-4215-8D61-19749E97F2CD}" type="slidenum">
              <a:rPr lang="cs-CZ" smtClean="0"/>
              <a:t>31</a:t>
            </a:fld>
            <a:endParaRPr lang="cs-CZ"/>
          </a:p>
        </p:txBody>
      </p:sp>
    </p:spTree>
    <p:extLst>
      <p:ext uri="{BB962C8B-B14F-4D97-AF65-F5344CB8AC3E}">
        <p14:creationId xmlns:p14="http://schemas.microsoft.com/office/powerpoint/2010/main" val="17200683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32</a:t>
            </a:fld>
            <a:endParaRPr lang="cs-CZ"/>
          </a:p>
        </p:txBody>
      </p:sp>
    </p:spTree>
    <p:extLst>
      <p:ext uri="{BB962C8B-B14F-4D97-AF65-F5344CB8AC3E}">
        <p14:creationId xmlns:p14="http://schemas.microsoft.com/office/powerpoint/2010/main" val="1231716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36</a:t>
            </a:fld>
            <a:endParaRPr lang="cs-CZ"/>
          </a:p>
        </p:txBody>
      </p:sp>
    </p:spTree>
    <p:extLst>
      <p:ext uri="{BB962C8B-B14F-4D97-AF65-F5344CB8AC3E}">
        <p14:creationId xmlns:p14="http://schemas.microsoft.com/office/powerpoint/2010/main" val="32248047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header is something which was name “PROTOCOL” in IPv4 = What is encapsulated in IPv6 packet</a:t>
            </a:r>
          </a:p>
        </p:txBody>
      </p:sp>
      <p:sp>
        <p:nvSpPr>
          <p:cNvPr id="4" name="Slide Number Placeholder 3"/>
          <p:cNvSpPr>
            <a:spLocks noGrp="1"/>
          </p:cNvSpPr>
          <p:nvPr>
            <p:ph type="sldNum" sz="quarter" idx="5"/>
          </p:nvPr>
        </p:nvSpPr>
        <p:spPr/>
        <p:txBody>
          <a:bodyPr/>
          <a:lstStyle/>
          <a:p>
            <a:fld id="{8211A444-F3BB-4215-8D61-19749E97F2CD}" type="slidenum">
              <a:rPr lang="cs-CZ" smtClean="0"/>
              <a:t>37</a:t>
            </a:fld>
            <a:endParaRPr lang="cs-CZ"/>
          </a:p>
        </p:txBody>
      </p:sp>
    </p:spTree>
    <p:extLst>
      <p:ext uri="{BB962C8B-B14F-4D97-AF65-F5344CB8AC3E}">
        <p14:creationId xmlns:p14="http://schemas.microsoft.com/office/powerpoint/2010/main" val="19766739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Encapsulation is UDP Protocol</a:t>
            </a:r>
          </a:p>
        </p:txBody>
      </p:sp>
      <p:sp>
        <p:nvSpPr>
          <p:cNvPr id="4" name="Slide Number Placeholder 3"/>
          <p:cNvSpPr>
            <a:spLocks noGrp="1"/>
          </p:cNvSpPr>
          <p:nvPr>
            <p:ph type="sldNum" sz="quarter" idx="5"/>
          </p:nvPr>
        </p:nvSpPr>
        <p:spPr/>
        <p:txBody>
          <a:bodyPr/>
          <a:lstStyle/>
          <a:p>
            <a:fld id="{8211A444-F3BB-4215-8D61-19749E97F2CD}" type="slidenum">
              <a:rPr lang="cs-CZ" smtClean="0"/>
              <a:t>38</a:t>
            </a:fld>
            <a:endParaRPr lang="cs-CZ"/>
          </a:p>
        </p:txBody>
      </p:sp>
    </p:spTree>
    <p:extLst>
      <p:ext uri="{BB962C8B-B14F-4D97-AF65-F5344CB8AC3E}">
        <p14:creationId xmlns:p14="http://schemas.microsoft.com/office/powerpoint/2010/main" val="36785109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Encapsulation or TCP Protocol</a:t>
            </a:r>
          </a:p>
        </p:txBody>
      </p:sp>
      <p:sp>
        <p:nvSpPr>
          <p:cNvPr id="4" name="Slide Number Placeholder 3"/>
          <p:cNvSpPr>
            <a:spLocks noGrp="1"/>
          </p:cNvSpPr>
          <p:nvPr>
            <p:ph type="sldNum" sz="quarter" idx="5"/>
          </p:nvPr>
        </p:nvSpPr>
        <p:spPr/>
        <p:txBody>
          <a:bodyPr/>
          <a:lstStyle/>
          <a:p>
            <a:fld id="{8211A444-F3BB-4215-8D61-19749E97F2CD}" type="slidenum">
              <a:rPr lang="cs-CZ" smtClean="0"/>
              <a:t>39</a:t>
            </a:fld>
            <a:endParaRPr lang="cs-CZ"/>
          </a:p>
        </p:txBody>
      </p:sp>
    </p:spTree>
    <p:extLst>
      <p:ext uri="{BB962C8B-B14F-4D97-AF65-F5344CB8AC3E}">
        <p14:creationId xmlns:p14="http://schemas.microsoft.com/office/powerpoint/2010/main" val="16381844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encapsulate also IPv4 protocol.</a:t>
            </a:r>
          </a:p>
          <a:p>
            <a:r>
              <a:rPr lang="en-US" dirty="0"/>
              <a:t>It is IPv6 packet transporting IPv4. It is kind of TUNELLING</a:t>
            </a:r>
          </a:p>
        </p:txBody>
      </p:sp>
      <p:sp>
        <p:nvSpPr>
          <p:cNvPr id="4" name="Slide Number Placeholder 3"/>
          <p:cNvSpPr>
            <a:spLocks noGrp="1"/>
          </p:cNvSpPr>
          <p:nvPr>
            <p:ph type="sldNum" sz="quarter" idx="5"/>
          </p:nvPr>
        </p:nvSpPr>
        <p:spPr/>
        <p:txBody>
          <a:bodyPr/>
          <a:lstStyle/>
          <a:p>
            <a:fld id="{8211A444-F3BB-4215-8D61-19749E97F2CD}" type="slidenum">
              <a:rPr lang="cs-CZ" smtClean="0"/>
              <a:t>40</a:t>
            </a:fld>
            <a:endParaRPr lang="cs-CZ"/>
          </a:p>
        </p:txBody>
      </p:sp>
    </p:spTree>
    <p:extLst>
      <p:ext uri="{BB962C8B-B14F-4D97-AF65-F5344CB8AC3E}">
        <p14:creationId xmlns:p14="http://schemas.microsoft.com/office/powerpoint/2010/main" val="13230796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encapsulate also IPv4 protocol.</a:t>
            </a:r>
          </a:p>
          <a:p>
            <a:r>
              <a:rPr lang="en-US" dirty="0"/>
              <a:t>It is IPv6 packet transporting Ethernet Frame. It is kind of L2 VPN</a:t>
            </a:r>
          </a:p>
          <a:p>
            <a:endParaRPr lang="en-US" dirty="0"/>
          </a:p>
          <a:p>
            <a:r>
              <a:rPr lang="en-US" dirty="0"/>
              <a:t>IPv6 just encapsulate payload and transport as regular IPv6 packet </a:t>
            </a:r>
          </a:p>
          <a:p>
            <a:r>
              <a:rPr lang="en-US" dirty="0"/>
              <a:t>143 Ethernet </a:t>
            </a:r>
            <a:r>
              <a:rPr lang="en-US" dirty="0" err="1"/>
              <a:t>Ethernet</a:t>
            </a:r>
            <a:r>
              <a:rPr lang="en-US" dirty="0"/>
              <a:t> [</a:t>
            </a:r>
            <a:r>
              <a:rPr lang="en-US" dirty="0">
                <a:hlinkClick r:id="rId3"/>
              </a:rPr>
              <a:t>RFC8986</a:t>
            </a:r>
            <a:r>
              <a:rPr lang="en-US" dirty="0"/>
              <a:t>]</a:t>
            </a:r>
          </a:p>
        </p:txBody>
      </p:sp>
      <p:sp>
        <p:nvSpPr>
          <p:cNvPr id="4" name="Slide Number Placeholder 3"/>
          <p:cNvSpPr>
            <a:spLocks noGrp="1"/>
          </p:cNvSpPr>
          <p:nvPr>
            <p:ph type="sldNum" sz="quarter" idx="5"/>
          </p:nvPr>
        </p:nvSpPr>
        <p:spPr/>
        <p:txBody>
          <a:bodyPr/>
          <a:lstStyle/>
          <a:p>
            <a:fld id="{8211A444-F3BB-4215-8D61-19749E97F2CD}" type="slidenum">
              <a:rPr lang="cs-CZ" smtClean="0"/>
              <a:t>41</a:t>
            </a:fld>
            <a:endParaRPr lang="cs-CZ"/>
          </a:p>
        </p:txBody>
      </p:sp>
    </p:spTree>
    <p:extLst>
      <p:ext uri="{BB962C8B-B14F-4D97-AF65-F5344CB8AC3E}">
        <p14:creationId xmlns:p14="http://schemas.microsoft.com/office/powerpoint/2010/main" val="36472694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Chaining Headers</a:t>
            </a:r>
          </a:p>
        </p:txBody>
      </p:sp>
      <p:sp>
        <p:nvSpPr>
          <p:cNvPr id="4" name="Slide Number Placeholder 3"/>
          <p:cNvSpPr>
            <a:spLocks noGrp="1"/>
          </p:cNvSpPr>
          <p:nvPr>
            <p:ph type="sldNum" sz="quarter" idx="5"/>
          </p:nvPr>
        </p:nvSpPr>
        <p:spPr/>
        <p:txBody>
          <a:bodyPr/>
          <a:lstStyle/>
          <a:p>
            <a:fld id="{8211A444-F3BB-4215-8D61-19749E97F2CD}" type="slidenum">
              <a:rPr lang="cs-CZ" smtClean="0"/>
              <a:t>42</a:t>
            </a:fld>
            <a:endParaRPr lang="cs-CZ"/>
          </a:p>
        </p:txBody>
      </p:sp>
    </p:spTree>
    <p:extLst>
      <p:ext uri="{BB962C8B-B14F-4D97-AF65-F5344CB8AC3E}">
        <p14:creationId xmlns:p14="http://schemas.microsoft.com/office/powerpoint/2010/main" val="14898883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dirty="0"/>
              <a:t>https://www.ciscolive.com/c/dam/r/ciscolive/us/docs/2019/pdf/BRKSPG-3001.pdf</a:t>
            </a:r>
            <a:endParaRPr lang="en-US" dirty="0"/>
          </a:p>
          <a:p>
            <a:r>
              <a:rPr lang="en-US" dirty="0"/>
              <a:t>Jakub Horn</a:t>
            </a:r>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44</a:t>
            </a:fld>
            <a:endParaRPr lang="cs-CZ"/>
          </a:p>
        </p:txBody>
      </p:sp>
    </p:spTree>
    <p:extLst>
      <p:ext uri="{BB962C8B-B14F-4D97-AF65-F5344CB8AC3E}">
        <p14:creationId xmlns:p14="http://schemas.microsoft.com/office/powerpoint/2010/main" val="22215313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a:t>
            </a:r>
          </a:p>
          <a:p>
            <a:r>
              <a:rPr lang="en-US" dirty="0"/>
              <a:t>In SRv6, the Segment Routing Header (SRH) is used to encode a list of instructions or segments for a packet's path. The "Tag" field within the SRH is a 16-bit field that can be used to tag a packet as part of a specific group or class of packets. </a:t>
            </a:r>
          </a:p>
          <a:p>
            <a:r>
              <a:rPr lang="en-US" dirty="0">
                <a:effectLst/>
              </a:rPr>
              <a:t>Here's an example of how the Tag field might be used: </a:t>
            </a:r>
          </a:p>
          <a:p>
            <a:r>
              <a:rPr lang="en-US" dirty="0">
                <a:effectLst/>
              </a:rPr>
              <a:t>Scenario: You want to prioritize certain traffic based on its application, like video conferencing or VoIP. </a:t>
            </a:r>
          </a:p>
          <a:p>
            <a:pPr>
              <a:buFont typeface="+mj-lt"/>
              <a:buAutoNum type="arabicPeriod"/>
            </a:pPr>
            <a:r>
              <a:rPr lang="en-US" b="1" dirty="0">
                <a:effectLst/>
              </a:rPr>
              <a:t>1. Source Node:</a:t>
            </a:r>
            <a:r>
              <a:rPr lang="en-US" dirty="0">
                <a:effectLst/>
              </a:rPr>
              <a:t> </a:t>
            </a:r>
          </a:p>
          <a:p>
            <a:pPr>
              <a:buFont typeface="+mj-lt"/>
              <a:buAutoNum type="arabicPeriod"/>
            </a:pPr>
            <a:r>
              <a:rPr lang="en-US" dirty="0">
                <a:effectLst/>
              </a:rPr>
              <a:t>The source node can set the "Tag" field in the SRH to a specific value that identifies the application type (e.g., Tag = 1 for video, Tag = 2 for VoIP). </a:t>
            </a:r>
          </a:p>
          <a:p>
            <a:pPr>
              <a:buFont typeface="+mj-lt"/>
              <a:buAutoNum type="arabicPeriod"/>
            </a:pPr>
            <a:r>
              <a:rPr lang="en-US" b="1" dirty="0">
                <a:effectLst/>
              </a:rPr>
              <a:t>2. SRv6 Nodes:</a:t>
            </a:r>
            <a:r>
              <a:rPr lang="en-US" dirty="0">
                <a:effectLst/>
              </a:rPr>
              <a:t> </a:t>
            </a:r>
          </a:p>
          <a:p>
            <a:pPr>
              <a:buFont typeface="+mj-lt"/>
              <a:buAutoNum type="arabicPeriod"/>
            </a:pPr>
            <a:r>
              <a:rPr lang="en-US" dirty="0">
                <a:effectLst/>
              </a:rPr>
              <a:t>Along the path, SRv6 nodes can check the "Tag" field and apply different forwarding rules based on the tagged application. For example, they might prioritize packets with Tag = 1 (video) over those with Tag = 2 (VoIP) or apply specific QoS policies.</a:t>
            </a:r>
          </a:p>
          <a:p>
            <a:endParaRPr lang="en-US" dirty="0"/>
          </a:p>
          <a:p>
            <a:r>
              <a:rPr lang="en-US" b="1" dirty="0"/>
              <a:t>SRH Flags:</a:t>
            </a:r>
            <a:r>
              <a:rPr lang="en-US" dirty="0"/>
              <a:t> </a:t>
            </a:r>
          </a:p>
          <a:p>
            <a:r>
              <a:rPr lang="en-US" dirty="0"/>
              <a:t>The flag field provides instructions for the node to process the packet (e.g., decrement SL, perform specific actions based on the SRv6 SID type).</a:t>
            </a:r>
          </a:p>
          <a:p>
            <a:endParaRPr lang="en-US" dirty="0"/>
          </a:p>
          <a:p>
            <a:r>
              <a:rPr lang="en-US" dirty="0" err="1"/>
              <a:t>RFC8754</a:t>
            </a:r>
            <a:r>
              <a:rPr lang="en-US" dirty="0"/>
              <a:t>:</a:t>
            </a:r>
          </a:p>
          <a:p>
            <a:r>
              <a:rPr lang="en-US" dirty="0"/>
              <a:t>Tag: Tag a packet as part of a class or group of packets -- e.g., packets sharing the same set of properties. When Tag is not used at the source, it MUST be set to zero on transmission. When Tag is not used during SRH processing, it SHOULD be ignored. Tag is not used when processing the SID defined in Section 4.3.1. It may be used when processing other </a:t>
            </a:r>
            <a:r>
              <a:rPr lang="en-US" dirty="0" err="1"/>
              <a:t>SIDs</a:t>
            </a:r>
            <a:r>
              <a:rPr lang="en-US" dirty="0"/>
              <a:t> that are not defined in this document. The allocation and use of tag is outside the scope of this document.</a:t>
            </a:r>
          </a:p>
          <a:p>
            <a:endParaRPr lang="en-US" dirty="0"/>
          </a:p>
          <a:p>
            <a:r>
              <a:rPr lang="en-US" dirty="0"/>
              <a:t>Flags: 8 bits of flags. Section 8.1 creates an IANA registry for new flags to be defined. </a:t>
            </a:r>
          </a:p>
          <a:p>
            <a:r>
              <a:rPr lang="en-US" dirty="0"/>
              <a:t>The following flags are defined: </a:t>
            </a:r>
          </a:p>
          <a:p>
            <a:r>
              <a:rPr lang="en-US" dirty="0">
                <a:latin typeface="Consolas" panose="020B0609020204030204" pitchFamily="49" charset="0"/>
              </a:rPr>
              <a:t>  0  1  2  3  4  5   6  7 </a:t>
            </a:r>
          </a:p>
          <a:p>
            <a:r>
              <a:rPr lang="en-US" dirty="0">
                <a:latin typeface="Consolas" panose="020B0609020204030204" pitchFamily="49" charset="0"/>
              </a:rPr>
              <a:t>+-+-+-+-+-+-+-+-+ </a:t>
            </a:r>
          </a:p>
          <a:p>
            <a:r>
              <a:rPr lang="en-US" dirty="0">
                <a:latin typeface="Consolas" panose="020B0609020204030204" pitchFamily="49" charset="0"/>
              </a:rPr>
              <a:t>| U U  U  U  U U U U | </a:t>
            </a:r>
          </a:p>
          <a:p>
            <a:r>
              <a:rPr lang="en-US" dirty="0">
                <a:latin typeface="Consolas" panose="020B0609020204030204" pitchFamily="49" charset="0"/>
              </a:rPr>
              <a:t>+-+-+-+-+-+-+-+-+ </a:t>
            </a:r>
          </a:p>
          <a:p>
            <a:endParaRPr lang="en-US" dirty="0">
              <a:latin typeface="Consolas" panose="020B0609020204030204" pitchFamily="49" charset="0"/>
            </a:endParaRPr>
          </a:p>
          <a:p>
            <a:r>
              <a:rPr lang="en-US" dirty="0">
                <a:latin typeface="Consolas" panose="020B0609020204030204" pitchFamily="49" charset="0"/>
              </a:rPr>
              <a:t>U: Unused and for future use. </a:t>
            </a:r>
            <a:r>
              <a:rPr lang="en-US" dirty="0"/>
              <a:t>MUST be 0 on transmission and ignored on receipt. </a:t>
            </a:r>
          </a:p>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45</a:t>
            </a:fld>
            <a:endParaRPr lang="cs-CZ"/>
          </a:p>
        </p:txBody>
      </p:sp>
    </p:spTree>
    <p:extLst>
      <p:ext uri="{BB962C8B-B14F-4D97-AF65-F5344CB8AC3E}">
        <p14:creationId xmlns:p14="http://schemas.microsoft.com/office/powerpoint/2010/main" val="27151726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https://www.rfc-editor.org/rfc/rfc8754.html</a:t>
            </a:r>
          </a:p>
        </p:txBody>
      </p:sp>
      <p:sp>
        <p:nvSpPr>
          <p:cNvPr id="4" name="Slide Number Placeholder 3"/>
          <p:cNvSpPr>
            <a:spLocks noGrp="1"/>
          </p:cNvSpPr>
          <p:nvPr>
            <p:ph type="sldNum" sz="quarter" idx="5"/>
          </p:nvPr>
        </p:nvSpPr>
        <p:spPr/>
        <p:txBody>
          <a:bodyPr/>
          <a:lstStyle/>
          <a:p>
            <a:fld id="{8211A444-F3BB-4215-8D61-19749E97F2CD}" type="slidenum">
              <a:rPr lang="cs-CZ" smtClean="0"/>
              <a:t>46</a:t>
            </a:fld>
            <a:endParaRPr lang="cs-CZ"/>
          </a:p>
        </p:txBody>
      </p:sp>
    </p:spTree>
    <p:extLst>
      <p:ext uri="{BB962C8B-B14F-4D97-AF65-F5344CB8AC3E}">
        <p14:creationId xmlns:p14="http://schemas.microsoft.com/office/powerpoint/2010/main" val="13955768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https://www.rfc-editor.org/rfc/rfc8754.html</a:t>
            </a:r>
          </a:p>
        </p:txBody>
      </p:sp>
      <p:sp>
        <p:nvSpPr>
          <p:cNvPr id="4" name="Slide Number Placeholder 3"/>
          <p:cNvSpPr>
            <a:spLocks noGrp="1"/>
          </p:cNvSpPr>
          <p:nvPr>
            <p:ph type="sldNum" sz="quarter" idx="5"/>
          </p:nvPr>
        </p:nvSpPr>
        <p:spPr/>
        <p:txBody>
          <a:bodyPr/>
          <a:lstStyle/>
          <a:p>
            <a:fld id="{8211A444-F3BB-4215-8D61-19749E97F2CD}" type="slidenum">
              <a:rPr lang="cs-CZ" smtClean="0"/>
              <a:t>47</a:t>
            </a:fld>
            <a:endParaRPr lang="cs-CZ"/>
          </a:p>
        </p:txBody>
      </p:sp>
    </p:spTree>
    <p:extLst>
      <p:ext uri="{BB962C8B-B14F-4D97-AF65-F5344CB8AC3E}">
        <p14:creationId xmlns:p14="http://schemas.microsoft.com/office/powerpoint/2010/main" val="24362274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https://www.rfc-editor.org/rfc/rfc8754.html</a:t>
            </a:r>
          </a:p>
        </p:txBody>
      </p:sp>
      <p:sp>
        <p:nvSpPr>
          <p:cNvPr id="4" name="Slide Number Placeholder 3"/>
          <p:cNvSpPr>
            <a:spLocks noGrp="1"/>
          </p:cNvSpPr>
          <p:nvPr>
            <p:ph type="sldNum" sz="quarter" idx="5"/>
          </p:nvPr>
        </p:nvSpPr>
        <p:spPr/>
        <p:txBody>
          <a:bodyPr/>
          <a:lstStyle/>
          <a:p>
            <a:fld id="{8211A444-F3BB-4215-8D61-19749E97F2CD}" type="slidenum">
              <a:rPr lang="cs-CZ" smtClean="0"/>
              <a:t>48</a:t>
            </a:fld>
            <a:endParaRPr lang="cs-CZ"/>
          </a:p>
        </p:txBody>
      </p:sp>
    </p:spTree>
    <p:extLst>
      <p:ext uri="{BB962C8B-B14F-4D97-AF65-F5344CB8AC3E}">
        <p14:creationId xmlns:p14="http://schemas.microsoft.com/office/powerpoint/2010/main" val="39866424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https://www.rfc-editor.org/rfc/rfc8754.html</a:t>
            </a:r>
          </a:p>
        </p:txBody>
      </p:sp>
      <p:sp>
        <p:nvSpPr>
          <p:cNvPr id="4" name="Slide Number Placeholder 3"/>
          <p:cNvSpPr>
            <a:spLocks noGrp="1"/>
          </p:cNvSpPr>
          <p:nvPr>
            <p:ph type="sldNum" sz="quarter" idx="5"/>
          </p:nvPr>
        </p:nvSpPr>
        <p:spPr/>
        <p:txBody>
          <a:bodyPr/>
          <a:lstStyle/>
          <a:p>
            <a:fld id="{8211A444-F3BB-4215-8D61-19749E97F2CD}" type="slidenum">
              <a:rPr lang="cs-CZ" smtClean="0"/>
              <a:t>49</a:t>
            </a:fld>
            <a:endParaRPr lang="cs-CZ"/>
          </a:p>
        </p:txBody>
      </p:sp>
    </p:spTree>
    <p:extLst>
      <p:ext uri="{BB962C8B-B14F-4D97-AF65-F5344CB8AC3E}">
        <p14:creationId xmlns:p14="http://schemas.microsoft.com/office/powerpoint/2010/main" val="176767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https://www.rfc-editor.org/rfc/rfc8754.html</a:t>
            </a:r>
          </a:p>
        </p:txBody>
      </p:sp>
      <p:sp>
        <p:nvSpPr>
          <p:cNvPr id="4" name="Slide Number Placeholder 3"/>
          <p:cNvSpPr>
            <a:spLocks noGrp="1"/>
          </p:cNvSpPr>
          <p:nvPr>
            <p:ph type="sldNum" sz="quarter" idx="5"/>
          </p:nvPr>
        </p:nvSpPr>
        <p:spPr/>
        <p:txBody>
          <a:bodyPr/>
          <a:lstStyle/>
          <a:p>
            <a:fld id="{8211A444-F3BB-4215-8D61-19749E97F2CD}" type="slidenum">
              <a:rPr lang="cs-CZ" smtClean="0"/>
              <a:t>50</a:t>
            </a:fld>
            <a:endParaRPr lang="cs-CZ"/>
          </a:p>
        </p:txBody>
      </p:sp>
    </p:spTree>
    <p:extLst>
      <p:ext uri="{BB962C8B-B14F-4D97-AF65-F5344CB8AC3E}">
        <p14:creationId xmlns:p14="http://schemas.microsoft.com/office/powerpoint/2010/main" val="32556870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https://www.rfc-editor.org/rfc/rfc8754.html</a:t>
            </a:r>
          </a:p>
        </p:txBody>
      </p:sp>
      <p:sp>
        <p:nvSpPr>
          <p:cNvPr id="4" name="Slide Number Placeholder 3"/>
          <p:cNvSpPr>
            <a:spLocks noGrp="1"/>
          </p:cNvSpPr>
          <p:nvPr>
            <p:ph type="sldNum" sz="quarter" idx="5"/>
          </p:nvPr>
        </p:nvSpPr>
        <p:spPr/>
        <p:txBody>
          <a:bodyPr/>
          <a:lstStyle/>
          <a:p>
            <a:fld id="{8211A444-F3BB-4215-8D61-19749E97F2CD}" type="slidenum">
              <a:rPr lang="cs-CZ" smtClean="0"/>
              <a:t>51</a:t>
            </a:fld>
            <a:endParaRPr lang="cs-CZ"/>
          </a:p>
        </p:txBody>
      </p:sp>
    </p:spTree>
    <p:extLst>
      <p:ext uri="{BB962C8B-B14F-4D97-AF65-F5344CB8AC3E}">
        <p14:creationId xmlns:p14="http://schemas.microsoft.com/office/powerpoint/2010/main" val="30423744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https://www.rfc-editor.org/rfc/rfc8754.html</a:t>
            </a:r>
          </a:p>
        </p:txBody>
      </p:sp>
      <p:sp>
        <p:nvSpPr>
          <p:cNvPr id="4" name="Slide Number Placeholder 3"/>
          <p:cNvSpPr>
            <a:spLocks noGrp="1"/>
          </p:cNvSpPr>
          <p:nvPr>
            <p:ph type="sldNum" sz="quarter" idx="5"/>
          </p:nvPr>
        </p:nvSpPr>
        <p:spPr/>
        <p:txBody>
          <a:bodyPr/>
          <a:lstStyle/>
          <a:p>
            <a:fld id="{8211A444-F3BB-4215-8D61-19749E97F2CD}" type="slidenum">
              <a:rPr lang="cs-CZ" smtClean="0"/>
              <a:t>52</a:t>
            </a:fld>
            <a:endParaRPr lang="cs-CZ"/>
          </a:p>
        </p:txBody>
      </p:sp>
    </p:spTree>
    <p:extLst>
      <p:ext uri="{BB962C8B-B14F-4D97-AF65-F5344CB8AC3E}">
        <p14:creationId xmlns:p14="http://schemas.microsoft.com/office/powerpoint/2010/main" val="2196540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MPLS labels are imposed to MPLS packet and there removed as packet is transported through the network </a:t>
            </a:r>
          </a:p>
        </p:txBody>
      </p:sp>
      <p:sp>
        <p:nvSpPr>
          <p:cNvPr id="4" name="Slide Number Placeholder 3"/>
          <p:cNvSpPr>
            <a:spLocks noGrp="1"/>
          </p:cNvSpPr>
          <p:nvPr>
            <p:ph type="sldNum" sz="quarter" idx="5"/>
          </p:nvPr>
        </p:nvSpPr>
        <p:spPr/>
        <p:txBody>
          <a:bodyPr/>
          <a:lstStyle/>
          <a:p>
            <a:fld id="{8211A444-F3BB-4215-8D61-19749E97F2CD}" type="slidenum">
              <a:rPr lang="cs-CZ" smtClean="0"/>
              <a:t>53</a:t>
            </a:fld>
            <a:endParaRPr lang="cs-CZ"/>
          </a:p>
        </p:txBody>
      </p:sp>
    </p:spTree>
    <p:extLst>
      <p:ext uri="{BB962C8B-B14F-4D97-AF65-F5344CB8AC3E}">
        <p14:creationId xmlns:p14="http://schemas.microsoft.com/office/powerpoint/2010/main" val="8747416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61</a:t>
            </a:fld>
            <a:endParaRPr lang="cs-CZ"/>
          </a:p>
        </p:txBody>
      </p:sp>
    </p:spTree>
    <p:extLst>
      <p:ext uri="{BB962C8B-B14F-4D97-AF65-F5344CB8AC3E}">
        <p14:creationId xmlns:p14="http://schemas.microsoft.com/office/powerpoint/2010/main" val="38677490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62</a:t>
            </a:fld>
            <a:endParaRPr lang="cs-CZ"/>
          </a:p>
        </p:txBody>
      </p:sp>
    </p:spTree>
    <p:extLst>
      <p:ext uri="{BB962C8B-B14F-4D97-AF65-F5344CB8AC3E}">
        <p14:creationId xmlns:p14="http://schemas.microsoft.com/office/powerpoint/2010/main" val="13227860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63</a:t>
            </a:fld>
            <a:endParaRPr lang="cs-CZ"/>
          </a:p>
        </p:txBody>
      </p:sp>
    </p:spTree>
    <p:extLst>
      <p:ext uri="{BB962C8B-B14F-4D97-AF65-F5344CB8AC3E}">
        <p14:creationId xmlns:p14="http://schemas.microsoft.com/office/powerpoint/2010/main" val="38741175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64</a:t>
            </a:fld>
            <a:endParaRPr lang="cs-CZ"/>
          </a:p>
        </p:txBody>
      </p:sp>
    </p:spTree>
    <p:extLst>
      <p:ext uri="{BB962C8B-B14F-4D97-AF65-F5344CB8AC3E}">
        <p14:creationId xmlns:p14="http://schemas.microsoft.com/office/powerpoint/2010/main" val="372918429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65</a:t>
            </a:fld>
            <a:endParaRPr lang="cs-CZ"/>
          </a:p>
        </p:txBody>
      </p:sp>
    </p:spTree>
    <p:extLst>
      <p:ext uri="{BB962C8B-B14F-4D97-AF65-F5344CB8AC3E}">
        <p14:creationId xmlns:p14="http://schemas.microsoft.com/office/powerpoint/2010/main" val="267029012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66</a:t>
            </a:fld>
            <a:endParaRPr lang="cs-CZ"/>
          </a:p>
        </p:txBody>
      </p:sp>
    </p:spTree>
    <p:extLst>
      <p:ext uri="{BB962C8B-B14F-4D97-AF65-F5344CB8AC3E}">
        <p14:creationId xmlns:p14="http://schemas.microsoft.com/office/powerpoint/2010/main" val="211721489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67</a:t>
            </a:fld>
            <a:endParaRPr lang="cs-CZ"/>
          </a:p>
        </p:txBody>
      </p:sp>
    </p:spTree>
    <p:extLst>
      <p:ext uri="{BB962C8B-B14F-4D97-AF65-F5344CB8AC3E}">
        <p14:creationId xmlns:p14="http://schemas.microsoft.com/office/powerpoint/2010/main" val="175233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69</a:t>
            </a:fld>
            <a:endParaRPr lang="cs-CZ"/>
          </a:p>
        </p:txBody>
      </p:sp>
    </p:spTree>
    <p:extLst>
      <p:ext uri="{BB962C8B-B14F-4D97-AF65-F5344CB8AC3E}">
        <p14:creationId xmlns:p14="http://schemas.microsoft.com/office/powerpoint/2010/main" val="274838200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70</a:t>
            </a:fld>
            <a:endParaRPr lang="cs-CZ"/>
          </a:p>
        </p:txBody>
      </p:sp>
    </p:spTree>
    <p:extLst>
      <p:ext uri="{BB962C8B-B14F-4D97-AF65-F5344CB8AC3E}">
        <p14:creationId xmlns:p14="http://schemas.microsoft.com/office/powerpoint/2010/main" val="28071001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71</a:t>
            </a:fld>
            <a:endParaRPr lang="cs-CZ"/>
          </a:p>
        </p:txBody>
      </p:sp>
    </p:spTree>
    <p:extLst>
      <p:ext uri="{BB962C8B-B14F-4D97-AF65-F5344CB8AC3E}">
        <p14:creationId xmlns:p14="http://schemas.microsoft.com/office/powerpoint/2010/main" val="119714480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assume that the source node is SR-capable.</a:t>
            </a:r>
            <a:r>
              <a:rPr lang="en-US" baseline="0" dirty="0"/>
              <a:t> </a:t>
            </a:r>
          </a:p>
          <a:p>
            <a:endParaRPr lang="en-US" baseline="0" dirty="0"/>
          </a:p>
          <a:p>
            <a:r>
              <a:rPr lang="en-US" baseline="0" dirty="0"/>
              <a:t>But of course we are also able to handle cases where the source is either not SR capable or not aware that SR is used at some point in the network. In these cases the SR information can be added later on the path.</a:t>
            </a:r>
          </a:p>
          <a:p>
            <a:endParaRPr lang="en-US" baseline="0" dirty="0"/>
          </a:p>
          <a:p>
            <a:r>
              <a:rPr lang="en-US" baseline="0" dirty="0"/>
              <a:t>We'll see that in the use-case section</a:t>
            </a:r>
          </a:p>
          <a:p>
            <a:endParaRPr lang="en-US" baseline="0" dirty="0"/>
          </a:p>
          <a:p>
            <a:r>
              <a:rPr lang="en-US" baseline="0" dirty="0"/>
              <a:t>Summarized representation of the headers</a:t>
            </a:r>
            <a:endParaRPr lang="en-US" dirty="0"/>
          </a:p>
        </p:txBody>
      </p:sp>
      <p:sp>
        <p:nvSpPr>
          <p:cNvPr id="4" name="Slide Number Placeholder 3"/>
          <p:cNvSpPr>
            <a:spLocks noGrp="1"/>
          </p:cNvSpPr>
          <p:nvPr>
            <p:ph type="sldNum" sz="quarter" idx="10"/>
          </p:nvPr>
        </p:nvSpPr>
        <p:spPr/>
        <p:txBody>
          <a:bodyPr/>
          <a:lstStyle/>
          <a:p>
            <a:fld id="{43545A43-6362-E043-990C-8D9F6B7D9043}" type="slidenum">
              <a:rPr lang="en-US" smtClean="0">
                <a:solidFill>
                  <a:prstClr val="black"/>
                </a:solidFill>
              </a:rPr>
              <a:pPr/>
              <a:t>72</a:t>
            </a:fld>
            <a:endParaRPr lang="en-US">
              <a:solidFill>
                <a:prstClr val="black"/>
              </a:solidFill>
            </a:endParaRPr>
          </a:p>
        </p:txBody>
      </p:sp>
    </p:spTree>
    <p:extLst>
      <p:ext uri="{BB962C8B-B14F-4D97-AF65-F5344CB8AC3E}">
        <p14:creationId xmlns:p14="http://schemas.microsoft.com/office/powerpoint/2010/main" val="367462920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reaching </a:t>
            </a:r>
            <a:r>
              <a:rPr lang="is-IS" dirty="0"/>
              <a:t>2</a:t>
            </a:r>
            <a:r>
              <a:rPr lang="en-US" dirty="0"/>
              <a:t>, the packet</a:t>
            </a:r>
            <a:r>
              <a:rPr lang="en-US" baseline="0" dirty="0"/>
              <a:t> may traverse a non-SR transit node. </a:t>
            </a:r>
          </a:p>
          <a:p>
            <a:endParaRPr lang="en-US" baseline="0" dirty="0"/>
          </a:p>
          <a:p>
            <a:r>
              <a:rPr lang="en-US" baseline="0" dirty="0"/>
              <a:t>And this is not a problem at all.</a:t>
            </a:r>
          </a:p>
          <a:p>
            <a:endParaRPr lang="en-US" baseline="0" dirty="0"/>
          </a:p>
          <a:p>
            <a:r>
              <a:rPr lang="en-US" baseline="0" dirty="0"/>
              <a:t>Since the IP DA is </a:t>
            </a:r>
            <a:r>
              <a:rPr lang="is-IS" baseline="0" dirty="0"/>
              <a:t>A2::</a:t>
            </a:r>
            <a:r>
              <a:rPr lang="en-US" baseline="0" dirty="0"/>
              <a:t>, the SR H will not even be looked at before reaching </a:t>
            </a:r>
            <a:r>
              <a:rPr lang="is-IS" baseline="0" dirty="0"/>
              <a:t>2</a:t>
            </a:r>
            <a:r>
              <a:rPr lang="en-US" baseline="0" dirty="0"/>
              <a:t>.</a:t>
            </a:r>
          </a:p>
        </p:txBody>
      </p:sp>
      <p:sp>
        <p:nvSpPr>
          <p:cNvPr id="4" name="Slide Number Placeholder 3"/>
          <p:cNvSpPr>
            <a:spLocks noGrp="1"/>
          </p:cNvSpPr>
          <p:nvPr>
            <p:ph type="sldNum" sz="quarter" idx="10"/>
          </p:nvPr>
        </p:nvSpPr>
        <p:spPr/>
        <p:txBody>
          <a:bodyPr/>
          <a:lstStyle/>
          <a:p>
            <a:fld id="{43545A43-6362-E043-990C-8D9F6B7D9043}" type="slidenum">
              <a:rPr lang="en-US" smtClean="0">
                <a:solidFill>
                  <a:prstClr val="black"/>
                </a:solidFill>
              </a:rPr>
              <a:pPr/>
              <a:t>73</a:t>
            </a:fld>
            <a:endParaRPr lang="en-US">
              <a:solidFill>
                <a:prstClr val="black"/>
              </a:solidFill>
            </a:endParaRPr>
          </a:p>
        </p:txBody>
      </p:sp>
    </p:spTree>
    <p:extLst>
      <p:ext uri="{BB962C8B-B14F-4D97-AF65-F5344CB8AC3E}">
        <p14:creationId xmlns:p14="http://schemas.microsoft.com/office/powerpoint/2010/main" val="339701035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t>
            </a:r>
            <a:r>
              <a:rPr lang="is-IS" dirty="0"/>
              <a:t>2</a:t>
            </a:r>
            <a:r>
              <a:rPr lang="en-US" dirty="0"/>
              <a:t> we have reached the IP Destination</a:t>
            </a:r>
            <a:r>
              <a:rPr lang="en-US" baseline="0" dirty="0"/>
              <a:t> Address</a:t>
            </a:r>
          </a:p>
          <a:p>
            <a:endParaRPr lang="en-US" baseline="0" dirty="0"/>
          </a:p>
          <a:p>
            <a:r>
              <a:rPr lang="en-US" baseline="0" dirty="0"/>
              <a:t>At this point the forwarding engine will look at whatever is next in the packet</a:t>
            </a:r>
            <a:endParaRPr lang="en-US" dirty="0"/>
          </a:p>
        </p:txBody>
      </p:sp>
      <p:sp>
        <p:nvSpPr>
          <p:cNvPr id="4" name="Slide Number Placeholder 3"/>
          <p:cNvSpPr>
            <a:spLocks noGrp="1"/>
          </p:cNvSpPr>
          <p:nvPr>
            <p:ph type="sldNum" sz="quarter" idx="10"/>
          </p:nvPr>
        </p:nvSpPr>
        <p:spPr/>
        <p:txBody>
          <a:bodyPr/>
          <a:lstStyle/>
          <a:p>
            <a:fld id="{43545A43-6362-E043-990C-8D9F6B7D9043}" type="slidenum">
              <a:rPr lang="en-US" smtClean="0">
                <a:solidFill>
                  <a:prstClr val="black"/>
                </a:solidFill>
              </a:rPr>
              <a:pPr/>
              <a:t>74</a:t>
            </a:fld>
            <a:endParaRPr lang="en-US">
              <a:solidFill>
                <a:prstClr val="black"/>
              </a:solidFill>
            </a:endParaRPr>
          </a:p>
        </p:txBody>
      </p:sp>
    </p:spTree>
    <p:extLst>
      <p:ext uri="{BB962C8B-B14F-4D97-AF65-F5344CB8AC3E}">
        <p14:creationId xmlns:p14="http://schemas.microsoft.com/office/powerpoint/2010/main" val="102956107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85</a:t>
            </a:fld>
            <a:endParaRPr lang="cs-CZ"/>
          </a:p>
        </p:txBody>
      </p:sp>
    </p:spTree>
    <p:extLst>
      <p:ext uri="{BB962C8B-B14F-4D97-AF65-F5344CB8AC3E}">
        <p14:creationId xmlns:p14="http://schemas.microsoft.com/office/powerpoint/2010/main" val="51359628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www.cisco.com</a:t>
            </a:r>
            <a:r>
              <a:rPr lang="en-US" dirty="0"/>
              <a:t>/c/</a:t>
            </a:r>
            <a:r>
              <a:rPr lang="en-US" dirty="0" err="1"/>
              <a:t>en</a:t>
            </a:r>
            <a:r>
              <a:rPr lang="en-US" dirty="0"/>
              <a:t>/us/td/docs/routers/</a:t>
            </a:r>
            <a:r>
              <a:rPr lang="en-US" dirty="0" err="1"/>
              <a:t>asr9000</a:t>
            </a:r>
            <a:r>
              <a:rPr lang="en-US" dirty="0"/>
              <a:t>/software/</a:t>
            </a:r>
            <a:r>
              <a:rPr lang="en-US" dirty="0" err="1"/>
              <a:t>24xx</a:t>
            </a:r>
            <a:r>
              <a:rPr lang="en-US" dirty="0"/>
              <a:t>/segment-routing/configuration/guide/b-segment-routing-cg-</a:t>
            </a:r>
            <a:r>
              <a:rPr lang="en-US" dirty="0" err="1"/>
              <a:t>asr9000</a:t>
            </a:r>
            <a:r>
              <a:rPr lang="en-US" dirty="0"/>
              <a:t>-</a:t>
            </a:r>
            <a:r>
              <a:rPr lang="en-US" dirty="0" err="1"/>
              <a:t>24xx</a:t>
            </a:r>
            <a:r>
              <a:rPr lang="en-US" dirty="0"/>
              <a:t>/configure-srv6-full-length-sid.html#id_94209__section_Configuring_SRv6_Base</a:t>
            </a:r>
          </a:p>
          <a:p>
            <a:r>
              <a:rPr lang="en-US" dirty="0" err="1"/>
              <a:t>platne</a:t>
            </a:r>
            <a:r>
              <a:rPr lang="en-US" dirty="0"/>
              <a:t> od IOS-XR 7.5</a:t>
            </a:r>
          </a:p>
        </p:txBody>
      </p:sp>
      <p:sp>
        <p:nvSpPr>
          <p:cNvPr id="4" name="Slide Number Placeholder 3"/>
          <p:cNvSpPr>
            <a:spLocks noGrp="1"/>
          </p:cNvSpPr>
          <p:nvPr>
            <p:ph type="sldNum" sz="quarter" idx="5"/>
          </p:nvPr>
        </p:nvSpPr>
        <p:spPr/>
        <p:txBody>
          <a:bodyPr/>
          <a:lstStyle/>
          <a:p>
            <a:fld id="{8211A444-F3BB-4215-8D61-19749E97F2CD}" type="slidenum">
              <a:rPr lang="cs-CZ" smtClean="0"/>
              <a:t>86</a:t>
            </a:fld>
            <a:endParaRPr lang="cs-CZ"/>
          </a:p>
        </p:txBody>
      </p:sp>
    </p:spTree>
    <p:extLst>
      <p:ext uri="{BB962C8B-B14F-4D97-AF65-F5344CB8AC3E}">
        <p14:creationId xmlns:p14="http://schemas.microsoft.com/office/powerpoint/2010/main" val="104448276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RP/0/RP0/</a:t>
            </a:r>
            <a:r>
              <a:rPr lang="en-US" dirty="0" err="1"/>
              <a:t>CPU0:R33</a:t>
            </a:r>
            <a:r>
              <a:rPr lang="en-US" dirty="0"/>
              <a:t>(config)#show configuration failed              </a:t>
            </a:r>
          </a:p>
          <a:p>
            <a:r>
              <a:rPr lang="en-US" dirty="0"/>
              <a:t>Mon Jun  9 10:59:55.640 UTC</a:t>
            </a:r>
          </a:p>
          <a:p>
            <a:r>
              <a:rPr lang="en-US" dirty="0"/>
              <a:t>!! SEMANTIC ERRORS: This configuration was rejected by </a:t>
            </a:r>
          </a:p>
          <a:p>
            <a:r>
              <a:rPr lang="en-US" dirty="0"/>
              <a:t>!! the system due to semantic errors. The individual </a:t>
            </a:r>
          </a:p>
          <a:p>
            <a:r>
              <a:rPr lang="en-US" dirty="0"/>
              <a:t>!! errors with each failed configuration command can be </a:t>
            </a:r>
          </a:p>
          <a:p>
            <a:r>
              <a:rPr lang="en-US" dirty="0"/>
              <a:t>!! found below.</a:t>
            </a:r>
          </a:p>
          <a:p>
            <a:endParaRPr lang="en-US" dirty="0"/>
          </a:p>
          <a:p>
            <a:endParaRPr lang="en-US" dirty="0"/>
          </a:p>
          <a:p>
            <a:r>
              <a:rPr lang="en-US" dirty="0"/>
              <a:t>segment-routing</a:t>
            </a:r>
          </a:p>
          <a:p>
            <a:r>
              <a:rPr lang="en-US" dirty="0"/>
              <a:t> srv6</a:t>
            </a:r>
          </a:p>
          <a:p>
            <a:r>
              <a:rPr lang="en-US" dirty="0"/>
              <a:t>  encapsulation</a:t>
            </a:r>
          </a:p>
          <a:p>
            <a:r>
              <a:rPr lang="en-US" dirty="0"/>
              <a:t>   hop-limit propagate</a:t>
            </a:r>
          </a:p>
          <a:p>
            <a:r>
              <a:rPr lang="en-US" dirty="0"/>
              <a:t>!!% Operation not supported: SRv6 config option not supported on this platform</a:t>
            </a:r>
          </a:p>
          <a:p>
            <a:r>
              <a:rPr lang="en-US" dirty="0"/>
              <a:t>  !</a:t>
            </a:r>
          </a:p>
          <a:p>
            <a:r>
              <a:rPr lang="en-US" dirty="0"/>
              <a:t> !</a:t>
            </a:r>
          </a:p>
          <a:p>
            <a:r>
              <a:rPr lang="en-US" dirty="0"/>
              <a:t>!</a:t>
            </a:r>
          </a:p>
          <a:p>
            <a:r>
              <a:rPr lang="en-US" dirty="0"/>
              <a:t>end</a:t>
            </a:r>
          </a:p>
          <a:p>
            <a:endParaRPr lang="en-US" dirty="0"/>
          </a:p>
          <a:p>
            <a:r>
              <a:rPr lang="en-US" dirty="0"/>
              <a:t>RP/0/RP0/</a:t>
            </a:r>
            <a:r>
              <a:rPr lang="en-US" dirty="0" err="1"/>
              <a:t>CPU0:R33</a:t>
            </a:r>
            <a:r>
              <a:rPr lang="en-US" dirty="0"/>
              <a:t>(config)#</a:t>
            </a:r>
          </a:p>
        </p:txBody>
      </p:sp>
      <p:sp>
        <p:nvSpPr>
          <p:cNvPr id="4" name="Slide Number Placeholder 3"/>
          <p:cNvSpPr>
            <a:spLocks noGrp="1"/>
          </p:cNvSpPr>
          <p:nvPr>
            <p:ph type="sldNum" sz="quarter" idx="5"/>
          </p:nvPr>
        </p:nvSpPr>
        <p:spPr/>
        <p:txBody>
          <a:bodyPr/>
          <a:lstStyle/>
          <a:p>
            <a:fld id="{8211A444-F3BB-4215-8D61-19749E97F2CD}" type="slidenum">
              <a:rPr lang="cs-CZ" smtClean="0"/>
              <a:t>93</a:t>
            </a:fld>
            <a:endParaRPr lang="cs-CZ"/>
          </a:p>
        </p:txBody>
      </p:sp>
    </p:spTree>
    <p:extLst>
      <p:ext uri="{BB962C8B-B14F-4D97-AF65-F5344CB8AC3E}">
        <p14:creationId xmlns:p14="http://schemas.microsoft.com/office/powerpoint/2010/main" val="148906244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www.cisco.com</a:t>
            </a:r>
            <a:r>
              <a:rPr lang="en-US" dirty="0"/>
              <a:t>/c/</a:t>
            </a:r>
            <a:r>
              <a:rPr lang="en-US" dirty="0" err="1"/>
              <a:t>en</a:t>
            </a:r>
            <a:r>
              <a:rPr lang="en-US" dirty="0"/>
              <a:t>/us/td/docs/routers/</a:t>
            </a:r>
            <a:r>
              <a:rPr lang="en-US" dirty="0" err="1"/>
              <a:t>asr9000</a:t>
            </a:r>
            <a:r>
              <a:rPr lang="en-US" dirty="0"/>
              <a:t>/software/</a:t>
            </a:r>
            <a:r>
              <a:rPr lang="en-US" dirty="0" err="1"/>
              <a:t>24xx</a:t>
            </a:r>
            <a:r>
              <a:rPr lang="en-US" dirty="0"/>
              <a:t>/segment-routing/configuration/guide/b-segment-routing-cg-</a:t>
            </a:r>
            <a:r>
              <a:rPr lang="en-US" dirty="0" err="1"/>
              <a:t>asr9000</a:t>
            </a:r>
            <a:r>
              <a:rPr lang="en-US" dirty="0"/>
              <a:t>-</a:t>
            </a:r>
            <a:r>
              <a:rPr lang="en-US" dirty="0" err="1"/>
              <a:t>24xx</a:t>
            </a:r>
            <a:r>
              <a:rPr lang="en-US" dirty="0"/>
              <a:t>/configure-srv6-full-length-sid.html#id_94209__section_Configuring_SRv6_Base</a:t>
            </a:r>
          </a:p>
        </p:txBody>
      </p:sp>
      <p:sp>
        <p:nvSpPr>
          <p:cNvPr id="4" name="Slide Number Placeholder 3"/>
          <p:cNvSpPr>
            <a:spLocks noGrp="1"/>
          </p:cNvSpPr>
          <p:nvPr>
            <p:ph type="sldNum" sz="quarter" idx="5"/>
          </p:nvPr>
        </p:nvSpPr>
        <p:spPr/>
        <p:txBody>
          <a:bodyPr/>
          <a:lstStyle/>
          <a:p>
            <a:fld id="{8211A444-F3BB-4215-8D61-19749E97F2CD}" type="slidenum">
              <a:rPr lang="cs-CZ" smtClean="0"/>
              <a:t>96</a:t>
            </a:fld>
            <a:endParaRPr lang="cs-CZ"/>
          </a:p>
        </p:txBody>
      </p:sp>
    </p:spTree>
    <p:extLst>
      <p:ext uri="{BB962C8B-B14F-4D97-AF65-F5344CB8AC3E}">
        <p14:creationId xmlns:p14="http://schemas.microsoft.com/office/powerpoint/2010/main" val="126083264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97</a:t>
            </a:fld>
            <a:endParaRPr lang="cs-CZ"/>
          </a:p>
        </p:txBody>
      </p:sp>
    </p:spTree>
    <p:extLst>
      <p:ext uri="{BB962C8B-B14F-4D97-AF65-F5344CB8AC3E}">
        <p14:creationId xmlns:p14="http://schemas.microsoft.com/office/powerpoint/2010/main" val="320685583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www.ciscolive.com</a:t>
            </a:r>
            <a:r>
              <a:rPr lang="en-US" dirty="0"/>
              <a:t>/c/dam/r/</a:t>
            </a:r>
            <a:r>
              <a:rPr lang="en-US" dirty="0" err="1"/>
              <a:t>ciscolive</a:t>
            </a:r>
            <a:r>
              <a:rPr lang="en-US" dirty="0"/>
              <a:t>/</a:t>
            </a:r>
            <a:r>
              <a:rPr lang="en-US" dirty="0" err="1"/>
              <a:t>emea</a:t>
            </a:r>
            <a:r>
              <a:rPr lang="en-US" dirty="0"/>
              <a:t>/docs/2025/pdf/</a:t>
            </a:r>
            <a:r>
              <a:rPr lang="en-US" dirty="0" err="1"/>
              <a:t>BRKSPG-3624.pdf</a:t>
            </a:r>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107</a:t>
            </a:fld>
            <a:endParaRPr lang="cs-CZ"/>
          </a:p>
        </p:txBody>
      </p:sp>
    </p:spTree>
    <p:extLst>
      <p:ext uri="{BB962C8B-B14F-4D97-AF65-F5344CB8AC3E}">
        <p14:creationId xmlns:p14="http://schemas.microsoft.com/office/powerpoint/2010/main" val="412916051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108</a:t>
            </a:fld>
            <a:endParaRPr lang="cs-CZ"/>
          </a:p>
        </p:txBody>
      </p:sp>
    </p:spTree>
    <p:extLst>
      <p:ext uri="{BB962C8B-B14F-4D97-AF65-F5344CB8AC3E}">
        <p14:creationId xmlns:p14="http://schemas.microsoft.com/office/powerpoint/2010/main" val="313241771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112</a:t>
            </a:fld>
            <a:endParaRPr lang="cs-CZ"/>
          </a:p>
        </p:txBody>
      </p:sp>
    </p:spTree>
    <p:extLst>
      <p:ext uri="{BB962C8B-B14F-4D97-AF65-F5344CB8AC3E}">
        <p14:creationId xmlns:p14="http://schemas.microsoft.com/office/powerpoint/2010/main" val="31667602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“A </a:t>
            </a:r>
            <a:r>
              <a:rPr lang="en-US" b="1" dirty="0" err="1"/>
              <a:t>uSID</a:t>
            </a:r>
            <a:r>
              <a:rPr lang="en-US" b="1" dirty="0"/>
              <a:t> may be used as a SID (the carrier holds a single </a:t>
            </a:r>
            <a:r>
              <a:rPr lang="en-US" b="1" dirty="0" err="1"/>
              <a:t>uSID</a:t>
            </a:r>
            <a:r>
              <a:rPr lang="en-US" b="1" dirty="0"/>
              <a:t>)”</a:t>
            </a:r>
          </a:p>
          <a:p>
            <a:r>
              <a:rPr lang="en-US" dirty="0"/>
              <a:t>A </a:t>
            </a:r>
            <a:r>
              <a:rPr lang="en-US" b="1" dirty="0"/>
              <a:t>SID (Segment ID)</a:t>
            </a:r>
            <a:r>
              <a:rPr lang="en-US" dirty="0"/>
              <a:t> in SRv6 is normally a full IPv6 address. </a:t>
            </a:r>
          </a:p>
          <a:p>
            <a:r>
              <a:rPr lang="en-US" dirty="0"/>
              <a:t>A </a:t>
            </a:r>
            <a:r>
              <a:rPr lang="en-US" b="1" dirty="0" err="1"/>
              <a:t>uSID</a:t>
            </a:r>
            <a:r>
              <a:rPr lang="en-US" dirty="0"/>
              <a:t> is a smaller segment encoded inside that address. </a:t>
            </a:r>
          </a:p>
          <a:p>
            <a:r>
              <a:rPr lang="en-US" dirty="0"/>
              <a:t>What this line means:</a:t>
            </a:r>
          </a:p>
          <a:p>
            <a:r>
              <a:rPr lang="en-US" dirty="0"/>
              <a:t>You can build an SRv6 address that contains </a:t>
            </a:r>
            <a:r>
              <a:rPr lang="en-US" b="1" dirty="0"/>
              <a:t>only one </a:t>
            </a:r>
            <a:r>
              <a:rPr lang="en-US" b="1" dirty="0" err="1"/>
              <a:t>uSID</a:t>
            </a:r>
            <a:r>
              <a:rPr lang="en-US" dirty="0"/>
              <a:t> </a:t>
            </a:r>
          </a:p>
          <a:p>
            <a:r>
              <a:rPr lang="en-US" dirty="0"/>
              <a:t>That address behaves exactly like a </a:t>
            </a:r>
            <a:r>
              <a:rPr lang="en-US" b="1" dirty="0"/>
              <a:t>regular SID</a:t>
            </a:r>
            <a:r>
              <a:rPr lang="en-US" dirty="0"/>
              <a:t> </a:t>
            </a:r>
          </a:p>
          <a:p>
            <a:r>
              <a:rPr lang="en-US" b="1" dirty="0"/>
              <a:t>Implication:</a:t>
            </a:r>
            <a:endParaRPr lang="en-US" dirty="0"/>
          </a:p>
          <a:p>
            <a:r>
              <a:rPr lang="en-US" dirty="0"/>
              <a:t>No difference from a normal SRv6 hop </a:t>
            </a:r>
          </a:p>
          <a:p>
            <a:r>
              <a:rPr lang="en-US" dirty="0"/>
              <a:t>Legacy SRv6 nodes don’t need to understand </a:t>
            </a:r>
            <a:r>
              <a:rPr lang="en-US" dirty="0" err="1"/>
              <a:t>uSID</a:t>
            </a:r>
            <a:r>
              <a:rPr lang="en-US" dirty="0"/>
              <a:t> </a:t>
            </a:r>
          </a:p>
          <a:p>
            <a:br>
              <a:rPr lang="en-US" dirty="0"/>
            </a:br>
            <a:endParaRPr lang="en-US" dirty="0"/>
          </a:p>
          <a:p>
            <a:r>
              <a:rPr lang="en-US" b="1" dirty="0"/>
              <a:t>2) “The inner structure of an SR Policy can stay opaque to the source”</a:t>
            </a:r>
          </a:p>
          <a:p>
            <a:r>
              <a:rPr lang="en-US" dirty="0"/>
              <a:t>In SRv6, the </a:t>
            </a:r>
            <a:r>
              <a:rPr lang="en-US" b="1" dirty="0"/>
              <a:t>headend (source)</a:t>
            </a:r>
            <a:r>
              <a:rPr lang="en-US" dirty="0"/>
              <a:t> pushes a segment list (policy). </a:t>
            </a:r>
          </a:p>
          <a:p>
            <a:r>
              <a:rPr lang="en-US" dirty="0"/>
              <a:t>With </a:t>
            </a:r>
            <a:r>
              <a:rPr lang="en-US" dirty="0" err="1"/>
              <a:t>uSID</a:t>
            </a:r>
            <a:r>
              <a:rPr lang="en-US" dirty="0"/>
              <a:t>: </a:t>
            </a:r>
          </a:p>
          <a:p>
            <a:pPr lvl="1"/>
            <a:r>
              <a:rPr lang="en-US" dirty="0"/>
              <a:t>A “carrier SID” can internally contain multiple </a:t>
            </a:r>
            <a:r>
              <a:rPr lang="en-US" dirty="0" err="1"/>
              <a:t>uSIDs</a:t>
            </a:r>
            <a:r>
              <a:rPr lang="en-US" dirty="0"/>
              <a:t> </a:t>
            </a:r>
          </a:p>
          <a:p>
            <a:pPr lvl="1"/>
            <a:r>
              <a:rPr lang="en-US" dirty="0"/>
              <a:t>But the source only sees </a:t>
            </a:r>
            <a:r>
              <a:rPr lang="en-US" b="1" dirty="0"/>
              <a:t>one SID</a:t>
            </a:r>
            <a:r>
              <a:rPr lang="en-US" dirty="0"/>
              <a:t> </a:t>
            </a:r>
          </a:p>
          <a:p>
            <a:r>
              <a:rPr lang="en-US" b="1" dirty="0"/>
              <a:t>Meaning:</a:t>
            </a:r>
            <a:endParaRPr lang="en-US" dirty="0"/>
          </a:p>
          <a:p>
            <a:r>
              <a:rPr lang="en-US" dirty="0"/>
              <a:t>The internal path (micro-segments) is </a:t>
            </a:r>
            <a:r>
              <a:rPr lang="en-US" b="1" dirty="0"/>
              <a:t>hidden</a:t>
            </a:r>
            <a:r>
              <a:rPr lang="en-US" dirty="0"/>
              <a:t> </a:t>
            </a:r>
          </a:p>
          <a:p>
            <a:r>
              <a:rPr lang="en-US" dirty="0"/>
              <a:t>The source doesn’t need to know: </a:t>
            </a:r>
          </a:p>
          <a:p>
            <a:pPr lvl="1"/>
            <a:r>
              <a:rPr lang="en-US" dirty="0"/>
              <a:t>how many hops exist </a:t>
            </a:r>
          </a:p>
          <a:p>
            <a:pPr lvl="1"/>
            <a:r>
              <a:rPr lang="en-US" dirty="0"/>
              <a:t>how they are encoded </a:t>
            </a:r>
          </a:p>
          <a:p>
            <a:br>
              <a:rPr lang="en-US" dirty="0"/>
            </a:br>
            <a:endParaRPr lang="en-US" dirty="0"/>
          </a:p>
          <a:p>
            <a:r>
              <a:rPr lang="en-US" b="1" dirty="0"/>
              <a:t>3) “A carrier with </a:t>
            </a:r>
            <a:r>
              <a:rPr lang="en-US" b="1" dirty="0" err="1"/>
              <a:t>uSIDs</a:t>
            </a:r>
            <a:r>
              <a:rPr lang="en-US" b="1" dirty="0"/>
              <a:t> is just seen as a SID by the policy headend”</a:t>
            </a:r>
          </a:p>
          <a:p>
            <a:r>
              <a:rPr lang="en-US" dirty="0"/>
              <a:t>The headend treats the entire </a:t>
            </a:r>
            <a:r>
              <a:rPr lang="en-US" dirty="0" err="1"/>
              <a:t>uSID</a:t>
            </a:r>
            <a:r>
              <a:rPr lang="en-US" dirty="0"/>
              <a:t> chain as: </a:t>
            </a:r>
          </a:p>
          <a:p>
            <a:pPr lvl="1"/>
            <a:r>
              <a:rPr lang="en-US" dirty="0"/>
              <a:t>one destination </a:t>
            </a:r>
          </a:p>
          <a:p>
            <a:pPr lvl="1"/>
            <a:r>
              <a:rPr lang="en-US" dirty="0"/>
              <a:t>one segment </a:t>
            </a:r>
          </a:p>
          <a:p>
            <a:r>
              <a:rPr lang="en-US" b="1" dirty="0"/>
              <a:t>Example:</a:t>
            </a:r>
            <a:br>
              <a:rPr lang="en-US" dirty="0"/>
            </a:br>
            <a:r>
              <a:rPr lang="en-US" dirty="0"/>
              <a:t>Instead of:</a:t>
            </a:r>
          </a:p>
          <a:p>
            <a:pPr rtl="0"/>
            <a:r>
              <a:rPr lang="en-US" sz="1200" kern="1200" dirty="0">
                <a:solidFill>
                  <a:schemeClr val="tx1"/>
                </a:solidFill>
                <a:latin typeface="+mn-lt"/>
                <a:ea typeface="+mn-ea"/>
                <a:cs typeface="+mn-cs"/>
              </a:rPr>
              <a:t>SID1 → SID2 → SID3 → SID4</a:t>
            </a:r>
          </a:p>
          <a:p>
            <a:r>
              <a:rPr lang="en-US" dirty="0"/>
              <a:t>You can have:</a:t>
            </a:r>
          </a:p>
          <a:p>
            <a:pPr rtl="0"/>
            <a:r>
              <a:rPr lang="en-US" sz="1200" kern="1200" dirty="0">
                <a:solidFill>
                  <a:schemeClr val="tx1"/>
                </a:solidFill>
                <a:latin typeface="+mn-lt"/>
                <a:ea typeface="+mn-ea"/>
                <a:cs typeface="+mn-cs"/>
              </a:rPr>
              <a:t>Carrier SID (contains uSID1, uSID2, uSID3, uSID4)</a:t>
            </a:r>
          </a:p>
          <a:p>
            <a:r>
              <a:rPr lang="en-US" dirty="0"/>
              <a:t>To the headend:</a:t>
            </a:r>
          </a:p>
          <a:p>
            <a:pPr rtl="0"/>
            <a:r>
              <a:rPr lang="en-US" sz="1200" kern="1200" dirty="0">
                <a:solidFill>
                  <a:schemeClr val="tx1"/>
                </a:solidFill>
                <a:latin typeface="+mn-lt"/>
                <a:ea typeface="+mn-ea"/>
                <a:cs typeface="+mn-cs"/>
              </a:rPr>
              <a:t>Just 1 SID</a:t>
            </a:r>
          </a:p>
          <a:p>
            <a:r>
              <a:rPr lang="en-US" dirty="0"/>
              <a:t>To the network:</a:t>
            </a:r>
          </a:p>
          <a:p>
            <a:pPr rtl="0"/>
            <a:r>
              <a:rPr lang="en-US" sz="1200" kern="1200" dirty="0">
                <a:solidFill>
                  <a:schemeClr val="tx1"/>
                </a:solidFill>
                <a:latin typeface="+mn-lt"/>
                <a:ea typeface="+mn-ea"/>
                <a:cs typeface="+mn-cs"/>
              </a:rPr>
              <a:t>Multiple micro-operations inside</a:t>
            </a:r>
          </a:p>
          <a:p>
            <a:br>
              <a:rPr lang="en-US" dirty="0"/>
            </a:br>
            <a:endParaRPr lang="en-US" dirty="0"/>
          </a:p>
          <a:p>
            <a:r>
              <a:rPr lang="en-US" b="1" dirty="0"/>
              <a:t>4) “Seamless Deployment” (what this really means)</a:t>
            </a:r>
          </a:p>
          <a:p>
            <a:r>
              <a:rPr lang="en-US" dirty="0"/>
              <a:t>You can:</a:t>
            </a:r>
          </a:p>
          <a:p>
            <a:r>
              <a:rPr lang="en-US" dirty="0"/>
              <a:t>Introduce </a:t>
            </a:r>
            <a:r>
              <a:rPr lang="en-US" dirty="0" err="1"/>
              <a:t>uSID</a:t>
            </a:r>
            <a:r>
              <a:rPr lang="en-US" dirty="0"/>
              <a:t> in </a:t>
            </a:r>
            <a:r>
              <a:rPr lang="en-US" b="1" dirty="0"/>
              <a:t>part of the network only</a:t>
            </a:r>
            <a:r>
              <a:rPr lang="en-US" dirty="0"/>
              <a:t> </a:t>
            </a:r>
          </a:p>
          <a:p>
            <a:r>
              <a:rPr lang="en-US" dirty="0"/>
              <a:t>Keep: </a:t>
            </a:r>
          </a:p>
          <a:p>
            <a:pPr lvl="1"/>
            <a:r>
              <a:rPr lang="en-US" dirty="0"/>
              <a:t>existing SR policies </a:t>
            </a:r>
          </a:p>
          <a:p>
            <a:pPr lvl="1"/>
            <a:r>
              <a:rPr lang="en-US" dirty="0"/>
              <a:t>existing </a:t>
            </a:r>
            <a:r>
              <a:rPr lang="en-US" dirty="0" err="1"/>
              <a:t>headends</a:t>
            </a:r>
            <a:r>
              <a:rPr lang="en-US" dirty="0"/>
              <a:t> </a:t>
            </a:r>
          </a:p>
          <a:p>
            <a:pPr lvl="1"/>
            <a:r>
              <a:rPr lang="en-US" dirty="0"/>
              <a:t>existing control plane </a:t>
            </a:r>
          </a:p>
          <a:p>
            <a:r>
              <a:rPr lang="en-US" dirty="0"/>
              <a:t>Because:</a:t>
            </a:r>
          </a:p>
          <a:p>
            <a:r>
              <a:rPr lang="en-US" dirty="0" err="1"/>
              <a:t>uSID</a:t>
            </a:r>
            <a:r>
              <a:rPr lang="en-US" dirty="0"/>
              <a:t>-capable nodes interpret the structure </a:t>
            </a:r>
          </a:p>
          <a:p>
            <a:r>
              <a:rPr lang="en-US" dirty="0"/>
              <a:t>non-</a:t>
            </a:r>
            <a:r>
              <a:rPr lang="en-US" dirty="0" err="1"/>
              <a:t>uSID</a:t>
            </a:r>
            <a:r>
              <a:rPr lang="en-US" dirty="0"/>
              <a:t> nodes just forward based on IPv6 destination </a:t>
            </a:r>
          </a:p>
          <a:p>
            <a:br>
              <a:rPr lang="en-US" dirty="0"/>
            </a:br>
            <a:endParaRPr lang="en-US" dirty="0"/>
          </a:p>
          <a:p>
            <a:r>
              <a:rPr lang="en-US" b="1" dirty="0"/>
              <a:t>5) “Leverages SRv6’s native SR domain security”</a:t>
            </a:r>
          </a:p>
          <a:p>
            <a:r>
              <a:rPr lang="en-US" dirty="0"/>
              <a:t>SRv6 already assumes a </a:t>
            </a:r>
            <a:r>
              <a:rPr lang="en-US" b="1" dirty="0"/>
              <a:t>trusted domain</a:t>
            </a:r>
            <a:r>
              <a:rPr lang="en-US" dirty="0"/>
              <a:t> </a:t>
            </a:r>
          </a:p>
          <a:p>
            <a:r>
              <a:rPr lang="en-US" dirty="0"/>
              <a:t>Packets are validated based on: </a:t>
            </a:r>
          </a:p>
          <a:p>
            <a:pPr lvl="1"/>
            <a:r>
              <a:rPr lang="en-US" dirty="0"/>
              <a:t>IPv6 addressing </a:t>
            </a:r>
          </a:p>
          <a:p>
            <a:pPr lvl="1"/>
            <a:r>
              <a:rPr lang="en-US" dirty="0"/>
              <a:t>routing policies </a:t>
            </a:r>
          </a:p>
          <a:p>
            <a:r>
              <a:rPr lang="en-US" dirty="0" err="1"/>
              <a:t>uSID</a:t>
            </a:r>
            <a:r>
              <a:rPr lang="en-US" dirty="0"/>
              <a:t> does not introduce:</a:t>
            </a:r>
          </a:p>
          <a:p>
            <a:r>
              <a:rPr lang="en-US" dirty="0"/>
              <a:t>new attack surface </a:t>
            </a:r>
          </a:p>
          <a:p>
            <a:r>
              <a:rPr lang="en-US" dirty="0"/>
              <a:t>new signaling </a:t>
            </a:r>
          </a:p>
          <a:p>
            <a:r>
              <a:rPr lang="en-US" dirty="0"/>
              <a:t>It stays within:</a:t>
            </a:r>
          </a:p>
          <a:p>
            <a:r>
              <a:rPr lang="en-US" dirty="0"/>
              <a:t>existing SRv6 security model</a:t>
            </a:r>
          </a:p>
        </p:txBody>
      </p:sp>
      <p:sp>
        <p:nvSpPr>
          <p:cNvPr id="4" name="Slide Number Placeholder 3"/>
          <p:cNvSpPr>
            <a:spLocks noGrp="1"/>
          </p:cNvSpPr>
          <p:nvPr>
            <p:ph type="sldNum" sz="quarter" idx="5"/>
          </p:nvPr>
        </p:nvSpPr>
        <p:spPr/>
        <p:txBody>
          <a:bodyPr/>
          <a:lstStyle/>
          <a:p>
            <a:fld id="{8211A444-F3BB-4215-8D61-19749E97F2CD}" type="slidenum">
              <a:rPr lang="cs-CZ" smtClean="0"/>
              <a:t>116</a:t>
            </a:fld>
            <a:endParaRPr lang="cs-CZ"/>
          </a:p>
        </p:txBody>
      </p:sp>
    </p:spTree>
    <p:extLst>
      <p:ext uri="{BB962C8B-B14F-4D97-AF65-F5344CB8AC3E}">
        <p14:creationId xmlns:p14="http://schemas.microsoft.com/office/powerpoint/2010/main" val="166571630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 destination Address </a:t>
            </a:r>
            <a:r>
              <a:rPr lang="en-US" dirty="0">
                <a:sym typeface="Wingdings" panose="05000000000000000000" pitchFamily="2" charset="2"/>
              </a:rPr>
              <a:t></a:t>
            </a:r>
          </a:p>
          <a:p>
            <a:r>
              <a:rPr lang="en-US" dirty="0" err="1">
                <a:sym typeface="Wingdings" panose="05000000000000000000" pitchFamily="2" charset="2"/>
              </a:rPr>
              <a:t>EoC</a:t>
            </a:r>
            <a:r>
              <a:rPr lang="en-US" dirty="0">
                <a:sym typeface="Wingdings" panose="05000000000000000000" pitchFamily="2" charset="2"/>
              </a:rPr>
              <a:t> – End of Container</a:t>
            </a:r>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120</a:t>
            </a:fld>
            <a:endParaRPr lang="cs-CZ"/>
          </a:p>
        </p:txBody>
      </p:sp>
    </p:spTree>
    <p:extLst>
      <p:ext uri="{BB962C8B-B14F-4D97-AF65-F5344CB8AC3E}">
        <p14:creationId xmlns:p14="http://schemas.microsoft.com/office/powerpoint/2010/main" val="160300055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MPLS label = </a:t>
            </a:r>
            <a:r>
              <a:rPr lang="en-US" b="1" dirty="0"/>
              <a:t>4 bytes (32 bits)</a:t>
            </a:r>
            <a:r>
              <a:rPr lang="en-US" dirty="0"/>
              <a:t>: </a:t>
            </a:r>
          </a:p>
          <a:p>
            <a:pPr lvl="1"/>
            <a:r>
              <a:rPr lang="en-US" dirty="0"/>
              <a:t>20 bits label </a:t>
            </a:r>
          </a:p>
          <a:p>
            <a:pPr lvl="1"/>
            <a:r>
              <a:rPr lang="en-US" dirty="0"/>
              <a:t>3 bits TC </a:t>
            </a:r>
          </a:p>
          <a:p>
            <a:pPr lvl="1"/>
            <a:r>
              <a:rPr lang="en-US" dirty="0"/>
              <a:t>1 bit S (bottom-of-stack) </a:t>
            </a:r>
          </a:p>
          <a:p>
            <a:pPr lvl="1"/>
            <a:r>
              <a:rPr lang="en-US" dirty="0"/>
              <a:t>8 bits TTL </a:t>
            </a:r>
          </a:p>
          <a:p>
            <a:r>
              <a:rPr lang="en-US" dirty="0"/>
              <a:t>So:</a:t>
            </a:r>
          </a:p>
          <a:p>
            <a:pPr rtl="0"/>
            <a:r>
              <a:rPr lang="en-US" sz="1200" kern="1200" dirty="0">
                <a:solidFill>
                  <a:schemeClr val="tx1"/>
                </a:solidFill>
                <a:latin typeface="+mn-lt"/>
                <a:ea typeface="+mn-ea"/>
                <a:cs typeface="+mn-cs"/>
              </a:rPr>
              <a:t>1 label = 4 bytes</a:t>
            </a:r>
          </a:p>
          <a:p>
            <a:br>
              <a:rPr lang="en-US" dirty="0"/>
            </a:br>
            <a:endParaRPr lang="en-US" dirty="0"/>
          </a:p>
          <a:p>
            <a:r>
              <a:rPr lang="en-US" b="1" dirty="0"/>
              <a:t>In this example</a:t>
            </a:r>
          </a:p>
          <a:p>
            <a:r>
              <a:rPr lang="en-US" dirty="0"/>
              <a:t>They assume:</a:t>
            </a:r>
          </a:p>
          <a:p>
            <a:pPr rtl="0"/>
            <a:r>
              <a:rPr lang="en-US" sz="1200" kern="1200" dirty="0">
                <a:solidFill>
                  <a:schemeClr val="tx1"/>
                </a:solidFill>
                <a:latin typeface="+mn-lt"/>
                <a:ea typeface="+mn-ea"/>
                <a:cs typeface="+mn-cs"/>
              </a:rPr>
              <a:t>12 segments (12 SIDs / hops)</a:t>
            </a:r>
          </a:p>
          <a:p>
            <a:r>
              <a:rPr lang="en-US" dirty="0"/>
              <a:t>If implemented with MPLS:</a:t>
            </a:r>
          </a:p>
          <a:p>
            <a:pPr rtl="0"/>
            <a:r>
              <a:rPr lang="en-US" sz="1200" kern="1200" dirty="0">
                <a:solidFill>
                  <a:schemeClr val="tx1"/>
                </a:solidFill>
                <a:latin typeface="+mn-lt"/>
                <a:ea typeface="+mn-ea"/>
                <a:cs typeface="+mn-cs"/>
              </a:rPr>
              <a:t>12 labels × 4 bytes = 48 bytes overhead</a:t>
            </a:r>
          </a:p>
        </p:txBody>
      </p:sp>
      <p:sp>
        <p:nvSpPr>
          <p:cNvPr id="4" name="Slide Number Placeholder 3"/>
          <p:cNvSpPr>
            <a:spLocks noGrp="1"/>
          </p:cNvSpPr>
          <p:nvPr>
            <p:ph type="sldNum" sz="quarter" idx="5"/>
          </p:nvPr>
        </p:nvSpPr>
        <p:spPr/>
        <p:txBody>
          <a:bodyPr/>
          <a:lstStyle/>
          <a:p>
            <a:fld id="{8211A444-F3BB-4215-8D61-19749E97F2CD}" type="slidenum">
              <a:rPr lang="cs-CZ" smtClean="0"/>
              <a:t>121</a:t>
            </a:fld>
            <a:endParaRPr lang="cs-CZ"/>
          </a:p>
        </p:txBody>
      </p:sp>
    </p:spTree>
    <p:extLst>
      <p:ext uri="{BB962C8B-B14F-4D97-AF65-F5344CB8AC3E}">
        <p14:creationId xmlns:p14="http://schemas.microsoft.com/office/powerpoint/2010/main" val="246223320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effectLst/>
              </a:rPr>
              <a:t>P4 (Programming Protocol-Independent Packet Processors) is a programming language designed for configuring and controlling network forwarding devices, such as switches and routers. It was developed by the P4 Language Consortium, an industry group consisting of networking companies and academic institutions.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b="1" dirty="0"/>
              <a:t>P4 Open Source Programming Language</a:t>
            </a:r>
          </a:p>
          <a:p>
            <a:r>
              <a:rPr lang="en-US" dirty="0"/>
              <a:t>Programming Protocol-independent Packet Processors (P4) is a domain-specific language for network devices, specifying how data plane devices (switches, NICs, routers, filters, etc.) process packets.</a:t>
            </a:r>
          </a:p>
          <a:p>
            <a:r>
              <a:rPr lang="en-US" dirty="0"/>
              <a:t>Before P4, vendors had total control over the functionality supported in the network. And since networking silicon determined much of the possible behavior, silicon vendors controlled the rollout of new features (e.g., VXLAN), and rollouts took years.</a:t>
            </a:r>
          </a:p>
          <a:p>
            <a:r>
              <a:rPr lang="en-US" dirty="0"/>
              <a:t>P4 turns the traditional model on its head. Application developers and network engineers can now use P4 to implement specific behavior in the network, and changes can be made in minutes instead of years.</a:t>
            </a:r>
          </a:p>
          <a:p>
            <a:endParaRPr lang="en-US" dirty="0"/>
          </a:p>
          <a:p>
            <a:r>
              <a:rPr lang="en-US"/>
              <a:t>https://www.trentonsystems.com/en-us/resource-hub/blog/your-all-in-one-guide-to-p4#:~:text=Utilizing%20P4%2C%20it%20provides%20flexible,)%2C%20to%20ensure%20the%20rapid%2C</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122</a:t>
            </a:fld>
            <a:endParaRPr lang="cs-CZ"/>
          </a:p>
        </p:txBody>
      </p:sp>
    </p:spTree>
    <p:extLst>
      <p:ext uri="{BB962C8B-B14F-4D97-AF65-F5344CB8AC3E}">
        <p14:creationId xmlns:p14="http://schemas.microsoft.com/office/powerpoint/2010/main" val="31457825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125</a:t>
            </a:fld>
            <a:endParaRPr lang="cs-CZ"/>
          </a:p>
        </p:txBody>
      </p:sp>
    </p:spTree>
    <p:extLst>
      <p:ext uri="{BB962C8B-B14F-4D97-AF65-F5344CB8AC3E}">
        <p14:creationId xmlns:p14="http://schemas.microsoft.com/office/powerpoint/2010/main" val="71881689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126</a:t>
            </a:fld>
            <a:endParaRPr lang="cs-CZ"/>
          </a:p>
        </p:txBody>
      </p:sp>
    </p:spTree>
    <p:extLst>
      <p:ext uri="{BB962C8B-B14F-4D97-AF65-F5344CB8AC3E}">
        <p14:creationId xmlns:p14="http://schemas.microsoft.com/office/powerpoint/2010/main" val="155925354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127</a:t>
            </a:fld>
            <a:endParaRPr lang="cs-CZ"/>
          </a:p>
        </p:txBody>
      </p:sp>
    </p:spTree>
    <p:extLst>
      <p:ext uri="{BB962C8B-B14F-4D97-AF65-F5344CB8AC3E}">
        <p14:creationId xmlns:p14="http://schemas.microsoft.com/office/powerpoint/2010/main" val="352681148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128</a:t>
            </a:fld>
            <a:endParaRPr lang="cs-CZ"/>
          </a:p>
        </p:txBody>
      </p:sp>
    </p:spTree>
    <p:extLst>
      <p:ext uri="{BB962C8B-B14F-4D97-AF65-F5344CB8AC3E}">
        <p14:creationId xmlns:p14="http://schemas.microsoft.com/office/powerpoint/2010/main" val="68507646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129</a:t>
            </a:fld>
            <a:endParaRPr lang="cs-CZ"/>
          </a:p>
        </p:txBody>
      </p:sp>
    </p:spTree>
    <p:extLst>
      <p:ext uri="{BB962C8B-B14F-4D97-AF65-F5344CB8AC3E}">
        <p14:creationId xmlns:p14="http://schemas.microsoft.com/office/powerpoint/2010/main" val="78004982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130</a:t>
            </a:fld>
            <a:endParaRPr lang="cs-CZ"/>
          </a:p>
        </p:txBody>
      </p:sp>
    </p:spTree>
    <p:extLst>
      <p:ext uri="{BB962C8B-B14F-4D97-AF65-F5344CB8AC3E}">
        <p14:creationId xmlns:p14="http://schemas.microsoft.com/office/powerpoint/2010/main" val="146785925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131</a:t>
            </a:fld>
            <a:endParaRPr lang="cs-CZ"/>
          </a:p>
        </p:txBody>
      </p:sp>
    </p:spTree>
    <p:extLst>
      <p:ext uri="{BB962C8B-B14F-4D97-AF65-F5344CB8AC3E}">
        <p14:creationId xmlns:p14="http://schemas.microsoft.com/office/powerpoint/2010/main" val="154506068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132</a:t>
            </a:fld>
            <a:endParaRPr lang="cs-CZ"/>
          </a:p>
        </p:txBody>
      </p:sp>
    </p:spTree>
    <p:extLst>
      <p:ext uri="{BB962C8B-B14F-4D97-AF65-F5344CB8AC3E}">
        <p14:creationId xmlns:p14="http://schemas.microsoft.com/office/powerpoint/2010/main" val="55636819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www.cisco.com</a:t>
            </a:r>
            <a:r>
              <a:rPr lang="en-US" dirty="0"/>
              <a:t>/c/</a:t>
            </a:r>
            <a:r>
              <a:rPr lang="en-US" dirty="0" err="1"/>
              <a:t>en</a:t>
            </a:r>
            <a:r>
              <a:rPr lang="en-US" dirty="0"/>
              <a:t>/us/td/docs/routers/</a:t>
            </a:r>
            <a:r>
              <a:rPr lang="en-US" dirty="0" err="1"/>
              <a:t>asr9000</a:t>
            </a:r>
            <a:r>
              <a:rPr lang="en-US" dirty="0"/>
              <a:t>/software/</a:t>
            </a:r>
            <a:r>
              <a:rPr lang="en-US" dirty="0" err="1"/>
              <a:t>24xx</a:t>
            </a:r>
            <a:r>
              <a:rPr lang="en-US" dirty="0"/>
              <a:t>/segment-routing/configuration/guide/b-segment-routing-cg-</a:t>
            </a:r>
            <a:r>
              <a:rPr lang="en-US" dirty="0" err="1"/>
              <a:t>asr9000</a:t>
            </a:r>
            <a:r>
              <a:rPr lang="en-US" dirty="0"/>
              <a:t>-</a:t>
            </a:r>
            <a:r>
              <a:rPr lang="en-US" dirty="0" err="1"/>
              <a:t>24xx</a:t>
            </a:r>
            <a:r>
              <a:rPr lang="en-US" dirty="0"/>
              <a:t>/configure-</a:t>
            </a:r>
            <a:r>
              <a:rPr lang="en-US" dirty="0" err="1"/>
              <a:t>srv6</a:t>
            </a:r>
            <a:r>
              <a:rPr lang="en-US" dirty="0"/>
              <a:t>-micro-</a:t>
            </a:r>
            <a:r>
              <a:rPr lang="en-US" dirty="0" err="1"/>
              <a:t>sid.html</a:t>
            </a:r>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135</a:t>
            </a:fld>
            <a:endParaRPr lang="cs-CZ"/>
          </a:p>
        </p:txBody>
      </p:sp>
    </p:spTree>
    <p:extLst>
      <p:ext uri="{BB962C8B-B14F-4D97-AF65-F5344CB8AC3E}">
        <p14:creationId xmlns:p14="http://schemas.microsoft.com/office/powerpoint/2010/main" val="363075524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dirty="0"/>
              <a:t>The range of IDs supported by the Cisco IOS XR implementation are as follows: </a:t>
            </a:r>
          </a:p>
          <a:p>
            <a:pPr lvl="1"/>
            <a:r>
              <a:rPr lang="en-US" sz="1200" dirty="0"/>
              <a:t>The range of IDs in the GIB is </a:t>
            </a:r>
            <a:r>
              <a:rPr lang="en-US" sz="1200" dirty="0" err="1"/>
              <a:t>0x000</a:t>
            </a:r>
            <a:r>
              <a:rPr lang="en-US" sz="1200" dirty="0"/>
              <a:t> to </a:t>
            </a:r>
            <a:r>
              <a:rPr lang="en-US" sz="1200" dirty="0" err="1"/>
              <a:t>0xDFFF</a:t>
            </a:r>
            <a:r>
              <a:rPr lang="en-US" sz="1200" dirty="0"/>
              <a:t>. </a:t>
            </a:r>
          </a:p>
          <a:p>
            <a:pPr lvl="1"/>
            <a:r>
              <a:rPr lang="en-US" sz="1200" dirty="0"/>
              <a:t>The range of IDs by default in the LIB is divided as follows:</a:t>
            </a:r>
          </a:p>
          <a:p>
            <a:pPr lvl="1"/>
            <a:r>
              <a:rPr lang="en-US" sz="1200" dirty="0"/>
              <a:t>Dynamic: </a:t>
            </a:r>
            <a:r>
              <a:rPr lang="en-US" sz="1200" dirty="0" err="1"/>
              <a:t>0xE000</a:t>
            </a:r>
            <a:r>
              <a:rPr lang="en-US" sz="1200" dirty="0"/>
              <a:t> to </a:t>
            </a:r>
            <a:r>
              <a:rPr lang="en-US" sz="1200" dirty="0" err="1"/>
              <a:t>0xFDFF</a:t>
            </a:r>
            <a:endParaRPr lang="en-US" sz="1200" dirty="0"/>
          </a:p>
          <a:p>
            <a:pPr lvl="1"/>
            <a:r>
              <a:rPr lang="en-US" sz="1200" dirty="0"/>
              <a:t>Explicit: </a:t>
            </a:r>
            <a:r>
              <a:rPr lang="en-US" sz="1200" dirty="0" err="1"/>
              <a:t>0xFE00</a:t>
            </a:r>
            <a:r>
              <a:rPr lang="en-US" sz="1200" dirty="0"/>
              <a:t> to </a:t>
            </a:r>
            <a:r>
              <a:rPr lang="en-US" sz="1200" dirty="0" err="1"/>
              <a:t>0xFEFF</a:t>
            </a:r>
            <a:endParaRPr lang="en-US" sz="1200" dirty="0"/>
          </a:p>
          <a:p>
            <a:pPr lvl="1"/>
            <a:r>
              <a:rPr lang="en-US" sz="1200" dirty="0"/>
              <a:t>Reserved: </a:t>
            </a:r>
            <a:r>
              <a:rPr lang="en-US" sz="1200" dirty="0" err="1"/>
              <a:t>0xFF00</a:t>
            </a:r>
            <a:r>
              <a:rPr lang="en-US" sz="1200" dirty="0"/>
              <a:t> to </a:t>
            </a:r>
            <a:r>
              <a:rPr lang="en-US" sz="1200" dirty="0" err="1"/>
              <a:t>0xFFEF</a:t>
            </a:r>
            <a:r>
              <a:rPr lang="en-US" sz="1200" dirty="0"/>
              <a:t> and </a:t>
            </a:r>
            <a:r>
              <a:rPr lang="en-US" sz="1200" dirty="0" err="1"/>
              <a:t>0xFFF8</a:t>
            </a:r>
            <a:r>
              <a:rPr lang="en-US" sz="1200" dirty="0"/>
              <a:t> to </a:t>
            </a:r>
            <a:r>
              <a:rPr lang="en-US" sz="1200" dirty="0" err="1"/>
              <a:t>0xFFFF</a:t>
            </a:r>
            <a:endParaRPr lang="en-US" sz="1200" dirty="0"/>
          </a:p>
          <a:p>
            <a:pPr lvl="1"/>
            <a:r>
              <a:rPr lang="en-US" sz="1200" dirty="0"/>
              <a:t>The range of IDs by default in the W-LIB is divided as follows:</a:t>
            </a:r>
          </a:p>
          <a:p>
            <a:pPr lvl="1"/>
            <a:r>
              <a:rPr lang="en-US" sz="1200" dirty="0"/>
              <a:t>Reserved: </a:t>
            </a:r>
            <a:r>
              <a:rPr lang="en-US" sz="1200" dirty="0" err="1"/>
              <a:t>0xFFF0</a:t>
            </a:r>
            <a:r>
              <a:rPr lang="en-US" sz="1200" dirty="0"/>
              <a:t> to </a:t>
            </a:r>
            <a:r>
              <a:rPr lang="en-US" sz="1200" dirty="0" err="1"/>
              <a:t>0xFFF6</a:t>
            </a:r>
            <a:endParaRPr lang="en-US" sz="1200" dirty="0"/>
          </a:p>
          <a:p>
            <a:pPr lvl="1"/>
            <a:r>
              <a:rPr lang="en-US" sz="1200" dirty="0"/>
              <a:t>Explicit: </a:t>
            </a:r>
            <a:r>
              <a:rPr lang="en-US" sz="1200" dirty="0" err="1"/>
              <a:t>0xFFF7</a:t>
            </a:r>
            <a:endParaRPr lang="en-US" sz="1200" dirty="0"/>
          </a:p>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137</a:t>
            </a:fld>
            <a:endParaRPr lang="cs-CZ"/>
          </a:p>
        </p:txBody>
      </p:sp>
    </p:spTree>
    <p:extLst>
      <p:ext uri="{BB962C8B-B14F-4D97-AF65-F5344CB8AC3E}">
        <p14:creationId xmlns:p14="http://schemas.microsoft.com/office/powerpoint/2010/main" val="25102866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dirty="0"/>
              <a:t>The range of IDs supported by the Cisco IOS XR implementation are as follows: </a:t>
            </a:r>
          </a:p>
          <a:p>
            <a:pPr lvl="1"/>
            <a:r>
              <a:rPr lang="en-US" sz="1200" dirty="0"/>
              <a:t>The range of IDs in the GIB is </a:t>
            </a:r>
            <a:r>
              <a:rPr lang="en-US" sz="1200" dirty="0" err="1"/>
              <a:t>0x000</a:t>
            </a:r>
            <a:r>
              <a:rPr lang="en-US" sz="1200" dirty="0"/>
              <a:t> to </a:t>
            </a:r>
            <a:r>
              <a:rPr lang="en-US" sz="1200" dirty="0" err="1"/>
              <a:t>0xDFFF</a:t>
            </a:r>
            <a:r>
              <a:rPr lang="en-US" sz="1200" dirty="0"/>
              <a:t>. </a:t>
            </a:r>
          </a:p>
          <a:p>
            <a:pPr lvl="1"/>
            <a:r>
              <a:rPr lang="en-US" sz="1200" dirty="0"/>
              <a:t>The range of IDs by default in the LIB is divided as follows:</a:t>
            </a:r>
          </a:p>
          <a:p>
            <a:pPr lvl="1"/>
            <a:r>
              <a:rPr lang="en-US" sz="1200" dirty="0"/>
              <a:t>Dynamic: </a:t>
            </a:r>
            <a:r>
              <a:rPr lang="en-US" sz="1200" dirty="0" err="1"/>
              <a:t>0xE000</a:t>
            </a:r>
            <a:r>
              <a:rPr lang="en-US" sz="1200" dirty="0"/>
              <a:t> to </a:t>
            </a:r>
            <a:r>
              <a:rPr lang="en-US" sz="1200" dirty="0" err="1"/>
              <a:t>0xFDFF</a:t>
            </a:r>
            <a:endParaRPr lang="en-US" sz="1200" dirty="0"/>
          </a:p>
          <a:p>
            <a:pPr lvl="1"/>
            <a:r>
              <a:rPr lang="en-US" sz="1200" dirty="0"/>
              <a:t>Explicit: </a:t>
            </a:r>
            <a:r>
              <a:rPr lang="en-US" sz="1200" dirty="0" err="1"/>
              <a:t>0xFE00</a:t>
            </a:r>
            <a:r>
              <a:rPr lang="en-US" sz="1200" dirty="0"/>
              <a:t> to </a:t>
            </a:r>
            <a:r>
              <a:rPr lang="en-US" sz="1200" dirty="0" err="1"/>
              <a:t>0xFEFF</a:t>
            </a:r>
            <a:endParaRPr lang="en-US" sz="1200" dirty="0"/>
          </a:p>
          <a:p>
            <a:pPr lvl="1"/>
            <a:r>
              <a:rPr lang="en-US" sz="1200" dirty="0"/>
              <a:t>Reserved: </a:t>
            </a:r>
            <a:r>
              <a:rPr lang="en-US" sz="1200" dirty="0" err="1"/>
              <a:t>0xFF00</a:t>
            </a:r>
            <a:r>
              <a:rPr lang="en-US" sz="1200" dirty="0"/>
              <a:t> to </a:t>
            </a:r>
            <a:r>
              <a:rPr lang="en-US" sz="1200" dirty="0" err="1"/>
              <a:t>0xFFEF</a:t>
            </a:r>
            <a:r>
              <a:rPr lang="en-US" sz="1200" dirty="0"/>
              <a:t> and </a:t>
            </a:r>
            <a:r>
              <a:rPr lang="en-US" sz="1200" dirty="0" err="1"/>
              <a:t>0xFFF8</a:t>
            </a:r>
            <a:r>
              <a:rPr lang="en-US" sz="1200" dirty="0"/>
              <a:t> to </a:t>
            </a:r>
            <a:r>
              <a:rPr lang="en-US" sz="1200" dirty="0" err="1"/>
              <a:t>0xFFFF</a:t>
            </a:r>
            <a:endParaRPr lang="en-US" sz="1200" dirty="0"/>
          </a:p>
          <a:p>
            <a:pPr lvl="1"/>
            <a:r>
              <a:rPr lang="en-US" sz="1200" dirty="0"/>
              <a:t>The range of IDs by default in the W-LIB is divided as follows:</a:t>
            </a:r>
          </a:p>
          <a:p>
            <a:pPr lvl="1"/>
            <a:r>
              <a:rPr lang="en-US" sz="1200" dirty="0"/>
              <a:t>Reserved: </a:t>
            </a:r>
            <a:r>
              <a:rPr lang="en-US" sz="1200" dirty="0" err="1"/>
              <a:t>0xFFF0</a:t>
            </a:r>
            <a:r>
              <a:rPr lang="en-US" sz="1200" dirty="0"/>
              <a:t> to </a:t>
            </a:r>
            <a:r>
              <a:rPr lang="en-US" sz="1200" dirty="0" err="1"/>
              <a:t>0xFFF6</a:t>
            </a:r>
            <a:endParaRPr lang="en-US" sz="1200" dirty="0"/>
          </a:p>
          <a:p>
            <a:pPr lvl="1"/>
            <a:r>
              <a:rPr lang="en-US" sz="1200" dirty="0"/>
              <a:t>Explicit: </a:t>
            </a:r>
            <a:r>
              <a:rPr lang="en-US" sz="1200" dirty="0" err="1"/>
              <a:t>0xFFF7</a:t>
            </a:r>
            <a:endParaRPr lang="en-US" sz="1200" dirty="0"/>
          </a:p>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138</a:t>
            </a:fld>
            <a:endParaRPr lang="cs-CZ"/>
          </a:p>
        </p:txBody>
      </p:sp>
    </p:spTree>
    <p:extLst>
      <p:ext uri="{BB962C8B-B14F-4D97-AF65-F5344CB8AC3E}">
        <p14:creationId xmlns:p14="http://schemas.microsoft.com/office/powerpoint/2010/main" val="255630949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Currently IOS-X</a:t>
            </a:r>
            <a:r>
              <a:rPr lang="cs-CZ" dirty="0"/>
              <a:t>R</a:t>
            </a:r>
            <a:r>
              <a:rPr lang="en-US" dirty="0"/>
              <a:t> supports ONLY F3216 format for uSID</a:t>
            </a:r>
          </a:p>
        </p:txBody>
      </p:sp>
      <p:sp>
        <p:nvSpPr>
          <p:cNvPr id="4" name="Slide Number Placeholder 3"/>
          <p:cNvSpPr>
            <a:spLocks noGrp="1"/>
          </p:cNvSpPr>
          <p:nvPr>
            <p:ph type="sldNum" sz="quarter" idx="5"/>
          </p:nvPr>
        </p:nvSpPr>
        <p:spPr/>
        <p:txBody>
          <a:bodyPr/>
          <a:lstStyle/>
          <a:p>
            <a:fld id="{8211A444-F3BB-4215-8D61-19749E97F2CD}" type="slidenum">
              <a:rPr lang="cs-CZ" smtClean="0"/>
              <a:t>140</a:t>
            </a:fld>
            <a:endParaRPr lang="cs-CZ"/>
          </a:p>
        </p:txBody>
      </p:sp>
    </p:spTree>
    <p:extLst>
      <p:ext uri="{BB962C8B-B14F-4D97-AF65-F5344CB8AC3E}">
        <p14:creationId xmlns:p14="http://schemas.microsoft.com/office/powerpoint/2010/main" val="15585752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https://www.segment-routing.net/images/tutorials/SRv6-TOI-rev3i-EXTERNAL.pdf</a:t>
            </a:r>
          </a:p>
        </p:txBody>
      </p:sp>
      <p:sp>
        <p:nvSpPr>
          <p:cNvPr id="4" name="Slide Number Placeholder 3"/>
          <p:cNvSpPr>
            <a:spLocks noGrp="1"/>
          </p:cNvSpPr>
          <p:nvPr>
            <p:ph type="sldNum" sz="quarter" idx="5"/>
          </p:nvPr>
        </p:nvSpPr>
        <p:spPr/>
        <p:txBody>
          <a:bodyPr/>
          <a:lstStyle/>
          <a:p>
            <a:fld id="{8211A444-F3BB-4215-8D61-19749E97F2CD}" type="slidenum">
              <a:rPr lang="cs-CZ" smtClean="0"/>
              <a:t>151</a:t>
            </a:fld>
            <a:endParaRPr lang="cs-CZ"/>
          </a:p>
        </p:txBody>
      </p:sp>
    </p:spTree>
    <p:extLst>
      <p:ext uri="{BB962C8B-B14F-4D97-AF65-F5344CB8AC3E}">
        <p14:creationId xmlns:p14="http://schemas.microsoft.com/office/powerpoint/2010/main" val="76272716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152</a:t>
            </a:fld>
            <a:endParaRPr lang="cs-CZ"/>
          </a:p>
        </p:txBody>
      </p:sp>
    </p:spTree>
    <p:extLst>
      <p:ext uri="{BB962C8B-B14F-4D97-AF65-F5344CB8AC3E}">
        <p14:creationId xmlns:p14="http://schemas.microsoft.com/office/powerpoint/2010/main" val="51214614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Parent node: node where the segment was instantiated, and where it will be processed</a:t>
            </a:r>
          </a:p>
          <a:p>
            <a:endParaRPr lang="en-US" dirty="0"/>
          </a:p>
          <a:p>
            <a:r>
              <a:rPr lang="en-US" dirty="0"/>
              <a:t>Function could be the basic end-point behavior that I showed in the previous slides, or something</a:t>
            </a:r>
            <a:r>
              <a:rPr lang="en-US" baseline="0" dirty="0"/>
              <a:t> much more sophisticated... even using arguments</a:t>
            </a:r>
          </a:p>
          <a:p>
            <a:endParaRPr lang="en-US" baseline="0" dirty="0"/>
          </a:p>
          <a:p>
            <a:endParaRPr lang="en-US" baseline="0" dirty="0"/>
          </a:p>
          <a:p>
            <a:r>
              <a:rPr lang="en-US" baseline="0" dirty="0" err="1"/>
              <a:t>Fliexible</a:t>
            </a:r>
            <a:r>
              <a:rPr lang="en-US" baseline="0" dirty="0"/>
              <a:t> bit-length... </a:t>
            </a:r>
          </a:p>
          <a:p>
            <a:r>
              <a:rPr lang="en-US" baseline="0" dirty="0"/>
              <a:t>the only thing that matters to the rest of the network is that the parent node advertises the locator prefix, so that packets can be routed to it. What it then does with the packet, so the function, is purely local</a:t>
            </a:r>
          </a:p>
          <a:p>
            <a:endParaRPr lang="en-US" baseline="0" dirty="0"/>
          </a:p>
          <a:p>
            <a:r>
              <a:rPr lang="en-US" baseline="0" dirty="0"/>
              <a:t>Local address: address within the locator prefix, or assigned to an interface</a:t>
            </a:r>
          </a:p>
          <a:p>
            <a:r>
              <a:rPr lang="en-US" baseline="0" dirty="0"/>
              <a:t>conversely....</a:t>
            </a:r>
            <a:endParaRPr lang="en-US" dirty="0"/>
          </a:p>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153</a:t>
            </a:fld>
            <a:endParaRPr lang="cs-CZ"/>
          </a:p>
        </p:txBody>
      </p:sp>
    </p:spTree>
    <p:extLst>
      <p:ext uri="{BB962C8B-B14F-4D97-AF65-F5344CB8AC3E}">
        <p14:creationId xmlns:p14="http://schemas.microsoft.com/office/powerpoint/2010/main" val="417164316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a:t>
            </a:r>
            <a:r>
              <a:rPr lang="en-US" baseline="0" dirty="0"/>
              <a:t> instantiate a binding segment on a node, you associate it with a SR policy,</a:t>
            </a:r>
          </a:p>
          <a:p>
            <a:endParaRPr lang="en-US" baseline="0" dirty="0"/>
          </a:p>
          <a:p>
            <a:r>
              <a:rPr lang="en-US" baseline="0" dirty="0"/>
              <a:t>and this policy defines the content of the IP and SR headers that will be pushed on the packet</a:t>
            </a:r>
          </a:p>
          <a:p>
            <a:endParaRPr lang="en-US" baseline="0" dirty="0"/>
          </a:p>
          <a:p>
            <a:endParaRPr lang="en-US" baseline="0" dirty="0"/>
          </a:p>
          <a:p>
            <a:r>
              <a:rPr lang="en-US" baseline="0" dirty="0"/>
              <a:t>We do not have to specify the IP DA because that will be the first segment</a:t>
            </a:r>
            <a:endParaRPr lang="en-US" dirty="0"/>
          </a:p>
        </p:txBody>
      </p:sp>
      <p:sp>
        <p:nvSpPr>
          <p:cNvPr id="4" name="Slide Number Placeholder 3"/>
          <p:cNvSpPr>
            <a:spLocks noGrp="1"/>
          </p:cNvSpPr>
          <p:nvPr>
            <p:ph type="sldNum" sz="quarter" idx="10"/>
          </p:nvPr>
        </p:nvSpPr>
        <p:spPr/>
        <p:txBody>
          <a:bodyPr/>
          <a:lstStyle/>
          <a:p>
            <a:fld id="{43545A43-6362-E043-990C-8D9F6B7D9043}" type="slidenum">
              <a:rPr lang="en-US" smtClean="0">
                <a:solidFill>
                  <a:prstClr val="black"/>
                </a:solidFill>
              </a:rPr>
              <a:pPr/>
              <a:t>156</a:t>
            </a:fld>
            <a:endParaRPr lang="en-US">
              <a:solidFill>
                <a:prstClr val="black"/>
              </a:solidFill>
            </a:endParaRPr>
          </a:p>
        </p:txBody>
      </p:sp>
    </p:spTree>
    <p:extLst>
      <p:ext uri="{BB962C8B-B14F-4D97-AF65-F5344CB8AC3E}">
        <p14:creationId xmlns:p14="http://schemas.microsoft.com/office/powerpoint/2010/main" val="293799652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a:t>
            </a:r>
            <a:r>
              <a:rPr lang="en-US" baseline="0" dirty="0"/>
              <a:t> instantiate a binding segment on a node, you associate it with a SR policy,</a:t>
            </a:r>
          </a:p>
          <a:p>
            <a:endParaRPr lang="en-US" baseline="0" dirty="0"/>
          </a:p>
          <a:p>
            <a:r>
              <a:rPr lang="en-US" baseline="0" dirty="0"/>
              <a:t>and this policy defines the content of the IP and SR headers that will be pushed on the packet</a:t>
            </a:r>
          </a:p>
          <a:p>
            <a:endParaRPr lang="en-US" baseline="0" dirty="0"/>
          </a:p>
          <a:p>
            <a:endParaRPr lang="en-US" baseline="0" dirty="0"/>
          </a:p>
          <a:p>
            <a:r>
              <a:rPr lang="en-US" baseline="0" dirty="0"/>
              <a:t>We do not have to specify the IP DA because that will be the first segment</a:t>
            </a:r>
            <a:endParaRPr lang="en-US" dirty="0"/>
          </a:p>
        </p:txBody>
      </p:sp>
      <p:sp>
        <p:nvSpPr>
          <p:cNvPr id="4" name="Slide Number Placeholder 3"/>
          <p:cNvSpPr>
            <a:spLocks noGrp="1"/>
          </p:cNvSpPr>
          <p:nvPr>
            <p:ph type="sldNum" sz="quarter" idx="10"/>
          </p:nvPr>
        </p:nvSpPr>
        <p:spPr/>
        <p:txBody>
          <a:bodyPr/>
          <a:lstStyle/>
          <a:p>
            <a:fld id="{43545A43-6362-E043-990C-8D9F6B7D9043}" type="slidenum">
              <a:rPr lang="en-US" smtClean="0">
                <a:solidFill>
                  <a:prstClr val="black"/>
                </a:solidFill>
              </a:rPr>
              <a:pPr/>
              <a:t>157</a:t>
            </a:fld>
            <a:endParaRPr lang="en-US">
              <a:solidFill>
                <a:prstClr val="black"/>
              </a:solidFill>
            </a:endParaRPr>
          </a:p>
        </p:txBody>
      </p:sp>
    </p:spTree>
    <p:extLst>
      <p:ext uri="{BB962C8B-B14F-4D97-AF65-F5344CB8AC3E}">
        <p14:creationId xmlns:p14="http://schemas.microsoft.com/office/powerpoint/2010/main" val="310496734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a:t>
            </a:r>
            <a:r>
              <a:rPr lang="en-US" baseline="0" dirty="0"/>
              <a:t> instantiate a binding segment on a node, you associate it with a SR policy,</a:t>
            </a:r>
          </a:p>
          <a:p>
            <a:endParaRPr lang="en-US" baseline="0" dirty="0"/>
          </a:p>
          <a:p>
            <a:r>
              <a:rPr lang="en-US" baseline="0" dirty="0"/>
              <a:t>and this policy defines the content of the IP and SR headers that will be pushed on the packet</a:t>
            </a:r>
          </a:p>
          <a:p>
            <a:endParaRPr lang="en-US" baseline="0" dirty="0"/>
          </a:p>
          <a:p>
            <a:endParaRPr lang="en-US" baseline="0" dirty="0"/>
          </a:p>
          <a:p>
            <a:r>
              <a:rPr lang="en-US" baseline="0" dirty="0"/>
              <a:t>We do not have to specify the IP DA because that will be the first segment</a:t>
            </a:r>
            <a:endParaRPr lang="en-US" dirty="0"/>
          </a:p>
        </p:txBody>
      </p:sp>
      <p:sp>
        <p:nvSpPr>
          <p:cNvPr id="4" name="Slide Number Placeholder 3"/>
          <p:cNvSpPr>
            <a:spLocks noGrp="1"/>
          </p:cNvSpPr>
          <p:nvPr>
            <p:ph type="sldNum" sz="quarter" idx="10"/>
          </p:nvPr>
        </p:nvSpPr>
        <p:spPr/>
        <p:txBody>
          <a:bodyPr/>
          <a:lstStyle/>
          <a:p>
            <a:fld id="{43545A43-6362-E043-990C-8D9F6B7D9043}" type="slidenum">
              <a:rPr lang="en-US" smtClean="0">
                <a:solidFill>
                  <a:prstClr val="black"/>
                </a:solidFill>
              </a:rPr>
              <a:pPr/>
              <a:t>158</a:t>
            </a:fld>
            <a:endParaRPr lang="en-US">
              <a:solidFill>
                <a:prstClr val="black"/>
              </a:solidFill>
            </a:endParaRPr>
          </a:p>
        </p:txBody>
      </p:sp>
    </p:spTree>
    <p:extLst>
      <p:ext uri="{BB962C8B-B14F-4D97-AF65-F5344CB8AC3E}">
        <p14:creationId xmlns:p14="http://schemas.microsoft.com/office/powerpoint/2010/main" val="337431986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a:t>
            </a:r>
            <a:r>
              <a:rPr lang="en-US" baseline="0" dirty="0"/>
              <a:t> the SRH at the penultimate SR hop</a:t>
            </a:r>
          </a:p>
          <a:p>
            <a:endParaRPr lang="en-US" baseline="0" dirty="0"/>
          </a:p>
          <a:p>
            <a:r>
              <a:rPr lang="en-US" baseline="0" dirty="0"/>
              <a:t>Different from MPLS PHP</a:t>
            </a:r>
            <a:endParaRPr lang="en-US" dirty="0"/>
          </a:p>
          <a:p>
            <a:endParaRPr lang="en-US" dirty="0"/>
          </a:p>
          <a:p>
            <a:r>
              <a:rPr lang="en-US" dirty="0"/>
              <a:t>A5::1 is the penultimate SID</a:t>
            </a:r>
            <a:r>
              <a:rPr lang="en-US" baseline="0" dirty="0"/>
              <a:t> in the list</a:t>
            </a:r>
            <a:endParaRPr lang="en-US" dirty="0"/>
          </a:p>
        </p:txBody>
      </p:sp>
      <p:sp>
        <p:nvSpPr>
          <p:cNvPr id="4" name="Slide Number Placeholder 3"/>
          <p:cNvSpPr>
            <a:spLocks noGrp="1"/>
          </p:cNvSpPr>
          <p:nvPr>
            <p:ph type="sldNum" sz="quarter" idx="10"/>
          </p:nvPr>
        </p:nvSpPr>
        <p:spPr/>
        <p:txBody>
          <a:bodyPr/>
          <a:lstStyle/>
          <a:p>
            <a:fld id="{43545A43-6362-E043-990C-8D9F6B7D9043}" type="slidenum">
              <a:rPr lang="en-US" smtClean="0">
                <a:solidFill>
                  <a:prstClr val="black"/>
                </a:solidFill>
              </a:rPr>
              <a:pPr/>
              <a:t>159</a:t>
            </a:fld>
            <a:endParaRPr lang="en-US">
              <a:solidFill>
                <a:prstClr val="black"/>
              </a:solidFill>
            </a:endParaRPr>
          </a:p>
        </p:txBody>
      </p:sp>
    </p:spTree>
    <p:extLst>
      <p:ext uri="{BB962C8B-B14F-4D97-AF65-F5344CB8AC3E}">
        <p14:creationId xmlns:p14="http://schemas.microsoft.com/office/powerpoint/2010/main" val="164019725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a:t>
            </a:r>
            <a:r>
              <a:rPr lang="en-US" baseline="0" dirty="0"/>
              <a:t> the SRH at the penultimate SR hop</a:t>
            </a:r>
          </a:p>
          <a:p>
            <a:endParaRPr lang="en-US" baseline="0" dirty="0"/>
          </a:p>
          <a:p>
            <a:r>
              <a:rPr lang="en-US" baseline="0" dirty="0"/>
              <a:t>Different from MPLS PHP</a:t>
            </a:r>
            <a:endParaRPr lang="en-US" dirty="0"/>
          </a:p>
          <a:p>
            <a:endParaRPr lang="en-US" dirty="0"/>
          </a:p>
          <a:p>
            <a:r>
              <a:rPr lang="en-US" dirty="0"/>
              <a:t>A5::1 is the penultimate SID</a:t>
            </a:r>
            <a:r>
              <a:rPr lang="en-US" baseline="0" dirty="0"/>
              <a:t> in the list</a:t>
            </a:r>
            <a:endParaRPr lang="en-US" dirty="0"/>
          </a:p>
        </p:txBody>
      </p:sp>
      <p:sp>
        <p:nvSpPr>
          <p:cNvPr id="4" name="Slide Number Placeholder 3"/>
          <p:cNvSpPr>
            <a:spLocks noGrp="1"/>
          </p:cNvSpPr>
          <p:nvPr>
            <p:ph type="sldNum" sz="quarter" idx="10"/>
          </p:nvPr>
        </p:nvSpPr>
        <p:spPr/>
        <p:txBody>
          <a:bodyPr/>
          <a:lstStyle/>
          <a:p>
            <a:fld id="{43545A43-6362-E043-990C-8D9F6B7D9043}" type="slidenum">
              <a:rPr lang="en-US" smtClean="0">
                <a:solidFill>
                  <a:prstClr val="black"/>
                </a:solidFill>
              </a:rPr>
              <a:pPr/>
              <a:t>160</a:t>
            </a:fld>
            <a:endParaRPr lang="en-US">
              <a:solidFill>
                <a:prstClr val="black"/>
              </a:solidFill>
            </a:endParaRPr>
          </a:p>
        </p:txBody>
      </p:sp>
    </p:spTree>
    <p:extLst>
      <p:ext uri="{BB962C8B-B14F-4D97-AF65-F5344CB8AC3E}">
        <p14:creationId xmlns:p14="http://schemas.microsoft.com/office/powerpoint/2010/main" val="170221642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a:t>
            </a:r>
            <a:r>
              <a:rPr lang="en-US" baseline="0" dirty="0"/>
              <a:t> the SRH at the penultimate SR hop</a:t>
            </a:r>
          </a:p>
          <a:p>
            <a:endParaRPr lang="en-US" baseline="0" dirty="0"/>
          </a:p>
          <a:p>
            <a:r>
              <a:rPr lang="en-US" baseline="0" dirty="0"/>
              <a:t>Different from MPLS PHP</a:t>
            </a:r>
            <a:endParaRPr lang="en-US" dirty="0"/>
          </a:p>
          <a:p>
            <a:endParaRPr lang="en-US" dirty="0"/>
          </a:p>
          <a:p>
            <a:r>
              <a:rPr lang="en-US" dirty="0"/>
              <a:t>A5::1 is the penultimate SID</a:t>
            </a:r>
            <a:r>
              <a:rPr lang="en-US" baseline="0" dirty="0"/>
              <a:t> in the list</a:t>
            </a:r>
            <a:endParaRPr lang="en-US" dirty="0"/>
          </a:p>
        </p:txBody>
      </p:sp>
      <p:sp>
        <p:nvSpPr>
          <p:cNvPr id="4" name="Slide Number Placeholder 3"/>
          <p:cNvSpPr>
            <a:spLocks noGrp="1"/>
          </p:cNvSpPr>
          <p:nvPr>
            <p:ph type="sldNum" sz="quarter" idx="10"/>
          </p:nvPr>
        </p:nvSpPr>
        <p:spPr/>
        <p:txBody>
          <a:bodyPr/>
          <a:lstStyle/>
          <a:p>
            <a:fld id="{43545A43-6362-E043-990C-8D9F6B7D9043}" type="slidenum">
              <a:rPr lang="en-US" smtClean="0">
                <a:solidFill>
                  <a:prstClr val="black"/>
                </a:solidFill>
              </a:rPr>
              <a:pPr/>
              <a:t>161</a:t>
            </a:fld>
            <a:endParaRPr lang="en-US">
              <a:solidFill>
                <a:prstClr val="black"/>
              </a:solidFill>
            </a:endParaRPr>
          </a:p>
        </p:txBody>
      </p:sp>
    </p:spTree>
    <p:extLst>
      <p:ext uri="{BB962C8B-B14F-4D97-AF65-F5344CB8AC3E}">
        <p14:creationId xmlns:p14="http://schemas.microsoft.com/office/powerpoint/2010/main" val="23878183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state they would need could be contained</a:t>
            </a:r>
            <a:r>
              <a:rPr lang="en-US" baseline="0" dirty="0"/>
              <a:t> in the packet itself</a:t>
            </a:r>
            <a:endParaRPr lang="en-US" dirty="0"/>
          </a:p>
        </p:txBody>
      </p:sp>
      <p:sp>
        <p:nvSpPr>
          <p:cNvPr id="4" name="Slide Number Placeholder 3"/>
          <p:cNvSpPr>
            <a:spLocks noGrp="1"/>
          </p:cNvSpPr>
          <p:nvPr>
            <p:ph type="sldNum" sz="quarter" idx="10"/>
          </p:nvPr>
        </p:nvSpPr>
        <p:spPr/>
        <p:txBody>
          <a:bodyPr/>
          <a:lstStyle/>
          <a:p>
            <a:fld id="{43545A43-6362-E043-990C-8D9F6B7D9043}" type="slidenum">
              <a:rPr lang="en-US" smtClean="0">
                <a:solidFill>
                  <a:prstClr val="black"/>
                </a:solidFill>
              </a:rPr>
              <a:pPr/>
              <a:t>162</a:t>
            </a:fld>
            <a:endParaRPr lang="en-US">
              <a:solidFill>
                <a:prstClr val="black"/>
              </a:solidFill>
            </a:endParaRPr>
          </a:p>
        </p:txBody>
      </p:sp>
    </p:spTree>
    <p:extLst>
      <p:ext uri="{BB962C8B-B14F-4D97-AF65-F5344CB8AC3E}">
        <p14:creationId xmlns:p14="http://schemas.microsoft.com/office/powerpoint/2010/main" val="194690280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BRKMPL-2203</a:t>
            </a:r>
          </a:p>
        </p:txBody>
      </p:sp>
      <p:sp>
        <p:nvSpPr>
          <p:cNvPr id="4" name="Slide Number Placeholder 3"/>
          <p:cNvSpPr>
            <a:spLocks noGrp="1"/>
          </p:cNvSpPr>
          <p:nvPr>
            <p:ph type="sldNum" sz="quarter" idx="5"/>
          </p:nvPr>
        </p:nvSpPr>
        <p:spPr/>
        <p:txBody>
          <a:bodyPr/>
          <a:lstStyle/>
          <a:p>
            <a:fld id="{8211A444-F3BB-4215-8D61-19749E97F2CD}" type="slidenum">
              <a:rPr lang="cs-CZ" smtClean="0"/>
              <a:t>166</a:t>
            </a:fld>
            <a:endParaRPr lang="cs-CZ"/>
          </a:p>
        </p:txBody>
      </p:sp>
    </p:spTree>
    <p:extLst>
      <p:ext uri="{BB962C8B-B14F-4D97-AF65-F5344CB8AC3E}">
        <p14:creationId xmlns:p14="http://schemas.microsoft.com/office/powerpoint/2010/main" val="14422919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170</a:t>
            </a:fld>
            <a:endParaRPr lang="cs-CZ"/>
          </a:p>
        </p:txBody>
      </p:sp>
    </p:spTree>
    <p:extLst>
      <p:ext uri="{BB962C8B-B14F-4D97-AF65-F5344CB8AC3E}">
        <p14:creationId xmlns:p14="http://schemas.microsoft.com/office/powerpoint/2010/main" val="41422986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172</a:t>
            </a:fld>
            <a:endParaRPr lang="cs-CZ"/>
          </a:p>
        </p:txBody>
      </p:sp>
    </p:spTree>
    <p:extLst>
      <p:ext uri="{BB962C8B-B14F-4D97-AF65-F5344CB8AC3E}">
        <p14:creationId xmlns:p14="http://schemas.microsoft.com/office/powerpoint/2010/main" val="365879995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183</a:t>
            </a:fld>
            <a:endParaRPr lang="cs-CZ"/>
          </a:p>
        </p:txBody>
      </p:sp>
    </p:spTree>
    <p:extLst>
      <p:ext uri="{BB962C8B-B14F-4D97-AF65-F5344CB8AC3E}">
        <p14:creationId xmlns:p14="http://schemas.microsoft.com/office/powerpoint/2010/main" val="401515307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https://www.youtube.com/watch?v=j-2FeMB8LQ8</a:t>
            </a:r>
          </a:p>
        </p:txBody>
      </p:sp>
      <p:sp>
        <p:nvSpPr>
          <p:cNvPr id="4" name="Slide Number Placeholder 3"/>
          <p:cNvSpPr>
            <a:spLocks noGrp="1"/>
          </p:cNvSpPr>
          <p:nvPr>
            <p:ph type="sldNum" sz="quarter" idx="5"/>
          </p:nvPr>
        </p:nvSpPr>
        <p:spPr/>
        <p:txBody>
          <a:bodyPr/>
          <a:lstStyle/>
          <a:p>
            <a:fld id="{8211A444-F3BB-4215-8D61-19749E97F2CD}" type="slidenum">
              <a:rPr lang="cs-CZ" smtClean="0"/>
              <a:t>185</a:t>
            </a:fld>
            <a:endParaRPr lang="cs-CZ"/>
          </a:p>
        </p:txBody>
      </p:sp>
    </p:spTree>
    <p:extLst>
      <p:ext uri="{BB962C8B-B14F-4D97-AF65-F5344CB8AC3E}">
        <p14:creationId xmlns:p14="http://schemas.microsoft.com/office/powerpoint/2010/main" val="174196778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www.cisco.com</a:t>
            </a:r>
            <a:r>
              <a:rPr lang="en-US" dirty="0"/>
              <a:t>/c/</a:t>
            </a:r>
            <a:r>
              <a:rPr lang="en-US" dirty="0" err="1"/>
              <a:t>en</a:t>
            </a:r>
            <a:r>
              <a:rPr lang="en-US" dirty="0"/>
              <a:t>/us/td/docs/routers/</a:t>
            </a:r>
            <a:r>
              <a:rPr lang="en-US" dirty="0" err="1"/>
              <a:t>asr9000</a:t>
            </a:r>
            <a:r>
              <a:rPr lang="en-US" dirty="0"/>
              <a:t>/software/</a:t>
            </a:r>
            <a:r>
              <a:rPr lang="en-US" dirty="0" err="1"/>
              <a:t>24xx</a:t>
            </a:r>
            <a:r>
              <a:rPr lang="en-US" dirty="0"/>
              <a:t>/segment-routing/configuration/guide/b-segment-routing-cg-</a:t>
            </a:r>
            <a:r>
              <a:rPr lang="en-US" dirty="0" err="1"/>
              <a:t>asr9000</a:t>
            </a:r>
            <a:r>
              <a:rPr lang="en-US" dirty="0"/>
              <a:t>-</a:t>
            </a:r>
            <a:r>
              <a:rPr lang="en-US" dirty="0" err="1"/>
              <a:t>24xx</a:t>
            </a:r>
            <a:r>
              <a:rPr lang="en-US" dirty="0"/>
              <a:t>/</a:t>
            </a:r>
            <a:r>
              <a:rPr lang="en-US" dirty="0" err="1"/>
              <a:t>configure-srv6-micro-sid.html#id_133508</a:t>
            </a:r>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189</a:t>
            </a:fld>
            <a:endParaRPr lang="cs-CZ"/>
          </a:p>
        </p:txBody>
      </p:sp>
    </p:spTree>
    <p:extLst>
      <p:ext uri="{BB962C8B-B14F-4D97-AF65-F5344CB8AC3E}">
        <p14:creationId xmlns:p14="http://schemas.microsoft.com/office/powerpoint/2010/main" val="39088423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225</a:t>
            </a:fld>
            <a:endParaRPr lang="cs-CZ"/>
          </a:p>
        </p:txBody>
      </p:sp>
    </p:spTree>
    <p:extLst>
      <p:ext uri="{BB962C8B-B14F-4D97-AF65-F5344CB8AC3E}">
        <p14:creationId xmlns:p14="http://schemas.microsoft.com/office/powerpoint/2010/main" val="202756762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www.ciscolive.com</a:t>
            </a:r>
            <a:r>
              <a:rPr lang="en-US" dirty="0"/>
              <a:t>/c/dam/r/</a:t>
            </a:r>
            <a:r>
              <a:rPr lang="en-US" dirty="0" err="1"/>
              <a:t>ciscolive</a:t>
            </a:r>
            <a:r>
              <a:rPr lang="en-US" dirty="0"/>
              <a:t>/</a:t>
            </a:r>
            <a:r>
              <a:rPr lang="en-US" dirty="0" err="1"/>
              <a:t>emea</a:t>
            </a:r>
            <a:r>
              <a:rPr lang="en-US" dirty="0"/>
              <a:t>/docs/2024/pdf/</a:t>
            </a:r>
            <a:r>
              <a:rPr lang="en-US" dirty="0" err="1"/>
              <a:t>BRKSPG-3624.pdf</a:t>
            </a:r>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231</a:t>
            </a:fld>
            <a:endParaRPr lang="cs-CZ"/>
          </a:p>
        </p:txBody>
      </p:sp>
    </p:spTree>
    <p:extLst>
      <p:ext uri="{BB962C8B-B14F-4D97-AF65-F5344CB8AC3E}">
        <p14:creationId xmlns:p14="http://schemas.microsoft.com/office/powerpoint/2010/main" val="406076464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242</a:t>
            </a:fld>
            <a:endParaRPr lang="cs-CZ"/>
          </a:p>
        </p:txBody>
      </p:sp>
    </p:spTree>
    <p:extLst>
      <p:ext uri="{BB962C8B-B14F-4D97-AF65-F5344CB8AC3E}">
        <p14:creationId xmlns:p14="http://schemas.microsoft.com/office/powerpoint/2010/main" val="120248383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244</a:t>
            </a:fld>
            <a:endParaRPr lang="cs-CZ"/>
          </a:p>
        </p:txBody>
      </p:sp>
    </p:spTree>
    <p:extLst>
      <p:ext uri="{BB962C8B-B14F-4D97-AF65-F5344CB8AC3E}">
        <p14:creationId xmlns:p14="http://schemas.microsoft.com/office/powerpoint/2010/main" val="38276727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247</a:t>
            </a:fld>
            <a:endParaRPr lang="cs-CZ"/>
          </a:p>
        </p:txBody>
      </p:sp>
    </p:spTree>
    <p:extLst>
      <p:ext uri="{BB962C8B-B14F-4D97-AF65-F5344CB8AC3E}">
        <p14:creationId xmlns:p14="http://schemas.microsoft.com/office/powerpoint/2010/main" val="86784906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255</a:t>
            </a:fld>
            <a:endParaRPr lang="cs-CZ"/>
          </a:p>
        </p:txBody>
      </p:sp>
    </p:spTree>
    <p:extLst>
      <p:ext uri="{BB962C8B-B14F-4D97-AF65-F5344CB8AC3E}">
        <p14:creationId xmlns:p14="http://schemas.microsoft.com/office/powerpoint/2010/main" val="2101274828"/>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www.ciscolive.com</a:t>
            </a:r>
            <a:r>
              <a:rPr lang="en-US" dirty="0"/>
              <a:t>/c/dam/r/</a:t>
            </a:r>
            <a:r>
              <a:rPr lang="en-US" dirty="0" err="1"/>
              <a:t>ciscolive</a:t>
            </a:r>
            <a:r>
              <a:rPr lang="en-US" dirty="0"/>
              <a:t>/</a:t>
            </a:r>
            <a:r>
              <a:rPr lang="en-US" dirty="0" err="1"/>
              <a:t>emea</a:t>
            </a:r>
            <a:r>
              <a:rPr lang="en-US" dirty="0"/>
              <a:t>/docs/2024/pdf/</a:t>
            </a:r>
            <a:r>
              <a:rPr lang="en-US" dirty="0" err="1"/>
              <a:t>BRKSPG-3624.pdf</a:t>
            </a:r>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259</a:t>
            </a:fld>
            <a:endParaRPr lang="cs-CZ"/>
          </a:p>
        </p:txBody>
      </p:sp>
    </p:spTree>
    <p:extLst>
      <p:ext uri="{BB962C8B-B14F-4D97-AF65-F5344CB8AC3E}">
        <p14:creationId xmlns:p14="http://schemas.microsoft.com/office/powerpoint/2010/main" val="267888760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Troubleshooting Segment Routing - </a:t>
            </a:r>
            <a:r>
              <a:rPr lang="en-US" dirty="0" err="1"/>
              <a:t>BRKSPG</a:t>
            </a:r>
            <a:r>
              <a:rPr lang="en-US" dirty="0"/>
              <a:t>-3624 </a:t>
            </a:r>
            <a:r>
              <a:rPr lang="en-US"/>
              <a:t>2025 Amsterdam</a:t>
            </a:r>
          </a:p>
        </p:txBody>
      </p:sp>
      <p:sp>
        <p:nvSpPr>
          <p:cNvPr id="4" name="Slide Number Placeholder 3"/>
          <p:cNvSpPr>
            <a:spLocks noGrp="1"/>
          </p:cNvSpPr>
          <p:nvPr>
            <p:ph type="sldNum" sz="quarter" idx="5"/>
          </p:nvPr>
        </p:nvSpPr>
        <p:spPr/>
        <p:txBody>
          <a:bodyPr/>
          <a:lstStyle/>
          <a:p>
            <a:fld id="{8211A444-F3BB-4215-8D61-19749E97F2CD}" type="slidenum">
              <a:rPr lang="cs-CZ" smtClean="0"/>
              <a:t>260</a:t>
            </a:fld>
            <a:endParaRPr lang="cs-CZ"/>
          </a:p>
        </p:txBody>
      </p:sp>
    </p:spTree>
    <p:extLst>
      <p:ext uri="{BB962C8B-B14F-4D97-AF65-F5344CB8AC3E}">
        <p14:creationId xmlns:p14="http://schemas.microsoft.com/office/powerpoint/2010/main" val="399005926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263</a:t>
            </a:fld>
            <a:endParaRPr lang="cs-CZ"/>
          </a:p>
        </p:txBody>
      </p:sp>
    </p:spTree>
    <p:extLst>
      <p:ext uri="{BB962C8B-B14F-4D97-AF65-F5344CB8AC3E}">
        <p14:creationId xmlns:p14="http://schemas.microsoft.com/office/powerpoint/2010/main" val="310163417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3ffe</a:t>
            </a:r>
            <a:r>
              <a:rPr lang="en-US" dirty="0"/>
              <a:t>::/16 and </a:t>
            </a:r>
            <a:r>
              <a:rPr lang="en-US" dirty="0" err="1"/>
              <a:t>5f00</a:t>
            </a:r>
            <a:r>
              <a:rPr lang="en-US" dirty="0"/>
              <a:t>::/8 were used for the </a:t>
            </a:r>
            <a:r>
              <a:rPr lang="en-US" dirty="0" err="1"/>
              <a:t>6bone</a:t>
            </a:r>
            <a:r>
              <a:rPr lang="en-US" dirty="0"/>
              <a:t>, but returned [</a:t>
            </a:r>
            <a:r>
              <a:rPr lang="en-US" dirty="0" err="1"/>
              <a:t>RFC5156</a:t>
            </a:r>
            <a:r>
              <a:rPr lang="en-US" dirty="0"/>
              <a:t>].</a:t>
            </a:r>
          </a:p>
          <a:p>
            <a:r>
              <a:rPr lang="en-US" dirty="0"/>
              <a:t>https://</a:t>
            </a:r>
            <a:r>
              <a:rPr lang="en-US" dirty="0" err="1"/>
              <a:t>www.segment-routing.net</a:t>
            </a:r>
            <a:r>
              <a:rPr lang="en-US" dirty="0"/>
              <a:t>/images/tutorials/</a:t>
            </a:r>
            <a:r>
              <a:rPr lang="en-US" dirty="0" err="1"/>
              <a:t>SRv6_intro_v3k.pdf</a:t>
            </a:r>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265</a:t>
            </a:fld>
            <a:endParaRPr lang="cs-CZ"/>
          </a:p>
        </p:txBody>
      </p:sp>
    </p:spTree>
    <p:extLst>
      <p:ext uri="{BB962C8B-B14F-4D97-AF65-F5344CB8AC3E}">
        <p14:creationId xmlns:p14="http://schemas.microsoft.com/office/powerpoint/2010/main" val="156526733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www.ciscolive.com</a:t>
            </a:r>
            <a:r>
              <a:rPr lang="en-US" dirty="0"/>
              <a:t>/c/dam/r/</a:t>
            </a:r>
            <a:r>
              <a:rPr lang="en-US" dirty="0" err="1"/>
              <a:t>ciscolive</a:t>
            </a:r>
            <a:r>
              <a:rPr lang="en-US" dirty="0"/>
              <a:t>/global-event/docs/2022/pdf/</a:t>
            </a:r>
            <a:r>
              <a:rPr lang="en-US" dirty="0" err="1"/>
              <a:t>BRKMPL-2117.pdf</a:t>
            </a:r>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266</a:t>
            </a:fld>
            <a:endParaRPr lang="cs-CZ"/>
          </a:p>
        </p:txBody>
      </p:sp>
    </p:spTree>
    <p:extLst>
      <p:ext uri="{BB962C8B-B14F-4D97-AF65-F5344CB8AC3E}">
        <p14:creationId xmlns:p14="http://schemas.microsoft.com/office/powerpoint/2010/main" val="2794545323"/>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www.segment-routing.net</a:t>
            </a:r>
            <a:r>
              <a:rPr lang="en-US" dirty="0"/>
              <a:t>/images/tutorials/</a:t>
            </a:r>
            <a:r>
              <a:rPr lang="en-US" dirty="0" err="1"/>
              <a:t>SRv6_intro_v3k.pdf</a:t>
            </a:r>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267</a:t>
            </a:fld>
            <a:endParaRPr lang="cs-CZ"/>
          </a:p>
        </p:txBody>
      </p:sp>
    </p:spTree>
    <p:extLst>
      <p:ext uri="{BB962C8B-B14F-4D97-AF65-F5344CB8AC3E}">
        <p14:creationId xmlns:p14="http://schemas.microsoft.com/office/powerpoint/2010/main" val="382669892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268</a:t>
            </a:fld>
            <a:endParaRPr lang="cs-CZ"/>
          </a:p>
        </p:txBody>
      </p:sp>
    </p:spTree>
    <p:extLst>
      <p:ext uri="{BB962C8B-B14F-4D97-AF65-F5344CB8AC3E}">
        <p14:creationId xmlns:p14="http://schemas.microsoft.com/office/powerpoint/2010/main" val="230341563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www.ciscolive.com</a:t>
            </a:r>
            <a:r>
              <a:rPr lang="en-US" dirty="0"/>
              <a:t>/c/dam/r/</a:t>
            </a:r>
            <a:r>
              <a:rPr lang="en-US" dirty="0" err="1"/>
              <a:t>ciscolive</a:t>
            </a:r>
            <a:r>
              <a:rPr lang="en-US" dirty="0"/>
              <a:t>/global-event/docs/2022/pdf/</a:t>
            </a:r>
            <a:r>
              <a:rPr lang="en-US" dirty="0" err="1"/>
              <a:t>BRKMPL-2117.pdf</a:t>
            </a:r>
            <a:endParaRPr lang="en-US" dirty="0"/>
          </a:p>
          <a:p>
            <a:r>
              <a:rPr lang="en-US" dirty="0"/>
              <a:t>https://</a:t>
            </a:r>
            <a:r>
              <a:rPr lang="en-US" dirty="0" err="1"/>
              <a:t>www.segment-routing.net</a:t>
            </a:r>
            <a:r>
              <a:rPr lang="en-US" dirty="0"/>
              <a:t>/demos/</a:t>
            </a:r>
            <a:r>
              <a:rPr lang="en-US" dirty="0" err="1"/>
              <a:t>upa</a:t>
            </a:r>
            <a:r>
              <a:rPr lang="en-US" dirty="0"/>
              <a:t>/</a:t>
            </a:r>
          </a:p>
        </p:txBody>
      </p:sp>
      <p:sp>
        <p:nvSpPr>
          <p:cNvPr id="4" name="Slide Number Placeholder 3"/>
          <p:cNvSpPr>
            <a:spLocks noGrp="1"/>
          </p:cNvSpPr>
          <p:nvPr>
            <p:ph type="sldNum" sz="quarter" idx="5"/>
          </p:nvPr>
        </p:nvSpPr>
        <p:spPr/>
        <p:txBody>
          <a:bodyPr/>
          <a:lstStyle/>
          <a:p>
            <a:fld id="{8211A444-F3BB-4215-8D61-19749E97F2CD}" type="slidenum">
              <a:rPr lang="cs-CZ" smtClean="0"/>
              <a:t>270</a:t>
            </a:fld>
            <a:endParaRPr lang="cs-CZ"/>
          </a:p>
        </p:txBody>
      </p:sp>
    </p:spTree>
    <p:extLst>
      <p:ext uri="{BB962C8B-B14F-4D97-AF65-F5344CB8AC3E}">
        <p14:creationId xmlns:p14="http://schemas.microsoft.com/office/powerpoint/2010/main" val="2961533619"/>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www.segment-routing.net</a:t>
            </a:r>
            <a:r>
              <a:rPr lang="en-US" dirty="0"/>
              <a:t>/demos/</a:t>
            </a:r>
            <a:r>
              <a:rPr lang="en-US" dirty="0" err="1"/>
              <a:t>upa</a:t>
            </a:r>
            <a:r>
              <a:rPr lang="en-US" dirty="0"/>
              <a:t>/</a:t>
            </a:r>
          </a:p>
        </p:txBody>
      </p:sp>
      <p:sp>
        <p:nvSpPr>
          <p:cNvPr id="4" name="Slide Number Placeholder 3"/>
          <p:cNvSpPr>
            <a:spLocks noGrp="1"/>
          </p:cNvSpPr>
          <p:nvPr>
            <p:ph type="sldNum" sz="quarter" idx="5"/>
          </p:nvPr>
        </p:nvSpPr>
        <p:spPr/>
        <p:txBody>
          <a:bodyPr/>
          <a:lstStyle/>
          <a:p>
            <a:fld id="{8211A444-F3BB-4215-8D61-19749E97F2CD}" type="slidenum">
              <a:rPr lang="cs-CZ" smtClean="0"/>
              <a:t>271</a:t>
            </a:fld>
            <a:endParaRPr lang="cs-CZ"/>
          </a:p>
        </p:txBody>
      </p:sp>
    </p:spTree>
    <p:extLst>
      <p:ext uri="{BB962C8B-B14F-4D97-AF65-F5344CB8AC3E}">
        <p14:creationId xmlns:p14="http://schemas.microsoft.com/office/powerpoint/2010/main" val="3658680949"/>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dirty="0"/>
              <a:t>https://</a:t>
            </a:r>
            <a:r>
              <a:rPr lang="cs-CZ" dirty="0" err="1"/>
              <a:t>www.segment-routing.net</a:t>
            </a:r>
            <a:r>
              <a:rPr lang="cs-CZ" dirty="0"/>
              <a:t>/</a:t>
            </a:r>
            <a:r>
              <a:rPr lang="cs-CZ" dirty="0" err="1"/>
              <a:t>images</a:t>
            </a:r>
            <a:r>
              <a:rPr lang="cs-CZ" dirty="0"/>
              <a:t>/</a:t>
            </a:r>
            <a:r>
              <a:rPr lang="cs-CZ" dirty="0" err="1"/>
              <a:t>tutorials</a:t>
            </a:r>
            <a:r>
              <a:rPr lang="cs-CZ" dirty="0"/>
              <a:t>/</a:t>
            </a:r>
            <a:r>
              <a:rPr lang="cs-CZ" dirty="0" err="1"/>
              <a:t>SRv6_intro_v3k.pdf</a:t>
            </a:r>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272</a:t>
            </a:fld>
            <a:endParaRPr lang="cs-CZ"/>
          </a:p>
        </p:txBody>
      </p:sp>
    </p:spTree>
    <p:extLst>
      <p:ext uri="{BB962C8B-B14F-4D97-AF65-F5344CB8AC3E}">
        <p14:creationId xmlns:p14="http://schemas.microsoft.com/office/powerpoint/2010/main" val="2281573797"/>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www.ciscolive.com</a:t>
            </a:r>
            <a:r>
              <a:rPr lang="en-US" dirty="0"/>
              <a:t>/c/dam/r/</a:t>
            </a:r>
            <a:r>
              <a:rPr lang="en-US" dirty="0" err="1"/>
              <a:t>ciscolive</a:t>
            </a:r>
            <a:r>
              <a:rPr lang="en-US" dirty="0"/>
              <a:t>/global-event/docs/2022/pdf/</a:t>
            </a:r>
            <a:r>
              <a:rPr lang="en-US" dirty="0" err="1"/>
              <a:t>BRKMPL-2117.pdf</a:t>
            </a:r>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274</a:t>
            </a:fld>
            <a:endParaRPr lang="cs-CZ"/>
          </a:p>
        </p:txBody>
      </p:sp>
    </p:spTree>
    <p:extLst>
      <p:ext uri="{BB962C8B-B14F-4D97-AF65-F5344CB8AC3E}">
        <p14:creationId xmlns:p14="http://schemas.microsoft.com/office/powerpoint/2010/main" val="394112056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278</a:t>
            </a:fld>
            <a:endParaRPr lang="cs-CZ"/>
          </a:p>
        </p:txBody>
      </p:sp>
    </p:spTree>
    <p:extLst>
      <p:ext uri="{BB962C8B-B14F-4D97-AF65-F5344CB8AC3E}">
        <p14:creationId xmlns:p14="http://schemas.microsoft.com/office/powerpoint/2010/main" val="3323158758"/>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Advertising Parallel Links</a:t>
            </a:r>
          </a:p>
          <a:p>
            <a:r>
              <a:rPr lang="en-US" dirty="0"/>
              <a:t>By default, when IS-IS operates over multiple parallel links between two routers, only a single IS-IS neighbor gets advertised regardless of the number of links that may exist to the same router. This reduces the size of the Label Switched Path (LSP) and provides sufficient information for other routers to compute basic IP routing.</a:t>
            </a:r>
          </a:p>
          <a:p>
            <a:r>
              <a:rPr lang="en-US" dirty="0"/>
              <a:t>Some applications, such as MPLS traffic engineering and segment routing (SR) require all the individual links to be represented by separate IS-IS neighbor advertisements. The advertisement is performed automatically on MPLS or SR enabled devices when either one or both of those features are configured using IS-IS. The BGP-LS feature enabled using distribute link-state advertises all parallel links as well.</a:t>
            </a:r>
          </a:p>
          <a:p>
            <a:r>
              <a:rPr lang="en-US" dirty="0"/>
              <a:t>However, applications such as, telemetry also require to have full visibility of the link state topology. But, there are no specific configuration item that can be tied to provide the full visibility. </a:t>
            </a:r>
          </a:p>
          <a:p>
            <a:r>
              <a:rPr lang="en-US" dirty="0"/>
              <a:t>To enable full visibility of the link state topology to other than MPLS or SR applications, advertise link attributes command is introduced. The advertise link attributes command forces IS-IS to advertise IS neighbor information for all links connecting two routers, rather than just one with the lowest cost regardless of whether this is required by other configuration such as SR, MPLS-TE, or BGP-LS. It also adds link endpoint information in the IS neighbor advertisements.</a:t>
            </a:r>
          </a:p>
          <a:p>
            <a:r>
              <a:rPr lang="en-US" dirty="0"/>
              <a:t>https://</a:t>
            </a:r>
            <a:r>
              <a:rPr lang="en-US" dirty="0" err="1"/>
              <a:t>www.cisco.com</a:t>
            </a:r>
            <a:r>
              <a:rPr lang="en-US" dirty="0"/>
              <a:t>/c/</a:t>
            </a:r>
            <a:r>
              <a:rPr lang="en-US" dirty="0" err="1"/>
              <a:t>en</a:t>
            </a:r>
            <a:r>
              <a:rPr lang="en-US" dirty="0"/>
              <a:t>/us/td/docs/</a:t>
            </a:r>
            <a:r>
              <a:rPr lang="en-US" dirty="0" err="1"/>
              <a:t>ios</a:t>
            </a:r>
            <a:r>
              <a:rPr lang="en-US" dirty="0"/>
              <a:t>-xml/</a:t>
            </a:r>
            <a:r>
              <a:rPr lang="en-US" dirty="0" err="1"/>
              <a:t>ios</a:t>
            </a:r>
            <a:r>
              <a:rPr lang="en-US" dirty="0"/>
              <a:t>/</a:t>
            </a:r>
            <a:r>
              <a:rPr lang="en-US" dirty="0" err="1"/>
              <a:t>iproute_isis</a:t>
            </a:r>
            <a:r>
              <a:rPr lang="en-US" dirty="0"/>
              <a:t>/configuration/</a:t>
            </a:r>
            <a:r>
              <a:rPr lang="en-US" dirty="0" err="1"/>
              <a:t>xe</a:t>
            </a:r>
            <a:r>
              <a:rPr lang="en-US" dirty="0"/>
              <a:t>-16-8/</a:t>
            </a:r>
            <a:r>
              <a:rPr lang="en-US" dirty="0" err="1"/>
              <a:t>irs</a:t>
            </a:r>
            <a:r>
              <a:rPr lang="en-US" dirty="0"/>
              <a:t>-</a:t>
            </a:r>
            <a:r>
              <a:rPr lang="en-US" dirty="0" err="1"/>
              <a:t>xe</a:t>
            </a:r>
            <a:r>
              <a:rPr lang="en-US" dirty="0"/>
              <a:t>-16-8-book/irs-is-is-advertise-ipv6-link-endpoint-info.html#concept_684520228162096332835017683300751</a:t>
            </a:r>
          </a:p>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281</a:t>
            </a:fld>
            <a:endParaRPr lang="cs-CZ"/>
          </a:p>
        </p:txBody>
      </p:sp>
    </p:spTree>
    <p:extLst>
      <p:ext uri="{BB962C8B-B14F-4D97-AF65-F5344CB8AC3E}">
        <p14:creationId xmlns:p14="http://schemas.microsoft.com/office/powerpoint/2010/main" val="51269679"/>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283</a:t>
            </a:fld>
            <a:endParaRPr lang="cs-CZ"/>
          </a:p>
        </p:txBody>
      </p:sp>
    </p:spTree>
    <p:extLst>
      <p:ext uri="{BB962C8B-B14F-4D97-AF65-F5344CB8AC3E}">
        <p14:creationId xmlns:p14="http://schemas.microsoft.com/office/powerpoint/2010/main" val="4255714534"/>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285</a:t>
            </a:fld>
            <a:endParaRPr lang="cs-CZ"/>
          </a:p>
        </p:txBody>
      </p:sp>
    </p:spTree>
    <p:extLst>
      <p:ext uri="{BB962C8B-B14F-4D97-AF65-F5344CB8AC3E}">
        <p14:creationId xmlns:p14="http://schemas.microsoft.com/office/powerpoint/2010/main" val="1594934954"/>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286</a:t>
            </a:fld>
            <a:endParaRPr lang="cs-CZ"/>
          </a:p>
        </p:txBody>
      </p:sp>
    </p:spTree>
    <p:extLst>
      <p:ext uri="{BB962C8B-B14F-4D97-AF65-F5344CB8AC3E}">
        <p14:creationId xmlns:p14="http://schemas.microsoft.com/office/powerpoint/2010/main" val="1346450966"/>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287</a:t>
            </a:fld>
            <a:endParaRPr lang="cs-CZ"/>
          </a:p>
        </p:txBody>
      </p:sp>
    </p:spTree>
    <p:extLst>
      <p:ext uri="{BB962C8B-B14F-4D97-AF65-F5344CB8AC3E}">
        <p14:creationId xmlns:p14="http://schemas.microsoft.com/office/powerpoint/2010/main" val="660589217"/>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291</a:t>
            </a:fld>
            <a:endParaRPr lang="cs-CZ"/>
          </a:p>
        </p:txBody>
      </p:sp>
    </p:spTree>
    <p:extLst>
      <p:ext uri="{BB962C8B-B14F-4D97-AF65-F5344CB8AC3E}">
        <p14:creationId xmlns:p14="http://schemas.microsoft.com/office/powerpoint/2010/main" val="137979381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294</a:t>
            </a:fld>
            <a:endParaRPr lang="cs-CZ"/>
          </a:p>
        </p:txBody>
      </p:sp>
    </p:spTree>
    <p:extLst>
      <p:ext uri="{BB962C8B-B14F-4D97-AF65-F5344CB8AC3E}">
        <p14:creationId xmlns:p14="http://schemas.microsoft.com/office/powerpoint/2010/main" val="738163648"/>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301</a:t>
            </a:fld>
            <a:endParaRPr lang="cs-CZ"/>
          </a:p>
        </p:txBody>
      </p:sp>
    </p:spTree>
    <p:extLst>
      <p:ext uri="{BB962C8B-B14F-4D97-AF65-F5344CB8AC3E}">
        <p14:creationId xmlns:p14="http://schemas.microsoft.com/office/powerpoint/2010/main" val="3313402412"/>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305</a:t>
            </a:fld>
            <a:endParaRPr lang="cs-CZ"/>
          </a:p>
        </p:txBody>
      </p:sp>
    </p:spTree>
    <p:extLst>
      <p:ext uri="{BB962C8B-B14F-4D97-AF65-F5344CB8AC3E}">
        <p14:creationId xmlns:p14="http://schemas.microsoft.com/office/powerpoint/2010/main" val="4100116528"/>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306</a:t>
            </a:fld>
            <a:endParaRPr lang="cs-CZ"/>
          </a:p>
        </p:txBody>
      </p:sp>
    </p:spTree>
    <p:extLst>
      <p:ext uri="{BB962C8B-B14F-4D97-AF65-F5344CB8AC3E}">
        <p14:creationId xmlns:p14="http://schemas.microsoft.com/office/powerpoint/2010/main" val="1934513307"/>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307</a:t>
            </a:fld>
            <a:endParaRPr lang="cs-CZ"/>
          </a:p>
        </p:txBody>
      </p:sp>
    </p:spTree>
    <p:extLst>
      <p:ext uri="{BB962C8B-B14F-4D97-AF65-F5344CB8AC3E}">
        <p14:creationId xmlns:p14="http://schemas.microsoft.com/office/powerpoint/2010/main" val="1353078699"/>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308</a:t>
            </a:fld>
            <a:endParaRPr lang="cs-CZ"/>
          </a:p>
        </p:txBody>
      </p:sp>
    </p:spTree>
    <p:extLst>
      <p:ext uri="{BB962C8B-B14F-4D97-AF65-F5344CB8AC3E}">
        <p14:creationId xmlns:p14="http://schemas.microsoft.com/office/powerpoint/2010/main" val="1882273613"/>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309</a:t>
            </a:fld>
            <a:endParaRPr lang="cs-CZ"/>
          </a:p>
        </p:txBody>
      </p:sp>
    </p:spTree>
    <p:extLst>
      <p:ext uri="{BB962C8B-B14F-4D97-AF65-F5344CB8AC3E}">
        <p14:creationId xmlns:p14="http://schemas.microsoft.com/office/powerpoint/2010/main" val="1633346312"/>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312</a:t>
            </a:fld>
            <a:endParaRPr lang="cs-CZ"/>
          </a:p>
        </p:txBody>
      </p:sp>
    </p:spTree>
    <p:extLst>
      <p:ext uri="{BB962C8B-B14F-4D97-AF65-F5344CB8AC3E}">
        <p14:creationId xmlns:p14="http://schemas.microsoft.com/office/powerpoint/2010/main" val="1825371338"/>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1A444-F3BB-4215-8D61-19749E97F2CD}" type="slidenum">
              <a:rPr lang="cs-CZ" smtClean="0"/>
              <a:t>316</a:t>
            </a:fld>
            <a:endParaRPr lang="cs-CZ"/>
          </a:p>
        </p:txBody>
      </p:sp>
    </p:spTree>
    <p:extLst>
      <p:ext uri="{BB962C8B-B14F-4D97-AF65-F5344CB8AC3E}">
        <p14:creationId xmlns:p14="http://schemas.microsoft.com/office/powerpoint/2010/main" val="356295502"/>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10"/>
          </p:nvPr>
        </p:nvSpPr>
        <p:spPr/>
        <p:txBody>
          <a:bodyPr/>
          <a:lstStyle/>
          <a:p>
            <a:fld id="{8211A444-F3BB-4215-8D61-19749E97F2CD}" type="slidenum">
              <a:rPr lang="cs-CZ" smtClean="0"/>
              <a:t>317</a:t>
            </a:fld>
            <a:endParaRPr lang="cs-CZ"/>
          </a:p>
        </p:txBody>
      </p:sp>
    </p:spTree>
    <p:extLst>
      <p:ext uri="{BB962C8B-B14F-4D97-AF65-F5344CB8AC3E}">
        <p14:creationId xmlns:p14="http://schemas.microsoft.com/office/powerpoint/2010/main" val="3335112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lightgreen">
    <p:bg>
      <p:bgPr>
        <a:solidFill>
          <a:srgbClr val="CCEEE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1386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extSpace-lightgreen">
    <p:bg>
      <p:bgPr>
        <a:solidFill>
          <a:srgbClr val="CCEEED"/>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62CE3E4-DAF8-C748-9394-D6B54CA66E96}"/>
              </a:ext>
            </a:extLst>
          </p:cNvPr>
          <p:cNvSpPr>
            <a:spLocks noGrp="1"/>
          </p:cNvSpPr>
          <p:nvPr>
            <p:ph type="body" sz="quarter" idx="10"/>
          </p:nvPr>
        </p:nvSpPr>
        <p:spPr>
          <a:xfrm>
            <a:off x="873918" y="737997"/>
            <a:ext cx="10444163" cy="5145087"/>
          </a:xfrm>
          <a:prstGeom prst="rect">
            <a:avLst/>
          </a:prstGeom>
        </p:spPr>
        <p:txBody>
          <a:bodyPr/>
          <a:lstStyle>
            <a:lvl1pPr algn="l">
              <a:lnSpc>
                <a:spcPct val="150000"/>
              </a:lnSpc>
              <a:spcAft>
                <a:spcPts val="0"/>
              </a:spcAft>
              <a:defRPr sz="2000" b="0"/>
            </a:lvl1pPr>
            <a:lvl2pPr algn="l">
              <a:lnSpc>
                <a:spcPct val="150000"/>
              </a:lnSpc>
              <a:spcAft>
                <a:spcPts val="0"/>
              </a:spcAft>
              <a:defRPr sz="2000" b="0"/>
            </a:lvl2pPr>
            <a:lvl3pPr algn="l">
              <a:lnSpc>
                <a:spcPct val="150000"/>
              </a:lnSpc>
              <a:spcAft>
                <a:spcPts val="0"/>
              </a:spcAft>
              <a:defRPr sz="2000" b="0"/>
            </a:lvl3pPr>
            <a:lvl4pPr algn="l">
              <a:lnSpc>
                <a:spcPct val="150000"/>
              </a:lnSpc>
              <a:spcAft>
                <a:spcPts val="0"/>
              </a:spcAft>
              <a:defRPr sz="2000" b="0"/>
            </a:lvl4pPr>
            <a:lvl5pPr algn="l">
              <a:lnSpc>
                <a:spcPct val="150000"/>
              </a:lnSpc>
              <a:spcAft>
                <a:spcPts val="0"/>
              </a:spcAft>
              <a:defRPr sz="2000" b="0"/>
            </a:lvl5p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cs-CZ" dirty="0"/>
          </a:p>
        </p:txBody>
      </p:sp>
    </p:spTree>
    <p:extLst>
      <p:ext uri="{BB962C8B-B14F-4D97-AF65-F5344CB8AC3E}">
        <p14:creationId xmlns:p14="http://schemas.microsoft.com/office/powerpoint/2010/main" val="4182547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adpis a obsah lite green">
    <p:bg>
      <p:bgPr>
        <a:solidFill>
          <a:srgbClr val="CCEEED"/>
        </a:solidFill>
        <a:effectLst/>
      </p:bgPr>
    </p:bg>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50298250-9A19-0949-AE14-5BE71E3D6227}"/>
              </a:ext>
            </a:extLst>
          </p:cNvPr>
          <p:cNvSpPr>
            <a:spLocks noGrp="1"/>
          </p:cNvSpPr>
          <p:nvPr>
            <p:ph type="body" sz="quarter" idx="10"/>
          </p:nvPr>
        </p:nvSpPr>
        <p:spPr>
          <a:xfrm>
            <a:off x="873918" y="1542361"/>
            <a:ext cx="10444163" cy="4340723"/>
          </a:xfrm>
          <a:prstGeom prst="rect">
            <a:avLst/>
          </a:prstGeom>
        </p:spPr>
        <p:txBody>
          <a:bodyPr/>
          <a:lstStyle>
            <a:lvl1pPr marL="285750" indent="-285750" algn="l">
              <a:lnSpc>
                <a:spcPct val="150000"/>
              </a:lnSpc>
              <a:buClr>
                <a:schemeClr val="tx2"/>
              </a:buClr>
              <a:buFont typeface="Arial" panose="020B0604020202020204" pitchFamily="34" charset="0"/>
              <a:buChar char="•"/>
              <a:defRPr sz="2400" b="0">
                <a:solidFill>
                  <a:schemeClr val="tx1"/>
                </a:solidFill>
              </a:defRPr>
            </a:lvl1pPr>
            <a:lvl2pPr marL="742950" indent="-285750" algn="l">
              <a:lnSpc>
                <a:spcPct val="150000"/>
              </a:lnSpc>
              <a:buClr>
                <a:schemeClr val="tx2"/>
              </a:buClr>
              <a:buFont typeface="Arial" panose="020B0604020202020204" pitchFamily="34" charset="0"/>
              <a:buChar char="•"/>
              <a:defRPr sz="2400" b="0">
                <a:solidFill>
                  <a:schemeClr val="tx1"/>
                </a:solidFill>
              </a:defRPr>
            </a:lvl2pPr>
            <a:lvl3pPr marL="1200150" indent="-285750" algn="l">
              <a:lnSpc>
                <a:spcPct val="150000"/>
              </a:lnSpc>
              <a:buClr>
                <a:schemeClr val="tx2"/>
              </a:buClr>
              <a:buFont typeface="Arial" panose="020B0604020202020204" pitchFamily="34" charset="0"/>
              <a:buChar char="•"/>
              <a:defRPr sz="2400" b="0">
                <a:solidFill>
                  <a:schemeClr val="tx1"/>
                </a:solidFill>
              </a:defRPr>
            </a:lvl3pPr>
            <a:lvl4pPr marL="1657350" indent="-285750" algn="l">
              <a:lnSpc>
                <a:spcPct val="150000"/>
              </a:lnSpc>
              <a:buClr>
                <a:schemeClr val="tx2"/>
              </a:buClr>
              <a:buFont typeface="Arial" panose="020B0604020202020204" pitchFamily="34" charset="0"/>
              <a:buChar char="•"/>
              <a:defRPr sz="2400" b="0">
                <a:solidFill>
                  <a:schemeClr val="tx1"/>
                </a:solidFill>
              </a:defRPr>
            </a:lvl4pPr>
            <a:lvl5pPr marL="2114550" indent="-285750" algn="l">
              <a:lnSpc>
                <a:spcPct val="150000"/>
              </a:lnSpc>
              <a:buClr>
                <a:schemeClr val="tx2"/>
              </a:buClr>
              <a:buFont typeface="Arial" panose="020B0604020202020204" pitchFamily="34" charset="0"/>
              <a:buChar char="•"/>
              <a:defRPr sz="2400" b="0">
                <a:solidFill>
                  <a:schemeClr val="tx1"/>
                </a:solidFill>
              </a:defRPr>
            </a:lvl5p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5" name="Text Placeholder 2">
            <a:extLst>
              <a:ext uri="{FF2B5EF4-FFF2-40B4-BE49-F238E27FC236}">
                <a16:creationId xmlns:a16="http://schemas.microsoft.com/office/drawing/2014/main" id="{6E5DB4FF-4856-D740-AFF2-12503AAF5D6A}"/>
              </a:ext>
            </a:extLst>
          </p:cNvPr>
          <p:cNvSpPr>
            <a:spLocks noGrp="1"/>
          </p:cNvSpPr>
          <p:nvPr>
            <p:ph type="body" sz="quarter" idx="11" hasCustomPrompt="1"/>
          </p:nvPr>
        </p:nvSpPr>
        <p:spPr>
          <a:xfrm>
            <a:off x="873918" y="571041"/>
            <a:ext cx="10444163" cy="773017"/>
          </a:xfrm>
          <a:prstGeom prst="rect">
            <a:avLst/>
          </a:prstGeom>
        </p:spPr>
        <p:txBody>
          <a:bodyPr/>
          <a:lstStyle>
            <a:lvl1pPr marL="0" indent="0" algn="l">
              <a:lnSpc>
                <a:spcPct val="150000"/>
              </a:lnSpc>
              <a:buFont typeface="Arial" panose="020B0604020202020204" pitchFamily="34" charset="0"/>
              <a:buNone/>
              <a:defRPr sz="3600" b="1"/>
            </a:lvl1pPr>
            <a:lvl2pPr marL="742950" indent="-285750" algn="l">
              <a:lnSpc>
                <a:spcPct val="150000"/>
              </a:lnSpc>
              <a:buFont typeface="Arial" panose="020B0604020202020204" pitchFamily="34" charset="0"/>
              <a:buChar char="•"/>
              <a:defRPr sz="2400" b="0"/>
            </a:lvl2pPr>
            <a:lvl3pPr marL="1200150" indent="-285750" algn="l">
              <a:lnSpc>
                <a:spcPct val="150000"/>
              </a:lnSpc>
              <a:buFont typeface="Arial" panose="020B0604020202020204" pitchFamily="34" charset="0"/>
              <a:buChar char="•"/>
              <a:defRPr sz="2400" b="0"/>
            </a:lvl3pPr>
            <a:lvl4pPr marL="1657350" indent="-285750" algn="l">
              <a:lnSpc>
                <a:spcPct val="150000"/>
              </a:lnSpc>
              <a:buFont typeface="Arial" panose="020B0604020202020204" pitchFamily="34" charset="0"/>
              <a:buChar char="•"/>
              <a:defRPr sz="2400" b="0"/>
            </a:lvl4pPr>
            <a:lvl5pPr marL="2114550" indent="-285750" algn="l">
              <a:lnSpc>
                <a:spcPct val="150000"/>
              </a:lnSpc>
              <a:buFont typeface="Arial" panose="020B0604020202020204" pitchFamily="34" charset="0"/>
              <a:buChar char="•"/>
              <a:defRPr sz="2400" b="0"/>
            </a:lvl5pPr>
          </a:lstStyle>
          <a:p>
            <a:pPr lvl="0"/>
            <a:r>
              <a:rPr lang="cs-CZ" dirty="0"/>
              <a:t>Nadpis</a:t>
            </a:r>
          </a:p>
        </p:txBody>
      </p:sp>
    </p:spTree>
    <p:extLst>
      <p:ext uri="{BB962C8B-B14F-4D97-AF65-F5344CB8AC3E}">
        <p14:creationId xmlns:p14="http://schemas.microsoft.com/office/powerpoint/2010/main" val="35023748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whit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4571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extSpace-white">
    <p:bg>
      <p:bgPr>
        <a:solidFill>
          <a:schemeClr val="bg1"/>
        </a:solid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32516FBF-3607-9D48-9974-5A1F128114A1}"/>
              </a:ext>
            </a:extLst>
          </p:cNvPr>
          <p:cNvSpPr>
            <a:spLocks noGrp="1"/>
          </p:cNvSpPr>
          <p:nvPr>
            <p:ph type="body" sz="quarter" idx="10"/>
          </p:nvPr>
        </p:nvSpPr>
        <p:spPr>
          <a:xfrm>
            <a:off x="873918" y="737997"/>
            <a:ext cx="10444163" cy="5145087"/>
          </a:xfrm>
          <a:prstGeom prst="rect">
            <a:avLst/>
          </a:prstGeom>
        </p:spPr>
        <p:txBody>
          <a:bodyPr/>
          <a:lstStyle>
            <a:lvl1pPr algn="l">
              <a:lnSpc>
                <a:spcPct val="150000"/>
              </a:lnSpc>
              <a:defRPr sz="2000" b="0"/>
            </a:lvl1pPr>
            <a:lvl2pPr algn="l">
              <a:lnSpc>
                <a:spcPct val="150000"/>
              </a:lnSpc>
              <a:defRPr sz="2000" b="0"/>
            </a:lvl2pPr>
            <a:lvl3pPr algn="l">
              <a:lnSpc>
                <a:spcPct val="150000"/>
              </a:lnSpc>
              <a:defRPr sz="2000" b="0"/>
            </a:lvl3pPr>
            <a:lvl4pPr algn="l">
              <a:lnSpc>
                <a:spcPct val="150000"/>
              </a:lnSpc>
              <a:defRPr sz="2000" b="0"/>
            </a:lvl4pPr>
            <a:lvl5pPr algn="l">
              <a:lnSpc>
                <a:spcPct val="150000"/>
              </a:lnSpc>
              <a:defRPr sz="2000" b="0"/>
            </a:lvl5p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cs-CZ" dirty="0"/>
          </a:p>
        </p:txBody>
      </p:sp>
    </p:spTree>
    <p:extLst>
      <p:ext uri="{BB962C8B-B14F-4D97-AF65-F5344CB8AC3E}">
        <p14:creationId xmlns:p14="http://schemas.microsoft.com/office/powerpoint/2010/main" val="3033001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Nadpis a obsah">
    <p:bg>
      <p:bgPr>
        <a:solidFill>
          <a:schemeClr val="bg1"/>
        </a:solid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32516FBF-3607-9D48-9974-5A1F128114A1}"/>
              </a:ext>
            </a:extLst>
          </p:cNvPr>
          <p:cNvSpPr>
            <a:spLocks noGrp="1"/>
          </p:cNvSpPr>
          <p:nvPr>
            <p:ph type="body" sz="quarter" idx="10"/>
          </p:nvPr>
        </p:nvSpPr>
        <p:spPr>
          <a:xfrm>
            <a:off x="873918" y="939338"/>
            <a:ext cx="10444163" cy="5345083"/>
          </a:xfrm>
          <a:prstGeom prst="rect">
            <a:avLst/>
          </a:prstGeom>
        </p:spPr>
        <p:txBody>
          <a:bodyPr/>
          <a:lstStyle>
            <a:lvl1pPr marL="285750" indent="-285750" algn="l">
              <a:lnSpc>
                <a:spcPct val="100000"/>
              </a:lnSpc>
              <a:buClr>
                <a:schemeClr val="tx2"/>
              </a:buClr>
              <a:buFont typeface="Arial" panose="020B0604020202020204" pitchFamily="34" charset="0"/>
              <a:buChar char="•"/>
              <a:defRPr sz="2400" b="0">
                <a:solidFill>
                  <a:schemeClr val="tx1"/>
                </a:solidFill>
              </a:defRPr>
            </a:lvl1pPr>
            <a:lvl2pPr marL="800100" indent="-342900" algn="l">
              <a:lnSpc>
                <a:spcPct val="100000"/>
              </a:lnSpc>
              <a:buClr>
                <a:schemeClr val="tx2"/>
              </a:buClr>
              <a:buFont typeface="Arial" panose="020B0604020202020204" pitchFamily="34" charset="0"/>
              <a:buChar char="–"/>
              <a:defRPr sz="2400" b="0">
                <a:solidFill>
                  <a:schemeClr val="tx1"/>
                </a:solidFill>
              </a:defRPr>
            </a:lvl2pPr>
            <a:lvl3pPr marL="1200150" indent="-285750" algn="l">
              <a:lnSpc>
                <a:spcPct val="100000"/>
              </a:lnSpc>
              <a:buClr>
                <a:schemeClr val="tx2"/>
              </a:buClr>
              <a:buFont typeface="Wingdings" panose="05000000000000000000" pitchFamily="2" charset="2"/>
              <a:buChar char="§"/>
              <a:defRPr sz="2400" b="0">
                <a:solidFill>
                  <a:schemeClr val="tx1"/>
                </a:solidFill>
              </a:defRPr>
            </a:lvl3pPr>
            <a:lvl4pPr marL="1657350" indent="-285750" algn="l">
              <a:lnSpc>
                <a:spcPct val="100000"/>
              </a:lnSpc>
              <a:buClr>
                <a:schemeClr val="tx2"/>
              </a:buClr>
              <a:buFont typeface="Courier New" panose="02070309020205020404" pitchFamily="49" charset="0"/>
              <a:buChar char="o"/>
              <a:defRPr sz="2400" b="0">
                <a:solidFill>
                  <a:schemeClr val="tx1"/>
                </a:solidFill>
              </a:defRPr>
            </a:lvl4pPr>
            <a:lvl5pPr marL="2114550" indent="-285750" algn="l">
              <a:lnSpc>
                <a:spcPct val="100000"/>
              </a:lnSpc>
              <a:buClr>
                <a:schemeClr val="tx2"/>
              </a:buClr>
              <a:buFont typeface="Arial" panose="020B0604020202020204" pitchFamily="34" charset="0"/>
              <a:buChar char="•"/>
              <a:defRPr sz="2400" b="0">
                <a:solidFill>
                  <a:schemeClr val="tx1"/>
                </a:solidFill>
              </a:defRPr>
            </a:lvl5pPr>
          </a:lstStyle>
          <a:p>
            <a:pPr lvl="0"/>
            <a:r>
              <a:rPr lang="cs-CZ" dirty="0"/>
              <a:t>Upravte styly předlohy textu.</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3" name="Nadpis 1">
            <a:extLst>
              <a:ext uri="{FF2B5EF4-FFF2-40B4-BE49-F238E27FC236}">
                <a16:creationId xmlns:a16="http://schemas.microsoft.com/office/drawing/2014/main" id="{6B3829A0-BCE5-134F-AA65-977336962F0C}"/>
              </a:ext>
            </a:extLst>
          </p:cNvPr>
          <p:cNvSpPr>
            <a:spLocks noGrp="1"/>
          </p:cNvSpPr>
          <p:nvPr>
            <p:ph type="body" sz="quarter" idx="11" hasCustomPrompt="1"/>
          </p:nvPr>
        </p:nvSpPr>
        <p:spPr>
          <a:xfrm>
            <a:off x="873918" y="12461"/>
            <a:ext cx="10444163" cy="773017"/>
          </a:xfrm>
          <a:prstGeom prst="rect">
            <a:avLst/>
          </a:prstGeom>
        </p:spPr>
        <p:txBody>
          <a:bodyPr/>
          <a:lstStyle>
            <a:lvl1pPr marL="0" indent="0" algn="l">
              <a:lnSpc>
                <a:spcPct val="150000"/>
              </a:lnSpc>
              <a:buFont typeface="Arial" panose="020B0604020202020204" pitchFamily="34" charset="0"/>
              <a:buNone/>
              <a:defRPr sz="3600" b="1"/>
            </a:lvl1pPr>
            <a:lvl2pPr marL="742950" indent="-285750" algn="l">
              <a:lnSpc>
                <a:spcPct val="150000"/>
              </a:lnSpc>
              <a:buFont typeface="Arial" panose="020B0604020202020204" pitchFamily="34" charset="0"/>
              <a:buChar char="•"/>
              <a:defRPr sz="2400" b="0"/>
            </a:lvl2pPr>
            <a:lvl3pPr marL="1200150" indent="-285750" algn="l">
              <a:lnSpc>
                <a:spcPct val="150000"/>
              </a:lnSpc>
              <a:buFont typeface="Arial" panose="020B0604020202020204" pitchFamily="34" charset="0"/>
              <a:buChar char="•"/>
              <a:defRPr sz="2400" b="0"/>
            </a:lvl3pPr>
            <a:lvl4pPr marL="1657350" indent="-285750" algn="l">
              <a:lnSpc>
                <a:spcPct val="150000"/>
              </a:lnSpc>
              <a:buFont typeface="Arial" panose="020B0604020202020204" pitchFamily="34" charset="0"/>
              <a:buChar char="•"/>
              <a:defRPr sz="2400" b="0"/>
            </a:lvl4pPr>
            <a:lvl5pPr marL="2114550" indent="-285750" algn="l">
              <a:lnSpc>
                <a:spcPct val="150000"/>
              </a:lnSpc>
              <a:buFont typeface="Arial" panose="020B0604020202020204" pitchFamily="34" charset="0"/>
              <a:buChar char="•"/>
              <a:defRPr sz="2400" b="0"/>
            </a:lvl5pPr>
          </a:lstStyle>
          <a:p>
            <a:pPr lvl="0"/>
            <a:r>
              <a:rPr lang="cs-CZ" dirty="0"/>
              <a:t>Nadpis</a:t>
            </a:r>
          </a:p>
        </p:txBody>
      </p:sp>
      <p:sp>
        <p:nvSpPr>
          <p:cNvPr id="4" name="BlokTextu 10">
            <a:extLst>
              <a:ext uri="{FF2B5EF4-FFF2-40B4-BE49-F238E27FC236}">
                <a16:creationId xmlns:a16="http://schemas.microsoft.com/office/drawing/2014/main" id="{0A67F0DE-4C98-4F21-B1B1-3A8F398A15D7}"/>
              </a:ext>
            </a:extLst>
          </p:cNvPr>
          <p:cNvSpPr txBox="1"/>
          <p:nvPr userDrawn="1"/>
        </p:nvSpPr>
        <p:spPr>
          <a:xfrm>
            <a:off x="11853949" y="6431973"/>
            <a:ext cx="338051" cy="207818"/>
          </a:xfrm>
          <a:prstGeom prst="rect">
            <a:avLst/>
          </a:prstGeom>
        </p:spPr>
        <p:txBody>
          <a:bodyPr vert="horz" wrap="square" lIns="0" tIns="45720" rIns="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fld id="{B0E1C688-2A94-4C23-89D7-1BDBDDABE19E}" type="slidenum">
              <a:rPr lang="en-US" sz="950" b="0" kern="1200" noProof="0" smtClean="0">
                <a:solidFill>
                  <a:schemeClr val="bg1">
                    <a:lumMod val="50000"/>
                  </a:schemeClr>
                </a:solidFill>
                <a:latin typeface="+mn-lt"/>
                <a:ea typeface="+mn-ea"/>
                <a:cs typeface="+mn-cs"/>
              </a:rPr>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t>‹#›</a:t>
            </a:fld>
            <a:endParaRPr lang="en-US" sz="950" b="0" kern="1200" noProof="0" dirty="0">
              <a:solidFill>
                <a:schemeClr val="bg1">
                  <a:lumMod val="50000"/>
                </a:schemeClr>
              </a:solidFill>
              <a:latin typeface="+mn-lt"/>
              <a:ea typeface="+mn-ea"/>
              <a:cs typeface="+mn-cs"/>
            </a:endParaRPr>
          </a:p>
        </p:txBody>
      </p:sp>
    </p:spTree>
    <p:extLst>
      <p:ext uri="{BB962C8B-B14F-4D97-AF65-F5344CB8AC3E}">
        <p14:creationId xmlns:p14="http://schemas.microsoft.com/office/powerpoint/2010/main" val="1909004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Nadpis a obsah">
    <p:bg>
      <p:bgPr>
        <a:solidFill>
          <a:schemeClr val="bg1"/>
        </a:solid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32516FBF-3607-9D48-9974-5A1F128114A1}"/>
              </a:ext>
            </a:extLst>
          </p:cNvPr>
          <p:cNvSpPr>
            <a:spLocks noGrp="1"/>
          </p:cNvSpPr>
          <p:nvPr>
            <p:ph type="body" sz="quarter" idx="10"/>
          </p:nvPr>
        </p:nvSpPr>
        <p:spPr>
          <a:xfrm>
            <a:off x="873918" y="947651"/>
            <a:ext cx="5179641" cy="5345084"/>
          </a:xfrm>
          <a:prstGeom prst="rect">
            <a:avLst/>
          </a:prstGeom>
        </p:spPr>
        <p:txBody>
          <a:bodyPr/>
          <a:lstStyle>
            <a:lvl1pPr marL="285750" indent="-285750" algn="l">
              <a:lnSpc>
                <a:spcPct val="100000"/>
              </a:lnSpc>
              <a:buClr>
                <a:schemeClr val="tx2"/>
              </a:buClr>
              <a:buFont typeface="Arial" panose="020B0604020202020204" pitchFamily="34" charset="0"/>
              <a:buChar char="•"/>
              <a:defRPr sz="2400" b="0">
                <a:solidFill>
                  <a:schemeClr val="tx1"/>
                </a:solidFill>
              </a:defRPr>
            </a:lvl1pPr>
            <a:lvl2pPr marL="800100" indent="-342900" algn="l">
              <a:lnSpc>
                <a:spcPct val="100000"/>
              </a:lnSpc>
              <a:buClr>
                <a:schemeClr val="tx2"/>
              </a:buClr>
              <a:buFont typeface="Arial" panose="020B0604020202020204" pitchFamily="34" charset="0"/>
              <a:buChar char="–"/>
              <a:defRPr sz="2400" b="0">
                <a:solidFill>
                  <a:schemeClr val="tx1"/>
                </a:solidFill>
              </a:defRPr>
            </a:lvl2pPr>
            <a:lvl3pPr marL="1200150" indent="-285750" algn="l">
              <a:lnSpc>
                <a:spcPct val="100000"/>
              </a:lnSpc>
              <a:buClr>
                <a:schemeClr val="tx2"/>
              </a:buClr>
              <a:buFont typeface="Wingdings" panose="05000000000000000000" pitchFamily="2" charset="2"/>
              <a:buChar char="§"/>
              <a:defRPr sz="2400" b="0">
                <a:solidFill>
                  <a:schemeClr val="tx1"/>
                </a:solidFill>
              </a:defRPr>
            </a:lvl3pPr>
            <a:lvl4pPr marL="1714500" indent="-342900" algn="l">
              <a:lnSpc>
                <a:spcPct val="100000"/>
              </a:lnSpc>
              <a:buClr>
                <a:schemeClr val="tx2"/>
              </a:buClr>
              <a:buFont typeface="Courier New" panose="02070309020205020404" pitchFamily="49" charset="0"/>
              <a:buChar char="o"/>
              <a:defRPr sz="2400" b="0">
                <a:solidFill>
                  <a:schemeClr val="tx1"/>
                </a:solidFill>
              </a:defRPr>
            </a:lvl4pPr>
            <a:lvl5pPr marL="2114550" indent="-285750" algn="l">
              <a:lnSpc>
                <a:spcPct val="100000"/>
              </a:lnSpc>
              <a:buClr>
                <a:schemeClr val="tx2"/>
              </a:buClr>
              <a:buFont typeface="Arial" panose="020B0604020202020204" pitchFamily="34" charset="0"/>
              <a:buChar char="•"/>
              <a:defRPr sz="2400" b="0">
                <a:solidFill>
                  <a:schemeClr val="tx1"/>
                </a:solidFill>
              </a:defRPr>
            </a:lvl5pPr>
          </a:lstStyle>
          <a:p>
            <a:pPr lvl="0"/>
            <a:r>
              <a:rPr lang="cs-CZ" dirty="0"/>
              <a:t>Upravte styly předlohy textu.</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3" name="Nadpis 1">
            <a:extLst>
              <a:ext uri="{FF2B5EF4-FFF2-40B4-BE49-F238E27FC236}">
                <a16:creationId xmlns:a16="http://schemas.microsoft.com/office/drawing/2014/main" id="{6B3829A0-BCE5-134F-AA65-977336962F0C}"/>
              </a:ext>
            </a:extLst>
          </p:cNvPr>
          <p:cNvSpPr>
            <a:spLocks noGrp="1"/>
          </p:cNvSpPr>
          <p:nvPr>
            <p:ph type="body" sz="quarter" idx="11" hasCustomPrompt="1"/>
          </p:nvPr>
        </p:nvSpPr>
        <p:spPr>
          <a:xfrm>
            <a:off x="873918" y="5760"/>
            <a:ext cx="10444163" cy="773017"/>
          </a:xfrm>
          <a:prstGeom prst="rect">
            <a:avLst/>
          </a:prstGeom>
        </p:spPr>
        <p:txBody>
          <a:bodyPr/>
          <a:lstStyle>
            <a:lvl1pPr marL="0" indent="0" algn="l">
              <a:lnSpc>
                <a:spcPct val="150000"/>
              </a:lnSpc>
              <a:buFont typeface="Arial" panose="020B0604020202020204" pitchFamily="34" charset="0"/>
              <a:buNone/>
              <a:defRPr sz="3600" b="1"/>
            </a:lvl1pPr>
            <a:lvl2pPr marL="742950" indent="-285750" algn="l">
              <a:lnSpc>
                <a:spcPct val="150000"/>
              </a:lnSpc>
              <a:buFont typeface="Arial" panose="020B0604020202020204" pitchFamily="34" charset="0"/>
              <a:buChar char="•"/>
              <a:defRPr sz="2400" b="0"/>
            </a:lvl2pPr>
            <a:lvl3pPr marL="1200150" indent="-285750" algn="l">
              <a:lnSpc>
                <a:spcPct val="150000"/>
              </a:lnSpc>
              <a:buFont typeface="Arial" panose="020B0604020202020204" pitchFamily="34" charset="0"/>
              <a:buChar char="•"/>
              <a:defRPr sz="2400" b="0"/>
            </a:lvl3pPr>
            <a:lvl4pPr marL="1657350" indent="-285750" algn="l">
              <a:lnSpc>
                <a:spcPct val="150000"/>
              </a:lnSpc>
              <a:buFont typeface="Arial" panose="020B0604020202020204" pitchFamily="34" charset="0"/>
              <a:buChar char="•"/>
              <a:defRPr sz="2400" b="0"/>
            </a:lvl4pPr>
            <a:lvl5pPr marL="2114550" indent="-285750" algn="l">
              <a:lnSpc>
                <a:spcPct val="150000"/>
              </a:lnSpc>
              <a:buFont typeface="Arial" panose="020B0604020202020204" pitchFamily="34" charset="0"/>
              <a:buChar char="•"/>
              <a:defRPr sz="2400" b="0"/>
            </a:lvl5pPr>
          </a:lstStyle>
          <a:p>
            <a:pPr lvl="0"/>
            <a:r>
              <a:rPr lang="cs-CZ" dirty="0"/>
              <a:t>Nadpis</a:t>
            </a:r>
          </a:p>
        </p:txBody>
      </p:sp>
      <p:sp>
        <p:nvSpPr>
          <p:cNvPr id="4" name="BlokTextu 10">
            <a:extLst>
              <a:ext uri="{FF2B5EF4-FFF2-40B4-BE49-F238E27FC236}">
                <a16:creationId xmlns:a16="http://schemas.microsoft.com/office/drawing/2014/main" id="{0A67F0DE-4C98-4F21-B1B1-3A8F398A15D7}"/>
              </a:ext>
            </a:extLst>
          </p:cNvPr>
          <p:cNvSpPr txBox="1"/>
          <p:nvPr userDrawn="1"/>
        </p:nvSpPr>
        <p:spPr>
          <a:xfrm>
            <a:off x="11853949" y="6431973"/>
            <a:ext cx="338051" cy="207818"/>
          </a:xfrm>
          <a:prstGeom prst="rect">
            <a:avLst/>
          </a:prstGeom>
        </p:spPr>
        <p:txBody>
          <a:bodyPr vert="horz" wrap="square" lIns="0" tIns="45720" rIns="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fld id="{B0E1C688-2A94-4C23-89D7-1BDBDDABE19E}" type="slidenum">
              <a:rPr lang="en-US" sz="950" b="0" kern="1200" noProof="0" smtClean="0">
                <a:solidFill>
                  <a:schemeClr val="bg1">
                    <a:lumMod val="50000"/>
                  </a:schemeClr>
                </a:solidFill>
                <a:latin typeface="+mn-lt"/>
                <a:ea typeface="+mn-ea"/>
                <a:cs typeface="+mn-cs"/>
              </a:rPr>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t>‹#›</a:t>
            </a:fld>
            <a:endParaRPr lang="en-US" sz="950" b="0" kern="1200" noProof="0" dirty="0">
              <a:solidFill>
                <a:schemeClr val="bg1">
                  <a:lumMod val="50000"/>
                </a:schemeClr>
              </a:solidFill>
              <a:latin typeface="+mn-lt"/>
              <a:ea typeface="+mn-ea"/>
              <a:cs typeface="+mn-cs"/>
            </a:endParaRPr>
          </a:p>
        </p:txBody>
      </p:sp>
      <p:sp>
        <p:nvSpPr>
          <p:cNvPr id="5" name="Text Placeholder 2">
            <a:extLst>
              <a:ext uri="{FF2B5EF4-FFF2-40B4-BE49-F238E27FC236}">
                <a16:creationId xmlns:a16="http://schemas.microsoft.com/office/drawing/2014/main" id="{32516FBF-3607-9D48-9974-5A1F128114A1}"/>
              </a:ext>
            </a:extLst>
          </p:cNvPr>
          <p:cNvSpPr>
            <a:spLocks noGrp="1"/>
          </p:cNvSpPr>
          <p:nvPr>
            <p:ph type="body" sz="quarter" idx="12"/>
          </p:nvPr>
        </p:nvSpPr>
        <p:spPr>
          <a:xfrm>
            <a:off x="6204030" y="947651"/>
            <a:ext cx="5114051" cy="5345084"/>
          </a:xfrm>
          <a:prstGeom prst="rect">
            <a:avLst/>
          </a:prstGeom>
        </p:spPr>
        <p:txBody>
          <a:bodyPr/>
          <a:lstStyle>
            <a:lvl1pPr marL="285750" indent="-285750" algn="l">
              <a:lnSpc>
                <a:spcPct val="100000"/>
              </a:lnSpc>
              <a:buClr>
                <a:schemeClr val="tx2"/>
              </a:buClr>
              <a:buFont typeface="Arial" panose="020B0604020202020204" pitchFamily="34" charset="0"/>
              <a:buChar char="•"/>
              <a:defRPr sz="2400" b="0">
                <a:solidFill>
                  <a:schemeClr val="tx1"/>
                </a:solidFill>
              </a:defRPr>
            </a:lvl1pPr>
            <a:lvl2pPr marL="457200" indent="0" algn="l">
              <a:lnSpc>
                <a:spcPct val="100000"/>
              </a:lnSpc>
              <a:buClr>
                <a:schemeClr val="tx2"/>
              </a:buClr>
              <a:buFont typeface="Arial" panose="020B0604020202020204" pitchFamily="34" charset="0"/>
              <a:buNone/>
              <a:defRPr lang="cs-CZ" sz="2400" b="0" kern="1200" dirty="0">
                <a:solidFill>
                  <a:schemeClr val="tx1"/>
                </a:solidFill>
                <a:latin typeface="+mn-lt"/>
                <a:ea typeface="+mn-ea"/>
                <a:cs typeface="+mn-cs"/>
              </a:defRPr>
            </a:lvl2pPr>
            <a:lvl3pPr marL="1200150" indent="-285750" algn="l">
              <a:lnSpc>
                <a:spcPct val="100000"/>
              </a:lnSpc>
              <a:buClr>
                <a:schemeClr val="tx2"/>
              </a:buClr>
              <a:buFont typeface="Arial" panose="020B0604020202020204" pitchFamily="34" charset="0"/>
              <a:buChar char="•"/>
              <a:defRPr lang="cs-CZ" sz="2400" b="0" kern="1200" dirty="0">
                <a:solidFill>
                  <a:schemeClr val="tx1"/>
                </a:solidFill>
                <a:latin typeface="+mn-lt"/>
                <a:ea typeface="+mn-ea"/>
                <a:cs typeface="+mn-cs"/>
              </a:defRPr>
            </a:lvl3pPr>
            <a:lvl4pPr marL="1657350" indent="-285750" algn="l">
              <a:lnSpc>
                <a:spcPct val="100000"/>
              </a:lnSpc>
              <a:buClr>
                <a:schemeClr val="tx2"/>
              </a:buClr>
              <a:buFont typeface="Arial" panose="020B0604020202020204" pitchFamily="34" charset="0"/>
              <a:buChar char="•"/>
              <a:defRPr lang="cs-CZ" sz="2400" b="0" kern="1200" dirty="0">
                <a:solidFill>
                  <a:schemeClr val="tx1"/>
                </a:solidFill>
                <a:latin typeface="+mn-lt"/>
                <a:ea typeface="+mn-ea"/>
                <a:cs typeface="+mn-cs"/>
              </a:defRPr>
            </a:lvl4pPr>
            <a:lvl5pPr marL="2114550" indent="-285750" algn="l">
              <a:lnSpc>
                <a:spcPct val="100000"/>
              </a:lnSpc>
              <a:buClr>
                <a:schemeClr val="tx2"/>
              </a:buClr>
              <a:buFont typeface="Arial" panose="020B0604020202020204" pitchFamily="34" charset="0"/>
              <a:buChar char="•"/>
              <a:defRPr sz="2400" b="0">
                <a:solidFill>
                  <a:schemeClr val="tx1"/>
                </a:solidFill>
              </a:defRPr>
            </a:lvl5pPr>
          </a:lstStyle>
          <a:p>
            <a:pPr lvl="0"/>
            <a:r>
              <a:rPr lang="cs-CZ" dirty="0"/>
              <a:t>Upravte styly předlohy textu.</a:t>
            </a:r>
          </a:p>
          <a:p>
            <a:pPr marL="800100" lvl="1" indent="-342900" algn="l" defTabSz="914400" rtl="0" eaLnBrk="1" latinLnBrk="0" hangingPunct="1">
              <a:lnSpc>
                <a:spcPct val="100000"/>
              </a:lnSpc>
              <a:spcBef>
                <a:spcPts val="500"/>
              </a:spcBef>
              <a:buClr>
                <a:schemeClr val="tx2"/>
              </a:buClr>
              <a:buFont typeface="Arial" panose="020B0604020202020204" pitchFamily="34" charset="0"/>
              <a:buChar char="–"/>
            </a:pPr>
            <a:r>
              <a:rPr lang="cs-CZ" dirty="0"/>
              <a:t>Druhá úroveň</a:t>
            </a:r>
          </a:p>
          <a:p>
            <a:pPr marL="1200150" lvl="2" indent="-285750" algn="l" defTabSz="914400" rtl="0" eaLnBrk="1" latinLnBrk="0" hangingPunct="1">
              <a:lnSpc>
                <a:spcPct val="100000"/>
              </a:lnSpc>
              <a:spcBef>
                <a:spcPts val="500"/>
              </a:spcBef>
              <a:buClr>
                <a:schemeClr val="tx2"/>
              </a:buClr>
              <a:buFont typeface="Wingdings" panose="05000000000000000000" pitchFamily="2" charset="2"/>
              <a:buChar char="§"/>
            </a:pPr>
            <a:r>
              <a:rPr lang="cs-CZ" dirty="0"/>
              <a:t>Třetí úroveň</a:t>
            </a:r>
          </a:p>
          <a:p>
            <a:pPr marL="1714500" lvl="3" indent="-342900" algn="l" defTabSz="914400" rtl="0" eaLnBrk="1" latinLnBrk="0" hangingPunct="1">
              <a:lnSpc>
                <a:spcPct val="100000"/>
              </a:lnSpc>
              <a:spcBef>
                <a:spcPts val="500"/>
              </a:spcBef>
              <a:buClr>
                <a:schemeClr val="tx2"/>
              </a:buClr>
              <a:buFont typeface="Courier New" panose="02070309020205020404" pitchFamily="49" charset="0"/>
              <a:buChar char="o"/>
            </a:pPr>
            <a:r>
              <a:rPr lang="cs-CZ" dirty="0"/>
              <a:t>Čtvrtá úroveň</a:t>
            </a:r>
          </a:p>
          <a:p>
            <a:pPr lvl="4"/>
            <a:r>
              <a:rPr lang="cs-CZ" dirty="0"/>
              <a:t>Pátá úroveň</a:t>
            </a:r>
          </a:p>
        </p:txBody>
      </p:sp>
    </p:spTree>
    <p:extLst>
      <p:ext uri="{BB962C8B-B14F-4D97-AF65-F5344CB8AC3E}">
        <p14:creationId xmlns:p14="http://schemas.microsoft.com/office/powerpoint/2010/main" val="3229541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Nadpis a obsah">
    <p:bg>
      <p:bgPr>
        <a:solidFill>
          <a:schemeClr val="bg1"/>
        </a:solid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32516FBF-3607-9D48-9974-5A1F128114A1}"/>
              </a:ext>
            </a:extLst>
          </p:cNvPr>
          <p:cNvSpPr>
            <a:spLocks noGrp="1"/>
          </p:cNvSpPr>
          <p:nvPr>
            <p:ph type="body" sz="quarter" idx="10"/>
          </p:nvPr>
        </p:nvSpPr>
        <p:spPr>
          <a:xfrm>
            <a:off x="873919" y="922713"/>
            <a:ext cx="4394272" cy="5345083"/>
          </a:xfrm>
          <a:prstGeom prst="rect">
            <a:avLst/>
          </a:prstGeom>
        </p:spPr>
        <p:txBody>
          <a:bodyPr/>
          <a:lstStyle>
            <a:lvl1pPr marL="285750" indent="-285750" algn="l">
              <a:lnSpc>
                <a:spcPct val="100000"/>
              </a:lnSpc>
              <a:buClr>
                <a:schemeClr val="tx2"/>
              </a:buClr>
              <a:buFont typeface="Arial" panose="020B0604020202020204" pitchFamily="34" charset="0"/>
              <a:buChar char="•"/>
              <a:defRPr sz="2400" b="0">
                <a:solidFill>
                  <a:schemeClr val="tx1"/>
                </a:solidFill>
              </a:defRPr>
            </a:lvl1pPr>
            <a:lvl2pPr marL="800100" indent="-342900" algn="l">
              <a:lnSpc>
                <a:spcPct val="100000"/>
              </a:lnSpc>
              <a:buClr>
                <a:schemeClr val="tx2"/>
              </a:buClr>
              <a:buFont typeface="Arial" panose="020B0604020202020204" pitchFamily="34" charset="0"/>
              <a:buChar char="–"/>
              <a:defRPr sz="2400" b="0">
                <a:solidFill>
                  <a:schemeClr val="tx1"/>
                </a:solidFill>
              </a:defRPr>
            </a:lvl2pPr>
            <a:lvl3pPr marL="1200150" indent="-285750" algn="l">
              <a:lnSpc>
                <a:spcPct val="100000"/>
              </a:lnSpc>
              <a:buClr>
                <a:schemeClr val="tx2"/>
              </a:buClr>
              <a:buFont typeface="Wingdings" panose="05000000000000000000" pitchFamily="2" charset="2"/>
              <a:buChar char="§"/>
              <a:defRPr sz="2400" b="0">
                <a:solidFill>
                  <a:schemeClr val="tx1"/>
                </a:solidFill>
              </a:defRPr>
            </a:lvl3pPr>
            <a:lvl4pPr marL="1714500" indent="-342900" algn="l">
              <a:lnSpc>
                <a:spcPct val="100000"/>
              </a:lnSpc>
              <a:buClr>
                <a:schemeClr val="tx2"/>
              </a:buClr>
              <a:buFont typeface="Courier New" panose="02070309020205020404" pitchFamily="49" charset="0"/>
              <a:buChar char="o"/>
              <a:defRPr sz="2400" b="0">
                <a:solidFill>
                  <a:schemeClr val="tx1"/>
                </a:solidFill>
              </a:defRPr>
            </a:lvl4pPr>
            <a:lvl5pPr marL="2114550" indent="-285750" algn="l">
              <a:lnSpc>
                <a:spcPct val="100000"/>
              </a:lnSpc>
              <a:buClr>
                <a:schemeClr val="tx2"/>
              </a:buClr>
              <a:buFont typeface="Arial" panose="020B0604020202020204" pitchFamily="34" charset="0"/>
              <a:buChar char="•"/>
              <a:defRPr sz="2400" b="0">
                <a:solidFill>
                  <a:schemeClr val="tx1"/>
                </a:solidFill>
              </a:defRPr>
            </a:lvl5pPr>
          </a:lstStyle>
          <a:p>
            <a:pPr lvl="0"/>
            <a:r>
              <a:rPr lang="cs-CZ" dirty="0"/>
              <a:t>Upravte styly předlohy textu.</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3" name="Nadpis 1">
            <a:extLst>
              <a:ext uri="{FF2B5EF4-FFF2-40B4-BE49-F238E27FC236}">
                <a16:creationId xmlns:a16="http://schemas.microsoft.com/office/drawing/2014/main" id="{6B3829A0-BCE5-134F-AA65-977336962F0C}"/>
              </a:ext>
            </a:extLst>
          </p:cNvPr>
          <p:cNvSpPr>
            <a:spLocks noGrp="1"/>
          </p:cNvSpPr>
          <p:nvPr>
            <p:ph type="body" sz="quarter" idx="11" hasCustomPrompt="1"/>
          </p:nvPr>
        </p:nvSpPr>
        <p:spPr>
          <a:xfrm>
            <a:off x="873918" y="5771"/>
            <a:ext cx="10444163" cy="773017"/>
          </a:xfrm>
          <a:prstGeom prst="rect">
            <a:avLst/>
          </a:prstGeom>
        </p:spPr>
        <p:txBody>
          <a:bodyPr/>
          <a:lstStyle>
            <a:lvl1pPr marL="0" indent="0" algn="l">
              <a:lnSpc>
                <a:spcPct val="150000"/>
              </a:lnSpc>
              <a:buFont typeface="Arial" panose="020B0604020202020204" pitchFamily="34" charset="0"/>
              <a:buNone/>
              <a:defRPr sz="3600" b="1"/>
            </a:lvl1pPr>
            <a:lvl2pPr marL="742950" indent="-285750" algn="l">
              <a:lnSpc>
                <a:spcPct val="150000"/>
              </a:lnSpc>
              <a:buFont typeface="Arial" panose="020B0604020202020204" pitchFamily="34" charset="0"/>
              <a:buChar char="•"/>
              <a:defRPr sz="2400" b="0"/>
            </a:lvl2pPr>
            <a:lvl3pPr marL="1200150" indent="-285750" algn="l">
              <a:lnSpc>
                <a:spcPct val="150000"/>
              </a:lnSpc>
              <a:buFont typeface="Arial" panose="020B0604020202020204" pitchFamily="34" charset="0"/>
              <a:buChar char="•"/>
              <a:defRPr sz="2400" b="0"/>
            </a:lvl3pPr>
            <a:lvl4pPr marL="1657350" indent="-285750" algn="l">
              <a:lnSpc>
                <a:spcPct val="150000"/>
              </a:lnSpc>
              <a:buFont typeface="Arial" panose="020B0604020202020204" pitchFamily="34" charset="0"/>
              <a:buChar char="•"/>
              <a:defRPr sz="2400" b="0"/>
            </a:lvl4pPr>
            <a:lvl5pPr marL="2114550" indent="-285750" algn="l">
              <a:lnSpc>
                <a:spcPct val="150000"/>
              </a:lnSpc>
              <a:buFont typeface="Arial" panose="020B0604020202020204" pitchFamily="34" charset="0"/>
              <a:buChar char="•"/>
              <a:defRPr sz="2400" b="0"/>
            </a:lvl5pPr>
          </a:lstStyle>
          <a:p>
            <a:pPr lvl="0"/>
            <a:r>
              <a:rPr lang="cs-CZ" dirty="0"/>
              <a:t>Nadpis</a:t>
            </a:r>
          </a:p>
        </p:txBody>
      </p:sp>
      <p:sp>
        <p:nvSpPr>
          <p:cNvPr id="4" name="BlokTextu 10">
            <a:extLst>
              <a:ext uri="{FF2B5EF4-FFF2-40B4-BE49-F238E27FC236}">
                <a16:creationId xmlns:a16="http://schemas.microsoft.com/office/drawing/2014/main" id="{0A67F0DE-4C98-4F21-B1B1-3A8F398A15D7}"/>
              </a:ext>
            </a:extLst>
          </p:cNvPr>
          <p:cNvSpPr txBox="1"/>
          <p:nvPr userDrawn="1"/>
        </p:nvSpPr>
        <p:spPr>
          <a:xfrm>
            <a:off x="11853949" y="6431973"/>
            <a:ext cx="338051" cy="207818"/>
          </a:xfrm>
          <a:prstGeom prst="rect">
            <a:avLst/>
          </a:prstGeom>
        </p:spPr>
        <p:txBody>
          <a:bodyPr vert="horz" wrap="square" lIns="0" tIns="45720" rIns="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fld id="{B0E1C688-2A94-4C23-89D7-1BDBDDABE19E}" type="slidenum">
              <a:rPr lang="en-US" sz="950" b="0" kern="1200" noProof="0" smtClean="0">
                <a:solidFill>
                  <a:schemeClr val="bg1">
                    <a:lumMod val="50000"/>
                  </a:schemeClr>
                </a:solidFill>
                <a:latin typeface="+mn-lt"/>
                <a:ea typeface="+mn-ea"/>
                <a:cs typeface="+mn-cs"/>
              </a:rPr>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t>‹#›</a:t>
            </a:fld>
            <a:endParaRPr lang="en-US" sz="950" b="0" kern="1200" noProof="0" dirty="0">
              <a:solidFill>
                <a:schemeClr val="bg1">
                  <a:lumMod val="50000"/>
                </a:schemeClr>
              </a:solidFill>
              <a:latin typeface="+mn-lt"/>
              <a:ea typeface="+mn-ea"/>
              <a:cs typeface="+mn-cs"/>
            </a:endParaRPr>
          </a:p>
        </p:txBody>
      </p:sp>
      <p:sp>
        <p:nvSpPr>
          <p:cNvPr id="5" name="Text Placeholder 2">
            <a:extLst>
              <a:ext uri="{FF2B5EF4-FFF2-40B4-BE49-F238E27FC236}">
                <a16:creationId xmlns:a16="http://schemas.microsoft.com/office/drawing/2014/main" id="{32516FBF-3607-9D48-9974-5A1F128114A1}"/>
              </a:ext>
            </a:extLst>
          </p:cNvPr>
          <p:cNvSpPr>
            <a:spLocks noGrp="1"/>
          </p:cNvSpPr>
          <p:nvPr>
            <p:ph type="body" sz="quarter" idx="12"/>
          </p:nvPr>
        </p:nvSpPr>
        <p:spPr>
          <a:xfrm>
            <a:off x="5392882" y="922713"/>
            <a:ext cx="5925200" cy="5345083"/>
          </a:xfrm>
          <a:prstGeom prst="rect">
            <a:avLst/>
          </a:prstGeom>
        </p:spPr>
        <p:txBody>
          <a:bodyPr/>
          <a:lstStyle>
            <a:lvl1pPr marL="285750" indent="-285750" algn="l">
              <a:lnSpc>
                <a:spcPct val="100000"/>
              </a:lnSpc>
              <a:buClr>
                <a:schemeClr val="tx2"/>
              </a:buClr>
              <a:buFont typeface="Arial" panose="020B0604020202020204" pitchFamily="34" charset="0"/>
              <a:buChar char="•"/>
              <a:defRPr sz="2400" b="0">
                <a:solidFill>
                  <a:schemeClr val="tx1"/>
                </a:solidFill>
              </a:defRPr>
            </a:lvl1pPr>
            <a:lvl2pPr marL="457200" indent="0" algn="l">
              <a:lnSpc>
                <a:spcPct val="100000"/>
              </a:lnSpc>
              <a:buClr>
                <a:schemeClr val="tx2"/>
              </a:buClr>
              <a:buFont typeface="Arial" panose="020B0604020202020204" pitchFamily="34" charset="0"/>
              <a:buNone/>
              <a:defRPr lang="cs-CZ" sz="2400" b="0" kern="1200" dirty="0">
                <a:solidFill>
                  <a:schemeClr val="tx1"/>
                </a:solidFill>
                <a:latin typeface="+mn-lt"/>
                <a:ea typeface="+mn-ea"/>
                <a:cs typeface="+mn-cs"/>
              </a:defRPr>
            </a:lvl2pPr>
            <a:lvl3pPr marL="1200150" indent="-285750" algn="l">
              <a:lnSpc>
                <a:spcPct val="100000"/>
              </a:lnSpc>
              <a:buClr>
                <a:schemeClr val="tx2"/>
              </a:buClr>
              <a:buFont typeface="Arial" panose="020B0604020202020204" pitchFamily="34" charset="0"/>
              <a:buChar char="•"/>
              <a:defRPr lang="cs-CZ" sz="2400" b="0" kern="1200" dirty="0">
                <a:solidFill>
                  <a:schemeClr val="tx1"/>
                </a:solidFill>
                <a:latin typeface="+mn-lt"/>
                <a:ea typeface="+mn-ea"/>
                <a:cs typeface="+mn-cs"/>
              </a:defRPr>
            </a:lvl3pPr>
            <a:lvl4pPr marL="1657350" indent="-285750" algn="l">
              <a:lnSpc>
                <a:spcPct val="100000"/>
              </a:lnSpc>
              <a:buClr>
                <a:schemeClr val="tx2"/>
              </a:buClr>
              <a:buFont typeface="Arial" panose="020B0604020202020204" pitchFamily="34" charset="0"/>
              <a:buChar char="•"/>
              <a:defRPr lang="cs-CZ" sz="2400" b="0" kern="1200" dirty="0">
                <a:solidFill>
                  <a:schemeClr val="tx1"/>
                </a:solidFill>
                <a:latin typeface="+mn-lt"/>
                <a:ea typeface="+mn-ea"/>
                <a:cs typeface="+mn-cs"/>
              </a:defRPr>
            </a:lvl4pPr>
            <a:lvl5pPr marL="2114550" indent="-285750" algn="l">
              <a:lnSpc>
                <a:spcPct val="100000"/>
              </a:lnSpc>
              <a:buClr>
                <a:schemeClr val="tx2"/>
              </a:buClr>
              <a:buFont typeface="Arial" panose="020B0604020202020204" pitchFamily="34" charset="0"/>
              <a:buChar char="•"/>
              <a:defRPr sz="2400" b="0">
                <a:solidFill>
                  <a:schemeClr val="tx1"/>
                </a:solidFill>
              </a:defRPr>
            </a:lvl5pPr>
          </a:lstStyle>
          <a:p>
            <a:pPr lvl="0"/>
            <a:r>
              <a:rPr lang="cs-CZ" dirty="0"/>
              <a:t>Upravte styly předlohy textu.</a:t>
            </a:r>
          </a:p>
          <a:p>
            <a:pPr marL="800100" lvl="1" indent="-342900" algn="l" defTabSz="914400" rtl="0" eaLnBrk="1" latinLnBrk="0" hangingPunct="1">
              <a:lnSpc>
                <a:spcPct val="100000"/>
              </a:lnSpc>
              <a:spcBef>
                <a:spcPts val="500"/>
              </a:spcBef>
              <a:buClr>
                <a:schemeClr val="tx2"/>
              </a:buClr>
              <a:buFont typeface="Arial" panose="020B0604020202020204" pitchFamily="34" charset="0"/>
              <a:buChar char="–"/>
            </a:pPr>
            <a:r>
              <a:rPr lang="cs-CZ" dirty="0"/>
              <a:t>Druhá úroveň</a:t>
            </a:r>
          </a:p>
          <a:p>
            <a:pPr marL="1200150" lvl="2" indent="-285750" algn="l" defTabSz="914400" rtl="0" eaLnBrk="1" latinLnBrk="0" hangingPunct="1">
              <a:lnSpc>
                <a:spcPct val="100000"/>
              </a:lnSpc>
              <a:spcBef>
                <a:spcPts val="500"/>
              </a:spcBef>
              <a:buClr>
                <a:schemeClr val="tx2"/>
              </a:buClr>
              <a:buFont typeface="Wingdings" panose="05000000000000000000" pitchFamily="2" charset="2"/>
              <a:buChar char="§"/>
            </a:pPr>
            <a:r>
              <a:rPr lang="cs-CZ" dirty="0"/>
              <a:t>Třetí úroveň</a:t>
            </a:r>
          </a:p>
          <a:p>
            <a:pPr marL="1714500" lvl="3" indent="-342900" algn="l" defTabSz="914400" rtl="0" eaLnBrk="1" latinLnBrk="0" hangingPunct="1">
              <a:lnSpc>
                <a:spcPct val="100000"/>
              </a:lnSpc>
              <a:spcBef>
                <a:spcPts val="500"/>
              </a:spcBef>
              <a:buClr>
                <a:schemeClr val="tx2"/>
              </a:buClr>
              <a:buFont typeface="Courier New" panose="02070309020205020404" pitchFamily="49" charset="0"/>
              <a:buChar char="o"/>
            </a:pPr>
            <a:r>
              <a:rPr lang="cs-CZ" dirty="0"/>
              <a:t>Čtvrtá úroveň</a:t>
            </a:r>
          </a:p>
          <a:p>
            <a:pPr lvl="4"/>
            <a:r>
              <a:rPr lang="cs-CZ" dirty="0"/>
              <a:t>Pátá úroveň</a:t>
            </a:r>
          </a:p>
        </p:txBody>
      </p:sp>
    </p:spTree>
    <p:extLst>
      <p:ext uri="{BB962C8B-B14F-4D97-AF65-F5344CB8AC3E}">
        <p14:creationId xmlns:p14="http://schemas.microsoft.com/office/powerpoint/2010/main" val="2870468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Nadpis a obsah">
    <p:bg>
      <p:bgPr>
        <a:solidFill>
          <a:schemeClr val="bg1"/>
        </a:solid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32516FBF-3607-9D48-9974-5A1F128114A1}"/>
              </a:ext>
            </a:extLst>
          </p:cNvPr>
          <p:cNvSpPr>
            <a:spLocks noGrp="1"/>
          </p:cNvSpPr>
          <p:nvPr>
            <p:ph type="body" sz="quarter" idx="10"/>
          </p:nvPr>
        </p:nvSpPr>
        <p:spPr>
          <a:xfrm>
            <a:off x="873919" y="914401"/>
            <a:ext cx="5051393" cy="5394958"/>
          </a:xfrm>
          <a:prstGeom prst="rect">
            <a:avLst/>
          </a:prstGeom>
        </p:spPr>
        <p:txBody>
          <a:bodyPr/>
          <a:lstStyle>
            <a:lvl1pPr marL="285750" indent="-285750" algn="l">
              <a:lnSpc>
                <a:spcPct val="100000"/>
              </a:lnSpc>
              <a:buClr>
                <a:schemeClr val="tx2"/>
              </a:buClr>
              <a:buFont typeface="Arial" panose="020B0604020202020204" pitchFamily="34" charset="0"/>
              <a:buChar char="•"/>
              <a:defRPr sz="2400" b="0">
                <a:solidFill>
                  <a:schemeClr val="tx1"/>
                </a:solidFill>
              </a:defRPr>
            </a:lvl1pPr>
            <a:lvl2pPr marL="800100" indent="-342900" algn="l">
              <a:lnSpc>
                <a:spcPct val="100000"/>
              </a:lnSpc>
              <a:buClr>
                <a:schemeClr val="tx2"/>
              </a:buClr>
              <a:buFont typeface="Arial" panose="020B0604020202020204" pitchFamily="34" charset="0"/>
              <a:buChar char="–"/>
              <a:defRPr sz="2400" b="0">
                <a:solidFill>
                  <a:schemeClr val="tx1"/>
                </a:solidFill>
              </a:defRPr>
            </a:lvl2pPr>
            <a:lvl3pPr marL="1200150" indent="-285750" algn="l">
              <a:lnSpc>
                <a:spcPct val="100000"/>
              </a:lnSpc>
              <a:buClr>
                <a:schemeClr val="tx2"/>
              </a:buClr>
              <a:buFont typeface="Wingdings" panose="05000000000000000000" pitchFamily="2" charset="2"/>
              <a:buChar char="§"/>
              <a:defRPr sz="2400" b="0">
                <a:solidFill>
                  <a:schemeClr val="tx1"/>
                </a:solidFill>
              </a:defRPr>
            </a:lvl3pPr>
            <a:lvl4pPr marL="1714500" indent="-342900" algn="l">
              <a:lnSpc>
                <a:spcPct val="100000"/>
              </a:lnSpc>
              <a:buClr>
                <a:schemeClr val="tx2"/>
              </a:buClr>
              <a:buFont typeface="Courier New" panose="02070309020205020404" pitchFamily="49" charset="0"/>
              <a:buChar char="o"/>
              <a:defRPr sz="2400" b="0">
                <a:solidFill>
                  <a:schemeClr val="tx1"/>
                </a:solidFill>
              </a:defRPr>
            </a:lvl4pPr>
            <a:lvl5pPr marL="2114550" indent="-285750" algn="l">
              <a:lnSpc>
                <a:spcPct val="100000"/>
              </a:lnSpc>
              <a:buClr>
                <a:schemeClr val="tx2"/>
              </a:buClr>
              <a:buFont typeface="Arial" panose="020B0604020202020204" pitchFamily="34" charset="0"/>
              <a:buChar char="•"/>
              <a:defRPr sz="2400" b="0">
                <a:solidFill>
                  <a:schemeClr val="tx1"/>
                </a:solidFill>
              </a:defRPr>
            </a:lvl5pPr>
          </a:lstStyle>
          <a:p>
            <a:pPr lvl="0"/>
            <a:r>
              <a:rPr lang="cs-CZ" dirty="0"/>
              <a:t>Upravte styly předlohy textu.</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3" name="Nadpis 1">
            <a:extLst>
              <a:ext uri="{FF2B5EF4-FFF2-40B4-BE49-F238E27FC236}">
                <a16:creationId xmlns:a16="http://schemas.microsoft.com/office/drawing/2014/main" id="{6B3829A0-BCE5-134F-AA65-977336962F0C}"/>
              </a:ext>
            </a:extLst>
          </p:cNvPr>
          <p:cNvSpPr>
            <a:spLocks noGrp="1"/>
          </p:cNvSpPr>
          <p:nvPr>
            <p:ph type="body" sz="quarter" idx="11" hasCustomPrompt="1"/>
          </p:nvPr>
        </p:nvSpPr>
        <p:spPr>
          <a:xfrm>
            <a:off x="873918" y="5769"/>
            <a:ext cx="10444163" cy="773017"/>
          </a:xfrm>
          <a:prstGeom prst="rect">
            <a:avLst/>
          </a:prstGeom>
        </p:spPr>
        <p:txBody>
          <a:bodyPr/>
          <a:lstStyle>
            <a:lvl1pPr marL="0" indent="0" algn="l">
              <a:lnSpc>
                <a:spcPct val="150000"/>
              </a:lnSpc>
              <a:buFont typeface="Arial" panose="020B0604020202020204" pitchFamily="34" charset="0"/>
              <a:buNone/>
              <a:defRPr sz="3600" b="1"/>
            </a:lvl1pPr>
            <a:lvl2pPr marL="742950" indent="-285750" algn="l">
              <a:lnSpc>
                <a:spcPct val="150000"/>
              </a:lnSpc>
              <a:buFont typeface="Arial" panose="020B0604020202020204" pitchFamily="34" charset="0"/>
              <a:buChar char="•"/>
              <a:defRPr sz="2400" b="0"/>
            </a:lvl2pPr>
            <a:lvl3pPr marL="1200150" indent="-285750" algn="l">
              <a:lnSpc>
                <a:spcPct val="150000"/>
              </a:lnSpc>
              <a:buFont typeface="Arial" panose="020B0604020202020204" pitchFamily="34" charset="0"/>
              <a:buChar char="•"/>
              <a:defRPr sz="2400" b="0"/>
            </a:lvl3pPr>
            <a:lvl4pPr marL="1657350" indent="-285750" algn="l">
              <a:lnSpc>
                <a:spcPct val="150000"/>
              </a:lnSpc>
              <a:buFont typeface="Arial" panose="020B0604020202020204" pitchFamily="34" charset="0"/>
              <a:buChar char="•"/>
              <a:defRPr sz="2400" b="0"/>
            </a:lvl4pPr>
            <a:lvl5pPr marL="2114550" indent="-285750" algn="l">
              <a:lnSpc>
                <a:spcPct val="150000"/>
              </a:lnSpc>
              <a:buFont typeface="Arial" panose="020B0604020202020204" pitchFamily="34" charset="0"/>
              <a:buChar char="•"/>
              <a:defRPr sz="2400" b="0"/>
            </a:lvl5pPr>
          </a:lstStyle>
          <a:p>
            <a:pPr lvl="0"/>
            <a:r>
              <a:rPr lang="cs-CZ" dirty="0"/>
              <a:t>Nadpis</a:t>
            </a:r>
          </a:p>
        </p:txBody>
      </p:sp>
      <p:sp>
        <p:nvSpPr>
          <p:cNvPr id="4" name="BlokTextu 10">
            <a:extLst>
              <a:ext uri="{FF2B5EF4-FFF2-40B4-BE49-F238E27FC236}">
                <a16:creationId xmlns:a16="http://schemas.microsoft.com/office/drawing/2014/main" id="{0A67F0DE-4C98-4F21-B1B1-3A8F398A15D7}"/>
              </a:ext>
            </a:extLst>
          </p:cNvPr>
          <p:cNvSpPr txBox="1"/>
          <p:nvPr userDrawn="1"/>
        </p:nvSpPr>
        <p:spPr>
          <a:xfrm>
            <a:off x="11853949" y="6431973"/>
            <a:ext cx="338051" cy="207818"/>
          </a:xfrm>
          <a:prstGeom prst="rect">
            <a:avLst/>
          </a:prstGeom>
        </p:spPr>
        <p:txBody>
          <a:bodyPr vert="horz" wrap="square" lIns="0" tIns="45720" rIns="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fld id="{B0E1C688-2A94-4C23-89D7-1BDBDDABE19E}" type="slidenum">
              <a:rPr lang="en-US" sz="950" b="0" kern="1200" noProof="0" smtClean="0">
                <a:solidFill>
                  <a:schemeClr val="bg1">
                    <a:lumMod val="50000"/>
                  </a:schemeClr>
                </a:solidFill>
                <a:latin typeface="+mn-lt"/>
                <a:ea typeface="+mn-ea"/>
                <a:cs typeface="+mn-cs"/>
              </a:rPr>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t>‹#›</a:t>
            </a:fld>
            <a:endParaRPr lang="en-US" sz="950" b="0" kern="1200" noProof="0" dirty="0">
              <a:solidFill>
                <a:schemeClr val="bg1">
                  <a:lumMod val="50000"/>
                </a:schemeClr>
              </a:solidFill>
              <a:latin typeface="+mn-lt"/>
              <a:ea typeface="+mn-ea"/>
              <a:cs typeface="+mn-cs"/>
            </a:endParaRPr>
          </a:p>
        </p:txBody>
      </p:sp>
      <p:sp>
        <p:nvSpPr>
          <p:cNvPr id="5" name="Text Placeholder 2">
            <a:extLst>
              <a:ext uri="{FF2B5EF4-FFF2-40B4-BE49-F238E27FC236}">
                <a16:creationId xmlns:a16="http://schemas.microsoft.com/office/drawing/2014/main" id="{32516FBF-3607-9D48-9974-5A1F128114A1}"/>
              </a:ext>
            </a:extLst>
          </p:cNvPr>
          <p:cNvSpPr>
            <a:spLocks noGrp="1"/>
          </p:cNvSpPr>
          <p:nvPr>
            <p:ph type="body" sz="quarter" idx="12"/>
          </p:nvPr>
        </p:nvSpPr>
        <p:spPr>
          <a:xfrm>
            <a:off x="6080760" y="914401"/>
            <a:ext cx="5773188" cy="5394959"/>
          </a:xfrm>
          <a:prstGeom prst="rect">
            <a:avLst/>
          </a:prstGeom>
        </p:spPr>
        <p:txBody>
          <a:bodyPr/>
          <a:lstStyle>
            <a:lvl1pPr marL="285750" indent="-285750" algn="l">
              <a:lnSpc>
                <a:spcPct val="100000"/>
              </a:lnSpc>
              <a:buClr>
                <a:schemeClr val="tx2"/>
              </a:buClr>
              <a:buFont typeface="Arial" panose="020B0604020202020204" pitchFamily="34" charset="0"/>
              <a:buChar char="•"/>
              <a:defRPr sz="2400" b="0">
                <a:solidFill>
                  <a:schemeClr val="tx1"/>
                </a:solidFill>
              </a:defRPr>
            </a:lvl1pPr>
            <a:lvl2pPr marL="457200" indent="0" algn="l">
              <a:lnSpc>
                <a:spcPct val="100000"/>
              </a:lnSpc>
              <a:buClr>
                <a:schemeClr val="tx2"/>
              </a:buClr>
              <a:buFont typeface="Arial" panose="020B0604020202020204" pitchFamily="34" charset="0"/>
              <a:buNone/>
              <a:defRPr lang="cs-CZ" sz="2400" b="0" kern="1200" dirty="0">
                <a:solidFill>
                  <a:schemeClr val="tx1"/>
                </a:solidFill>
                <a:latin typeface="+mn-lt"/>
                <a:ea typeface="+mn-ea"/>
                <a:cs typeface="+mn-cs"/>
              </a:defRPr>
            </a:lvl2pPr>
            <a:lvl3pPr marL="1200150" indent="-285750" algn="l">
              <a:lnSpc>
                <a:spcPct val="100000"/>
              </a:lnSpc>
              <a:buClr>
                <a:schemeClr val="tx2"/>
              </a:buClr>
              <a:buFont typeface="Arial" panose="020B0604020202020204" pitchFamily="34" charset="0"/>
              <a:buChar char="•"/>
              <a:defRPr lang="cs-CZ" sz="2400" b="0" kern="1200" dirty="0">
                <a:solidFill>
                  <a:schemeClr val="tx1"/>
                </a:solidFill>
                <a:latin typeface="+mn-lt"/>
                <a:ea typeface="+mn-ea"/>
                <a:cs typeface="+mn-cs"/>
              </a:defRPr>
            </a:lvl3pPr>
            <a:lvl4pPr marL="1657350" indent="-285750" algn="l">
              <a:lnSpc>
                <a:spcPct val="100000"/>
              </a:lnSpc>
              <a:buClr>
                <a:schemeClr val="tx2"/>
              </a:buClr>
              <a:buFont typeface="Arial" panose="020B0604020202020204" pitchFamily="34" charset="0"/>
              <a:buChar char="•"/>
              <a:defRPr lang="cs-CZ" sz="2400" b="0" kern="1200" dirty="0">
                <a:solidFill>
                  <a:schemeClr val="tx1"/>
                </a:solidFill>
                <a:latin typeface="+mn-lt"/>
                <a:ea typeface="+mn-ea"/>
                <a:cs typeface="+mn-cs"/>
              </a:defRPr>
            </a:lvl4pPr>
            <a:lvl5pPr marL="2114550" indent="-285750" algn="l">
              <a:lnSpc>
                <a:spcPct val="100000"/>
              </a:lnSpc>
              <a:buClr>
                <a:schemeClr val="tx2"/>
              </a:buClr>
              <a:buFont typeface="Arial" panose="020B0604020202020204" pitchFamily="34" charset="0"/>
              <a:buChar char="•"/>
              <a:defRPr sz="2400" b="0">
                <a:solidFill>
                  <a:schemeClr val="tx1"/>
                </a:solidFill>
              </a:defRPr>
            </a:lvl5pPr>
          </a:lstStyle>
          <a:p>
            <a:pPr lvl="0"/>
            <a:r>
              <a:rPr lang="cs-CZ" dirty="0"/>
              <a:t>Upravte styly předlohy textu.</a:t>
            </a:r>
          </a:p>
          <a:p>
            <a:pPr marL="800100" lvl="1" indent="-342900" algn="l" defTabSz="914400" rtl="0" eaLnBrk="1" latinLnBrk="0" hangingPunct="1">
              <a:lnSpc>
                <a:spcPct val="100000"/>
              </a:lnSpc>
              <a:spcBef>
                <a:spcPts val="500"/>
              </a:spcBef>
              <a:buClr>
                <a:schemeClr val="tx2"/>
              </a:buClr>
              <a:buFont typeface="Arial" panose="020B0604020202020204" pitchFamily="34" charset="0"/>
              <a:buChar char="–"/>
            </a:pPr>
            <a:r>
              <a:rPr lang="cs-CZ" dirty="0"/>
              <a:t>Druhá úroveň</a:t>
            </a:r>
          </a:p>
          <a:p>
            <a:pPr marL="1200150" lvl="2" indent="-285750" algn="l" defTabSz="914400" rtl="0" eaLnBrk="1" latinLnBrk="0" hangingPunct="1">
              <a:lnSpc>
                <a:spcPct val="100000"/>
              </a:lnSpc>
              <a:spcBef>
                <a:spcPts val="500"/>
              </a:spcBef>
              <a:buClr>
                <a:schemeClr val="tx2"/>
              </a:buClr>
              <a:buFont typeface="Wingdings" panose="05000000000000000000" pitchFamily="2" charset="2"/>
              <a:buChar char="§"/>
            </a:pPr>
            <a:r>
              <a:rPr lang="cs-CZ" dirty="0"/>
              <a:t>Třetí úroveň</a:t>
            </a:r>
          </a:p>
          <a:p>
            <a:pPr marL="1714500" lvl="3" indent="-342900" algn="l" defTabSz="914400" rtl="0" eaLnBrk="1" latinLnBrk="0" hangingPunct="1">
              <a:lnSpc>
                <a:spcPct val="100000"/>
              </a:lnSpc>
              <a:spcBef>
                <a:spcPts val="500"/>
              </a:spcBef>
              <a:buClr>
                <a:schemeClr val="tx2"/>
              </a:buClr>
              <a:buFont typeface="Courier New" panose="02070309020205020404" pitchFamily="49" charset="0"/>
              <a:buChar char="o"/>
            </a:pPr>
            <a:r>
              <a:rPr lang="cs-CZ" dirty="0"/>
              <a:t>Čtvrtá úroveň</a:t>
            </a:r>
          </a:p>
          <a:p>
            <a:pPr lvl="4"/>
            <a:r>
              <a:rPr lang="cs-CZ" dirty="0"/>
              <a:t>Pátá úroveň</a:t>
            </a:r>
          </a:p>
        </p:txBody>
      </p:sp>
    </p:spTree>
    <p:extLst>
      <p:ext uri="{BB962C8B-B14F-4D97-AF65-F5344CB8AC3E}">
        <p14:creationId xmlns:p14="http://schemas.microsoft.com/office/powerpoint/2010/main" val="1937381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Nadpis a obsah">
    <p:bg>
      <p:bgPr>
        <a:solidFill>
          <a:schemeClr val="bg1"/>
        </a:solid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32516FBF-3607-9D48-9974-5A1F128114A1}"/>
              </a:ext>
            </a:extLst>
          </p:cNvPr>
          <p:cNvSpPr>
            <a:spLocks noGrp="1"/>
          </p:cNvSpPr>
          <p:nvPr>
            <p:ph type="body" sz="quarter" idx="10"/>
          </p:nvPr>
        </p:nvSpPr>
        <p:spPr>
          <a:xfrm>
            <a:off x="873919" y="1532937"/>
            <a:ext cx="5118320" cy="4759797"/>
          </a:xfrm>
          <a:prstGeom prst="rect">
            <a:avLst/>
          </a:prstGeom>
        </p:spPr>
        <p:txBody>
          <a:bodyPr/>
          <a:lstStyle>
            <a:lvl1pPr marL="285750" indent="-285750" algn="l">
              <a:lnSpc>
                <a:spcPct val="100000"/>
              </a:lnSpc>
              <a:buClr>
                <a:schemeClr val="tx2"/>
              </a:buClr>
              <a:buFont typeface="Arial" panose="020B0604020202020204" pitchFamily="34" charset="0"/>
              <a:buChar char="•"/>
              <a:defRPr sz="2400" b="0">
                <a:solidFill>
                  <a:schemeClr val="tx1"/>
                </a:solidFill>
              </a:defRPr>
            </a:lvl1pPr>
            <a:lvl2pPr marL="742950" indent="-285750" algn="l">
              <a:lnSpc>
                <a:spcPct val="100000"/>
              </a:lnSpc>
              <a:buClr>
                <a:schemeClr val="tx2"/>
              </a:buClr>
              <a:buFont typeface="Arial" panose="020B0604020202020204" pitchFamily="34" charset="0"/>
              <a:buChar char="•"/>
              <a:defRPr lang="cs-CZ" sz="2400" b="0" kern="1200" dirty="0">
                <a:solidFill>
                  <a:schemeClr val="tx1"/>
                </a:solidFill>
                <a:latin typeface="+mn-lt"/>
                <a:ea typeface="+mn-ea"/>
                <a:cs typeface="+mn-cs"/>
              </a:defRPr>
            </a:lvl2pPr>
            <a:lvl3pPr marL="1200150" indent="-285750" algn="l">
              <a:lnSpc>
                <a:spcPct val="100000"/>
              </a:lnSpc>
              <a:buClr>
                <a:schemeClr val="tx2"/>
              </a:buClr>
              <a:buFont typeface="Arial" panose="020B0604020202020204" pitchFamily="34" charset="0"/>
              <a:buChar char="•"/>
              <a:defRPr lang="cs-CZ" sz="2400" b="0" kern="1200" dirty="0">
                <a:solidFill>
                  <a:schemeClr val="tx1"/>
                </a:solidFill>
                <a:latin typeface="+mn-lt"/>
                <a:ea typeface="+mn-ea"/>
                <a:cs typeface="+mn-cs"/>
              </a:defRPr>
            </a:lvl3pPr>
            <a:lvl4pPr marL="1657350" indent="-285750" algn="l">
              <a:lnSpc>
                <a:spcPct val="100000"/>
              </a:lnSpc>
              <a:buClr>
                <a:schemeClr val="tx2"/>
              </a:buClr>
              <a:buFont typeface="Arial" panose="020B0604020202020204" pitchFamily="34" charset="0"/>
              <a:buChar char="•"/>
              <a:defRPr lang="cs-CZ" sz="2400" b="0" kern="1200" dirty="0">
                <a:solidFill>
                  <a:schemeClr val="tx1"/>
                </a:solidFill>
                <a:latin typeface="+mn-lt"/>
                <a:ea typeface="+mn-ea"/>
                <a:cs typeface="+mn-cs"/>
              </a:defRPr>
            </a:lvl4pPr>
            <a:lvl5pPr marL="2114550" indent="-285750" algn="l">
              <a:lnSpc>
                <a:spcPct val="100000"/>
              </a:lnSpc>
              <a:buClr>
                <a:schemeClr val="tx2"/>
              </a:buClr>
              <a:buFont typeface="Arial" panose="020B0604020202020204" pitchFamily="34" charset="0"/>
              <a:buChar char="•"/>
              <a:defRPr sz="2400" b="0">
                <a:solidFill>
                  <a:schemeClr val="tx1"/>
                </a:solidFill>
              </a:defRPr>
            </a:lvl5pPr>
          </a:lstStyle>
          <a:p>
            <a:pPr lvl="0"/>
            <a:r>
              <a:rPr lang="cs-CZ" dirty="0"/>
              <a:t>Upravte styly předlohy textu.</a:t>
            </a:r>
          </a:p>
          <a:p>
            <a:pPr marL="800100" lvl="1" indent="-342900" algn="l" defTabSz="914400" rtl="0" eaLnBrk="1" latinLnBrk="0" hangingPunct="1">
              <a:lnSpc>
                <a:spcPct val="100000"/>
              </a:lnSpc>
              <a:spcBef>
                <a:spcPts val="500"/>
              </a:spcBef>
              <a:buClr>
                <a:schemeClr val="tx2"/>
              </a:buClr>
              <a:buFont typeface="Arial" panose="020B0604020202020204" pitchFamily="34" charset="0"/>
              <a:buChar char="–"/>
            </a:pPr>
            <a:r>
              <a:rPr lang="cs-CZ" dirty="0"/>
              <a:t>Druhá úroveň</a:t>
            </a:r>
          </a:p>
          <a:p>
            <a:pPr marL="1200150" lvl="2" indent="-285750" algn="l" defTabSz="914400" rtl="0" eaLnBrk="1" latinLnBrk="0" hangingPunct="1">
              <a:lnSpc>
                <a:spcPct val="100000"/>
              </a:lnSpc>
              <a:spcBef>
                <a:spcPts val="500"/>
              </a:spcBef>
              <a:buClr>
                <a:schemeClr val="tx2"/>
              </a:buClr>
              <a:buFont typeface="Wingdings" panose="05000000000000000000" pitchFamily="2" charset="2"/>
              <a:buChar char="§"/>
            </a:pPr>
            <a:r>
              <a:rPr lang="cs-CZ" dirty="0"/>
              <a:t>Třetí úroveň</a:t>
            </a:r>
          </a:p>
          <a:p>
            <a:pPr marL="1714500" lvl="3" indent="-342900" algn="l" defTabSz="914400" rtl="0" eaLnBrk="1" latinLnBrk="0" hangingPunct="1">
              <a:lnSpc>
                <a:spcPct val="100000"/>
              </a:lnSpc>
              <a:spcBef>
                <a:spcPts val="500"/>
              </a:spcBef>
              <a:buClr>
                <a:schemeClr val="tx2"/>
              </a:buClr>
              <a:buFont typeface="Courier New" panose="02070309020205020404" pitchFamily="49" charset="0"/>
              <a:buChar char="o"/>
            </a:pPr>
            <a:r>
              <a:rPr lang="cs-CZ" dirty="0"/>
              <a:t>Čtvrtá úroveň</a:t>
            </a:r>
          </a:p>
          <a:p>
            <a:pPr lvl="4"/>
            <a:r>
              <a:rPr lang="cs-CZ" dirty="0"/>
              <a:t>Pátá úroveň</a:t>
            </a:r>
          </a:p>
        </p:txBody>
      </p:sp>
      <p:sp>
        <p:nvSpPr>
          <p:cNvPr id="3" name="Nadpis 1">
            <a:extLst>
              <a:ext uri="{FF2B5EF4-FFF2-40B4-BE49-F238E27FC236}">
                <a16:creationId xmlns:a16="http://schemas.microsoft.com/office/drawing/2014/main" id="{6B3829A0-BCE5-134F-AA65-977336962F0C}"/>
              </a:ext>
            </a:extLst>
          </p:cNvPr>
          <p:cNvSpPr>
            <a:spLocks noGrp="1"/>
          </p:cNvSpPr>
          <p:nvPr>
            <p:ph type="body" sz="quarter" idx="11" hasCustomPrompt="1"/>
          </p:nvPr>
        </p:nvSpPr>
        <p:spPr>
          <a:xfrm>
            <a:off x="873918" y="5769"/>
            <a:ext cx="10444163" cy="773017"/>
          </a:xfrm>
          <a:prstGeom prst="rect">
            <a:avLst/>
          </a:prstGeom>
        </p:spPr>
        <p:txBody>
          <a:bodyPr/>
          <a:lstStyle>
            <a:lvl1pPr marL="0" indent="0" algn="l">
              <a:lnSpc>
                <a:spcPct val="150000"/>
              </a:lnSpc>
              <a:buFont typeface="Arial" panose="020B0604020202020204" pitchFamily="34" charset="0"/>
              <a:buNone/>
              <a:defRPr sz="3600" b="1"/>
            </a:lvl1pPr>
            <a:lvl2pPr marL="742950" indent="-285750" algn="l">
              <a:lnSpc>
                <a:spcPct val="150000"/>
              </a:lnSpc>
              <a:buFont typeface="Arial" panose="020B0604020202020204" pitchFamily="34" charset="0"/>
              <a:buChar char="•"/>
              <a:defRPr sz="2400" b="0"/>
            </a:lvl2pPr>
            <a:lvl3pPr marL="1200150" indent="-285750" algn="l">
              <a:lnSpc>
                <a:spcPct val="150000"/>
              </a:lnSpc>
              <a:buFont typeface="Arial" panose="020B0604020202020204" pitchFamily="34" charset="0"/>
              <a:buChar char="•"/>
              <a:defRPr sz="2400" b="0"/>
            </a:lvl3pPr>
            <a:lvl4pPr marL="1657350" indent="-285750" algn="l">
              <a:lnSpc>
                <a:spcPct val="150000"/>
              </a:lnSpc>
              <a:buFont typeface="Arial" panose="020B0604020202020204" pitchFamily="34" charset="0"/>
              <a:buChar char="•"/>
              <a:defRPr sz="2400" b="0"/>
            </a:lvl4pPr>
            <a:lvl5pPr marL="2114550" indent="-285750" algn="l">
              <a:lnSpc>
                <a:spcPct val="150000"/>
              </a:lnSpc>
              <a:buFont typeface="Arial" panose="020B0604020202020204" pitchFamily="34" charset="0"/>
              <a:buChar char="•"/>
              <a:defRPr sz="2400" b="0"/>
            </a:lvl5pPr>
          </a:lstStyle>
          <a:p>
            <a:pPr lvl="0"/>
            <a:r>
              <a:rPr lang="cs-CZ" dirty="0"/>
              <a:t>Nadpis</a:t>
            </a:r>
          </a:p>
        </p:txBody>
      </p:sp>
      <p:sp>
        <p:nvSpPr>
          <p:cNvPr id="4" name="BlokTextu 10">
            <a:extLst>
              <a:ext uri="{FF2B5EF4-FFF2-40B4-BE49-F238E27FC236}">
                <a16:creationId xmlns:a16="http://schemas.microsoft.com/office/drawing/2014/main" id="{0A67F0DE-4C98-4F21-B1B1-3A8F398A15D7}"/>
              </a:ext>
            </a:extLst>
          </p:cNvPr>
          <p:cNvSpPr txBox="1"/>
          <p:nvPr userDrawn="1"/>
        </p:nvSpPr>
        <p:spPr>
          <a:xfrm>
            <a:off x="11853949" y="6431973"/>
            <a:ext cx="338051" cy="207818"/>
          </a:xfrm>
          <a:prstGeom prst="rect">
            <a:avLst/>
          </a:prstGeom>
        </p:spPr>
        <p:txBody>
          <a:bodyPr vert="horz" wrap="square" lIns="0" tIns="45720" rIns="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fld id="{B0E1C688-2A94-4C23-89D7-1BDBDDABE19E}" type="slidenum">
              <a:rPr lang="en-US" sz="950" b="0" kern="1200" noProof="0" smtClean="0">
                <a:solidFill>
                  <a:schemeClr val="bg1">
                    <a:lumMod val="50000"/>
                  </a:schemeClr>
                </a:solidFill>
                <a:latin typeface="+mn-lt"/>
                <a:ea typeface="+mn-ea"/>
                <a:cs typeface="+mn-cs"/>
              </a:rPr>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t>‹#›</a:t>
            </a:fld>
            <a:endParaRPr lang="en-US" sz="950" b="0" kern="1200" noProof="0" dirty="0">
              <a:solidFill>
                <a:schemeClr val="bg1">
                  <a:lumMod val="50000"/>
                </a:schemeClr>
              </a:solidFill>
              <a:latin typeface="+mn-lt"/>
              <a:ea typeface="+mn-ea"/>
              <a:cs typeface="+mn-cs"/>
            </a:endParaRPr>
          </a:p>
        </p:txBody>
      </p:sp>
      <p:sp>
        <p:nvSpPr>
          <p:cNvPr id="5" name="Text Placeholder 2">
            <a:extLst>
              <a:ext uri="{FF2B5EF4-FFF2-40B4-BE49-F238E27FC236}">
                <a16:creationId xmlns:a16="http://schemas.microsoft.com/office/drawing/2014/main" id="{32516FBF-3607-9D48-9974-5A1F128114A1}"/>
              </a:ext>
            </a:extLst>
          </p:cNvPr>
          <p:cNvSpPr>
            <a:spLocks noGrp="1"/>
          </p:cNvSpPr>
          <p:nvPr>
            <p:ph type="body" sz="quarter" idx="12"/>
          </p:nvPr>
        </p:nvSpPr>
        <p:spPr>
          <a:xfrm>
            <a:off x="6138154" y="1532938"/>
            <a:ext cx="5179928" cy="4759796"/>
          </a:xfrm>
          <a:prstGeom prst="rect">
            <a:avLst/>
          </a:prstGeom>
        </p:spPr>
        <p:txBody>
          <a:bodyPr/>
          <a:lstStyle>
            <a:lvl1pPr marL="285750" indent="-285750" algn="l">
              <a:lnSpc>
                <a:spcPct val="100000"/>
              </a:lnSpc>
              <a:buClr>
                <a:schemeClr val="tx2"/>
              </a:buClr>
              <a:buFont typeface="Arial" panose="020B0604020202020204" pitchFamily="34" charset="0"/>
              <a:buChar char="•"/>
              <a:defRPr sz="2400" b="0">
                <a:solidFill>
                  <a:schemeClr val="tx1"/>
                </a:solidFill>
              </a:defRPr>
            </a:lvl1pPr>
            <a:lvl2pPr marL="742950" indent="-285750" algn="l">
              <a:lnSpc>
                <a:spcPct val="100000"/>
              </a:lnSpc>
              <a:buClr>
                <a:schemeClr val="tx2"/>
              </a:buClr>
              <a:buFont typeface="Arial" panose="020B0604020202020204" pitchFamily="34" charset="0"/>
              <a:buChar char="•"/>
              <a:defRPr lang="cs-CZ" sz="2400" b="0" kern="1200" dirty="0">
                <a:solidFill>
                  <a:schemeClr val="tx1"/>
                </a:solidFill>
                <a:latin typeface="+mn-lt"/>
                <a:ea typeface="+mn-ea"/>
                <a:cs typeface="+mn-cs"/>
              </a:defRPr>
            </a:lvl2pPr>
            <a:lvl3pPr marL="1200150" indent="-285750" algn="l">
              <a:lnSpc>
                <a:spcPct val="100000"/>
              </a:lnSpc>
              <a:buClr>
                <a:schemeClr val="tx2"/>
              </a:buClr>
              <a:buFont typeface="Arial" panose="020B0604020202020204" pitchFamily="34" charset="0"/>
              <a:buChar char="•"/>
              <a:defRPr lang="cs-CZ" sz="2400" b="0" kern="1200" dirty="0">
                <a:solidFill>
                  <a:schemeClr val="tx1"/>
                </a:solidFill>
                <a:latin typeface="+mn-lt"/>
                <a:ea typeface="+mn-ea"/>
                <a:cs typeface="+mn-cs"/>
              </a:defRPr>
            </a:lvl3pPr>
            <a:lvl4pPr marL="1657350" indent="-285750" algn="l">
              <a:lnSpc>
                <a:spcPct val="100000"/>
              </a:lnSpc>
              <a:buClr>
                <a:schemeClr val="tx2"/>
              </a:buClr>
              <a:buFont typeface="Arial" panose="020B0604020202020204" pitchFamily="34" charset="0"/>
              <a:buChar char="•"/>
              <a:defRPr lang="cs-CZ" sz="2400" b="0" kern="1200" dirty="0">
                <a:solidFill>
                  <a:schemeClr val="tx1"/>
                </a:solidFill>
                <a:latin typeface="+mn-lt"/>
                <a:ea typeface="+mn-ea"/>
                <a:cs typeface="+mn-cs"/>
              </a:defRPr>
            </a:lvl4pPr>
            <a:lvl5pPr marL="2114550" indent="-285750" algn="l">
              <a:lnSpc>
                <a:spcPct val="100000"/>
              </a:lnSpc>
              <a:buClr>
                <a:schemeClr val="tx2"/>
              </a:buClr>
              <a:buFont typeface="Arial" panose="020B0604020202020204" pitchFamily="34" charset="0"/>
              <a:buChar char="•"/>
              <a:defRPr sz="2400" b="0">
                <a:solidFill>
                  <a:schemeClr val="tx1"/>
                </a:solidFill>
              </a:defRPr>
            </a:lvl5pPr>
          </a:lstStyle>
          <a:p>
            <a:pPr lvl="0"/>
            <a:r>
              <a:rPr lang="cs-CZ" dirty="0"/>
              <a:t>Upravte styly předlohy textu.</a:t>
            </a:r>
          </a:p>
          <a:p>
            <a:pPr marL="800100" lvl="1" indent="-342900" algn="l" defTabSz="914400" rtl="0" eaLnBrk="1" latinLnBrk="0" hangingPunct="1">
              <a:lnSpc>
                <a:spcPct val="100000"/>
              </a:lnSpc>
              <a:spcBef>
                <a:spcPts val="500"/>
              </a:spcBef>
              <a:buClr>
                <a:schemeClr val="tx2"/>
              </a:buClr>
              <a:buFont typeface="Arial" panose="020B0604020202020204" pitchFamily="34" charset="0"/>
              <a:buChar char="–"/>
            </a:pPr>
            <a:r>
              <a:rPr lang="cs-CZ" dirty="0"/>
              <a:t>Druhá úroveň</a:t>
            </a:r>
          </a:p>
          <a:p>
            <a:pPr marL="1200150" lvl="2" indent="-285750" algn="l" defTabSz="914400" rtl="0" eaLnBrk="1" latinLnBrk="0" hangingPunct="1">
              <a:lnSpc>
                <a:spcPct val="100000"/>
              </a:lnSpc>
              <a:spcBef>
                <a:spcPts val="500"/>
              </a:spcBef>
              <a:buClr>
                <a:schemeClr val="tx2"/>
              </a:buClr>
              <a:buFont typeface="Wingdings" panose="05000000000000000000" pitchFamily="2" charset="2"/>
              <a:buChar char="§"/>
            </a:pPr>
            <a:r>
              <a:rPr lang="cs-CZ" dirty="0"/>
              <a:t>Třetí úroveň</a:t>
            </a:r>
          </a:p>
          <a:p>
            <a:pPr marL="1714500" lvl="3" indent="-342900" algn="l" defTabSz="914400" rtl="0" eaLnBrk="1" latinLnBrk="0" hangingPunct="1">
              <a:lnSpc>
                <a:spcPct val="100000"/>
              </a:lnSpc>
              <a:spcBef>
                <a:spcPts val="500"/>
              </a:spcBef>
              <a:buClr>
                <a:schemeClr val="tx2"/>
              </a:buClr>
              <a:buFont typeface="Courier New" panose="02070309020205020404" pitchFamily="49" charset="0"/>
              <a:buChar char="o"/>
            </a:pPr>
            <a:r>
              <a:rPr lang="cs-CZ" dirty="0"/>
              <a:t>Čtvrtá úroveň</a:t>
            </a:r>
          </a:p>
          <a:p>
            <a:pPr lvl="4"/>
            <a:r>
              <a:rPr lang="cs-CZ" dirty="0"/>
              <a:t>Pátá úroveň</a:t>
            </a:r>
          </a:p>
        </p:txBody>
      </p:sp>
      <p:sp>
        <p:nvSpPr>
          <p:cNvPr id="6" name="Zástupný objekt pre text 13">
            <a:extLst>
              <a:ext uri="{FF2B5EF4-FFF2-40B4-BE49-F238E27FC236}">
                <a16:creationId xmlns:a16="http://schemas.microsoft.com/office/drawing/2014/main" id="{ACA22D96-AB45-4340-BC17-743ADAFD8AC1}"/>
              </a:ext>
            </a:extLst>
          </p:cNvPr>
          <p:cNvSpPr>
            <a:spLocks noGrp="1"/>
          </p:cNvSpPr>
          <p:nvPr>
            <p:ph type="body" sz="quarter" idx="17"/>
          </p:nvPr>
        </p:nvSpPr>
        <p:spPr>
          <a:xfrm>
            <a:off x="873917" y="928807"/>
            <a:ext cx="5118321" cy="454110"/>
          </a:xfrm>
          <a:prstGeom prst="rect">
            <a:avLst/>
          </a:prstGeom>
        </p:spPr>
        <p:txBody>
          <a:bodyPr/>
          <a:lstStyle>
            <a:lvl1pPr marL="0" indent="0" algn="l">
              <a:buFont typeface="Arial" panose="020B0604020202020204" pitchFamily="34" charset="0"/>
              <a:buNone/>
              <a:defRPr sz="2400">
                <a:solidFill>
                  <a:schemeClr val="tx1"/>
                </a:solidFill>
              </a:defRPr>
            </a:lvl1pPr>
            <a:lvl2pPr marL="457200" indent="0" algn="l">
              <a:buFont typeface="Arial" panose="020B0604020202020204" pitchFamily="34" charset="0"/>
              <a:buNone/>
              <a:defRPr sz="2400">
                <a:solidFill>
                  <a:schemeClr val="tx1"/>
                </a:solidFill>
              </a:defRPr>
            </a:lvl2pPr>
            <a:lvl3pPr marL="914400" indent="0" algn="l">
              <a:buFont typeface="Arial" panose="020B0604020202020204" pitchFamily="34" charset="0"/>
              <a:buNone/>
              <a:defRPr sz="2400">
                <a:solidFill>
                  <a:schemeClr val="tx1"/>
                </a:solidFill>
              </a:defRPr>
            </a:lvl3pPr>
            <a:lvl4pPr marL="1371600" indent="0" algn="l">
              <a:buFont typeface="Arial" panose="020B0604020202020204" pitchFamily="34" charset="0"/>
              <a:buNone/>
              <a:defRPr sz="2400">
                <a:solidFill>
                  <a:schemeClr val="tx1"/>
                </a:solidFill>
              </a:defRPr>
            </a:lvl4pPr>
            <a:lvl5pPr marL="1828800" indent="0" algn="l">
              <a:buFont typeface="Arial" panose="020B0604020202020204" pitchFamily="34" charset="0"/>
              <a:buNone/>
              <a:defRPr sz="2400">
                <a:solidFill>
                  <a:schemeClr val="tx1"/>
                </a:solidFill>
              </a:defRPr>
            </a:lvl5pPr>
          </a:lstStyle>
          <a:p>
            <a:pPr lvl="0"/>
            <a:r>
              <a:rPr lang="cs-CZ" noProof="0" dirty="0"/>
              <a:t>Upravte styly předlohy textu.</a:t>
            </a:r>
          </a:p>
        </p:txBody>
      </p:sp>
      <p:sp>
        <p:nvSpPr>
          <p:cNvPr id="7" name="Zástupný objekt pre text 13">
            <a:extLst>
              <a:ext uri="{FF2B5EF4-FFF2-40B4-BE49-F238E27FC236}">
                <a16:creationId xmlns:a16="http://schemas.microsoft.com/office/drawing/2014/main" id="{ACA22D96-AB45-4340-BC17-743ADAFD8AC1}"/>
              </a:ext>
            </a:extLst>
          </p:cNvPr>
          <p:cNvSpPr>
            <a:spLocks noGrp="1"/>
          </p:cNvSpPr>
          <p:nvPr>
            <p:ph type="body" sz="quarter" idx="18"/>
          </p:nvPr>
        </p:nvSpPr>
        <p:spPr>
          <a:xfrm>
            <a:off x="6138154" y="928807"/>
            <a:ext cx="5179927" cy="454110"/>
          </a:xfrm>
          <a:prstGeom prst="rect">
            <a:avLst/>
          </a:prstGeom>
        </p:spPr>
        <p:txBody>
          <a:bodyPr/>
          <a:lstStyle>
            <a:lvl1pPr marL="0" indent="0" algn="l">
              <a:buFont typeface="Arial" panose="020B0604020202020204" pitchFamily="34" charset="0"/>
              <a:buNone/>
              <a:defRPr sz="2400">
                <a:solidFill>
                  <a:schemeClr val="tx1"/>
                </a:solidFill>
              </a:defRPr>
            </a:lvl1pPr>
            <a:lvl2pPr marL="457200" indent="0" algn="l">
              <a:buFont typeface="Arial" panose="020B0604020202020204" pitchFamily="34" charset="0"/>
              <a:buNone/>
              <a:defRPr sz="2400">
                <a:solidFill>
                  <a:schemeClr val="tx1"/>
                </a:solidFill>
              </a:defRPr>
            </a:lvl2pPr>
            <a:lvl3pPr marL="914400" indent="0" algn="l">
              <a:buFont typeface="Arial" panose="020B0604020202020204" pitchFamily="34" charset="0"/>
              <a:buNone/>
              <a:defRPr sz="2400">
                <a:solidFill>
                  <a:schemeClr val="tx1"/>
                </a:solidFill>
              </a:defRPr>
            </a:lvl3pPr>
            <a:lvl4pPr marL="1371600" indent="0" algn="l">
              <a:buFont typeface="Arial" panose="020B0604020202020204" pitchFamily="34" charset="0"/>
              <a:buNone/>
              <a:defRPr sz="2400">
                <a:solidFill>
                  <a:schemeClr val="tx1"/>
                </a:solidFill>
              </a:defRPr>
            </a:lvl4pPr>
            <a:lvl5pPr marL="1828800" indent="0" algn="l">
              <a:buFont typeface="Arial" panose="020B0604020202020204" pitchFamily="34" charset="0"/>
              <a:buNone/>
              <a:defRPr sz="2400">
                <a:solidFill>
                  <a:schemeClr val="tx1"/>
                </a:solidFill>
              </a:defRPr>
            </a:lvl5pPr>
          </a:lstStyle>
          <a:p>
            <a:pPr lvl="0"/>
            <a:r>
              <a:rPr lang="cs-CZ" noProof="0" dirty="0"/>
              <a:t>Upravte styly předlohy textu.</a:t>
            </a:r>
          </a:p>
        </p:txBody>
      </p:sp>
    </p:spTree>
    <p:extLst>
      <p:ext uri="{BB962C8B-B14F-4D97-AF65-F5344CB8AC3E}">
        <p14:creationId xmlns:p14="http://schemas.microsoft.com/office/powerpoint/2010/main" val="2612873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1A">
    <p:bg>
      <p:bgPr>
        <a:solidFill>
          <a:srgbClr val="CCEEED"/>
        </a:solidFill>
        <a:effectLst/>
      </p:bgPr>
    </p:bg>
    <p:spTree>
      <p:nvGrpSpPr>
        <p:cNvPr id="1" name=""/>
        <p:cNvGrpSpPr/>
        <p:nvPr/>
      </p:nvGrpSpPr>
      <p:grpSpPr>
        <a:xfrm>
          <a:off x="0" y="0"/>
          <a:ext cx="0" cy="0"/>
          <a:chOff x="0" y="0"/>
          <a:chExt cx="0" cy="0"/>
        </a:xfrm>
      </p:grpSpPr>
      <p:sp>
        <p:nvSpPr>
          <p:cNvPr id="7" name="Zástupný objekt pre text 2">
            <a:extLst>
              <a:ext uri="{FF2B5EF4-FFF2-40B4-BE49-F238E27FC236}">
                <a16:creationId xmlns:a16="http://schemas.microsoft.com/office/drawing/2014/main" id="{9F3D47DB-FFE7-443F-ABB2-22B2D4A9D45E}"/>
              </a:ext>
            </a:extLst>
          </p:cNvPr>
          <p:cNvSpPr>
            <a:spLocks noGrp="1"/>
          </p:cNvSpPr>
          <p:nvPr>
            <p:ph type="body" idx="1" hasCustomPrompt="1"/>
          </p:nvPr>
        </p:nvSpPr>
        <p:spPr>
          <a:xfrm>
            <a:off x="838200" y="2572110"/>
            <a:ext cx="10515600" cy="2289601"/>
          </a:xfrm>
          <a:prstGeom prst="rect">
            <a:avLst/>
          </a:prstGeom>
        </p:spPr>
        <p:txBody>
          <a:bodyPr vert="horz" lIns="91440" tIns="45720" rIns="91440" bIns="45720" rtlCol="0" anchor="ctr">
            <a:noAutofit/>
          </a:bodyPr>
          <a:lstStyle>
            <a:lvl1pPr>
              <a:defRPr sz="4800"/>
            </a:lvl1pPr>
          </a:lstStyle>
          <a:p>
            <a:pPr lvl="0"/>
            <a:r>
              <a:rPr lang="en-US" noProof="0" dirty="0"/>
              <a:t>Lorem ipsum dolor sit </a:t>
            </a:r>
            <a:r>
              <a:rPr lang="en-US" noProof="0" dirty="0" err="1"/>
              <a:t>amet</a:t>
            </a:r>
            <a:r>
              <a:rPr lang="en-US" noProof="0" dirty="0"/>
              <a:t>, </a:t>
            </a:r>
          </a:p>
          <a:p>
            <a:pPr lvl="0"/>
            <a:r>
              <a:rPr lang="en-US" noProof="0" dirty="0" err="1"/>
              <a:t>consectetur</a:t>
            </a:r>
            <a:r>
              <a:rPr lang="en-US" noProof="0" dirty="0"/>
              <a:t> </a:t>
            </a:r>
            <a:r>
              <a:rPr lang="en-US" noProof="0" dirty="0" err="1"/>
              <a:t>adipiscing</a:t>
            </a:r>
            <a:r>
              <a:rPr lang="en-US" noProof="0" dirty="0"/>
              <a:t> </a:t>
            </a:r>
            <a:r>
              <a:rPr lang="en-US" noProof="0" dirty="0" err="1"/>
              <a:t>elit</a:t>
            </a:r>
            <a:r>
              <a:rPr lang="en-US" noProof="0" dirty="0"/>
              <a:t>, </a:t>
            </a:r>
          </a:p>
          <a:p>
            <a:pPr lvl="0"/>
            <a:r>
              <a:rPr lang="en-US" noProof="0" dirty="0" err="1"/>
              <a:t>ut</a:t>
            </a:r>
            <a:r>
              <a:rPr lang="en-US" noProof="0" dirty="0"/>
              <a:t> lab ore et dolore magna </a:t>
            </a:r>
            <a:r>
              <a:rPr lang="en-US" noProof="0" dirty="0" err="1"/>
              <a:t>aliqua</a:t>
            </a:r>
            <a:r>
              <a:rPr lang="en-US" noProof="0" dirty="0"/>
              <a:t>.</a:t>
            </a:r>
          </a:p>
        </p:txBody>
      </p:sp>
      <p:sp>
        <p:nvSpPr>
          <p:cNvPr id="9" name="Zástupný objekt pre text 8">
            <a:extLst>
              <a:ext uri="{FF2B5EF4-FFF2-40B4-BE49-F238E27FC236}">
                <a16:creationId xmlns:a16="http://schemas.microsoft.com/office/drawing/2014/main" id="{EBF67B75-AA42-4D4F-9E0D-BE4CDD763378}"/>
              </a:ext>
            </a:extLst>
          </p:cNvPr>
          <p:cNvSpPr>
            <a:spLocks noGrp="1"/>
          </p:cNvSpPr>
          <p:nvPr>
            <p:ph type="body" sz="quarter" idx="13" hasCustomPrompt="1"/>
          </p:nvPr>
        </p:nvSpPr>
        <p:spPr>
          <a:xfrm>
            <a:off x="3443480" y="2001795"/>
            <a:ext cx="5317460" cy="412383"/>
          </a:xfrm>
          <a:prstGeom prst="rect">
            <a:avLst/>
          </a:prstGeom>
        </p:spPr>
        <p:txBody>
          <a:bodyPr/>
          <a:lstStyle>
            <a:lvl1pPr>
              <a:defRPr sz="2800" b="1">
                <a:solidFill>
                  <a:schemeClr val="tx1">
                    <a:lumMod val="75000"/>
                    <a:lumOff val="25000"/>
                  </a:schemeClr>
                </a:solidFill>
              </a:defRPr>
            </a:lvl1pPr>
          </a:lstStyle>
          <a:p>
            <a:pPr lvl="0"/>
            <a:r>
              <a:rPr lang="en-US" noProof="0" dirty="0" err="1"/>
              <a:t>blok</a:t>
            </a:r>
            <a:endParaRPr lang="en-US" noProof="0" dirty="0"/>
          </a:p>
        </p:txBody>
      </p:sp>
      <p:sp>
        <p:nvSpPr>
          <p:cNvPr id="10" name="Zástupný objekt pre text 8">
            <a:extLst>
              <a:ext uri="{FF2B5EF4-FFF2-40B4-BE49-F238E27FC236}">
                <a16:creationId xmlns:a16="http://schemas.microsoft.com/office/drawing/2014/main" id="{0DB67311-3873-433E-B144-F8329F5A126F}"/>
              </a:ext>
            </a:extLst>
          </p:cNvPr>
          <p:cNvSpPr>
            <a:spLocks noGrp="1"/>
          </p:cNvSpPr>
          <p:nvPr>
            <p:ph type="body" sz="quarter" idx="14" hasCustomPrompt="1"/>
          </p:nvPr>
        </p:nvSpPr>
        <p:spPr>
          <a:xfrm>
            <a:off x="3443480" y="4929621"/>
            <a:ext cx="5317460" cy="470282"/>
          </a:xfrm>
          <a:prstGeom prst="rect">
            <a:avLst/>
          </a:prstGeom>
        </p:spPr>
        <p:txBody>
          <a:bodyPr/>
          <a:lstStyle>
            <a:lvl1pPr>
              <a:defRPr sz="2400" b="1">
                <a:solidFill>
                  <a:schemeClr val="tx1">
                    <a:lumMod val="75000"/>
                    <a:lumOff val="25000"/>
                  </a:schemeClr>
                </a:solidFill>
              </a:defRPr>
            </a:lvl1pPr>
          </a:lstStyle>
          <a:p>
            <a:pPr lvl="0"/>
            <a:r>
              <a:rPr lang="en-US" noProof="0" dirty="0" err="1"/>
              <a:t>podkapitola</a:t>
            </a:r>
            <a:endParaRPr lang="en-US" noProof="0" dirty="0"/>
          </a:p>
        </p:txBody>
      </p:sp>
      <p:cxnSp>
        <p:nvCxnSpPr>
          <p:cNvPr id="13" name="Rovná spojnica 12">
            <a:extLst>
              <a:ext uri="{FF2B5EF4-FFF2-40B4-BE49-F238E27FC236}">
                <a16:creationId xmlns:a16="http://schemas.microsoft.com/office/drawing/2014/main" id="{6997DABD-F351-4166-BC7B-8D550B725880}"/>
              </a:ext>
            </a:extLst>
          </p:cNvPr>
          <p:cNvCxnSpPr/>
          <p:nvPr/>
        </p:nvCxnSpPr>
        <p:spPr>
          <a:xfrm>
            <a:off x="11762511" y="6483928"/>
            <a:ext cx="0" cy="155863"/>
          </a:xfrm>
          <a:prstGeom prst="line">
            <a:avLst/>
          </a:prstGeom>
          <a:ln>
            <a:solidFill>
              <a:schemeClr val="bg2">
                <a:lumMod val="75000"/>
              </a:schemeClr>
            </a:solidFill>
          </a:ln>
        </p:spPr>
        <p:style>
          <a:lnRef idx="1">
            <a:schemeClr val="dk1"/>
          </a:lnRef>
          <a:fillRef idx="0">
            <a:schemeClr val="dk1"/>
          </a:fillRef>
          <a:effectRef idx="0">
            <a:schemeClr val="dk1"/>
          </a:effectRef>
          <a:fontRef idx="minor">
            <a:schemeClr val="tx1"/>
          </a:fontRef>
        </p:style>
      </p:cxnSp>
      <p:sp>
        <p:nvSpPr>
          <p:cNvPr id="15" name="Zástupný objekt pre text 14">
            <a:extLst>
              <a:ext uri="{FF2B5EF4-FFF2-40B4-BE49-F238E27FC236}">
                <a16:creationId xmlns:a16="http://schemas.microsoft.com/office/drawing/2014/main" id="{47DE2995-CD7E-496C-A43E-917CE50E8E64}"/>
              </a:ext>
            </a:extLst>
          </p:cNvPr>
          <p:cNvSpPr>
            <a:spLocks noGrp="1"/>
          </p:cNvSpPr>
          <p:nvPr>
            <p:ph type="body" sz="quarter" idx="15" hasCustomPrompt="1"/>
          </p:nvPr>
        </p:nvSpPr>
        <p:spPr>
          <a:xfrm>
            <a:off x="8672947" y="6431973"/>
            <a:ext cx="3089564" cy="207818"/>
          </a:xfrm>
          <a:prstGeom prst="rect">
            <a:avLst/>
          </a:prstGeom>
        </p:spPr>
        <p:txBody>
          <a:bodyPr/>
          <a:lstStyle>
            <a:lvl1pPr algn="r">
              <a:defRPr sz="950" b="0">
                <a:solidFill>
                  <a:schemeClr val="bg1">
                    <a:lumMod val="50000"/>
                  </a:schemeClr>
                </a:solidFill>
              </a:defRPr>
            </a:lvl1pPr>
            <a:lvl2pPr>
              <a:defRPr sz="950" b="0">
                <a:solidFill>
                  <a:schemeClr val="bg1">
                    <a:lumMod val="50000"/>
                  </a:schemeClr>
                </a:solidFill>
              </a:defRPr>
            </a:lvl2pPr>
            <a:lvl3pPr>
              <a:defRPr sz="950" b="0">
                <a:solidFill>
                  <a:schemeClr val="bg1">
                    <a:lumMod val="50000"/>
                  </a:schemeClr>
                </a:solidFill>
              </a:defRPr>
            </a:lvl3pPr>
            <a:lvl4pPr>
              <a:defRPr sz="950" b="0">
                <a:solidFill>
                  <a:schemeClr val="bg1">
                    <a:lumMod val="50000"/>
                  </a:schemeClr>
                </a:solidFill>
              </a:defRPr>
            </a:lvl4pPr>
            <a:lvl5pPr>
              <a:defRPr sz="950" b="0">
                <a:solidFill>
                  <a:schemeClr val="bg1">
                    <a:lumMod val="50000"/>
                  </a:schemeClr>
                </a:solidFill>
              </a:defRPr>
            </a:lvl5pPr>
          </a:lstStyle>
          <a:p>
            <a:pPr lvl="0"/>
            <a:r>
              <a:rPr lang="en-US" noProof="0"/>
              <a:t>Název prezentace (volitelně)</a:t>
            </a:r>
          </a:p>
        </p:txBody>
      </p:sp>
      <p:sp>
        <p:nvSpPr>
          <p:cNvPr id="8" name="BlokTextu 10">
            <a:extLst>
              <a:ext uri="{FF2B5EF4-FFF2-40B4-BE49-F238E27FC236}">
                <a16:creationId xmlns:a16="http://schemas.microsoft.com/office/drawing/2014/main" id="{5DFB0786-B9FB-4867-A5C7-AB328C7F29B2}"/>
              </a:ext>
            </a:extLst>
          </p:cNvPr>
          <p:cNvSpPr txBox="1"/>
          <p:nvPr userDrawn="1"/>
        </p:nvSpPr>
        <p:spPr>
          <a:xfrm>
            <a:off x="11853949" y="6431973"/>
            <a:ext cx="338051" cy="207818"/>
          </a:xfrm>
          <a:prstGeom prst="rect">
            <a:avLst/>
          </a:prstGeom>
        </p:spPr>
        <p:txBody>
          <a:bodyPr vert="horz" wrap="square" lIns="0" tIns="45720" rIns="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fld id="{B0E1C688-2A94-4C23-89D7-1BDBDDABE19E}" type="slidenum">
              <a:rPr lang="en-US" sz="950" b="0" kern="1200" noProof="0" smtClean="0">
                <a:solidFill>
                  <a:schemeClr val="bg1">
                    <a:lumMod val="50000"/>
                  </a:schemeClr>
                </a:solidFill>
                <a:latin typeface="+mn-lt"/>
                <a:ea typeface="+mn-ea"/>
                <a:cs typeface="+mn-cs"/>
              </a:rPr>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t>‹#›</a:t>
            </a:fld>
            <a:endParaRPr lang="en-US" sz="950" b="0" kern="1200" noProof="0" dirty="0">
              <a:solidFill>
                <a:schemeClr val="bg1">
                  <a:lumMod val="50000"/>
                </a:schemeClr>
              </a:solidFill>
              <a:latin typeface="+mn-lt"/>
              <a:ea typeface="+mn-ea"/>
              <a:cs typeface="+mn-cs"/>
            </a:endParaRPr>
          </a:p>
        </p:txBody>
      </p:sp>
    </p:spTree>
    <p:extLst>
      <p:ext uri="{BB962C8B-B14F-4D97-AF65-F5344CB8AC3E}">
        <p14:creationId xmlns:p14="http://schemas.microsoft.com/office/powerpoint/2010/main" val="35381727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Quote 1B">
    <p:bg>
      <p:bgPr>
        <a:solidFill>
          <a:srgbClr val="CCEEED"/>
        </a:solidFill>
        <a:effectLst/>
      </p:bgPr>
    </p:bg>
    <p:spTree>
      <p:nvGrpSpPr>
        <p:cNvPr id="1" name=""/>
        <p:cNvGrpSpPr/>
        <p:nvPr/>
      </p:nvGrpSpPr>
      <p:grpSpPr>
        <a:xfrm>
          <a:off x="0" y="0"/>
          <a:ext cx="0" cy="0"/>
          <a:chOff x="0" y="0"/>
          <a:chExt cx="0" cy="0"/>
        </a:xfrm>
      </p:grpSpPr>
      <p:sp>
        <p:nvSpPr>
          <p:cNvPr id="7" name="Zástupný objekt pre text 2">
            <a:extLst>
              <a:ext uri="{FF2B5EF4-FFF2-40B4-BE49-F238E27FC236}">
                <a16:creationId xmlns:a16="http://schemas.microsoft.com/office/drawing/2014/main" id="{9F3D47DB-FFE7-443F-ABB2-22B2D4A9D45E}"/>
              </a:ext>
            </a:extLst>
          </p:cNvPr>
          <p:cNvSpPr>
            <a:spLocks noGrp="1"/>
          </p:cNvSpPr>
          <p:nvPr>
            <p:ph type="body" idx="1" hasCustomPrompt="1"/>
          </p:nvPr>
        </p:nvSpPr>
        <p:spPr>
          <a:xfrm>
            <a:off x="838200" y="2047009"/>
            <a:ext cx="10515600" cy="2784764"/>
          </a:xfrm>
          <a:prstGeom prst="rect">
            <a:avLst/>
          </a:prstGeom>
        </p:spPr>
        <p:txBody>
          <a:bodyPr vert="horz" lIns="91440" tIns="45720" rIns="91440" bIns="45720" rtlCol="0" anchor="ctr">
            <a:normAutofit/>
          </a:bodyPr>
          <a:lstStyle/>
          <a:p>
            <a:pPr lvl="0"/>
            <a:r>
              <a:rPr lang="en-US" noProof="0" dirty="0"/>
              <a:t>Lorem ipsum dolor sit </a:t>
            </a:r>
            <a:r>
              <a:rPr lang="en-US" noProof="0" dirty="0" err="1"/>
              <a:t>amet</a:t>
            </a:r>
            <a:r>
              <a:rPr lang="en-US" noProof="0" dirty="0"/>
              <a:t>, </a:t>
            </a:r>
          </a:p>
          <a:p>
            <a:pPr lvl="0"/>
            <a:r>
              <a:rPr lang="en-US" noProof="0" dirty="0" err="1"/>
              <a:t>consectetur</a:t>
            </a:r>
            <a:r>
              <a:rPr lang="en-US" noProof="0" dirty="0"/>
              <a:t> </a:t>
            </a:r>
            <a:r>
              <a:rPr lang="en-US" noProof="0" dirty="0" err="1"/>
              <a:t>adipiscing</a:t>
            </a:r>
            <a:r>
              <a:rPr lang="en-US" noProof="0" dirty="0"/>
              <a:t> </a:t>
            </a:r>
            <a:r>
              <a:rPr lang="en-US" noProof="0" dirty="0" err="1"/>
              <a:t>elit</a:t>
            </a:r>
            <a:r>
              <a:rPr lang="en-US" noProof="0" dirty="0"/>
              <a:t>, </a:t>
            </a:r>
          </a:p>
          <a:p>
            <a:pPr lvl="0"/>
            <a:r>
              <a:rPr lang="en-US" noProof="0" dirty="0" err="1"/>
              <a:t>sed</a:t>
            </a:r>
            <a:r>
              <a:rPr lang="en-US" noProof="0" dirty="0"/>
              <a:t> do eiusmod tempor </a:t>
            </a:r>
            <a:r>
              <a:rPr lang="en-US" noProof="0" dirty="0" err="1"/>
              <a:t>incididunt</a:t>
            </a:r>
            <a:r>
              <a:rPr lang="en-US" noProof="0" dirty="0"/>
              <a:t> </a:t>
            </a:r>
          </a:p>
          <a:p>
            <a:pPr lvl="0"/>
            <a:r>
              <a:rPr lang="en-US" noProof="0" dirty="0" err="1"/>
              <a:t>ut</a:t>
            </a:r>
            <a:r>
              <a:rPr lang="en-US" noProof="0" dirty="0"/>
              <a:t> lab ore et </a:t>
            </a:r>
            <a:r>
              <a:rPr lang="en-US" noProof="0" dirty="0" err="1"/>
              <a:t>dolore</a:t>
            </a:r>
            <a:r>
              <a:rPr lang="en-US" noProof="0" dirty="0"/>
              <a:t> magna </a:t>
            </a:r>
            <a:r>
              <a:rPr lang="en-US" noProof="0" dirty="0" err="1"/>
              <a:t>aliqua</a:t>
            </a:r>
            <a:r>
              <a:rPr lang="en-US" noProof="0" dirty="0"/>
              <a:t>.</a:t>
            </a:r>
          </a:p>
        </p:txBody>
      </p:sp>
      <p:cxnSp>
        <p:nvCxnSpPr>
          <p:cNvPr id="13" name="Rovná spojnica 12">
            <a:extLst>
              <a:ext uri="{FF2B5EF4-FFF2-40B4-BE49-F238E27FC236}">
                <a16:creationId xmlns:a16="http://schemas.microsoft.com/office/drawing/2014/main" id="{6997DABD-F351-4166-BC7B-8D550B725880}"/>
              </a:ext>
            </a:extLst>
          </p:cNvPr>
          <p:cNvCxnSpPr/>
          <p:nvPr/>
        </p:nvCxnSpPr>
        <p:spPr>
          <a:xfrm>
            <a:off x="11762511" y="6483928"/>
            <a:ext cx="0" cy="155863"/>
          </a:xfrm>
          <a:prstGeom prst="line">
            <a:avLst/>
          </a:prstGeom>
          <a:ln>
            <a:solidFill>
              <a:schemeClr val="bg2">
                <a:lumMod val="75000"/>
              </a:schemeClr>
            </a:solidFill>
          </a:ln>
        </p:spPr>
        <p:style>
          <a:lnRef idx="1">
            <a:schemeClr val="dk1"/>
          </a:lnRef>
          <a:fillRef idx="0">
            <a:schemeClr val="dk1"/>
          </a:fillRef>
          <a:effectRef idx="0">
            <a:schemeClr val="dk1"/>
          </a:effectRef>
          <a:fontRef idx="minor">
            <a:schemeClr val="tx1"/>
          </a:fontRef>
        </p:style>
      </p:cxnSp>
      <p:sp>
        <p:nvSpPr>
          <p:cNvPr id="15" name="Zástupný objekt pre text 14">
            <a:extLst>
              <a:ext uri="{FF2B5EF4-FFF2-40B4-BE49-F238E27FC236}">
                <a16:creationId xmlns:a16="http://schemas.microsoft.com/office/drawing/2014/main" id="{47DE2995-CD7E-496C-A43E-917CE50E8E64}"/>
              </a:ext>
            </a:extLst>
          </p:cNvPr>
          <p:cNvSpPr>
            <a:spLocks noGrp="1"/>
          </p:cNvSpPr>
          <p:nvPr>
            <p:ph type="body" sz="quarter" idx="15" hasCustomPrompt="1"/>
          </p:nvPr>
        </p:nvSpPr>
        <p:spPr>
          <a:xfrm>
            <a:off x="8672947" y="6431973"/>
            <a:ext cx="3089564" cy="207818"/>
          </a:xfrm>
          <a:prstGeom prst="rect">
            <a:avLst/>
          </a:prstGeom>
        </p:spPr>
        <p:txBody>
          <a:bodyPr/>
          <a:lstStyle>
            <a:lvl1pPr algn="r">
              <a:defRPr sz="950" b="0">
                <a:solidFill>
                  <a:schemeClr val="bg1">
                    <a:lumMod val="50000"/>
                  </a:schemeClr>
                </a:solidFill>
              </a:defRPr>
            </a:lvl1pPr>
            <a:lvl2pPr>
              <a:defRPr sz="950" b="0">
                <a:solidFill>
                  <a:schemeClr val="bg1">
                    <a:lumMod val="50000"/>
                  </a:schemeClr>
                </a:solidFill>
              </a:defRPr>
            </a:lvl2pPr>
            <a:lvl3pPr>
              <a:defRPr sz="950" b="0">
                <a:solidFill>
                  <a:schemeClr val="bg1">
                    <a:lumMod val="50000"/>
                  </a:schemeClr>
                </a:solidFill>
              </a:defRPr>
            </a:lvl3pPr>
            <a:lvl4pPr>
              <a:defRPr sz="950" b="0">
                <a:solidFill>
                  <a:schemeClr val="bg1">
                    <a:lumMod val="50000"/>
                  </a:schemeClr>
                </a:solidFill>
              </a:defRPr>
            </a:lvl4pPr>
            <a:lvl5pPr>
              <a:defRPr sz="950" b="0">
                <a:solidFill>
                  <a:schemeClr val="bg1">
                    <a:lumMod val="50000"/>
                  </a:schemeClr>
                </a:solidFill>
              </a:defRPr>
            </a:lvl5pPr>
          </a:lstStyle>
          <a:p>
            <a:pPr lvl="0"/>
            <a:r>
              <a:rPr lang="en-US" noProof="0"/>
              <a:t>Název prezentace (volitelně)</a:t>
            </a:r>
          </a:p>
        </p:txBody>
      </p:sp>
      <p:sp>
        <p:nvSpPr>
          <p:cNvPr id="8" name="BlokTextu 10">
            <a:extLst>
              <a:ext uri="{FF2B5EF4-FFF2-40B4-BE49-F238E27FC236}">
                <a16:creationId xmlns:a16="http://schemas.microsoft.com/office/drawing/2014/main" id="{C28E0AA7-8A7B-4ADD-A8B0-B8A02679BB8E}"/>
              </a:ext>
            </a:extLst>
          </p:cNvPr>
          <p:cNvSpPr txBox="1"/>
          <p:nvPr userDrawn="1"/>
        </p:nvSpPr>
        <p:spPr>
          <a:xfrm>
            <a:off x="11853949" y="6431973"/>
            <a:ext cx="338051" cy="207818"/>
          </a:xfrm>
          <a:prstGeom prst="rect">
            <a:avLst/>
          </a:prstGeom>
        </p:spPr>
        <p:txBody>
          <a:bodyPr vert="horz" wrap="square" lIns="0" tIns="45720" rIns="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fld id="{B0E1C688-2A94-4C23-89D7-1BDBDDABE19E}" type="slidenum">
              <a:rPr lang="en-US" sz="950" b="0" kern="1200" noProof="0" smtClean="0">
                <a:solidFill>
                  <a:schemeClr val="bg1">
                    <a:lumMod val="50000"/>
                  </a:schemeClr>
                </a:solidFill>
                <a:latin typeface="+mn-lt"/>
                <a:ea typeface="+mn-ea"/>
                <a:cs typeface="+mn-cs"/>
              </a:rPr>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t>‹#›</a:t>
            </a:fld>
            <a:endParaRPr lang="en-US" sz="950" b="0" kern="1200" noProof="0" dirty="0">
              <a:solidFill>
                <a:schemeClr val="bg1">
                  <a:lumMod val="50000"/>
                </a:schemeClr>
              </a:solidFill>
              <a:latin typeface="+mn-lt"/>
              <a:ea typeface="+mn-ea"/>
              <a:cs typeface="+mn-cs"/>
            </a:endParaRPr>
          </a:p>
        </p:txBody>
      </p:sp>
      <p:sp>
        <p:nvSpPr>
          <p:cNvPr id="11" name="Zástupný objekt pre text 8">
            <a:extLst>
              <a:ext uri="{FF2B5EF4-FFF2-40B4-BE49-F238E27FC236}">
                <a16:creationId xmlns:a16="http://schemas.microsoft.com/office/drawing/2014/main" id="{EBF67B75-AA42-4D4F-9E0D-BE4CDD763378}"/>
              </a:ext>
            </a:extLst>
          </p:cNvPr>
          <p:cNvSpPr>
            <a:spLocks noGrp="1"/>
          </p:cNvSpPr>
          <p:nvPr>
            <p:ph type="body" sz="quarter" idx="13" hasCustomPrompt="1"/>
          </p:nvPr>
        </p:nvSpPr>
        <p:spPr>
          <a:xfrm>
            <a:off x="3443480" y="1536778"/>
            <a:ext cx="5317460" cy="412383"/>
          </a:xfrm>
          <a:prstGeom prst="rect">
            <a:avLst/>
          </a:prstGeom>
        </p:spPr>
        <p:txBody>
          <a:bodyPr/>
          <a:lstStyle>
            <a:lvl1pPr>
              <a:defRPr sz="2800" b="1">
                <a:solidFill>
                  <a:schemeClr val="tx1">
                    <a:lumMod val="75000"/>
                    <a:lumOff val="25000"/>
                  </a:schemeClr>
                </a:solidFill>
              </a:defRPr>
            </a:lvl1pPr>
          </a:lstStyle>
          <a:p>
            <a:pPr lvl="0"/>
            <a:r>
              <a:rPr lang="en-US" noProof="0" dirty="0" err="1"/>
              <a:t>blok</a:t>
            </a:r>
            <a:endParaRPr lang="en-US" noProof="0" dirty="0"/>
          </a:p>
        </p:txBody>
      </p:sp>
      <p:sp>
        <p:nvSpPr>
          <p:cNvPr id="12" name="Zástupný objekt pre text 8">
            <a:extLst>
              <a:ext uri="{FF2B5EF4-FFF2-40B4-BE49-F238E27FC236}">
                <a16:creationId xmlns:a16="http://schemas.microsoft.com/office/drawing/2014/main" id="{0DB67311-3873-433E-B144-F8329F5A126F}"/>
              </a:ext>
            </a:extLst>
          </p:cNvPr>
          <p:cNvSpPr>
            <a:spLocks noGrp="1"/>
          </p:cNvSpPr>
          <p:nvPr>
            <p:ph type="body" sz="quarter" idx="14" hasCustomPrompt="1"/>
          </p:nvPr>
        </p:nvSpPr>
        <p:spPr>
          <a:xfrm>
            <a:off x="3443480" y="4929621"/>
            <a:ext cx="5317460" cy="470282"/>
          </a:xfrm>
          <a:prstGeom prst="rect">
            <a:avLst/>
          </a:prstGeom>
        </p:spPr>
        <p:txBody>
          <a:bodyPr/>
          <a:lstStyle>
            <a:lvl1pPr>
              <a:defRPr sz="2400" b="1">
                <a:solidFill>
                  <a:schemeClr val="tx1">
                    <a:lumMod val="75000"/>
                    <a:lumOff val="25000"/>
                  </a:schemeClr>
                </a:solidFill>
              </a:defRPr>
            </a:lvl1pPr>
          </a:lstStyle>
          <a:p>
            <a:pPr lvl="0"/>
            <a:r>
              <a:rPr lang="en-US" noProof="0" dirty="0" err="1"/>
              <a:t>podkapitola</a:t>
            </a:r>
            <a:endParaRPr lang="en-US" noProof="0" dirty="0"/>
          </a:p>
        </p:txBody>
      </p:sp>
    </p:spTree>
    <p:extLst>
      <p:ext uri="{BB962C8B-B14F-4D97-AF65-F5344CB8AC3E}">
        <p14:creationId xmlns:p14="http://schemas.microsoft.com/office/powerpoint/2010/main" val="42318017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ote 1C">
    <p:bg>
      <p:bgPr>
        <a:solidFill>
          <a:srgbClr val="CCEEED"/>
        </a:solidFill>
        <a:effectLst/>
      </p:bgPr>
    </p:bg>
    <p:spTree>
      <p:nvGrpSpPr>
        <p:cNvPr id="1" name=""/>
        <p:cNvGrpSpPr/>
        <p:nvPr/>
      </p:nvGrpSpPr>
      <p:grpSpPr>
        <a:xfrm>
          <a:off x="0" y="0"/>
          <a:ext cx="0" cy="0"/>
          <a:chOff x="0" y="0"/>
          <a:chExt cx="0" cy="0"/>
        </a:xfrm>
      </p:grpSpPr>
      <p:sp>
        <p:nvSpPr>
          <p:cNvPr id="7" name="Zástupný objekt pre text 2">
            <a:extLst>
              <a:ext uri="{FF2B5EF4-FFF2-40B4-BE49-F238E27FC236}">
                <a16:creationId xmlns:a16="http://schemas.microsoft.com/office/drawing/2014/main" id="{9F3D47DB-FFE7-443F-ABB2-22B2D4A9D45E}"/>
              </a:ext>
            </a:extLst>
          </p:cNvPr>
          <p:cNvSpPr>
            <a:spLocks noGrp="1"/>
          </p:cNvSpPr>
          <p:nvPr>
            <p:ph type="body" idx="1" hasCustomPrompt="1"/>
          </p:nvPr>
        </p:nvSpPr>
        <p:spPr>
          <a:xfrm>
            <a:off x="838200" y="2047009"/>
            <a:ext cx="10515600" cy="2784764"/>
          </a:xfrm>
          <a:prstGeom prst="rect">
            <a:avLst/>
          </a:prstGeom>
        </p:spPr>
        <p:txBody>
          <a:bodyPr vert="horz" lIns="91440" tIns="45720" rIns="91440" bIns="45720" rtlCol="0" anchor="ctr">
            <a:normAutofit/>
          </a:bodyPr>
          <a:lstStyle>
            <a:lvl1pPr>
              <a:defRPr sz="2400"/>
            </a:lvl1pPr>
          </a:lstStyle>
          <a:p>
            <a:pPr lvl="0"/>
            <a:r>
              <a:rPr lang="en-US" noProof="0" dirty="0"/>
              <a:t>Lorem ipsum dolor sit </a:t>
            </a:r>
            <a:r>
              <a:rPr lang="en-US" noProof="0" dirty="0" err="1"/>
              <a:t>amet</a:t>
            </a:r>
            <a:r>
              <a:rPr lang="en-US" noProof="0" dirty="0"/>
              <a:t>, </a:t>
            </a:r>
          </a:p>
          <a:p>
            <a:pPr lvl="0"/>
            <a:r>
              <a:rPr lang="en-US" noProof="0" dirty="0" err="1"/>
              <a:t>consectetur</a:t>
            </a:r>
            <a:r>
              <a:rPr lang="en-US" noProof="0" dirty="0"/>
              <a:t> </a:t>
            </a:r>
            <a:r>
              <a:rPr lang="en-US" noProof="0" dirty="0" err="1"/>
              <a:t>adipiscing</a:t>
            </a:r>
            <a:r>
              <a:rPr lang="en-US" noProof="0" dirty="0"/>
              <a:t> </a:t>
            </a:r>
            <a:r>
              <a:rPr lang="en-US" noProof="0" dirty="0" err="1"/>
              <a:t>elit</a:t>
            </a:r>
            <a:r>
              <a:rPr lang="en-US" noProof="0" dirty="0"/>
              <a:t>, </a:t>
            </a:r>
          </a:p>
          <a:p>
            <a:pPr lvl="0"/>
            <a:r>
              <a:rPr lang="en-US" noProof="0" dirty="0" err="1"/>
              <a:t>sed</a:t>
            </a:r>
            <a:r>
              <a:rPr lang="en-US" noProof="0" dirty="0"/>
              <a:t> do </a:t>
            </a:r>
            <a:r>
              <a:rPr lang="en-US" noProof="0" dirty="0" err="1"/>
              <a:t>eiusmod</a:t>
            </a:r>
            <a:r>
              <a:rPr lang="en-US" noProof="0" dirty="0"/>
              <a:t> </a:t>
            </a:r>
            <a:r>
              <a:rPr lang="en-US" noProof="0" dirty="0" err="1"/>
              <a:t>tempor</a:t>
            </a:r>
            <a:r>
              <a:rPr lang="en-US" noProof="0" dirty="0"/>
              <a:t> </a:t>
            </a:r>
            <a:r>
              <a:rPr lang="en-US" noProof="0" dirty="0" err="1"/>
              <a:t>incididunt</a:t>
            </a:r>
            <a:r>
              <a:rPr lang="en-US" noProof="0" dirty="0"/>
              <a:t> </a:t>
            </a:r>
          </a:p>
          <a:p>
            <a:pPr lvl="0"/>
            <a:r>
              <a:rPr lang="en-US" noProof="0" dirty="0" err="1"/>
              <a:t>ut</a:t>
            </a:r>
            <a:r>
              <a:rPr lang="en-US" noProof="0" dirty="0"/>
              <a:t> lab ore et </a:t>
            </a:r>
            <a:r>
              <a:rPr lang="en-US" noProof="0" dirty="0" err="1"/>
              <a:t>dolore</a:t>
            </a:r>
            <a:r>
              <a:rPr lang="en-US" noProof="0" dirty="0"/>
              <a:t> magna </a:t>
            </a:r>
            <a:r>
              <a:rPr lang="en-US" noProof="0" dirty="0" err="1"/>
              <a:t>aliqua</a:t>
            </a:r>
            <a:r>
              <a:rPr lang="en-US" noProof="0" dirty="0"/>
              <a:t>.</a:t>
            </a:r>
          </a:p>
        </p:txBody>
      </p:sp>
      <p:cxnSp>
        <p:nvCxnSpPr>
          <p:cNvPr id="13" name="Rovná spojnica 12">
            <a:extLst>
              <a:ext uri="{FF2B5EF4-FFF2-40B4-BE49-F238E27FC236}">
                <a16:creationId xmlns:a16="http://schemas.microsoft.com/office/drawing/2014/main" id="{6997DABD-F351-4166-BC7B-8D550B725880}"/>
              </a:ext>
            </a:extLst>
          </p:cNvPr>
          <p:cNvCxnSpPr/>
          <p:nvPr/>
        </p:nvCxnSpPr>
        <p:spPr>
          <a:xfrm>
            <a:off x="11762511" y="6483928"/>
            <a:ext cx="0" cy="155863"/>
          </a:xfrm>
          <a:prstGeom prst="line">
            <a:avLst/>
          </a:prstGeom>
          <a:ln>
            <a:solidFill>
              <a:schemeClr val="bg2">
                <a:lumMod val="75000"/>
              </a:schemeClr>
            </a:solidFill>
          </a:ln>
        </p:spPr>
        <p:style>
          <a:lnRef idx="1">
            <a:schemeClr val="dk1"/>
          </a:lnRef>
          <a:fillRef idx="0">
            <a:schemeClr val="dk1"/>
          </a:fillRef>
          <a:effectRef idx="0">
            <a:schemeClr val="dk1"/>
          </a:effectRef>
          <a:fontRef idx="minor">
            <a:schemeClr val="tx1"/>
          </a:fontRef>
        </p:style>
      </p:cxnSp>
      <p:sp>
        <p:nvSpPr>
          <p:cNvPr id="15" name="Zástupný objekt pre text 14">
            <a:extLst>
              <a:ext uri="{FF2B5EF4-FFF2-40B4-BE49-F238E27FC236}">
                <a16:creationId xmlns:a16="http://schemas.microsoft.com/office/drawing/2014/main" id="{47DE2995-CD7E-496C-A43E-917CE50E8E64}"/>
              </a:ext>
            </a:extLst>
          </p:cNvPr>
          <p:cNvSpPr>
            <a:spLocks noGrp="1"/>
          </p:cNvSpPr>
          <p:nvPr>
            <p:ph type="body" sz="quarter" idx="15" hasCustomPrompt="1"/>
          </p:nvPr>
        </p:nvSpPr>
        <p:spPr>
          <a:xfrm>
            <a:off x="8672947" y="6431973"/>
            <a:ext cx="3089564" cy="207818"/>
          </a:xfrm>
          <a:prstGeom prst="rect">
            <a:avLst/>
          </a:prstGeom>
        </p:spPr>
        <p:txBody>
          <a:bodyPr/>
          <a:lstStyle>
            <a:lvl1pPr algn="r">
              <a:defRPr sz="950" b="0">
                <a:solidFill>
                  <a:schemeClr val="bg1">
                    <a:lumMod val="50000"/>
                  </a:schemeClr>
                </a:solidFill>
              </a:defRPr>
            </a:lvl1pPr>
            <a:lvl2pPr>
              <a:defRPr sz="950" b="0">
                <a:solidFill>
                  <a:schemeClr val="bg1">
                    <a:lumMod val="50000"/>
                  </a:schemeClr>
                </a:solidFill>
              </a:defRPr>
            </a:lvl2pPr>
            <a:lvl3pPr>
              <a:defRPr sz="950" b="0">
                <a:solidFill>
                  <a:schemeClr val="bg1">
                    <a:lumMod val="50000"/>
                  </a:schemeClr>
                </a:solidFill>
              </a:defRPr>
            </a:lvl3pPr>
            <a:lvl4pPr>
              <a:defRPr sz="950" b="0">
                <a:solidFill>
                  <a:schemeClr val="bg1">
                    <a:lumMod val="50000"/>
                  </a:schemeClr>
                </a:solidFill>
              </a:defRPr>
            </a:lvl4pPr>
            <a:lvl5pPr>
              <a:defRPr sz="950" b="0">
                <a:solidFill>
                  <a:schemeClr val="bg1">
                    <a:lumMod val="50000"/>
                  </a:schemeClr>
                </a:solidFill>
              </a:defRPr>
            </a:lvl5pPr>
          </a:lstStyle>
          <a:p>
            <a:pPr lvl="0"/>
            <a:r>
              <a:rPr lang="en-US" noProof="0"/>
              <a:t>Název prezentace (volitelně)</a:t>
            </a:r>
          </a:p>
        </p:txBody>
      </p:sp>
      <p:sp>
        <p:nvSpPr>
          <p:cNvPr id="8" name="BlokTextu 10">
            <a:extLst>
              <a:ext uri="{FF2B5EF4-FFF2-40B4-BE49-F238E27FC236}">
                <a16:creationId xmlns:a16="http://schemas.microsoft.com/office/drawing/2014/main" id="{C28E0AA7-8A7B-4ADD-A8B0-B8A02679BB8E}"/>
              </a:ext>
            </a:extLst>
          </p:cNvPr>
          <p:cNvSpPr txBox="1"/>
          <p:nvPr userDrawn="1"/>
        </p:nvSpPr>
        <p:spPr>
          <a:xfrm>
            <a:off x="11853949" y="6431973"/>
            <a:ext cx="338051" cy="207818"/>
          </a:xfrm>
          <a:prstGeom prst="rect">
            <a:avLst/>
          </a:prstGeom>
        </p:spPr>
        <p:txBody>
          <a:bodyPr vert="horz" wrap="square" lIns="0" tIns="45720" rIns="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fld id="{B0E1C688-2A94-4C23-89D7-1BDBDDABE19E}" type="slidenum">
              <a:rPr lang="en-US" sz="950" b="0" kern="1200" noProof="0" smtClean="0">
                <a:solidFill>
                  <a:schemeClr val="bg1">
                    <a:lumMod val="50000"/>
                  </a:schemeClr>
                </a:solidFill>
                <a:latin typeface="+mn-lt"/>
                <a:ea typeface="+mn-ea"/>
                <a:cs typeface="+mn-cs"/>
              </a:rPr>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t>‹#›</a:t>
            </a:fld>
            <a:endParaRPr lang="en-US" sz="950" b="0" kern="1200" noProof="0" dirty="0">
              <a:solidFill>
                <a:schemeClr val="bg1">
                  <a:lumMod val="50000"/>
                </a:schemeClr>
              </a:solidFill>
              <a:latin typeface="+mn-lt"/>
              <a:ea typeface="+mn-ea"/>
              <a:cs typeface="+mn-cs"/>
            </a:endParaRPr>
          </a:p>
        </p:txBody>
      </p:sp>
      <p:sp>
        <p:nvSpPr>
          <p:cNvPr id="11" name="Zástupný objekt pre text 8">
            <a:extLst>
              <a:ext uri="{FF2B5EF4-FFF2-40B4-BE49-F238E27FC236}">
                <a16:creationId xmlns:a16="http://schemas.microsoft.com/office/drawing/2014/main" id="{EBF67B75-AA42-4D4F-9E0D-BE4CDD763378}"/>
              </a:ext>
            </a:extLst>
          </p:cNvPr>
          <p:cNvSpPr>
            <a:spLocks noGrp="1"/>
          </p:cNvSpPr>
          <p:nvPr>
            <p:ph type="body" sz="quarter" idx="13" hasCustomPrompt="1"/>
          </p:nvPr>
        </p:nvSpPr>
        <p:spPr>
          <a:xfrm>
            <a:off x="3443480" y="1536778"/>
            <a:ext cx="5317460" cy="412383"/>
          </a:xfrm>
          <a:prstGeom prst="rect">
            <a:avLst/>
          </a:prstGeom>
        </p:spPr>
        <p:txBody>
          <a:bodyPr/>
          <a:lstStyle>
            <a:lvl1pPr>
              <a:defRPr sz="2800" b="1">
                <a:solidFill>
                  <a:schemeClr val="tx1">
                    <a:lumMod val="75000"/>
                    <a:lumOff val="25000"/>
                  </a:schemeClr>
                </a:solidFill>
              </a:defRPr>
            </a:lvl1pPr>
          </a:lstStyle>
          <a:p>
            <a:pPr lvl="0"/>
            <a:r>
              <a:rPr lang="en-US" noProof="0" dirty="0" err="1"/>
              <a:t>blok</a:t>
            </a:r>
            <a:endParaRPr lang="en-US" noProof="0" dirty="0"/>
          </a:p>
        </p:txBody>
      </p:sp>
      <p:sp>
        <p:nvSpPr>
          <p:cNvPr id="12" name="Zástupný objekt pre text 8">
            <a:extLst>
              <a:ext uri="{FF2B5EF4-FFF2-40B4-BE49-F238E27FC236}">
                <a16:creationId xmlns:a16="http://schemas.microsoft.com/office/drawing/2014/main" id="{0DB67311-3873-433E-B144-F8329F5A126F}"/>
              </a:ext>
            </a:extLst>
          </p:cNvPr>
          <p:cNvSpPr>
            <a:spLocks noGrp="1"/>
          </p:cNvSpPr>
          <p:nvPr>
            <p:ph type="body" sz="quarter" idx="14" hasCustomPrompt="1"/>
          </p:nvPr>
        </p:nvSpPr>
        <p:spPr>
          <a:xfrm>
            <a:off x="3443480" y="4929621"/>
            <a:ext cx="5317460" cy="470282"/>
          </a:xfrm>
          <a:prstGeom prst="rect">
            <a:avLst/>
          </a:prstGeom>
        </p:spPr>
        <p:txBody>
          <a:bodyPr/>
          <a:lstStyle>
            <a:lvl1pPr>
              <a:defRPr sz="2400" b="1">
                <a:solidFill>
                  <a:schemeClr val="tx1">
                    <a:lumMod val="75000"/>
                    <a:lumOff val="25000"/>
                  </a:schemeClr>
                </a:solidFill>
              </a:defRPr>
            </a:lvl1pPr>
          </a:lstStyle>
          <a:p>
            <a:pPr lvl="0"/>
            <a:r>
              <a:rPr lang="en-US" noProof="0" dirty="0" err="1"/>
              <a:t>podkapitola</a:t>
            </a:r>
            <a:endParaRPr lang="en-US" noProof="0" dirty="0"/>
          </a:p>
        </p:txBody>
      </p:sp>
    </p:spTree>
    <p:extLst>
      <p:ext uri="{BB962C8B-B14F-4D97-AF65-F5344CB8AC3E}">
        <p14:creationId xmlns:p14="http://schemas.microsoft.com/office/powerpoint/2010/main" val="41558820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2">
    <p:bg>
      <p:bgPr>
        <a:solidFill>
          <a:schemeClr val="bg1"/>
        </a:solidFill>
        <a:effectLst/>
      </p:bgPr>
    </p:bg>
    <p:spTree>
      <p:nvGrpSpPr>
        <p:cNvPr id="1" name=""/>
        <p:cNvGrpSpPr/>
        <p:nvPr/>
      </p:nvGrpSpPr>
      <p:grpSpPr>
        <a:xfrm>
          <a:off x="0" y="0"/>
          <a:ext cx="0" cy="0"/>
          <a:chOff x="0" y="0"/>
          <a:chExt cx="0" cy="0"/>
        </a:xfrm>
      </p:grpSpPr>
      <p:sp>
        <p:nvSpPr>
          <p:cNvPr id="7" name="Zástupný objekt pre text 2">
            <a:extLst>
              <a:ext uri="{FF2B5EF4-FFF2-40B4-BE49-F238E27FC236}">
                <a16:creationId xmlns:a16="http://schemas.microsoft.com/office/drawing/2014/main" id="{9F3D47DB-FFE7-443F-ABB2-22B2D4A9D45E}"/>
              </a:ext>
            </a:extLst>
          </p:cNvPr>
          <p:cNvSpPr>
            <a:spLocks noGrp="1"/>
          </p:cNvSpPr>
          <p:nvPr>
            <p:ph type="body" idx="1" hasCustomPrompt="1"/>
          </p:nvPr>
        </p:nvSpPr>
        <p:spPr>
          <a:xfrm>
            <a:off x="838200" y="2919845"/>
            <a:ext cx="10515600" cy="1288473"/>
          </a:xfrm>
          <a:prstGeom prst="rect">
            <a:avLst/>
          </a:prstGeom>
        </p:spPr>
        <p:txBody>
          <a:bodyPr vert="horz" lIns="91440" tIns="45720" rIns="91440" bIns="45720" rtlCol="0" anchor="ctr">
            <a:normAutofit/>
          </a:bodyPr>
          <a:lstStyle>
            <a:lvl1pPr>
              <a:defRPr/>
            </a:lvl1pPr>
          </a:lstStyle>
          <a:p>
            <a:pPr lvl="0"/>
            <a:r>
              <a:rPr lang="en-US" noProof="0"/>
              <a:t>Nechť již hříšné saxofony ďáblů rozezvučí síň</a:t>
            </a:r>
          </a:p>
          <a:p>
            <a:pPr lvl="0"/>
            <a:r>
              <a:rPr lang="en-US" noProof="0"/>
              <a:t>úděsnými tóny waltzu, tanga a quickstepu.</a:t>
            </a:r>
          </a:p>
        </p:txBody>
      </p:sp>
      <p:sp>
        <p:nvSpPr>
          <p:cNvPr id="10" name="Zástupný objekt pre text 8">
            <a:extLst>
              <a:ext uri="{FF2B5EF4-FFF2-40B4-BE49-F238E27FC236}">
                <a16:creationId xmlns:a16="http://schemas.microsoft.com/office/drawing/2014/main" id="{0DB67311-3873-433E-B144-F8329F5A126F}"/>
              </a:ext>
            </a:extLst>
          </p:cNvPr>
          <p:cNvSpPr>
            <a:spLocks noGrp="1"/>
          </p:cNvSpPr>
          <p:nvPr>
            <p:ph type="body" sz="quarter" idx="14" hasCustomPrompt="1"/>
          </p:nvPr>
        </p:nvSpPr>
        <p:spPr>
          <a:xfrm>
            <a:off x="4221956" y="4451639"/>
            <a:ext cx="3748088" cy="385763"/>
          </a:xfrm>
          <a:prstGeom prst="rect">
            <a:avLst/>
          </a:prstGeom>
        </p:spPr>
        <p:txBody>
          <a:bodyPr/>
          <a:lstStyle>
            <a:lvl1pPr>
              <a:defRPr sz="1600" b="0">
                <a:solidFill>
                  <a:schemeClr val="tx1">
                    <a:lumMod val="75000"/>
                    <a:lumOff val="25000"/>
                  </a:schemeClr>
                </a:solidFill>
              </a:defRPr>
            </a:lvl1pPr>
          </a:lstStyle>
          <a:p>
            <a:pPr lvl="0"/>
            <a:r>
              <a:rPr lang="en-US" noProof="0"/>
              <a:t>Milan Zinek, CEO, ALEF Group</a:t>
            </a:r>
          </a:p>
        </p:txBody>
      </p:sp>
      <p:sp>
        <p:nvSpPr>
          <p:cNvPr id="3" name="Zástupný objekt pre obrázok 2">
            <a:extLst>
              <a:ext uri="{FF2B5EF4-FFF2-40B4-BE49-F238E27FC236}">
                <a16:creationId xmlns:a16="http://schemas.microsoft.com/office/drawing/2014/main" id="{0D103FE7-852B-43EA-B38E-05E5D3529B86}"/>
              </a:ext>
            </a:extLst>
          </p:cNvPr>
          <p:cNvSpPr>
            <a:spLocks noGrp="1"/>
          </p:cNvSpPr>
          <p:nvPr>
            <p:ph type="pic" sz="quarter" idx="15"/>
          </p:nvPr>
        </p:nvSpPr>
        <p:spPr>
          <a:xfrm>
            <a:off x="5328396" y="935615"/>
            <a:ext cx="1535207" cy="1537421"/>
          </a:xfrm>
          <a:prstGeom prst="ellipse">
            <a:avLst/>
          </a:prstGeom>
        </p:spPr>
        <p:txBody>
          <a:bodyPr/>
          <a:lstStyle>
            <a:lvl1pPr>
              <a:defRPr sz="1200"/>
            </a:lvl1pPr>
          </a:lstStyle>
          <a:p>
            <a:r>
              <a:rPr lang="cs-CZ" noProof="0"/>
              <a:t>Kliknutím na ikonu přidáte obrázek.</a:t>
            </a:r>
            <a:endParaRPr lang="en-US" noProof="0"/>
          </a:p>
        </p:txBody>
      </p:sp>
      <p:cxnSp>
        <p:nvCxnSpPr>
          <p:cNvPr id="15" name="Rovná spojnica 14">
            <a:extLst>
              <a:ext uri="{FF2B5EF4-FFF2-40B4-BE49-F238E27FC236}">
                <a16:creationId xmlns:a16="http://schemas.microsoft.com/office/drawing/2014/main" id="{725F3F99-9CCB-4801-BF9D-E86B0B3D82B0}"/>
              </a:ext>
            </a:extLst>
          </p:cNvPr>
          <p:cNvCxnSpPr/>
          <p:nvPr/>
        </p:nvCxnSpPr>
        <p:spPr>
          <a:xfrm>
            <a:off x="11762511" y="6483928"/>
            <a:ext cx="0" cy="155863"/>
          </a:xfrm>
          <a:prstGeom prst="line">
            <a:avLst/>
          </a:prstGeom>
          <a:ln>
            <a:solidFill>
              <a:schemeClr val="bg2">
                <a:lumMod val="75000"/>
              </a:schemeClr>
            </a:solidFill>
          </a:ln>
        </p:spPr>
        <p:style>
          <a:lnRef idx="1">
            <a:schemeClr val="dk1"/>
          </a:lnRef>
          <a:fillRef idx="0">
            <a:schemeClr val="dk1"/>
          </a:fillRef>
          <a:effectRef idx="0">
            <a:schemeClr val="dk1"/>
          </a:effectRef>
          <a:fontRef idx="minor">
            <a:schemeClr val="tx1"/>
          </a:fontRef>
        </p:style>
      </p:cxnSp>
      <p:sp>
        <p:nvSpPr>
          <p:cNvPr id="8" name="Zástupný objekt pre text 14">
            <a:extLst>
              <a:ext uri="{FF2B5EF4-FFF2-40B4-BE49-F238E27FC236}">
                <a16:creationId xmlns:a16="http://schemas.microsoft.com/office/drawing/2014/main" id="{DF77633E-8A82-479A-B743-493A88B5B796}"/>
              </a:ext>
            </a:extLst>
          </p:cNvPr>
          <p:cNvSpPr>
            <a:spLocks noGrp="1"/>
          </p:cNvSpPr>
          <p:nvPr>
            <p:ph type="body" sz="quarter" idx="16" hasCustomPrompt="1"/>
          </p:nvPr>
        </p:nvSpPr>
        <p:spPr>
          <a:xfrm>
            <a:off x="8672947" y="6431973"/>
            <a:ext cx="3089564" cy="207818"/>
          </a:xfrm>
          <a:prstGeom prst="rect">
            <a:avLst/>
          </a:prstGeom>
        </p:spPr>
        <p:txBody>
          <a:bodyPr/>
          <a:lstStyle>
            <a:lvl1pPr algn="r">
              <a:defRPr sz="950" b="0">
                <a:solidFill>
                  <a:schemeClr val="bg1">
                    <a:lumMod val="50000"/>
                  </a:schemeClr>
                </a:solidFill>
              </a:defRPr>
            </a:lvl1pPr>
            <a:lvl2pPr>
              <a:defRPr sz="950" b="0">
                <a:solidFill>
                  <a:schemeClr val="bg1">
                    <a:lumMod val="50000"/>
                  </a:schemeClr>
                </a:solidFill>
              </a:defRPr>
            </a:lvl2pPr>
            <a:lvl3pPr>
              <a:defRPr sz="950" b="0">
                <a:solidFill>
                  <a:schemeClr val="bg1">
                    <a:lumMod val="50000"/>
                  </a:schemeClr>
                </a:solidFill>
              </a:defRPr>
            </a:lvl3pPr>
            <a:lvl4pPr>
              <a:defRPr sz="950" b="0">
                <a:solidFill>
                  <a:schemeClr val="bg1">
                    <a:lumMod val="50000"/>
                  </a:schemeClr>
                </a:solidFill>
              </a:defRPr>
            </a:lvl4pPr>
            <a:lvl5pPr>
              <a:defRPr sz="950" b="0">
                <a:solidFill>
                  <a:schemeClr val="bg1">
                    <a:lumMod val="50000"/>
                  </a:schemeClr>
                </a:solidFill>
              </a:defRPr>
            </a:lvl5pPr>
          </a:lstStyle>
          <a:p>
            <a:pPr lvl="0"/>
            <a:r>
              <a:rPr lang="en-US" noProof="0"/>
              <a:t>Název prezentace (volitelně)</a:t>
            </a:r>
          </a:p>
        </p:txBody>
      </p:sp>
      <p:sp>
        <p:nvSpPr>
          <p:cNvPr id="9" name="BlokTextu 10">
            <a:extLst>
              <a:ext uri="{FF2B5EF4-FFF2-40B4-BE49-F238E27FC236}">
                <a16:creationId xmlns:a16="http://schemas.microsoft.com/office/drawing/2014/main" id="{16C76A0A-00CD-4216-A063-C6C11FE35443}"/>
              </a:ext>
            </a:extLst>
          </p:cNvPr>
          <p:cNvSpPr txBox="1"/>
          <p:nvPr userDrawn="1"/>
        </p:nvSpPr>
        <p:spPr>
          <a:xfrm>
            <a:off x="11853949" y="6431973"/>
            <a:ext cx="338051" cy="207818"/>
          </a:xfrm>
          <a:prstGeom prst="rect">
            <a:avLst/>
          </a:prstGeom>
        </p:spPr>
        <p:txBody>
          <a:bodyPr vert="horz" wrap="square" lIns="0" tIns="45720" rIns="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fld id="{B0E1C688-2A94-4C23-89D7-1BDBDDABE19E}" type="slidenum">
              <a:rPr lang="en-US" sz="950" b="0" kern="1200" noProof="0" smtClean="0">
                <a:solidFill>
                  <a:schemeClr val="bg1">
                    <a:lumMod val="50000"/>
                  </a:schemeClr>
                </a:solidFill>
                <a:latin typeface="+mn-lt"/>
                <a:ea typeface="+mn-ea"/>
                <a:cs typeface="+mn-cs"/>
              </a:rPr>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t>‹#›</a:t>
            </a:fld>
            <a:endParaRPr lang="en-US" sz="950" b="0" kern="1200" noProof="0" dirty="0">
              <a:solidFill>
                <a:schemeClr val="bg1">
                  <a:lumMod val="50000"/>
                </a:schemeClr>
              </a:solidFill>
              <a:latin typeface="+mn-lt"/>
              <a:ea typeface="+mn-ea"/>
              <a:cs typeface="+mn-cs"/>
            </a:endParaRPr>
          </a:p>
        </p:txBody>
      </p:sp>
    </p:spTree>
    <p:extLst>
      <p:ext uri="{BB962C8B-B14F-4D97-AF65-F5344CB8AC3E}">
        <p14:creationId xmlns:p14="http://schemas.microsoft.com/office/powerpoint/2010/main" val="15487530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Quote 2">
    <p:bg>
      <p:bgPr>
        <a:solidFill>
          <a:schemeClr val="bg1"/>
        </a:solidFill>
        <a:effectLst/>
      </p:bgPr>
    </p:bg>
    <p:spTree>
      <p:nvGrpSpPr>
        <p:cNvPr id="1" name=""/>
        <p:cNvGrpSpPr/>
        <p:nvPr/>
      </p:nvGrpSpPr>
      <p:grpSpPr>
        <a:xfrm>
          <a:off x="0" y="0"/>
          <a:ext cx="0" cy="0"/>
          <a:chOff x="0" y="0"/>
          <a:chExt cx="0" cy="0"/>
        </a:xfrm>
      </p:grpSpPr>
      <p:sp>
        <p:nvSpPr>
          <p:cNvPr id="4" name="Zástupný objekt pre obrázok 3">
            <a:extLst>
              <a:ext uri="{FF2B5EF4-FFF2-40B4-BE49-F238E27FC236}">
                <a16:creationId xmlns:a16="http://schemas.microsoft.com/office/drawing/2014/main" id="{727DD61A-3A44-4F12-8C46-8676D0961597}"/>
              </a:ext>
            </a:extLst>
          </p:cNvPr>
          <p:cNvSpPr>
            <a:spLocks noGrp="1"/>
          </p:cNvSpPr>
          <p:nvPr>
            <p:ph type="pic" sz="quarter" idx="17"/>
          </p:nvPr>
        </p:nvSpPr>
        <p:spPr>
          <a:xfrm>
            <a:off x="0" y="-1"/>
            <a:ext cx="4581939" cy="6271591"/>
          </a:xfrm>
          <a:prstGeom prst="rect">
            <a:avLst/>
          </a:prstGeom>
        </p:spPr>
        <p:txBody>
          <a:bodyPr anchor="t"/>
          <a:lstStyle>
            <a:lvl1pPr>
              <a:defRPr sz="1200"/>
            </a:lvl1pPr>
          </a:lstStyle>
          <a:p>
            <a:r>
              <a:rPr lang="cs-CZ" noProof="0"/>
              <a:t>Kliknutím na ikonu přidáte obrázek.</a:t>
            </a:r>
            <a:endParaRPr lang="en-US" noProof="0"/>
          </a:p>
        </p:txBody>
      </p:sp>
      <p:sp>
        <p:nvSpPr>
          <p:cNvPr id="12" name="Zástupný objekt pre obrázok 3">
            <a:extLst>
              <a:ext uri="{FF2B5EF4-FFF2-40B4-BE49-F238E27FC236}">
                <a16:creationId xmlns:a16="http://schemas.microsoft.com/office/drawing/2014/main" id="{23914C9C-720C-4EAC-9F1B-D5C9B73DC24C}"/>
              </a:ext>
            </a:extLst>
          </p:cNvPr>
          <p:cNvSpPr>
            <a:spLocks noGrp="1"/>
          </p:cNvSpPr>
          <p:nvPr>
            <p:ph type="pic" sz="quarter" idx="18"/>
          </p:nvPr>
        </p:nvSpPr>
        <p:spPr>
          <a:xfrm>
            <a:off x="7245625" y="-2"/>
            <a:ext cx="4946371" cy="6271591"/>
          </a:xfrm>
          <a:prstGeom prst="rect">
            <a:avLst/>
          </a:prstGeom>
        </p:spPr>
        <p:txBody>
          <a:bodyPr/>
          <a:lstStyle>
            <a:lvl1pPr>
              <a:defRPr sz="1200"/>
            </a:lvl1pPr>
          </a:lstStyle>
          <a:p>
            <a:r>
              <a:rPr lang="cs-CZ" noProof="0"/>
              <a:t>Kliknutím na ikonu přidáte obrázek.</a:t>
            </a:r>
            <a:endParaRPr lang="en-US" noProof="0"/>
          </a:p>
        </p:txBody>
      </p:sp>
      <p:sp>
        <p:nvSpPr>
          <p:cNvPr id="7" name="Zástupný objekt pre text 2">
            <a:extLst>
              <a:ext uri="{FF2B5EF4-FFF2-40B4-BE49-F238E27FC236}">
                <a16:creationId xmlns:a16="http://schemas.microsoft.com/office/drawing/2014/main" id="{9F3D47DB-FFE7-443F-ABB2-22B2D4A9D45E}"/>
              </a:ext>
            </a:extLst>
          </p:cNvPr>
          <p:cNvSpPr>
            <a:spLocks noGrp="1"/>
          </p:cNvSpPr>
          <p:nvPr>
            <p:ph type="body" idx="1" hasCustomPrompt="1"/>
          </p:nvPr>
        </p:nvSpPr>
        <p:spPr>
          <a:xfrm>
            <a:off x="2633870" y="2633421"/>
            <a:ext cx="6609521" cy="2167180"/>
          </a:xfrm>
          <a:prstGeom prst="rect">
            <a:avLst/>
          </a:prstGeom>
        </p:spPr>
        <p:txBody>
          <a:bodyPr vert="horz" lIns="91440" tIns="45720" rIns="91440" bIns="45720" rtlCol="0" anchor="ctr">
            <a:normAutofit/>
          </a:bodyPr>
          <a:lstStyle>
            <a:lvl1pPr>
              <a:defRPr/>
            </a:lvl1pPr>
          </a:lstStyle>
          <a:p>
            <a:pPr lvl="0"/>
            <a:r>
              <a:rPr lang="en-US" noProof="0"/>
              <a:t>Nechť již hříšné saxofony ďáblů rozezvučí síň úděsnými tóny waltzu, tanga a quickstepu.</a:t>
            </a:r>
          </a:p>
        </p:txBody>
      </p:sp>
      <p:sp>
        <p:nvSpPr>
          <p:cNvPr id="10" name="Zástupný objekt pre text 8">
            <a:extLst>
              <a:ext uri="{FF2B5EF4-FFF2-40B4-BE49-F238E27FC236}">
                <a16:creationId xmlns:a16="http://schemas.microsoft.com/office/drawing/2014/main" id="{0DB67311-3873-433E-B144-F8329F5A126F}"/>
              </a:ext>
            </a:extLst>
          </p:cNvPr>
          <p:cNvSpPr>
            <a:spLocks noGrp="1"/>
          </p:cNvSpPr>
          <p:nvPr>
            <p:ph type="body" sz="quarter" idx="14" hasCustomPrompt="1"/>
          </p:nvPr>
        </p:nvSpPr>
        <p:spPr>
          <a:xfrm>
            <a:off x="4221956" y="4880169"/>
            <a:ext cx="3748088" cy="385763"/>
          </a:xfrm>
          <a:prstGeom prst="rect">
            <a:avLst/>
          </a:prstGeom>
        </p:spPr>
        <p:txBody>
          <a:bodyPr/>
          <a:lstStyle>
            <a:lvl1pPr>
              <a:defRPr sz="1600" b="0">
                <a:solidFill>
                  <a:schemeClr val="tx1">
                    <a:lumMod val="75000"/>
                    <a:lumOff val="25000"/>
                  </a:schemeClr>
                </a:solidFill>
              </a:defRPr>
            </a:lvl1pPr>
          </a:lstStyle>
          <a:p>
            <a:pPr lvl="0"/>
            <a:r>
              <a:rPr lang="en-US" noProof="0"/>
              <a:t>Milan Zinek, CEO, ALEF Group</a:t>
            </a:r>
          </a:p>
        </p:txBody>
      </p:sp>
      <p:sp>
        <p:nvSpPr>
          <p:cNvPr id="3" name="Zástupný objekt pre obrázok 2">
            <a:extLst>
              <a:ext uri="{FF2B5EF4-FFF2-40B4-BE49-F238E27FC236}">
                <a16:creationId xmlns:a16="http://schemas.microsoft.com/office/drawing/2014/main" id="{0D103FE7-852B-43EA-B38E-05E5D3529B86}"/>
              </a:ext>
            </a:extLst>
          </p:cNvPr>
          <p:cNvSpPr>
            <a:spLocks noGrp="1"/>
          </p:cNvSpPr>
          <p:nvPr>
            <p:ph type="pic" sz="quarter" idx="15"/>
          </p:nvPr>
        </p:nvSpPr>
        <p:spPr>
          <a:xfrm>
            <a:off x="5328396" y="935615"/>
            <a:ext cx="1535207" cy="1537421"/>
          </a:xfrm>
          <a:prstGeom prst="ellipse">
            <a:avLst/>
          </a:prstGeom>
        </p:spPr>
        <p:txBody>
          <a:bodyPr/>
          <a:lstStyle>
            <a:lvl1pPr>
              <a:defRPr sz="1200"/>
            </a:lvl1pPr>
          </a:lstStyle>
          <a:p>
            <a:r>
              <a:rPr lang="cs-CZ" noProof="0"/>
              <a:t>Kliknutím na ikonu přidáte obrázek.</a:t>
            </a:r>
            <a:endParaRPr lang="en-US" noProof="0"/>
          </a:p>
        </p:txBody>
      </p:sp>
      <p:cxnSp>
        <p:nvCxnSpPr>
          <p:cNvPr id="15" name="Rovná spojnica 14">
            <a:extLst>
              <a:ext uri="{FF2B5EF4-FFF2-40B4-BE49-F238E27FC236}">
                <a16:creationId xmlns:a16="http://schemas.microsoft.com/office/drawing/2014/main" id="{725F3F99-9CCB-4801-BF9D-E86B0B3D82B0}"/>
              </a:ext>
            </a:extLst>
          </p:cNvPr>
          <p:cNvCxnSpPr/>
          <p:nvPr/>
        </p:nvCxnSpPr>
        <p:spPr>
          <a:xfrm>
            <a:off x="11762511" y="6483928"/>
            <a:ext cx="0" cy="155863"/>
          </a:xfrm>
          <a:prstGeom prst="line">
            <a:avLst/>
          </a:prstGeom>
          <a:ln>
            <a:solidFill>
              <a:schemeClr val="bg2">
                <a:lumMod val="75000"/>
              </a:schemeClr>
            </a:solidFill>
          </a:ln>
        </p:spPr>
        <p:style>
          <a:lnRef idx="1">
            <a:schemeClr val="dk1"/>
          </a:lnRef>
          <a:fillRef idx="0">
            <a:schemeClr val="dk1"/>
          </a:fillRef>
          <a:effectRef idx="0">
            <a:schemeClr val="dk1"/>
          </a:effectRef>
          <a:fontRef idx="minor">
            <a:schemeClr val="tx1"/>
          </a:fontRef>
        </p:style>
      </p:cxnSp>
      <p:sp>
        <p:nvSpPr>
          <p:cNvPr id="8" name="Zástupný objekt pre text 14">
            <a:extLst>
              <a:ext uri="{FF2B5EF4-FFF2-40B4-BE49-F238E27FC236}">
                <a16:creationId xmlns:a16="http://schemas.microsoft.com/office/drawing/2014/main" id="{DF77633E-8A82-479A-B743-493A88B5B796}"/>
              </a:ext>
            </a:extLst>
          </p:cNvPr>
          <p:cNvSpPr>
            <a:spLocks noGrp="1"/>
          </p:cNvSpPr>
          <p:nvPr>
            <p:ph type="body" sz="quarter" idx="16" hasCustomPrompt="1"/>
          </p:nvPr>
        </p:nvSpPr>
        <p:spPr>
          <a:xfrm>
            <a:off x="8672947" y="6431973"/>
            <a:ext cx="3089564" cy="207818"/>
          </a:xfrm>
          <a:prstGeom prst="rect">
            <a:avLst/>
          </a:prstGeom>
        </p:spPr>
        <p:txBody>
          <a:bodyPr/>
          <a:lstStyle>
            <a:lvl1pPr algn="r">
              <a:defRPr sz="950" b="0">
                <a:solidFill>
                  <a:schemeClr val="bg1">
                    <a:lumMod val="50000"/>
                  </a:schemeClr>
                </a:solidFill>
              </a:defRPr>
            </a:lvl1pPr>
            <a:lvl2pPr>
              <a:defRPr sz="950" b="0">
                <a:solidFill>
                  <a:schemeClr val="bg1">
                    <a:lumMod val="50000"/>
                  </a:schemeClr>
                </a:solidFill>
              </a:defRPr>
            </a:lvl2pPr>
            <a:lvl3pPr>
              <a:defRPr sz="950" b="0">
                <a:solidFill>
                  <a:schemeClr val="bg1">
                    <a:lumMod val="50000"/>
                  </a:schemeClr>
                </a:solidFill>
              </a:defRPr>
            </a:lvl3pPr>
            <a:lvl4pPr>
              <a:defRPr sz="950" b="0">
                <a:solidFill>
                  <a:schemeClr val="bg1">
                    <a:lumMod val="50000"/>
                  </a:schemeClr>
                </a:solidFill>
              </a:defRPr>
            </a:lvl4pPr>
            <a:lvl5pPr>
              <a:defRPr sz="950" b="0">
                <a:solidFill>
                  <a:schemeClr val="bg1">
                    <a:lumMod val="50000"/>
                  </a:schemeClr>
                </a:solidFill>
              </a:defRPr>
            </a:lvl5pPr>
          </a:lstStyle>
          <a:p>
            <a:pPr lvl="0"/>
            <a:r>
              <a:rPr lang="en-US" noProof="0"/>
              <a:t>Název prezentace (volitelně)</a:t>
            </a:r>
          </a:p>
        </p:txBody>
      </p:sp>
      <p:sp>
        <p:nvSpPr>
          <p:cNvPr id="11" name="BlokTextu 10">
            <a:extLst>
              <a:ext uri="{FF2B5EF4-FFF2-40B4-BE49-F238E27FC236}">
                <a16:creationId xmlns:a16="http://schemas.microsoft.com/office/drawing/2014/main" id="{7BADDC9E-E16F-47F1-BE18-338DB75F97B3}"/>
              </a:ext>
            </a:extLst>
          </p:cNvPr>
          <p:cNvSpPr txBox="1"/>
          <p:nvPr/>
        </p:nvSpPr>
        <p:spPr>
          <a:xfrm>
            <a:off x="11853949" y="6431973"/>
            <a:ext cx="338051" cy="207818"/>
          </a:xfrm>
          <a:prstGeom prst="rect">
            <a:avLst/>
          </a:prstGeom>
        </p:spPr>
        <p:txBody>
          <a:bodyPr vert="horz" wrap="square" lIns="0" tIns="45720" rIns="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fld id="{B0E1C688-2A94-4C23-89D7-1BDBDDABE19E}" type="slidenum">
              <a:rPr lang="en-US" sz="950" b="0" kern="1200" noProof="0" smtClean="0">
                <a:solidFill>
                  <a:schemeClr val="bg1">
                    <a:lumMod val="50000"/>
                  </a:schemeClr>
                </a:solidFill>
                <a:latin typeface="+mn-lt"/>
                <a:ea typeface="+mn-ea"/>
                <a:cs typeface="+mn-cs"/>
              </a:rPr>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t>‹#›</a:t>
            </a:fld>
            <a:endParaRPr lang="en-US" sz="950" b="0" kern="1200" noProof="0">
              <a:solidFill>
                <a:schemeClr val="bg1">
                  <a:lumMod val="50000"/>
                </a:schemeClr>
              </a:solidFill>
              <a:latin typeface="+mn-lt"/>
              <a:ea typeface="+mn-ea"/>
              <a:cs typeface="+mn-cs"/>
            </a:endParaRPr>
          </a:p>
        </p:txBody>
      </p:sp>
    </p:spTree>
    <p:extLst>
      <p:ext uri="{BB962C8B-B14F-4D97-AF65-F5344CB8AC3E}">
        <p14:creationId xmlns:p14="http://schemas.microsoft.com/office/powerpoint/2010/main" val="37660946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_Quote 2">
    <p:bg>
      <p:bgPr>
        <a:solidFill>
          <a:schemeClr val="bg1"/>
        </a:solidFill>
        <a:effectLst/>
      </p:bgPr>
    </p:bg>
    <p:spTree>
      <p:nvGrpSpPr>
        <p:cNvPr id="1" name=""/>
        <p:cNvGrpSpPr/>
        <p:nvPr/>
      </p:nvGrpSpPr>
      <p:grpSpPr>
        <a:xfrm>
          <a:off x="0" y="0"/>
          <a:ext cx="0" cy="0"/>
          <a:chOff x="0" y="0"/>
          <a:chExt cx="0" cy="0"/>
        </a:xfrm>
      </p:grpSpPr>
      <p:sp>
        <p:nvSpPr>
          <p:cNvPr id="12" name="Zástupný objekt pre obrázok 3">
            <a:extLst>
              <a:ext uri="{FF2B5EF4-FFF2-40B4-BE49-F238E27FC236}">
                <a16:creationId xmlns:a16="http://schemas.microsoft.com/office/drawing/2014/main" id="{23914C9C-720C-4EAC-9F1B-D5C9B73DC24C}"/>
              </a:ext>
            </a:extLst>
          </p:cNvPr>
          <p:cNvSpPr>
            <a:spLocks noGrp="1"/>
          </p:cNvSpPr>
          <p:nvPr>
            <p:ph type="pic" sz="quarter" idx="18"/>
          </p:nvPr>
        </p:nvSpPr>
        <p:spPr>
          <a:xfrm>
            <a:off x="7245625" y="-2"/>
            <a:ext cx="4946371" cy="6271591"/>
          </a:xfrm>
          <a:prstGeom prst="rect">
            <a:avLst/>
          </a:prstGeom>
        </p:spPr>
        <p:txBody>
          <a:bodyPr/>
          <a:lstStyle>
            <a:lvl1pPr>
              <a:defRPr sz="1200"/>
            </a:lvl1pPr>
          </a:lstStyle>
          <a:p>
            <a:r>
              <a:rPr lang="cs-CZ" noProof="0"/>
              <a:t>Kliknutím na ikonu přidáte obrázek.</a:t>
            </a:r>
            <a:endParaRPr lang="en-US" noProof="0"/>
          </a:p>
        </p:txBody>
      </p:sp>
      <p:sp>
        <p:nvSpPr>
          <p:cNvPr id="7" name="Zástupný objekt pre text 2">
            <a:extLst>
              <a:ext uri="{FF2B5EF4-FFF2-40B4-BE49-F238E27FC236}">
                <a16:creationId xmlns:a16="http://schemas.microsoft.com/office/drawing/2014/main" id="{9F3D47DB-FFE7-443F-ABB2-22B2D4A9D45E}"/>
              </a:ext>
            </a:extLst>
          </p:cNvPr>
          <p:cNvSpPr>
            <a:spLocks noGrp="1"/>
          </p:cNvSpPr>
          <p:nvPr>
            <p:ph type="body" idx="1" hasCustomPrompt="1"/>
          </p:nvPr>
        </p:nvSpPr>
        <p:spPr>
          <a:xfrm>
            <a:off x="993914" y="2176670"/>
            <a:ext cx="8249478" cy="2623931"/>
          </a:xfrm>
          <a:prstGeom prst="rect">
            <a:avLst/>
          </a:prstGeom>
        </p:spPr>
        <p:txBody>
          <a:bodyPr vert="horz" lIns="91440" tIns="45720" rIns="91440" bIns="45720" rtlCol="0" anchor="ctr">
            <a:normAutofit/>
          </a:bodyPr>
          <a:lstStyle>
            <a:lvl1pPr algn="l">
              <a:defRPr/>
            </a:lvl1pPr>
          </a:lstStyle>
          <a:p>
            <a:pPr lvl="0"/>
            <a:r>
              <a:rPr lang="en-US" noProof="0"/>
              <a:t>Nechť již hříšné saxofony ďáblů rozezvučí síň úděsnými tóny waltzu, tanga a quickstepu.</a:t>
            </a:r>
          </a:p>
        </p:txBody>
      </p:sp>
      <p:cxnSp>
        <p:nvCxnSpPr>
          <p:cNvPr id="15" name="Rovná spojnica 14">
            <a:extLst>
              <a:ext uri="{FF2B5EF4-FFF2-40B4-BE49-F238E27FC236}">
                <a16:creationId xmlns:a16="http://schemas.microsoft.com/office/drawing/2014/main" id="{725F3F99-9CCB-4801-BF9D-E86B0B3D82B0}"/>
              </a:ext>
            </a:extLst>
          </p:cNvPr>
          <p:cNvCxnSpPr/>
          <p:nvPr/>
        </p:nvCxnSpPr>
        <p:spPr>
          <a:xfrm>
            <a:off x="11762511" y="6483928"/>
            <a:ext cx="0" cy="155863"/>
          </a:xfrm>
          <a:prstGeom prst="line">
            <a:avLst/>
          </a:prstGeom>
          <a:ln>
            <a:solidFill>
              <a:schemeClr val="bg2">
                <a:lumMod val="75000"/>
              </a:schemeClr>
            </a:solidFill>
          </a:ln>
        </p:spPr>
        <p:style>
          <a:lnRef idx="1">
            <a:schemeClr val="dk1"/>
          </a:lnRef>
          <a:fillRef idx="0">
            <a:schemeClr val="dk1"/>
          </a:fillRef>
          <a:effectRef idx="0">
            <a:schemeClr val="dk1"/>
          </a:effectRef>
          <a:fontRef idx="minor">
            <a:schemeClr val="tx1"/>
          </a:fontRef>
        </p:style>
      </p:cxnSp>
      <p:sp>
        <p:nvSpPr>
          <p:cNvPr id="8" name="Zástupný objekt pre text 14">
            <a:extLst>
              <a:ext uri="{FF2B5EF4-FFF2-40B4-BE49-F238E27FC236}">
                <a16:creationId xmlns:a16="http://schemas.microsoft.com/office/drawing/2014/main" id="{DF77633E-8A82-479A-B743-493A88B5B796}"/>
              </a:ext>
            </a:extLst>
          </p:cNvPr>
          <p:cNvSpPr>
            <a:spLocks noGrp="1"/>
          </p:cNvSpPr>
          <p:nvPr>
            <p:ph type="body" sz="quarter" idx="16" hasCustomPrompt="1"/>
          </p:nvPr>
        </p:nvSpPr>
        <p:spPr>
          <a:xfrm>
            <a:off x="8672947" y="6431973"/>
            <a:ext cx="3089564" cy="207818"/>
          </a:xfrm>
          <a:prstGeom prst="rect">
            <a:avLst/>
          </a:prstGeom>
        </p:spPr>
        <p:txBody>
          <a:bodyPr/>
          <a:lstStyle>
            <a:lvl1pPr algn="r">
              <a:defRPr sz="950" b="0">
                <a:solidFill>
                  <a:schemeClr val="bg1">
                    <a:lumMod val="50000"/>
                  </a:schemeClr>
                </a:solidFill>
              </a:defRPr>
            </a:lvl1pPr>
            <a:lvl2pPr>
              <a:defRPr sz="950" b="0">
                <a:solidFill>
                  <a:schemeClr val="bg1">
                    <a:lumMod val="50000"/>
                  </a:schemeClr>
                </a:solidFill>
              </a:defRPr>
            </a:lvl2pPr>
            <a:lvl3pPr>
              <a:defRPr sz="950" b="0">
                <a:solidFill>
                  <a:schemeClr val="bg1">
                    <a:lumMod val="50000"/>
                  </a:schemeClr>
                </a:solidFill>
              </a:defRPr>
            </a:lvl3pPr>
            <a:lvl4pPr>
              <a:defRPr sz="950" b="0">
                <a:solidFill>
                  <a:schemeClr val="bg1">
                    <a:lumMod val="50000"/>
                  </a:schemeClr>
                </a:solidFill>
              </a:defRPr>
            </a:lvl4pPr>
            <a:lvl5pPr>
              <a:defRPr sz="950" b="0">
                <a:solidFill>
                  <a:schemeClr val="bg1">
                    <a:lumMod val="50000"/>
                  </a:schemeClr>
                </a:solidFill>
              </a:defRPr>
            </a:lvl5pPr>
          </a:lstStyle>
          <a:p>
            <a:pPr lvl="0"/>
            <a:r>
              <a:rPr lang="en-US" noProof="0"/>
              <a:t>Název prezentace (volitelně)</a:t>
            </a:r>
          </a:p>
        </p:txBody>
      </p:sp>
      <p:sp>
        <p:nvSpPr>
          <p:cNvPr id="9" name="BlokTextu 10">
            <a:extLst>
              <a:ext uri="{FF2B5EF4-FFF2-40B4-BE49-F238E27FC236}">
                <a16:creationId xmlns:a16="http://schemas.microsoft.com/office/drawing/2014/main" id="{16DAED71-E46B-482C-AD84-962A739D2491}"/>
              </a:ext>
            </a:extLst>
          </p:cNvPr>
          <p:cNvSpPr txBox="1"/>
          <p:nvPr userDrawn="1"/>
        </p:nvSpPr>
        <p:spPr>
          <a:xfrm>
            <a:off x="11853949" y="6431973"/>
            <a:ext cx="338051" cy="207818"/>
          </a:xfrm>
          <a:prstGeom prst="rect">
            <a:avLst/>
          </a:prstGeom>
        </p:spPr>
        <p:txBody>
          <a:bodyPr vert="horz" wrap="square" lIns="0" tIns="45720" rIns="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fld id="{B0E1C688-2A94-4C23-89D7-1BDBDDABE19E}" type="slidenum">
              <a:rPr lang="en-US" sz="950" b="0" kern="1200" noProof="0" smtClean="0">
                <a:solidFill>
                  <a:schemeClr val="bg1">
                    <a:lumMod val="50000"/>
                  </a:schemeClr>
                </a:solidFill>
                <a:latin typeface="+mn-lt"/>
                <a:ea typeface="+mn-ea"/>
                <a:cs typeface="+mn-cs"/>
              </a:rPr>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t>‹#›</a:t>
            </a:fld>
            <a:endParaRPr lang="en-US" sz="950" b="0" kern="1200" noProof="0" dirty="0">
              <a:solidFill>
                <a:schemeClr val="bg1">
                  <a:lumMod val="50000"/>
                </a:schemeClr>
              </a:solidFill>
              <a:latin typeface="+mn-lt"/>
              <a:ea typeface="+mn-ea"/>
              <a:cs typeface="+mn-cs"/>
            </a:endParaRPr>
          </a:p>
        </p:txBody>
      </p:sp>
    </p:spTree>
    <p:extLst>
      <p:ext uri="{BB962C8B-B14F-4D97-AF65-F5344CB8AC3E}">
        <p14:creationId xmlns:p14="http://schemas.microsoft.com/office/powerpoint/2010/main" val="42528307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Quote_3">
    <p:bg>
      <p:bgPr>
        <a:solidFill>
          <a:schemeClr val="bg1"/>
        </a:solidFill>
        <a:effectLst/>
      </p:bgPr>
    </p:bg>
    <p:spTree>
      <p:nvGrpSpPr>
        <p:cNvPr id="1" name=""/>
        <p:cNvGrpSpPr/>
        <p:nvPr/>
      </p:nvGrpSpPr>
      <p:grpSpPr>
        <a:xfrm>
          <a:off x="0" y="0"/>
          <a:ext cx="0" cy="0"/>
          <a:chOff x="0" y="0"/>
          <a:chExt cx="0" cy="0"/>
        </a:xfrm>
      </p:grpSpPr>
      <p:sp>
        <p:nvSpPr>
          <p:cNvPr id="12" name="Obdĺžnik 11">
            <a:extLst>
              <a:ext uri="{FF2B5EF4-FFF2-40B4-BE49-F238E27FC236}">
                <a16:creationId xmlns:a16="http://schemas.microsoft.com/office/drawing/2014/main" id="{9935C119-74EC-49C8-AE1F-1523246BAD02}"/>
              </a:ext>
            </a:extLst>
          </p:cNvPr>
          <p:cNvSpPr/>
          <p:nvPr/>
        </p:nvSpPr>
        <p:spPr>
          <a:xfrm>
            <a:off x="6096000" y="1"/>
            <a:ext cx="6096000" cy="685800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7" name="Zástupný objekt pre text 2">
            <a:extLst>
              <a:ext uri="{FF2B5EF4-FFF2-40B4-BE49-F238E27FC236}">
                <a16:creationId xmlns:a16="http://schemas.microsoft.com/office/drawing/2014/main" id="{9F3D47DB-FFE7-443F-ABB2-22B2D4A9D45E}"/>
              </a:ext>
            </a:extLst>
          </p:cNvPr>
          <p:cNvSpPr>
            <a:spLocks noGrp="1"/>
          </p:cNvSpPr>
          <p:nvPr>
            <p:ph type="body" idx="1" hasCustomPrompt="1"/>
          </p:nvPr>
        </p:nvSpPr>
        <p:spPr>
          <a:xfrm>
            <a:off x="7034644" y="1475509"/>
            <a:ext cx="4319155" cy="3938156"/>
          </a:xfrm>
          <a:prstGeom prst="rect">
            <a:avLst/>
          </a:prstGeom>
        </p:spPr>
        <p:txBody>
          <a:bodyPr vert="horz" lIns="91440" tIns="45720" rIns="91440" bIns="45720" rtlCol="0" anchor="ctr">
            <a:normAutofit/>
          </a:bodyPr>
          <a:lstStyle>
            <a:lvl1pPr>
              <a:lnSpc>
                <a:spcPct val="120000"/>
              </a:lnSpc>
              <a:spcBef>
                <a:spcPts val="0"/>
              </a:spcBef>
              <a:defRPr/>
            </a:lvl1pPr>
          </a:lstStyle>
          <a:p>
            <a:pPr lvl="0"/>
            <a:r>
              <a:rPr lang="en-US" noProof="0"/>
              <a:t>Nechť již hříšné saxofony ďáblů rozezvučí síň</a:t>
            </a:r>
          </a:p>
          <a:p>
            <a:pPr lvl="0"/>
            <a:r>
              <a:rPr lang="en-US" noProof="0"/>
              <a:t>úděsnými tóny waltzu, tanga a quickstepu.</a:t>
            </a:r>
          </a:p>
        </p:txBody>
      </p:sp>
      <p:sp>
        <p:nvSpPr>
          <p:cNvPr id="10" name="Zástupný objekt pre text 8">
            <a:extLst>
              <a:ext uri="{FF2B5EF4-FFF2-40B4-BE49-F238E27FC236}">
                <a16:creationId xmlns:a16="http://schemas.microsoft.com/office/drawing/2014/main" id="{0DB67311-3873-433E-B144-F8329F5A126F}"/>
              </a:ext>
            </a:extLst>
          </p:cNvPr>
          <p:cNvSpPr>
            <a:spLocks noGrp="1"/>
          </p:cNvSpPr>
          <p:nvPr>
            <p:ph type="body" sz="quarter" idx="14" hasCustomPrompt="1"/>
          </p:nvPr>
        </p:nvSpPr>
        <p:spPr>
          <a:xfrm>
            <a:off x="1284578" y="4356822"/>
            <a:ext cx="3748088" cy="385763"/>
          </a:xfrm>
          <a:prstGeom prst="rect">
            <a:avLst/>
          </a:prstGeom>
        </p:spPr>
        <p:txBody>
          <a:bodyPr/>
          <a:lstStyle>
            <a:lvl1pPr>
              <a:defRPr sz="1200" b="0">
                <a:solidFill>
                  <a:schemeClr val="tx1">
                    <a:lumMod val="75000"/>
                    <a:lumOff val="25000"/>
                  </a:schemeClr>
                </a:solidFill>
              </a:defRPr>
            </a:lvl1pPr>
          </a:lstStyle>
          <a:p>
            <a:pPr lvl="0"/>
            <a:r>
              <a:rPr lang="en-US" noProof="0"/>
              <a:t>CEO, ALEF Group</a:t>
            </a:r>
          </a:p>
        </p:txBody>
      </p:sp>
      <p:sp>
        <p:nvSpPr>
          <p:cNvPr id="3" name="Zástupný objekt pre obrázok 2">
            <a:extLst>
              <a:ext uri="{FF2B5EF4-FFF2-40B4-BE49-F238E27FC236}">
                <a16:creationId xmlns:a16="http://schemas.microsoft.com/office/drawing/2014/main" id="{0D103FE7-852B-43EA-B38E-05E5D3529B86}"/>
              </a:ext>
            </a:extLst>
          </p:cNvPr>
          <p:cNvSpPr>
            <a:spLocks noGrp="1"/>
          </p:cNvSpPr>
          <p:nvPr>
            <p:ph type="pic" sz="quarter" idx="15"/>
          </p:nvPr>
        </p:nvSpPr>
        <p:spPr>
          <a:xfrm>
            <a:off x="2408551" y="2307215"/>
            <a:ext cx="1535207" cy="1537421"/>
          </a:xfrm>
          <a:prstGeom prst="ellipse">
            <a:avLst/>
          </a:prstGeom>
        </p:spPr>
        <p:txBody>
          <a:bodyPr/>
          <a:lstStyle>
            <a:lvl1pPr>
              <a:defRPr sz="1200"/>
            </a:lvl1pPr>
          </a:lstStyle>
          <a:p>
            <a:r>
              <a:rPr lang="cs-CZ" noProof="0"/>
              <a:t>Kliknutím na ikonu přidáte obrázek.</a:t>
            </a:r>
            <a:endParaRPr lang="en-US" noProof="0"/>
          </a:p>
        </p:txBody>
      </p:sp>
      <p:sp>
        <p:nvSpPr>
          <p:cNvPr id="8" name="Zástupný objekt pre text 8">
            <a:extLst>
              <a:ext uri="{FF2B5EF4-FFF2-40B4-BE49-F238E27FC236}">
                <a16:creationId xmlns:a16="http://schemas.microsoft.com/office/drawing/2014/main" id="{16E9E237-0268-4D3D-91C4-40387DAB0A19}"/>
              </a:ext>
            </a:extLst>
          </p:cNvPr>
          <p:cNvSpPr>
            <a:spLocks noGrp="1"/>
          </p:cNvSpPr>
          <p:nvPr>
            <p:ph type="body" sz="quarter" idx="16" hasCustomPrompt="1"/>
          </p:nvPr>
        </p:nvSpPr>
        <p:spPr>
          <a:xfrm>
            <a:off x="1291721" y="4025612"/>
            <a:ext cx="3748088" cy="385763"/>
          </a:xfrm>
          <a:prstGeom prst="rect">
            <a:avLst/>
          </a:prstGeom>
        </p:spPr>
        <p:txBody>
          <a:bodyPr/>
          <a:lstStyle>
            <a:lvl1pPr>
              <a:defRPr sz="1800" b="1">
                <a:solidFill>
                  <a:schemeClr val="tx2"/>
                </a:solidFill>
              </a:defRPr>
            </a:lvl1pPr>
          </a:lstStyle>
          <a:p>
            <a:pPr lvl="0"/>
            <a:r>
              <a:rPr lang="en-US" noProof="0"/>
              <a:t>Milan Zinek</a:t>
            </a:r>
          </a:p>
        </p:txBody>
      </p:sp>
      <p:sp>
        <p:nvSpPr>
          <p:cNvPr id="14" name="Zástupný objekt pre text 13">
            <a:extLst>
              <a:ext uri="{FF2B5EF4-FFF2-40B4-BE49-F238E27FC236}">
                <a16:creationId xmlns:a16="http://schemas.microsoft.com/office/drawing/2014/main" id="{ACA22D96-AB45-4340-BC17-743ADAFD8AC1}"/>
              </a:ext>
            </a:extLst>
          </p:cNvPr>
          <p:cNvSpPr>
            <a:spLocks noGrp="1"/>
          </p:cNvSpPr>
          <p:nvPr>
            <p:ph type="body" sz="quarter" idx="17"/>
          </p:nvPr>
        </p:nvSpPr>
        <p:spPr>
          <a:xfrm>
            <a:off x="893619" y="405245"/>
            <a:ext cx="4768850" cy="1433513"/>
          </a:xfrm>
          <a:prstGeom prst="rect">
            <a:avLst/>
          </a:prstGeom>
        </p:spPr>
        <p:txBody>
          <a:bodyPr/>
          <a:lstStyle>
            <a:lvl1pPr marL="0" indent="0" algn="l">
              <a:buFont typeface="Arial" panose="020B0604020202020204" pitchFamily="34" charset="0"/>
              <a:buNone/>
              <a:defRPr sz="2400">
                <a:solidFill>
                  <a:schemeClr val="tx1"/>
                </a:solidFill>
              </a:defRPr>
            </a:lvl1pPr>
            <a:lvl2pPr marL="457200" indent="0" algn="l">
              <a:buFont typeface="Arial" panose="020B0604020202020204" pitchFamily="34" charset="0"/>
              <a:buNone/>
              <a:defRPr sz="2400">
                <a:solidFill>
                  <a:schemeClr val="tx1"/>
                </a:solidFill>
              </a:defRPr>
            </a:lvl2pPr>
            <a:lvl3pPr marL="914400" indent="0" algn="l">
              <a:buFont typeface="Arial" panose="020B0604020202020204" pitchFamily="34" charset="0"/>
              <a:buNone/>
              <a:defRPr sz="2400">
                <a:solidFill>
                  <a:schemeClr val="tx1"/>
                </a:solidFill>
              </a:defRPr>
            </a:lvl3pPr>
            <a:lvl4pPr marL="1371600" indent="0" algn="l">
              <a:buFont typeface="Arial" panose="020B0604020202020204" pitchFamily="34" charset="0"/>
              <a:buNone/>
              <a:defRPr sz="2400">
                <a:solidFill>
                  <a:schemeClr val="tx1"/>
                </a:solidFill>
              </a:defRPr>
            </a:lvl4pPr>
            <a:lvl5pPr marL="1828800" indent="0" algn="l">
              <a:buFont typeface="Arial" panose="020B0604020202020204" pitchFamily="34" charset="0"/>
              <a:buNone/>
              <a:defRPr sz="2400">
                <a:solidFill>
                  <a:schemeClr val="tx1"/>
                </a:solidFill>
              </a:defRPr>
            </a:lvl5pPr>
          </a:lstStyle>
          <a:p>
            <a:pPr lvl="0"/>
            <a:r>
              <a:rPr lang="cs-CZ" noProof="0" dirty="0"/>
              <a:t>Upravte styly předlohy textu.</a:t>
            </a:r>
          </a:p>
        </p:txBody>
      </p:sp>
    </p:spTree>
    <p:extLst>
      <p:ext uri="{BB962C8B-B14F-4D97-AF65-F5344CB8AC3E}">
        <p14:creationId xmlns:p14="http://schemas.microsoft.com/office/powerpoint/2010/main" val="5026216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Quote_3">
    <p:bg>
      <p:bgPr>
        <a:solidFill>
          <a:schemeClr val="bg1"/>
        </a:solidFill>
        <a:effectLst/>
      </p:bgPr>
    </p:bg>
    <p:spTree>
      <p:nvGrpSpPr>
        <p:cNvPr id="1" name=""/>
        <p:cNvGrpSpPr/>
        <p:nvPr/>
      </p:nvGrpSpPr>
      <p:grpSpPr>
        <a:xfrm>
          <a:off x="0" y="0"/>
          <a:ext cx="0" cy="0"/>
          <a:chOff x="0" y="0"/>
          <a:chExt cx="0" cy="0"/>
        </a:xfrm>
      </p:grpSpPr>
      <p:sp>
        <p:nvSpPr>
          <p:cNvPr id="12" name="Obdĺžnik 11">
            <a:extLst>
              <a:ext uri="{FF2B5EF4-FFF2-40B4-BE49-F238E27FC236}">
                <a16:creationId xmlns:a16="http://schemas.microsoft.com/office/drawing/2014/main" id="{9935C119-74EC-49C8-AE1F-1523246BAD02}"/>
              </a:ext>
            </a:extLst>
          </p:cNvPr>
          <p:cNvSpPr/>
          <p:nvPr/>
        </p:nvSpPr>
        <p:spPr>
          <a:xfrm>
            <a:off x="6096000" y="1"/>
            <a:ext cx="6096000" cy="685800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7" name="Zástupný objekt pre text 2">
            <a:extLst>
              <a:ext uri="{FF2B5EF4-FFF2-40B4-BE49-F238E27FC236}">
                <a16:creationId xmlns:a16="http://schemas.microsoft.com/office/drawing/2014/main" id="{9F3D47DB-FFE7-443F-ABB2-22B2D4A9D45E}"/>
              </a:ext>
            </a:extLst>
          </p:cNvPr>
          <p:cNvSpPr>
            <a:spLocks noGrp="1"/>
          </p:cNvSpPr>
          <p:nvPr>
            <p:ph type="body" idx="1" hasCustomPrompt="1"/>
          </p:nvPr>
        </p:nvSpPr>
        <p:spPr>
          <a:xfrm>
            <a:off x="6420678" y="2842591"/>
            <a:ext cx="5605670" cy="3344980"/>
          </a:xfrm>
          <a:prstGeom prst="rect">
            <a:avLst/>
          </a:prstGeom>
        </p:spPr>
        <p:txBody>
          <a:bodyPr vert="horz" lIns="91440" tIns="45720" rIns="91440" bIns="45720" rtlCol="0" anchor="ctr">
            <a:normAutofit/>
          </a:bodyPr>
          <a:lstStyle>
            <a:lvl1pPr>
              <a:lnSpc>
                <a:spcPct val="120000"/>
              </a:lnSpc>
              <a:spcBef>
                <a:spcPts val="0"/>
              </a:spcBef>
              <a:defRPr/>
            </a:lvl1pPr>
          </a:lstStyle>
          <a:p>
            <a:pPr lvl="0"/>
            <a:r>
              <a:rPr lang="en-US" noProof="0"/>
              <a:t>Nechť již hříšné saxofony ďáblů rozezvučí síň</a:t>
            </a:r>
          </a:p>
          <a:p>
            <a:pPr lvl="0"/>
            <a:r>
              <a:rPr lang="en-US" noProof="0"/>
              <a:t>úděsnými tóny waltzu, tanga a quickstepu.</a:t>
            </a:r>
          </a:p>
        </p:txBody>
      </p:sp>
      <p:sp>
        <p:nvSpPr>
          <p:cNvPr id="10" name="Zástupný objekt pre text 8">
            <a:extLst>
              <a:ext uri="{FF2B5EF4-FFF2-40B4-BE49-F238E27FC236}">
                <a16:creationId xmlns:a16="http://schemas.microsoft.com/office/drawing/2014/main" id="{0DB67311-3873-433E-B144-F8329F5A126F}"/>
              </a:ext>
            </a:extLst>
          </p:cNvPr>
          <p:cNvSpPr>
            <a:spLocks noGrp="1"/>
          </p:cNvSpPr>
          <p:nvPr>
            <p:ph type="body" sz="quarter" idx="14" hasCustomPrompt="1"/>
          </p:nvPr>
        </p:nvSpPr>
        <p:spPr>
          <a:xfrm>
            <a:off x="1284578" y="4356822"/>
            <a:ext cx="3748088" cy="385763"/>
          </a:xfrm>
          <a:prstGeom prst="rect">
            <a:avLst/>
          </a:prstGeom>
        </p:spPr>
        <p:txBody>
          <a:bodyPr/>
          <a:lstStyle>
            <a:lvl1pPr>
              <a:defRPr sz="1200" b="0">
                <a:solidFill>
                  <a:schemeClr val="tx1">
                    <a:lumMod val="75000"/>
                    <a:lumOff val="25000"/>
                  </a:schemeClr>
                </a:solidFill>
              </a:defRPr>
            </a:lvl1pPr>
          </a:lstStyle>
          <a:p>
            <a:pPr lvl="0"/>
            <a:r>
              <a:rPr lang="en-US" noProof="0"/>
              <a:t>CEO, ALEF Group</a:t>
            </a:r>
          </a:p>
        </p:txBody>
      </p:sp>
      <p:sp>
        <p:nvSpPr>
          <p:cNvPr id="3" name="Zástupný objekt pre obrázok 2">
            <a:extLst>
              <a:ext uri="{FF2B5EF4-FFF2-40B4-BE49-F238E27FC236}">
                <a16:creationId xmlns:a16="http://schemas.microsoft.com/office/drawing/2014/main" id="{0D103FE7-852B-43EA-B38E-05E5D3529B86}"/>
              </a:ext>
            </a:extLst>
          </p:cNvPr>
          <p:cNvSpPr>
            <a:spLocks noGrp="1"/>
          </p:cNvSpPr>
          <p:nvPr>
            <p:ph type="pic" sz="quarter" idx="15"/>
          </p:nvPr>
        </p:nvSpPr>
        <p:spPr>
          <a:xfrm>
            <a:off x="2408551" y="2307215"/>
            <a:ext cx="1535207" cy="1537421"/>
          </a:xfrm>
          <a:prstGeom prst="ellipse">
            <a:avLst/>
          </a:prstGeom>
        </p:spPr>
        <p:txBody>
          <a:bodyPr/>
          <a:lstStyle>
            <a:lvl1pPr>
              <a:defRPr sz="1200"/>
            </a:lvl1pPr>
          </a:lstStyle>
          <a:p>
            <a:r>
              <a:rPr lang="cs-CZ" noProof="0"/>
              <a:t>Kliknutím na ikonu přidáte obrázek.</a:t>
            </a:r>
            <a:endParaRPr lang="en-US" noProof="0"/>
          </a:p>
        </p:txBody>
      </p:sp>
      <p:sp>
        <p:nvSpPr>
          <p:cNvPr id="8" name="Zástupný objekt pre text 8">
            <a:extLst>
              <a:ext uri="{FF2B5EF4-FFF2-40B4-BE49-F238E27FC236}">
                <a16:creationId xmlns:a16="http://schemas.microsoft.com/office/drawing/2014/main" id="{16E9E237-0268-4D3D-91C4-40387DAB0A19}"/>
              </a:ext>
            </a:extLst>
          </p:cNvPr>
          <p:cNvSpPr>
            <a:spLocks noGrp="1"/>
          </p:cNvSpPr>
          <p:nvPr>
            <p:ph type="body" sz="quarter" idx="16" hasCustomPrompt="1"/>
          </p:nvPr>
        </p:nvSpPr>
        <p:spPr>
          <a:xfrm>
            <a:off x="1291721" y="4025612"/>
            <a:ext cx="3748088" cy="385763"/>
          </a:xfrm>
          <a:prstGeom prst="rect">
            <a:avLst/>
          </a:prstGeom>
        </p:spPr>
        <p:txBody>
          <a:bodyPr/>
          <a:lstStyle>
            <a:lvl1pPr>
              <a:defRPr sz="1800" b="1">
                <a:solidFill>
                  <a:schemeClr val="tx2"/>
                </a:solidFill>
              </a:defRPr>
            </a:lvl1pPr>
          </a:lstStyle>
          <a:p>
            <a:pPr lvl="0"/>
            <a:r>
              <a:rPr lang="en-US" noProof="0"/>
              <a:t>Milan Zinek</a:t>
            </a:r>
          </a:p>
        </p:txBody>
      </p:sp>
      <p:sp>
        <p:nvSpPr>
          <p:cNvPr id="14" name="Zástupný objekt pre text 13">
            <a:extLst>
              <a:ext uri="{FF2B5EF4-FFF2-40B4-BE49-F238E27FC236}">
                <a16:creationId xmlns:a16="http://schemas.microsoft.com/office/drawing/2014/main" id="{ACA22D96-AB45-4340-BC17-743ADAFD8AC1}"/>
              </a:ext>
            </a:extLst>
          </p:cNvPr>
          <p:cNvSpPr>
            <a:spLocks noGrp="1"/>
          </p:cNvSpPr>
          <p:nvPr>
            <p:ph type="body" sz="quarter" idx="17"/>
          </p:nvPr>
        </p:nvSpPr>
        <p:spPr>
          <a:xfrm>
            <a:off x="893619" y="405245"/>
            <a:ext cx="4768850" cy="1433513"/>
          </a:xfrm>
          <a:prstGeom prst="rect">
            <a:avLst/>
          </a:prstGeom>
        </p:spPr>
        <p:txBody>
          <a:bodyPr/>
          <a:lstStyle>
            <a:lvl1pPr marL="0" indent="0" algn="l">
              <a:buFont typeface="Arial" panose="020B0604020202020204" pitchFamily="34" charset="0"/>
              <a:buNone/>
              <a:defRPr sz="2400">
                <a:solidFill>
                  <a:schemeClr val="tx1"/>
                </a:solidFill>
              </a:defRPr>
            </a:lvl1pPr>
            <a:lvl2pPr marL="457200" indent="0" algn="l">
              <a:buFont typeface="Arial" panose="020B0604020202020204" pitchFamily="34" charset="0"/>
              <a:buNone/>
              <a:defRPr sz="2400">
                <a:solidFill>
                  <a:schemeClr val="tx1"/>
                </a:solidFill>
              </a:defRPr>
            </a:lvl2pPr>
            <a:lvl3pPr marL="914400" indent="0" algn="l">
              <a:buFont typeface="Arial" panose="020B0604020202020204" pitchFamily="34" charset="0"/>
              <a:buNone/>
              <a:defRPr sz="2400">
                <a:solidFill>
                  <a:schemeClr val="tx1"/>
                </a:solidFill>
              </a:defRPr>
            </a:lvl3pPr>
            <a:lvl4pPr marL="1371600" indent="0" algn="l">
              <a:buFont typeface="Arial" panose="020B0604020202020204" pitchFamily="34" charset="0"/>
              <a:buNone/>
              <a:defRPr sz="2400">
                <a:solidFill>
                  <a:schemeClr val="tx1"/>
                </a:solidFill>
              </a:defRPr>
            </a:lvl4pPr>
            <a:lvl5pPr marL="1828800" indent="0" algn="l">
              <a:buFont typeface="Arial" panose="020B0604020202020204" pitchFamily="34" charset="0"/>
              <a:buNone/>
              <a:defRPr sz="2400">
                <a:solidFill>
                  <a:schemeClr val="tx1"/>
                </a:solidFill>
              </a:defRPr>
            </a:lvl5pPr>
          </a:lstStyle>
          <a:p>
            <a:pPr lvl="0"/>
            <a:r>
              <a:rPr lang="cs-CZ" noProof="0"/>
              <a:t>Upravte styly předlohy textu.</a:t>
            </a:r>
          </a:p>
        </p:txBody>
      </p:sp>
      <p:sp>
        <p:nvSpPr>
          <p:cNvPr id="4" name="Zástupný objekt pre obrázok 3">
            <a:extLst>
              <a:ext uri="{FF2B5EF4-FFF2-40B4-BE49-F238E27FC236}">
                <a16:creationId xmlns:a16="http://schemas.microsoft.com/office/drawing/2014/main" id="{E5B9E718-8D22-46B0-BFEC-BFEA50DE69A2}"/>
              </a:ext>
            </a:extLst>
          </p:cNvPr>
          <p:cNvSpPr>
            <a:spLocks noGrp="1"/>
          </p:cNvSpPr>
          <p:nvPr>
            <p:ph type="pic" sz="quarter" idx="18"/>
          </p:nvPr>
        </p:nvSpPr>
        <p:spPr>
          <a:xfrm>
            <a:off x="6420678" y="-1"/>
            <a:ext cx="5605670" cy="1570383"/>
          </a:xfrm>
          <a:prstGeom prst="rect">
            <a:avLst/>
          </a:prstGeom>
        </p:spPr>
        <p:txBody>
          <a:bodyPr/>
          <a:lstStyle>
            <a:lvl1pPr>
              <a:defRPr sz="1200"/>
            </a:lvl1pPr>
          </a:lstStyle>
          <a:p>
            <a:r>
              <a:rPr lang="cs-CZ" noProof="0"/>
              <a:t>Kliknutím na ikonu přidáte obrázek.</a:t>
            </a:r>
            <a:endParaRPr lang="en-US" noProof="0"/>
          </a:p>
        </p:txBody>
      </p:sp>
    </p:spTree>
    <p:extLst>
      <p:ext uri="{BB962C8B-B14F-4D97-AF65-F5344CB8AC3E}">
        <p14:creationId xmlns:p14="http://schemas.microsoft.com/office/powerpoint/2010/main" val="31459253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eftText_1">
    <p:bg>
      <p:bgPr>
        <a:solidFill>
          <a:schemeClr val="bg1"/>
        </a:solidFill>
        <a:effectLst/>
      </p:bgPr>
    </p:bg>
    <p:spTree>
      <p:nvGrpSpPr>
        <p:cNvPr id="1" name=""/>
        <p:cNvGrpSpPr/>
        <p:nvPr/>
      </p:nvGrpSpPr>
      <p:grpSpPr>
        <a:xfrm>
          <a:off x="0" y="0"/>
          <a:ext cx="0" cy="0"/>
          <a:chOff x="0" y="0"/>
          <a:chExt cx="0" cy="0"/>
        </a:xfrm>
      </p:grpSpPr>
      <p:sp>
        <p:nvSpPr>
          <p:cNvPr id="14" name="Zástupný objekt pre text 13">
            <a:extLst>
              <a:ext uri="{FF2B5EF4-FFF2-40B4-BE49-F238E27FC236}">
                <a16:creationId xmlns:a16="http://schemas.microsoft.com/office/drawing/2014/main" id="{ACA22D96-AB45-4340-BC17-743ADAFD8AC1}"/>
              </a:ext>
            </a:extLst>
          </p:cNvPr>
          <p:cNvSpPr>
            <a:spLocks noGrp="1"/>
          </p:cNvSpPr>
          <p:nvPr>
            <p:ph type="body" sz="quarter" idx="17"/>
          </p:nvPr>
        </p:nvSpPr>
        <p:spPr>
          <a:xfrm>
            <a:off x="893619" y="405245"/>
            <a:ext cx="4768850" cy="831273"/>
          </a:xfrm>
          <a:prstGeom prst="rect">
            <a:avLst/>
          </a:prstGeom>
        </p:spPr>
        <p:txBody>
          <a:bodyPr/>
          <a:lstStyle>
            <a:lvl1pPr marL="0" indent="0" algn="l">
              <a:buFont typeface="Arial" panose="020B0604020202020204" pitchFamily="34" charset="0"/>
              <a:buNone/>
              <a:defRPr lang="sk-SK" sz="2400" dirty="0">
                <a:solidFill>
                  <a:schemeClr val="tx1"/>
                </a:solidFill>
              </a:defRPr>
            </a:lvl1pPr>
            <a:lvl2pPr marL="457200" indent="0" algn="l">
              <a:buFont typeface="Arial" panose="020B0604020202020204" pitchFamily="34" charset="0"/>
              <a:buNone/>
              <a:defRPr sz="2400">
                <a:solidFill>
                  <a:schemeClr val="tx1"/>
                </a:solidFill>
              </a:defRPr>
            </a:lvl2pPr>
            <a:lvl3pPr marL="914400" indent="0" algn="l">
              <a:buFont typeface="Arial" panose="020B0604020202020204" pitchFamily="34" charset="0"/>
              <a:buNone/>
              <a:defRPr sz="2400">
                <a:solidFill>
                  <a:schemeClr val="tx1"/>
                </a:solidFill>
              </a:defRPr>
            </a:lvl3pPr>
            <a:lvl4pPr marL="1371600" indent="0" algn="l">
              <a:buFont typeface="Arial" panose="020B0604020202020204" pitchFamily="34" charset="0"/>
              <a:buNone/>
              <a:defRPr sz="2400">
                <a:solidFill>
                  <a:schemeClr val="tx1"/>
                </a:solidFill>
              </a:defRPr>
            </a:lvl4pPr>
            <a:lvl5pPr marL="1828800" indent="0" algn="l">
              <a:buFont typeface="Arial" panose="020B0604020202020204" pitchFamily="34" charset="0"/>
              <a:buNone/>
              <a:defRPr sz="2400">
                <a:solidFill>
                  <a:schemeClr val="tx1"/>
                </a:solidFill>
              </a:defRPr>
            </a:lvl5pPr>
          </a:lstStyle>
          <a:p>
            <a:pPr lvl="0"/>
            <a:r>
              <a:rPr lang="cs-CZ" noProof="0"/>
              <a:t>Upravte styly předlohy textu.</a:t>
            </a:r>
          </a:p>
        </p:txBody>
      </p:sp>
      <p:sp>
        <p:nvSpPr>
          <p:cNvPr id="5" name="Zástupný objekt pre obrázok 4">
            <a:extLst>
              <a:ext uri="{FF2B5EF4-FFF2-40B4-BE49-F238E27FC236}">
                <a16:creationId xmlns:a16="http://schemas.microsoft.com/office/drawing/2014/main" id="{F95345A1-AE31-475E-A7FD-448097FDD4FD}"/>
              </a:ext>
            </a:extLst>
          </p:cNvPr>
          <p:cNvSpPr>
            <a:spLocks noGrp="1"/>
          </p:cNvSpPr>
          <p:nvPr>
            <p:ph type="pic" sz="quarter" idx="18"/>
          </p:nvPr>
        </p:nvSpPr>
        <p:spPr>
          <a:xfrm>
            <a:off x="6743701" y="1122219"/>
            <a:ext cx="4883726" cy="5133108"/>
          </a:xfrm>
          <a:prstGeom prst="rect">
            <a:avLst/>
          </a:prstGeom>
        </p:spPr>
        <p:txBody>
          <a:bodyPr/>
          <a:lstStyle>
            <a:lvl1pPr>
              <a:defRPr sz="1200"/>
            </a:lvl1pPr>
          </a:lstStyle>
          <a:p>
            <a:r>
              <a:rPr lang="cs-CZ" noProof="0"/>
              <a:t>Kliknutím na ikonu přidáte obrázek.</a:t>
            </a:r>
            <a:endParaRPr lang="en-US" noProof="0"/>
          </a:p>
        </p:txBody>
      </p:sp>
      <p:sp>
        <p:nvSpPr>
          <p:cNvPr id="11" name="Zástupný objekt pre text 13">
            <a:extLst>
              <a:ext uri="{FF2B5EF4-FFF2-40B4-BE49-F238E27FC236}">
                <a16:creationId xmlns:a16="http://schemas.microsoft.com/office/drawing/2014/main" id="{5A6B9A21-4072-4B5E-82A4-A84DA82F4CAA}"/>
              </a:ext>
            </a:extLst>
          </p:cNvPr>
          <p:cNvSpPr>
            <a:spLocks noGrp="1"/>
          </p:cNvSpPr>
          <p:nvPr>
            <p:ph type="body" sz="quarter" idx="19" hasCustomPrompt="1"/>
          </p:nvPr>
        </p:nvSpPr>
        <p:spPr>
          <a:xfrm>
            <a:off x="893619" y="1569026"/>
            <a:ext cx="4768850" cy="831273"/>
          </a:xfrm>
          <a:prstGeom prst="rect">
            <a:avLst/>
          </a:prstGeom>
        </p:spPr>
        <p:txBody>
          <a:bodyPr/>
          <a:lstStyle>
            <a:lvl1pPr marL="0" indent="0" algn="l">
              <a:buFont typeface="Arial" panose="020B0604020202020204" pitchFamily="34" charset="0"/>
              <a:buNone/>
              <a:defRPr lang="sk-SK" sz="3000" dirty="0">
                <a:solidFill>
                  <a:schemeClr val="tx1"/>
                </a:solidFill>
              </a:defRPr>
            </a:lvl1pPr>
            <a:lvl2pPr marL="457200" indent="0" algn="l">
              <a:buFont typeface="Arial" panose="020B0604020202020204" pitchFamily="34" charset="0"/>
              <a:buNone/>
              <a:defRPr sz="2400">
                <a:solidFill>
                  <a:schemeClr val="tx1"/>
                </a:solidFill>
              </a:defRPr>
            </a:lvl2pPr>
            <a:lvl3pPr marL="914400" indent="0" algn="l">
              <a:buFont typeface="Arial" panose="020B0604020202020204" pitchFamily="34" charset="0"/>
              <a:buNone/>
              <a:defRPr sz="2400">
                <a:solidFill>
                  <a:schemeClr val="tx1"/>
                </a:solidFill>
              </a:defRPr>
            </a:lvl3pPr>
            <a:lvl4pPr marL="1371600" indent="0" algn="l">
              <a:buFont typeface="Arial" panose="020B0604020202020204" pitchFamily="34" charset="0"/>
              <a:buNone/>
              <a:defRPr sz="2400">
                <a:solidFill>
                  <a:schemeClr val="tx1"/>
                </a:solidFill>
              </a:defRPr>
            </a:lvl4pPr>
            <a:lvl5pPr marL="1828800" indent="0" algn="l">
              <a:buFont typeface="Arial" panose="020B0604020202020204" pitchFamily="34" charset="0"/>
              <a:buNone/>
              <a:defRPr sz="2400">
                <a:solidFill>
                  <a:schemeClr val="tx1"/>
                </a:solidFill>
              </a:defRPr>
            </a:lvl5pPr>
          </a:lstStyle>
          <a:p>
            <a:pPr lvl="0"/>
            <a:r>
              <a:rPr lang="en-US" noProof="0"/>
              <a:t>Lorem ipsum</a:t>
            </a:r>
          </a:p>
        </p:txBody>
      </p:sp>
      <p:cxnSp>
        <p:nvCxnSpPr>
          <p:cNvPr id="20" name="Rovná spojnica 19">
            <a:extLst>
              <a:ext uri="{FF2B5EF4-FFF2-40B4-BE49-F238E27FC236}">
                <a16:creationId xmlns:a16="http://schemas.microsoft.com/office/drawing/2014/main" id="{6FA8E80A-BA3C-44A3-AC52-95C31D0CBA28}"/>
              </a:ext>
            </a:extLst>
          </p:cNvPr>
          <p:cNvCxnSpPr/>
          <p:nvPr/>
        </p:nvCxnSpPr>
        <p:spPr>
          <a:xfrm>
            <a:off x="11762511" y="6483928"/>
            <a:ext cx="0" cy="155863"/>
          </a:xfrm>
          <a:prstGeom prst="line">
            <a:avLst/>
          </a:prstGeom>
          <a:ln>
            <a:solidFill>
              <a:schemeClr val="bg2">
                <a:lumMod val="75000"/>
              </a:schemeClr>
            </a:solidFill>
          </a:ln>
        </p:spPr>
        <p:style>
          <a:lnRef idx="1">
            <a:schemeClr val="dk1"/>
          </a:lnRef>
          <a:fillRef idx="0">
            <a:schemeClr val="dk1"/>
          </a:fillRef>
          <a:effectRef idx="0">
            <a:schemeClr val="dk1"/>
          </a:effectRef>
          <a:fontRef idx="minor">
            <a:schemeClr val="tx1"/>
          </a:fontRef>
        </p:style>
      </p:cxnSp>
      <p:sp>
        <p:nvSpPr>
          <p:cNvPr id="9" name="Zástupný objekt pre text 14">
            <a:extLst>
              <a:ext uri="{FF2B5EF4-FFF2-40B4-BE49-F238E27FC236}">
                <a16:creationId xmlns:a16="http://schemas.microsoft.com/office/drawing/2014/main" id="{EE444B68-37BF-4DAE-95CB-AC79B9EBE125}"/>
              </a:ext>
            </a:extLst>
          </p:cNvPr>
          <p:cNvSpPr>
            <a:spLocks noGrp="1"/>
          </p:cNvSpPr>
          <p:nvPr>
            <p:ph type="body" sz="quarter" idx="15" hasCustomPrompt="1"/>
          </p:nvPr>
        </p:nvSpPr>
        <p:spPr>
          <a:xfrm>
            <a:off x="8672947" y="6431973"/>
            <a:ext cx="3089564" cy="207818"/>
          </a:xfrm>
          <a:prstGeom prst="rect">
            <a:avLst/>
          </a:prstGeom>
        </p:spPr>
        <p:txBody>
          <a:bodyPr/>
          <a:lstStyle>
            <a:lvl1pPr algn="r">
              <a:defRPr sz="950" b="0">
                <a:solidFill>
                  <a:schemeClr val="bg1">
                    <a:lumMod val="50000"/>
                  </a:schemeClr>
                </a:solidFill>
              </a:defRPr>
            </a:lvl1pPr>
            <a:lvl2pPr>
              <a:defRPr sz="950" b="0">
                <a:solidFill>
                  <a:schemeClr val="bg1">
                    <a:lumMod val="50000"/>
                  </a:schemeClr>
                </a:solidFill>
              </a:defRPr>
            </a:lvl2pPr>
            <a:lvl3pPr>
              <a:defRPr sz="950" b="0">
                <a:solidFill>
                  <a:schemeClr val="bg1">
                    <a:lumMod val="50000"/>
                  </a:schemeClr>
                </a:solidFill>
              </a:defRPr>
            </a:lvl3pPr>
            <a:lvl4pPr>
              <a:defRPr sz="950" b="0">
                <a:solidFill>
                  <a:schemeClr val="bg1">
                    <a:lumMod val="50000"/>
                  </a:schemeClr>
                </a:solidFill>
              </a:defRPr>
            </a:lvl4pPr>
            <a:lvl5pPr>
              <a:defRPr sz="950" b="0">
                <a:solidFill>
                  <a:schemeClr val="bg1">
                    <a:lumMod val="50000"/>
                  </a:schemeClr>
                </a:solidFill>
              </a:defRPr>
            </a:lvl5pPr>
          </a:lstStyle>
          <a:p>
            <a:pPr lvl="0"/>
            <a:r>
              <a:rPr lang="en-US" noProof="0"/>
              <a:t>Název prezentace (volitelně)</a:t>
            </a:r>
          </a:p>
        </p:txBody>
      </p:sp>
      <p:sp>
        <p:nvSpPr>
          <p:cNvPr id="12" name="BlokTextu 11">
            <a:extLst>
              <a:ext uri="{FF2B5EF4-FFF2-40B4-BE49-F238E27FC236}">
                <a16:creationId xmlns:a16="http://schemas.microsoft.com/office/drawing/2014/main" id="{70625C98-F5EA-4AC0-8DF6-9D3C00787B48}"/>
              </a:ext>
            </a:extLst>
          </p:cNvPr>
          <p:cNvSpPr txBox="1"/>
          <p:nvPr/>
        </p:nvSpPr>
        <p:spPr>
          <a:xfrm>
            <a:off x="11853949" y="6431973"/>
            <a:ext cx="338051" cy="207818"/>
          </a:xfrm>
          <a:prstGeom prst="rect">
            <a:avLst/>
          </a:prstGeom>
        </p:spPr>
        <p:txBody>
          <a:bodyPr vert="horz" wrap="square" lIns="0" tIns="45720" rIns="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fld id="{B0E1C688-2A94-4C23-89D7-1BDBDDABE19E}" type="slidenum">
              <a:rPr lang="en-US" sz="950" b="0" kern="1200" noProof="0" smtClean="0">
                <a:solidFill>
                  <a:schemeClr val="bg1">
                    <a:lumMod val="50000"/>
                  </a:schemeClr>
                </a:solidFill>
                <a:latin typeface="+mn-lt"/>
                <a:ea typeface="+mn-ea"/>
                <a:cs typeface="+mn-cs"/>
              </a:rPr>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t>‹#›</a:t>
            </a:fld>
            <a:endParaRPr lang="en-US" sz="950" b="0" kern="1200" noProof="0">
              <a:solidFill>
                <a:schemeClr val="bg1">
                  <a:lumMod val="50000"/>
                </a:schemeClr>
              </a:solidFill>
              <a:latin typeface="+mn-lt"/>
              <a:ea typeface="+mn-ea"/>
              <a:cs typeface="+mn-cs"/>
            </a:endParaRPr>
          </a:p>
        </p:txBody>
      </p:sp>
      <p:sp>
        <p:nvSpPr>
          <p:cNvPr id="15" name="Zástupný objekt pre text 2">
            <a:extLst>
              <a:ext uri="{FF2B5EF4-FFF2-40B4-BE49-F238E27FC236}">
                <a16:creationId xmlns:a16="http://schemas.microsoft.com/office/drawing/2014/main" id="{93550519-5352-49AF-96B9-5B7E9C5127DD}"/>
              </a:ext>
            </a:extLst>
          </p:cNvPr>
          <p:cNvSpPr>
            <a:spLocks noGrp="1"/>
          </p:cNvSpPr>
          <p:nvPr>
            <p:ph type="body" sz="quarter" idx="20" hasCustomPrompt="1"/>
          </p:nvPr>
        </p:nvSpPr>
        <p:spPr>
          <a:xfrm>
            <a:off x="893619" y="2400299"/>
            <a:ext cx="4642477" cy="3626427"/>
          </a:xfrm>
          <a:prstGeom prst="rect">
            <a:avLst/>
          </a:prstGeom>
        </p:spPr>
        <p:txBody>
          <a:bodyPr lIns="90000" tIns="46800" rIns="90000" bIns="46800"/>
          <a:lstStyle>
            <a:lvl1pPr marL="0" indent="0" algn="l">
              <a:lnSpc>
                <a:spcPct val="120000"/>
              </a:lnSpc>
              <a:spcBef>
                <a:spcPts val="0"/>
              </a:spcBef>
              <a:buFont typeface="Arial" panose="020B0604020202020204" pitchFamily="34" charset="0"/>
              <a:buNone/>
              <a:defRPr sz="1800" b="0">
                <a:solidFill>
                  <a:schemeClr val="tx1"/>
                </a:solidFill>
              </a:defRPr>
            </a:lvl1pPr>
            <a:lvl2pPr marL="457200" indent="0" algn="l">
              <a:lnSpc>
                <a:spcPct val="120000"/>
              </a:lnSpc>
              <a:spcBef>
                <a:spcPts val="0"/>
              </a:spcBef>
              <a:buFont typeface="Arial" panose="020B0604020202020204" pitchFamily="34" charset="0"/>
              <a:buNone/>
              <a:defRPr sz="1800" b="0">
                <a:solidFill>
                  <a:schemeClr val="tx1"/>
                </a:solidFill>
              </a:defRPr>
            </a:lvl2pPr>
            <a:lvl3pPr marL="914400" indent="0" algn="l">
              <a:lnSpc>
                <a:spcPct val="120000"/>
              </a:lnSpc>
              <a:spcBef>
                <a:spcPts val="0"/>
              </a:spcBef>
              <a:buFont typeface="Arial" panose="020B0604020202020204" pitchFamily="34" charset="0"/>
              <a:buNone/>
              <a:defRPr sz="1800" b="0">
                <a:solidFill>
                  <a:schemeClr val="tx1"/>
                </a:solidFill>
              </a:defRPr>
            </a:lvl3pPr>
            <a:lvl4pPr marL="1371600" indent="0" algn="l">
              <a:buFont typeface="Arial" panose="020B0604020202020204" pitchFamily="34" charset="0"/>
              <a:buNone/>
              <a:defRPr sz="1800" b="0">
                <a:solidFill>
                  <a:schemeClr val="tx1"/>
                </a:solidFill>
              </a:defRPr>
            </a:lvl4pPr>
            <a:lvl5pPr marL="1828800" indent="0" algn="l">
              <a:buFont typeface="Arial" panose="020B0604020202020204" pitchFamily="34" charset="0"/>
              <a:buNone/>
              <a:defRPr sz="1800" b="0">
                <a:solidFill>
                  <a:schemeClr val="tx1"/>
                </a:solidFill>
              </a:defRPr>
            </a:lvl5pPr>
          </a:lstStyle>
          <a:p>
            <a:pPr lvl="0"/>
            <a:r>
              <a:rPr lang="sk-SK" dirty="0" err="1"/>
              <a:t>Sample</a:t>
            </a:r>
            <a:r>
              <a:rPr lang="sk-SK" dirty="0"/>
              <a:t> text bla-</a:t>
            </a:r>
            <a:r>
              <a:rPr lang="sk-SK" dirty="0" err="1"/>
              <a:t>blah</a:t>
            </a:r>
            <a:r>
              <a:rPr lang="sk-SK" dirty="0"/>
              <a:t>, a formula </a:t>
            </a:r>
            <a:r>
              <a:rPr lang="sk-SK" dirty="0" err="1"/>
              <a:t>used</a:t>
            </a:r>
            <a:r>
              <a:rPr lang="sk-SK" dirty="0"/>
              <a:t> in </a:t>
            </a:r>
            <a:r>
              <a:rPr lang="sk-SK" dirty="0" err="1"/>
              <a:t>dictation</a:t>
            </a:r>
            <a:r>
              <a:rPr lang="sk-SK" dirty="0"/>
              <a:t> to </a:t>
            </a:r>
            <a:r>
              <a:rPr lang="sk-SK" dirty="0" err="1"/>
              <a:t>introduce</a:t>
            </a:r>
            <a:r>
              <a:rPr lang="sk-SK" dirty="0"/>
              <a:t> and </a:t>
            </a:r>
            <a:r>
              <a:rPr lang="sk-SK" dirty="0" err="1"/>
              <a:t>terminate</a:t>
            </a:r>
            <a:r>
              <a:rPr lang="sk-SK" dirty="0"/>
              <a:t> a </a:t>
            </a:r>
            <a:r>
              <a:rPr lang="sk-SK" dirty="0" err="1"/>
              <a:t>quotation</a:t>
            </a:r>
            <a:r>
              <a:rPr lang="sk-SK" dirty="0"/>
              <a:t> BCMA. </a:t>
            </a:r>
            <a:r>
              <a:rPr lang="sk-SK" dirty="0" err="1"/>
              <a:t>Introducing</a:t>
            </a:r>
            <a:r>
              <a:rPr lang="sk-SK" dirty="0"/>
              <a:t> and </a:t>
            </a:r>
            <a:r>
              <a:rPr lang="sk-SK" dirty="0" err="1"/>
              <a:t>terminating</a:t>
            </a:r>
            <a:r>
              <a:rPr lang="sk-SK" dirty="0"/>
              <a:t> </a:t>
            </a:r>
            <a:r>
              <a:rPr lang="sk-SK" dirty="0" err="1"/>
              <a:t>words</a:t>
            </a:r>
            <a:r>
              <a:rPr lang="sk-SK" dirty="0"/>
              <a:t> </a:t>
            </a:r>
            <a:r>
              <a:rPr lang="sk-SK" dirty="0" err="1"/>
              <a:t>quoted</a:t>
            </a:r>
            <a:r>
              <a:rPr lang="sk-SK" dirty="0"/>
              <a:t>. 2015 </a:t>
            </a:r>
            <a:r>
              <a:rPr lang="sk-SK" dirty="0" err="1"/>
              <a:t>Excepteur</a:t>
            </a:r>
            <a:r>
              <a:rPr lang="sk-SK" dirty="0"/>
              <a:t> </a:t>
            </a:r>
            <a:r>
              <a:rPr lang="sk-SK" dirty="0" err="1"/>
              <a:t>sint</a:t>
            </a:r>
            <a:r>
              <a:rPr lang="sk-SK" dirty="0"/>
              <a:t> </a:t>
            </a:r>
            <a:r>
              <a:rPr lang="sk-SK" dirty="0" err="1"/>
              <a:t>occaecat</a:t>
            </a:r>
            <a:r>
              <a:rPr lang="sk-SK" dirty="0"/>
              <a:t> </a:t>
            </a:r>
            <a:r>
              <a:rPr lang="sk-SK" dirty="0" err="1"/>
              <a:t>cupidatat</a:t>
            </a:r>
            <a:r>
              <a:rPr lang="sk-SK" dirty="0"/>
              <a:t> </a:t>
            </a:r>
            <a:r>
              <a:rPr lang="sk-SK" dirty="0" err="1"/>
              <a:t>non</a:t>
            </a:r>
            <a:r>
              <a:rPr lang="sk-SK" dirty="0"/>
              <a:t> </a:t>
            </a:r>
            <a:r>
              <a:rPr lang="sk-SK" dirty="0" err="1"/>
              <a:t>proident</a:t>
            </a:r>
            <a:r>
              <a:rPr lang="sk-SK" dirty="0"/>
              <a:t>, </a:t>
            </a:r>
            <a:r>
              <a:rPr lang="sk-SK" dirty="0" err="1"/>
              <a:t>sunt</a:t>
            </a:r>
            <a:r>
              <a:rPr lang="sk-SK" dirty="0"/>
              <a:t> X3R in </a:t>
            </a:r>
            <a:r>
              <a:rPr lang="sk-SK" dirty="0" err="1"/>
              <a:t>culpa</a:t>
            </a:r>
            <a:r>
              <a:rPr lang="sk-SK" dirty="0"/>
              <a:t> </a:t>
            </a:r>
            <a:r>
              <a:rPr lang="sk-SK" dirty="0" err="1"/>
              <a:t>qui</a:t>
            </a:r>
            <a:r>
              <a:rPr lang="sk-SK" dirty="0"/>
              <a:t> </a:t>
            </a:r>
            <a:r>
              <a:rPr lang="sk-SK" dirty="0" err="1"/>
              <a:t>officia</a:t>
            </a:r>
            <a:r>
              <a:rPr lang="sk-SK" dirty="0"/>
              <a:t> </a:t>
            </a:r>
            <a:r>
              <a:rPr lang="sk-SK" dirty="0" err="1"/>
              <a:t>deserunt</a:t>
            </a:r>
            <a:r>
              <a:rPr lang="sk-SK" dirty="0"/>
              <a:t> </a:t>
            </a:r>
            <a:r>
              <a:rPr lang="sk-SK" dirty="0" err="1"/>
              <a:t>mollit</a:t>
            </a:r>
            <a:r>
              <a:rPr lang="sk-SK" dirty="0"/>
              <a:t> </a:t>
            </a:r>
            <a:r>
              <a:rPr lang="sk-SK" dirty="0" err="1"/>
              <a:t>anim</a:t>
            </a:r>
            <a:r>
              <a:rPr lang="sk-SK" dirty="0"/>
              <a:t> id </a:t>
            </a:r>
            <a:r>
              <a:rPr lang="sk-SK" dirty="0" err="1"/>
              <a:t>est</a:t>
            </a:r>
            <a:r>
              <a:rPr lang="sk-SK" dirty="0"/>
              <a:t> laborum.2017 </a:t>
            </a:r>
            <a:r>
              <a:rPr lang="sk-SK" dirty="0" err="1"/>
              <a:t>Duis</a:t>
            </a:r>
            <a:r>
              <a:rPr lang="sk-SK" dirty="0"/>
              <a:t> aute </a:t>
            </a:r>
            <a:r>
              <a:rPr lang="sk-SK" dirty="0" err="1"/>
              <a:t>irure</a:t>
            </a:r>
            <a:r>
              <a:rPr lang="sk-SK" dirty="0"/>
              <a:t> </a:t>
            </a:r>
            <a:r>
              <a:rPr lang="sk-SK" dirty="0" err="1"/>
              <a:t>dolor</a:t>
            </a:r>
            <a:r>
              <a:rPr lang="sk-SK" dirty="0"/>
              <a:t> in </a:t>
            </a:r>
            <a:r>
              <a:rPr lang="sk-SK" dirty="0" err="1"/>
              <a:t>reprehenderit</a:t>
            </a:r>
            <a:r>
              <a:rPr lang="sk-SK" dirty="0"/>
              <a:t> in </a:t>
            </a:r>
            <a:r>
              <a:rPr lang="sk-SK" dirty="0" err="1"/>
              <a:t>voluptate</a:t>
            </a:r>
            <a:r>
              <a:rPr lang="sk-SK" dirty="0"/>
              <a:t> </a:t>
            </a:r>
            <a:r>
              <a:rPr lang="sk-SK" dirty="0" err="1"/>
              <a:t>velit</a:t>
            </a:r>
            <a:r>
              <a:rPr lang="sk-SK" dirty="0"/>
              <a:t> </a:t>
            </a:r>
            <a:r>
              <a:rPr lang="sk-SK" dirty="0" err="1"/>
              <a:t>esse</a:t>
            </a:r>
            <a:r>
              <a:rPr lang="sk-SK" dirty="0"/>
              <a:t> </a:t>
            </a:r>
            <a:r>
              <a:rPr lang="sk-SK" dirty="0" err="1"/>
              <a:t>cillum</a:t>
            </a:r>
            <a:r>
              <a:rPr lang="sk-SK" dirty="0"/>
              <a:t> </a:t>
            </a:r>
            <a:r>
              <a:rPr lang="sk-SK" dirty="0" err="1"/>
              <a:t>dolore</a:t>
            </a:r>
            <a:r>
              <a:rPr lang="sk-SK" dirty="0"/>
              <a:t> </a:t>
            </a:r>
            <a:r>
              <a:rPr lang="sk-SK" dirty="0" err="1"/>
              <a:t>eu</a:t>
            </a:r>
            <a:r>
              <a:rPr lang="sk-SK" dirty="0"/>
              <a:t> </a:t>
            </a:r>
            <a:r>
              <a:rPr lang="sk-SK" dirty="0" err="1"/>
              <a:t>fugiat</a:t>
            </a:r>
            <a:r>
              <a:rPr lang="sk-SK" dirty="0"/>
              <a:t> </a:t>
            </a:r>
            <a:r>
              <a:rPr lang="sk-SK" dirty="0" err="1"/>
              <a:t>nulla</a:t>
            </a:r>
            <a:r>
              <a:rPr lang="sk-SK" dirty="0"/>
              <a:t> </a:t>
            </a:r>
            <a:r>
              <a:rPr lang="sk-SK" dirty="0" err="1"/>
              <a:t>pariatur</a:t>
            </a:r>
            <a:r>
              <a:rPr lang="sk-SK" dirty="0"/>
              <a:t>.</a:t>
            </a:r>
          </a:p>
        </p:txBody>
      </p:sp>
    </p:spTree>
    <p:extLst>
      <p:ext uri="{BB962C8B-B14F-4D97-AF65-F5344CB8AC3E}">
        <p14:creationId xmlns:p14="http://schemas.microsoft.com/office/powerpoint/2010/main" val="38589149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LeftText_1">
    <p:bg>
      <p:bgPr>
        <a:solidFill>
          <a:schemeClr val="bg1"/>
        </a:solidFill>
        <a:effectLst/>
      </p:bgPr>
    </p:bg>
    <p:spTree>
      <p:nvGrpSpPr>
        <p:cNvPr id="1" name=""/>
        <p:cNvGrpSpPr/>
        <p:nvPr/>
      </p:nvGrpSpPr>
      <p:grpSpPr>
        <a:xfrm>
          <a:off x="0" y="0"/>
          <a:ext cx="0" cy="0"/>
          <a:chOff x="0" y="0"/>
          <a:chExt cx="0" cy="0"/>
        </a:xfrm>
      </p:grpSpPr>
      <p:sp>
        <p:nvSpPr>
          <p:cNvPr id="5" name="Zástupný objekt pre obrázok 4">
            <a:extLst>
              <a:ext uri="{FF2B5EF4-FFF2-40B4-BE49-F238E27FC236}">
                <a16:creationId xmlns:a16="http://schemas.microsoft.com/office/drawing/2014/main" id="{F95345A1-AE31-475E-A7FD-448097FDD4FD}"/>
              </a:ext>
            </a:extLst>
          </p:cNvPr>
          <p:cNvSpPr>
            <a:spLocks noGrp="1"/>
          </p:cNvSpPr>
          <p:nvPr>
            <p:ph type="pic" sz="quarter" idx="18"/>
          </p:nvPr>
        </p:nvSpPr>
        <p:spPr>
          <a:xfrm>
            <a:off x="6743701" y="1122219"/>
            <a:ext cx="4883726" cy="5133108"/>
          </a:xfrm>
          <a:prstGeom prst="rect">
            <a:avLst/>
          </a:prstGeom>
        </p:spPr>
        <p:txBody>
          <a:bodyPr/>
          <a:lstStyle>
            <a:lvl1pPr>
              <a:defRPr sz="1200"/>
            </a:lvl1pPr>
          </a:lstStyle>
          <a:p>
            <a:r>
              <a:rPr lang="cs-CZ" noProof="0"/>
              <a:t>Kliknutím na ikonu přidáte obrázek.</a:t>
            </a:r>
            <a:endParaRPr lang="en-US" noProof="0"/>
          </a:p>
        </p:txBody>
      </p:sp>
      <p:sp>
        <p:nvSpPr>
          <p:cNvPr id="10" name="Zástupný objekt pre text 13">
            <a:extLst>
              <a:ext uri="{FF2B5EF4-FFF2-40B4-BE49-F238E27FC236}">
                <a16:creationId xmlns:a16="http://schemas.microsoft.com/office/drawing/2014/main" id="{00F2E939-7DAB-4E08-A1A0-44EC1BF2C724}"/>
              </a:ext>
            </a:extLst>
          </p:cNvPr>
          <p:cNvSpPr>
            <a:spLocks noGrp="1"/>
          </p:cNvSpPr>
          <p:nvPr>
            <p:ph type="body" sz="quarter" idx="19" hasCustomPrompt="1"/>
          </p:nvPr>
        </p:nvSpPr>
        <p:spPr>
          <a:xfrm>
            <a:off x="893619" y="862444"/>
            <a:ext cx="4768850" cy="831273"/>
          </a:xfrm>
          <a:prstGeom prst="rect">
            <a:avLst/>
          </a:prstGeom>
        </p:spPr>
        <p:txBody>
          <a:bodyPr/>
          <a:lstStyle>
            <a:lvl1pPr marL="0" indent="0" algn="l">
              <a:buFont typeface="Arial" panose="020B0604020202020204" pitchFamily="34" charset="0"/>
              <a:buNone/>
              <a:defRPr lang="sk-SK" sz="3000" dirty="0">
                <a:solidFill>
                  <a:schemeClr val="tx1"/>
                </a:solidFill>
              </a:defRPr>
            </a:lvl1pPr>
            <a:lvl2pPr marL="457200" indent="0" algn="l">
              <a:buFont typeface="Arial" panose="020B0604020202020204" pitchFamily="34" charset="0"/>
              <a:buNone/>
              <a:defRPr sz="2400">
                <a:solidFill>
                  <a:schemeClr val="tx1"/>
                </a:solidFill>
              </a:defRPr>
            </a:lvl2pPr>
            <a:lvl3pPr marL="914400" indent="0" algn="l">
              <a:buFont typeface="Arial" panose="020B0604020202020204" pitchFamily="34" charset="0"/>
              <a:buNone/>
              <a:defRPr sz="2400">
                <a:solidFill>
                  <a:schemeClr val="tx1"/>
                </a:solidFill>
              </a:defRPr>
            </a:lvl3pPr>
            <a:lvl4pPr marL="1371600" indent="0" algn="l">
              <a:buFont typeface="Arial" panose="020B0604020202020204" pitchFamily="34" charset="0"/>
              <a:buNone/>
              <a:defRPr sz="2400">
                <a:solidFill>
                  <a:schemeClr val="tx1"/>
                </a:solidFill>
              </a:defRPr>
            </a:lvl4pPr>
            <a:lvl5pPr marL="1828800" indent="0" algn="l">
              <a:buFont typeface="Arial" panose="020B0604020202020204" pitchFamily="34" charset="0"/>
              <a:buNone/>
              <a:defRPr sz="2400">
                <a:solidFill>
                  <a:schemeClr val="tx1"/>
                </a:solidFill>
              </a:defRPr>
            </a:lvl5pPr>
          </a:lstStyle>
          <a:p>
            <a:pPr lvl="0"/>
            <a:r>
              <a:rPr lang="en-US" noProof="0"/>
              <a:t>Lorem ipsum</a:t>
            </a:r>
          </a:p>
        </p:txBody>
      </p:sp>
      <p:sp>
        <p:nvSpPr>
          <p:cNvPr id="8" name="Zástupný objekt pre text 2">
            <a:extLst>
              <a:ext uri="{FF2B5EF4-FFF2-40B4-BE49-F238E27FC236}">
                <a16:creationId xmlns:a16="http://schemas.microsoft.com/office/drawing/2014/main" id="{59B1C394-B1CE-4D3B-8E52-955388D2B7EC}"/>
              </a:ext>
            </a:extLst>
          </p:cNvPr>
          <p:cNvSpPr>
            <a:spLocks noGrp="1"/>
          </p:cNvSpPr>
          <p:nvPr>
            <p:ph type="body" sz="quarter" idx="21" hasCustomPrompt="1"/>
          </p:nvPr>
        </p:nvSpPr>
        <p:spPr>
          <a:xfrm>
            <a:off x="893620" y="1938130"/>
            <a:ext cx="4768850" cy="4025347"/>
          </a:xfrm>
          <a:prstGeom prst="rect">
            <a:avLst/>
          </a:prstGeom>
        </p:spPr>
        <p:txBody>
          <a:bodyPr lIns="90000" tIns="46800" rIns="90000" bIns="46800"/>
          <a:lstStyle>
            <a:lvl1pPr marL="0" indent="0" algn="l">
              <a:lnSpc>
                <a:spcPct val="120000"/>
              </a:lnSpc>
              <a:spcBef>
                <a:spcPts val="0"/>
              </a:spcBef>
              <a:buFont typeface="Arial" panose="020B0604020202020204" pitchFamily="34" charset="0"/>
              <a:buNone/>
              <a:defRPr sz="1800" b="0">
                <a:solidFill>
                  <a:schemeClr val="tx1"/>
                </a:solidFill>
              </a:defRPr>
            </a:lvl1pPr>
            <a:lvl2pPr marL="457200" indent="0" algn="l">
              <a:lnSpc>
                <a:spcPct val="120000"/>
              </a:lnSpc>
              <a:spcBef>
                <a:spcPts val="0"/>
              </a:spcBef>
              <a:buFont typeface="Arial" panose="020B0604020202020204" pitchFamily="34" charset="0"/>
              <a:buNone/>
              <a:defRPr sz="1800" b="0">
                <a:solidFill>
                  <a:schemeClr val="tx1"/>
                </a:solidFill>
              </a:defRPr>
            </a:lvl2pPr>
            <a:lvl3pPr marL="914400" indent="0" algn="l">
              <a:lnSpc>
                <a:spcPct val="120000"/>
              </a:lnSpc>
              <a:spcBef>
                <a:spcPts val="0"/>
              </a:spcBef>
              <a:buFont typeface="Arial" panose="020B0604020202020204" pitchFamily="34" charset="0"/>
              <a:buNone/>
              <a:defRPr sz="1800" b="0">
                <a:solidFill>
                  <a:schemeClr val="tx1"/>
                </a:solidFill>
              </a:defRPr>
            </a:lvl3pPr>
            <a:lvl4pPr marL="1371600" indent="0" algn="l">
              <a:buFont typeface="Arial" panose="020B0604020202020204" pitchFamily="34" charset="0"/>
              <a:buNone/>
              <a:defRPr sz="1800" b="0">
                <a:solidFill>
                  <a:schemeClr val="tx1"/>
                </a:solidFill>
              </a:defRPr>
            </a:lvl4pPr>
            <a:lvl5pPr marL="1828800" indent="0" algn="l">
              <a:buFont typeface="Arial" panose="020B0604020202020204" pitchFamily="34" charset="0"/>
              <a:buNone/>
              <a:defRPr sz="1800" b="0">
                <a:solidFill>
                  <a:schemeClr val="tx1"/>
                </a:solidFill>
              </a:defRPr>
            </a:lvl5pPr>
          </a:lstStyle>
          <a:p>
            <a:pPr lvl="0"/>
            <a:r>
              <a:rPr lang="sk-SK" dirty="0" err="1"/>
              <a:t>Sample</a:t>
            </a:r>
            <a:r>
              <a:rPr lang="sk-SK" dirty="0"/>
              <a:t> text bla-</a:t>
            </a:r>
            <a:r>
              <a:rPr lang="sk-SK" dirty="0" err="1"/>
              <a:t>blah</a:t>
            </a:r>
            <a:r>
              <a:rPr lang="sk-SK" dirty="0"/>
              <a:t>, a formula </a:t>
            </a:r>
            <a:r>
              <a:rPr lang="sk-SK" dirty="0" err="1"/>
              <a:t>used</a:t>
            </a:r>
            <a:r>
              <a:rPr lang="sk-SK" dirty="0"/>
              <a:t> in </a:t>
            </a:r>
            <a:r>
              <a:rPr lang="sk-SK" dirty="0" err="1"/>
              <a:t>dictation</a:t>
            </a:r>
            <a:r>
              <a:rPr lang="sk-SK" dirty="0"/>
              <a:t> to </a:t>
            </a:r>
            <a:r>
              <a:rPr lang="sk-SK" dirty="0" err="1"/>
              <a:t>introduce</a:t>
            </a:r>
            <a:r>
              <a:rPr lang="sk-SK" dirty="0"/>
              <a:t> and </a:t>
            </a:r>
            <a:r>
              <a:rPr lang="sk-SK" dirty="0" err="1"/>
              <a:t>terminate</a:t>
            </a:r>
            <a:r>
              <a:rPr lang="sk-SK" dirty="0"/>
              <a:t> a </a:t>
            </a:r>
            <a:r>
              <a:rPr lang="sk-SK" dirty="0" err="1"/>
              <a:t>quotation</a:t>
            </a:r>
            <a:r>
              <a:rPr lang="sk-SK" dirty="0"/>
              <a:t> BCMA. </a:t>
            </a:r>
            <a:r>
              <a:rPr lang="sk-SK" dirty="0" err="1"/>
              <a:t>Introducing</a:t>
            </a:r>
            <a:r>
              <a:rPr lang="sk-SK" dirty="0"/>
              <a:t> and </a:t>
            </a:r>
            <a:r>
              <a:rPr lang="sk-SK" dirty="0" err="1"/>
              <a:t>terminating</a:t>
            </a:r>
            <a:r>
              <a:rPr lang="sk-SK" dirty="0"/>
              <a:t> </a:t>
            </a:r>
            <a:r>
              <a:rPr lang="sk-SK" dirty="0" err="1"/>
              <a:t>words</a:t>
            </a:r>
            <a:r>
              <a:rPr lang="sk-SK" dirty="0"/>
              <a:t> </a:t>
            </a:r>
            <a:r>
              <a:rPr lang="sk-SK" dirty="0" err="1"/>
              <a:t>quoted</a:t>
            </a:r>
            <a:r>
              <a:rPr lang="sk-SK" dirty="0"/>
              <a:t>. 2015 </a:t>
            </a:r>
            <a:r>
              <a:rPr lang="sk-SK" dirty="0" err="1"/>
              <a:t>Excepteur</a:t>
            </a:r>
            <a:r>
              <a:rPr lang="sk-SK" dirty="0"/>
              <a:t> </a:t>
            </a:r>
            <a:r>
              <a:rPr lang="sk-SK" dirty="0" err="1"/>
              <a:t>sint</a:t>
            </a:r>
            <a:r>
              <a:rPr lang="sk-SK" dirty="0"/>
              <a:t> </a:t>
            </a:r>
            <a:r>
              <a:rPr lang="sk-SK" dirty="0" err="1"/>
              <a:t>occaecat</a:t>
            </a:r>
            <a:r>
              <a:rPr lang="sk-SK" dirty="0"/>
              <a:t> </a:t>
            </a:r>
            <a:r>
              <a:rPr lang="sk-SK" dirty="0" err="1"/>
              <a:t>cupidatat</a:t>
            </a:r>
            <a:r>
              <a:rPr lang="sk-SK" dirty="0"/>
              <a:t> </a:t>
            </a:r>
            <a:r>
              <a:rPr lang="sk-SK" dirty="0" err="1"/>
              <a:t>non</a:t>
            </a:r>
            <a:r>
              <a:rPr lang="sk-SK" dirty="0"/>
              <a:t> </a:t>
            </a:r>
            <a:r>
              <a:rPr lang="sk-SK" dirty="0" err="1"/>
              <a:t>proident</a:t>
            </a:r>
            <a:r>
              <a:rPr lang="sk-SK" dirty="0"/>
              <a:t>, </a:t>
            </a:r>
            <a:r>
              <a:rPr lang="sk-SK" dirty="0" err="1"/>
              <a:t>sunt</a:t>
            </a:r>
            <a:r>
              <a:rPr lang="sk-SK" dirty="0"/>
              <a:t> X3R in </a:t>
            </a:r>
            <a:r>
              <a:rPr lang="sk-SK" dirty="0" err="1"/>
              <a:t>culpa</a:t>
            </a:r>
            <a:r>
              <a:rPr lang="sk-SK" dirty="0"/>
              <a:t> </a:t>
            </a:r>
            <a:r>
              <a:rPr lang="sk-SK" dirty="0" err="1"/>
              <a:t>qui</a:t>
            </a:r>
            <a:r>
              <a:rPr lang="sk-SK" dirty="0"/>
              <a:t> </a:t>
            </a:r>
            <a:r>
              <a:rPr lang="sk-SK" dirty="0" err="1"/>
              <a:t>officia</a:t>
            </a:r>
            <a:r>
              <a:rPr lang="sk-SK" dirty="0"/>
              <a:t> </a:t>
            </a:r>
            <a:r>
              <a:rPr lang="sk-SK" dirty="0" err="1"/>
              <a:t>deserunt</a:t>
            </a:r>
            <a:r>
              <a:rPr lang="sk-SK" dirty="0"/>
              <a:t> </a:t>
            </a:r>
            <a:r>
              <a:rPr lang="sk-SK" dirty="0" err="1"/>
              <a:t>mollit</a:t>
            </a:r>
            <a:r>
              <a:rPr lang="sk-SK" dirty="0"/>
              <a:t> </a:t>
            </a:r>
            <a:r>
              <a:rPr lang="sk-SK" dirty="0" err="1"/>
              <a:t>anim</a:t>
            </a:r>
            <a:r>
              <a:rPr lang="sk-SK" dirty="0"/>
              <a:t> id </a:t>
            </a:r>
            <a:r>
              <a:rPr lang="sk-SK" dirty="0" err="1"/>
              <a:t>est</a:t>
            </a:r>
            <a:r>
              <a:rPr lang="sk-SK" dirty="0"/>
              <a:t> laborum.2017 </a:t>
            </a:r>
            <a:r>
              <a:rPr lang="sk-SK" dirty="0" err="1"/>
              <a:t>Duis</a:t>
            </a:r>
            <a:r>
              <a:rPr lang="sk-SK" dirty="0"/>
              <a:t> aute </a:t>
            </a:r>
            <a:r>
              <a:rPr lang="sk-SK" dirty="0" err="1"/>
              <a:t>irure</a:t>
            </a:r>
            <a:r>
              <a:rPr lang="sk-SK" dirty="0"/>
              <a:t> </a:t>
            </a:r>
            <a:r>
              <a:rPr lang="sk-SK" dirty="0" err="1"/>
              <a:t>dolor</a:t>
            </a:r>
            <a:r>
              <a:rPr lang="sk-SK" dirty="0"/>
              <a:t> in </a:t>
            </a:r>
            <a:r>
              <a:rPr lang="sk-SK" dirty="0" err="1"/>
              <a:t>reprehenderit</a:t>
            </a:r>
            <a:r>
              <a:rPr lang="sk-SK" dirty="0"/>
              <a:t> in </a:t>
            </a:r>
            <a:r>
              <a:rPr lang="sk-SK" dirty="0" err="1"/>
              <a:t>voluptate</a:t>
            </a:r>
            <a:r>
              <a:rPr lang="sk-SK" dirty="0"/>
              <a:t> </a:t>
            </a:r>
            <a:r>
              <a:rPr lang="sk-SK" dirty="0" err="1"/>
              <a:t>velit</a:t>
            </a:r>
            <a:r>
              <a:rPr lang="sk-SK" dirty="0"/>
              <a:t> </a:t>
            </a:r>
            <a:r>
              <a:rPr lang="sk-SK" dirty="0" err="1"/>
              <a:t>esse</a:t>
            </a:r>
            <a:r>
              <a:rPr lang="sk-SK" dirty="0"/>
              <a:t> </a:t>
            </a:r>
            <a:r>
              <a:rPr lang="sk-SK" dirty="0" err="1"/>
              <a:t>cillum</a:t>
            </a:r>
            <a:r>
              <a:rPr lang="sk-SK" dirty="0"/>
              <a:t> </a:t>
            </a:r>
            <a:r>
              <a:rPr lang="sk-SK" dirty="0" err="1"/>
              <a:t>dolore</a:t>
            </a:r>
            <a:r>
              <a:rPr lang="sk-SK" dirty="0"/>
              <a:t> </a:t>
            </a:r>
            <a:r>
              <a:rPr lang="sk-SK" dirty="0" err="1"/>
              <a:t>eu</a:t>
            </a:r>
            <a:r>
              <a:rPr lang="sk-SK" dirty="0"/>
              <a:t> </a:t>
            </a:r>
            <a:r>
              <a:rPr lang="sk-SK" dirty="0" err="1"/>
              <a:t>fugiat</a:t>
            </a:r>
            <a:r>
              <a:rPr lang="sk-SK" dirty="0"/>
              <a:t> </a:t>
            </a:r>
            <a:r>
              <a:rPr lang="sk-SK" dirty="0" err="1"/>
              <a:t>nulla</a:t>
            </a:r>
            <a:r>
              <a:rPr lang="sk-SK" dirty="0"/>
              <a:t> </a:t>
            </a:r>
            <a:r>
              <a:rPr lang="sk-SK" dirty="0" err="1"/>
              <a:t>pariatur</a:t>
            </a:r>
            <a:r>
              <a:rPr lang="sk-SK" dirty="0"/>
              <a:t>.</a:t>
            </a:r>
          </a:p>
        </p:txBody>
      </p:sp>
    </p:spTree>
    <p:extLst>
      <p:ext uri="{BB962C8B-B14F-4D97-AF65-F5344CB8AC3E}">
        <p14:creationId xmlns:p14="http://schemas.microsoft.com/office/powerpoint/2010/main" val="7682646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LeftText_2">
    <p:bg>
      <p:bgPr>
        <a:solidFill>
          <a:schemeClr val="bg1"/>
        </a:solidFill>
        <a:effectLst/>
      </p:bgPr>
    </p:bg>
    <p:spTree>
      <p:nvGrpSpPr>
        <p:cNvPr id="1" name=""/>
        <p:cNvGrpSpPr/>
        <p:nvPr/>
      </p:nvGrpSpPr>
      <p:grpSpPr>
        <a:xfrm>
          <a:off x="0" y="0"/>
          <a:ext cx="0" cy="0"/>
          <a:chOff x="0" y="0"/>
          <a:chExt cx="0" cy="0"/>
        </a:xfrm>
      </p:grpSpPr>
      <p:sp>
        <p:nvSpPr>
          <p:cNvPr id="12" name="Obdĺžnik 11">
            <a:extLst>
              <a:ext uri="{FF2B5EF4-FFF2-40B4-BE49-F238E27FC236}">
                <a16:creationId xmlns:a16="http://schemas.microsoft.com/office/drawing/2014/main" id="{9935C119-74EC-49C8-AE1F-1523246BAD02}"/>
              </a:ext>
            </a:extLst>
          </p:cNvPr>
          <p:cNvSpPr/>
          <p:nvPr/>
        </p:nvSpPr>
        <p:spPr>
          <a:xfrm>
            <a:off x="6096000" y="0"/>
            <a:ext cx="6096000" cy="685800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Zástupný objekt pre text 13">
            <a:extLst>
              <a:ext uri="{FF2B5EF4-FFF2-40B4-BE49-F238E27FC236}">
                <a16:creationId xmlns:a16="http://schemas.microsoft.com/office/drawing/2014/main" id="{ACA22D96-AB45-4340-BC17-743ADAFD8AC1}"/>
              </a:ext>
            </a:extLst>
          </p:cNvPr>
          <p:cNvSpPr>
            <a:spLocks noGrp="1"/>
          </p:cNvSpPr>
          <p:nvPr>
            <p:ph type="body" sz="quarter" idx="17"/>
          </p:nvPr>
        </p:nvSpPr>
        <p:spPr>
          <a:xfrm>
            <a:off x="893619" y="405245"/>
            <a:ext cx="4768850" cy="831273"/>
          </a:xfrm>
          <a:prstGeom prst="rect">
            <a:avLst/>
          </a:prstGeom>
        </p:spPr>
        <p:txBody>
          <a:bodyPr/>
          <a:lstStyle>
            <a:lvl1pPr marL="0" indent="0" algn="l">
              <a:buFont typeface="Arial" panose="020B0604020202020204" pitchFamily="34" charset="0"/>
              <a:buNone/>
              <a:defRPr lang="sk-SK" sz="2400" dirty="0">
                <a:solidFill>
                  <a:schemeClr val="tx1"/>
                </a:solidFill>
              </a:defRPr>
            </a:lvl1pPr>
            <a:lvl2pPr marL="457200" indent="0" algn="l">
              <a:buFont typeface="Arial" panose="020B0604020202020204" pitchFamily="34" charset="0"/>
              <a:buNone/>
              <a:defRPr sz="2400">
                <a:solidFill>
                  <a:schemeClr val="tx1"/>
                </a:solidFill>
              </a:defRPr>
            </a:lvl2pPr>
            <a:lvl3pPr marL="914400" indent="0" algn="l">
              <a:buFont typeface="Arial" panose="020B0604020202020204" pitchFamily="34" charset="0"/>
              <a:buNone/>
              <a:defRPr sz="2400">
                <a:solidFill>
                  <a:schemeClr val="tx1"/>
                </a:solidFill>
              </a:defRPr>
            </a:lvl3pPr>
            <a:lvl4pPr marL="1371600" indent="0" algn="l">
              <a:buFont typeface="Arial" panose="020B0604020202020204" pitchFamily="34" charset="0"/>
              <a:buNone/>
              <a:defRPr sz="2400">
                <a:solidFill>
                  <a:schemeClr val="tx1"/>
                </a:solidFill>
              </a:defRPr>
            </a:lvl4pPr>
            <a:lvl5pPr marL="1828800" indent="0" algn="l">
              <a:buFont typeface="Arial" panose="020B0604020202020204" pitchFamily="34" charset="0"/>
              <a:buNone/>
              <a:defRPr sz="2400">
                <a:solidFill>
                  <a:schemeClr val="tx1"/>
                </a:solidFill>
              </a:defRPr>
            </a:lvl5pPr>
          </a:lstStyle>
          <a:p>
            <a:pPr lvl="0"/>
            <a:r>
              <a:rPr lang="cs-CZ" noProof="0"/>
              <a:t>Upravte styly předlohy textu.</a:t>
            </a:r>
          </a:p>
        </p:txBody>
      </p:sp>
      <p:sp>
        <p:nvSpPr>
          <p:cNvPr id="5" name="Zástupný objekt pre obrázok 4">
            <a:extLst>
              <a:ext uri="{FF2B5EF4-FFF2-40B4-BE49-F238E27FC236}">
                <a16:creationId xmlns:a16="http://schemas.microsoft.com/office/drawing/2014/main" id="{F95345A1-AE31-475E-A7FD-448097FDD4FD}"/>
              </a:ext>
            </a:extLst>
          </p:cNvPr>
          <p:cNvSpPr>
            <a:spLocks noGrp="1"/>
          </p:cNvSpPr>
          <p:nvPr>
            <p:ph type="pic" sz="quarter" idx="18"/>
          </p:nvPr>
        </p:nvSpPr>
        <p:spPr>
          <a:xfrm>
            <a:off x="6743701" y="1122218"/>
            <a:ext cx="4883726" cy="5133108"/>
          </a:xfrm>
          <a:prstGeom prst="rect">
            <a:avLst/>
          </a:prstGeom>
        </p:spPr>
        <p:txBody>
          <a:bodyPr/>
          <a:lstStyle>
            <a:lvl1pPr>
              <a:defRPr sz="1200"/>
            </a:lvl1pPr>
          </a:lstStyle>
          <a:p>
            <a:r>
              <a:rPr lang="cs-CZ" noProof="0"/>
              <a:t>Kliknutím na ikonu přidáte obrázek.</a:t>
            </a:r>
            <a:endParaRPr lang="en-US" noProof="0"/>
          </a:p>
        </p:txBody>
      </p:sp>
      <p:sp>
        <p:nvSpPr>
          <p:cNvPr id="11" name="Zástupný objekt pre text 13">
            <a:extLst>
              <a:ext uri="{FF2B5EF4-FFF2-40B4-BE49-F238E27FC236}">
                <a16:creationId xmlns:a16="http://schemas.microsoft.com/office/drawing/2014/main" id="{5A6B9A21-4072-4B5E-82A4-A84DA82F4CAA}"/>
              </a:ext>
            </a:extLst>
          </p:cNvPr>
          <p:cNvSpPr>
            <a:spLocks noGrp="1"/>
          </p:cNvSpPr>
          <p:nvPr>
            <p:ph type="body" sz="quarter" idx="19" hasCustomPrompt="1"/>
          </p:nvPr>
        </p:nvSpPr>
        <p:spPr>
          <a:xfrm>
            <a:off x="893619" y="1569026"/>
            <a:ext cx="4768850" cy="831273"/>
          </a:xfrm>
          <a:prstGeom prst="rect">
            <a:avLst/>
          </a:prstGeom>
        </p:spPr>
        <p:txBody>
          <a:bodyPr/>
          <a:lstStyle>
            <a:lvl1pPr marL="0" indent="0" algn="l">
              <a:buFont typeface="Arial" panose="020B0604020202020204" pitchFamily="34" charset="0"/>
              <a:buNone/>
              <a:defRPr lang="sk-SK" sz="3000" dirty="0">
                <a:solidFill>
                  <a:schemeClr val="tx1"/>
                </a:solidFill>
              </a:defRPr>
            </a:lvl1pPr>
            <a:lvl2pPr marL="457200" indent="0" algn="l">
              <a:buFont typeface="Arial" panose="020B0604020202020204" pitchFamily="34" charset="0"/>
              <a:buNone/>
              <a:defRPr sz="2400">
                <a:solidFill>
                  <a:schemeClr val="tx1"/>
                </a:solidFill>
              </a:defRPr>
            </a:lvl2pPr>
            <a:lvl3pPr marL="914400" indent="0" algn="l">
              <a:buFont typeface="Arial" panose="020B0604020202020204" pitchFamily="34" charset="0"/>
              <a:buNone/>
              <a:defRPr sz="2400">
                <a:solidFill>
                  <a:schemeClr val="tx1"/>
                </a:solidFill>
              </a:defRPr>
            </a:lvl3pPr>
            <a:lvl4pPr marL="1371600" indent="0" algn="l">
              <a:buFont typeface="Arial" panose="020B0604020202020204" pitchFamily="34" charset="0"/>
              <a:buNone/>
              <a:defRPr sz="2400">
                <a:solidFill>
                  <a:schemeClr val="tx1"/>
                </a:solidFill>
              </a:defRPr>
            </a:lvl4pPr>
            <a:lvl5pPr marL="1828800" indent="0" algn="l">
              <a:buFont typeface="Arial" panose="020B0604020202020204" pitchFamily="34" charset="0"/>
              <a:buNone/>
              <a:defRPr sz="2400">
                <a:solidFill>
                  <a:schemeClr val="tx1"/>
                </a:solidFill>
              </a:defRPr>
            </a:lvl5pPr>
          </a:lstStyle>
          <a:p>
            <a:pPr lvl="0"/>
            <a:r>
              <a:rPr lang="en-US" noProof="0"/>
              <a:t>Lorem ipsum</a:t>
            </a:r>
          </a:p>
        </p:txBody>
      </p:sp>
      <p:cxnSp>
        <p:nvCxnSpPr>
          <p:cNvPr id="17" name="Rovná spojnica 16">
            <a:extLst>
              <a:ext uri="{FF2B5EF4-FFF2-40B4-BE49-F238E27FC236}">
                <a16:creationId xmlns:a16="http://schemas.microsoft.com/office/drawing/2014/main" id="{3D56B16E-4FD8-4509-BE3F-C627D6B76B34}"/>
              </a:ext>
            </a:extLst>
          </p:cNvPr>
          <p:cNvCxnSpPr/>
          <p:nvPr/>
        </p:nvCxnSpPr>
        <p:spPr>
          <a:xfrm>
            <a:off x="11762511" y="6483928"/>
            <a:ext cx="0" cy="155863"/>
          </a:xfrm>
          <a:prstGeom prst="line">
            <a:avLst/>
          </a:prstGeom>
          <a:ln>
            <a:solidFill>
              <a:schemeClr val="bg2">
                <a:lumMod val="75000"/>
              </a:schemeClr>
            </a:solidFill>
          </a:ln>
        </p:spPr>
        <p:style>
          <a:lnRef idx="1">
            <a:schemeClr val="dk1"/>
          </a:lnRef>
          <a:fillRef idx="0">
            <a:schemeClr val="dk1"/>
          </a:fillRef>
          <a:effectRef idx="0">
            <a:schemeClr val="dk1"/>
          </a:effectRef>
          <a:fontRef idx="minor">
            <a:schemeClr val="tx1"/>
          </a:fontRef>
        </p:style>
      </p:cxnSp>
      <p:sp>
        <p:nvSpPr>
          <p:cNvPr id="13" name="Zástupný objekt pre text 14">
            <a:extLst>
              <a:ext uri="{FF2B5EF4-FFF2-40B4-BE49-F238E27FC236}">
                <a16:creationId xmlns:a16="http://schemas.microsoft.com/office/drawing/2014/main" id="{1ABE91F3-6C98-454F-9A5E-FCCD004DE82B}"/>
              </a:ext>
            </a:extLst>
          </p:cNvPr>
          <p:cNvSpPr>
            <a:spLocks noGrp="1"/>
          </p:cNvSpPr>
          <p:nvPr>
            <p:ph type="body" sz="quarter" idx="15" hasCustomPrompt="1"/>
          </p:nvPr>
        </p:nvSpPr>
        <p:spPr>
          <a:xfrm>
            <a:off x="8672947" y="6431973"/>
            <a:ext cx="3089564" cy="207818"/>
          </a:xfrm>
          <a:prstGeom prst="rect">
            <a:avLst/>
          </a:prstGeom>
        </p:spPr>
        <p:txBody>
          <a:bodyPr/>
          <a:lstStyle>
            <a:lvl1pPr algn="r">
              <a:defRPr sz="950" b="0">
                <a:solidFill>
                  <a:schemeClr val="bg1">
                    <a:lumMod val="50000"/>
                  </a:schemeClr>
                </a:solidFill>
              </a:defRPr>
            </a:lvl1pPr>
            <a:lvl2pPr>
              <a:defRPr sz="950" b="0">
                <a:solidFill>
                  <a:schemeClr val="bg1">
                    <a:lumMod val="50000"/>
                  </a:schemeClr>
                </a:solidFill>
              </a:defRPr>
            </a:lvl2pPr>
            <a:lvl3pPr>
              <a:defRPr sz="950" b="0">
                <a:solidFill>
                  <a:schemeClr val="bg1">
                    <a:lumMod val="50000"/>
                  </a:schemeClr>
                </a:solidFill>
              </a:defRPr>
            </a:lvl3pPr>
            <a:lvl4pPr>
              <a:defRPr sz="950" b="0">
                <a:solidFill>
                  <a:schemeClr val="bg1">
                    <a:lumMod val="50000"/>
                  </a:schemeClr>
                </a:solidFill>
              </a:defRPr>
            </a:lvl4pPr>
            <a:lvl5pPr>
              <a:defRPr sz="950" b="0">
                <a:solidFill>
                  <a:schemeClr val="bg1">
                    <a:lumMod val="50000"/>
                  </a:schemeClr>
                </a:solidFill>
              </a:defRPr>
            </a:lvl5pPr>
          </a:lstStyle>
          <a:p>
            <a:pPr lvl="0"/>
            <a:r>
              <a:rPr lang="en-US" noProof="0"/>
              <a:t>Název prezentace (volitelně)</a:t>
            </a:r>
          </a:p>
        </p:txBody>
      </p:sp>
      <p:sp>
        <p:nvSpPr>
          <p:cNvPr id="15" name="BlokTextu 14">
            <a:extLst>
              <a:ext uri="{FF2B5EF4-FFF2-40B4-BE49-F238E27FC236}">
                <a16:creationId xmlns:a16="http://schemas.microsoft.com/office/drawing/2014/main" id="{6D45063C-F0E4-40FA-BC6B-6EFC07D9EA04}"/>
              </a:ext>
            </a:extLst>
          </p:cNvPr>
          <p:cNvSpPr txBox="1"/>
          <p:nvPr/>
        </p:nvSpPr>
        <p:spPr>
          <a:xfrm>
            <a:off x="11853949" y="6431973"/>
            <a:ext cx="338051" cy="207818"/>
          </a:xfrm>
          <a:prstGeom prst="rect">
            <a:avLst/>
          </a:prstGeom>
        </p:spPr>
        <p:txBody>
          <a:bodyPr vert="horz" wrap="square" lIns="0" tIns="45720" rIns="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fld id="{B0E1C688-2A94-4C23-89D7-1BDBDDABE19E}" type="slidenum">
              <a:rPr lang="en-US" sz="950" b="0" kern="1200" noProof="0" smtClean="0">
                <a:solidFill>
                  <a:schemeClr val="bg1">
                    <a:lumMod val="50000"/>
                  </a:schemeClr>
                </a:solidFill>
                <a:latin typeface="+mn-lt"/>
                <a:ea typeface="+mn-ea"/>
                <a:cs typeface="+mn-cs"/>
              </a:rPr>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t>‹#›</a:t>
            </a:fld>
            <a:endParaRPr lang="en-US" sz="950" b="0" kern="1200" noProof="0">
              <a:solidFill>
                <a:schemeClr val="bg1">
                  <a:lumMod val="50000"/>
                </a:schemeClr>
              </a:solidFill>
              <a:latin typeface="+mn-lt"/>
              <a:ea typeface="+mn-ea"/>
              <a:cs typeface="+mn-cs"/>
            </a:endParaRPr>
          </a:p>
        </p:txBody>
      </p:sp>
      <p:sp>
        <p:nvSpPr>
          <p:cNvPr id="16" name="Zástupný objekt pre text 2">
            <a:extLst>
              <a:ext uri="{FF2B5EF4-FFF2-40B4-BE49-F238E27FC236}">
                <a16:creationId xmlns:a16="http://schemas.microsoft.com/office/drawing/2014/main" id="{FF46E1DA-72DD-4389-A08C-75684714BBCF}"/>
              </a:ext>
            </a:extLst>
          </p:cNvPr>
          <p:cNvSpPr>
            <a:spLocks noGrp="1"/>
          </p:cNvSpPr>
          <p:nvPr>
            <p:ph type="body" sz="quarter" idx="20" hasCustomPrompt="1"/>
          </p:nvPr>
        </p:nvSpPr>
        <p:spPr>
          <a:xfrm>
            <a:off x="893619" y="2400299"/>
            <a:ext cx="4642477" cy="3626427"/>
          </a:xfrm>
          <a:prstGeom prst="rect">
            <a:avLst/>
          </a:prstGeom>
        </p:spPr>
        <p:txBody>
          <a:bodyPr lIns="90000" tIns="46800" rIns="90000" bIns="46800"/>
          <a:lstStyle>
            <a:lvl1pPr marL="0" indent="0" algn="l">
              <a:lnSpc>
                <a:spcPct val="120000"/>
              </a:lnSpc>
              <a:spcBef>
                <a:spcPts val="0"/>
              </a:spcBef>
              <a:buFont typeface="Arial" panose="020B0604020202020204" pitchFamily="34" charset="0"/>
              <a:buNone/>
              <a:defRPr sz="1800" b="0">
                <a:solidFill>
                  <a:schemeClr val="tx1"/>
                </a:solidFill>
              </a:defRPr>
            </a:lvl1pPr>
            <a:lvl2pPr marL="457200" indent="0" algn="l">
              <a:lnSpc>
                <a:spcPct val="120000"/>
              </a:lnSpc>
              <a:spcBef>
                <a:spcPts val="0"/>
              </a:spcBef>
              <a:buFont typeface="Arial" panose="020B0604020202020204" pitchFamily="34" charset="0"/>
              <a:buNone/>
              <a:defRPr sz="1800" b="0">
                <a:solidFill>
                  <a:schemeClr val="tx1"/>
                </a:solidFill>
              </a:defRPr>
            </a:lvl2pPr>
            <a:lvl3pPr marL="914400" indent="0" algn="l">
              <a:lnSpc>
                <a:spcPct val="120000"/>
              </a:lnSpc>
              <a:spcBef>
                <a:spcPts val="0"/>
              </a:spcBef>
              <a:buFont typeface="Arial" panose="020B0604020202020204" pitchFamily="34" charset="0"/>
              <a:buNone/>
              <a:defRPr sz="1800" b="0">
                <a:solidFill>
                  <a:schemeClr val="tx1"/>
                </a:solidFill>
              </a:defRPr>
            </a:lvl3pPr>
            <a:lvl4pPr marL="1371600" indent="0" algn="l">
              <a:buFont typeface="Arial" panose="020B0604020202020204" pitchFamily="34" charset="0"/>
              <a:buNone/>
              <a:defRPr sz="1800" b="0">
                <a:solidFill>
                  <a:schemeClr val="tx1"/>
                </a:solidFill>
              </a:defRPr>
            </a:lvl4pPr>
            <a:lvl5pPr marL="1828800" indent="0" algn="l">
              <a:buFont typeface="Arial" panose="020B0604020202020204" pitchFamily="34" charset="0"/>
              <a:buNone/>
              <a:defRPr sz="1800" b="0">
                <a:solidFill>
                  <a:schemeClr val="tx1"/>
                </a:solidFill>
              </a:defRPr>
            </a:lvl5pPr>
          </a:lstStyle>
          <a:p>
            <a:pPr lvl="0"/>
            <a:r>
              <a:rPr lang="sk-SK" dirty="0" err="1"/>
              <a:t>Sample</a:t>
            </a:r>
            <a:r>
              <a:rPr lang="sk-SK" dirty="0"/>
              <a:t> text bla-</a:t>
            </a:r>
            <a:r>
              <a:rPr lang="sk-SK" dirty="0" err="1"/>
              <a:t>blah</a:t>
            </a:r>
            <a:r>
              <a:rPr lang="sk-SK" dirty="0"/>
              <a:t>, a formula </a:t>
            </a:r>
            <a:r>
              <a:rPr lang="sk-SK" dirty="0" err="1"/>
              <a:t>used</a:t>
            </a:r>
            <a:r>
              <a:rPr lang="sk-SK" dirty="0"/>
              <a:t> in </a:t>
            </a:r>
            <a:r>
              <a:rPr lang="sk-SK" dirty="0" err="1"/>
              <a:t>dictation</a:t>
            </a:r>
            <a:r>
              <a:rPr lang="sk-SK" dirty="0"/>
              <a:t> to </a:t>
            </a:r>
            <a:r>
              <a:rPr lang="sk-SK" dirty="0" err="1"/>
              <a:t>introduce</a:t>
            </a:r>
            <a:r>
              <a:rPr lang="sk-SK" dirty="0"/>
              <a:t> and </a:t>
            </a:r>
            <a:r>
              <a:rPr lang="sk-SK" dirty="0" err="1"/>
              <a:t>terminate</a:t>
            </a:r>
            <a:r>
              <a:rPr lang="sk-SK" dirty="0"/>
              <a:t> a </a:t>
            </a:r>
            <a:r>
              <a:rPr lang="sk-SK" dirty="0" err="1"/>
              <a:t>quotation</a:t>
            </a:r>
            <a:r>
              <a:rPr lang="sk-SK" dirty="0"/>
              <a:t> BCMA. </a:t>
            </a:r>
            <a:r>
              <a:rPr lang="sk-SK" dirty="0" err="1"/>
              <a:t>Introducing</a:t>
            </a:r>
            <a:r>
              <a:rPr lang="sk-SK" dirty="0"/>
              <a:t> and </a:t>
            </a:r>
            <a:r>
              <a:rPr lang="sk-SK" dirty="0" err="1"/>
              <a:t>terminating</a:t>
            </a:r>
            <a:r>
              <a:rPr lang="sk-SK" dirty="0"/>
              <a:t> </a:t>
            </a:r>
            <a:r>
              <a:rPr lang="sk-SK" dirty="0" err="1"/>
              <a:t>words</a:t>
            </a:r>
            <a:r>
              <a:rPr lang="sk-SK" dirty="0"/>
              <a:t> </a:t>
            </a:r>
            <a:r>
              <a:rPr lang="sk-SK" dirty="0" err="1"/>
              <a:t>quoted</a:t>
            </a:r>
            <a:r>
              <a:rPr lang="sk-SK" dirty="0"/>
              <a:t>. 2015 </a:t>
            </a:r>
            <a:r>
              <a:rPr lang="sk-SK" dirty="0" err="1"/>
              <a:t>Excepteur</a:t>
            </a:r>
            <a:r>
              <a:rPr lang="sk-SK" dirty="0"/>
              <a:t> </a:t>
            </a:r>
            <a:r>
              <a:rPr lang="sk-SK" dirty="0" err="1"/>
              <a:t>sint</a:t>
            </a:r>
            <a:r>
              <a:rPr lang="sk-SK" dirty="0"/>
              <a:t> </a:t>
            </a:r>
            <a:r>
              <a:rPr lang="sk-SK" dirty="0" err="1"/>
              <a:t>occaecat</a:t>
            </a:r>
            <a:r>
              <a:rPr lang="sk-SK" dirty="0"/>
              <a:t> </a:t>
            </a:r>
            <a:r>
              <a:rPr lang="sk-SK" dirty="0" err="1"/>
              <a:t>cupidatat</a:t>
            </a:r>
            <a:r>
              <a:rPr lang="sk-SK" dirty="0"/>
              <a:t> </a:t>
            </a:r>
            <a:r>
              <a:rPr lang="sk-SK" dirty="0" err="1"/>
              <a:t>non</a:t>
            </a:r>
            <a:r>
              <a:rPr lang="sk-SK" dirty="0"/>
              <a:t> </a:t>
            </a:r>
            <a:r>
              <a:rPr lang="sk-SK" dirty="0" err="1"/>
              <a:t>proident</a:t>
            </a:r>
            <a:r>
              <a:rPr lang="sk-SK" dirty="0"/>
              <a:t>, </a:t>
            </a:r>
            <a:r>
              <a:rPr lang="sk-SK" dirty="0" err="1"/>
              <a:t>sunt</a:t>
            </a:r>
            <a:r>
              <a:rPr lang="sk-SK" dirty="0"/>
              <a:t> X3R in </a:t>
            </a:r>
            <a:r>
              <a:rPr lang="sk-SK" dirty="0" err="1"/>
              <a:t>culpa</a:t>
            </a:r>
            <a:r>
              <a:rPr lang="sk-SK" dirty="0"/>
              <a:t> </a:t>
            </a:r>
            <a:r>
              <a:rPr lang="sk-SK" dirty="0" err="1"/>
              <a:t>qui</a:t>
            </a:r>
            <a:r>
              <a:rPr lang="sk-SK" dirty="0"/>
              <a:t> </a:t>
            </a:r>
            <a:r>
              <a:rPr lang="sk-SK" dirty="0" err="1"/>
              <a:t>officia</a:t>
            </a:r>
            <a:r>
              <a:rPr lang="sk-SK" dirty="0"/>
              <a:t> </a:t>
            </a:r>
            <a:r>
              <a:rPr lang="sk-SK" dirty="0" err="1"/>
              <a:t>deserunt</a:t>
            </a:r>
            <a:r>
              <a:rPr lang="sk-SK" dirty="0"/>
              <a:t> </a:t>
            </a:r>
            <a:r>
              <a:rPr lang="sk-SK" dirty="0" err="1"/>
              <a:t>mollit</a:t>
            </a:r>
            <a:r>
              <a:rPr lang="sk-SK" dirty="0"/>
              <a:t> </a:t>
            </a:r>
            <a:r>
              <a:rPr lang="sk-SK" dirty="0" err="1"/>
              <a:t>anim</a:t>
            </a:r>
            <a:r>
              <a:rPr lang="sk-SK" dirty="0"/>
              <a:t> id </a:t>
            </a:r>
            <a:r>
              <a:rPr lang="sk-SK" dirty="0" err="1"/>
              <a:t>est</a:t>
            </a:r>
            <a:r>
              <a:rPr lang="sk-SK" dirty="0"/>
              <a:t> laborum.2017 </a:t>
            </a:r>
            <a:r>
              <a:rPr lang="sk-SK" dirty="0" err="1"/>
              <a:t>Duis</a:t>
            </a:r>
            <a:r>
              <a:rPr lang="sk-SK" dirty="0"/>
              <a:t> aute </a:t>
            </a:r>
            <a:r>
              <a:rPr lang="sk-SK" dirty="0" err="1"/>
              <a:t>irure</a:t>
            </a:r>
            <a:r>
              <a:rPr lang="sk-SK" dirty="0"/>
              <a:t> </a:t>
            </a:r>
            <a:r>
              <a:rPr lang="sk-SK" dirty="0" err="1"/>
              <a:t>dolor</a:t>
            </a:r>
            <a:r>
              <a:rPr lang="sk-SK" dirty="0"/>
              <a:t> in </a:t>
            </a:r>
            <a:r>
              <a:rPr lang="sk-SK" dirty="0" err="1"/>
              <a:t>reprehenderit</a:t>
            </a:r>
            <a:r>
              <a:rPr lang="sk-SK" dirty="0"/>
              <a:t> in </a:t>
            </a:r>
            <a:r>
              <a:rPr lang="sk-SK" dirty="0" err="1"/>
              <a:t>voluptate</a:t>
            </a:r>
            <a:r>
              <a:rPr lang="sk-SK" dirty="0"/>
              <a:t> </a:t>
            </a:r>
            <a:r>
              <a:rPr lang="sk-SK" dirty="0" err="1"/>
              <a:t>velit</a:t>
            </a:r>
            <a:r>
              <a:rPr lang="sk-SK" dirty="0"/>
              <a:t> </a:t>
            </a:r>
            <a:r>
              <a:rPr lang="sk-SK" dirty="0" err="1"/>
              <a:t>esse</a:t>
            </a:r>
            <a:r>
              <a:rPr lang="sk-SK" dirty="0"/>
              <a:t> </a:t>
            </a:r>
            <a:r>
              <a:rPr lang="sk-SK" dirty="0" err="1"/>
              <a:t>cillum</a:t>
            </a:r>
            <a:r>
              <a:rPr lang="sk-SK" dirty="0"/>
              <a:t> </a:t>
            </a:r>
            <a:r>
              <a:rPr lang="sk-SK" dirty="0" err="1"/>
              <a:t>dolore</a:t>
            </a:r>
            <a:r>
              <a:rPr lang="sk-SK" dirty="0"/>
              <a:t> </a:t>
            </a:r>
            <a:r>
              <a:rPr lang="sk-SK" dirty="0" err="1"/>
              <a:t>eu</a:t>
            </a:r>
            <a:r>
              <a:rPr lang="sk-SK" dirty="0"/>
              <a:t> </a:t>
            </a:r>
            <a:r>
              <a:rPr lang="sk-SK" dirty="0" err="1"/>
              <a:t>fugiat</a:t>
            </a:r>
            <a:r>
              <a:rPr lang="sk-SK" dirty="0"/>
              <a:t> </a:t>
            </a:r>
            <a:r>
              <a:rPr lang="sk-SK" dirty="0" err="1"/>
              <a:t>nulla</a:t>
            </a:r>
            <a:r>
              <a:rPr lang="sk-SK" dirty="0"/>
              <a:t> </a:t>
            </a:r>
            <a:r>
              <a:rPr lang="sk-SK" dirty="0" err="1"/>
              <a:t>pariatur</a:t>
            </a:r>
            <a:r>
              <a:rPr lang="sk-SK" dirty="0"/>
              <a:t>.</a:t>
            </a:r>
          </a:p>
        </p:txBody>
      </p:sp>
    </p:spTree>
    <p:extLst>
      <p:ext uri="{BB962C8B-B14F-4D97-AF65-F5344CB8AC3E}">
        <p14:creationId xmlns:p14="http://schemas.microsoft.com/office/powerpoint/2010/main" val="21482057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rocess Showcase">
    <p:bg>
      <p:bgPr>
        <a:solidFill>
          <a:srgbClr val="CCEEED"/>
        </a:solidFill>
        <a:effectLst/>
      </p:bgPr>
    </p:bg>
    <p:spTree>
      <p:nvGrpSpPr>
        <p:cNvPr id="1" name=""/>
        <p:cNvGrpSpPr/>
        <p:nvPr/>
      </p:nvGrpSpPr>
      <p:grpSpPr>
        <a:xfrm>
          <a:off x="0" y="0"/>
          <a:ext cx="0" cy="0"/>
          <a:chOff x="0" y="0"/>
          <a:chExt cx="0" cy="0"/>
        </a:xfrm>
      </p:grpSpPr>
      <p:sp>
        <p:nvSpPr>
          <p:cNvPr id="11" name="Zástupný objekt pre text 13">
            <a:extLst>
              <a:ext uri="{FF2B5EF4-FFF2-40B4-BE49-F238E27FC236}">
                <a16:creationId xmlns:a16="http://schemas.microsoft.com/office/drawing/2014/main" id="{5A6B9A21-4072-4B5E-82A4-A84DA82F4CAA}"/>
              </a:ext>
            </a:extLst>
          </p:cNvPr>
          <p:cNvSpPr>
            <a:spLocks noGrp="1"/>
          </p:cNvSpPr>
          <p:nvPr>
            <p:ph type="body" sz="quarter" idx="19" hasCustomPrompt="1"/>
          </p:nvPr>
        </p:nvSpPr>
        <p:spPr>
          <a:xfrm>
            <a:off x="893619" y="862444"/>
            <a:ext cx="4768850" cy="831273"/>
          </a:xfrm>
          <a:prstGeom prst="rect">
            <a:avLst/>
          </a:prstGeom>
        </p:spPr>
        <p:txBody>
          <a:bodyPr/>
          <a:lstStyle>
            <a:lvl1pPr marL="0" indent="0" algn="l">
              <a:buFont typeface="Arial" panose="020B0604020202020204" pitchFamily="34" charset="0"/>
              <a:buNone/>
              <a:defRPr lang="sk-SK" sz="3000" dirty="0">
                <a:solidFill>
                  <a:schemeClr val="tx1"/>
                </a:solidFill>
              </a:defRPr>
            </a:lvl1pPr>
            <a:lvl2pPr marL="457200" indent="0" algn="l">
              <a:buFont typeface="Arial" panose="020B0604020202020204" pitchFamily="34" charset="0"/>
              <a:buNone/>
              <a:defRPr sz="2400">
                <a:solidFill>
                  <a:schemeClr val="tx1"/>
                </a:solidFill>
              </a:defRPr>
            </a:lvl2pPr>
            <a:lvl3pPr marL="914400" indent="0" algn="l">
              <a:buFont typeface="Arial" panose="020B0604020202020204" pitchFamily="34" charset="0"/>
              <a:buNone/>
              <a:defRPr sz="2400">
                <a:solidFill>
                  <a:schemeClr val="tx1"/>
                </a:solidFill>
              </a:defRPr>
            </a:lvl3pPr>
            <a:lvl4pPr marL="1371600" indent="0" algn="l">
              <a:buFont typeface="Arial" panose="020B0604020202020204" pitchFamily="34" charset="0"/>
              <a:buNone/>
              <a:defRPr sz="2400">
                <a:solidFill>
                  <a:schemeClr val="tx1"/>
                </a:solidFill>
              </a:defRPr>
            </a:lvl4pPr>
            <a:lvl5pPr marL="1828800" indent="0" algn="l">
              <a:buFont typeface="Arial" panose="020B0604020202020204" pitchFamily="34" charset="0"/>
              <a:buNone/>
              <a:defRPr sz="2400">
                <a:solidFill>
                  <a:schemeClr val="tx1"/>
                </a:solidFill>
              </a:defRPr>
            </a:lvl5pPr>
          </a:lstStyle>
          <a:p>
            <a:pPr lvl="0"/>
            <a:r>
              <a:rPr lang="en-US" noProof="0"/>
              <a:t>Lorem ipsum</a:t>
            </a:r>
          </a:p>
        </p:txBody>
      </p:sp>
      <p:sp>
        <p:nvSpPr>
          <p:cNvPr id="3" name="Zástupný objekt pre graf 2">
            <a:extLst>
              <a:ext uri="{FF2B5EF4-FFF2-40B4-BE49-F238E27FC236}">
                <a16:creationId xmlns:a16="http://schemas.microsoft.com/office/drawing/2014/main" id="{A0F67C6E-37C7-4950-8F9B-86624B460471}"/>
              </a:ext>
            </a:extLst>
          </p:cNvPr>
          <p:cNvSpPr>
            <a:spLocks noGrp="1"/>
          </p:cNvSpPr>
          <p:nvPr>
            <p:ph type="chart" sz="quarter" idx="20"/>
          </p:nvPr>
        </p:nvSpPr>
        <p:spPr>
          <a:xfrm>
            <a:off x="893619" y="3699164"/>
            <a:ext cx="10235045" cy="2078181"/>
          </a:xfrm>
          <a:prstGeom prst="rect">
            <a:avLst/>
          </a:prstGeom>
        </p:spPr>
        <p:txBody>
          <a:bodyPr/>
          <a:lstStyle/>
          <a:p>
            <a:r>
              <a:rPr lang="cs-CZ" noProof="0"/>
              <a:t>Kliknutím na ikonu přidáte graf.</a:t>
            </a:r>
            <a:endParaRPr lang="en-US" noProof="0"/>
          </a:p>
        </p:txBody>
      </p:sp>
      <p:cxnSp>
        <p:nvCxnSpPr>
          <p:cNvPr id="16" name="Rovná spojnica 15">
            <a:extLst>
              <a:ext uri="{FF2B5EF4-FFF2-40B4-BE49-F238E27FC236}">
                <a16:creationId xmlns:a16="http://schemas.microsoft.com/office/drawing/2014/main" id="{8E327D95-9170-48DE-9333-2EFD7E8DE138}"/>
              </a:ext>
            </a:extLst>
          </p:cNvPr>
          <p:cNvCxnSpPr/>
          <p:nvPr/>
        </p:nvCxnSpPr>
        <p:spPr>
          <a:xfrm>
            <a:off x="11762511" y="6483928"/>
            <a:ext cx="0" cy="155863"/>
          </a:xfrm>
          <a:prstGeom prst="line">
            <a:avLst/>
          </a:prstGeom>
          <a:ln>
            <a:solidFill>
              <a:schemeClr val="bg2">
                <a:lumMod val="75000"/>
              </a:schemeClr>
            </a:solidFill>
          </a:ln>
        </p:spPr>
        <p:style>
          <a:lnRef idx="1">
            <a:schemeClr val="dk1"/>
          </a:lnRef>
          <a:fillRef idx="0">
            <a:schemeClr val="dk1"/>
          </a:fillRef>
          <a:effectRef idx="0">
            <a:schemeClr val="dk1"/>
          </a:effectRef>
          <a:fontRef idx="minor">
            <a:schemeClr val="tx1"/>
          </a:fontRef>
        </p:style>
      </p:cxnSp>
      <p:sp>
        <p:nvSpPr>
          <p:cNvPr id="8" name="Zástupný objekt pre text 14">
            <a:extLst>
              <a:ext uri="{FF2B5EF4-FFF2-40B4-BE49-F238E27FC236}">
                <a16:creationId xmlns:a16="http://schemas.microsoft.com/office/drawing/2014/main" id="{6139564A-4C1F-4E8E-9505-0C73092DD531}"/>
              </a:ext>
            </a:extLst>
          </p:cNvPr>
          <p:cNvSpPr>
            <a:spLocks noGrp="1"/>
          </p:cNvSpPr>
          <p:nvPr>
            <p:ph type="body" sz="quarter" idx="15" hasCustomPrompt="1"/>
          </p:nvPr>
        </p:nvSpPr>
        <p:spPr>
          <a:xfrm>
            <a:off x="8672947" y="6431973"/>
            <a:ext cx="3089564" cy="207818"/>
          </a:xfrm>
          <a:prstGeom prst="rect">
            <a:avLst/>
          </a:prstGeom>
        </p:spPr>
        <p:txBody>
          <a:bodyPr/>
          <a:lstStyle>
            <a:lvl1pPr algn="r">
              <a:defRPr sz="950" b="0">
                <a:solidFill>
                  <a:schemeClr val="bg1">
                    <a:lumMod val="50000"/>
                  </a:schemeClr>
                </a:solidFill>
              </a:defRPr>
            </a:lvl1pPr>
            <a:lvl2pPr>
              <a:defRPr sz="950" b="0">
                <a:solidFill>
                  <a:schemeClr val="bg1">
                    <a:lumMod val="50000"/>
                  </a:schemeClr>
                </a:solidFill>
              </a:defRPr>
            </a:lvl2pPr>
            <a:lvl3pPr>
              <a:defRPr sz="950" b="0">
                <a:solidFill>
                  <a:schemeClr val="bg1">
                    <a:lumMod val="50000"/>
                  </a:schemeClr>
                </a:solidFill>
              </a:defRPr>
            </a:lvl3pPr>
            <a:lvl4pPr>
              <a:defRPr sz="950" b="0">
                <a:solidFill>
                  <a:schemeClr val="bg1">
                    <a:lumMod val="50000"/>
                  </a:schemeClr>
                </a:solidFill>
              </a:defRPr>
            </a:lvl4pPr>
            <a:lvl5pPr>
              <a:defRPr sz="950" b="0">
                <a:solidFill>
                  <a:schemeClr val="bg1">
                    <a:lumMod val="50000"/>
                  </a:schemeClr>
                </a:solidFill>
              </a:defRPr>
            </a:lvl5pPr>
          </a:lstStyle>
          <a:p>
            <a:pPr lvl="0"/>
            <a:r>
              <a:rPr lang="en-US" noProof="0"/>
              <a:t>Název prezentace (volitelně)</a:t>
            </a:r>
          </a:p>
        </p:txBody>
      </p:sp>
      <p:sp>
        <p:nvSpPr>
          <p:cNvPr id="9" name="BlokTextu 8">
            <a:extLst>
              <a:ext uri="{FF2B5EF4-FFF2-40B4-BE49-F238E27FC236}">
                <a16:creationId xmlns:a16="http://schemas.microsoft.com/office/drawing/2014/main" id="{D369F507-5F38-4FDE-BB25-CF24F218636B}"/>
              </a:ext>
            </a:extLst>
          </p:cNvPr>
          <p:cNvSpPr txBox="1"/>
          <p:nvPr/>
        </p:nvSpPr>
        <p:spPr>
          <a:xfrm>
            <a:off x="11853949" y="6431973"/>
            <a:ext cx="338051" cy="207818"/>
          </a:xfrm>
          <a:prstGeom prst="rect">
            <a:avLst/>
          </a:prstGeom>
        </p:spPr>
        <p:txBody>
          <a:bodyPr vert="horz" wrap="square" lIns="0" tIns="45720" rIns="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fld id="{B0E1C688-2A94-4C23-89D7-1BDBDDABE19E}" type="slidenum">
              <a:rPr lang="en-US" sz="950" b="0" kern="1200" noProof="0" smtClean="0">
                <a:solidFill>
                  <a:schemeClr val="bg1">
                    <a:lumMod val="50000"/>
                  </a:schemeClr>
                </a:solidFill>
                <a:latin typeface="+mn-lt"/>
                <a:ea typeface="+mn-ea"/>
                <a:cs typeface="+mn-cs"/>
              </a:rPr>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t>‹#›</a:t>
            </a:fld>
            <a:endParaRPr lang="en-US" sz="950" b="0" kern="1200" noProof="0">
              <a:solidFill>
                <a:schemeClr val="bg1">
                  <a:lumMod val="50000"/>
                </a:schemeClr>
              </a:solidFill>
              <a:latin typeface="+mn-lt"/>
              <a:ea typeface="+mn-ea"/>
              <a:cs typeface="+mn-cs"/>
            </a:endParaRPr>
          </a:p>
        </p:txBody>
      </p:sp>
      <p:sp>
        <p:nvSpPr>
          <p:cNvPr id="10" name="Zástupný objekt pre text 2">
            <a:extLst>
              <a:ext uri="{FF2B5EF4-FFF2-40B4-BE49-F238E27FC236}">
                <a16:creationId xmlns:a16="http://schemas.microsoft.com/office/drawing/2014/main" id="{05447462-390C-40D7-87AB-7F1AB78AC668}"/>
              </a:ext>
            </a:extLst>
          </p:cNvPr>
          <p:cNvSpPr>
            <a:spLocks noGrp="1"/>
          </p:cNvSpPr>
          <p:nvPr>
            <p:ph type="body" sz="quarter" idx="21" hasCustomPrompt="1"/>
          </p:nvPr>
        </p:nvSpPr>
        <p:spPr>
          <a:xfrm>
            <a:off x="893619" y="1693717"/>
            <a:ext cx="10235045" cy="2005447"/>
          </a:xfrm>
          <a:prstGeom prst="rect">
            <a:avLst/>
          </a:prstGeom>
        </p:spPr>
        <p:txBody>
          <a:bodyPr lIns="90000" tIns="46800" rIns="90000" bIns="46800"/>
          <a:lstStyle>
            <a:lvl1pPr marL="0" indent="0" algn="l">
              <a:lnSpc>
                <a:spcPct val="120000"/>
              </a:lnSpc>
              <a:spcBef>
                <a:spcPts val="0"/>
              </a:spcBef>
              <a:buFont typeface="Arial" panose="020B0604020202020204" pitchFamily="34" charset="0"/>
              <a:buNone/>
              <a:defRPr sz="2400" b="0">
                <a:solidFill>
                  <a:schemeClr val="tx1"/>
                </a:solidFill>
              </a:defRPr>
            </a:lvl1pPr>
            <a:lvl2pPr marL="742950" indent="-285750" algn="l">
              <a:lnSpc>
                <a:spcPct val="120000"/>
              </a:lnSpc>
              <a:spcBef>
                <a:spcPts val="0"/>
              </a:spcBef>
              <a:buFont typeface="Arial" panose="020B0604020202020204" pitchFamily="34" charset="0"/>
              <a:buChar char="•"/>
              <a:defRPr sz="2400" b="0">
                <a:solidFill>
                  <a:schemeClr val="tx1"/>
                </a:solidFill>
              </a:defRPr>
            </a:lvl2pPr>
            <a:lvl3pPr marL="1200150" indent="-285750" algn="l">
              <a:lnSpc>
                <a:spcPct val="120000"/>
              </a:lnSpc>
              <a:spcBef>
                <a:spcPts val="0"/>
              </a:spcBef>
              <a:buFont typeface="Arial" panose="020B0604020202020204" pitchFamily="34" charset="0"/>
              <a:buChar char="•"/>
              <a:defRPr sz="2400" b="0">
                <a:solidFill>
                  <a:schemeClr val="tx1"/>
                </a:solidFill>
              </a:defRPr>
            </a:lvl3pPr>
            <a:lvl4pPr marL="1657350" indent="-285750" algn="l">
              <a:buFont typeface="Arial" panose="020B0604020202020204" pitchFamily="34" charset="0"/>
              <a:buChar char="•"/>
              <a:defRPr sz="2400" b="0">
                <a:solidFill>
                  <a:schemeClr val="tx1"/>
                </a:solidFill>
              </a:defRPr>
            </a:lvl4pPr>
            <a:lvl5pPr marL="2171700" indent="-342900" algn="l">
              <a:buFont typeface="Arial" panose="020B0604020202020204" pitchFamily="34" charset="0"/>
              <a:buChar char="•"/>
              <a:defRPr sz="2400" b="0">
                <a:solidFill>
                  <a:schemeClr val="tx1"/>
                </a:solidFill>
              </a:defRPr>
            </a:lvl5pPr>
          </a:lstStyle>
          <a:p>
            <a:pPr lvl="0"/>
            <a:r>
              <a:rPr lang="sk-SK" dirty="0" err="1"/>
              <a:t>Introducing</a:t>
            </a:r>
            <a:r>
              <a:rPr lang="sk-SK" dirty="0"/>
              <a:t> and </a:t>
            </a:r>
            <a:r>
              <a:rPr lang="sk-SK" dirty="0" err="1"/>
              <a:t>terminating</a:t>
            </a:r>
            <a:r>
              <a:rPr lang="sk-SK" dirty="0"/>
              <a:t> </a:t>
            </a:r>
            <a:r>
              <a:rPr lang="sk-SK" dirty="0" err="1"/>
              <a:t>words</a:t>
            </a:r>
            <a:r>
              <a:rPr lang="sk-SK" dirty="0"/>
              <a:t> </a:t>
            </a:r>
            <a:r>
              <a:rPr lang="sk-SK" dirty="0" err="1"/>
              <a:t>quoted</a:t>
            </a:r>
            <a:r>
              <a:rPr lang="sk-SK" dirty="0"/>
              <a:t>. 2015 </a:t>
            </a:r>
            <a:r>
              <a:rPr lang="sk-SK" dirty="0" err="1"/>
              <a:t>Excepteur</a:t>
            </a:r>
            <a:r>
              <a:rPr lang="sk-SK" dirty="0"/>
              <a:t> </a:t>
            </a:r>
            <a:r>
              <a:rPr lang="sk-SK" dirty="0" err="1"/>
              <a:t>sint</a:t>
            </a:r>
            <a:r>
              <a:rPr lang="sk-SK" dirty="0"/>
              <a:t> </a:t>
            </a:r>
            <a:r>
              <a:rPr lang="sk-SK" dirty="0" err="1"/>
              <a:t>occaecat</a:t>
            </a:r>
            <a:r>
              <a:rPr lang="sk-SK" dirty="0"/>
              <a:t> </a:t>
            </a:r>
            <a:r>
              <a:rPr lang="sk-SK" dirty="0" err="1"/>
              <a:t>cupidatat</a:t>
            </a:r>
            <a:r>
              <a:rPr lang="sk-SK" dirty="0"/>
              <a:t> </a:t>
            </a:r>
            <a:r>
              <a:rPr lang="sk-SK" dirty="0" err="1"/>
              <a:t>non</a:t>
            </a:r>
            <a:r>
              <a:rPr lang="sk-SK" dirty="0"/>
              <a:t> </a:t>
            </a:r>
            <a:r>
              <a:rPr lang="sk-SK" dirty="0" err="1"/>
              <a:t>proident</a:t>
            </a:r>
            <a:r>
              <a:rPr lang="sk-SK" dirty="0"/>
              <a:t>, </a:t>
            </a:r>
            <a:r>
              <a:rPr lang="sk-SK" dirty="0" err="1"/>
              <a:t>sunt</a:t>
            </a:r>
            <a:r>
              <a:rPr lang="sk-SK" dirty="0"/>
              <a:t> X3R in </a:t>
            </a:r>
            <a:r>
              <a:rPr lang="sk-SK" dirty="0" err="1"/>
              <a:t>culpa</a:t>
            </a:r>
            <a:r>
              <a:rPr lang="sk-SK" dirty="0"/>
              <a:t> </a:t>
            </a:r>
            <a:r>
              <a:rPr lang="sk-SK" dirty="0" err="1"/>
              <a:t>qui</a:t>
            </a:r>
            <a:r>
              <a:rPr lang="sk-SK" dirty="0"/>
              <a:t> </a:t>
            </a:r>
            <a:r>
              <a:rPr lang="sk-SK" dirty="0" err="1"/>
              <a:t>officia</a:t>
            </a:r>
            <a:r>
              <a:rPr lang="sk-SK" dirty="0"/>
              <a:t> </a:t>
            </a:r>
            <a:r>
              <a:rPr lang="sk-SK" dirty="0" err="1"/>
              <a:t>deserunt</a:t>
            </a:r>
            <a:r>
              <a:rPr lang="sk-SK" dirty="0"/>
              <a:t> </a:t>
            </a:r>
            <a:r>
              <a:rPr lang="sk-SK" dirty="0" err="1"/>
              <a:t>mollit</a:t>
            </a:r>
            <a:r>
              <a:rPr lang="sk-SK" dirty="0"/>
              <a:t> </a:t>
            </a:r>
            <a:r>
              <a:rPr lang="sk-SK" dirty="0" err="1"/>
              <a:t>anim</a:t>
            </a:r>
            <a:r>
              <a:rPr lang="sk-SK" dirty="0"/>
              <a:t> id </a:t>
            </a:r>
            <a:r>
              <a:rPr lang="sk-SK" dirty="0" err="1"/>
              <a:t>est</a:t>
            </a:r>
            <a:r>
              <a:rPr lang="sk-SK" dirty="0"/>
              <a:t> </a:t>
            </a:r>
            <a:r>
              <a:rPr lang="sk-SK" dirty="0" err="1"/>
              <a:t>laborum</a:t>
            </a:r>
            <a:r>
              <a:rPr lang="sk-SK" dirty="0"/>
              <a:t>.</a:t>
            </a:r>
          </a:p>
        </p:txBody>
      </p:sp>
    </p:spTree>
    <p:extLst>
      <p:ext uri="{BB962C8B-B14F-4D97-AF65-F5344CB8AC3E}">
        <p14:creationId xmlns:p14="http://schemas.microsoft.com/office/powerpoint/2010/main" val="6598093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Key Priority">
    <p:bg>
      <p:bgPr>
        <a:solidFill>
          <a:srgbClr val="CCEEED"/>
        </a:solidFill>
        <a:effectLst/>
      </p:bgPr>
    </p:bg>
    <p:spTree>
      <p:nvGrpSpPr>
        <p:cNvPr id="1" name=""/>
        <p:cNvGrpSpPr/>
        <p:nvPr/>
      </p:nvGrpSpPr>
      <p:grpSpPr>
        <a:xfrm>
          <a:off x="0" y="0"/>
          <a:ext cx="0" cy="0"/>
          <a:chOff x="0" y="0"/>
          <a:chExt cx="0" cy="0"/>
        </a:xfrm>
      </p:grpSpPr>
      <p:sp>
        <p:nvSpPr>
          <p:cNvPr id="11" name="Zástupný objekt pre text 13">
            <a:extLst>
              <a:ext uri="{FF2B5EF4-FFF2-40B4-BE49-F238E27FC236}">
                <a16:creationId xmlns:a16="http://schemas.microsoft.com/office/drawing/2014/main" id="{5A6B9A21-4072-4B5E-82A4-A84DA82F4CAA}"/>
              </a:ext>
            </a:extLst>
          </p:cNvPr>
          <p:cNvSpPr>
            <a:spLocks noGrp="1"/>
          </p:cNvSpPr>
          <p:nvPr>
            <p:ph type="body" sz="quarter" idx="19" hasCustomPrompt="1"/>
          </p:nvPr>
        </p:nvSpPr>
        <p:spPr>
          <a:xfrm>
            <a:off x="893619" y="862444"/>
            <a:ext cx="7512626" cy="488373"/>
          </a:xfrm>
          <a:prstGeom prst="rect">
            <a:avLst/>
          </a:prstGeom>
        </p:spPr>
        <p:txBody>
          <a:bodyPr/>
          <a:lstStyle>
            <a:lvl1pPr marL="0" indent="0" algn="l">
              <a:buFont typeface="Arial" panose="020B0604020202020204" pitchFamily="34" charset="0"/>
              <a:buNone/>
              <a:defRPr lang="sk-SK" sz="3000" dirty="0">
                <a:solidFill>
                  <a:schemeClr val="tx1"/>
                </a:solidFill>
              </a:defRPr>
            </a:lvl1pPr>
            <a:lvl2pPr marL="457200" indent="0" algn="l">
              <a:buFont typeface="Arial" panose="020B0604020202020204" pitchFamily="34" charset="0"/>
              <a:buNone/>
              <a:defRPr sz="2400">
                <a:solidFill>
                  <a:schemeClr val="tx1"/>
                </a:solidFill>
              </a:defRPr>
            </a:lvl2pPr>
            <a:lvl3pPr marL="914400" indent="0" algn="l">
              <a:buFont typeface="Arial" panose="020B0604020202020204" pitchFamily="34" charset="0"/>
              <a:buNone/>
              <a:defRPr sz="2400">
                <a:solidFill>
                  <a:schemeClr val="tx1"/>
                </a:solidFill>
              </a:defRPr>
            </a:lvl3pPr>
            <a:lvl4pPr marL="1371600" indent="0" algn="l">
              <a:buFont typeface="Arial" panose="020B0604020202020204" pitchFamily="34" charset="0"/>
              <a:buNone/>
              <a:defRPr sz="2400">
                <a:solidFill>
                  <a:schemeClr val="tx1"/>
                </a:solidFill>
              </a:defRPr>
            </a:lvl4pPr>
            <a:lvl5pPr marL="1828800" indent="0" algn="l">
              <a:buFont typeface="Arial" panose="020B0604020202020204" pitchFamily="34" charset="0"/>
              <a:buNone/>
              <a:defRPr sz="2400">
                <a:solidFill>
                  <a:schemeClr val="tx1"/>
                </a:solidFill>
              </a:defRPr>
            </a:lvl5pPr>
          </a:lstStyle>
          <a:p>
            <a:pPr lvl="0"/>
            <a:r>
              <a:rPr lang="en-US" noProof="0"/>
              <a:t>Lorem ipsum</a:t>
            </a:r>
          </a:p>
        </p:txBody>
      </p:sp>
      <p:cxnSp>
        <p:nvCxnSpPr>
          <p:cNvPr id="16" name="Rovná spojnica 15">
            <a:extLst>
              <a:ext uri="{FF2B5EF4-FFF2-40B4-BE49-F238E27FC236}">
                <a16:creationId xmlns:a16="http://schemas.microsoft.com/office/drawing/2014/main" id="{8E327D95-9170-48DE-9333-2EFD7E8DE138}"/>
              </a:ext>
            </a:extLst>
          </p:cNvPr>
          <p:cNvCxnSpPr/>
          <p:nvPr/>
        </p:nvCxnSpPr>
        <p:spPr>
          <a:xfrm>
            <a:off x="11762511" y="6483928"/>
            <a:ext cx="0" cy="155863"/>
          </a:xfrm>
          <a:prstGeom prst="line">
            <a:avLst/>
          </a:prstGeom>
          <a:ln>
            <a:solidFill>
              <a:schemeClr val="bg2">
                <a:lumMod val="75000"/>
              </a:schemeClr>
            </a:solidFill>
          </a:ln>
        </p:spPr>
        <p:style>
          <a:lnRef idx="1">
            <a:schemeClr val="dk1"/>
          </a:lnRef>
          <a:fillRef idx="0">
            <a:schemeClr val="dk1"/>
          </a:fillRef>
          <a:effectRef idx="0">
            <a:schemeClr val="dk1"/>
          </a:effectRef>
          <a:fontRef idx="minor">
            <a:schemeClr val="tx1"/>
          </a:fontRef>
        </p:style>
      </p:cxnSp>
      <p:sp>
        <p:nvSpPr>
          <p:cNvPr id="8" name="Zástupný objekt pre text 14">
            <a:extLst>
              <a:ext uri="{FF2B5EF4-FFF2-40B4-BE49-F238E27FC236}">
                <a16:creationId xmlns:a16="http://schemas.microsoft.com/office/drawing/2014/main" id="{4E699341-96CB-4661-A19E-A26B1F436371}"/>
              </a:ext>
            </a:extLst>
          </p:cNvPr>
          <p:cNvSpPr>
            <a:spLocks noGrp="1"/>
          </p:cNvSpPr>
          <p:nvPr>
            <p:ph type="body" sz="quarter" idx="15" hasCustomPrompt="1"/>
          </p:nvPr>
        </p:nvSpPr>
        <p:spPr>
          <a:xfrm>
            <a:off x="8672947" y="6431973"/>
            <a:ext cx="3089564" cy="207818"/>
          </a:xfrm>
          <a:prstGeom prst="rect">
            <a:avLst/>
          </a:prstGeom>
        </p:spPr>
        <p:txBody>
          <a:bodyPr/>
          <a:lstStyle>
            <a:lvl1pPr algn="r">
              <a:defRPr sz="950" b="0">
                <a:solidFill>
                  <a:schemeClr val="bg1">
                    <a:lumMod val="50000"/>
                  </a:schemeClr>
                </a:solidFill>
              </a:defRPr>
            </a:lvl1pPr>
            <a:lvl2pPr>
              <a:defRPr sz="950" b="0">
                <a:solidFill>
                  <a:schemeClr val="bg1">
                    <a:lumMod val="50000"/>
                  </a:schemeClr>
                </a:solidFill>
              </a:defRPr>
            </a:lvl2pPr>
            <a:lvl3pPr>
              <a:defRPr sz="950" b="0">
                <a:solidFill>
                  <a:schemeClr val="bg1">
                    <a:lumMod val="50000"/>
                  </a:schemeClr>
                </a:solidFill>
              </a:defRPr>
            </a:lvl3pPr>
            <a:lvl4pPr>
              <a:defRPr sz="950" b="0">
                <a:solidFill>
                  <a:schemeClr val="bg1">
                    <a:lumMod val="50000"/>
                  </a:schemeClr>
                </a:solidFill>
              </a:defRPr>
            </a:lvl4pPr>
            <a:lvl5pPr>
              <a:defRPr sz="950" b="0">
                <a:solidFill>
                  <a:schemeClr val="bg1">
                    <a:lumMod val="50000"/>
                  </a:schemeClr>
                </a:solidFill>
              </a:defRPr>
            </a:lvl5pPr>
          </a:lstStyle>
          <a:p>
            <a:pPr lvl="0"/>
            <a:r>
              <a:rPr lang="en-US" noProof="0" dirty="0" err="1"/>
              <a:t>Název</a:t>
            </a:r>
            <a:r>
              <a:rPr lang="en-US" noProof="0" dirty="0"/>
              <a:t> </a:t>
            </a:r>
            <a:r>
              <a:rPr lang="en-US" noProof="0" dirty="0" err="1"/>
              <a:t>prezentace</a:t>
            </a:r>
            <a:r>
              <a:rPr lang="en-US" noProof="0" dirty="0"/>
              <a:t> (</a:t>
            </a:r>
            <a:r>
              <a:rPr lang="en-US" noProof="0" dirty="0" err="1"/>
              <a:t>volitelně</a:t>
            </a:r>
            <a:r>
              <a:rPr lang="en-US" noProof="0" dirty="0"/>
              <a:t>)</a:t>
            </a:r>
          </a:p>
        </p:txBody>
      </p:sp>
      <p:sp>
        <p:nvSpPr>
          <p:cNvPr id="9" name="BlokTextu 8">
            <a:extLst>
              <a:ext uri="{FF2B5EF4-FFF2-40B4-BE49-F238E27FC236}">
                <a16:creationId xmlns:a16="http://schemas.microsoft.com/office/drawing/2014/main" id="{1ED874E3-11D5-4770-B6B4-E06C7C57865F}"/>
              </a:ext>
            </a:extLst>
          </p:cNvPr>
          <p:cNvSpPr txBox="1"/>
          <p:nvPr/>
        </p:nvSpPr>
        <p:spPr>
          <a:xfrm>
            <a:off x="11853949" y="6431973"/>
            <a:ext cx="338051" cy="207818"/>
          </a:xfrm>
          <a:prstGeom prst="rect">
            <a:avLst/>
          </a:prstGeom>
        </p:spPr>
        <p:txBody>
          <a:bodyPr vert="horz" wrap="square" lIns="0" tIns="45720" rIns="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fld id="{B0E1C688-2A94-4C23-89D7-1BDBDDABE19E}" type="slidenum">
              <a:rPr lang="en-US" sz="950" b="0" kern="1200" noProof="0" smtClean="0">
                <a:solidFill>
                  <a:schemeClr val="bg1">
                    <a:lumMod val="50000"/>
                  </a:schemeClr>
                </a:solidFill>
                <a:latin typeface="+mn-lt"/>
                <a:ea typeface="+mn-ea"/>
                <a:cs typeface="+mn-cs"/>
              </a:rPr>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t>‹#›</a:t>
            </a:fld>
            <a:endParaRPr lang="en-US" sz="950" b="0" kern="1200" noProof="0">
              <a:solidFill>
                <a:schemeClr val="bg1">
                  <a:lumMod val="50000"/>
                </a:schemeClr>
              </a:solidFill>
              <a:latin typeface="+mn-lt"/>
              <a:ea typeface="+mn-ea"/>
              <a:cs typeface="+mn-cs"/>
            </a:endParaRPr>
          </a:p>
        </p:txBody>
      </p:sp>
      <p:sp>
        <p:nvSpPr>
          <p:cNvPr id="10" name="Zástupný objekt pre text 2">
            <a:extLst>
              <a:ext uri="{FF2B5EF4-FFF2-40B4-BE49-F238E27FC236}">
                <a16:creationId xmlns:a16="http://schemas.microsoft.com/office/drawing/2014/main" id="{9213612D-32A9-46F6-B864-C262ADD26F02}"/>
              </a:ext>
            </a:extLst>
          </p:cNvPr>
          <p:cNvSpPr>
            <a:spLocks noGrp="1"/>
          </p:cNvSpPr>
          <p:nvPr>
            <p:ph type="body" sz="quarter" idx="21" hasCustomPrompt="1"/>
          </p:nvPr>
        </p:nvSpPr>
        <p:spPr>
          <a:xfrm>
            <a:off x="893619" y="1693717"/>
            <a:ext cx="10235045" cy="4080918"/>
          </a:xfrm>
          <a:prstGeom prst="rect">
            <a:avLst/>
          </a:prstGeom>
        </p:spPr>
        <p:txBody>
          <a:bodyPr lIns="90000" tIns="46800" rIns="90000" bIns="46800"/>
          <a:lstStyle>
            <a:lvl1pPr marL="0" indent="0" algn="l">
              <a:lnSpc>
                <a:spcPct val="120000"/>
              </a:lnSpc>
              <a:spcBef>
                <a:spcPts val="0"/>
              </a:spcBef>
              <a:buFont typeface="Arial" panose="020B0604020202020204" pitchFamily="34" charset="0"/>
              <a:buNone/>
              <a:defRPr sz="2400" b="0">
                <a:solidFill>
                  <a:schemeClr val="tx1"/>
                </a:solidFill>
              </a:defRPr>
            </a:lvl1pPr>
            <a:lvl2pPr marL="457200" indent="0" algn="l">
              <a:lnSpc>
                <a:spcPct val="120000"/>
              </a:lnSpc>
              <a:spcBef>
                <a:spcPts val="0"/>
              </a:spcBef>
              <a:buFont typeface="Arial" panose="020B0604020202020204" pitchFamily="34" charset="0"/>
              <a:buNone/>
              <a:defRPr sz="2400" b="0">
                <a:solidFill>
                  <a:schemeClr val="tx1"/>
                </a:solidFill>
              </a:defRPr>
            </a:lvl2pPr>
            <a:lvl3pPr marL="914400" indent="0" algn="l">
              <a:lnSpc>
                <a:spcPct val="120000"/>
              </a:lnSpc>
              <a:spcBef>
                <a:spcPts val="0"/>
              </a:spcBef>
              <a:buFont typeface="Arial" panose="020B0604020202020204" pitchFamily="34" charset="0"/>
              <a:buNone/>
              <a:defRPr sz="2400" b="0">
                <a:solidFill>
                  <a:schemeClr val="tx1"/>
                </a:solidFill>
              </a:defRPr>
            </a:lvl3pPr>
            <a:lvl4pPr marL="1371600" indent="0" algn="l">
              <a:buFont typeface="Arial" panose="020B0604020202020204" pitchFamily="34" charset="0"/>
              <a:buNone/>
              <a:defRPr sz="2400" b="0">
                <a:solidFill>
                  <a:schemeClr val="tx1"/>
                </a:solidFill>
              </a:defRPr>
            </a:lvl4pPr>
            <a:lvl5pPr marL="1828800" indent="0" algn="l">
              <a:buFont typeface="Arial" panose="020B0604020202020204" pitchFamily="34" charset="0"/>
              <a:buNone/>
              <a:defRPr sz="2400" b="0">
                <a:solidFill>
                  <a:schemeClr val="tx1"/>
                </a:solidFill>
              </a:defRPr>
            </a:lvl5pPr>
          </a:lstStyle>
          <a:p>
            <a:pPr lvl="0"/>
            <a:r>
              <a:rPr lang="sk-SK" dirty="0" err="1"/>
              <a:t>Sample</a:t>
            </a:r>
            <a:r>
              <a:rPr lang="sk-SK" dirty="0"/>
              <a:t> text bla-</a:t>
            </a:r>
            <a:r>
              <a:rPr lang="sk-SK" dirty="0" err="1"/>
              <a:t>blah</a:t>
            </a:r>
            <a:r>
              <a:rPr lang="sk-SK" dirty="0"/>
              <a:t>, a formula </a:t>
            </a:r>
            <a:r>
              <a:rPr lang="sk-SK" dirty="0" err="1"/>
              <a:t>used</a:t>
            </a:r>
            <a:r>
              <a:rPr lang="sk-SK" dirty="0"/>
              <a:t> in </a:t>
            </a:r>
            <a:r>
              <a:rPr lang="sk-SK" dirty="0" err="1"/>
              <a:t>dictation</a:t>
            </a:r>
            <a:r>
              <a:rPr lang="sk-SK" dirty="0"/>
              <a:t> to </a:t>
            </a:r>
            <a:r>
              <a:rPr lang="sk-SK" dirty="0" err="1"/>
              <a:t>introduce</a:t>
            </a:r>
            <a:r>
              <a:rPr lang="sk-SK" dirty="0"/>
              <a:t> and </a:t>
            </a:r>
            <a:r>
              <a:rPr lang="sk-SK" dirty="0" err="1"/>
              <a:t>terminate</a:t>
            </a:r>
            <a:r>
              <a:rPr lang="sk-SK" dirty="0"/>
              <a:t> a </a:t>
            </a:r>
            <a:r>
              <a:rPr lang="sk-SK" dirty="0" err="1"/>
              <a:t>quotation</a:t>
            </a:r>
            <a:r>
              <a:rPr lang="sk-SK" dirty="0"/>
              <a:t> BCMA. </a:t>
            </a:r>
            <a:r>
              <a:rPr lang="sk-SK" dirty="0" err="1"/>
              <a:t>Introducing</a:t>
            </a:r>
            <a:r>
              <a:rPr lang="sk-SK" dirty="0"/>
              <a:t> and </a:t>
            </a:r>
            <a:r>
              <a:rPr lang="sk-SK" dirty="0" err="1"/>
              <a:t>terminating</a:t>
            </a:r>
            <a:r>
              <a:rPr lang="sk-SK" dirty="0"/>
              <a:t> </a:t>
            </a:r>
            <a:r>
              <a:rPr lang="sk-SK" dirty="0" err="1"/>
              <a:t>words</a:t>
            </a:r>
            <a:r>
              <a:rPr lang="sk-SK" dirty="0"/>
              <a:t> </a:t>
            </a:r>
            <a:r>
              <a:rPr lang="sk-SK" dirty="0" err="1"/>
              <a:t>quoted</a:t>
            </a:r>
            <a:r>
              <a:rPr lang="sk-SK" dirty="0"/>
              <a:t>. 2015 </a:t>
            </a:r>
            <a:r>
              <a:rPr lang="sk-SK" dirty="0" err="1"/>
              <a:t>Excepteur</a:t>
            </a:r>
            <a:r>
              <a:rPr lang="sk-SK" dirty="0"/>
              <a:t> </a:t>
            </a:r>
            <a:r>
              <a:rPr lang="sk-SK" dirty="0" err="1"/>
              <a:t>sint</a:t>
            </a:r>
            <a:r>
              <a:rPr lang="sk-SK" dirty="0"/>
              <a:t> </a:t>
            </a:r>
            <a:r>
              <a:rPr lang="sk-SK" dirty="0" err="1"/>
              <a:t>occaecat</a:t>
            </a:r>
            <a:r>
              <a:rPr lang="sk-SK" dirty="0"/>
              <a:t> </a:t>
            </a:r>
            <a:r>
              <a:rPr lang="sk-SK" dirty="0" err="1"/>
              <a:t>cupidatat</a:t>
            </a:r>
            <a:r>
              <a:rPr lang="sk-SK" dirty="0"/>
              <a:t> </a:t>
            </a:r>
            <a:r>
              <a:rPr lang="sk-SK" dirty="0" err="1"/>
              <a:t>non</a:t>
            </a:r>
            <a:r>
              <a:rPr lang="sk-SK" dirty="0"/>
              <a:t> </a:t>
            </a:r>
            <a:r>
              <a:rPr lang="sk-SK" dirty="0" err="1"/>
              <a:t>proident</a:t>
            </a:r>
            <a:r>
              <a:rPr lang="sk-SK" dirty="0"/>
              <a:t>, </a:t>
            </a:r>
            <a:r>
              <a:rPr lang="sk-SK" dirty="0" err="1"/>
              <a:t>sunt</a:t>
            </a:r>
            <a:r>
              <a:rPr lang="sk-SK" dirty="0"/>
              <a:t> X3R in </a:t>
            </a:r>
            <a:r>
              <a:rPr lang="sk-SK" dirty="0" err="1"/>
              <a:t>culpa</a:t>
            </a:r>
            <a:r>
              <a:rPr lang="sk-SK" dirty="0"/>
              <a:t> </a:t>
            </a:r>
            <a:r>
              <a:rPr lang="sk-SK" dirty="0" err="1"/>
              <a:t>qui</a:t>
            </a:r>
            <a:r>
              <a:rPr lang="sk-SK" dirty="0"/>
              <a:t> </a:t>
            </a:r>
            <a:r>
              <a:rPr lang="sk-SK" dirty="0" err="1"/>
              <a:t>officia</a:t>
            </a:r>
            <a:r>
              <a:rPr lang="sk-SK" dirty="0"/>
              <a:t> </a:t>
            </a:r>
            <a:r>
              <a:rPr lang="sk-SK" dirty="0" err="1"/>
              <a:t>deserunt</a:t>
            </a:r>
            <a:r>
              <a:rPr lang="sk-SK" dirty="0"/>
              <a:t> </a:t>
            </a:r>
            <a:r>
              <a:rPr lang="sk-SK" dirty="0" err="1"/>
              <a:t>mollit</a:t>
            </a:r>
            <a:r>
              <a:rPr lang="sk-SK" dirty="0"/>
              <a:t> </a:t>
            </a:r>
            <a:r>
              <a:rPr lang="sk-SK" dirty="0" err="1"/>
              <a:t>anim</a:t>
            </a:r>
            <a:r>
              <a:rPr lang="sk-SK" dirty="0"/>
              <a:t> id </a:t>
            </a:r>
            <a:r>
              <a:rPr lang="sk-SK" dirty="0" err="1"/>
              <a:t>est</a:t>
            </a:r>
            <a:r>
              <a:rPr lang="sk-SK" dirty="0"/>
              <a:t> laborum.2017 </a:t>
            </a:r>
            <a:r>
              <a:rPr lang="sk-SK" dirty="0" err="1"/>
              <a:t>Duis</a:t>
            </a:r>
            <a:r>
              <a:rPr lang="sk-SK" dirty="0"/>
              <a:t> aute </a:t>
            </a:r>
            <a:r>
              <a:rPr lang="sk-SK" dirty="0" err="1"/>
              <a:t>irure</a:t>
            </a:r>
            <a:r>
              <a:rPr lang="sk-SK" dirty="0"/>
              <a:t> </a:t>
            </a:r>
            <a:r>
              <a:rPr lang="sk-SK" dirty="0" err="1"/>
              <a:t>dolor</a:t>
            </a:r>
            <a:r>
              <a:rPr lang="sk-SK" dirty="0"/>
              <a:t> in </a:t>
            </a:r>
            <a:r>
              <a:rPr lang="sk-SK" dirty="0" err="1"/>
              <a:t>reprehenderit</a:t>
            </a:r>
            <a:r>
              <a:rPr lang="sk-SK" dirty="0"/>
              <a:t> in </a:t>
            </a:r>
            <a:r>
              <a:rPr lang="sk-SK" dirty="0" err="1"/>
              <a:t>voluptate</a:t>
            </a:r>
            <a:r>
              <a:rPr lang="sk-SK" dirty="0"/>
              <a:t> </a:t>
            </a:r>
            <a:r>
              <a:rPr lang="sk-SK" dirty="0" err="1"/>
              <a:t>velit</a:t>
            </a:r>
            <a:r>
              <a:rPr lang="sk-SK" dirty="0"/>
              <a:t> </a:t>
            </a:r>
            <a:r>
              <a:rPr lang="sk-SK" dirty="0" err="1"/>
              <a:t>esse</a:t>
            </a:r>
            <a:r>
              <a:rPr lang="sk-SK" dirty="0"/>
              <a:t> </a:t>
            </a:r>
            <a:r>
              <a:rPr lang="sk-SK" dirty="0" err="1"/>
              <a:t>cillum</a:t>
            </a:r>
            <a:r>
              <a:rPr lang="sk-SK" dirty="0"/>
              <a:t> </a:t>
            </a:r>
            <a:r>
              <a:rPr lang="sk-SK" dirty="0" err="1"/>
              <a:t>dolore</a:t>
            </a:r>
            <a:r>
              <a:rPr lang="sk-SK" dirty="0"/>
              <a:t> </a:t>
            </a:r>
            <a:r>
              <a:rPr lang="sk-SK" dirty="0" err="1"/>
              <a:t>eu</a:t>
            </a:r>
            <a:r>
              <a:rPr lang="sk-SK" dirty="0"/>
              <a:t> </a:t>
            </a:r>
            <a:r>
              <a:rPr lang="sk-SK" dirty="0" err="1"/>
              <a:t>fugiat</a:t>
            </a:r>
            <a:r>
              <a:rPr lang="sk-SK" dirty="0"/>
              <a:t> </a:t>
            </a:r>
            <a:r>
              <a:rPr lang="sk-SK" dirty="0" err="1"/>
              <a:t>nulla</a:t>
            </a:r>
            <a:r>
              <a:rPr lang="sk-SK" dirty="0"/>
              <a:t> </a:t>
            </a:r>
            <a:r>
              <a:rPr lang="sk-SK" dirty="0" err="1"/>
              <a:t>pariatur</a:t>
            </a:r>
            <a:r>
              <a:rPr lang="sk-SK" dirty="0"/>
              <a:t>.</a:t>
            </a:r>
          </a:p>
        </p:txBody>
      </p:sp>
    </p:spTree>
    <p:extLst>
      <p:ext uri="{BB962C8B-B14F-4D97-AF65-F5344CB8AC3E}">
        <p14:creationId xmlns:p14="http://schemas.microsoft.com/office/powerpoint/2010/main" val="40253542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_Key Priority">
    <p:bg>
      <p:bgPr>
        <a:solidFill>
          <a:schemeClr val="bg1"/>
        </a:solidFill>
        <a:effectLst/>
      </p:bgPr>
    </p:bg>
    <p:spTree>
      <p:nvGrpSpPr>
        <p:cNvPr id="1" name=""/>
        <p:cNvGrpSpPr/>
        <p:nvPr/>
      </p:nvGrpSpPr>
      <p:grpSpPr>
        <a:xfrm>
          <a:off x="0" y="0"/>
          <a:ext cx="0" cy="0"/>
          <a:chOff x="0" y="0"/>
          <a:chExt cx="0" cy="0"/>
        </a:xfrm>
      </p:grpSpPr>
      <p:sp>
        <p:nvSpPr>
          <p:cNvPr id="11" name="Zástupný objekt pre text 13">
            <a:extLst>
              <a:ext uri="{FF2B5EF4-FFF2-40B4-BE49-F238E27FC236}">
                <a16:creationId xmlns:a16="http://schemas.microsoft.com/office/drawing/2014/main" id="{5A6B9A21-4072-4B5E-82A4-A84DA82F4CAA}"/>
              </a:ext>
            </a:extLst>
          </p:cNvPr>
          <p:cNvSpPr>
            <a:spLocks noGrp="1"/>
          </p:cNvSpPr>
          <p:nvPr>
            <p:ph type="body" sz="quarter" idx="19" hasCustomPrompt="1"/>
          </p:nvPr>
        </p:nvSpPr>
        <p:spPr>
          <a:xfrm>
            <a:off x="893619" y="862444"/>
            <a:ext cx="7512626" cy="488373"/>
          </a:xfrm>
          <a:prstGeom prst="rect">
            <a:avLst/>
          </a:prstGeom>
        </p:spPr>
        <p:txBody>
          <a:bodyPr/>
          <a:lstStyle>
            <a:lvl1pPr marL="0" indent="0" algn="l">
              <a:buFont typeface="Arial" panose="020B0604020202020204" pitchFamily="34" charset="0"/>
              <a:buNone/>
              <a:defRPr lang="sk-SK" sz="3000" dirty="0">
                <a:solidFill>
                  <a:schemeClr val="tx1"/>
                </a:solidFill>
              </a:defRPr>
            </a:lvl1pPr>
            <a:lvl2pPr marL="457200" indent="0" algn="l">
              <a:buFont typeface="Arial" panose="020B0604020202020204" pitchFamily="34" charset="0"/>
              <a:buNone/>
              <a:defRPr sz="2400">
                <a:solidFill>
                  <a:schemeClr val="tx1"/>
                </a:solidFill>
              </a:defRPr>
            </a:lvl2pPr>
            <a:lvl3pPr marL="914400" indent="0" algn="l">
              <a:buFont typeface="Arial" panose="020B0604020202020204" pitchFamily="34" charset="0"/>
              <a:buNone/>
              <a:defRPr sz="2400">
                <a:solidFill>
                  <a:schemeClr val="tx1"/>
                </a:solidFill>
              </a:defRPr>
            </a:lvl3pPr>
            <a:lvl4pPr marL="1371600" indent="0" algn="l">
              <a:buFont typeface="Arial" panose="020B0604020202020204" pitchFamily="34" charset="0"/>
              <a:buNone/>
              <a:defRPr sz="2400">
                <a:solidFill>
                  <a:schemeClr val="tx1"/>
                </a:solidFill>
              </a:defRPr>
            </a:lvl4pPr>
            <a:lvl5pPr marL="1828800" indent="0" algn="l">
              <a:buFont typeface="Arial" panose="020B0604020202020204" pitchFamily="34" charset="0"/>
              <a:buNone/>
              <a:defRPr sz="2400">
                <a:solidFill>
                  <a:schemeClr val="tx1"/>
                </a:solidFill>
              </a:defRPr>
            </a:lvl5pPr>
          </a:lstStyle>
          <a:p>
            <a:pPr lvl="0"/>
            <a:r>
              <a:rPr lang="en-US" noProof="0"/>
              <a:t>Process showcase</a:t>
            </a:r>
          </a:p>
        </p:txBody>
      </p:sp>
      <p:cxnSp>
        <p:nvCxnSpPr>
          <p:cNvPr id="16" name="Rovná spojnica 15">
            <a:extLst>
              <a:ext uri="{FF2B5EF4-FFF2-40B4-BE49-F238E27FC236}">
                <a16:creationId xmlns:a16="http://schemas.microsoft.com/office/drawing/2014/main" id="{8E327D95-9170-48DE-9333-2EFD7E8DE138}"/>
              </a:ext>
            </a:extLst>
          </p:cNvPr>
          <p:cNvCxnSpPr/>
          <p:nvPr/>
        </p:nvCxnSpPr>
        <p:spPr>
          <a:xfrm>
            <a:off x="11762511" y="6483928"/>
            <a:ext cx="0" cy="155863"/>
          </a:xfrm>
          <a:prstGeom prst="line">
            <a:avLst/>
          </a:prstGeom>
          <a:ln>
            <a:solidFill>
              <a:schemeClr val="bg2">
                <a:lumMod val="75000"/>
              </a:schemeClr>
            </a:solidFill>
          </a:ln>
        </p:spPr>
        <p:style>
          <a:lnRef idx="1">
            <a:schemeClr val="dk1"/>
          </a:lnRef>
          <a:fillRef idx="0">
            <a:schemeClr val="dk1"/>
          </a:fillRef>
          <a:effectRef idx="0">
            <a:schemeClr val="dk1"/>
          </a:effectRef>
          <a:fontRef idx="minor">
            <a:schemeClr val="tx1"/>
          </a:fontRef>
        </p:style>
      </p:cxnSp>
      <p:sp>
        <p:nvSpPr>
          <p:cNvPr id="9" name="Zástupný objekt pre graf 2">
            <a:extLst>
              <a:ext uri="{FF2B5EF4-FFF2-40B4-BE49-F238E27FC236}">
                <a16:creationId xmlns:a16="http://schemas.microsoft.com/office/drawing/2014/main" id="{A0FC3C09-0372-4AEB-8E17-E605C066E713}"/>
              </a:ext>
            </a:extLst>
          </p:cNvPr>
          <p:cNvSpPr>
            <a:spLocks noGrp="1"/>
          </p:cNvSpPr>
          <p:nvPr>
            <p:ph type="chart" sz="quarter" idx="20"/>
          </p:nvPr>
        </p:nvSpPr>
        <p:spPr>
          <a:xfrm>
            <a:off x="893619" y="2317174"/>
            <a:ext cx="10235045" cy="3460172"/>
          </a:xfrm>
          <a:prstGeom prst="rect">
            <a:avLst/>
          </a:prstGeom>
        </p:spPr>
        <p:txBody>
          <a:bodyPr/>
          <a:lstStyle>
            <a:lvl1pPr>
              <a:defRPr sz="1200"/>
            </a:lvl1pPr>
          </a:lstStyle>
          <a:p>
            <a:r>
              <a:rPr lang="cs-CZ" noProof="0"/>
              <a:t>Kliknutím na ikonu přidáte graf.</a:t>
            </a:r>
            <a:endParaRPr lang="en-US" noProof="0"/>
          </a:p>
        </p:txBody>
      </p:sp>
      <p:sp>
        <p:nvSpPr>
          <p:cNvPr id="8" name="Zástupný objekt pre text 14">
            <a:extLst>
              <a:ext uri="{FF2B5EF4-FFF2-40B4-BE49-F238E27FC236}">
                <a16:creationId xmlns:a16="http://schemas.microsoft.com/office/drawing/2014/main" id="{04EB60E2-9E6D-460A-A696-394EAB641A8F}"/>
              </a:ext>
            </a:extLst>
          </p:cNvPr>
          <p:cNvSpPr>
            <a:spLocks noGrp="1"/>
          </p:cNvSpPr>
          <p:nvPr>
            <p:ph type="body" sz="quarter" idx="15" hasCustomPrompt="1"/>
          </p:nvPr>
        </p:nvSpPr>
        <p:spPr>
          <a:xfrm>
            <a:off x="8672947" y="6431973"/>
            <a:ext cx="3089564" cy="207818"/>
          </a:xfrm>
          <a:prstGeom prst="rect">
            <a:avLst/>
          </a:prstGeom>
        </p:spPr>
        <p:txBody>
          <a:bodyPr/>
          <a:lstStyle>
            <a:lvl1pPr algn="r">
              <a:defRPr sz="950" b="0">
                <a:solidFill>
                  <a:schemeClr val="bg1">
                    <a:lumMod val="50000"/>
                  </a:schemeClr>
                </a:solidFill>
              </a:defRPr>
            </a:lvl1pPr>
            <a:lvl2pPr>
              <a:defRPr sz="950" b="0">
                <a:solidFill>
                  <a:schemeClr val="bg1">
                    <a:lumMod val="50000"/>
                  </a:schemeClr>
                </a:solidFill>
              </a:defRPr>
            </a:lvl2pPr>
            <a:lvl3pPr>
              <a:defRPr sz="950" b="0">
                <a:solidFill>
                  <a:schemeClr val="bg1">
                    <a:lumMod val="50000"/>
                  </a:schemeClr>
                </a:solidFill>
              </a:defRPr>
            </a:lvl3pPr>
            <a:lvl4pPr>
              <a:defRPr sz="950" b="0">
                <a:solidFill>
                  <a:schemeClr val="bg1">
                    <a:lumMod val="50000"/>
                  </a:schemeClr>
                </a:solidFill>
              </a:defRPr>
            </a:lvl4pPr>
            <a:lvl5pPr>
              <a:defRPr sz="950" b="0">
                <a:solidFill>
                  <a:schemeClr val="bg1">
                    <a:lumMod val="50000"/>
                  </a:schemeClr>
                </a:solidFill>
              </a:defRPr>
            </a:lvl5pPr>
          </a:lstStyle>
          <a:p>
            <a:pPr lvl="0"/>
            <a:r>
              <a:rPr lang="en-US" noProof="0"/>
              <a:t>Název prezentace (volitelně)</a:t>
            </a:r>
          </a:p>
        </p:txBody>
      </p:sp>
      <p:sp>
        <p:nvSpPr>
          <p:cNvPr id="10" name="BlokTextu 9">
            <a:extLst>
              <a:ext uri="{FF2B5EF4-FFF2-40B4-BE49-F238E27FC236}">
                <a16:creationId xmlns:a16="http://schemas.microsoft.com/office/drawing/2014/main" id="{350283D1-3B32-4691-9BE2-C45D88CB486A}"/>
              </a:ext>
            </a:extLst>
          </p:cNvPr>
          <p:cNvSpPr txBox="1"/>
          <p:nvPr/>
        </p:nvSpPr>
        <p:spPr>
          <a:xfrm>
            <a:off x="11853949" y="6431973"/>
            <a:ext cx="338051" cy="207818"/>
          </a:xfrm>
          <a:prstGeom prst="rect">
            <a:avLst/>
          </a:prstGeom>
        </p:spPr>
        <p:txBody>
          <a:bodyPr vert="horz" wrap="square" lIns="0" tIns="45720" rIns="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fld id="{B0E1C688-2A94-4C23-89D7-1BDBDDABE19E}" type="slidenum">
              <a:rPr lang="en-US" sz="950" b="0" kern="1200" noProof="0" smtClean="0">
                <a:solidFill>
                  <a:schemeClr val="bg1">
                    <a:lumMod val="50000"/>
                  </a:schemeClr>
                </a:solidFill>
                <a:latin typeface="+mn-lt"/>
                <a:ea typeface="+mn-ea"/>
                <a:cs typeface="+mn-cs"/>
              </a:rPr>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t>‹#›</a:t>
            </a:fld>
            <a:endParaRPr lang="en-US" sz="950" b="0" kern="1200" noProof="0">
              <a:solidFill>
                <a:schemeClr val="bg1">
                  <a:lumMod val="50000"/>
                </a:schemeClr>
              </a:solidFill>
              <a:latin typeface="+mn-lt"/>
              <a:ea typeface="+mn-ea"/>
              <a:cs typeface="+mn-cs"/>
            </a:endParaRPr>
          </a:p>
        </p:txBody>
      </p:sp>
      <p:sp>
        <p:nvSpPr>
          <p:cNvPr id="12" name="Zástupný objekt pre text 2">
            <a:extLst>
              <a:ext uri="{FF2B5EF4-FFF2-40B4-BE49-F238E27FC236}">
                <a16:creationId xmlns:a16="http://schemas.microsoft.com/office/drawing/2014/main" id="{BBD14242-7027-4033-B2E0-8F10B50B2FC8}"/>
              </a:ext>
            </a:extLst>
          </p:cNvPr>
          <p:cNvSpPr>
            <a:spLocks noGrp="1"/>
          </p:cNvSpPr>
          <p:nvPr>
            <p:ph type="body" sz="quarter" idx="21" hasCustomPrompt="1"/>
          </p:nvPr>
        </p:nvSpPr>
        <p:spPr>
          <a:xfrm>
            <a:off x="893619" y="1693717"/>
            <a:ext cx="10235045" cy="488373"/>
          </a:xfrm>
          <a:prstGeom prst="rect">
            <a:avLst/>
          </a:prstGeom>
        </p:spPr>
        <p:txBody>
          <a:bodyPr lIns="90000" tIns="46800" rIns="90000" bIns="46800"/>
          <a:lstStyle>
            <a:lvl1pPr marL="0" indent="0" algn="l">
              <a:lnSpc>
                <a:spcPct val="120000"/>
              </a:lnSpc>
              <a:spcBef>
                <a:spcPts val="0"/>
              </a:spcBef>
              <a:buFont typeface="Arial" panose="020B0604020202020204" pitchFamily="34" charset="0"/>
              <a:buNone/>
              <a:defRPr sz="2400" b="0">
                <a:solidFill>
                  <a:schemeClr val="tx1"/>
                </a:solidFill>
              </a:defRPr>
            </a:lvl1pPr>
            <a:lvl2pPr marL="457200" indent="0" algn="l">
              <a:lnSpc>
                <a:spcPct val="120000"/>
              </a:lnSpc>
              <a:spcBef>
                <a:spcPts val="0"/>
              </a:spcBef>
              <a:buFont typeface="Arial" panose="020B0604020202020204" pitchFamily="34" charset="0"/>
              <a:buNone/>
              <a:defRPr sz="2400" b="0">
                <a:solidFill>
                  <a:schemeClr val="tx1"/>
                </a:solidFill>
              </a:defRPr>
            </a:lvl2pPr>
            <a:lvl3pPr marL="914400" indent="0" algn="l">
              <a:lnSpc>
                <a:spcPct val="120000"/>
              </a:lnSpc>
              <a:spcBef>
                <a:spcPts val="0"/>
              </a:spcBef>
              <a:buFont typeface="Arial" panose="020B0604020202020204" pitchFamily="34" charset="0"/>
              <a:buNone/>
              <a:defRPr sz="2400" b="0">
                <a:solidFill>
                  <a:schemeClr val="tx1"/>
                </a:solidFill>
              </a:defRPr>
            </a:lvl3pPr>
            <a:lvl4pPr marL="1371600" indent="0" algn="l">
              <a:buFont typeface="Arial" panose="020B0604020202020204" pitchFamily="34" charset="0"/>
              <a:buNone/>
              <a:defRPr sz="2400" b="0">
                <a:solidFill>
                  <a:schemeClr val="tx1"/>
                </a:solidFill>
              </a:defRPr>
            </a:lvl4pPr>
            <a:lvl5pPr marL="1828800" indent="0" algn="l">
              <a:buFont typeface="Arial" panose="020B0604020202020204" pitchFamily="34" charset="0"/>
              <a:buNone/>
              <a:defRPr sz="2400" b="0">
                <a:solidFill>
                  <a:schemeClr val="tx1"/>
                </a:solidFill>
              </a:defRPr>
            </a:lvl5pPr>
          </a:lstStyle>
          <a:p>
            <a:pPr lvl="0"/>
            <a:r>
              <a:rPr lang="sk-SK" dirty="0" err="1"/>
              <a:t>Sample</a:t>
            </a:r>
            <a:r>
              <a:rPr lang="sk-SK" dirty="0"/>
              <a:t> text bla-</a:t>
            </a:r>
            <a:r>
              <a:rPr lang="sk-SK" dirty="0" err="1"/>
              <a:t>blah</a:t>
            </a:r>
            <a:r>
              <a:rPr lang="sk-SK" dirty="0"/>
              <a:t>, a formula </a:t>
            </a:r>
            <a:r>
              <a:rPr lang="sk-SK" dirty="0" err="1"/>
              <a:t>used</a:t>
            </a:r>
            <a:r>
              <a:rPr lang="sk-SK" dirty="0"/>
              <a:t> in </a:t>
            </a:r>
            <a:r>
              <a:rPr lang="sk-SK" dirty="0" err="1"/>
              <a:t>dictation</a:t>
            </a:r>
            <a:r>
              <a:rPr lang="sk-SK" dirty="0"/>
              <a:t> to </a:t>
            </a:r>
            <a:r>
              <a:rPr lang="sk-SK" dirty="0" err="1"/>
              <a:t>introduce</a:t>
            </a:r>
            <a:endParaRPr lang="sk-SK" dirty="0"/>
          </a:p>
        </p:txBody>
      </p:sp>
    </p:spTree>
    <p:extLst>
      <p:ext uri="{BB962C8B-B14F-4D97-AF65-F5344CB8AC3E}">
        <p14:creationId xmlns:p14="http://schemas.microsoft.com/office/powerpoint/2010/main" val="19094602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_LeftText_2">
    <p:bg>
      <p:bgPr>
        <a:solidFill>
          <a:schemeClr val="bg1"/>
        </a:solidFill>
        <a:effectLst/>
      </p:bgPr>
    </p:bg>
    <p:spTree>
      <p:nvGrpSpPr>
        <p:cNvPr id="1" name=""/>
        <p:cNvGrpSpPr/>
        <p:nvPr/>
      </p:nvGrpSpPr>
      <p:grpSpPr>
        <a:xfrm>
          <a:off x="0" y="0"/>
          <a:ext cx="0" cy="0"/>
          <a:chOff x="0" y="0"/>
          <a:chExt cx="0" cy="0"/>
        </a:xfrm>
      </p:grpSpPr>
      <p:sp>
        <p:nvSpPr>
          <p:cNvPr id="12" name="Obdĺžnik 11">
            <a:extLst>
              <a:ext uri="{FF2B5EF4-FFF2-40B4-BE49-F238E27FC236}">
                <a16:creationId xmlns:a16="http://schemas.microsoft.com/office/drawing/2014/main" id="{9935C119-74EC-49C8-AE1F-1523246BAD02}"/>
              </a:ext>
            </a:extLst>
          </p:cNvPr>
          <p:cNvSpPr/>
          <p:nvPr/>
        </p:nvSpPr>
        <p:spPr>
          <a:xfrm>
            <a:off x="0" y="0"/>
            <a:ext cx="6096000" cy="6858000"/>
          </a:xfrm>
          <a:prstGeom prst="rect">
            <a:avLst/>
          </a:prstGeom>
          <a:solidFill>
            <a:srgbClr val="CC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k-SK" noProof="0"/>
          </a:p>
        </p:txBody>
      </p:sp>
      <p:sp>
        <p:nvSpPr>
          <p:cNvPr id="14" name="Zástupný objekt pre text 13">
            <a:extLst>
              <a:ext uri="{FF2B5EF4-FFF2-40B4-BE49-F238E27FC236}">
                <a16:creationId xmlns:a16="http://schemas.microsoft.com/office/drawing/2014/main" id="{ACA22D96-AB45-4340-BC17-743ADAFD8AC1}"/>
              </a:ext>
            </a:extLst>
          </p:cNvPr>
          <p:cNvSpPr>
            <a:spLocks noGrp="1"/>
          </p:cNvSpPr>
          <p:nvPr>
            <p:ph type="body" sz="quarter" idx="17"/>
          </p:nvPr>
        </p:nvSpPr>
        <p:spPr>
          <a:xfrm>
            <a:off x="893619" y="405245"/>
            <a:ext cx="4768850" cy="831273"/>
          </a:xfrm>
          <a:prstGeom prst="rect">
            <a:avLst/>
          </a:prstGeom>
        </p:spPr>
        <p:txBody>
          <a:bodyPr/>
          <a:lstStyle>
            <a:lvl1pPr marL="0" indent="0" algn="l">
              <a:buFont typeface="Arial" panose="020B0604020202020204" pitchFamily="34" charset="0"/>
              <a:buNone/>
              <a:defRPr lang="sk-SK" sz="2400" dirty="0">
                <a:solidFill>
                  <a:schemeClr val="tx1"/>
                </a:solidFill>
              </a:defRPr>
            </a:lvl1pPr>
            <a:lvl2pPr marL="457200" indent="0" algn="l">
              <a:buFont typeface="Arial" panose="020B0604020202020204" pitchFamily="34" charset="0"/>
              <a:buNone/>
              <a:defRPr sz="2400">
                <a:solidFill>
                  <a:schemeClr val="tx1"/>
                </a:solidFill>
              </a:defRPr>
            </a:lvl2pPr>
            <a:lvl3pPr marL="914400" indent="0" algn="l">
              <a:buFont typeface="Arial" panose="020B0604020202020204" pitchFamily="34" charset="0"/>
              <a:buNone/>
              <a:defRPr sz="2400">
                <a:solidFill>
                  <a:schemeClr val="tx1"/>
                </a:solidFill>
              </a:defRPr>
            </a:lvl3pPr>
            <a:lvl4pPr marL="1371600" indent="0" algn="l">
              <a:buFont typeface="Arial" panose="020B0604020202020204" pitchFamily="34" charset="0"/>
              <a:buNone/>
              <a:defRPr sz="2400">
                <a:solidFill>
                  <a:schemeClr val="tx1"/>
                </a:solidFill>
              </a:defRPr>
            </a:lvl4pPr>
            <a:lvl5pPr marL="1828800" indent="0" algn="l">
              <a:buFont typeface="Arial" panose="020B0604020202020204" pitchFamily="34" charset="0"/>
              <a:buNone/>
              <a:defRPr sz="2400">
                <a:solidFill>
                  <a:schemeClr val="tx1"/>
                </a:solidFill>
              </a:defRPr>
            </a:lvl5pPr>
          </a:lstStyle>
          <a:p>
            <a:pPr lvl="0"/>
            <a:r>
              <a:rPr lang="cs-CZ" noProof="0"/>
              <a:t>Upravte styly předlohy textu.</a:t>
            </a:r>
          </a:p>
        </p:txBody>
      </p:sp>
      <p:sp>
        <p:nvSpPr>
          <p:cNvPr id="11" name="Zástupný objekt pre text 13">
            <a:extLst>
              <a:ext uri="{FF2B5EF4-FFF2-40B4-BE49-F238E27FC236}">
                <a16:creationId xmlns:a16="http://schemas.microsoft.com/office/drawing/2014/main" id="{5A6B9A21-4072-4B5E-82A4-A84DA82F4CAA}"/>
              </a:ext>
            </a:extLst>
          </p:cNvPr>
          <p:cNvSpPr>
            <a:spLocks noGrp="1"/>
          </p:cNvSpPr>
          <p:nvPr>
            <p:ph type="body" sz="quarter" idx="19" hasCustomPrompt="1"/>
          </p:nvPr>
        </p:nvSpPr>
        <p:spPr>
          <a:xfrm>
            <a:off x="893619" y="1569026"/>
            <a:ext cx="4768850" cy="831273"/>
          </a:xfrm>
          <a:prstGeom prst="rect">
            <a:avLst/>
          </a:prstGeom>
        </p:spPr>
        <p:txBody>
          <a:bodyPr/>
          <a:lstStyle>
            <a:lvl1pPr marL="0" indent="0" algn="l">
              <a:buFont typeface="Arial" panose="020B0604020202020204" pitchFamily="34" charset="0"/>
              <a:buNone/>
              <a:defRPr lang="sk-SK" sz="3000" dirty="0">
                <a:solidFill>
                  <a:schemeClr val="tx1"/>
                </a:solidFill>
              </a:defRPr>
            </a:lvl1pPr>
            <a:lvl2pPr marL="457200" indent="0" algn="l">
              <a:buFont typeface="Arial" panose="020B0604020202020204" pitchFamily="34" charset="0"/>
              <a:buNone/>
              <a:defRPr sz="2400">
                <a:solidFill>
                  <a:schemeClr val="tx1"/>
                </a:solidFill>
              </a:defRPr>
            </a:lvl2pPr>
            <a:lvl3pPr marL="914400" indent="0" algn="l">
              <a:buFont typeface="Arial" panose="020B0604020202020204" pitchFamily="34" charset="0"/>
              <a:buNone/>
              <a:defRPr sz="2400">
                <a:solidFill>
                  <a:schemeClr val="tx1"/>
                </a:solidFill>
              </a:defRPr>
            </a:lvl3pPr>
            <a:lvl4pPr marL="1371600" indent="0" algn="l">
              <a:buFont typeface="Arial" panose="020B0604020202020204" pitchFamily="34" charset="0"/>
              <a:buNone/>
              <a:defRPr sz="2400">
                <a:solidFill>
                  <a:schemeClr val="tx1"/>
                </a:solidFill>
              </a:defRPr>
            </a:lvl4pPr>
            <a:lvl5pPr marL="1828800" indent="0" algn="l">
              <a:buFont typeface="Arial" panose="020B0604020202020204" pitchFamily="34" charset="0"/>
              <a:buNone/>
              <a:defRPr sz="2400">
                <a:solidFill>
                  <a:schemeClr val="tx1"/>
                </a:solidFill>
              </a:defRPr>
            </a:lvl5pPr>
          </a:lstStyle>
          <a:p>
            <a:pPr lvl="0"/>
            <a:r>
              <a:rPr lang="sk-SK" noProof="0"/>
              <a:t>Lorem ipsum</a:t>
            </a:r>
          </a:p>
        </p:txBody>
      </p:sp>
      <p:cxnSp>
        <p:nvCxnSpPr>
          <p:cNvPr id="17" name="Rovná spojnica 16">
            <a:extLst>
              <a:ext uri="{FF2B5EF4-FFF2-40B4-BE49-F238E27FC236}">
                <a16:creationId xmlns:a16="http://schemas.microsoft.com/office/drawing/2014/main" id="{3D56B16E-4FD8-4509-BE3F-C627D6B76B34}"/>
              </a:ext>
            </a:extLst>
          </p:cNvPr>
          <p:cNvCxnSpPr/>
          <p:nvPr/>
        </p:nvCxnSpPr>
        <p:spPr>
          <a:xfrm>
            <a:off x="11762511" y="6483928"/>
            <a:ext cx="0" cy="155863"/>
          </a:xfrm>
          <a:prstGeom prst="line">
            <a:avLst/>
          </a:prstGeom>
          <a:ln>
            <a:solidFill>
              <a:schemeClr val="bg2">
                <a:lumMod val="75000"/>
              </a:schemeClr>
            </a:solidFill>
          </a:ln>
        </p:spPr>
        <p:style>
          <a:lnRef idx="1">
            <a:schemeClr val="dk1"/>
          </a:lnRef>
          <a:fillRef idx="0">
            <a:schemeClr val="dk1"/>
          </a:fillRef>
          <a:effectRef idx="0">
            <a:schemeClr val="dk1"/>
          </a:effectRef>
          <a:fontRef idx="minor">
            <a:schemeClr val="tx1"/>
          </a:fontRef>
        </p:style>
      </p:cxnSp>
      <p:grpSp>
        <p:nvGrpSpPr>
          <p:cNvPr id="10" name="Skupina 9">
            <a:extLst>
              <a:ext uri="{FF2B5EF4-FFF2-40B4-BE49-F238E27FC236}">
                <a16:creationId xmlns:a16="http://schemas.microsoft.com/office/drawing/2014/main" id="{1A115AB3-50A6-4D3F-A282-519F4A867FF0}"/>
              </a:ext>
            </a:extLst>
          </p:cNvPr>
          <p:cNvGrpSpPr/>
          <p:nvPr/>
        </p:nvGrpSpPr>
        <p:grpSpPr>
          <a:xfrm>
            <a:off x="232633" y="6431406"/>
            <a:ext cx="848022" cy="183990"/>
            <a:chOff x="2560197" y="6541214"/>
            <a:chExt cx="1398836" cy="303496"/>
          </a:xfrm>
        </p:grpSpPr>
        <p:sp>
          <p:nvSpPr>
            <p:cNvPr id="13" name="Voľný tvar: obrazec 12">
              <a:extLst>
                <a:ext uri="{FF2B5EF4-FFF2-40B4-BE49-F238E27FC236}">
                  <a16:creationId xmlns:a16="http://schemas.microsoft.com/office/drawing/2014/main" id="{B1B46398-000C-4C60-A104-FE64AC98A158}"/>
                </a:ext>
              </a:extLst>
            </p:cNvPr>
            <p:cNvSpPr/>
            <p:nvPr/>
          </p:nvSpPr>
          <p:spPr>
            <a:xfrm>
              <a:off x="3265060" y="6542851"/>
              <a:ext cx="191228" cy="296094"/>
            </a:xfrm>
            <a:custGeom>
              <a:avLst/>
              <a:gdLst>
                <a:gd name="connsiteX0" fmla="*/ 2989 w 191228"/>
                <a:gd name="connsiteY0" fmla="*/ 2989 h 296094"/>
                <a:gd name="connsiteX1" fmla="*/ 2989 w 191228"/>
                <a:gd name="connsiteY1" fmla="*/ 297232 h 296094"/>
                <a:gd name="connsiteX2" fmla="*/ 192983 w 191228"/>
                <a:gd name="connsiteY2" fmla="*/ 297232 h 296094"/>
                <a:gd name="connsiteX3" fmla="*/ 192983 w 191228"/>
                <a:gd name="connsiteY3" fmla="*/ 231228 h 296094"/>
                <a:gd name="connsiteX4" fmla="*/ 73311 w 191228"/>
                <a:gd name="connsiteY4" fmla="*/ 231228 h 296094"/>
                <a:gd name="connsiteX5" fmla="*/ 73311 w 191228"/>
                <a:gd name="connsiteY5" fmla="*/ 2989 h 29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1228" h="296094">
                  <a:moveTo>
                    <a:pt x="2989" y="2989"/>
                  </a:moveTo>
                  <a:lnTo>
                    <a:pt x="2989" y="297232"/>
                  </a:lnTo>
                  <a:lnTo>
                    <a:pt x="192983" y="297232"/>
                  </a:lnTo>
                  <a:lnTo>
                    <a:pt x="192983" y="231228"/>
                  </a:lnTo>
                  <a:lnTo>
                    <a:pt x="73311" y="231228"/>
                  </a:lnTo>
                  <a:lnTo>
                    <a:pt x="73311" y="2989"/>
                  </a:lnTo>
                  <a:close/>
                </a:path>
              </a:pathLst>
            </a:custGeom>
            <a:solidFill>
              <a:schemeClr val="tx1"/>
            </a:solidFill>
            <a:ln w="6153" cap="flat">
              <a:noFill/>
              <a:prstDash val="solid"/>
              <a:miter/>
            </a:ln>
          </p:spPr>
          <p:txBody>
            <a:bodyPr rtlCol="0" anchor="ctr"/>
            <a:lstStyle/>
            <a:p>
              <a:endParaRPr lang="sk-SK" noProof="0"/>
            </a:p>
          </p:txBody>
        </p:sp>
        <p:sp>
          <p:nvSpPr>
            <p:cNvPr id="15" name="Voľný tvar: obrazec 14">
              <a:extLst>
                <a:ext uri="{FF2B5EF4-FFF2-40B4-BE49-F238E27FC236}">
                  <a16:creationId xmlns:a16="http://schemas.microsoft.com/office/drawing/2014/main" id="{7E69DB8B-CB5A-4BBE-8442-7EE46298393B}"/>
                </a:ext>
              </a:extLst>
            </p:cNvPr>
            <p:cNvSpPr/>
            <p:nvPr/>
          </p:nvSpPr>
          <p:spPr>
            <a:xfrm>
              <a:off x="3495767" y="6542851"/>
              <a:ext cx="209734" cy="296094"/>
            </a:xfrm>
            <a:custGeom>
              <a:avLst/>
              <a:gdLst>
                <a:gd name="connsiteX0" fmla="*/ 2989 w 209733"/>
                <a:gd name="connsiteY0" fmla="*/ 2989 h 296094"/>
                <a:gd name="connsiteX1" fmla="*/ 2989 w 209733"/>
                <a:gd name="connsiteY1" fmla="*/ 297232 h 296094"/>
                <a:gd name="connsiteX2" fmla="*/ 212106 w 209733"/>
                <a:gd name="connsiteY2" fmla="*/ 297232 h 296094"/>
                <a:gd name="connsiteX3" fmla="*/ 212106 w 209733"/>
                <a:gd name="connsiteY3" fmla="*/ 234312 h 296094"/>
                <a:gd name="connsiteX4" fmla="*/ 73311 w 209733"/>
                <a:gd name="connsiteY4" fmla="*/ 234312 h 296094"/>
                <a:gd name="connsiteX5" fmla="*/ 73311 w 209733"/>
                <a:gd name="connsiteY5" fmla="*/ 175710 h 296094"/>
                <a:gd name="connsiteX6" fmla="*/ 196067 w 209733"/>
                <a:gd name="connsiteY6" fmla="*/ 175710 h 296094"/>
                <a:gd name="connsiteX7" fmla="*/ 196067 w 209733"/>
                <a:gd name="connsiteY7" fmla="*/ 112790 h 296094"/>
                <a:gd name="connsiteX8" fmla="*/ 73311 w 209733"/>
                <a:gd name="connsiteY8" fmla="*/ 112790 h 296094"/>
                <a:gd name="connsiteX9" fmla="*/ 73311 w 209733"/>
                <a:gd name="connsiteY9" fmla="*/ 65909 h 296094"/>
                <a:gd name="connsiteX10" fmla="*/ 212106 w 209733"/>
                <a:gd name="connsiteY10" fmla="*/ 65909 h 296094"/>
                <a:gd name="connsiteX11" fmla="*/ 212106 w 209733"/>
                <a:gd name="connsiteY11" fmla="*/ 2989 h 29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9733" h="296094">
                  <a:moveTo>
                    <a:pt x="2989" y="2989"/>
                  </a:moveTo>
                  <a:lnTo>
                    <a:pt x="2989" y="297232"/>
                  </a:lnTo>
                  <a:lnTo>
                    <a:pt x="212106" y="297232"/>
                  </a:lnTo>
                  <a:lnTo>
                    <a:pt x="212106" y="234312"/>
                  </a:lnTo>
                  <a:lnTo>
                    <a:pt x="73311" y="234312"/>
                  </a:lnTo>
                  <a:lnTo>
                    <a:pt x="73311" y="175710"/>
                  </a:lnTo>
                  <a:lnTo>
                    <a:pt x="196067" y="175710"/>
                  </a:lnTo>
                  <a:lnTo>
                    <a:pt x="196067" y="112790"/>
                  </a:lnTo>
                  <a:lnTo>
                    <a:pt x="73311" y="112790"/>
                  </a:lnTo>
                  <a:lnTo>
                    <a:pt x="73311" y="65909"/>
                  </a:lnTo>
                  <a:lnTo>
                    <a:pt x="212106" y="65909"/>
                  </a:lnTo>
                  <a:lnTo>
                    <a:pt x="212106" y="2989"/>
                  </a:lnTo>
                  <a:close/>
                </a:path>
              </a:pathLst>
            </a:custGeom>
            <a:solidFill>
              <a:schemeClr val="tx1"/>
            </a:solidFill>
            <a:ln w="6153" cap="flat">
              <a:noFill/>
              <a:prstDash val="solid"/>
              <a:miter/>
            </a:ln>
          </p:spPr>
          <p:txBody>
            <a:bodyPr rtlCol="0" anchor="ctr"/>
            <a:lstStyle/>
            <a:p>
              <a:endParaRPr lang="sk-SK" noProof="0"/>
            </a:p>
          </p:txBody>
        </p:sp>
        <p:sp>
          <p:nvSpPr>
            <p:cNvPr id="16" name="Voľný tvar: obrazec 15">
              <a:extLst>
                <a:ext uri="{FF2B5EF4-FFF2-40B4-BE49-F238E27FC236}">
                  <a16:creationId xmlns:a16="http://schemas.microsoft.com/office/drawing/2014/main" id="{EFEC6082-6334-4BDA-865B-E8C8DE75ED9E}"/>
                </a:ext>
              </a:extLst>
            </p:cNvPr>
            <p:cNvSpPr/>
            <p:nvPr/>
          </p:nvSpPr>
          <p:spPr>
            <a:xfrm>
              <a:off x="3749299" y="6542851"/>
              <a:ext cx="209734" cy="296094"/>
            </a:xfrm>
            <a:custGeom>
              <a:avLst/>
              <a:gdLst>
                <a:gd name="connsiteX0" fmla="*/ 2989 w 209733"/>
                <a:gd name="connsiteY0" fmla="*/ 2989 h 296094"/>
                <a:gd name="connsiteX1" fmla="*/ 2989 w 209733"/>
                <a:gd name="connsiteY1" fmla="*/ 297232 h 296094"/>
                <a:gd name="connsiteX2" fmla="*/ 73311 w 209733"/>
                <a:gd name="connsiteY2" fmla="*/ 297232 h 296094"/>
                <a:gd name="connsiteX3" fmla="*/ 73311 w 209733"/>
                <a:gd name="connsiteY3" fmla="*/ 179411 h 296094"/>
                <a:gd name="connsiteX4" fmla="*/ 193600 w 209733"/>
                <a:gd name="connsiteY4" fmla="*/ 179411 h 296094"/>
                <a:gd name="connsiteX5" fmla="*/ 193600 w 209733"/>
                <a:gd name="connsiteY5" fmla="*/ 117108 h 296094"/>
                <a:gd name="connsiteX6" fmla="*/ 73311 w 209733"/>
                <a:gd name="connsiteY6" fmla="*/ 117108 h 296094"/>
                <a:gd name="connsiteX7" fmla="*/ 73311 w 209733"/>
                <a:gd name="connsiteY7" fmla="*/ 65909 h 296094"/>
                <a:gd name="connsiteX8" fmla="*/ 209638 w 209733"/>
                <a:gd name="connsiteY8" fmla="*/ 65909 h 296094"/>
                <a:gd name="connsiteX9" fmla="*/ 209638 w 209733"/>
                <a:gd name="connsiteY9" fmla="*/ 2989 h 29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9733" h="296094">
                  <a:moveTo>
                    <a:pt x="2989" y="2989"/>
                  </a:moveTo>
                  <a:lnTo>
                    <a:pt x="2989" y="297232"/>
                  </a:lnTo>
                  <a:lnTo>
                    <a:pt x="73311" y="297232"/>
                  </a:lnTo>
                  <a:lnTo>
                    <a:pt x="73311" y="179411"/>
                  </a:lnTo>
                  <a:lnTo>
                    <a:pt x="193600" y="179411"/>
                  </a:lnTo>
                  <a:lnTo>
                    <a:pt x="193600" y="117108"/>
                  </a:lnTo>
                  <a:lnTo>
                    <a:pt x="73311" y="117108"/>
                  </a:lnTo>
                  <a:lnTo>
                    <a:pt x="73311" y="65909"/>
                  </a:lnTo>
                  <a:lnTo>
                    <a:pt x="209638" y="65909"/>
                  </a:lnTo>
                  <a:lnTo>
                    <a:pt x="209638" y="2989"/>
                  </a:lnTo>
                  <a:close/>
                </a:path>
              </a:pathLst>
            </a:custGeom>
            <a:solidFill>
              <a:schemeClr val="tx1"/>
            </a:solidFill>
            <a:ln w="6153" cap="flat">
              <a:noFill/>
              <a:prstDash val="solid"/>
              <a:miter/>
            </a:ln>
          </p:spPr>
          <p:txBody>
            <a:bodyPr rtlCol="0" anchor="ctr"/>
            <a:lstStyle/>
            <a:p>
              <a:endParaRPr lang="sk-SK" noProof="0"/>
            </a:p>
          </p:txBody>
        </p:sp>
        <p:sp>
          <p:nvSpPr>
            <p:cNvPr id="20" name="Voľný tvar: obrazec 19">
              <a:extLst>
                <a:ext uri="{FF2B5EF4-FFF2-40B4-BE49-F238E27FC236}">
                  <a16:creationId xmlns:a16="http://schemas.microsoft.com/office/drawing/2014/main" id="{5231A626-F5BB-4E7B-83FE-0CC52E13EA0D}"/>
                </a:ext>
              </a:extLst>
            </p:cNvPr>
            <p:cNvSpPr/>
            <p:nvPr/>
          </p:nvSpPr>
          <p:spPr>
            <a:xfrm>
              <a:off x="2943886" y="6541214"/>
              <a:ext cx="296095" cy="302263"/>
            </a:xfrm>
            <a:custGeom>
              <a:avLst/>
              <a:gdLst>
                <a:gd name="connsiteX0" fmla="*/ 81118 w 296095"/>
                <a:gd name="connsiteY0" fmla="*/ 298870 h 302262"/>
                <a:gd name="connsiteX1" fmla="*/ 102091 w 296095"/>
                <a:gd name="connsiteY1" fmla="*/ 235950 h 302262"/>
                <a:gd name="connsiteX2" fmla="*/ 198939 w 296095"/>
                <a:gd name="connsiteY2" fmla="*/ 235950 h 302262"/>
                <a:gd name="connsiteX3" fmla="*/ 219295 w 296095"/>
                <a:gd name="connsiteY3" fmla="*/ 298870 h 302262"/>
                <a:gd name="connsiteX4" fmla="*/ 295787 w 296095"/>
                <a:gd name="connsiteY4" fmla="*/ 298870 h 302262"/>
                <a:gd name="connsiteX5" fmla="*/ 190303 w 296095"/>
                <a:gd name="connsiteY5" fmla="*/ 4626 h 302262"/>
                <a:gd name="connsiteX6" fmla="*/ 110110 w 296095"/>
                <a:gd name="connsiteY6" fmla="*/ 4626 h 302262"/>
                <a:gd name="connsiteX7" fmla="*/ 4626 w 296095"/>
                <a:gd name="connsiteY7" fmla="*/ 298870 h 302262"/>
                <a:gd name="connsiteX8" fmla="*/ 81118 w 296095"/>
                <a:gd name="connsiteY8" fmla="*/ 298870 h 302262"/>
                <a:gd name="connsiteX9" fmla="*/ 149590 w 296095"/>
                <a:gd name="connsiteY9" fmla="*/ 99006 h 302262"/>
                <a:gd name="connsiteX10" fmla="*/ 150823 w 296095"/>
                <a:gd name="connsiteY10" fmla="*/ 95922 h 302262"/>
                <a:gd name="connsiteX11" fmla="*/ 151440 w 296095"/>
                <a:gd name="connsiteY11" fmla="*/ 98390 h 302262"/>
                <a:gd name="connsiteX12" fmla="*/ 177965 w 296095"/>
                <a:gd name="connsiteY12" fmla="*/ 173647 h 302262"/>
                <a:gd name="connsiteX13" fmla="*/ 123681 w 296095"/>
                <a:gd name="connsiteY13" fmla="*/ 173647 h 302262"/>
                <a:gd name="connsiteX14" fmla="*/ 149590 w 296095"/>
                <a:gd name="connsiteY14" fmla="*/ 99006 h 302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6095" h="302262">
                  <a:moveTo>
                    <a:pt x="81118" y="298870"/>
                  </a:moveTo>
                  <a:lnTo>
                    <a:pt x="102091" y="235950"/>
                  </a:lnTo>
                  <a:lnTo>
                    <a:pt x="198939" y="235950"/>
                  </a:lnTo>
                  <a:lnTo>
                    <a:pt x="219295" y="298870"/>
                  </a:lnTo>
                  <a:lnTo>
                    <a:pt x="295787" y="298870"/>
                  </a:lnTo>
                  <a:lnTo>
                    <a:pt x="190303" y="4626"/>
                  </a:lnTo>
                  <a:lnTo>
                    <a:pt x="110110" y="4626"/>
                  </a:lnTo>
                  <a:lnTo>
                    <a:pt x="4626" y="298870"/>
                  </a:lnTo>
                  <a:lnTo>
                    <a:pt x="81118" y="298870"/>
                  </a:lnTo>
                  <a:close/>
                  <a:moveTo>
                    <a:pt x="149590" y="99006"/>
                  </a:moveTo>
                  <a:cubicBezTo>
                    <a:pt x="150207" y="98390"/>
                    <a:pt x="150207" y="97156"/>
                    <a:pt x="150823" y="95922"/>
                  </a:cubicBezTo>
                  <a:cubicBezTo>
                    <a:pt x="150823" y="96539"/>
                    <a:pt x="151440" y="97773"/>
                    <a:pt x="151440" y="98390"/>
                  </a:cubicBezTo>
                  <a:lnTo>
                    <a:pt x="177965" y="173647"/>
                  </a:lnTo>
                  <a:lnTo>
                    <a:pt x="123681" y="173647"/>
                  </a:lnTo>
                  <a:lnTo>
                    <a:pt x="149590" y="99006"/>
                  </a:lnTo>
                  <a:close/>
                </a:path>
              </a:pathLst>
            </a:custGeom>
            <a:solidFill>
              <a:schemeClr val="tx1"/>
            </a:solidFill>
            <a:ln w="9525" cap="flat">
              <a:noFill/>
              <a:prstDash val="solid"/>
              <a:miter/>
            </a:ln>
          </p:spPr>
          <p:txBody>
            <a:bodyPr rtlCol="0" anchor="ctr"/>
            <a:lstStyle/>
            <a:p>
              <a:endParaRPr lang="sk-SK" noProof="0"/>
            </a:p>
          </p:txBody>
        </p:sp>
        <p:sp>
          <p:nvSpPr>
            <p:cNvPr id="21" name="Voľný tvar: obrazec 20">
              <a:extLst>
                <a:ext uri="{FF2B5EF4-FFF2-40B4-BE49-F238E27FC236}">
                  <a16:creationId xmlns:a16="http://schemas.microsoft.com/office/drawing/2014/main" id="{5C44B311-6D0C-4539-95F8-047A283D0CC4}"/>
                </a:ext>
              </a:extLst>
            </p:cNvPr>
            <p:cNvSpPr/>
            <p:nvPr/>
          </p:nvSpPr>
          <p:spPr>
            <a:xfrm>
              <a:off x="2567386" y="6543468"/>
              <a:ext cx="271420" cy="296094"/>
            </a:xfrm>
            <a:custGeom>
              <a:avLst/>
              <a:gdLst>
                <a:gd name="connsiteX0" fmla="*/ 2989 w 271420"/>
                <a:gd name="connsiteY0" fmla="*/ 2989 h 296094"/>
                <a:gd name="connsiteX1" fmla="*/ 174477 w 271420"/>
                <a:gd name="connsiteY1" fmla="*/ 296615 h 296094"/>
                <a:gd name="connsiteX2" fmla="*/ 270708 w 271420"/>
                <a:gd name="connsiteY2" fmla="*/ 296615 h 296094"/>
                <a:gd name="connsiteX3" fmla="*/ 101687 w 271420"/>
                <a:gd name="connsiteY3" fmla="*/ 2989 h 296094"/>
              </a:gdLst>
              <a:ahLst/>
              <a:cxnLst>
                <a:cxn ang="0">
                  <a:pos x="connsiteX0" y="connsiteY0"/>
                </a:cxn>
                <a:cxn ang="0">
                  <a:pos x="connsiteX1" y="connsiteY1"/>
                </a:cxn>
                <a:cxn ang="0">
                  <a:pos x="connsiteX2" y="connsiteY2"/>
                </a:cxn>
                <a:cxn ang="0">
                  <a:pos x="connsiteX3" y="connsiteY3"/>
                </a:cxn>
              </a:cxnLst>
              <a:rect l="l" t="t" r="r" b="b"/>
              <a:pathLst>
                <a:path w="271420" h="296094">
                  <a:moveTo>
                    <a:pt x="2989" y="2989"/>
                  </a:moveTo>
                  <a:lnTo>
                    <a:pt x="174477" y="296615"/>
                  </a:lnTo>
                  <a:lnTo>
                    <a:pt x="270708" y="296615"/>
                  </a:lnTo>
                  <a:lnTo>
                    <a:pt x="101687" y="2989"/>
                  </a:lnTo>
                  <a:close/>
                </a:path>
              </a:pathLst>
            </a:custGeom>
            <a:solidFill>
              <a:schemeClr val="tx2"/>
            </a:solidFill>
            <a:ln w="6153" cap="flat">
              <a:noFill/>
              <a:prstDash val="solid"/>
              <a:miter/>
            </a:ln>
          </p:spPr>
          <p:txBody>
            <a:bodyPr rtlCol="0" anchor="ctr"/>
            <a:lstStyle/>
            <a:p>
              <a:endParaRPr lang="sk-SK" noProof="0"/>
            </a:p>
          </p:txBody>
        </p:sp>
        <p:sp>
          <p:nvSpPr>
            <p:cNvPr id="22" name="Voľný tvar: obrazec 21">
              <a:extLst>
                <a:ext uri="{FF2B5EF4-FFF2-40B4-BE49-F238E27FC236}">
                  <a16:creationId xmlns:a16="http://schemas.microsoft.com/office/drawing/2014/main" id="{D84B0380-7340-47C5-8558-22CC34B7A29D}"/>
                </a:ext>
              </a:extLst>
            </p:cNvPr>
            <p:cNvSpPr/>
            <p:nvPr/>
          </p:nvSpPr>
          <p:spPr>
            <a:xfrm>
              <a:off x="2744022" y="6541214"/>
              <a:ext cx="104867" cy="148047"/>
            </a:xfrm>
            <a:custGeom>
              <a:avLst/>
              <a:gdLst>
                <a:gd name="connsiteX0" fmla="*/ 4626 w 104866"/>
                <a:gd name="connsiteY0" fmla="*/ 143421 h 148047"/>
                <a:gd name="connsiteX1" fmla="*/ 16964 w 104866"/>
                <a:gd name="connsiteY1" fmla="*/ 4626 h 148047"/>
                <a:gd name="connsiteX2" fmla="*/ 101474 w 104866"/>
                <a:gd name="connsiteY2" fmla="*/ 4626 h 148047"/>
                <a:gd name="connsiteX3" fmla="*/ 91604 w 104866"/>
                <a:gd name="connsiteY3" fmla="*/ 102708 h 148047"/>
                <a:gd name="connsiteX4" fmla="*/ 4626 w 104866"/>
                <a:gd name="connsiteY4" fmla="*/ 143421 h 148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66" h="148047">
                  <a:moveTo>
                    <a:pt x="4626" y="143421"/>
                  </a:moveTo>
                  <a:lnTo>
                    <a:pt x="16964" y="4626"/>
                  </a:lnTo>
                  <a:lnTo>
                    <a:pt x="101474" y="4626"/>
                  </a:lnTo>
                  <a:lnTo>
                    <a:pt x="91604" y="102708"/>
                  </a:lnTo>
                  <a:cubicBezTo>
                    <a:pt x="90988" y="102708"/>
                    <a:pt x="70014" y="131083"/>
                    <a:pt x="4626" y="143421"/>
                  </a:cubicBezTo>
                </a:path>
              </a:pathLst>
            </a:custGeom>
            <a:solidFill>
              <a:schemeClr val="tx2"/>
            </a:solidFill>
            <a:ln w="9525" cap="flat">
              <a:noFill/>
              <a:prstDash val="solid"/>
              <a:miter/>
            </a:ln>
          </p:spPr>
          <p:txBody>
            <a:bodyPr rtlCol="0" anchor="ctr"/>
            <a:lstStyle/>
            <a:p>
              <a:endParaRPr lang="sk-SK" noProof="0"/>
            </a:p>
          </p:txBody>
        </p:sp>
        <p:sp>
          <p:nvSpPr>
            <p:cNvPr id="23" name="Voľný tvar: obrazec 22">
              <a:extLst>
                <a:ext uri="{FF2B5EF4-FFF2-40B4-BE49-F238E27FC236}">
                  <a16:creationId xmlns:a16="http://schemas.microsoft.com/office/drawing/2014/main" id="{C821FC7D-775A-43AC-B95D-153712422F21}"/>
                </a:ext>
              </a:extLst>
            </p:cNvPr>
            <p:cNvSpPr/>
            <p:nvPr/>
          </p:nvSpPr>
          <p:spPr>
            <a:xfrm>
              <a:off x="2560197" y="6696663"/>
              <a:ext cx="104867" cy="148047"/>
            </a:xfrm>
            <a:custGeom>
              <a:avLst/>
              <a:gdLst>
                <a:gd name="connsiteX0" fmla="*/ 100857 w 104866"/>
                <a:gd name="connsiteY0" fmla="*/ 4626 h 148047"/>
                <a:gd name="connsiteX1" fmla="*/ 88520 w 104866"/>
                <a:gd name="connsiteY1" fmla="*/ 143421 h 148047"/>
                <a:gd name="connsiteX2" fmla="*/ 4626 w 104866"/>
                <a:gd name="connsiteY2" fmla="*/ 143421 h 148047"/>
                <a:gd name="connsiteX3" fmla="*/ 14496 w 104866"/>
                <a:gd name="connsiteY3" fmla="*/ 45339 h 148047"/>
                <a:gd name="connsiteX4" fmla="*/ 100857 w 104866"/>
                <a:gd name="connsiteY4" fmla="*/ 4626 h 148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66" h="148047">
                  <a:moveTo>
                    <a:pt x="100857" y="4626"/>
                  </a:moveTo>
                  <a:lnTo>
                    <a:pt x="88520" y="143421"/>
                  </a:lnTo>
                  <a:lnTo>
                    <a:pt x="4626" y="143421"/>
                  </a:lnTo>
                  <a:lnTo>
                    <a:pt x="14496" y="45339"/>
                  </a:lnTo>
                  <a:cubicBezTo>
                    <a:pt x="14496" y="45339"/>
                    <a:pt x="36087" y="16347"/>
                    <a:pt x="100857" y="4626"/>
                  </a:cubicBezTo>
                </a:path>
              </a:pathLst>
            </a:custGeom>
            <a:solidFill>
              <a:schemeClr val="tx2"/>
            </a:solidFill>
            <a:ln w="9525" cap="flat">
              <a:noFill/>
              <a:prstDash val="solid"/>
              <a:miter/>
            </a:ln>
          </p:spPr>
          <p:txBody>
            <a:bodyPr rtlCol="0" anchor="ctr"/>
            <a:lstStyle/>
            <a:p>
              <a:endParaRPr lang="sk-SK" noProof="0"/>
            </a:p>
          </p:txBody>
        </p:sp>
      </p:grpSp>
      <p:sp>
        <p:nvSpPr>
          <p:cNvPr id="3" name="Zástupný objekt pre graf 2">
            <a:extLst>
              <a:ext uri="{FF2B5EF4-FFF2-40B4-BE49-F238E27FC236}">
                <a16:creationId xmlns:a16="http://schemas.microsoft.com/office/drawing/2014/main" id="{C9ADEF17-E5EC-46B4-A9CA-B787D801E0E9}"/>
              </a:ext>
            </a:extLst>
          </p:cNvPr>
          <p:cNvSpPr>
            <a:spLocks noGrp="1"/>
          </p:cNvSpPr>
          <p:nvPr>
            <p:ph type="chart" sz="quarter" idx="20"/>
          </p:nvPr>
        </p:nvSpPr>
        <p:spPr>
          <a:xfrm>
            <a:off x="6858000" y="571500"/>
            <a:ext cx="4904511" cy="5559425"/>
          </a:xfrm>
          <a:prstGeom prst="rect">
            <a:avLst/>
          </a:prstGeom>
        </p:spPr>
        <p:txBody>
          <a:bodyPr/>
          <a:lstStyle>
            <a:lvl1pPr>
              <a:defRPr sz="1200"/>
            </a:lvl1pPr>
          </a:lstStyle>
          <a:p>
            <a:r>
              <a:rPr lang="cs-CZ" noProof="0"/>
              <a:t>Kliknutím na ikonu přidáte graf.</a:t>
            </a:r>
            <a:endParaRPr lang="sk-SK" noProof="0"/>
          </a:p>
        </p:txBody>
      </p:sp>
      <p:sp>
        <p:nvSpPr>
          <p:cNvPr id="24" name="Zástupný objekt pre text 14">
            <a:extLst>
              <a:ext uri="{FF2B5EF4-FFF2-40B4-BE49-F238E27FC236}">
                <a16:creationId xmlns:a16="http://schemas.microsoft.com/office/drawing/2014/main" id="{A2660C66-C5F3-4D9B-B939-6FBD7DC4ACEB}"/>
              </a:ext>
            </a:extLst>
          </p:cNvPr>
          <p:cNvSpPr>
            <a:spLocks noGrp="1"/>
          </p:cNvSpPr>
          <p:nvPr>
            <p:ph type="body" sz="quarter" idx="15" hasCustomPrompt="1"/>
          </p:nvPr>
        </p:nvSpPr>
        <p:spPr>
          <a:xfrm>
            <a:off x="8672947" y="6431973"/>
            <a:ext cx="3089564" cy="207818"/>
          </a:xfrm>
          <a:prstGeom prst="rect">
            <a:avLst/>
          </a:prstGeom>
        </p:spPr>
        <p:txBody>
          <a:bodyPr/>
          <a:lstStyle>
            <a:lvl1pPr algn="r">
              <a:defRPr sz="950" b="0">
                <a:solidFill>
                  <a:schemeClr val="bg1">
                    <a:lumMod val="50000"/>
                  </a:schemeClr>
                </a:solidFill>
              </a:defRPr>
            </a:lvl1pPr>
            <a:lvl2pPr>
              <a:defRPr sz="950" b="0">
                <a:solidFill>
                  <a:schemeClr val="bg1">
                    <a:lumMod val="50000"/>
                  </a:schemeClr>
                </a:solidFill>
              </a:defRPr>
            </a:lvl2pPr>
            <a:lvl3pPr>
              <a:defRPr sz="950" b="0">
                <a:solidFill>
                  <a:schemeClr val="bg1">
                    <a:lumMod val="50000"/>
                  </a:schemeClr>
                </a:solidFill>
              </a:defRPr>
            </a:lvl3pPr>
            <a:lvl4pPr>
              <a:defRPr sz="950" b="0">
                <a:solidFill>
                  <a:schemeClr val="bg1">
                    <a:lumMod val="50000"/>
                  </a:schemeClr>
                </a:solidFill>
              </a:defRPr>
            </a:lvl4pPr>
            <a:lvl5pPr>
              <a:defRPr sz="950" b="0">
                <a:solidFill>
                  <a:schemeClr val="bg1">
                    <a:lumMod val="50000"/>
                  </a:schemeClr>
                </a:solidFill>
              </a:defRPr>
            </a:lvl5pPr>
          </a:lstStyle>
          <a:p>
            <a:pPr lvl="0"/>
            <a:r>
              <a:rPr lang="sk-SK" noProof="0"/>
              <a:t>Název prezentace (volitelně)</a:t>
            </a:r>
          </a:p>
        </p:txBody>
      </p:sp>
      <p:sp>
        <p:nvSpPr>
          <p:cNvPr id="25" name="BlokTextu 24">
            <a:extLst>
              <a:ext uri="{FF2B5EF4-FFF2-40B4-BE49-F238E27FC236}">
                <a16:creationId xmlns:a16="http://schemas.microsoft.com/office/drawing/2014/main" id="{5061D397-CCD0-41D6-9558-10FCDA0BC703}"/>
              </a:ext>
            </a:extLst>
          </p:cNvPr>
          <p:cNvSpPr txBox="1"/>
          <p:nvPr/>
        </p:nvSpPr>
        <p:spPr>
          <a:xfrm>
            <a:off x="11853949" y="6431973"/>
            <a:ext cx="338051" cy="207818"/>
          </a:xfrm>
          <a:prstGeom prst="rect">
            <a:avLst/>
          </a:prstGeom>
        </p:spPr>
        <p:txBody>
          <a:bodyPr vert="horz" wrap="square" lIns="0" tIns="45720" rIns="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fld id="{B0E1C688-2A94-4C23-89D7-1BDBDDABE19E}" type="slidenum">
              <a:rPr lang="sk-SK" sz="950" b="0" kern="1200" noProof="0" smtClean="0">
                <a:solidFill>
                  <a:schemeClr val="bg1">
                    <a:lumMod val="50000"/>
                  </a:schemeClr>
                </a:solidFill>
                <a:latin typeface="+mn-lt"/>
                <a:ea typeface="+mn-ea"/>
                <a:cs typeface="+mn-cs"/>
              </a:rPr>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t>‹#›</a:t>
            </a:fld>
            <a:endParaRPr lang="sk-SK" sz="950" b="0" kern="1200" noProof="0">
              <a:solidFill>
                <a:schemeClr val="bg1">
                  <a:lumMod val="50000"/>
                </a:schemeClr>
              </a:solidFill>
              <a:latin typeface="+mn-lt"/>
              <a:ea typeface="+mn-ea"/>
              <a:cs typeface="+mn-cs"/>
            </a:endParaRPr>
          </a:p>
        </p:txBody>
      </p:sp>
      <p:sp>
        <p:nvSpPr>
          <p:cNvPr id="18" name="Zástupný objekt pre text 2">
            <a:extLst>
              <a:ext uri="{FF2B5EF4-FFF2-40B4-BE49-F238E27FC236}">
                <a16:creationId xmlns:a16="http://schemas.microsoft.com/office/drawing/2014/main" id="{CA279DF6-CF76-4BD2-B5A8-0A63E242657E}"/>
              </a:ext>
            </a:extLst>
          </p:cNvPr>
          <p:cNvSpPr>
            <a:spLocks noGrp="1"/>
          </p:cNvSpPr>
          <p:nvPr>
            <p:ph type="body" sz="quarter" idx="21"/>
          </p:nvPr>
        </p:nvSpPr>
        <p:spPr>
          <a:xfrm>
            <a:off x="893620" y="2400298"/>
            <a:ext cx="4768850" cy="3563179"/>
          </a:xfrm>
          <a:prstGeom prst="rect">
            <a:avLst/>
          </a:prstGeom>
        </p:spPr>
        <p:txBody>
          <a:bodyPr lIns="90000" tIns="46800" rIns="90000" bIns="46800"/>
          <a:lstStyle>
            <a:lvl1pPr marL="285750" indent="-285750" algn="l">
              <a:lnSpc>
                <a:spcPct val="120000"/>
              </a:lnSpc>
              <a:spcBef>
                <a:spcPts val="0"/>
              </a:spcBef>
              <a:buFont typeface="Arial" panose="020B0604020202020204" pitchFamily="34" charset="0"/>
              <a:buChar char="•"/>
              <a:defRPr sz="1800" b="0">
                <a:solidFill>
                  <a:schemeClr val="tx1"/>
                </a:solidFill>
              </a:defRPr>
            </a:lvl1pPr>
            <a:lvl2pPr marL="742950" indent="-285750" algn="l">
              <a:lnSpc>
                <a:spcPct val="120000"/>
              </a:lnSpc>
              <a:spcBef>
                <a:spcPts val="0"/>
              </a:spcBef>
              <a:buFont typeface="Arial" panose="020B0604020202020204" pitchFamily="34" charset="0"/>
              <a:buChar char="•"/>
              <a:defRPr sz="1800" b="0">
                <a:solidFill>
                  <a:schemeClr val="tx1"/>
                </a:solidFill>
              </a:defRPr>
            </a:lvl2pPr>
            <a:lvl3pPr marL="1200150" indent="-285750" algn="l">
              <a:lnSpc>
                <a:spcPct val="120000"/>
              </a:lnSpc>
              <a:spcBef>
                <a:spcPts val="0"/>
              </a:spcBef>
              <a:buFont typeface="Arial" panose="020B0604020202020204" pitchFamily="34" charset="0"/>
              <a:buChar char="•"/>
              <a:defRPr sz="1800" b="0">
                <a:solidFill>
                  <a:schemeClr val="tx1"/>
                </a:solidFill>
              </a:defRPr>
            </a:lvl3pPr>
            <a:lvl4pPr marL="1657350" indent="-285750" algn="l">
              <a:buFont typeface="Arial" panose="020B0604020202020204" pitchFamily="34" charset="0"/>
              <a:buChar char="•"/>
              <a:defRPr sz="1800" b="0">
                <a:solidFill>
                  <a:schemeClr val="tx1"/>
                </a:solidFill>
              </a:defRPr>
            </a:lvl4pPr>
            <a:lvl5pPr marL="2171700" indent="-342900" algn="l">
              <a:buFont typeface="Arial" panose="020B0604020202020204" pitchFamily="34" charset="0"/>
              <a:buChar char="•"/>
              <a:defRPr sz="1800" b="0">
                <a:solidFill>
                  <a:schemeClr val="tx1"/>
                </a:solidFill>
              </a:defRPr>
            </a:lvl5p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US" dirty="0"/>
          </a:p>
        </p:txBody>
      </p:sp>
    </p:spTree>
    <p:extLst>
      <p:ext uri="{BB962C8B-B14F-4D97-AF65-F5344CB8AC3E}">
        <p14:creationId xmlns:p14="http://schemas.microsoft.com/office/powerpoint/2010/main" val="17596529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Organisation">
    <p:bg>
      <p:bgPr>
        <a:solidFill>
          <a:schemeClr val="bg1"/>
        </a:solidFill>
        <a:effectLst/>
      </p:bgPr>
    </p:bg>
    <p:spTree>
      <p:nvGrpSpPr>
        <p:cNvPr id="1" name=""/>
        <p:cNvGrpSpPr/>
        <p:nvPr/>
      </p:nvGrpSpPr>
      <p:grpSpPr>
        <a:xfrm>
          <a:off x="0" y="0"/>
          <a:ext cx="0" cy="0"/>
          <a:chOff x="0" y="0"/>
          <a:chExt cx="0" cy="0"/>
        </a:xfrm>
      </p:grpSpPr>
      <p:sp>
        <p:nvSpPr>
          <p:cNvPr id="10" name="Zástupný objekt pre text 8">
            <a:extLst>
              <a:ext uri="{FF2B5EF4-FFF2-40B4-BE49-F238E27FC236}">
                <a16:creationId xmlns:a16="http://schemas.microsoft.com/office/drawing/2014/main" id="{0DB67311-3873-433E-B144-F8329F5A126F}"/>
              </a:ext>
            </a:extLst>
          </p:cNvPr>
          <p:cNvSpPr>
            <a:spLocks noGrp="1"/>
          </p:cNvSpPr>
          <p:nvPr>
            <p:ph type="body" sz="quarter" idx="14" hasCustomPrompt="1"/>
          </p:nvPr>
        </p:nvSpPr>
        <p:spPr>
          <a:xfrm>
            <a:off x="546824" y="4356822"/>
            <a:ext cx="3748088" cy="385763"/>
          </a:xfrm>
          <a:prstGeom prst="rect">
            <a:avLst/>
          </a:prstGeom>
        </p:spPr>
        <p:txBody>
          <a:bodyPr/>
          <a:lstStyle>
            <a:lvl1pPr>
              <a:defRPr sz="1200" b="0">
                <a:solidFill>
                  <a:schemeClr val="tx1">
                    <a:lumMod val="75000"/>
                    <a:lumOff val="25000"/>
                  </a:schemeClr>
                </a:solidFill>
              </a:defRPr>
            </a:lvl1pPr>
          </a:lstStyle>
          <a:p>
            <a:pPr lvl="0"/>
            <a:r>
              <a:rPr lang="en-US" noProof="0"/>
              <a:t>CEO, ALEF Group</a:t>
            </a:r>
          </a:p>
        </p:txBody>
      </p:sp>
      <p:sp>
        <p:nvSpPr>
          <p:cNvPr id="3" name="Zástupný objekt pre obrázok 2">
            <a:extLst>
              <a:ext uri="{FF2B5EF4-FFF2-40B4-BE49-F238E27FC236}">
                <a16:creationId xmlns:a16="http://schemas.microsoft.com/office/drawing/2014/main" id="{0D103FE7-852B-43EA-B38E-05E5D3529B86}"/>
              </a:ext>
            </a:extLst>
          </p:cNvPr>
          <p:cNvSpPr>
            <a:spLocks noGrp="1"/>
          </p:cNvSpPr>
          <p:nvPr>
            <p:ph type="pic" sz="quarter" idx="15"/>
          </p:nvPr>
        </p:nvSpPr>
        <p:spPr>
          <a:xfrm>
            <a:off x="1670797" y="2307215"/>
            <a:ext cx="1535207" cy="1537421"/>
          </a:xfrm>
          <a:prstGeom prst="ellipse">
            <a:avLst/>
          </a:prstGeom>
        </p:spPr>
        <p:txBody>
          <a:bodyPr/>
          <a:lstStyle>
            <a:lvl1pPr>
              <a:defRPr sz="1200"/>
            </a:lvl1pPr>
          </a:lstStyle>
          <a:p>
            <a:r>
              <a:rPr lang="cs-CZ" noProof="0"/>
              <a:t>Kliknutím na ikonu přidáte obrázek.</a:t>
            </a:r>
            <a:endParaRPr lang="en-US" noProof="0"/>
          </a:p>
        </p:txBody>
      </p:sp>
      <p:sp>
        <p:nvSpPr>
          <p:cNvPr id="8" name="Zástupný objekt pre text 8">
            <a:extLst>
              <a:ext uri="{FF2B5EF4-FFF2-40B4-BE49-F238E27FC236}">
                <a16:creationId xmlns:a16="http://schemas.microsoft.com/office/drawing/2014/main" id="{16E9E237-0268-4D3D-91C4-40387DAB0A19}"/>
              </a:ext>
            </a:extLst>
          </p:cNvPr>
          <p:cNvSpPr>
            <a:spLocks noGrp="1"/>
          </p:cNvSpPr>
          <p:nvPr>
            <p:ph type="body" sz="quarter" idx="16" hasCustomPrompt="1"/>
          </p:nvPr>
        </p:nvSpPr>
        <p:spPr>
          <a:xfrm>
            <a:off x="553967" y="4025612"/>
            <a:ext cx="3748088" cy="385763"/>
          </a:xfrm>
          <a:prstGeom prst="rect">
            <a:avLst/>
          </a:prstGeom>
        </p:spPr>
        <p:txBody>
          <a:bodyPr/>
          <a:lstStyle>
            <a:lvl1pPr>
              <a:defRPr sz="1800" b="1">
                <a:solidFill>
                  <a:schemeClr val="tx2"/>
                </a:solidFill>
              </a:defRPr>
            </a:lvl1pPr>
          </a:lstStyle>
          <a:p>
            <a:pPr lvl="0"/>
            <a:r>
              <a:rPr lang="en-US" noProof="0"/>
              <a:t>Milan Zinek</a:t>
            </a:r>
          </a:p>
        </p:txBody>
      </p:sp>
      <p:sp>
        <p:nvSpPr>
          <p:cNvPr id="14" name="Zástupný objekt pre text 13">
            <a:extLst>
              <a:ext uri="{FF2B5EF4-FFF2-40B4-BE49-F238E27FC236}">
                <a16:creationId xmlns:a16="http://schemas.microsoft.com/office/drawing/2014/main" id="{ACA22D96-AB45-4340-BC17-743ADAFD8AC1}"/>
              </a:ext>
            </a:extLst>
          </p:cNvPr>
          <p:cNvSpPr>
            <a:spLocks noGrp="1"/>
          </p:cNvSpPr>
          <p:nvPr>
            <p:ph type="body" sz="quarter" idx="17"/>
          </p:nvPr>
        </p:nvSpPr>
        <p:spPr>
          <a:xfrm>
            <a:off x="893618" y="862444"/>
            <a:ext cx="9289473" cy="571501"/>
          </a:xfrm>
          <a:prstGeom prst="rect">
            <a:avLst/>
          </a:prstGeom>
        </p:spPr>
        <p:txBody>
          <a:bodyPr/>
          <a:lstStyle>
            <a:lvl1pPr marL="0" indent="0" algn="l">
              <a:buFont typeface="Arial" panose="020B0604020202020204" pitchFamily="34" charset="0"/>
              <a:buNone/>
              <a:defRPr sz="3000">
                <a:solidFill>
                  <a:schemeClr val="tx1"/>
                </a:solidFill>
              </a:defRPr>
            </a:lvl1pPr>
            <a:lvl2pPr marL="457200" indent="0" algn="l">
              <a:buFont typeface="Arial" panose="020B0604020202020204" pitchFamily="34" charset="0"/>
              <a:buNone/>
              <a:defRPr sz="2400">
                <a:solidFill>
                  <a:schemeClr val="tx1"/>
                </a:solidFill>
              </a:defRPr>
            </a:lvl2pPr>
            <a:lvl3pPr marL="914400" indent="0" algn="l">
              <a:buFont typeface="Arial" panose="020B0604020202020204" pitchFamily="34" charset="0"/>
              <a:buNone/>
              <a:defRPr sz="2400">
                <a:solidFill>
                  <a:schemeClr val="tx1"/>
                </a:solidFill>
              </a:defRPr>
            </a:lvl3pPr>
            <a:lvl4pPr marL="1371600" indent="0" algn="l">
              <a:buFont typeface="Arial" panose="020B0604020202020204" pitchFamily="34" charset="0"/>
              <a:buNone/>
              <a:defRPr sz="2400">
                <a:solidFill>
                  <a:schemeClr val="tx1"/>
                </a:solidFill>
              </a:defRPr>
            </a:lvl4pPr>
            <a:lvl5pPr marL="1828800" indent="0" algn="l">
              <a:buFont typeface="Arial" panose="020B0604020202020204" pitchFamily="34" charset="0"/>
              <a:buNone/>
              <a:defRPr sz="2400">
                <a:solidFill>
                  <a:schemeClr val="tx1"/>
                </a:solidFill>
              </a:defRPr>
            </a:lvl5pPr>
          </a:lstStyle>
          <a:p>
            <a:pPr lvl="0"/>
            <a:r>
              <a:rPr lang="cs-CZ" noProof="0"/>
              <a:t>Upravte styly předlohy textu.</a:t>
            </a:r>
          </a:p>
        </p:txBody>
      </p:sp>
      <p:cxnSp>
        <p:nvCxnSpPr>
          <p:cNvPr id="13" name="Rovná spojnica 12">
            <a:extLst>
              <a:ext uri="{FF2B5EF4-FFF2-40B4-BE49-F238E27FC236}">
                <a16:creationId xmlns:a16="http://schemas.microsoft.com/office/drawing/2014/main" id="{8E0C047D-60C8-4BC8-B1A1-E8217C2A68A4}"/>
              </a:ext>
            </a:extLst>
          </p:cNvPr>
          <p:cNvCxnSpPr/>
          <p:nvPr/>
        </p:nvCxnSpPr>
        <p:spPr>
          <a:xfrm>
            <a:off x="11762511" y="6483928"/>
            <a:ext cx="0" cy="155863"/>
          </a:xfrm>
          <a:prstGeom prst="line">
            <a:avLst/>
          </a:prstGeom>
          <a:ln>
            <a:solidFill>
              <a:schemeClr val="bg2">
                <a:lumMod val="75000"/>
              </a:schemeClr>
            </a:solidFill>
          </a:ln>
        </p:spPr>
        <p:style>
          <a:lnRef idx="1">
            <a:schemeClr val="dk1"/>
          </a:lnRef>
          <a:fillRef idx="0">
            <a:schemeClr val="dk1"/>
          </a:fillRef>
          <a:effectRef idx="0">
            <a:schemeClr val="dk1"/>
          </a:effectRef>
          <a:fontRef idx="minor">
            <a:schemeClr val="tx1"/>
          </a:fontRef>
        </p:style>
      </p:cxnSp>
      <p:sp>
        <p:nvSpPr>
          <p:cNvPr id="15" name="Zástupný objekt pre text 8">
            <a:extLst>
              <a:ext uri="{FF2B5EF4-FFF2-40B4-BE49-F238E27FC236}">
                <a16:creationId xmlns:a16="http://schemas.microsoft.com/office/drawing/2014/main" id="{E8008B66-0215-4729-B0D1-53A961210DB2}"/>
              </a:ext>
            </a:extLst>
          </p:cNvPr>
          <p:cNvSpPr>
            <a:spLocks noGrp="1"/>
          </p:cNvSpPr>
          <p:nvPr>
            <p:ph type="body" sz="quarter" idx="18" hasCustomPrompt="1"/>
          </p:nvPr>
        </p:nvSpPr>
        <p:spPr>
          <a:xfrm>
            <a:off x="4890224" y="4356822"/>
            <a:ext cx="3748088" cy="385763"/>
          </a:xfrm>
          <a:prstGeom prst="rect">
            <a:avLst/>
          </a:prstGeom>
        </p:spPr>
        <p:txBody>
          <a:bodyPr/>
          <a:lstStyle>
            <a:lvl1pPr>
              <a:defRPr sz="1200" b="0">
                <a:solidFill>
                  <a:schemeClr val="tx1">
                    <a:lumMod val="75000"/>
                    <a:lumOff val="25000"/>
                  </a:schemeClr>
                </a:solidFill>
              </a:defRPr>
            </a:lvl1pPr>
          </a:lstStyle>
          <a:p>
            <a:pPr lvl="0"/>
            <a:r>
              <a:rPr lang="en-US" noProof="0"/>
              <a:t>CEO, ALEF Group</a:t>
            </a:r>
          </a:p>
        </p:txBody>
      </p:sp>
      <p:sp>
        <p:nvSpPr>
          <p:cNvPr id="16" name="Zástupný objekt pre obrázok 2">
            <a:extLst>
              <a:ext uri="{FF2B5EF4-FFF2-40B4-BE49-F238E27FC236}">
                <a16:creationId xmlns:a16="http://schemas.microsoft.com/office/drawing/2014/main" id="{408C58C4-ECCD-4359-B889-FFA19287A5F5}"/>
              </a:ext>
            </a:extLst>
          </p:cNvPr>
          <p:cNvSpPr>
            <a:spLocks noGrp="1"/>
          </p:cNvSpPr>
          <p:nvPr>
            <p:ph type="pic" sz="quarter" idx="19"/>
          </p:nvPr>
        </p:nvSpPr>
        <p:spPr>
          <a:xfrm>
            <a:off x="6014197" y="2307215"/>
            <a:ext cx="1535207" cy="1537421"/>
          </a:xfrm>
          <a:prstGeom prst="ellipse">
            <a:avLst/>
          </a:prstGeom>
        </p:spPr>
        <p:txBody>
          <a:bodyPr/>
          <a:lstStyle>
            <a:lvl1pPr>
              <a:defRPr sz="1200"/>
            </a:lvl1pPr>
          </a:lstStyle>
          <a:p>
            <a:r>
              <a:rPr lang="cs-CZ" noProof="0"/>
              <a:t>Kliknutím na ikonu přidáte obrázek.</a:t>
            </a:r>
            <a:endParaRPr lang="en-US" noProof="0"/>
          </a:p>
        </p:txBody>
      </p:sp>
      <p:sp>
        <p:nvSpPr>
          <p:cNvPr id="17" name="Zástupný objekt pre text 8">
            <a:extLst>
              <a:ext uri="{FF2B5EF4-FFF2-40B4-BE49-F238E27FC236}">
                <a16:creationId xmlns:a16="http://schemas.microsoft.com/office/drawing/2014/main" id="{9F084416-3138-4C38-96AE-24B6948C8413}"/>
              </a:ext>
            </a:extLst>
          </p:cNvPr>
          <p:cNvSpPr>
            <a:spLocks noGrp="1"/>
          </p:cNvSpPr>
          <p:nvPr>
            <p:ph type="body" sz="quarter" idx="20" hasCustomPrompt="1"/>
          </p:nvPr>
        </p:nvSpPr>
        <p:spPr>
          <a:xfrm>
            <a:off x="4897367" y="4025612"/>
            <a:ext cx="3748088" cy="385763"/>
          </a:xfrm>
          <a:prstGeom prst="rect">
            <a:avLst/>
          </a:prstGeom>
        </p:spPr>
        <p:txBody>
          <a:bodyPr/>
          <a:lstStyle>
            <a:lvl1pPr>
              <a:defRPr sz="1800" b="1">
                <a:solidFill>
                  <a:schemeClr val="tx2"/>
                </a:solidFill>
              </a:defRPr>
            </a:lvl1pPr>
          </a:lstStyle>
          <a:p>
            <a:pPr lvl="0"/>
            <a:r>
              <a:rPr lang="en-US" noProof="0"/>
              <a:t>Milan Zinek</a:t>
            </a:r>
          </a:p>
        </p:txBody>
      </p:sp>
      <p:sp>
        <p:nvSpPr>
          <p:cNvPr id="18" name="Zástupný objekt pre text 8">
            <a:extLst>
              <a:ext uri="{FF2B5EF4-FFF2-40B4-BE49-F238E27FC236}">
                <a16:creationId xmlns:a16="http://schemas.microsoft.com/office/drawing/2014/main" id="{245854B2-9B14-449E-9A1F-BBE002CD2A49}"/>
              </a:ext>
            </a:extLst>
          </p:cNvPr>
          <p:cNvSpPr>
            <a:spLocks noGrp="1"/>
          </p:cNvSpPr>
          <p:nvPr>
            <p:ph type="body" sz="quarter" idx="21" hasCustomPrompt="1"/>
          </p:nvPr>
        </p:nvSpPr>
        <p:spPr>
          <a:xfrm>
            <a:off x="7862024" y="4356822"/>
            <a:ext cx="3748088" cy="385763"/>
          </a:xfrm>
          <a:prstGeom prst="rect">
            <a:avLst/>
          </a:prstGeom>
        </p:spPr>
        <p:txBody>
          <a:bodyPr/>
          <a:lstStyle>
            <a:lvl1pPr>
              <a:defRPr sz="1200" b="0">
                <a:solidFill>
                  <a:schemeClr val="tx1">
                    <a:lumMod val="75000"/>
                    <a:lumOff val="25000"/>
                  </a:schemeClr>
                </a:solidFill>
              </a:defRPr>
            </a:lvl1pPr>
          </a:lstStyle>
          <a:p>
            <a:pPr lvl="0"/>
            <a:r>
              <a:rPr lang="en-US" noProof="0"/>
              <a:t>CEO, ALEF Group</a:t>
            </a:r>
          </a:p>
        </p:txBody>
      </p:sp>
      <p:sp>
        <p:nvSpPr>
          <p:cNvPr id="19" name="Zástupný objekt pre obrázok 2">
            <a:extLst>
              <a:ext uri="{FF2B5EF4-FFF2-40B4-BE49-F238E27FC236}">
                <a16:creationId xmlns:a16="http://schemas.microsoft.com/office/drawing/2014/main" id="{06EFC2C1-7F53-4697-BEF2-DBEDDA6B7082}"/>
              </a:ext>
            </a:extLst>
          </p:cNvPr>
          <p:cNvSpPr>
            <a:spLocks noGrp="1"/>
          </p:cNvSpPr>
          <p:nvPr>
            <p:ph type="pic" sz="quarter" idx="22"/>
          </p:nvPr>
        </p:nvSpPr>
        <p:spPr>
          <a:xfrm>
            <a:off x="8985997" y="2307215"/>
            <a:ext cx="1535207" cy="1537421"/>
          </a:xfrm>
          <a:prstGeom prst="ellipse">
            <a:avLst/>
          </a:prstGeom>
        </p:spPr>
        <p:txBody>
          <a:bodyPr/>
          <a:lstStyle>
            <a:lvl1pPr>
              <a:defRPr sz="1200"/>
            </a:lvl1pPr>
          </a:lstStyle>
          <a:p>
            <a:r>
              <a:rPr lang="cs-CZ" noProof="0"/>
              <a:t>Kliknutím na ikonu přidáte obrázek.</a:t>
            </a:r>
            <a:endParaRPr lang="en-US" noProof="0"/>
          </a:p>
        </p:txBody>
      </p:sp>
      <p:sp>
        <p:nvSpPr>
          <p:cNvPr id="20" name="Zástupný objekt pre text 8">
            <a:extLst>
              <a:ext uri="{FF2B5EF4-FFF2-40B4-BE49-F238E27FC236}">
                <a16:creationId xmlns:a16="http://schemas.microsoft.com/office/drawing/2014/main" id="{DB7B30DF-D469-46C5-A630-1DFF25505344}"/>
              </a:ext>
            </a:extLst>
          </p:cNvPr>
          <p:cNvSpPr>
            <a:spLocks noGrp="1"/>
          </p:cNvSpPr>
          <p:nvPr>
            <p:ph type="body" sz="quarter" idx="23" hasCustomPrompt="1"/>
          </p:nvPr>
        </p:nvSpPr>
        <p:spPr>
          <a:xfrm>
            <a:off x="7869167" y="4025612"/>
            <a:ext cx="3748088" cy="385763"/>
          </a:xfrm>
          <a:prstGeom prst="rect">
            <a:avLst/>
          </a:prstGeom>
        </p:spPr>
        <p:txBody>
          <a:bodyPr/>
          <a:lstStyle>
            <a:lvl1pPr>
              <a:defRPr sz="1800" b="1">
                <a:solidFill>
                  <a:schemeClr val="tx2"/>
                </a:solidFill>
              </a:defRPr>
            </a:lvl1pPr>
          </a:lstStyle>
          <a:p>
            <a:pPr lvl="0"/>
            <a:r>
              <a:rPr lang="en-US" noProof="0"/>
              <a:t>Milan Zinek</a:t>
            </a:r>
          </a:p>
        </p:txBody>
      </p:sp>
      <p:sp>
        <p:nvSpPr>
          <p:cNvPr id="23" name="Zástupný objekt pre text 14">
            <a:extLst>
              <a:ext uri="{FF2B5EF4-FFF2-40B4-BE49-F238E27FC236}">
                <a16:creationId xmlns:a16="http://schemas.microsoft.com/office/drawing/2014/main" id="{DA7E0FBF-AD9F-4B97-B5F8-3E5378A5C558}"/>
              </a:ext>
            </a:extLst>
          </p:cNvPr>
          <p:cNvSpPr>
            <a:spLocks noGrp="1"/>
          </p:cNvSpPr>
          <p:nvPr>
            <p:ph type="body" sz="quarter" idx="24" hasCustomPrompt="1"/>
          </p:nvPr>
        </p:nvSpPr>
        <p:spPr>
          <a:xfrm>
            <a:off x="8672947" y="6431973"/>
            <a:ext cx="3089564" cy="207818"/>
          </a:xfrm>
          <a:prstGeom prst="rect">
            <a:avLst/>
          </a:prstGeom>
        </p:spPr>
        <p:txBody>
          <a:bodyPr/>
          <a:lstStyle>
            <a:lvl1pPr algn="r">
              <a:defRPr sz="950" b="0">
                <a:solidFill>
                  <a:schemeClr val="bg1">
                    <a:lumMod val="50000"/>
                  </a:schemeClr>
                </a:solidFill>
              </a:defRPr>
            </a:lvl1pPr>
            <a:lvl2pPr>
              <a:defRPr sz="950" b="0">
                <a:solidFill>
                  <a:schemeClr val="bg1">
                    <a:lumMod val="50000"/>
                  </a:schemeClr>
                </a:solidFill>
              </a:defRPr>
            </a:lvl2pPr>
            <a:lvl3pPr>
              <a:defRPr sz="950" b="0">
                <a:solidFill>
                  <a:schemeClr val="bg1">
                    <a:lumMod val="50000"/>
                  </a:schemeClr>
                </a:solidFill>
              </a:defRPr>
            </a:lvl3pPr>
            <a:lvl4pPr>
              <a:defRPr sz="950" b="0">
                <a:solidFill>
                  <a:schemeClr val="bg1">
                    <a:lumMod val="50000"/>
                  </a:schemeClr>
                </a:solidFill>
              </a:defRPr>
            </a:lvl4pPr>
            <a:lvl5pPr>
              <a:defRPr sz="950" b="0">
                <a:solidFill>
                  <a:schemeClr val="bg1">
                    <a:lumMod val="50000"/>
                  </a:schemeClr>
                </a:solidFill>
              </a:defRPr>
            </a:lvl5pPr>
          </a:lstStyle>
          <a:p>
            <a:pPr lvl="0"/>
            <a:r>
              <a:rPr lang="en-US" noProof="0"/>
              <a:t>Název prezentace (volitelně)</a:t>
            </a:r>
          </a:p>
        </p:txBody>
      </p:sp>
      <p:sp>
        <p:nvSpPr>
          <p:cNvPr id="24" name="BlokTextu 23">
            <a:extLst>
              <a:ext uri="{FF2B5EF4-FFF2-40B4-BE49-F238E27FC236}">
                <a16:creationId xmlns:a16="http://schemas.microsoft.com/office/drawing/2014/main" id="{5C19AAFB-91C8-488A-8D6E-DABD3A9D27F9}"/>
              </a:ext>
            </a:extLst>
          </p:cNvPr>
          <p:cNvSpPr txBox="1"/>
          <p:nvPr/>
        </p:nvSpPr>
        <p:spPr>
          <a:xfrm>
            <a:off x="11853949" y="6431973"/>
            <a:ext cx="338051" cy="207818"/>
          </a:xfrm>
          <a:prstGeom prst="rect">
            <a:avLst/>
          </a:prstGeom>
        </p:spPr>
        <p:txBody>
          <a:bodyPr vert="horz" wrap="square" lIns="0" tIns="45720" rIns="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fld id="{B0E1C688-2A94-4C23-89D7-1BDBDDABE19E}" type="slidenum">
              <a:rPr lang="en-US" sz="950" b="0" kern="1200" noProof="0" smtClean="0">
                <a:solidFill>
                  <a:schemeClr val="bg1">
                    <a:lumMod val="50000"/>
                  </a:schemeClr>
                </a:solidFill>
                <a:latin typeface="+mn-lt"/>
                <a:ea typeface="+mn-ea"/>
                <a:cs typeface="+mn-cs"/>
              </a:rPr>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t>‹#›</a:t>
            </a:fld>
            <a:endParaRPr lang="en-US" sz="950" b="0" kern="1200" noProof="0">
              <a:solidFill>
                <a:schemeClr val="bg1">
                  <a:lumMod val="50000"/>
                </a:schemeClr>
              </a:solidFill>
              <a:latin typeface="+mn-lt"/>
              <a:ea typeface="+mn-ea"/>
              <a:cs typeface="+mn-cs"/>
            </a:endParaRPr>
          </a:p>
        </p:txBody>
      </p:sp>
    </p:spTree>
    <p:extLst>
      <p:ext uri="{BB962C8B-B14F-4D97-AF65-F5344CB8AC3E}">
        <p14:creationId xmlns:p14="http://schemas.microsoft.com/office/powerpoint/2010/main" val="38374879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_LeftText_2">
    <p:bg>
      <p:bgPr>
        <a:solidFill>
          <a:schemeClr val="bg1"/>
        </a:solidFill>
        <a:effectLst/>
      </p:bgPr>
    </p:bg>
    <p:spTree>
      <p:nvGrpSpPr>
        <p:cNvPr id="1" name=""/>
        <p:cNvGrpSpPr/>
        <p:nvPr/>
      </p:nvGrpSpPr>
      <p:grpSpPr>
        <a:xfrm>
          <a:off x="0" y="0"/>
          <a:ext cx="0" cy="0"/>
          <a:chOff x="0" y="0"/>
          <a:chExt cx="0" cy="0"/>
        </a:xfrm>
      </p:grpSpPr>
      <p:sp>
        <p:nvSpPr>
          <p:cNvPr id="14" name="Zástupný objekt pre text 13">
            <a:extLst>
              <a:ext uri="{FF2B5EF4-FFF2-40B4-BE49-F238E27FC236}">
                <a16:creationId xmlns:a16="http://schemas.microsoft.com/office/drawing/2014/main" id="{ACA22D96-AB45-4340-BC17-743ADAFD8AC1}"/>
              </a:ext>
            </a:extLst>
          </p:cNvPr>
          <p:cNvSpPr>
            <a:spLocks noGrp="1"/>
          </p:cNvSpPr>
          <p:nvPr>
            <p:ph type="body" sz="quarter" idx="17"/>
          </p:nvPr>
        </p:nvSpPr>
        <p:spPr>
          <a:xfrm>
            <a:off x="893619" y="405245"/>
            <a:ext cx="4768850" cy="831273"/>
          </a:xfrm>
          <a:prstGeom prst="rect">
            <a:avLst/>
          </a:prstGeom>
        </p:spPr>
        <p:txBody>
          <a:bodyPr/>
          <a:lstStyle>
            <a:lvl1pPr marL="0" indent="0" algn="l">
              <a:buFont typeface="Arial" panose="020B0604020202020204" pitchFamily="34" charset="0"/>
              <a:buNone/>
              <a:defRPr lang="sk-SK" sz="2400" dirty="0">
                <a:solidFill>
                  <a:schemeClr val="tx1"/>
                </a:solidFill>
              </a:defRPr>
            </a:lvl1pPr>
            <a:lvl2pPr marL="457200" indent="0" algn="l">
              <a:buFont typeface="Arial" panose="020B0604020202020204" pitchFamily="34" charset="0"/>
              <a:buNone/>
              <a:defRPr sz="2400">
                <a:solidFill>
                  <a:schemeClr val="tx1"/>
                </a:solidFill>
              </a:defRPr>
            </a:lvl2pPr>
            <a:lvl3pPr marL="914400" indent="0" algn="l">
              <a:buFont typeface="Arial" panose="020B0604020202020204" pitchFamily="34" charset="0"/>
              <a:buNone/>
              <a:defRPr sz="2400">
                <a:solidFill>
                  <a:schemeClr val="tx1"/>
                </a:solidFill>
              </a:defRPr>
            </a:lvl3pPr>
            <a:lvl4pPr marL="1371600" indent="0" algn="l">
              <a:buFont typeface="Arial" panose="020B0604020202020204" pitchFamily="34" charset="0"/>
              <a:buNone/>
              <a:defRPr sz="2400">
                <a:solidFill>
                  <a:schemeClr val="tx1"/>
                </a:solidFill>
              </a:defRPr>
            </a:lvl4pPr>
            <a:lvl5pPr marL="1828800" indent="0" algn="l">
              <a:buFont typeface="Arial" panose="020B0604020202020204" pitchFamily="34" charset="0"/>
              <a:buNone/>
              <a:defRPr sz="2400">
                <a:solidFill>
                  <a:schemeClr val="tx1"/>
                </a:solidFill>
              </a:defRPr>
            </a:lvl5pPr>
          </a:lstStyle>
          <a:p>
            <a:pPr lvl="0"/>
            <a:r>
              <a:rPr lang="cs-CZ" noProof="0"/>
              <a:t>Upravte styly předlohy textu.</a:t>
            </a:r>
          </a:p>
        </p:txBody>
      </p:sp>
      <p:cxnSp>
        <p:nvCxnSpPr>
          <p:cNvPr id="17" name="Rovná spojnica 16">
            <a:extLst>
              <a:ext uri="{FF2B5EF4-FFF2-40B4-BE49-F238E27FC236}">
                <a16:creationId xmlns:a16="http://schemas.microsoft.com/office/drawing/2014/main" id="{3D56B16E-4FD8-4509-BE3F-C627D6B76B34}"/>
              </a:ext>
            </a:extLst>
          </p:cNvPr>
          <p:cNvCxnSpPr/>
          <p:nvPr/>
        </p:nvCxnSpPr>
        <p:spPr>
          <a:xfrm>
            <a:off x="11762511" y="6483928"/>
            <a:ext cx="0" cy="155863"/>
          </a:xfrm>
          <a:prstGeom prst="line">
            <a:avLst/>
          </a:prstGeom>
          <a:ln>
            <a:solidFill>
              <a:schemeClr val="bg2">
                <a:lumMod val="75000"/>
              </a:schemeClr>
            </a:solidFill>
          </a:ln>
        </p:spPr>
        <p:style>
          <a:lnRef idx="1">
            <a:schemeClr val="dk1"/>
          </a:lnRef>
          <a:fillRef idx="0">
            <a:schemeClr val="dk1"/>
          </a:fillRef>
          <a:effectRef idx="0">
            <a:schemeClr val="dk1"/>
          </a:effectRef>
          <a:fontRef idx="minor">
            <a:schemeClr val="tx1"/>
          </a:fontRef>
        </p:style>
      </p:cxnSp>
      <p:grpSp>
        <p:nvGrpSpPr>
          <p:cNvPr id="10" name="Skupina 9">
            <a:extLst>
              <a:ext uri="{FF2B5EF4-FFF2-40B4-BE49-F238E27FC236}">
                <a16:creationId xmlns:a16="http://schemas.microsoft.com/office/drawing/2014/main" id="{1A115AB3-50A6-4D3F-A282-519F4A867FF0}"/>
              </a:ext>
            </a:extLst>
          </p:cNvPr>
          <p:cNvGrpSpPr/>
          <p:nvPr/>
        </p:nvGrpSpPr>
        <p:grpSpPr>
          <a:xfrm>
            <a:off x="232633" y="6431406"/>
            <a:ext cx="848022" cy="183990"/>
            <a:chOff x="2560197" y="6541214"/>
            <a:chExt cx="1398836" cy="303496"/>
          </a:xfrm>
        </p:grpSpPr>
        <p:sp>
          <p:nvSpPr>
            <p:cNvPr id="13" name="Voľný tvar: obrazec 12">
              <a:extLst>
                <a:ext uri="{FF2B5EF4-FFF2-40B4-BE49-F238E27FC236}">
                  <a16:creationId xmlns:a16="http://schemas.microsoft.com/office/drawing/2014/main" id="{B1B46398-000C-4C60-A104-FE64AC98A158}"/>
                </a:ext>
              </a:extLst>
            </p:cNvPr>
            <p:cNvSpPr/>
            <p:nvPr/>
          </p:nvSpPr>
          <p:spPr>
            <a:xfrm>
              <a:off x="3265060" y="6542851"/>
              <a:ext cx="191228" cy="296094"/>
            </a:xfrm>
            <a:custGeom>
              <a:avLst/>
              <a:gdLst>
                <a:gd name="connsiteX0" fmla="*/ 2989 w 191228"/>
                <a:gd name="connsiteY0" fmla="*/ 2989 h 296094"/>
                <a:gd name="connsiteX1" fmla="*/ 2989 w 191228"/>
                <a:gd name="connsiteY1" fmla="*/ 297232 h 296094"/>
                <a:gd name="connsiteX2" fmla="*/ 192983 w 191228"/>
                <a:gd name="connsiteY2" fmla="*/ 297232 h 296094"/>
                <a:gd name="connsiteX3" fmla="*/ 192983 w 191228"/>
                <a:gd name="connsiteY3" fmla="*/ 231228 h 296094"/>
                <a:gd name="connsiteX4" fmla="*/ 73311 w 191228"/>
                <a:gd name="connsiteY4" fmla="*/ 231228 h 296094"/>
                <a:gd name="connsiteX5" fmla="*/ 73311 w 191228"/>
                <a:gd name="connsiteY5" fmla="*/ 2989 h 29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1228" h="296094">
                  <a:moveTo>
                    <a:pt x="2989" y="2989"/>
                  </a:moveTo>
                  <a:lnTo>
                    <a:pt x="2989" y="297232"/>
                  </a:lnTo>
                  <a:lnTo>
                    <a:pt x="192983" y="297232"/>
                  </a:lnTo>
                  <a:lnTo>
                    <a:pt x="192983" y="231228"/>
                  </a:lnTo>
                  <a:lnTo>
                    <a:pt x="73311" y="231228"/>
                  </a:lnTo>
                  <a:lnTo>
                    <a:pt x="73311" y="2989"/>
                  </a:lnTo>
                  <a:close/>
                </a:path>
              </a:pathLst>
            </a:custGeom>
            <a:solidFill>
              <a:schemeClr val="tx1"/>
            </a:solidFill>
            <a:ln w="6153" cap="flat">
              <a:noFill/>
              <a:prstDash val="solid"/>
              <a:miter/>
            </a:ln>
          </p:spPr>
          <p:txBody>
            <a:bodyPr rtlCol="0" anchor="ctr"/>
            <a:lstStyle/>
            <a:p>
              <a:endParaRPr lang="en-US" noProof="0"/>
            </a:p>
          </p:txBody>
        </p:sp>
        <p:sp>
          <p:nvSpPr>
            <p:cNvPr id="15" name="Voľný tvar: obrazec 14">
              <a:extLst>
                <a:ext uri="{FF2B5EF4-FFF2-40B4-BE49-F238E27FC236}">
                  <a16:creationId xmlns:a16="http://schemas.microsoft.com/office/drawing/2014/main" id="{7E69DB8B-CB5A-4BBE-8442-7EE46298393B}"/>
                </a:ext>
              </a:extLst>
            </p:cNvPr>
            <p:cNvSpPr/>
            <p:nvPr/>
          </p:nvSpPr>
          <p:spPr>
            <a:xfrm>
              <a:off x="3495767" y="6542851"/>
              <a:ext cx="209734" cy="296094"/>
            </a:xfrm>
            <a:custGeom>
              <a:avLst/>
              <a:gdLst>
                <a:gd name="connsiteX0" fmla="*/ 2989 w 209733"/>
                <a:gd name="connsiteY0" fmla="*/ 2989 h 296094"/>
                <a:gd name="connsiteX1" fmla="*/ 2989 w 209733"/>
                <a:gd name="connsiteY1" fmla="*/ 297232 h 296094"/>
                <a:gd name="connsiteX2" fmla="*/ 212106 w 209733"/>
                <a:gd name="connsiteY2" fmla="*/ 297232 h 296094"/>
                <a:gd name="connsiteX3" fmla="*/ 212106 w 209733"/>
                <a:gd name="connsiteY3" fmla="*/ 234312 h 296094"/>
                <a:gd name="connsiteX4" fmla="*/ 73311 w 209733"/>
                <a:gd name="connsiteY4" fmla="*/ 234312 h 296094"/>
                <a:gd name="connsiteX5" fmla="*/ 73311 w 209733"/>
                <a:gd name="connsiteY5" fmla="*/ 175710 h 296094"/>
                <a:gd name="connsiteX6" fmla="*/ 196067 w 209733"/>
                <a:gd name="connsiteY6" fmla="*/ 175710 h 296094"/>
                <a:gd name="connsiteX7" fmla="*/ 196067 w 209733"/>
                <a:gd name="connsiteY7" fmla="*/ 112790 h 296094"/>
                <a:gd name="connsiteX8" fmla="*/ 73311 w 209733"/>
                <a:gd name="connsiteY8" fmla="*/ 112790 h 296094"/>
                <a:gd name="connsiteX9" fmla="*/ 73311 w 209733"/>
                <a:gd name="connsiteY9" fmla="*/ 65909 h 296094"/>
                <a:gd name="connsiteX10" fmla="*/ 212106 w 209733"/>
                <a:gd name="connsiteY10" fmla="*/ 65909 h 296094"/>
                <a:gd name="connsiteX11" fmla="*/ 212106 w 209733"/>
                <a:gd name="connsiteY11" fmla="*/ 2989 h 29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9733" h="296094">
                  <a:moveTo>
                    <a:pt x="2989" y="2989"/>
                  </a:moveTo>
                  <a:lnTo>
                    <a:pt x="2989" y="297232"/>
                  </a:lnTo>
                  <a:lnTo>
                    <a:pt x="212106" y="297232"/>
                  </a:lnTo>
                  <a:lnTo>
                    <a:pt x="212106" y="234312"/>
                  </a:lnTo>
                  <a:lnTo>
                    <a:pt x="73311" y="234312"/>
                  </a:lnTo>
                  <a:lnTo>
                    <a:pt x="73311" y="175710"/>
                  </a:lnTo>
                  <a:lnTo>
                    <a:pt x="196067" y="175710"/>
                  </a:lnTo>
                  <a:lnTo>
                    <a:pt x="196067" y="112790"/>
                  </a:lnTo>
                  <a:lnTo>
                    <a:pt x="73311" y="112790"/>
                  </a:lnTo>
                  <a:lnTo>
                    <a:pt x="73311" y="65909"/>
                  </a:lnTo>
                  <a:lnTo>
                    <a:pt x="212106" y="65909"/>
                  </a:lnTo>
                  <a:lnTo>
                    <a:pt x="212106" y="2989"/>
                  </a:lnTo>
                  <a:close/>
                </a:path>
              </a:pathLst>
            </a:custGeom>
            <a:solidFill>
              <a:schemeClr val="tx1"/>
            </a:solidFill>
            <a:ln w="6153" cap="flat">
              <a:noFill/>
              <a:prstDash val="solid"/>
              <a:miter/>
            </a:ln>
          </p:spPr>
          <p:txBody>
            <a:bodyPr rtlCol="0" anchor="ctr"/>
            <a:lstStyle/>
            <a:p>
              <a:endParaRPr lang="en-US" noProof="0"/>
            </a:p>
          </p:txBody>
        </p:sp>
        <p:sp>
          <p:nvSpPr>
            <p:cNvPr id="16" name="Voľný tvar: obrazec 15">
              <a:extLst>
                <a:ext uri="{FF2B5EF4-FFF2-40B4-BE49-F238E27FC236}">
                  <a16:creationId xmlns:a16="http://schemas.microsoft.com/office/drawing/2014/main" id="{EFEC6082-6334-4BDA-865B-E8C8DE75ED9E}"/>
                </a:ext>
              </a:extLst>
            </p:cNvPr>
            <p:cNvSpPr/>
            <p:nvPr/>
          </p:nvSpPr>
          <p:spPr>
            <a:xfrm>
              <a:off x="3749299" y="6542851"/>
              <a:ext cx="209734" cy="296094"/>
            </a:xfrm>
            <a:custGeom>
              <a:avLst/>
              <a:gdLst>
                <a:gd name="connsiteX0" fmla="*/ 2989 w 209733"/>
                <a:gd name="connsiteY0" fmla="*/ 2989 h 296094"/>
                <a:gd name="connsiteX1" fmla="*/ 2989 w 209733"/>
                <a:gd name="connsiteY1" fmla="*/ 297232 h 296094"/>
                <a:gd name="connsiteX2" fmla="*/ 73311 w 209733"/>
                <a:gd name="connsiteY2" fmla="*/ 297232 h 296094"/>
                <a:gd name="connsiteX3" fmla="*/ 73311 w 209733"/>
                <a:gd name="connsiteY3" fmla="*/ 179411 h 296094"/>
                <a:gd name="connsiteX4" fmla="*/ 193600 w 209733"/>
                <a:gd name="connsiteY4" fmla="*/ 179411 h 296094"/>
                <a:gd name="connsiteX5" fmla="*/ 193600 w 209733"/>
                <a:gd name="connsiteY5" fmla="*/ 117108 h 296094"/>
                <a:gd name="connsiteX6" fmla="*/ 73311 w 209733"/>
                <a:gd name="connsiteY6" fmla="*/ 117108 h 296094"/>
                <a:gd name="connsiteX7" fmla="*/ 73311 w 209733"/>
                <a:gd name="connsiteY7" fmla="*/ 65909 h 296094"/>
                <a:gd name="connsiteX8" fmla="*/ 209638 w 209733"/>
                <a:gd name="connsiteY8" fmla="*/ 65909 h 296094"/>
                <a:gd name="connsiteX9" fmla="*/ 209638 w 209733"/>
                <a:gd name="connsiteY9" fmla="*/ 2989 h 29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9733" h="296094">
                  <a:moveTo>
                    <a:pt x="2989" y="2989"/>
                  </a:moveTo>
                  <a:lnTo>
                    <a:pt x="2989" y="297232"/>
                  </a:lnTo>
                  <a:lnTo>
                    <a:pt x="73311" y="297232"/>
                  </a:lnTo>
                  <a:lnTo>
                    <a:pt x="73311" y="179411"/>
                  </a:lnTo>
                  <a:lnTo>
                    <a:pt x="193600" y="179411"/>
                  </a:lnTo>
                  <a:lnTo>
                    <a:pt x="193600" y="117108"/>
                  </a:lnTo>
                  <a:lnTo>
                    <a:pt x="73311" y="117108"/>
                  </a:lnTo>
                  <a:lnTo>
                    <a:pt x="73311" y="65909"/>
                  </a:lnTo>
                  <a:lnTo>
                    <a:pt x="209638" y="65909"/>
                  </a:lnTo>
                  <a:lnTo>
                    <a:pt x="209638" y="2989"/>
                  </a:lnTo>
                  <a:close/>
                </a:path>
              </a:pathLst>
            </a:custGeom>
            <a:solidFill>
              <a:schemeClr val="tx1"/>
            </a:solidFill>
            <a:ln w="6153" cap="flat">
              <a:noFill/>
              <a:prstDash val="solid"/>
              <a:miter/>
            </a:ln>
          </p:spPr>
          <p:txBody>
            <a:bodyPr rtlCol="0" anchor="ctr"/>
            <a:lstStyle/>
            <a:p>
              <a:endParaRPr lang="en-US" noProof="0"/>
            </a:p>
          </p:txBody>
        </p:sp>
        <p:sp>
          <p:nvSpPr>
            <p:cNvPr id="20" name="Voľný tvar: obrazec 19">
              <a:extLst>
                <a:ext uri="{FF2B5EF4-FFF2-40B4-BE49-F238E27FC236}">
                  <a16:creationId xmlns:a16="http://schemas.microsoft.com/office/drawing/2014/main" id="{5231A626-F5BB-4E7B-83FE-0CC52E13EA0D}"/>
                </a:ext>
              </a:extLst>
            </p:cNvPr>
            <p:cNvSpPr/>
            <p:nvPr/>
          </p:nvSpPr>
          <p:spPr>
            <a:xfrm>
              <a:off x="2943886" y="6541214"/>
              <a:ext cx="296095" cy="302263"/>
            </a:xfrm>
            <a:custGeom>
              <a:avLst/>
              <a:gdLst>
                <a:gd name="connsiteX0" fmla="*/ 81118 w 296095"/>
                <a:gd name="connsiteY0" fmla="*/ 298870 h 302262"/>
                <a:gd name="connsiteX1" fmla="*/ 102091 w 296095"/>
                <a:gd name="connsiteY1" fmla="*/ 235950 h 302262"/>
                <a:gd name="connsiteX2" fmla="*/ 198939 w 296095"/>
                <a:gd name="connsiteY2" fmla="*/ 235950 h 302262"/>
                <a:gd name="connsiteX3" fmla="*/ 219295 w 296095"/>
                <a:gd name="connsiteY3" fmla="*/ 298870 h 302262"/>
                <a:gd name="connsiteX4" fmla="*/ 295787 w 296095"/>
                <a:gd name="connsiteY4" fmla="*/ 298870 h 302262"/>
                <a:gd name="connsiteX5" fmla="*/ 190303 w 296095"/>
                <a:gd name="connsiteY5" fmla="*/ 4626 h 302262"/>
                <a:gd name="connsiteX6" fmla="*/ 110110 w 296095"/>
                <a:gd name="connsiteY6" fmla="*/ 4626 h 302262"/>
                <a:gd name="connsiteX7" fmla="*/ 4626 w 296095"/>
                <a:gd name="connsiteY7" fmla="*/ 298870 h 302262"/>
                <a:gd name="connsiteX8" fmla="*/ 81118 w 296095"/>
                <a:gd name="connsiteY8" fmla="*/ 298870 h 302262"/>
                <a:gd name="connsiteX9" fmla="*/ 149590 w 296095"/>
                <a:gd name="connsiteY9" fmla="*/ 99006 h 302262"/>
                <a:gd name="connsiteX10" fmla="*/ 150823 w 296095"/>
                <a:gd name="connsiteY10" fmla="*/ 95922 h 302262"/>
                <a:gd name="connsiteX11" fmla="*/ 151440 w 296095"/>
                <a:gd name="connsiteY11" fmla="*/ 98390 h 302262"/>
                <a:gd name="connsiteX12" fmla="*/ 177965 w 296095"/>
                <a:gd name="connsiteY12" fmla="*/ 173647 h 302262"/>
                <a:gd name="connsiteX13" fmla="*/ 123681 w 296095"/>
                <a:gd name="connsiteY13" fmla="*/ 173647 h 302262"/>
                <a:gd name="connsiteX14" fmla="*/ 149590 w 296095"/>
                <a:gd name="connsiteY14" fmla="*/ 99006 h 302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6095" h="302262">
                  <a:moveTo>
                    <a:pt x="81118" y="298870"/>
                  </a:moveTo>
                  <a:lnTo>
                    <a:pt x="102091" y="235950"/>
                  </a:lnTo>
                  <a:lnTo>
                    <a:pt x="198939" y="235950"/>
                  </a:lnTo>
                  <a:lnTo>
                    <a:pt x="219295" y="298870"/>
                  </a:lnTo>
                  <a:lnTo>
                    <a:pt x="295787" y="298870"/>
                  </a:lnTo>
                  <a:lnTo>
                    <a:pt x="190303" y="4626"/>
                  </a:lnTo>
                  <a:lnTo>
                    <a:pt x="110110" y="4626"/>
                  </a:lnTo>
                  <a:lnTo>
                    <a:pt x="4626" y="298870"/>
                  </a:lnTo>
                  <a:lnTo>
                    <a:pt x="81118" y="298870"/>
                  </a:lnTo>
                  <a:close/>
                  <a:moveTo>
                    <a:pt x="149590" y="99006"/>
                  </a:moveTo>
                  <a:cubicBezTo>
                    <a:pt x="150207" y="98390"/>
                    <a:pt x="150207" y="97156"/>
                    <a:pt x="150823" y="95922"/>
                  </a:cubicBezTo>
                  <a:cubicBezTo>
                    <a:pt x="150823" y="96539"/>
                    <a:pt x="151440" y="97773"/>
                    <a:pt x="151440" y="98390"/>
                  </a:cubicBezTo>
                  <a:lnTo>
                    <a:pt x="177965" y="173647"/>
                  </a:lnTo>
                  <a:lnTo>
                    <a:pt x="123681" y="173647"/>
                  </a:lnTo>
                  <a:lnTo>
                    <a:pt x="149590" y="99006"/>
                  </a:lnTo>
                  <a:close/>
                </a:path>
              </a:pathLst>
            </a:custGeom>
            <a:solidFill>
              <a:schemeClr val="tx1"/>
            </a:solidFill>
            <a:ln w="9525" cap="flat">
              <a:noFill/>
              <a:prstDash val="solid"/>
              <a:miter/>
            </a:ln>
          </p:spPr>
          <p:txBody>
            <a:bodyPr rtlCol="0" anchor="ctr"/>
            <a:lstStyle/>
            <a:p>
              <a:endParaRPr lang="en-US" noProof="0"/>
            </a:p>
          </p:txBody>
        </p:sp>
        <p:sp>
          <p:nvSpPr>
            <p:cNvPr id="21" name="Voľný tvar: obrazec 20">
              <a:extLst>
                <a:ext uri="{FF2B5EF4-FFF2-40B4-BE49-F238E27FC236}">
                  <a16:creationId xmlns:a16="http://schemas.microsoft.com/office/drawing/2014/main" id="{5C44B311-6D0C-4539-95F8-047A283D0CC4}"/>
                </a:ext>
              </a:extLst>
            </p:cNvPr>
            <p:cNvSpPr/>
            <p:nvPr/>
          </p:nvSpPr>
          <p:spPr>
            <a:xfrm>
              <a:off x="2567386" y="6543468"/>
              <a:ext cx="271420" cy="296094"/>
            </a:xfrm>
            <a:custGeom>
              <a:avLst/>
              <a:gdLst>
                <a:gd name="connsiteX0" fmla="*/ 2989 w 271420"/>
                <a:gd name="connsiteY0" fmla="*/ 2989 h 296094"/>
                <a:gd name="connsiteX1" fmla="*/ 174477 w 271420"/>
                <a:gd name="connsiteY1" fmla="*/ 296615 h 296094"/>
                <a:gd name="connsiteX2" fmla="*/ 270708 w 271420"/>
                <a:gd name="connsiteY2" fmla="*/ 296615 h 296094"/>
                <a:gd name="connsiteX3" fmla="*/ 101687 w 271420"/>
                <a:gd name="connsiteY3" fmla="*/ 2989 h 296094"/>
              </a:gdLst>
              <a:ahLst/>
              <a:cxnLst>
                <a:cxn ang="0">
                  <a:pos x="connsiteX0" y="connsiteY0"/>
                </a:cxn>
                <a:cxn ang="0">
                  <a:pos x="connsiteX1" y="connsiteY1"/>
                </a:cxn>
                <a:cxn ang="0">
                  <a:pos x="connsiteX2" y="connsiteY2"/>
                </a:cxn>
                <a:cxn ang="0">
                  <a:pos x="connsiteX3" y="connsiteY3"/>
                </a:cxn>
              </a:cxnLst>
              <a:rect l="l" t="t" r="r" b="b"/>
              <a:pathLst>
                <a:path w="271420" h="296094">
                  <a:moveTo>
                    <a:pt x="2989" y="2989"/>
                  </a:moveTo>
                  <a:lnTo>
                    <a:pt x="174477" y="296615"/>
                  </a:lnTo>
                  <a:lnTo>
                    <a:pt x="270708" y="296615"/>
                  </a:lnTo>
                  <a:lnTo>
                    <a:pt x="101687" y="2989"/>
                  </a:lnTo>
                  <a:close/>
                </a:path>
              </a:pathLst>
            </a:custGeom>
            <a:solidFill>
              <a:schemeClr val="tx2"/>
            </a:solidFill>
            <a:ln w="6153" cap="flat">
              <a:noFill/>
              <a:prstDash val="solid"/>
              <a:miter/>
            </a:ln>
          </p:spPr>
          <p:txBody>
            <a:bodyPr rtlCol="0" anchor="ctr"/>
            <a:lstStyle/>
            <a:p>
              <a:endParaRPr lang="en-US" noProof="0"/>
            </a:p>
          </p:txBody>
        </p:sp>
        <p:sp>
          <p:nvSpPr>
            <p:cNvPr id="22" name="Voľný tvar: obrazec 21">
              <a:extLst>
                <a:ext uri="{FF2B5EF4-FFF2-40B4-BE49-F238E27FC236}">
                  <a16:creationId xmlns:a16="http://schemas.microsoft.com/office/drawing/2014/main" id="{D84B0380-7340-47C5-8558-22CC34B7A29D}"/>
                </a:ext>
              </a:extLst>
            </p:cNvPr>
            <p:cNvSpPr/>
            <p:nvPr/>
          </p:nvSpPr>
          <p:spPr>
            <a:xfrm>
              <a:off x="2744022" y="6541214"/>
              <a:ext cx="104867" cy="148047"/>
            </a:xfrm>
            <a:custGeom>
              <a:avLst/>
              <a:gdLst>
                <a:gd name="connsiteX0" fmla="*/ 4626 w 104866"/>
                <a:gd name="connsiteY0" fmla="*/ 143421 h 148047"/>
                <a:gd name="connsiteX1" fmla="*/ 16964 w 104866"/>
                <a:gd name="connsiteY1" fmla="*/ 4626 h 148047"/>
                <a:gd name="connsiteX2" fmla="*/ 101474 w 104866"/>
                <a:gd name="connsiteY2" fmla="*/ 4626 h 148047"/>
                <a:gd name="connsiteX3" fmla="*/ 91604 w 104866"/>
                <a:gd name="connsiteY3" fmla="*/ 102708 h 148047"/>
                <a:gd name="connsiteX4" fmla="*/ 4626 w 104866"/>
                <a:gd name="connsiteY4" fmla="*/ 143421 h 148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66" h="148047">
                  <a:moveTo>
                    <a:pt x="4626" y="143421"/>
                  </a:moveTo>
                  <a:lnTo>
                    <a:pt x="16964" y="4626"/>
                  </a:lnTo>
                  <a:lnTo>
                    <a:pt x="101474" y="4626"/>
                  </a:lnTo>
                  <a:lnTo>
                    <a:pt x="91604" y="102708"/>
                  </a:lnTo>
                  <a:cubicBezTo>
                    <a:pt x="90988" y="102708"/>
                    <a:pt x="70014" y="131083"/>
                    <a:pt x="4626" y="143421"/>
                  </a:cubicBezTo>
                </a:path>
              </a:pathLst>
            </a:custGeom>
            <a:solidFill>
              <a:schemeClr val="tx2"/>
            </a:solidFill>
            <a:ln w="9525" cap="flat">
              <a:noFill/>
              <a:prstDash val="solid"/>
              <a:miter/>
            </a:ln>
          </p:spPr>
          <p:txBody>
            <a:bodyPr rtlCol="0" anchor="ctr"/>
            <a:lstStyle/>
            <a:p>
              <a:endParaRPr lang="en-US" noProof="0"/>
            </a:p>
          </p:txBody>
        </p:sp>
        <p:sp>
          <p:nvSpPr>
            <p:cNvPr id="23" name="Voľný tvar: obrazec 22">
              <a:extLst>
                <a:ext uri="{FF2B5EF4-FFF2-40B4-BE49-F238E27FC236}">
                  <a16:creationId xmlns:a16="http://schemas.microsoft.com/office/drawing/2014/main" id="{C821FC7D-775A-43AC-B95D-153712422F21}"/>
                </a:ext>
              </a:extLst>
            </p:cNvPr>
            <p:cNvSpPr/>
            <p:nvPr/>
          </p:nvSpPr>
          <p:spPr>
            <a:xfrm>
              <a:off x="2560197" y="6696663"/>
              <a:ext cx="104867" cy="148047"/>
            </a:xfrm>
            <a:custGeom>
              <a:avLst/>
              <a:gdLst>
                <a:gd name="connsiteX0" fmla="*/ 100857 w 104866"/>
                <a:gd name="connsiteY0" fmla="*/ 4626 h 148047"/>
                <a:gd name="connsiteX1" fmla="*/ 88520 w 104866"/>
                <a:gd name="connsiteY1" fmla="*/ 143421 h 148047"/>
                <a:gd name="connsiteX2" fmla="*/ 4626 w 104866"/>
                <a:gd name="connsiteY2" fmla="*/ 143421 h 148047"/>
                <a:gd name="connsiteX3" fmla="*/ 14496 w 104866"/>
                <a:gd name="connsiteY3" fmla="*/ 45339 h 148047"/>
                <a:gd name="connsiteX4" fmla="*/ 100857 w 104866"/>
                <a:gd name="connsiteY4" fmla="*/ 4626 h 148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66" h="148047">
                  <a:moveTo>
                    <a:pt x="100857" y="4626"/>
                  </a:moveTo>
                  <a:lnTo>
                    <a:pt x="88520" y="143421"/>
                  </a:lnTo>
                  <a:lnTo>
                    <a:pt x="4626" y="143421"/>
                  </a:lnTo>
                  <a:lnTo>
                    <a:pt x="14496" y="45339"/>
                  </a:lnTo>
                  <a:cubicBezTo>
                    <a:pt x="14496" y="45339"/>
                    <a:pt x="36087" y="16347"/>
                    <a:pt x="100857" y="4626"/>
                  </a:cubicBezTo>
                </a:path>
              </a:pathLst>
            </a:custGeom>
            <a:solidFill>
              <a:schemeClr val="tx2"/>
            </a:solidFill>
            <a:ln w="9525" cap="flat">
              <a:noFill/>
              <a:prstDash val="solid"/>
              <a:miter/>
            </a:ln>
          </p:spPr>
          <p:txBody>
            <a:bodyPr rtlCol="0" anchor="ctr"/>
            <a:lstStyle/>
            <a:p>
              <a:endParaRPr lang="en-US" noProof="0"/>
            </a:p>
          </p:txBody>
        </p:sp>
      </p:grpSp>
      <p:sp>
        <p:nvSpPr>
          <p:cNvPr id="4" name="Zástupný objekt pre obrázok 3">
            <a:extLst>
              <a:ext uri="{FF2B5EF4-FFF2-40B4-BE49-F238E27FC236}">
                <a16:creationId xmlns:a16="http://schemas.microsoft.com/office/drawing/2014/main" id="{0B46B9F0-979E-4F27-A7F5-4F93EA515530}"/>
              </a:ext>
            </a:extLst>
          </p:cNvPr>
          <p:cNvSpPr>
            <a:spLocks noGrp="1"/>
          </p:cNvSpPr>
          <p:nvPr>
            <p:ph type="pic" sz="quarter" idx="18"/>
          </p:nvPr>
        </p:nvSpPr>
        <p:spPr>
          <a:xfrm>
            <a:off x="7564438" y="1641474"/>
            <a:ext cx="4627562" cy="2909743"/>
          </a:xfrm>
          <a:prstGeom prst="rect">
            <a:avLst/>
          </a:prstGeom>
        </p:spPr>
        <p:txBody>
          <a:bodyPr/>
          <a:lstStyle>
            <a:lvl1pPr>
              <a:defRPr sz="1200"/>
            </a:lvl1pPr>
          </a:lstStyle>
          <a:p>
            <a:r>
              <a:rPr lang="cs-CZ" noProof="0"/>
              <a:t>Kliknutím na ikonu přidáte obrázek.</a:t>
            </a:r>
            <a:endParaRPr lang="en-US" noProof="0"/>
          </a:p>
        </p:txBody>
      </p:sp>
      <p:sp>
        <p:nvSpPr>
          <p:cNvPr id="6" name="Zástupný objekt pre text 5">
            <a:extLst>
              <a:ext uri="{FF2B5EF4-FFF2-40B4-BE49-F238E27FC236}">
                <a16:creationId xmlns:a16="http://schemas.microsoft.com/office/drawing/2014/main" id="{3CBC49DD-7833-4745-9384-9184589FAC91}"/>
              </a:ext>
            </a:extLst>
          </p:cNvPr>
          <p:cNvSpPr>
            <a:spLocks noGrp="1"/>
          </p:cNvSpPr>
          <p:nvPr>
            <p:ph type="body" sz="quarter" idx="19"/>
          </p:nvPr>
        </p:nvSpPr>
        <p:spPr>
          <a:xfrm>
            <a:off x="7491701" y="4602594"/>
            <a:ext cx="4249737" cy="915265"/>
          </a:xfrm>
          <a:prstGeom prst="rect">
            <a:avLst/>
          </a:prstGeom>
        </p:spPr>
        <p:txBody>
          <a:bodyPr/>
          <a:lstStyle>
            <a:lvl1pPr marL="0" indent="0" algn="l">
              <a:lnSpc>
                <a:spcPct val="100000"/>
              </a:lnSpc>
              <a:spcBef>
                <a:spcPts val="0"/>
              </a:spcBef>
              <a:buFont typeface="Arial" panose="020B0604020202020204" pitchFamily="34" charset="0"/>
              <a:buNone/>
              <a:defRPr sz="1200">
                <a:solidFill>
                  <a:schemeClr val="tx1">
                    <a:lumMod val="75000"/>
                    <a:lumOff val="25000"/>
                  </a:schemeClr>
                </a:solidFill>
              </a:defRPr>
            </a:lvl1pPr>
            <a:lvl2pPr marL="457200" indent="0" algn="l">
              <a:buFont typeface="Arial" panose="020B0604020202020204" pitchFamily="34" charset="0"/>
              <a:buNone/>
              <a:defRPr sz="1200">
                <a:solidFill>
                  <a:schemeClr val="tx1">
                    <a:lumMod val="50000"/>
                    <a:lumOff val="50000"/>
                  </a:schemeClr>
                </a:solidFill>
              </a:defRPr>
            </a:lvl2pPr>
            <a:lvl3pPr marL="914400" indent="0" algn="l">
              <a:buFont typeface="Arial" panose="020B0604020202020204" pitchFamily="34" charset="0"/>
              <a:buNone/>
              <a:defRPr sz="1200">
                <a:solidFill>
                  <a:schemeClr val="tx1">
                    <a:lumMod val="50000"/>
                    <a:lumOff val="50000"/>
                  </a:schemeClr>
                </a:solidFill>
              </a:defRPr>
            </a:lvl3pPr>
            <a:lvl4pPr marL="1371600" indent="0" algn="l">
              <a:buFont typeface="Arial" panose="020B0604020202020204" pitchFamily="34" charset="0"/>
              <a:buNone/>
              <a:defRPr sz="1200">
                <a:solidFill>
                  <a:schemeClr val="tx1">
                    <a:lumMod val="50000"/>
                    <a:lumOff val="50000"/>
                  </a:schemeClr>
                </a:solidFill>
              </a:defRPr>
            </a:lvl4pPr>
            <a:lvl5pPr marL="1828800" indent="0" algn="l">
              <a:buFont typeface="Arial" panose="020B0604020202020204" pitchFamily="34" charset="0"/>
              <a:buNone/>
              <a:defRPr sz="1200">
                <a:solidFill>
                  <a:schemeClr val="tx1">
                    <a:lumMod val="50000"/>
                    <a:lumOff val="50000"/>
                  </a:schemeClr>
                </a:solidFill>
              </a:defRPr>
            </a:lvl5pPr>
          </a:lstStyle>
          <a:p>
            <a:pPr lvl="0"/>
            <a:r>
              <a:rPr lang="cs-CZ" noProof="0"/>
              <a:t>Upravte styly předlohy textu.</a:t>
            </a:r>
          </a:p>
        </p:txBody>
      </p:sp>
      <p:sp>
        <p:nvSpPr>
          <p:cNvPr id="24" name="Zástupný objekt pre text 14">
            <a:extLst>
              <a:ext uri="{FF2B5EF4-FFF2-40B4-BE49-F238E27FC236}">
                <a16:creationId xmlns:a16="http://schemas.microsoft.com/office/drawing/2014/main" id="{BB7DFF39-0DEB-46C0-A579-54E2AA8A288B}"/>
              </a:ext>
            </a:extLst>
          </p:cNvPr>
          <p:cNvSpPr>
            <a:spLocks noGrp="1"/>
          </p:cNvSpPr>
          <p:nvPr>
            <p:ph type="body" sz="quarter" idx="15" hasCustomPrompt="1"/>
          </p:nvPr>
        </p:nvSpPr>
        <p:spPr>
          <a:xfrm>
            <a:off x="8672947" y="6431973"/>
            <a:ext cx="3089564" cy="207818"/>
          </a:xfrm>
          <a:prstGeom prst="rect">
            <a:avLst/>
          </a:prstGeom>
        </p:spPr>
        <p:txBody>
          <a:bodyPr/>
          <a:lstStyle>
            <a:lvl1pPr algn="r">
              <a:defRPr sz="950" b="0">
                <a:solidFill>
                  <a:schemeClr val="bg1">
                    <a:lumMod val="50000"/>
                  </a:schemeClr>
                </a:solidFill>
              </a:defRPr>
            </a:lvl1pPr>
            <a:lvl2pPr>
              <a:defRPr sz="950" b="0">
                <a:solidFill>
                  <a:schemeClr val="bg1">
                    <a:lumMod val="50000"/>
                  </a:schemeClr>
                </a:solidFill>
              </a:defRPr>
            </a:lvl2pPr>
            <a:lvl3pPr>
              <a:defRPr sz="950" b="0">
                <a:solidFill>
                  <a:schemeClr val="bg1">
                    <a:lumMod val="50000"/>
                  </a:schemeClr>
                </a:solidFill>
              </a:defRPr>
            </a:lvl3pPr>
            <a:lvl4pPr>
              <a:defRPr sz="950" b="0">
                <a:solidFill>
                  <a:schemeClr val="bg1">
                    <a:lumMod val="50000"/>
                  </a:schemeClr>
                </a:solidFill>
              </a:defRPr>
            </a:lvl4pPr>
            <a:lvl5pPr>
              <a:defRPr sz="950" b="0">
                <a:solidFill>
                  <a:schemeClr val="bg1">
                    <a:lumMod val="50000"/>
                  </a:schemeClr>
                </a:solidFill>
              </a:defRPr>
            </a:lvl5pPr>
          </a:lstStyle>
          <a:p>
            <a:pPr lvl="0"/>
            <a:r>
              <a:rPr lang="en-US" noProof="0"/>
              <a:t>Název prezentace (volitelně)</a:t>
            </a:r>
          </a:p>
        </p:txBody>
      </p:sp>
      <p:sp>
        <p:nvSpPr>
          <p:cNvPr id="25" name="BlokTextu 24">
            <a:extLst>
              <a:ext uri="{FF2B5EF4-FFF2-40B4-BE49-F238E27FC236}">
                <a16:creationId xmlns:a16="http://schemas.microsoft.com/office/drawing/2014/main" id="{8012F7DE-8119-428C-8295-0F378A053369}"/>
              </a:ext>
            </a:extLst>
          </p:cNvPr>
          <p:cNvSpPr txBox="1"/>
          <p:nvPr/>
        </p:nvSpPr>
        <p:spPr>
          <a:xfrm>
            <a:off x="11853949" y="6431973"/>
            <a:ext cx="338051" cy="207818"/>
          </a:xfrm>
          <a:prstGeom prst="rect">
            <a:avLst/>
          </a:prstGeom>
        </p:spPr>
        <p:txBody>
          <a:bodyPr vert="horz" wrap="square" lIns="0" tIns="45720" rIns="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fld id="{B0E1C688-2A94-4C23-89D7-1BDBDDABE19E}" type="slidenum">
              <a:rPr lang="en-US" sz="950" b="0" kern="1200" noProof="0" smtClean="0">
                <a:solidFill>
                  <a:schemeClr val="bg1">
                    <a:lumMod val="50000"/>
                  </a:schemeClr>
                </a:solidFill>
                <a:latin typeface="+mn-lt"/>
                <a:ea typeface="+mn-ea"/>
                <a:cs typeface="+mn-cs"/>
              </a:rPr>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t>‹#›</a:t>
            </a:fld>
            <a:endParaRPr lang="en-US" sz="950" b="0" kern="1200" noProof="0">
              <a:solidFill>
                <a:schemeClr val="bg1">
                  <a:lumMod val="50000"/>
                </a:schemeClr>
              </a:solidFill>
              <a:latin typeface="+mn-lt"/>
              <a:ea typeface="+mn-ea"/>
              <a:cs typeface="+mn-cs"/>
            </a:endParaRPr>
          </a:p>
        </p:txBody>
      </p:sp>
      <p:sp>
        <p:nvSpPr>
          <p:cNvPr id="18" name="Zástupný objekt pre text 2">
            <a:extLst>
              <a:ext uri="{FF2B5EF4-FFF2-40B4-BE49-F238E27FC236}">
                <a16:creationId xmlns:a16="http://schemas.microsoft.com/office/drawing/2014/main" id="{18838435-B0B4-404B-AAC6-847593C6E467}"/>
              </a:ext>
            </a:extLst>
          </p:cNvPr>
          <p:cNvSpPr>
            <a:spLocks noGrp="1"/>
          </p:cNvSpPr>
          <p:nvPr>
            <p:ph type="body" sz="quarter" idx="21" hasCustomPrompt="1"/>
          </p:nvPr>
        </p:nvSpPr>
        <p:spPr>
          <a:xfrm>
            <a:off x="893620" y="1341784"/>
            <a:ext cx="4768850" cy="4621694"/>
          </a:xfrm>
          <a:prstGeom prst="rect">
            <a:avLst/>
          </a:prstGeom>
        </p:spPr>
        <p:txBody>
          <a:bodyPr lIns="90000" tIns="46800" rIns="90000" bIns="46800"/>
          <a:lstStyle>
            <a:lvl1pPr marL="0" indent="0" algn="l">
              <a:lnSpc>
                <a:spcPct val="120000"/>
              </a:lnSpc>
              <a:spcBef>
                <a:spcPts val="0"/>
              </a:spcBef>
              <a:buFont typeface="Arial" panose="020B0604020202020204" pitchFamily="34" charset="0"/>
              <a:buNone/>
              <a:defRPr sz="1800" b="0">
                <a:solidFill>
                  <a:schemeClr val="tx1"/>
                </a:solidFill>
              </a:defRPr>
            </a:lvl1pPr>
            <a:lvl2pPr marL="457200" indent="0" algn="l">
              <a:lnSpc>
                <a:spcPct val="120000"/>
              </a:lnSpc>
              <a:spcBef>
                <a:spcPts val="0"/>
              </a:spcBef>
              <a:buFont typeface="Arial" panose="020B0604020202020204" pitchFamily="34" charset="0"/>
              <a:buNone/>
              <a:defRPr sz="1800" b="0">
                <a:solidFill>
                  <a:schemeClr val="tx1"/>
                </a:solidFill>
              </a:defRPr>
            </a:lvl2pPr>
            <a:lvl3pPr marL="914400" indent="0" algn="l">
              <a:lnSpc>
                <a:spcPct val="120000"/>
              </a:lnSpc>
              <a:spcBef>
                <a:spcPts val="0"/>
              </a:spcBef>
              <a:buFont typeface="Arial" panose="020B0604020202020204" pitchFamily="34" charset="0"/>
              <a:buNone/>
              <a:defRPr sz="1800" b="0">
                <a:solidFill>
                  <a:schemeClr val="tx1"/>
                </a:solidFill>
              </a:defRPr>
            </a:lvl3pPr>
            <a:lvl4pPr marL="1371600" indent="0" algn="l">
              <a:buFont typeface="Arial" panose="020B0604020202020204" pitchFamily="34" charset="0"/>
              <a:buNone/>
              <a:defRPr sz="1800" b="0">
                <a:solidFill>
                  <a:schemeClr val="tx1"/>
                </a:solidFill>
              </a:defRPr>
            </a:lvl4pPr>
            <a:lvl5pPr marL="1828800" indent="0" algn="l">
              <a:buFont typeface="Arial" panose="020B0604020202020204" pitchFamily="34" charset="0"/>
              <a:buNone/>
              <a:defRPr sz="1800" b="0">
                <a:solidFill>
                  <a:schemeClr val="tx1"/>
                </a:solidFill>
              </a:defRPr>
            </a:lvl5pPr>
          </a:lstStyle>
          <a:p>
            <a:pPr lvl="0"/>
            <a:r>
              <a:rPr lang="sk-SK" dirty="0" err="1"/>
              <a:t>Sample</a:t>
            </a:r>
            <a:r>
              <a:rPr lang="sk-SK" dirty="0"/>
              <a:t> text bla-</a:t>
            </a:r>
            <a:r>
              <a:rPr lang="sk-SK" dirty="0" err="1"/>
              <a:t>blah</a:t>
            </a:r>
            <a:r>
              <a:rPr lang="sk-SK" dirty="0"/>
              <a:t>, a formula </a:t>
            </a:r>
            <a:r>
              <a:rPr lang="sk-SK" dirty="0" err="1"/>
              <a:t>used</a:t>
            </a:r>
            <a:r>
              <a:rPr lang="sk-SK" dirty="0"/>
              <a:t> in </a:t>
            </a:r>
            <a:r>
              <a:rPr lang="sk-SK" dirty="0" err="1"/>
              <a:t>dictation</a:t>
            </a:r>
            <a:r>
              <a:rPr lang="sk-SK" dirty="0"/>
              <a:t> to </a:t>
            </a:r>
            <a:r>
              <a:rPr lang="sk-SK" dirty="0" err="1"/>
              <a:t>introduce</a:t>
            </a:r>
            <a:r>
              <a:rPr lang="sk-SK" dirty="0"/>
              <a:t> and </a:t>
            </a:r>
            <a:r>
              <a:rPr lang="sk-SK" dirty="0" err="1"/>
              <a:t>terminate</a:t>
            </a:r>
            <a:r>
              <a:rPr lang="sk-SK" dirty="0"/>
              <a:t> a </a:t>
            </a:r>
            <a:r>
              <a:rPr lang="sk-SK" dirty="0" err="1"/>
              <a:t>quotation</a:t>
            </a:r>
            <a:r>
              <a:rPr lang="sk-SK" dirty="0"/>
              <a:t> BCMA. </a:t>
            </a:r>
            <a:r>
              <a:rPr lang="sk-SK" dirty="0" err="1"/>
              <a:t>Introducing</a:t>
            </a:r>
            <a:r>
              <a:rPr lang="sk-SK" dirty="0"/>
              <a:t> and </a:t>
            </a:r>
            <a:r>
              <a:rPr lang="sk-SK" dirty="0" err="1"/>
              <a:t>terminating</a:t>
            </a:r>
            <a:r>
              <a:rPr lang="sk-SK" dirty="0"/>
              <a:t> </a:t>
            </a:r>
            <a:r>
              <a:rPr lang="sk-SK" dirty="0" err="1"/>
              <a:t>words</a:t>
            </a:r>
            <a:r>
              <a:rPr lang="sk-SK" dirty="0"/>
              <a:t> </a:t>
            </a:r>
            <a:r>
              <a:rPr lang="sk-SK" dirty="0" err="1"/>
              <a:t>quoted</a:t>
            </a:r>
            <a:r>
              <a:rPr lang="sk-SK" dirty="0"/>
              <a:t>. 2015 </a:t>
            </a:r>
            <a:r>
              <a:rPr lang="sk-SK" dirty="0" err="1"/>
              <a:t>Excepteur</a:t>
            </a:r>
            <a:r>
              <a:rPr lang="sk-SK" dirty="0"/>
              <a:t> </a:t>
            </a:r>
            <a:r>
              <a:rPr lang="sk-SK" dirty="0" err="1"/>
              <a:t>sint</a:t>
            </a:r>
            <a:r>
              <a:rPr lang="sk-SK" dirty="0"/>
              <a:t> </a:t>
            </a:r>
            <a:r>
              <a:rPr lang="sk-SK" dirty="0" err="1"/>
              <a:t>occaecat</a:t>
            </a:r>
            <a:r>
              <a:rPr lang="sk-SK" dirty="0"/>
              <a:t> </a:t>
            </a:r>
            <a:r>
              <a:rPr lang="sk-SK" dirty="0" err="1"/>
              <a:t>cupidatat</a:t>
            </a:r>
            <a:r>
              <a:rPr lang="sk-SK" dirty="0"/>
              <a:t> </a:t>
            </a:r>
            <a:r>
              <a:rPr lang="sk-SK" dirty="0" err="1"/>
              <a:t>non</a:t>
            </a:r>
            <a:r>
              <a:rPr lang="sk-SK" dirty="0"/>
              <a:t> </a:t>
            </a:r>
            <a:r>
              <a:rPr lang="sk-SK" dirty="0" err="1"/>
              <a:t>proident</a:t>
            </a:r>
            <a:r>
              <a:rPr lang="sk-SK" dirty="0"/>
              <a:t>, </a:t>
            </a:r>
            <a:r>
              <a:rPr lang="sk-SK" dirty="0" err="1"/>
              <a:t>sunt</a:t>
            </a:r>
            <a:r>
              <a:rPr lang="sk-SK" dirty="0"/>
              <a:t> X3R in </a:t>
            </a:r>
            <a:r>
              <a:rPr lang="sk-SK" dirty="0" err="1"/>
              <a:t>culpa</a:t>
            </a:r>
            <a:r>
              <a:rPr lang="sk-SK" dirty="0"/>
              <a:t> </a:t>
            </a:r>
            <a:r>
              <a:rPr lang="sk-SK" dirty="0" err="1"/>
              <a:t>qui</a:t>
            </a:r>
            <a:r>
              <a:rPr lang="sk-SK" dirty="0"/>
              <a:t> </a:t>
            </a:r>
            <a:r>
              <a:rPr lang="sk-SK" dirty="0" err="1"/>
              <a:t>officia</a:t>
            </a:r>
            <a:r>
              <a:rPr lang="sk-SK" dirty="0"/>
              <a:t> </a:t>
            </a:r>
            <a:r>
              <a:rPr lang="sk-SK" dirty="0" err="1"/>
              <a:t>deserunt</a:t>
            </a:r>
            <a:r>
              <a:rPr lang="sk-SK" dirty="0"/>
              <a:t> </a:t>
            </a:r>
            <a:r>
              <a:rPr lang="sk-SK" dirty="0" err="1"/>
              <a:t>mollit</a:t>
            </a:r>
            <a:r>
              <a:rPr lang="sk-SK" dirty="0"/>
              <a:t> </a:t>
            </a:r>
            <a:r>
              <a:rPr lang="sk-SK" dirty="0" err="1"/>
              <a:t>anim</a:t>
            </a:r>
            <a:r>
              <a:rPr lang="sk-SK" dirty="0"/>
              <a:t> id </a:t>
            </a:r>
            <a:r>
              <a:rPr lang="sk-SK" dirty="0" err="1"/>
              <a:t>est</a:t>
            </a:r>
            <a:r>
              <a:rPr lang="sk-SK" dirty="0"/>
              <a:t> laborum.2017 </a:t>
            </a:r>
            <a:r>
              <a:rPr lang="sk-SK" dirty="0" err="1"/>
              <a:t>Duis</a:t>
            </a:r>
            <a:r>
              <a:rPr lang="sk-SK" dirty="0"/>
              <a:t> aute </a:t>
            </a:r>
            <a:r>
              <a:rPr lang="sk-SK" dirty="0" err="1"/>
              <a:t>irure</a:t>
            </a:r>
            <a:r>
              <a:rPr lang="sk-SK" dirty="0"/>
              <a:t> </a:t>
            </a:r>
            <a:r>
              <a:rPr lang="sk-SK" dirty="0" err="1"/>
              <a:t>dolor</a:t>
            </a:r>
            <a:r>
              <a:rPr lang="sk-SK" dirty="0"/>
              <a:t> in </a:t>
            </a:r>
            <a:r>
              <a:rPr lang="sk-SK" dirty="0" err="1"/>
              <a:t>reprehenderit</a:t>
            </a:r>
            <a:r>
              <a:rPr lang="sk-SK" dirty="0"/>
              <a:t> in </a:t>
            </a:r>
            <a:r>
              <a:rPr lang="sk-SK" dirty="0" err="1"/>
              <a:t>voluptate</a:t>
            </a:r>
            <a:r>
              <a:rPr lang="sk-SK" dirty="0"/>
              <a:t> </a:t>
            </a:r>
            <a:r>
              <a:rPr lang="sk-SK" dirty="0" err="1"/>
              <a:t>velit</a:t>
            </a:r>
            <a:r>
              <a:rPr lang="sk-SK" dirty="0"/>
              <a:t> </a:t>
            </a:r>
            <a:r>
              <a:rPr lang="sk-SK" dirty="0" err="1"/>
              <a:t>esse</a:t>
            </a:r>
            <a:r>
              <a:rPr lang="sk-SK" dirty="0"/>
              <a:t> </a:t>
            </a:r>
            <a:r>
              <a:rPr lang="sk-SK" dirty="0" err="1"/>
              <a:t>cillum</a:t>
            </a:r>
            <a:r>
              <a:rPr lang="sk-SK" dirty="0"/>
              <a:t> </a:t>
            </a:r>
            <a:r>
              <a:rPr lang="sk-SK" dirty="0" err="1"/>
              <a:t>dolore</a:t>
            </a:r>
            <a:r>
              <a:rPr lang="sk-SK" dirty="0"/>
              <a:t> </a:t>
            </a:r>
            <a:r>
              <a:rPr lang="sk-SK" dirty="0" err="1"/>
              <a:t>eu</a:t>
            </a:r>
            <a:r>
              <a:rPr lang="sk-SK" dirty="0"/>
              <a:t> </a:t>
            </a:r>
            <a:r>
              <a:rPr lang="sk-SK" dirty="0" err="1"/>
              <a:t>fugiat</a:t>
            </a:r>
            <a:r>
              <a:rPr lang="sk-SK" dirty="0"/>
              <a:t> </a:t>
            </a:r>
            <a:r>
              <a:rPr lang="sk-SK" dirty="0" err="1"/>
              <a:t>nulla</a:t>
            </a:r>
            <a:r>
              <a:rPr lang="sk-SK" dirty="0"/>
              <a:t> </a:t>
            </a:r>
            <a:r>
              <a:rPr lang="sk-SK" dirty="0" err="1"/>
              <a:t>pariatur</a:t>
            </a:r>
            <a:r>
              <a:rPr lang="sk-SK" dirty="0"/>
              <a:t>.</a:t>
            </a:r>
          </a:p>
        </p:txBody>
      </p:sp>
    </p:spTree>
    <p:extLst>
      <p:ext uri="{BB962C8B-B14F-4D97-AF65-F5344CB8AC3E}">
        <p14:creationId xmlns:p14="http://schemas.microsoft.com/office/powerpoint/2010/main" val="41514118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_LeftText_2">
    <p:bg>
      <p:bgPr>
        <a:solidFill>
          <a:schemeClr val="bg1"/>
        </a:solidFill>
        <a:effectLst/>
      </p:bgPr>
    </p:bg>
    <p:spTree>
      <p:nvGrpSpPr>
        <p:cNvPr id="1" name=""/>
        <p:cNvGrpSpPr/>
        <p:nvPr/>
      </p:nvGrpSpPr>
      <p:grpSpPr>
        <a:xfrm>
          <a:off x="0" y="0"/>
          <a:ext cx="0" cy="0"/>
          <a:chOff x="0" y="0"/>
          <a:chExt cx="0" cy="0"/>
        </a:xfrm>
      </p:grpSpPr>
      <p:sp>
        <p:nvSpPr>
          <p:cNvPr id="14" name="Zástupný objekt pre text 13">
            <a:extLst>
              <a:ext uri="{FF2B5EF4-FFF2-40B4-BE49-F238E27FC236}">
                <a16:creationId xmlns:a16="http://schemas.microsoft.com/office/drawing/2014/main" id="{ACA22D96-AB45-4340-BC17-743ADAFD8AC1}"/>
              </a:ext>
            </a:extLst>
          </p:cNvPr>
          <p:cNvSpPr>
            <a:spLocks noGrp="1"/>
          </p:cNvSpPr>
          <p:nvPr>
            <p:ph type="body" sz="quarter" idx="17"/>
          </p:nvPr>
        </p:nvSpPr>
        <p:spPr>
          <a:xfrm>
            <a:off x="893619" y="405245"/>
            <a:ext cx="4768850" cy="831273"/>
          </a:xfrm>
          <a:prstGeom prst="rect">
            <a:avLst/>
          </a:prstGeom>
        </p:spPr>
        <p:txBody>
          <a:bodyPr/>
          <a:lstStyle>
            <a:lvl1pPr marL="0" indent="0" algn="l">
              <a:buFont typeface="Arial" panose="020B0604020202020204" pitchFamily="34" charset="0"/>
              <a:buNone/>
              <a:defRPr lang="sk-SK" sz="2400" dirty="0">
                <a:solidFill>
                  <a:schemeClr val="tx1"/>
                </a:solidFill>
              </a:defRPr>
            </a:lvl1pPr>
            <a:lvl2pPr marL="457200" indent="0" algn="l">
              <a:buFont typeface="Arial" panose="020B0604020202020204" pitchFamily="34" charset="0"/>
              <a:buNone/>
              <a:defRPr sz="2400">
                <a:solidFill>
                  <a:schemeClr val="tx1"/>
                </a:solidFill>
              </a:defRPr>
            </a:lvl2pPr>
            <a:lvl3pPr marL="914400" indent="0" algn="l">
              <a:buFont typeface="Arial" panose="020B0604020202020204" pitchFamily="34" charset="0"/>
              <a:buNone/>
              <a:defRPr sz="2400">
                <a:solidFill>
                  <a:schemeClr val="tx1"/>
                </a:solidFill>
              </a:defRPr>
            </a:lvl3pPr>
            <a:lvl4pPr marL="1371600" indent="0" algn="l">
              <a:buFont typeface="Arial" panose="020B0604020202020204" pitchFamily="34" charset="0"/>
              <a:buNone/>
              <a:defRPr sz="2400">
                <a:solidFill>
                  <a:schemeClr val="tx1"/>
                </a:solidFill>
              </a:defRPr>
            </a:lvl4pPr>
            <a:lvl5pPr marL="1828800" indent="0" algn="l">
              <a:buFont typeface="Arial" panose="020B0604020202020204" pitchFamily="34" charset="0"/>
              <a:buNone/>
              <a:defRPr sz="2400">
                <a:solidFill>
                  <a:schemeClr val="tx1"/>
                </a:solidFill>
              </a:defRPr>
            </a:lvl5pPr>
          </a:lstStyle>
          <a:p>
            <a:pPr lvl="0"/>
            <a:r>
              <a:rPr lang="cs-CZ" noProof="0"/>
              <a:t>Upravte styly předlohy textu.</a:t>
            </a:r>
          </a:p>
        </p:txBody>
      </p:sp>
      <p:sp>
        <p:nvSpPr>
          <p:cNvPr id="11" name="Zástupný objekt pre text 13">
            <a:extLst>
              <a:ext uri="{FF2B5EF4-FFF2-40B4-BE49-F238E27FC236}">
                <a16:creationId xmlns:a16="http://schemas.microsoft.com/office/drawing/2014/main" id="{5A6B9A21-4072-4B5E-82A4-A84DA82F4CAA}"/>
              </a:ext>
            </a:extLst>
          </p:cNvPr>
          <p:cNvSpPr>
            <a:spLocks noGrp="1"/>
          </p:cNvSpPr>
          <p:nvPr>
            <p:ph type="body" sz="quarter" idx="19" hasCustomPrompt="1"/>
          </p:nvPr>
        </p:nvSpPr>
        <p:spPr>
          <a:xfrm>
            <a:off x="893619" y="1569026"/>
            <a:ext cx="4768850" cy="831273"/>
          </a:xfrm>
          <a:prstGeom prst="rect">
            <a:avLst/>
          </a:prstGeom>
        </p:spPr>
        <p:txBody>
          <a:bodyPr/>
          <a:lstStyle>
            <a:lvl1pPr marL="0" indent="0" algn="l">
              <a:buFont typeface="Arial" panose="020B0604020202020204" pitchFamily="34" charset="0"/>
              <a:buNone/>
              <a:defRPr lang="sk-SK" sz="3000" dirty="0">
                <a:solidFill>
                  <a:schemeClr val="tx1"/>
                </a:solidFill>
              </a:defRPr>
            </a:lvl1pPr>
            <a:lvl2pPr marL="457200" indent="0" algn="l">
              <a:buFont typeface="Arial" panose="020B0604020202020204" pitchFamily="34" charset="0"/>
              <a:buNone/>
              <a:defRPr sz="2400">
                <a:solidFill>
                  <a:schemeClr val="tx1"/>
                </a:solidFill>
              </a:defRPr>
            </a:lvl2pPr>
            <a:lvl3pPr marL="914400" indent="0" algn="l">
              <a:buFont typeface="Arial" panose="020B0604020202020204" pitchFamily="34" charset="0"/>
              <a:buNone/>
              <a:defRPr sz="2400">
                <a:solidFill>
                  <a:schemeClr val="tx1"/>
                </a:solidFill>
              </a:defRPr>
            </a:lvl3pPr>
            <a:lvl4pPr marL="1371600" indent="0" algn="l">
              <a:buFont typeface="Arial" panose="020B0604020202020204" pitchFamily="34" charset="0"/>
              <a:buNone/>
              <a:defRPr sz="2400">
                <a:solidFill>
                  <a:schemeClr val="tx1"/>
                </a:solidFill>
              </a:defRPr>
            </a:lvl4pPr>
            <a:lvl5pPr marL="1828800" indent="0" algn="l">
              <a:buFont typeface="Arial" panose="020B0604020202020204" pitchFamily="34" charset="0"/>
              <a:buNone/>
              <a:defRPr sz="2400">
                <a:solidFill>
                  <a:schemeClr val="tx1"/>
                </a:solidFill>
              </a:defRPr>
            </a:lvl5pPr>
          </a:lstStyle>
          <a:p>
            <a:pPr lvl="0"/>
            <a:r>
              <a:rPr lang="en-US" noProof="0"/>
              <a:t>Lorem ipsum</a:t>
            </a:r>
          </a:p>
        </p:txBody>
      </p:sp>
      <p:grpSp>
        <p:nvGrpSpPr>
          <p:cNvPr id="10" name="Skupina 9">
            <a:extLst>
              <a:ext uri="{FF2B5EF4-FFF2-40B4-BE49-F238E27FC236}">
                <a16:creationId xmlns:a16="http://schemas.microsoft.com/office/drawing/2014/main" id="{1A115AB3-50A6-4D3F-A282-519F4A867FF0}"/>
              </a:ext>
            </a:extLst>
          </p:cNvPr>
          <p:cNvGrpSpPr/>
          <p:nvPr/>
        </p:nvGrpSpPr>
        <p:grpSpPr>
          <a:xfrm>
            <a:off x="232633" y="6431406"/>
            <a:ext cx="848022" cy="183990"/>
            <a:chOff x="2560197" y="6541214"/>
            <a:chExt cx="1398836" cy="303496"/>
          </a:xfrm>
        </p:grpSpPr>
        <p:sp>
          <p:nvSpPr>
            <p:cNvPr id="13" name="Voľný tvar: obrazec 12">
              <a:extLst>
                <a:ext uri="{FF2B5EF4-FFF2-40B4-BE49-F238E27FC236}">
                  <a16:creationId xmlns:a16="http://schemas.microsoft.com/office/drawing/2014/main" id="{B1B46398-000C-4C60-A104-FE64AC98A158}"/>
                </a:ext>
              </a:extLst>
            </p:cNvPr>
            <p:cNvSpPr/>
            <p:nvPr/>
          </p:nvSpPr>
          <p:spPr>
            <a:xfrm>
              <a:off x="3265060" y="6542851"/>
              <a:ext cx="191228" cy="296094"/>
            </a:xfrm>
            <a:custGeom>
              <a:avLst/>
              <a:gdLst>
                <a:gd name="connsiteX0" fmla="*/ 2989 w 191228"/>
                <a:gd name="connsiteY0" fmla="*/ 2989 h 296094"/>
                <a:gd name="connsiteX1" fmla="*/ 2989 w 191228"/>
                <a:gd name="connsiteY1" fmla="*/ 297232 h 296094"/>
                <a:gd name="connsiteX2" fmla="*/ 192983 w 191228"/>
                <a:gd name="connsiteY2" fmla="*/ 297232 h 296094"/>
                <a:gd name="connsiteX3" fmla="*/ 192983 w 191228"/>
                <a:gd name="connsiteY3" fmla="*/ 231228 h 296094"/>
                <a:gd name="connsiteX4" fmla="*/ 73311 w 191228"/>
                <a:gd name="connsiteY4" fmla="*/ 231228 h 296094"/>
                <a:gd name="connsiteX5" fmla="*/ 73311 w 191228"/>
                <a:gd name="connsiteY5" fmla="*/ 2989 h 29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1228" h="296094">
                  <a:moveTo>
                    <a:pt x="2989" y="2989"/>
                  </a:moveTo>
                  <a:lnTo>
                    <a:pt x="2989" y="297232"/>
                  </a:lnTo>
                  <a:lnTo>
                    <a:pt x="192983" y="297232"/>
                  </a:lnTo>
                  <a:lnTo>
                    <a:pt x="192983" y="231228"/>
                  </a:lnTo>
                  <a:lnTo>
                    <a:pt x="73311" y="231228"/>
                  </a:lnTo>
                  <a:lnTo>
                    <a:pt x="73311" y="2989"/>
                  </a:lnTo>
                  <a:close/>
                </a:path>
              </a:pathLst>
            </a:custGeom>
            <a:solidFill>
              <a:schemeClr val="tx1"/>
            </a:solidFill>
            <a:ln w="6153" cap="flat">
              <a:noFill/>
              <a:prstDash val="solid"/>
              <a:miter/>
            </a:ln>
          </p:spPr>
          <p:txBody>
            <a:bodyPr rtlCol="0" anchor="ctr"/>
            <a:lstStyle/>
            <a:p>
              <a:endParaRPr lang="en-US" noProof="0"/>
            </a:p>
          </p:txBody>
        </p:sp>
        <p:sp>
          <p:nvSpPr>
            <p:cNvPr id="15" name="Voľný tvar: obrazec 14">
              <a:extLst>
                <a:ext uri="{FF2B5EF4-FFF2-40B4-BE49-F238E27FC236}">
                  <a16:creationId xmlns:a16="http://schemas.microsoft.com/office/drawing/2014/main" id="{7E69DB8B-CB5A-4BBE-8442-7EE46298393B}"/>
                </a:ext>
              </a:extLst>
            </p:cNvPr>
            <p:cNvSpPr/>
            <p:nvPr/>
          </p:nvSpPr>
          <p:spPr>
            <a:xfrm>
              <a:off x="3495767" y="6542851"/>
              <a:ext cx="209734" cy="296094"/>
            </a:xfrm>
            <a:custGeom>
              <a:avLst/>
              <a:gdLst>
                <a:gd name="connsiteX0" fmla="*/ 2989 w 209733"/>
                <a:gd name="connsiteY0" fmla="*/ 2989 h 296094"/>
                <a:gd name="connsiteX1" fmla="*/ 2989 w 209733"/>
                <a:gd name="connsiteY1" fmla="*/ 297232 h 296094"/>
                <a:gd name="connsiteX2" fmla="*/ 212106 w 209733"/>
                <a:gd name="connsiteY2" fmla="*/ 297232 h 296094"/>
                <a:gd name="connsiteX3" fmla="*/ 212106 w 209733"/>
                <a:gd name="connsiteY3" fmla="*/ 234312 h 296094"/>
                <a:gd name="connsiteX4" fmla="*/ 73311 w 209733"/>
                <a:gd name="connsiteY4" fmla="*/ 234312 h 296094"/>
                <a:gd name="connsiteX5" fmla="*/ 73311 w 209733"/>
                <a:gd name="connsiteY5" fmla="*/ 175710 h 296094"/>
                <a:gd name="connsiteX6" fmla="*/ 196067 w 209733"/>
                <a:gd name="connsiteY6" fmla="*/ 175710 h 296094"/>
                <a:gd name="connsiteX7" fmla="*/ 196067 w 209733"/>
                <a:gd name="connsiteY7" fmla="*/ 112790 h 296094"/>
                <a:gd name="connsiteX8" fmla="*/ 73311 w 209733"/>
                <a:gd name="connsiteY8" fmla="*/ 112790 h 296094"/>
                <a:gd name="connsiteX9" fmla="*/ 73311 w 209733"/>
                <a:gd name="connsiteY9" fmla="*/ 65909 h 296094"/>
                <a:gd name="connsiteX10" fmla="*/ 212106 w 209733"/>
                <a:gd name="connsiteY10" fmla="*/ 65909 h 296094"/>
                <a:gd name="connsiteX11" fmla="*/ 212106 w 209733"/>
                <a:gd name="connsiteY11" fmla="*/ 2989 h 29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9733" h="296094">
                  <a:moveTo>
                    <a:pt x="2989" y="2989"/>
                  </a:moveTo>
                  <a:lnTo>
                    <a:pt x="2989" y="297232"/>
                  </a:lnTo>
                  <a:lnTo>
                    <a:pt x="212106" y="297232"/>
                  </a:lnTo>
                  <a:lnTo>
                    <a:pt x="212106" y="234312"/>
                  </a:lnTo>
                  <a:lnTo>
                    <a:pt x="73311" y="234312"/>
                  </a:lnTo>
                  <a:lnTo>
                    <a:pt x="73311" y="175710"/>
                  </a:lnTo>
                  <a:lnTo>
                    <a:pt x="196067" y="175710"/>
                  </a:lnTo>
                  <a:lnTo>
                    <a:pt x="196067" y="112790"/>
                  </a:lnTo>
                  <a:lnTo>
                    <a:pt x="73311" y="112790"/>
                  </a:lnTo>
                  <a:lnTo>
                    <a:pt x="73311" y="65909"/>
                  </a:lnTo>
                  <a:lnTo>
                    <a:pt x="212106" y="65909"/>
                  </a:lnTo>
                  <a:lnTo>
                    <a:pt x="212106" y="2989"/>
                  </a:lnTo>
                  <a:close/>
                </a:path>
              </a:pathLst>
            </a:custGeom>
            <a:solidFill>
              <a:schemeClr val="tx1"/>
            </a:solidFill>
            <a:ln w="6153" cap="flat">
              <a:noFill/>
              <a:prstDash val="solid"/>
              <a:miter/>
            </a:ln>
          </p:spPr>
          <p:txBody>
            <a:bodyPr rtlCol="0" anchor="ctr"/>
            <a:lstStyle/>
            <a:p>
              <a:endParaRPr lang="en-US" noProof="0"/>
            </a:p>
          </p:txBody>
        </p:sp>
        <p:sp>
          <p:nvSpPr>
            <p:cNvPr id="16" name="Voľný tvar: obrazec 15">
              <a:extLst>
                <a:ext uri="{FF2B5EF4-FFF2-40B4-BE49-F238E27FC236}">
                  <a16:creationId xmlns:a16="http://schemas.microsoft.com/office/drawing/2014/main" id="{EFEC6082-6334-4BDA-865B-E8C8DE75ED9E}"/>
                </a:ext>
              </a:extLst>
            </p:cNvPr>
            <p:cNvSpPr/>
            <p:nvPr/>
          </p:nvSpPr>
          <p:spPr>
            <a:xfrm>
              <a:off x="3749299" y="6542851"/>
              <a:ext cx="209734" cy="296094"/>
            </a:xfrm>
            <a:custGeom>
              <a:avLst/>
              <a:gdLst>
                <a:gd name="connsiteX0" fmla="*/ 2989 w 209733"/>
                <a:gd name="connsiteY0" fmla="*/ 2989 h 296094"/>
                <a:gd name="connsiteX1" fmla="*/ 2989 w 209733"/>
                <a:gd name="connsiteY1" fmla="*/ 297232 h 296094"/>
                <a:gd name="connsiteX2" fmla="*/ 73311 w 209733"/>
                <a:gd name="connsiteY2" fmla="*/ 297232 h 296094"/>
                <a:gd name="connsiteX3" fmla="*/ 73311 w 209733"/>
                <a:gd name="connsiteY3" fmla="*/ 179411 h 296094"/>
                <a:gd name="connsiteX4" fmla="*/ 193600 w 209733"/>
                <a:gd name="connsiteY4" fmla="*/ 179411 h 296094"/>
                <a:gd name="connsiteX5" fmla="*/ 193600 w 209733"/>
                <a:gd name="connsiteY5" fmla="*/ 117108 h 296094"/>
                <a:gd name="connsiteX6" fmla="*/ 73311 w 209733"/>
                <a:gd name="connsiteY6" fmla="*/ 117108 h 296094"/>
                <a:gd name="connsiteX7" fmla="*/ 73311 w 209733"/>
                <a:gd name="connsiteY7" fmla="*/ 65909 h 296094"/>
                <a:gd name="connsiteX8" fmla="*/ 209638 w 209733"/>
                <a:gd name="connsiteY8" fmla="*/ 65909 h 296094"/>
                <a:gd name="connsiteX9" fmla="*/ 209638 w 209733"/>
                <a:gd name="connsiteY9" fmla="*/ 2989 h 29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9733" h="296094">
                  <a:moveTo>
                    <a:pt x="2989" y="2989"/>
                  </a:moveTo>
                  <a:lnTo>
                    <a:pt x="2989" y="297232"/>
                  </a:lnTo>
                  <a:lnTo>
                    <a:pt x="73311" y="297232"/>
                  </a:lnTo>
                  <a:lnTo>
                    <a:pt x="73311" y="179411"/>
                  </a:lnTo>
                  <a:lnTo>
                    <a:pt x="193600" y="179411"/>
                  </a:lnTo>
                  <a:lnTo>
                    <a:pt x="193600" y="117108"/>
                  </a:lnTo>
                  <a:lnTo>
                    <a:pt x="73311" y="117108"/>
                  </a:lnTo>
                  <a:lnTo>
                    <a:pt x="73311" y="65909"/>
                  </a:lnTo>
                  <a:lnTo>
                    <a:pt x="209638" y="65909"/>
                  </a:lnTo>
                  <a:lnTo>
                    <a:pt x="209638" y="2989"/>
                  </a:lnTo>
                  <a:close/>
                </a:path>
              </a:pathLst>
            </a:custGeom>
            <a:solidFill>
              <a:schemeClr val="tx1"/>
            </a:solidFill>
            <a:ln w="6153" cap="flat">
              <a:noFill/>
              <a:prstDash val="solid"/>
              <a:miter/>
            </a:ln>
          </p:spPr>
          <p:txBody>
            <a:bodyPr rtlCol="0" anchor="ctr"/>
            <a:lstStyle/>
            <a:p>
              <a:endParaRPr lang="en-US" noProof="0"/>
            </a:p>
          </p:txBody>
        </p:sp>
        <p:sp>
          <p:nvSpPr>
            <p:cNvPr id="20" name="Voľný tvar: obrazec 19">
              <a:extLst>
                <a:ext uri="{FF2B5EF4-FFF2-40B4-BE49-F238E27FC236}">
                  <a16:creationId xmlns:a16="http://schemas.microsoft.com/office/drawing/2014/main" id="{5231A626-F5BB-4E7B-83FE-0CC52E13EA0D}"/>
                </a:ext>
              </a:extLst>
            </p:cNvPr>
            <p:cNvSpPr/>
            <p:nvPr/>
          </p:nvSpPr>
          <p:spPr>
            <a:xfrm>
              <a:off x="2943886" y="6541214"/>
              <a:ext cx="296095" cy="302263"/>
            </a:xfrm>
            <a:custGeom>
              <a:avLst/>
              <a:gdLst>
                <a:gd name="connsiteX0" fmla="*/ 81118 w 296095"/>
                <a:gd name="connsiteY0" fmla="*/ 298870 h 302262"/>
                <a:gd name="connsiteX1" fmla="*/ 102091 w 296095"/>
                <a:gd name="connsiteY1" fmla="*/ 235950 h 302262"/>
                <a:gd name="connsiteX2" fmla="*/ 198939 w 296095"/>
                <a:gd name="connsiteY2" fmla="*/ 235950 h 302262"/>
                <a:gd name="connsiteX3" fmla="*/ 219295 w 296095"/>
                <a:gd name="connsiteY3" fmla="*/ 298870 h 302262"/>
                <a:gd name="connsiteX4" fmla="*/ 295787 w 296095"/>
                <a:gd name="connsiteY4" fmla="*/ 298870 h 302262"/>
                <a:gd name="connsiteX5" fmla="*/ 190303 w 296095"/>
                <a:gd name="connsiteY5" fmla="*/ 4626 h 302262"/>
                <a:gd name="connsiteX6" fmla="*/ 110110 w 296095"/>
                <a:gd name="connsiteY6" fmla="*/ 4626 h 302262"/>
                <a:gd name="connsiteX7" fmla="*/ 4626 w 296095"/>
                <a:gd name="connsiteY7" fmla="*/ 298870 h 302262"/>
                <a:gd name="connsiteX8" fmla="*/ 81118 w 296095"/>
                <a:gd name="connsiteY8" fmla="*/ 298870 h 302262"/>
                <a:gd name="connsiteX9" fmla="*/ 149590 w 296095"/>
                <a:gd name="connsiteY9" fmla="*/ 99006 h 302262"/>
                <a:gd name="connsiteX10" fmla="*/ 150823 w 296095"/>
                <a:gd name="connsiteY10" fmla="*/ 95922 h 302262"/>
                <a:gd name="connsiteX11" fmla="*/ 151440 w 296095"/>
                <a:gd name="connsiteY11" fmla="*/ 98390 h 302262"/>
                <a:gd name="connsiteX12" fmla="*/ 177965 w 296095"/>
                <a:gd name="connsiteY12" fmla="*/ 173647 h 302262"/>
                <a:gd name="connsiteX13" fmla="*/ 123681 w 296095"/>
                <a:gd name="connsiteY13" fmla="*/ 173647 h 302262"/>
                <a:gd name="connsiteX14" fmla="*/ 149590 w 296095"/>
                <a:gd name="connsiteY14" fmla="*/ 99006 h 302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6095" h="302262">
                  <a:moveTo>
                    <a:pt x="81118" y="298870"/>
                  </a:moveTo>
                  <a:lnTo>
                    <a:pt x="102091" y="235950"/>
                  </a:lnTo>
                  <a:lnTo>
                    <a:pt x="198939" y="235950"/>
                  </a:lnTo>
                  <a:lnTo>
                    <a:pt x="219295" y="298870"/>
                  </a:lnTo>
                  <a:lnTo>
                    <a:pt x="295787" y="298870"/>
                  </a:lnTo>
                  <a:lnTo>
                    <a:pt x="190303" y="4626"/>
                  </a:lnTo>
                  <a:lnTo>
                    <a:pt x="110110" y="4626"/>
                  </a:lnTo>
                  <a:lnTo>
                    <a:pt x="4626" y="298870"/>
                  </a:lnTo>
                  <a:lnTo>
                    <a:pt x="81118" y="298870"/>
                  </a:lnTo>
                  <a:close/>
                  <a:moveTo>
                    <a:pt x="149590" y="99006"/>
                  </a:moveTo>
                  <a:cubicBezTo>
                    <a:pt x="150207" y="98390"/>
                    <a:pt x="150207" y="97156"/>
                    <a:pt x="150823" y="95922"/>
                  </a:cubicBezTo>
                  <a:cubicBezTo>
                    <a:pt x="150823" y="96539"/>
                    <a:pt x="151440" y="97773"/>
                    <a:pt x="151440" y="98390"/>
                  </a:cubicBezTo>
                  <a:lnTo>
                    <a:pt x="177965" y="173647"/>
                  </a:lnTo>
                  <a:lnTo>
                    <a:pt x="123681" y="173647"/>
                  </a:lnTo>
                  <a:lnTo>
                    <a:pt x="149590" y="99006"/>
                  </a:lnTo>
                  <a:close/>
                </a:path>
              </a:pathLst>
            </a:custGeom>
            <a:solidFill>
              <a:schemeClr val="tx1"/>
            </a:solidFill>
            <a:ln w="9525" cap="flat">
              <a:noFill/>
              <a:prstDash val="solid"/>
              <a:miter/>
            </a:ln>
          </p:spPr>
          <p:txBody>
            <a:bodyPr rtlCol="0" anchor="ctr"/>
            <a:lstStyle/>
            <a:p>
              <a:endParaRPr lang="en-US" noProof="0"/>
            </a:p>
          </p:txBody>
        </p:sp>
        <p:sp>
          <p:nvSpPr>
            <p:cNvPr id="21" name="Voľný tvar: obrazec 20">
              <a:extLst>
                <a:ext uri="{FF2B5EF4-FFF2-40B4-BE49-F238E27FC236}">
                  <a16:creationId xmlns:a16="http://schemas.microsoft.com/office/drawing/2014/main" id="{5C44B311-6D0C-4539-95F8-047A283D0CC4}"/>
                </a:ext>
              </a:extLst>
            </p:cNvPr>
            <p:cNvSpPr/>
            <p:nvPr/>
          </p:nvSpPr>
          <p:spPr>
            <a:xfrm>
              <a:off x="2567386" y="6543468"/>
              <a:ext cx="271420" cy="296094"/>
            </a:xfrm>
            <a:custGeom>
              <a:avLst/>
              <a:gdLst>
                <a:gd name="connsiteX0" fmla="*/ 2989 w 271420"/>
                <a:gd name="connsiteY0" fmla="*/ 2989 h 296094"/>
                <a:gd name="connsiteX1" fmla="*/ 174477 w 271420"/>
                <a:gd name="connsiteY1" fmla="*/ 296615 h 296094"/>
                <a:gd name="connsiteX2" fmla="*/ 270708 w 271420"/>
                <a:gd name="connsiteY2" fmla="*/ 296615 h 296094"/>
                <a:gd name="connsiteX3" fmla="*/ 101687 w 271420"/>
                <a:gd name="connsiteY3" fmla="*/ 2989 h 296094"/>
              </a:gdLst>
              <a:ahLst/>
              <a:cxnLst>
                <a:cxn ang="0">
                  <a:pos x="connsiteX0" y="connsiteY0"/>
                </a:cxn>
                <a:cxn ang="0">
                  <a:pos x="connsiteX1" y="connsiteY1"/>
                </a:cxn>
                <a:cxn ang="0">
                  <a:pos x="connsiteX2" y="connsiteY2"/>
                </a:cxn>
                <a:cxn ang="0">
                  <a:pos x="connsiteX3" y="connsiteY3"/>
                </a:cxn>
              </a:cxnLst>
              <a:rect l="l" t="t" r="r" b="b"/>
              <a:pathLst>
                <a:path w="271420" h="296094">
                  <a:moveTo>
                    <a:pt x="2989" y="2989"/>
                  </a:moveTo>
                  <a:lnTo>
                    <a:pt x="174477" y="296615"/>
                  </a:lnTo>
                  <a:lnTo>
                    <a:pt x="270708" y="296615"/>
                  </a:lnTo>
                  <a:lnTo>
                    <a:pt x="101687" y="2989"/>
                  </a:lnTo>
                  <a:close/>
                </a:path>
              </a:pathLst>
            </a:custGeom>
            <a:solidFill>
              <a:schemeClr val="tx2"/>
            </a:solidFill>
            <a:ln w="6153" cap="flat">
              <a:noFill/>
              <a:prstDash val="solid"/>
              <a:miter/>
            </a:ln>
          </p:spPr>
          <p:txBody>
            <a:bodyPr rtlCol="0" anchor="ctr"/>
            <a:lstStyle/>
            <a:p>
              <a:endParaRPr lang="en-US" noProof="0"/>
            </a:p>
          </p:txBody>
        </p:sp>
        <p:sp>
          <p:nvSpPr>
            <p:cNvPr id="22" name="Voľný tvar: obrazec 21">
              <a:extLst>
                <a:ext uri="{FF2B5EF4-FFF2-40B4-BE49-F238E27FC236}">
                  <a16:creationId xmlns:a16="http://schemas.microsoft.com/office/drawing/2014/main" id="{D84B0380-7340-47C5-8558-22CC34B7A29D}"/>
                </a:ext>
              </a:extLst>
            </p:cNvPr>
            <p:cNvSpPr/>
            <p:nvPr/>
          </p:nvSpPr>
          <p:spPr>
            <a:xfrm>
              <a:off x="2744022" y="6541214"/>
              <a:ext cx="104867" cy="148047"/>
            </a:xfrm>
            <a:custGeom>
              <a:avLst/>
              <a:gdLst>
                <a:gd name="connsiteX0" fmla="*/ 4626 w 104866"/>
                <a:gd name="connsiteY0" fmla="*/ 143421 h 148047"/>
                <a:gd name="connsiteX1" fmla="*/ 16964 w 104866"/>
                <a:gd name="connsiteY1" fmla="*/ 4626 h 148047"/>
                <a:gd name="connsiteX2" fmla="*/ 101474 w 104866"/>
                <a:gd name="connsiteY2" fmla="*/ 4626 h 148047"/>
                <a:gd name="connsiteX3" fmla="*/ 91604 w 104866"/>
                <a:gd name="connsiteY3" fmla="*/ 102708 h 148047"/>
                <a:gd name="connsiteX4" fmla="*/ 4626 w 104866"/>
                <a:gd name="connsiteY4" fmla="*/ 143421 h 148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66" h="148047">
                  <a:moveTo>
                    <a:pt x="4626" y="143421"/>
                  </a:moveTo>
                  <a:lnTo>
                    <a:pt x="16964" y="4626"/>
                  </a:lnTo>
                  <a:lnTo>
                    <a:pt x="101474" y="4626"/>
                  </a:lnTo>
                  <a:lnTo>
                    <a:pt x="91604" y="102708"/>
                  </a:lnTo>
                  <a:cubicBezTo>
                    <a:pt x="90988" y="102708"/>
                    <a:pt x="70014" y="131083"/>
                    <a:pt x="4626" y="143421"/>
                  </a:cubicBezTo>
                </a:path>
              </a:pathLst>
            </a:custGeom>
            <a:solidFill>
              <a:schemeClr val="tx2"/>
            </a:solidFill>
            <a:ln w="9525" cap="flat">
              <a:noFill/>
              <a:prstDash val="solid"/>
              <a:miter/>
            </a:ln>
          </p:spPr>
          <p:txBody>
            <a:bodyPr rtlCol="0" anchor="ctr"/>
            <a:lstStyle/>
            <a:p>
              <a:endParaRPr lang="en-US" noProof="0"/>
            </a:p>
          </p:txBody>
        </p:sp>
        <p:sp>
          <p:nvSpPr>
            <p:cNvPr id="23" name="Voľný tvar: obrazec 22">
              <a:extLst>
                <a:ext uri="{FF2B5EF4-FFF2-40B4-BE49-F238E27FC236}">
                  <a16:creationId xmlns:a16="http://schemas.microsoft.com/office/drawing/2014/main" id="{C821FC7D-775A-43AC-B95D-153712422F21}"/>
                </a:ext>
              </a:extLst>
            </p:cNvPr>
            <p:cNvSpPr/>
            <p:nvPr/>
          </p:nvSpPr>
          <p:spPr>
            <a:xfrm>
              <a:off x="2560197" y="6696663"/>
              <a:ext cx="104867" cy="148047"/>
            </a:xfrm>
            <a:custGeom>
              <a:avLst/>
              <a:gdLst>
                <a:gd name="connsiteX0" fmla="*/ 100857 w 104866"/>
                <a:gd name="connsiteY0" fmla="*/ 4626 h 148047"/>
                <a:gd name="connsiteX1" fmla="*/ 88520 w 104866"/>
                <a:gd name="connsiteY1" fmla="*/ 143421 h 148047"/>
                <a:gd name="connsiteX2" fmla="*/ 4626 w 104866"/>
                <a:gd name="connsiteY2" fmla="*/ 143421 h 148047"/>
                <a:gd name="connsiteX3" fmla="*/ 14496 w 104866"/>
                <a:gd name="connsiteY3" fmla="*/ 45339 h 148047"/>
                <a:gd name="connsiteX4" fmla="*/ 100857 w 104866"/>
                <a:gd name="connsiteY4" fmla="*/ 4626 h 148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66" h="148047">
                  <a:moveTo>
                    <a:pt x="100857" y="4626"/>
                  </a:moveTo>
                  <a:lnTo>
                    <a:pt x="88520" y="143421"/>
                  </a:lnTo>
                  <a:lnTo>
                    <a:pt x="4626" y="143421"/>
                  </a:lnTo>
                  <a:lnTo>
                    <a:pt x="14496" y="45339"/>
                  </a:lnTo>
                  <a:cubicBezTo>
                    <a:pt x="14496" y="45339"/>
                    <a:pt x="36087" y="16347"/>
                    <a:pt x="100857" y="4626"/>
                  </a:cubicBezTo>
                </a:path>
              </a:pathLst>
            </a:custGeom>
            <a:solidFill>
              <a:schemeClr val="tx2"/>
            </a:solidFill>
            <a:ln w="9525" cap="flat">
              <a:noFill/>
              <a:prstDash val="solid"/>
              <a:miter/>
            </a:ln>
          </p:spPr>
          <p:txBody>
            <a:bodyPr rtlCol="0" anchor="ctr"/>
            <a:lstStyle/>
            <a:p>
              <a:endParaRPr lang="en-US" noProof="0"/>
            </a:p>
          </p:txBody>
        </p:sp>
      </p:grpSp>
      <p:sp>
        <p:nvSpPr>
          <p:cNvPr id="4" name="Zástupný objekt pre obrázok 3">
            <a:extLst>
              <a:ext uri="{FF2B5EF4-FFF2-40B4-BE49-F238E27FC236}">
                <a16:creationId xmlns:a16="http://schemas.microsoft.com/office/drawing/2014/main" id="{AC4418AC-5D9C-49F4-B9E2-0C86F6B7B17A}"/>
              </a:ext>
            </a:extLst>
          </p:cNvPr>
          <p:cNvSpPr>
            <a:spLocks noGrp="1"/>
          </p:cNvSpPr>
          <p:nvPr>
            <p:ph type="pic" sz="quarter" idx="20"/>
          </p:nvPr>
        </p:nvSpPr>
        <p:spPr>
          <a:xfrm>
            <a:off x="6096000" y="0"/>
            <a:ext cx="6084888" cy="6858000"/>
          </a:xfrm>
          <a:prstGeom prst="rect">
            <a:avLst/>
          </a:prstGeom>
        </p:spPr>
        <p:txBody>
          <a:bodyPr/>
          <a:lstStyle>
            <a:lvl1pPr>
              <a:defRPr sz="1200"/>
            </a:lvl1pPr>
          </a:lstStyle>
          <a:p>
            <a:r>
              <a:rPr lang="cs-CZ" noProof="0"/>
              <a:t>Kliknutím na ikonu přidáte obrázek.</a:t>
            </a:r>
            <a:endParaRPr lang="en-US" noProof="0"/>
          </a:p>
        </p:txBody>
      </p:sp>
      <p:sp>
        <p:nvSpPr>
          <p:cNvPr id="17" name="Zástupný objekt pre text 2">
            <a:extLst>
              <a:ext uri="{FF2B5EF4-FFF2-40B4-BE49-F238E27FC236}">
                <a16:creationId xmlns:a16="http://schemas.microsoft.com/office/drawing/2014/main" id="{604E0F3F-4688-4FD6-B50A-55672B23CCDE}"/>
              </a:ext>
            </a:extLst>
          </p:cNvPr>
          <p:cNvSpPr>
            <a:spLocks noGrp="1"/>
          </p:cNvSpPr>
          <p:nvPr>
            <p:ph type="body" sz="quarter" idx="21" hasCustomPrompt="1"/>
          </p:nvPr>
        </p:nvSpPr>
        <p:spPr>
          <a:xfrm>
            <a:off x="893620" y="2400298"/>
            <a:ext cx="4768850" cy="3563179"/>
          </a:xfrm>
          <a:prstGeom prst="rect">
            <a:avLst/>
          </a:prstGeom>
        </p:spPr>
        <p:txBody>
          <a:bodyPr lIns="90000" tIns="46800" rIns="90000" bIns="46800"/>
          <a:lstStyle>
            <a:lvl1pPr marL="0" indent="0" algn="l">
              <a:lnSpc>
                <a:spcPct val="120000"/>
              </a:lnSpc>
              <a:spcBef>
                <a:spcPts val="0"/>
              </a:spcBef>
              <a:buFont typeface="Arial" panose="020B0604020202020204" pitchFamily="34" charset="0"/>
              <a:buNone/>
              <a:defRPr sz="1800" b="0">
                <a:solidFill>
                  <a:schemeClr val="tx1"/>
                </a:solidFill>
              </a:defRPr>
            </a:lvl1pPr>
            <a:lvl2pPr marL="457200" indent="0" algn="l">
              <a:lnSpc>
                <a:spcPct val="120000"/>
              </a:lnSpc>
              <a:spcBef>
                <a:spcPts val="0"/>
              </a:spcBef>
              <a:buFont typeface="Arial" panose="020B0604020202020204" pitchFamily="34" charset="0"/>
              <a:buNone/>
              <a:defRPr sz="1800" b="0">
                <a:solidFill>
                  <a:schemeClr val="tx1"/>
                </a:solidFill>
              </a:defRPr>
            </a:lvl2pPr>
            <a:lvl3pPr marL="914400" indent="0" algn="l">
              <a:lnSpc>
                <a:spcPct val="120000"/>
              </a:lnSpc>
              <a:spcBef>
                <a:spcPts val="0"/>
              </a:spcBef>
              <a:buFont typeface="Arial" panose="020B0604020202020204" pitchFamily="34" charset="0"/>
              <a:buNone/>
              <a:defRPr sz="1800" b="0">
                <a:solidFill>
                  <a:schemeClr val="tx1"/>
                </a:solidFill>
              </a:defRPr>
            </a:lvl3pPr>
            <a:lvl4pPr marL="1371600" indent="0" algn="l">
              <a:buFont typeface="Arial" panose="020B0604020202020204" pitchFamily="34" charset="0"/>
              <a:buNone/>
              <a:defRPr sz="1800" b="0">
                <a:solidFill>
                  <a:schemeClr val="tx1"/>
                </a:solidFill>
              </a:defRPr>
            </a:lvl4pPr>
            <a:lvl5pPr marL="1828800" indent="0" algn="l">
              <a:buFont typeface="Arial" panose="020B0604020202020204" pitchFamily="34" charset="0"/>
              <a:buNone/>
              <a:defRPr sz="1800" b="0">
                <a:solidFill>
                  <a:schemeClr val="tx1"/>
                </a:solidFill>
              </a:defRPr>
            </a:lvl5pPr>
          </a:lstStyle>
          <a:p>
            <a:pPr lvl="0"/>
            <a:r>
              <a:rPr lang="sk-SK" dirty="0" err="1"/>
              <a:t>Sample</a:t>
            </a:r>
            <a:r>
              <a:rPr lang="sk-SK" dirty="0"/>
              <a:t> text bla-</a:t>
            </a:r>
            <a:r>
              <a:rPr lang="sk-SK" dirty="0" err="1"/>
              <a:t>blah</a:t>
            </a:r>
            <a:r>
              <a:rPr lang="sk-SK" dirty="0"/>
              <a:t>, a formula </a:t>
            </a:r>
            <a:r>
              <a:rPr lang="sk-SK" dirty="0" err="1"/>
              <a:t>used</a:t>
            </a:r>
            <a:r>
              <a:rPr lang="sk-SK" dirty="0"/>
              <a:t> in </a:t>
            </a:r>
            <a:r>
              <a:rPr lang="sk-SK" dirty="0" err="1"/>
              <a:t>dictation</a:t>
            </a:r>
            <a:r>
              <a:rPr lang="sk-SK" dirty="0"/>
              <a:t> to </a:t>
            </a:r>
            <a:r>
              <a:rPr lang="sk-SK" dirty="0" err="1"/>
              <a:t>introduce</a:t>
            </a:r>
            <a:r>
              <a:rPr lang="sk-SK" dirty="0"/>
              <a:t> and </a:t>
            </a:r>
            <a:r>
              <a:rPr lang="sk-SK" dirty="0" err="1"/>
              <a:t>terminate</a:t>
            </a:r>
            <a:r>
              <a:rPr lang="sk-SK" dirty="0"/>
              <a:t> a </a:t>
            </a:r>
            <a:r>
              <a:rPr lang="sk-SK" dirty="0" err="1"/>
              <a:t>quotation</a:t>
            </a:r>
            <a:r>
              <a:rPr lang="sk-SK" dirty="0"/>
              <a:t> BCMA. </a:t>
            </a:r>
            <a:r>
              <a:rPr lang="sk-SK" dirty="0" err="1"/>
              <a:t>Introducing</a:t>
            </a:r>
            <a:r>
              <a:rPr lang="sk-SK" dirty="0"/>
              <a:t> and </a:t>
            </a:r>
            <a:r>
              <a:rPr lang="sk-SK" dirty="0" err="1"/>
              <a:t>terminating</a:t>
            </a:r>
            <a:r>
              <a:rPr lang="sk-SK" dirty="0"/>
              <a:t> </a:t>
            </a:r>
            <a:r>
              <a:rPr lang="sk-SK" dirty="0" err="1"/>
              <a:t>words</a:t>
            </a:r>
            <a:r>
              <a:rPr lang="sk-SK" dirty="0"/>
              <a:t> </a:t>
            </a:r>
            <a:r>
              <a:rPr lang="sk-SK" dirty="0" err="1"/>
              <a:t>quoted</a:t>
            </a:r>
            <a:r>
              <a:rPr lang="sk-SK" dirty="0"/>
              <a:t>. 2015 </a:t>
            </a:r>
            <a:r>
              <a:rPr lang="sk-SK" dirty="0" err="1"/>
              <a:t>Excepteur</a:t>
            </a:r>
            <a:r>
              <a:rPr lang="sk-SK" dirty="0"/>
              <a:t> </a:t>
            </a:r>
            <a:r>
              <a:rPr lang="sk-SK" dirty="0" err="1"/>
              <a:t>sint</a:t>
            </a:r>
            <a:r>
              <a:rPr lang="sk-SK" dirty="0"/>
              <a:t> </a:t>
            </a:r>
            <a:r>
              <a:rPr lang="sk-SK" dirty="0" err="1"/>
              <a:t>occaecat</a:t>
            </a:r>
            <a:r>
              <a:rPr lang="sk-SK" dirty="0"/>
              <a:t> </a:t>
            </a:r>
            <a:r>
              <a:rPr lang="sk-SK" dirty="0" err="1"/>
              <a:t>cupidatat</a:t>
            </a:r>
            <a:r>
              <a:rPr lang="sk-SK" dirty="0"/>
              <a:t> </a:t>
            </a:r>
            <a:r>
              <a:rPr lang="sk-SK" dirty="0" err="1"/>
              <a:t>non</a:t>
            </a:r>
            <a:r>
              <a:rPr lang="sk-SK" dirty="0"/>
              <a:t> </a:t>
            </a:r>
            <a:r>
              <a:rPr lang="sk-SK" dirty="0" err="1"/>
              <a:t>proident</a:t>
            </a:r>
            <a:r>
              <a:rPr lang="sk-SK" dirty="0"/>
              <a:t>, </a:t>
            </a:r>
            <a:r>
              <a:rPr lang="sk-SK" dirty="0" err="1"/>
              <a:t>sunt</a:t>
            </a:r>
            <a:r>
              <a:rPr lang="sk-SK" dirty="0"/>
              <a:t> X3R in </a:t>
            </a:r>
            <a:r>
              <a:rPr lang="sk-SK" dirty="0" err="1"/>
              <a:t>culpa</a:t>
            </a:r>
            <a:r>
              <a:rPr lang="sk-SK" dirty="0"/>
              <a:t> </a:t>
            </a:r>
            <a:r>
              <a:rPr lang="sk-SK" dirty="0" err="1"/>
              <a:t>qui</a:t>
            </a:r>
            <a:r>
              <a:rPr lang="sk-SK" dirty="0"/>
              <a:t> </a:t>
            </a:r>
            <a:r>
              <a:rPr lang="sk-SK" dirty="0" err="1"/>
              <a:t>officia</a:t>
            </a:r>
            <a:r>
              <a:rPr lang="sk-SK" dirty="0"/>
              <a:t> </a:t>
            </a:r>
            <a:r>
              <a:rPr lang="sk-SK" dirty="0" err="1"/>
              <a:t>deserunt</a:t>
            </a:r>
            <a:r>
              <a:rPr lang="sk-SK" dirty="0"/>
              <a:t> </a:t>
            </a:r>
            <a:r>
              <a:rPr lang="sk-SK" dirty="0" err="1"/>
              <a:t>mollit</a:t>
            </a:r>
            <a:r>
              <a:rPr lang="sk-SK" dirty="0"/>
              <a:t> </a:t>
            </a:r>
            <a:r>
              <a:rPr lang="sk-SK" dirty="0" err="1"/>
              <a:t>anim</a:t>
            </a:r>
            <a:r>
              <a:rPr lang="sk-SK" dirty="0"/>
              <a:t> id </a:t>
            </a:r>
            <a:r>
              <a:rPr lang="sk-SK" dirty="0" err="1"/>
              <a:t>est</a:t>
            </a:r>
            <a:r>
              <a:rPr lang="sk-SK" dirty="0"/>
              <a:t> laborum.2017 </a:t>
            </a:r>
            <a:r>
              <a:rPr lang="sk-SK" dirty="0" err="1"/>
              <a:t>Duis</a:t>
            </a:r>
            <a:r>
              <a:rPr lang="sk-SK" dirty="0"/>
              <a:t> aute </a:t>
            </a:r>
            <a:r>
              <a:rPr lang="sk-SK" dirty="0" err="1"/>
              <a:t>irure</a:t>
            </a:r>
            <a:r>
              <a:rPr lang="sk-SK" dirty="0"/>
              <a:t> </a:t>
            </a:r>
            <a:r>
              <a:rPr lang="sk-SK" dirty="0" err="1"/>
              <a:t>dolor</a:t>
            </a:r>
            <a:r>
              <a:rPr lang="sk-SK" dirty="0"/>
              <a:t> in </a:t>
            </a:r>
            <a:r>
              <a:rPr lang="sk-SK" dirty="0" err="1"/>
              <a:t>reprehenderit</a:t>
            </a:r>
            <a:r>
              <a:rPr lang="sk-SK" dirty="0"/>
              <a:t> in </a:t>
            </a:r>
            <a:r>
              <a:rPr lang="sk-SK" dirty="0" err="1"/>
              <a:t>voluptate</a:t>
            </a:r>
            <a:r>
              <a:rPr lang="sk-SK" dirty="0"/>
              <a:t> </a:t>
            </a:r>
            <a:r>
              <a:rPr lang="sk-SK" dirty="0" err="1"/>
              <a:t>velit</a:t>
            </a:r>
            <a:r>
              <a:rPr lang="sk-SK" dirty="0"/>
              <a:t> </a:t>
            </a:r>
            <a:r>
              <a:rPr lang="sk-SK" dirty="0" err="1"/>
              <a:t>esse</a:t>
            </a:r>
            <a:r>
              <a:rPr lang="sk-SK" dirty="0"/>
              <a:t> </a:t>
            </a:r>
            <a:r>
              <a:rPr lang="sk-SK" dirty="0" err="1"/>
              <a:t>cillum</a:t>
            </a:r>
            <a:r>
              <a:rPr lang="sk-SK" dirty="0"/>
              <a:t> </a:t>
            </a:r>
            <a:r>
              <a:rPr lang="sk-SK" dirty="0" err="1"/>
              <a:t>dolore</a:t>
            </a:r>
            <a:r>
              <a:rPr lang="sk-SK" dirty="0"/>
              <a:t> </a:t>
            </a:r>
            <a:r>
              <a:rPr lang="sk-SK" dirty="0" err="1"/>
              <a:t>eu</a:t>
            </a:r>
            <a:r>
              <a:rPr lang="sk-SK" dirty="0"/>
              <a:t> </a:t>
            </a:r>
            <a:r>
              <a:rPr lang="sk-SK" dirty="0" err="1"/>
              <a:t>fugiat</a:t>
            </a:r>
            <a:r>
              <a:rPr lang="sk-SK" dirty="0"/>
              <a:t> </a:t>
            </a:r>
            <a:r>
              <a:rPr lang="sk-SK" dirty="0" err="1"/>
              <a:t>nulla</a:t>
            </a:r>
            <a:r>
              <a:rPr lang="sk-SK" dirty="0"/>
              <a:t> </a:t>
            </a:r>
            <a:r>
              <a:rPr lang="sk-SK" dirty="0" err="1"/>
              <a:t>pariatur</a:t>
            </a:r>
            <a:r>
              <a:rPr lang="sk-SK" dirty="0"/>
              <a:t>.</a:t>
            </a:r>
          </a:p>
        </p:txBody>
      </p:sp>
    </p:spTree>
    <p:extLst>
      <p:ext uri="{BB962C8B-B14F-4D97-AF65-F5344CB8AC3E}">
        <p14:creationId xmlns:p14="http://schemas.microsoft.com/office/powerpoint/2010/main" val="42790157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4_LeftText_2">
    <p:bg>
      <p:bgPr>
        <a:solidFill>
          <a:schemeClr val="bg1"/>
        </a:solidFill>
        <a:effectLst/>
      </p:bgPr>
    </p:bg>
    <p:spTree>
      <p:nvGrpSpPr>
        <p:cNvPr id="1" name=""/>
        <p:cNvGrpSpPr/>
        <p:nvPr/>
      </p:nvGrpSpPr>
      <p:grpSpPr>
        <a:xfrm>
          <a:off x="0" y="0"/>
          <a:ext cx="0" cy="0"/>
          <a:chOff x="0" y="0"/>
          <a:chExt cx="0" cy="0"/>
        </a:xfrm>
      </p:grpSpPr>
      <p:sp>
        <p:nvSpPr>
          <p:cNvPr id="14" name="Zástupný objekt pre text 13">
            <a:extLst>
              <a:ext uri="{FF2B5EF4-FFF2-40B4-BE49-F238E27FC236}">
                <a16:creationId xmlns:a16="http://schemas.microsoft.com/office/drawing/2014/main" id="{ACA22D96-AB45-4340-BC17-743ADAFD8AC1}"/>
              </a:ext>
            </a:extLst>
          </p:cNvPr>
          <p:cNvSpPr>
            <a:spLocks noGrp="1"/>
          </p:cNvSpPr>
          <p:nvPr>
            <p:ph type="body" sz="quarter" idx="17"/>
          </p:nvPr>
        </p:nvSpPr>
        <p:spPr>
          <a:xfrm>
            <a:off x="893619" y="862446"/>
            <a:ext cx="6338454" cy="363682"/>
          </a:xfrm>
          <a:prstGeom prst="rect">
            <a:avLst/>
          </a:prstGeom>
        </p:spPr>
        <p:txBody>
          <a:bodyPr/>
          <a:lstStyle>
            <a:lvl1pPr marL="0" indent="0" algn="l">
              <a:buFont typeface="Arial" panose="020B0604020202020204" pitchFamily="34" charset="0"/>
              <a:buNone/>
              <a:defRPr lang="sk-SK" sz="3000" dirty="0">
                <a:solidFill>
                  <a:schemeClr val="tx1"/>
                </a:solidFill>
              </a:defRPr>
            </a:lvl1pPr>
            <a:lvl2pPr marL="457200" indent="0" algn="l">
              <a:buFont typeface="Arial" panose="020B0604020202020204" pitchFamily="34" charset="0"/>
              <a:buNone/>
              <a:defRPr sz="2400">
                <a:solidFill>
                  <a:schemeClr val="tx1"/>
                </a:solidFill>
              </a:defRPr>
            </a:lvl2pPr>
            <a:lvl3pPr marL="914400" indent="0" algn="l">
              <a:buFont typeface="Arial" panose="020B0604020202020204" pitchFamily="34" charset="0"/>
              <a:buNone/>
              <a:defRPr sz="2400">
                <a:solidFill>
                  <a:schemeClr val="tx1"/>
                </a:solidFill>
              </a:defRPr>
            </a:lvl3pPr>
            <a:lvl4pPr marL="1371600" indent="0" algn="l">
              <a:buFont typeface="Arial" panose="020B0604020202020204" pitchFamily="34" charset="0"/>
              <a:buNone/>
              <a:defRPr sz="2400">
                <a:solidFill>
                  <a:schemeClr val="tx1"/>
                </a:solidFill>
              </a:defRPr>
            </a:lvl4pPr>
            <a:lvl5pPr marL="1828800" indent="0" algn="l">
              <a:buFont typeface="Arial" panose="020B0604020202020204" pitchFamily="34" charset="0"/>
              <a:buNone/>
              <a:defRPr sz="2400">
                <a:solidFill>
                  <a:schemeClr val="tx1"/>
                </a:solidFill>
              </a:defRPr>
            </a:lvl5pPr>
          </a:lstStyle>
          <a:p>
            <a:pPr lvl="0"/>
            <a:r>
              <a:rPr lang="cs-CZ"/>
              <a:t>Upravte styly předlohy textu.</a:t>
            </a:r>
          </a:p>
        </p:txBody>
      </p:sp>
      <p:cxnSp>
        <p:nvCxnSpPr>
          <p:cNvPr id="17" name="Rovná spojnica 16">
            <a:extLst>
              <a:ext uri="{FF2B5EF4-FFF2-40B4-BE49-F238E27FC236}">
                <a16:creationId xmlns:a16="http://schemas.microsoft.com/office/drawing/2014/main" id="{3D56B16E-4FD8-4509-BE3F-C627D6B76B34}"/>
              </a:ext>
            </a:extLst>
          </p:cNvPr>
          <p:cNvCxnSpPr/>
          <p:nvPr/>
        </p:nvCxnSpPr>
        <p:spPr>
          <a:xfrm>
            <a:off x="11762511" y="6483928"/>
            <a:ext cx="0" cy="155863"/>
          </a:xfrm>
          <a:prstGeom prst="line">
            <a:avLst/>
          </a:prstGeom>
          <a:ln>
            <a:solidFill>
              <a:schemeClr val="bg2">
                <a:lumMod val="75000"/>
              </a:schemeClr>
            </a:solidFill>
          </a:ln>
        </p:spPr>
        <p:style>
          <a:lnRef idx="1">
            <a:schemeClr val="dk1"/>
          </a:lnRef>
          <a:fillRef idx="0">
            <a:schemeClr val="dk1"/>
          </a:fillRef>
          <a:effectRef idx="0">
            <a:schemeClr val="dk1"/>
          </a:effectRef>
          <a:fontRef idx="minor">
            <a:schemeClr val="tx1"/>
          </a:fontRef>
        </p:style>
      </p:cxnSp>
      <p:grpSp>
        <p:nvGrpSpPr>
          <p:cNvPr id="10" name="Skupina 9">
            <a:extLst>
              <a:ext uri="{FF2B5EF4-FFF2-40B4-BE49-F238E27FC236}">
                <a16:creationId xmlns:a16="http://schemas.microsoft.com/office/drawing/2014/main" id="{1A115AB3-50A6-4D3F-A282-519F4A867FF0}"/>
              </a:ext>
            </a:extLst>
          </p:cNvPr>
          <p:cNvGrpSpPr/>
          <p:nvPr/>
        </p:nvGrpSpPr>
        <p:grpSpPr>
          <a:xfrm>
            <a:off x="232633" y="6431406"/>
            <a:ext cx="848022" cy="183990"/>
            <a:chOff x="2560197" y="6541214"/>
            <a:chExt cx="1398836" cy="303496"/>
          </a:xfrm>
        </p:grpSpPr>
        <p:sp>
          <p:nvSpPr>
            <p:cNvPr id="13" name="Voľný tvar: obrazec 12">
              <a:extLst>
                <a:ext uri="{FF2B5EF4-FFF2-40B4-BE49-F238E27FC236}">
                  <a16:creationId xmlns:a16="http://schemas.microsoft.com/office/drawing/2014/main" id="{B1B46398-000C-4C60-A104-FE64AC98A158}"/>
                </a:ext>
              </a:extLst>
            </p:cNvPr>
            <p:cNvSpPr/>
            <p:nvPr/>
          </p:nvSpPr>
          <p:spPr>
            <a:xfrm>
              <a:off x="3265060" y="6542851"/>
              <a:ext cx="191228" cy="296094"/>
            </a:xfrm>
            <a:custGeom>
              <a:avLst/>
              <a:gdLst>
                <a:gd name="connsiteX0" fmla="*/ 2989 w 191228"/>
                <a:gd name="connsiteY0" fmla="*/ 2989 h 296094"/>
                <a:gd name="connsiteX1" fmla="*/ 2989 w 191228"/>
                <a:gd name="connsiteY1" fmla="*/ 297232 h 296094"/>
                <a:gd name="connsiteX2" fmla="*/ 192983 w 191228"/>
                <a:gd name="connsiteY2" fmla="*/ 297232 h 296094"/>
                <a:gd name="connsiteX3" fmla="*/ 192983 w 191228"/>
                <a:gd name="connsiteY3" fmla="*/ 231228 h 296094"/>
                <a:gd name="connsiteX4" fmla="*/ 73311 w 191228"/>
                <a:gd name="connsiteY4" fmla="*/ 231228 h 296094"/>
                <a:gd name="connsiteX5" fmla="*/ 73311 w 191228"/>
                <a:gd name="connsiteY5" fmla="*/ 2989 h 29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1228" h="296094">
                  <a:moveTo>
                    <a:pt x="2989" y="2989"/>
                  </a:moveTo>
                  <a:lnTo>
                    <a:pt x="2989" y="297232"/>
                  </a:lnTo>
                  <a:lnTo>
                    <a:pt x="192983" y="297232"/>
                  </a:lnTo>
                  <a:lnTo>
                    <a:pt x="192983" y="231228"/>
                  </a:lnTo>
                  <a:lnTo>
                    <a:pt x="73311" y="231228"/>
                  </a:lnTo>
                  <a:lnTo>
                    <a:pt x="73311" y="2989"/>
                  </a:lnTo>
                  <a:close/>
                </a:path>
              </a:pathLst>
            </a:custGeom>
            <a:solidFill>
              <a:schemeClr val="tx1"/>
            </a:solidFill>
            <a:ln w="6153" cap="flat">
              <a:noFill/>
              <a:prstDash val="solid"/>
              <a:miter/>
            </a:ln>
          </p:spPr>
          <p:txBody>
            <a:bodyPr rtlCol="0" anchor="ctr"/>
            <a:lstStyle/>
            <a:p>
              <a:endParaRPr lang="sk-SK" dirty="0"/>
            </a:p>
          </p:txBody>
        </p:sp>
        <p:sp>
          <p:nvSpPr>
            <p:cNvPr id="15" name="Voľný tvar: obrazec 14">
              <a:extLst>
                <a:ext uri="{FF2B5EF4-FFF2-40B4-BE49-F238E27FC236}">
                  <a16:creationId xmlns:a16="http://schemas.microsoft.com/office/drawing/2014/main" id="{7E69DB8B-CB5A-4BBE-8442-7EE46298393B}"/>
                </a:ext>
              </a:extLst>
            </p:cNvPr>
            <p:cNvSpPr/>
            <p:nvPr/>
          </p:nvSpPr>
          <p:spPr>
            <a:xfrm>
              <a:off x="3495767" y="6542851"/>
              <a:ext cx="209734" cy="296094"/>
            </a:xfrm>
            <a:custGeom>
              <a:avLst/>
              <a:gdLst>
                <a:gd name="connsiteX0" fmla="*/ 2989 w 209733"/>
                <a:gd name="connsiteY0" fmla="*/ 2989 h 296094"/>
                <a:gd name="connsiteX1" fmla="*/ 2989 w 209733"/>
                <a:gd name="connsiteY1" fmla="*/ 297232 h 296094"/>
                <a:gd name="connsiteX2" fmla="*/ 212106 w 209733"/>
                <a:gd name="connsiteY2" fmla="*/ 297232 h 296094"/>
                <a:gd name="connsiteX3" fmla="*/ 212106 w 209733"/>
                <a:gd name="connsiteY3" fmla="*/ 234312 h 296094"/>
                <a:gd name="connsiteX4" fmla="*/ 73311 w 209733"/>
                <a:gd name="connsiteY4" fmla="*/ 234312 h 296094"/>
                <a:gd name="connsiteX5" fmla="*/ 73311 w 209733"/>
                <a:gd name="connsiteY5" fmla="*/ 175710 h 296094"/>
                <a:gd name="connsiteX6" fmla="*/ 196067 w 209733"/>
                <a:gd name="connsiteY6" fmla="*/ 175710 h 296094"/>
                <a:gd name="connsiteX7" fmla="*/ 196067 w 209733"/>
                <a:gd name="connsiteY7" fmla="*/ 112790 h 296094"/>
                <a:gd name="connsiteX8" fmla="*/ 73311 w 209733"/>
                <a:gd name="connsiteY8" fmla="*/ 112790 h 296094"/>
                <a:gd name="connsiteX9" fmla="*/ 73311 w 209733"/>
                <a:gd name="connsiteY9" fmla="*/ 65909 h 296094"/>
                <a:gd name="connsiteX10" fmla="*/ 212106 w 209733"/>
                <a:gd name="connsiteY10" fmla="*/ 65909 h 296094"/>
                <a:gd name="connsiteX11" fmla="*/ 212106 w 209733"/>
                <a:gd name="connsiteY11" fmla="*/ 2989 h 29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9733" h="296094">
                  <a:moveTo>
                    <a:pt x="2989" y="2989"/>
                  </a:moveTo>
                  <a:lnTo>
                    <a:pt x="2989" y="297232"/>
                  </a:lnTo>
                  <a:lnTo>
                    <a:pt x="212106" y="297232"/>
                  </a:lnTo>
                  <a:lnTo>
                    <a:pt x="212106" y="234312"/>
                  </a:lnTo>
                  <a:lnTo>
                    <a:pt x="73311" y="234312"/>
                  </a:lnTo>
                  <a:lnTo>
                    <a:pt x="73311" y="175710"/>
                  </a:lnTo>
                  <a:lnTo>
                    <a:pt x="196067" y="175710"/>
                  </a:lnTo>
                  <a:lnTo>
                    <a:pt x="196067" y="112790"/>
                  </a:lnTo>
                  <a:lnTo>
                    <a:pt x="73311" y="112790"/>
                  </a:lnTo>
                  <a:lnTo>
                    <a:pt x="73311" y="65909"/>
                  </a:lnTo>
                  <a:lnTo>
                    <a:pt x="212106" y="65909"/>
                  </a:lnTo>
                  <a:lnTo>
                    <a:pt x="212106" y="2989"/>
                  </a:lnTo>
                  <a:close/>
                </a:path>
              </a:pathLst>
            </a:custGeom>
            <a:solidFill>
              <a:schemeClr val="tx1"/>
            </a:solidFill>
            <a:ln w="6153" cap="flat">
              <a:noFill/>
              <a:prstDash val="solid"/>
              <a:miter/>
            </a:ln>
          </p:spPr>
          <p:txBody>
            <a:bodyPr rtlCol="0" anchor="ctr"/>
            <a:lstStyle/>
            <a:p>
              <a:endParaRPr lang="sk-SK" dirty="0"/>
            </a:p>
          </p:txBody>
        </p:sp>
        <p:sp>
          <p:nvSpPr>
            <p:cNvPr id="16" name="Voľný tvar: obrazec 15">
              <a:extLst>
                <a:ext uri="{FF2B5EF4-FFF2-40B4-BE49-F238E27FC236}">
                  <a16:creationId xmlns:a16="http://schemas.microsoft.com/office/drawing/2014/main" id="{EFEC6082-6334-4BDA-865B-E8C8DE75ED9E}"/>
                </a:ext>
              </a:extLst>
            </p:cNvPr>
            <p:cNvSpPr/>
            <p:nvPr/>
          </p:nvSpPr>
          <p:spPr>
            <a:xfrm>
              <a:off x="3749299" y="6542851"/>
              <a:ext cx="209734" cy="296094"/>
            </a:xfrm>
            <a:custGeom>
              <a:avLst/>
              <a:gdLst>
                <a:gd name="connsiteX0" fmla="*/ 2989 w 209733"/>
                <a:gd name="connsiteY0" fmla="*/ 2989 h 296094"/>
                <a:gd name="connsiteX1" fmla="*/ 2989 w 209733"/>
                <a:gd name="connsiteY1" fmla="*/ 297232 h 296094"/>
                <a:gd name="connsiteX2" fmla="*/ 73311 w 209733"/>
                <a:gd name="connsiteY2" fmla="*/ 297232 h 296094"/>
                <a:gd name="connsiteX3" fmla="*/ 73311 w 209733"/>
                <a:gd name="connsiteY3" fmla="*/ 179411 h 296094"/>
                <a:gd name="connsiteX4" fmla="*/ 193600 w 209733"/>
                <a:gd name="connsiteY4" fmla="*/ 179411 h 296094"/>
                <a:gd name="connsiteX5" fmla="*/ 193600 w 209733"/>
                <a:gd name="connsiteY5" fmla="*/ 117108 h 296094"/>
                <a:gd name="connsiteX6" fmla="*/ 73311 w 209733"/>
                <a:gd name="connsiteY6" fmla="*/ 117108 h 296094"/>
                <a:gd name="connsiteX7" fmla="*/ 73311 w 209733"/>
                <a:gd name="connsiteY7" fmla="*/ 65909 h 296094"/>
                <a:gd name="connsiteX8" fmla="*/ 209638 w 209733"/>
                <a:gd name="connsiteY8" fmla="*/ 65909 h 296094"/>
                <a:gd name="connsiteX9" fmla="*/ 209638 w 209733"/>
                <a:gd name="connsiteY9" fmla="*/ 2989 h 29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9733" h="296094">
                  <a:moveTo>
                    <a:pt x="2989" y="2989"/>
                  </a:moveTo>
                  <a:lnTo>
                    <a:pt x="2989" y="297232"/>
                  </a:lnTo>
                  <a:lnTo>
                    <a:pt x="73311" y="297232"/>
                  </a:lnTo>
                  <a:lnTo>
                    <a:pt x="73311" y="179411"/>
                  </a:lnTo>
                  <a:lnTo>
                    <a:pt x="193600" y="179411"/>
                  </a:lnTo>
                  <a:lnTo>
                    <a:pt x="193600" y="117108"/>
                  </a:lnTo>
                  <a:lnTo>
                    <a:pt x="73311" y="117108"/>
                  </a:lnTo>
                  <a:lnTo>
                    <a:pt x="73311" y="65909"/>
                  </a:lnTo>
                  <a:lnTo>
                    <a:pt x="209638" y="65909"/>
                  </a:lnTo>
                  <a:lnTo>
                    <a:pt x="209638" y="2989"/>
                  </a:lnTo>
                  <a:close/>
                </a:path>
              </a:pathLst>
            </a:custGeom>
            <a:solidFill>
              <a:schemeClr val="tx1"/>
            </a:solidFill>
            <a:ln w="6153" cap="flat">
              <a:noFill/>
              <a:prstDash val="solid"/>
              <a:miter/>
            </a:ln>
          </p:spPr>
          <p:txBody>
            <a:bodyPr rtlCol="0" anchor="ctr"/>
            <a:lstStyle/>
            <a:p>
              <a:endParaRPr lang="sk-SK" dirty="0"/>
            </a:p>
          </p:txBody>
        </p:sp>
        <p:sp>
          <p:nvSpPr>
            <p:cNvPr id="20" name="Voľný tvar: obrazec 19">
              <a:extLst>
                <a:ext uri="{FF2B5EF4-FFF2-40B4-BE49-F238E27FC236}">
                  <a16:creationId xmlns:a16="http://schemas.microsoft.com/office/drawing/2014/main" id="{5231A626-F5BB-4E7B-83FE-0CC52E13EA0D}"/>
                </a:ext>
              </a:extLst>
            </p:cNvPr>
            <p:cNvSpPr/>
            <p:nvPr/>
          </p:nvSpPr>
          <p:spPr>
            <a:xfrm>
              <a:off x="2943886" y="6541214"/>
              <a:ext cx="296095" cy="302263"/>
            </a:xfrm>
            <a:custGeom>
              <a:avLst/>
              <a:gdLst>
                <a:gd name="connsiteX0" fmla="*/ 81118 w 296095"/>
                <a:gd name="connsiteY0" fmla="*/ 298870 h 302262"/>
                <a:gd name="connsiteX1" fmla="*/ 102091 w 296095"/>
                <a:gd name="connsiteY1" fmla="*/ 235950 h 302262"/>
                <a:gd name="connsiteX2" fmla="*/ 198939 w 296095"/>
                <a:gd name="connsiteY2" fmla="*/ 235950 h 302262"/>
                <a:gd name="connsiteX3" fmla="*/ 219295 w 296095"/>
                <a:gd name="connsiteY3" fmla="*/ 298870 h 302262"/>
                <a:gd name="connsiteX4" fmla="*/ 295787 w 296095"/>
                <a:gd name="connsiteY4" fmla="*/ 298870 h 302262"/>
                <a:gd name="connsiteX5" fmla="*/ 190303 w 296095"/>
                <a:gd name="connsiteY5" fmla="*/ 4626 h 302262"/>
                <a:gd name="connsiteX6" fmla="*/ 110110 w 296095"/>
                <a:gd name="connsiteY6" fmla="*/ 4626 h 302262"/>
                <a:gd name="connsiteX7" fmla="*/ 4626 w 296095"/>
                <a:gd name="connsiteY7" fmla="*/ 298870 h 302262"/>
                <a:gd name="connsiteX8" fmla="*/ 81118 w 296095"/>
                <a:gd name="connsiteY8" fmla="*/ 298870 h 302262"/>
                <a:gd name="connsiteX9" fmla="*/ 149590 w 296095"/>
                <a:gd name="connsiteY9" fmla="*/ 99006 h 302262"/>
                <a:gd name="connsiteX10" fmla="*/ 150823 w 296095"/>
                <a:gd name="connsiteY10" fmla="*/ 95922 h 302262"/>
                <a:gd name="connsiteX11" fmla="*/ 151440 w 296095"/>
                <a:gd name="connsiteY11" fmla="*/ 98390 h 302262"/>
                <a:gd name="connsiteX12" fmla="*/ 177965 w 296095"/>
                <a:gd name="connsiteY12" fmla="*/ 173647 h 302262"/>
                <a:gd name="connsiteX13" fmla="*/ 123681 w 296095"/>
                <a:gd name="connsiteY13" fmla="*/ 173647 h 302262"/>
                <a:gd name="connsiteX14" fmla="*/ 149590 w 296095"/>
                <a:gd name="connsiteY14" fmla="*/ 99006 h 302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6095" h="302262">
                  <a:moveTo>
                    <a:pt x="81118" y="298870"/>
                  </a:moveTo>
                  <a:lnTo>
                    <a:pt x="102091" y="235950"/>
                  </a:lnTo>
                  <a:lnTo>
                    <a:pt x="198939" y="235950"/>
                  </a:lnTo>
                  <a:lnTo>
                    <a:pt x="219295" y="298870"/>
                  </a:lnTo>
                  <a:lnTo>
                    <a:pt x="295787" y="298870"/>
                  </a:lnTo>
                  <a:lnTo>
                    <a:pt x="190303" y="4626"/>
                  </a:lnTo>
                  <a:lnTo>
                    <a:pt x="110110" y="4626"/>
                  </a:lnTo>
                  <a:lnTo>
                    <a:pt x="4626" y="298870"/>
                  </a:lnTo>
                  <a:lnTo>
                    <a:pt x="81118" y="298870"/>
                  </a:lnTo>
                  <a:close/>
                  <a:moveTo>
                    <a:pt x="149590" y="99006"/>
                  </a:moveTo>
                  <a:cubicBezTo>
                    <a:pt x="150207" y="98390"/>
                    <a:pt x="150207" y="97156"/>
                    <a:pt x="150823" y="95922"/>
                  </a:cubicBezTo>
                  <a:cubicBezTo>
                    <a:pt x="150823" y="96539"/>
                    <a:pt x="151440" y="97773"/>
                    <a:pt x="151440" y="98390"/>
                  </a:cubicBezTo>
                  <a:lnTo>
                    <a:pt x="177965" y="173647"/>
                  </a:lnTo>
                  <a:lnTo>
                    <a:pt x="123681" y="173647"/>
                  </a:lnTo>
                  <a:lnTo>
                    <a:pt x="149590" y="99006"/>
                  </a:lnTo>
                  <a:close/>
                </a:path>
              </a:pathLst>
            </a:custGeom>
            <a:solidFill>
              <a:schemeClr val="tx1"/>
            </a:solidFill>
            <a:ln w="9525" cap="flat">
              <a:noFill/>
              <a:prstDash val="solid"/>
              <a:miter/>
            </a:ln>
          </p:spPr>
          <p:txBody>
            <a:bodyPr rtlCol="0" anchor="ctr"/>
            <a:lstStyle/>
            <a:p>
              <a:endParaRPr lang="sk-SK" dirty="0"/>
            </a:p>
          </p:txBody>
        </p:sp>
        <p:sp>
          <p:nvSpPr>
            <p:cNvPr id="21" name="Voľný tvar: obrazec 20">
              <a:extLst>
                <a:ext uri="{FF2B5EF4-FFF2-40B4-BE49-F238E27FC236}">
                  <a16:creationId xmlns:a16="http://schemas.microsoft.com/office/drawing/2014/main" id="{5C44B311-6D0C-4539-95F8-047A283D0CC4}"/>
                </a:ext>
              </a:extLst>
            </p:cNvPr>
            <p:cNvSpPr/>
            <p:nvPr/>
          </p:nvSpPr>
          <p:spPr>
            <a:xfrm>
              <a:off x="2567386" y="6543468"/>
              <a:ext cx="271420" cy="296094"/>
            </a:xfrm>
            <a:custGeom>
              <a:avLst/>
              <a:gdLst>
                <a:gd name="connsiteX0" fmla="*/ 2989 w 271420"/>
                <a:gd name="connsiteY0" fmla="*/ 2989 h 296094"/>
                <a:gd name="connsiteX1" fmla="*/ 174477 w 271420"/>
                <a:gd name="connsiteY1" fmla="*/ 296615 h 296094"/>
                <a:gd name="connsiteX2" fmla="*/ 270708 w 271420"/>
                <a:gd name="connsiteY2" fmla="*/ 296615 h 296094"/>
                <a:gd name="connsiteX3" fmla="*/ 101687 w 271420"/>
                <a:gd name="connsiteY3" fmla="*/ 2989 h 296094"/>
              </a:gdLst>
              <a:ahLst/>
              <a:cxnLst>
                <a:cxn ang="0">
                  <a:pos x="connsiteX0" y="connsiteY0"/>
                </a:cxn>
                <a:cxn ang="0">
                  <a:pos x="connsiteX1" y="connsiteY1"/>
                </a:cxn>
                <a:cxn ang="0">
                  <a:pos x="connsiteX2" y="connsiteY2"/>
                </a:cxn>
                <a:cxn ang="0">
                  <a:pos x="connsiteX3" y="connsiteY3"/>
                </a:cxn>
              </a:cxnLst>
              <a:rect l="l" t="t" r="r" b="b"/>
              <a:pathLst>
                <a:path w="271420" h="296094">
                  <a:moveTo>
                    <a:pt x="2989" y="2989"/>
                  </a:moveTo>
                  <a:lnTo>
                    <a:pt x="174477" y="296615"/>
                  </a:lnTo>
                  <a:lnTo>
                    <a:pt x="270708" y="296615"/>
                  </a:lnTo>
                  <a:lnTo>
                    <a:pt x="101687" y="2989"/>
                  </a:lnTo>
                  <a:close/>
                </a:path>
              </a:pathLst>
            </a:custGeom>
            <a:solidFill>
              <a:schemeClr val="tx2"/>
            </a:solidFill>
            <a:ln w="6153" cap="flat">
              <a:noFill/>
              <a:prstDash val="solid"/>
              <a:miter/>
            </a:ln>
          </p:spPr>
          <p:txBody>
            <a:bodyPr rtlCol="0" anchor="ctr"/>
            <a:lstStyle/>
            <a:p>
              <a:endParaRPr lang="sk-SK" dirty="0"/>
            </a:p>
          </p:txBody>
        </p:sp>
        <p:sp>
          <p:nvSpPr>
            <p:cNvPr id="22" name="Voľný tvar: obrazec 21">
              <a:extLst>
                <a:ext uri="{FF2B5EF4-FFF2-40B4-BE49-F238E27FC236}">
                  <a16:creationId xmlns:a16="http://schemas.microsoft.com/office/drawing/2014/main" id="{D84B0380-7340-47C5-8558-22CC34B7A29D}"/>
                </a:ext>
              </a:extLst>
            </p:cNvPr>
            <p:cNvSpPr/>
            <p:nvPr/>
          </p:nvSpPr>
          <p:spPr>
            <a:xfrm>
              <a:off x="2744022" y="6541214"/>
              <a:ext cx="104867" cy="148047"/>
            </a:xfrm>
            <a:custGeom>
              <a:avLst/>
              <a:gdLst>
                <a:gd name="connsiteX0" fmla="*/ 4626 w 104866"/>
                <a:gd name="connsiteY0" fmla="*/ 143421 h 148047"/>
                <a:gd name="connsiteX1" fmla="*/ 16964 w 104866"/>
                <a:gd name="connsiteY1" fmla="*/ 4626 h 148047"/>
                <a:gd name="connsiteX2" fmla="*/ 101474 w 104866"/>
                <a:gd name="connsiteY2" fmla="*/ 4626 h 148047"/>
                <a:gd name="connsiteX3" fmla="*/ 91604 w 104866"/>
                <a:gd name="connsiteY3" fmla="*/ 102708 h 148047"/>
                <a:gd name="connsiteX4" fmla="*/ 4626 w 104866"/>
                <a:gd name="connsiteY4" fmla="*/ 143421 h 148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66" h="148047">
                  <a:moveTo>
                    <a:pt x="4626" y="143421"/>
                  </a:moveTo>
                  <a:lnTo>
                    <a:pt x="16964" y="4626"/>
                  </a:lnTo>
                  <a:lnTo>
                    <a:pt x="101474" y="4626"/>
                  </a:lnTo>
                  <a:lnTo>
                    <a:pt x="91604" y="102708"/>
                  </a:lnTo>
                  <a:cubicBezTo>
                    <a:pt x="90988" y="102708"/>
                    <a:pt x="70014" y="131083"/>
                    <a:pt x="4626" y="143421"/>
                  </a:cubicBezTo>
                </a:path>
              </a:pathLst>
            </a:custGeom>
            <a:solidFill>
              <a:schemeClr val="tx2"/>
            </a:solidFill>
            <a:ln w="9525" cap="flat">
              <a:noFill/>
              <a:prstDash val="solid"/>
              <a:miter/>
            </a:ln>
          </p:spPr>
          <p:txBody>
            <a:bodyPr rtlCol="0" anchor="ctr"/>
            <a:lstStyle/>
            <a:p>
              <a:endParaRPr lang="sk-SK" dirty="0"/>
            </a:p>
          </p:txBody>
        </p:sp>
        <p:sp>
          <p:nvSpPr>
            <p:cNvPr id="23" name="Voľný tvar: obrazec 22">
              <a:extLst>
                <a:ext uri="{FF2B5EF4-FFF2-40B4-BE49-F238E27FC236}">
                  <a16:creationId xmlns:a16="http://schemas.microsoft.com/office/drawing/2014/main" id="{C821FC7D-775A-43AC-B95D-153712422F21}"/>
                </a:ext>
              </a:extLst>
            </p:cNvPr>
            <p:cNvSpPr/>
            <p:nvPr/>
          </p:nvSpPr>
          <p:spPr>
            <a:xfrm>
              <a:off x="2560197" y="6696663"/>
              <a:ext cx="104867" cy="148047"/>
            </a:xfrm>
            <a:custGeom>
              <a:avLst/>
              <a:gdLst>
                <a:gd name="connsiteX0" fmla="*/ 100857 w 104866"/>
                <a:gd name="connsiteY0" fmla="*/ 4626 h 148047"/>
                <a:gd name="connsiteX1" fmla="*/ 88520 w 104866"/>
                <a:gd name="connsiteY1" fmla="*/ 143421 h 148047"/>
                <a:gd name="connsiteX2" fmla="*/ 4626 w 104866"/>
                <a:gd name="connsiteY2" fmla="*/ 143421 h 148047"/>
                <a:gd name="connsiteX3" fmla="*/ 14496 w 104866"/>
                <a:gd name="connsiteY3" fmla="*/ 45339 h 148047"/>
                <a:gd name="connsiteX4" fmla="*/ 100857 w 104866"/>
                <a:gd name="connsiteY4" fmla="*/ 4626 h 148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66" h="148047">
                  <a:moveTo>
                    <a:pt x="100857" y="4626"/>
                  </a:moveTo>
                  <a:lnTo>
                    <a:pt x="88520" y="143421"/>
                  </a:lnTo>
                  <a:lnTo>
                    <a:pt x="4626" y="143421"/>
                  </a:lnTo>
                  <a:lnTo>
                    <a:pt x="14496" y="45339"/>
                  </a:lnTo>
                  <a:cubicBezTo>
                    <a:pt x="14496" y="45339"/>
                    <a:pt x="36087" y="16347"/>
                    <a:pt x="100857" y="4626"/>
                  </a:cubicBezTo>
                </a:path>
              </a:pathLst>
            </a:custGeom>
            <a:solidFill>
              <a:schemeClr val="tx2"/>
            </a:solidFill>
            <a:ln w="9525" cap="flat">
              <a:noFill/>
              <a:prstDash val="solid"/>
              <a:miter/>
            </a:ln>
          </p:spPr>
          <p:txBody>
            <a:bodyPr rtlCol="0" anchor="ctr"/>
            <a:lstStyle/>
            <a:p>
              <a:endParaRPr lang="sk-SK" dirty="0"/>
            </a:p>
          </p:txBody>
        </p:sp>
      </p:grpSp>
      <p:sp>
        <p:nvSpPr>
          <p:cNvPr id="4" name="Zástupný objekt pre obrázok 3">
            <a:extLst>
              <a:ext uri="{FF2B5EF4-FFF2-40B4-BE49-F238E27FC236}">
                <a16:creationId xmlns:a16="http://schemas.microsoft.com/office/drawing/2014/main" id="{0B46B9F0-979E-4F27-A7F5-4F93EA515530}"/>
              </a:ext>
            </a:extLst>
          </p:cNvPr>
          <p:cNvSpPr>
            <a:spLocks noGrp="1"/>
          </p:cNvSpPr>
          <p:nvPr>
            <p:ph type="pic" sz="quarter" idx="18"/>
          </p:nvPr>
        </p:nvSpPr>
        <p:spPr>
          <a:xfrm>
            <a:off x="8281555" y="1641475"/>
            <a:ext cx="2961410" cy="2546062"/>
          </a:xfrm>
          <a:prstGeom prst="rect">
            <a:avLst/>
          </a:prstGeom>
        </p:spPr>
        <p:txBody>
          <a:bodyPr/>
          <a:lstStyle>
            <a:lvl1pPr>
              <a:defRPr sz="1200"/>
            </a:lvl1pPr>
          </a:lstStyle>
          <a:p>
            <a:r>
              <a:rPr lang="cs-CZ"/>
              <a:t>Kliknutím na ikonu přidáte obrázek.</a:t>
            </a:r>
            <a:endParaRPr lang="sk-SK" dirty="0"/>
          </a:p>
        </p:txBody>
      </p:sp>
      <p:sp>
        <p:nvSpPr>
          <p:cNvPr id="6" name="Zástupný objekt pre text 5">
            <a:extLst>
              <a:ext uri="{FF2B5EF4-FFF2-40B4-BE49-F238E27FC236}">
                <a16:creationId xmlns:a16="http://schemas.microsoft.com/office/drawing/2014/main" id="{3CBC49DD-7833-4745-9384-9184589FAC91}"/>
              </a:ext>
            </a:extLst>
          </p:cNvPr>
          <p:cNvSpPr>
            <a:spLocks noGrp="1"/>
          </p:cNvSpPr>
          <p:nvPr>
            <p:ph type="body" sz="quarter" idx="19"/>
          </p:nvPr>
        </p:nvSpPr>
        <p:spPr>
          <a:xfrm>
            <a:off x="8281556" y="4436918"/>
            <a:ext cx="2961410" cy="1080941"/>
          </a:xfrm>
          <a:prstGeom prst="rect">
            <a:avLst/>
          </a:prstGeom>
        </p:spPr>
        <p:txBody>
          <a:bodyPr/>
          <a:lstStyle>
            <a:lvl1pPr marL="0" indent="0" algn="l">
              <a:lnSpc>
                <a:spcPct val="100000"/>
              </a:lnSpc>
              <a:spcBef>
                <a:spcPts val="0"/>
              </a:spcBef>
              <a:buFont typeface="Arial" panose="020B0604020202020204" pitchFamily="34" charset="0"/>
              <a:buNone/>
              <a:defRPr sz="1200">
                <a:solidFill>
                  <a:schemeClr val="tx1">
                    <a:lumMod val="75000"/>
                    <a:lumOff val="25000"/>
                  </a:schemeClr>
                </a:solidFill>
              </a:defRPr>
            </a:lvl1pPr>
            <a:lvl2pPr marL="457200" indent="0" algn="l">
              <a:buFont typeface="Arial" panose="020B0604020202020204" pitchFamily="34" charset="0"/>
              <a:buNone/>
              <a:defRPr sz="1200">
                <a:solidFill>
                  <a:schemeClr val="tx1">
                    <a:lumMod val="50000"/>
                    <a:lumOff val="50000"/>
                  </a:schemeClr>
                </a:solidFill>
              </a:defRPr>
            </a:lvl2pPr>
            <a:lvl3pPr marL="914400" indent="0" algn="l">
              <a:buFont typeface="Arial" panose="020B0604020202020204" pitchFamily="34" charset="0"/>
              <a:buNone/>
              <a:defRPr sz="1200">
                <a:solidFill>
                  <a:schemeClr val="tx1">
                    <a:lumMod val="50000"/>
                    <a:lumOff val="50000"/>
                  </a:schemeClr>
                </a:solidFill>
              </a:defRPr>
            </a:lvl3pPr>
            <a:lvl4pPr marL="1371600" indent="0" algn="l">
              <a:buFont typeface="Arial" panose="020B0604020202020204" pitchFamily="34" charset="0"/>
              <a:buNone/>
              <a:defRPr sz="1200">
                <a:solidFill>
                  <a:schemeClr val="tx1">
                    <a:lumMod val="50000"/>
                    <a:lumOff val="50000"/>
                  </a:schemeClr>
                </a:solidFill>
              </a:defRPr>
            </a:lvl4pPr>
            <a:lvl5pPr marL="1828800" indent="0" algn="l">
              <a:buFont typeface="Arial" panose="020B0604020202020204" pitchFamily="34" charset="0"/>
              <a:buNone/>
              <a:defRPr sz="1200">
                <a:solidFill>
                  <a:schemeClr val="tx1">
                    <a:lumMod val="50000"/>
                    <a:lumOff val="50000"/>
                  </a:schemeClr>
                </a:solidFill>
              </a:defRPr>
            </a:lvl5pPr>
          </a:lstStyle>
          <a:p>
            <a:pPr lvl="0"/>
            <a:r>
              <a:rPr lang="cs-CZ"/>
              <a:t>Upravte styly předlohy textu.</a:t>
            </a:r>
          </a:p>
        </p:txBody>
      </p:sp>
      <p:sp>
        <p:nvSpPr>
          <p:cNvPr id="24" name="Zástupný objekt pre obrázok 3">
            <a:extLst>
              <a:ext uri="{FF2B5EF4-FFF2-40B4-BE49-F238E27FC236}">
                <a16:creationId xmlns:a16="http://schemas.microsoft.com/office/drawing/2014/main" id="{F9DDB93B-B4FF-4C93-A394-B92F5FA68F87}"/>
              </a:ext>
            </a:extLst>
          </p:cNvPr>
          <p:cNvSpPr>
            <a:spLocks noGrp="1"/>
          </p:cNvSpPr>
          <p:nvPr>
            <p:ph type="pic" sz="quarter" idx="20"/>
          </p:nvPr>
        </p:nvSpPr>
        <p:spPr>
          <a:xfrm>
            <a:off x="4615295" y="1641475"/>
            <a:ext cx="2961410" cy="2546062"/>
          </a:xfrm>
          <a:prstGeom prst="rect">
            <a:avLst/>
          </a:prstGeom>
        </p:spPr>
        <p:txBody>
          <a:bodyPr/>
          <a:lstStyle>
            <a:lvl1pPr>
              <a:defRPr sz="1200"/>
            </a:lvl1pPr>
          </a:lstStyle>
          <a:p>
            <a:r>
              <a:rPr lang="cs-CZ"/>
              <a:t>Kliknutím na ikonu přidáte obrázek.</a:t>
            </a:r>
            <a:endParaRPr lang="sk-SK" dirty="0"/>
          </a:p>
        </p:txBody>
      </p:sp>
      <p:sp>
        <p:nvSpPr>
          <p:cNvPr id="25" name="Zástupný objekt pre text 5">
            <a:extLst>
              <a:ext uri="{FF2B5EF4-FFF2-40B4-BE49-F238E27FC236}">
                <a16:creationId xmlns:a16="http://schemas.microsoft.com/office/drawing/2014/main" id="{8A63DAD4-51BC-4C27-BF95-838C4BF3706A}"/>
              </a:ext>
            </a:extLst>
          </p:cNvPr>
          <p:cNvSpPr>
            <a:spLocks noGrp="1"/>
          </p:cNvSpPr>
          <p:nvPr>
            <p:ph type="body" sz="quarter" idx="21"/>
          </p:nvPr>
        </p:nvSpPr>
        <p:spPr>
          <a:xfrm>
            <a:off x="4615296" y="4436918"/>
            <a:ext cx="2961410" cy="1080941"/>
          </a:xfrm>
          <a:prstGeom prst="rect">
            <a:avLst/>
          </a:prstGeom>
        </p:spPr>
        <p:txBody>
          <a:bodyPr/>
          <a:lstStyle>
            <a:lvl1pPr marL="0" indent="0" algn="l">
              <a:lnSpc>
                <a:spcPct val="100000"/>
              </a:lnSpc>
              <a:spcBef>
                <a:spcPts val="0"/>
              </a:spcBef>
              <a:buFont typeface="Arial" panose="020B0604020202020204" pitchFamily="34" charset="0"/>
              <a:buNone/>
              <a:defRPr sz="1200">
                <a:solidFill>
                  <a:schemeClr val="tx1">
                    <a:lumMod val="75000"/>
                    <a:lumOff val="25000"/>
                  </a:schemeClr>
                </a:solidFill>
              </a:defRPr>
            </a:lvl1pPr>
            <a:lvl2pPr marL="457200" indent="0" algn="l">
              <a:buFont typeface="Arial" panose="020B0604020202020204" pitchFamily="34" charset="0"/>
              <a:buNone/>
              <a:defRPr sz="1200">
                <a:solidFill>
                  <a:schemeClr val="tx1">
                    <a:lumMod val="50000"/>
                    <a:lumOff val="50000"/>
                  </a:schemeClr>
                </a:solidFill>
              </a:defRPr>
            </a:lvl2pPr>
            <a:lvl3pPr marL="914400" indent="0" algn="l">
              <a:buFont typeface="Arial" panose="020B0604020202020204" pitchFamily="34" charset="0"/>
              <a:buNone/>
              <a:defRPr sz="1200">
                <a:solidFill>
                  <a:schemeClr val="tx1">
                    <a:lumMod val="50000"/>
                    <a:lumOff val="50000"/>
                  </a:schemeClr>
                </a:solidFill>
              </a:defRPr>
            </a:lvl3pPr>
            <a:lvl4pPr marL="1371600" indent="0" algn="l">
              <a:buFont typeface="Arial" panose="020B0604020202020204" pitchFamily="34" charset="0"/>
              <a:buNone/>
              <a:defRPr sz="1200">
                <a:solidFill>
                  <a:schemeClr val="tx1">
                    <a:lumMod val="50000"/>
                    <a:lumOff val="50000"/>
                  </a:schemeClr>
                </a:solidFill>
              </a:defRPr>
            </a:lvl4pPr>
            <a:lvl5pPr marL="1828800" indent="0" algn="l">
              <a:buFont typeface="Arial" panose="020B0604020202020204" pitchFamily="34" charset="0"/>
              <a:buNone/>
              <a:defRPr sz="1200">
                <a:solidFill>
                  <a:schemeClr val="tx1">
                    <a:lumMod val="50000"/>
                    <a:lumOff val="50000"/>
                  </a:schemeClr>
                </a:solidFill>
              </a:defRPr>
            </a:lvl5pPr>
          </a:lstStyle>
          <a:p>
            <a:pPr lvl="0"/>
            <a:r>
              <a:rPr lang="cs-CZ"/>
              <a:t>Upravte styly předlohy textu.</a:t>
            </a:r>
          </a:p>
        </p:txBody>
      </p:sp>
      <p:sp>
        <p:nvSpPr>
          <p:cNvPr id="26" name="Zástupný objekt pre obrázok 3">
            <a:extLst>
              <a:ext uri="{FF2B5EF4-FFF2-40B4-BE49-F238E27FC236}">
                <a16:creationId xmlns:a16="http://schemas.microsoft.com/office/drawing/2014/main" id="{B460A9AA-246A-461E-8C67-6AF700047E28}"/>
              </a:ext>
            </a:extLst>
          </p:cNvPr>
          <p:cNvSpPr>
            <a:spLocks noGrp="1"/>
          </p:cNvSpPr>
          <p:nvPr>
            <p:ph type="pic" sz="quarter" idx="22"/>
          </p:nvPr>
        </p:nvSpPr>
        <p:spPr>
          <a:xfrm>
            <a:off x="949468" y="1641475"/>
            <a:ext cx="2961410" cy="2546062"/>
          </a:xfrm>
          <a:prstGeom prst="rect">
            <a:avLst/>
          </a:prstGeom>
        </p:spPr>
        <p:txBody>
          <a:bodyPr/>
          <a:lstStyle>
            <a:lvl1pPr>
              <a:defRPr sz="1200"/>
            </a:lvl1pPr>
          </a:lstStyle>
          <a:p>
            <a:r>
              <a:rPr lang="cs-CZ"/>
              <a:t>Kliknutím na ikonu přidáte obrázek.</a:t>
            </a:r>
            <a:endParaRPr lang="sk-SK" dirty="0"/>
          </a:p>
        </p:txBody>
      </p:sp>
      <p:sp>
        <p:nvSpPr>
          <p:cNvPr id="27" name="Zástupný objekt pre text 5">
            <a:extLst>
              <a:ext uri="{FF2B5EF4-FFF2-40B4-BE49-F238E27FC236}">
                <a16:creationId xmlns:a16="http://schemas.microsoft.com/office/drawing/2014/main" id="{E25F0636-5AA4-459A-B231-9C3CFAD1609C}"/>
              </a:ext>
            </a:extLst>
          </p:cNvPr>
          <p:cNvSpPr>
            <a:spLocks noGrp="1"/>
          </p:cNvSpPr>
          <p:nvPr>
            <p:ph type="body" sz="quarter" idx="23"/>
          </p:nvPr>
        </p:nvSpPr>
        <p:spPr>
          <a:xfrm>
            <a:off x="949469" y="4436918"/>
            <a:ext cx="2961410" cy="1080941"/>
          </a:xfrm>
          <a:prstGeom prst="rect">
            <a:avLst/>
          </a:prstGeom>
        </p:spPr>
        <p:txBody>
          <a:bodyPr/>
          <a:lstStyle>
            <a:lvl1pPr marL="0" indent="0" algn="l">
              <a:lnSpc>
                <a:spcPct val="100000"/>
              </a:lnSpc>
              <a:spcBef>
                <a:spcPts val="0"/>
              </a:spcBef>
              <a:buFont typeface="Arial" panose="020B0604020202020204" pitchFamily="34" charset="0"/>
              <a:buNone/>
              <a:defRPr sz="1200">
                <a:solidFill>
                  <a:schemeClr val="tx1">
                    <a:lumMod val="75000"/>
                    <a:lumOff val="25000"/>
                  </a:schemeClr>
                </a:solidFill>
              </a:defRPr>
            </a:lvl1pPr>
            <a:lvl2pPr marL="457200" indent="0" algn="l">
              <a:buFont typeface="Arial" panose="020B0604020202020204" pitchFamily="34" charset="0"/>
              <a:buNone/>
              <a:defRPr sz="1200">
                <a:solidFill>
                  <a:schemeClr val="tx1">
                    <a:lumMod val="50000"/>
                    <a:lumOff val="50000"/>
                  </a:schemeClr>
                </a:solidFill>
              </a:defRPr>
            </a:lvl2pPr>
            <a:lvl3pPr marL="914400" indent="0" algn="l">
              <a:buFont typeface="Arial" panose="020B0604020202020204" pitchFamily="34" charset="0"/>
              <a:buNone/>
              <a:defRPr sz="1200">
                <a:solidFill>
                  <a:schemeClr val="tx1">
                    <a:lumMod val="50000"/>
                    <a:lumOff val="50000"/>
                  </a:schemeClr>
                </a:solidFill>
              </a:defRPr>
            </a:lvl3pPr>
            <a:lvl4pPr marL="1371600" indent="0" algn="l">
              <a:buFont typeface="Arial" panose="020B0604020202020204" pitchFamily="34" charset="0"/>
              <a:buNone/>
              <a:defRPr sz="1200">
                <a:solidFill>
                  <a:schemeClr val="tx1">
                    <a:lumMod val="50000"/>
                    <a:lumOff val="50000"/>
                  </a:schemeClr>
                </a:solidFill>
              </a:defRPr>
            </a:lvl4pPr>
            <a:lvl5pPr marL="1828800" indent="0" algn="l">
              <a:buFont typeface="Arial" panose="020B0604020202020204" pitchFamily="34" charset="0"/>
              <a:buNone/>
              <a:defRPr sz="1200">
                <a:solidFill>
                  <a:schemeClr val="tx1">
                    <a:lumMod val="50000"/>
                    <a:lumOff val="50000"/>
                  </a:schemeClr>
                </a:solidFill>
              </a:defRPr>
            </a:lvl5pPr>
          </a:lstStyle>
          <a:p>
            <a:pPr lvl="0"/>
            <a:r>
              <a:rPr lang="cs-CZ"/>
              <a:t>Upravte styly předlohy textu.</a:t>
            </a:r>
          </a:p>
        </p:txBody>
      </p:sp>
      <p:sp>
        <p:nvSpPr>
          <p:cNvPr id="28" name="Zástupný objekt pre text 14">
            <a:extLst>
              <a:ext uri="{FF2B5EF4-FFF2-40B4-BE49-F238E27FC236}">
                <a16:creationId xmlns:a16="http://schemas.microsoft.com/office/drawing/2014/main" id="{AF33FA51-B83E-40DA-88B0-908E5EF1DDF3}"/>
              </a:ext>
            </a:extLst>
          </p:cNvPr>
          <p:cNvSpPr>
            <a:spLocks noGrp="1"/>
          </p:cNvSpPr>
          <p:nvPr>
            <p:ph type="body" sz="quarter" idx="15" hasCustomPrompt="1"/>
          </p:nvPr>
        </p:nvSpPr>
        <p:spPr>
          <a:xfrm>
            <a:off x="8672947" y="6431973"/>
            <a:ext cx="3089564" cy="207818"/>
          </a:xfrm>
          <a:prstGeom prst="rect">
            <a:avLst/>
          </a:prstGeom>
        </p:spPr>
        <p:txBody>
          <a:bodyPr/>
          <a:lstStyle>
            <a:lvl1pPr algn="r">
              <a:defRPr sz="950" b="0">
                <a:solidFill>
                  <a:schemeClr val="bg1">
                    <a:lumMod val="50000"/>
                  </a:schemeClr>
                </a:solidFill>
              </a:defRPr>
            </a:lvl1pPr>
            <a:lvl2pPr>
              <a:defRPr sz="950" b="0">
                <a:solidFill>
                  <a:schemeClr val="bg1">
                    <a:lumMod val="50000"/>
                  </a:schemeClr>
                </a:solidFill>
              </a:defRPr>
            </a:lvl2pPr>
            <a:lvl3pPr>
              <a:defRPr sz="950" b="0">
                <a:solidFill>
                  <a:schemeClr val="bg1">
                    <a:lumMod val="50000"/>
                  </a:schemeClr>
                </a:solidFill>
              </a:defRPr>
            </a:lvl3pPr>
            <a:lvl4pPr>
              <a:defRPr sz="950" b="0">
                <a:solidFill>
                  <a:schemeClr val="bg1">
                    <a:lumMod val="50000"/>
                  </a:schemeClr>
                </a:solidFill>
              </a:defRPr>
            </a:lvl4pPr>
            <a:lvl5pPr>
              <a:defRPr sz="950" b="0">
                <a:solidFill>
                  <a:schemeClr val="bg1">
                    <a:lumMod val="50000"/>
                  </a:schemeClr>
                </a:solidFill>
              </a:defRPr>
            </a:lvl5pPr>
          </a:lstStyle>
          <a:p>
            <a:pPr lvl="0"/>
            <a:r>
              <a:rPr lang="sk-SK" dirty="0" err="1"/>
              <a:t>Název</a:t>
            </a:r>
            <a:r>
              <a:rPr lang="sk-SK" dirty="0"/>
              <a:t> </a:t>
            </a:r>
            <a:r>
              <a:rPr lang="sk-SK" dirty="0" err="1"/>
              <a:t>prezentace</a:t>
            </a:r>
            <a:r>
              <a:rPr lang="sk-SK" dirty="0"/>
              <a:t> (</a:t>
            </a:r>
            <a:r>
              <a:rPr lang="sk-SK" dirty="0" err="1"/>
              <a:t>volitelně</a:t>
            </a:r>
            <a:r>
              <a:rPr lang="sk-SK" dirty="0"/>
              <a:t>)</a:t>
            </a:r>
          </a:p>
        </p:txBody>
      </p:sp>
      <p:sp>
        <p:nvSpPr>
          <p:cNvPr id="29" name="BlokTextu 28">
            <a:extLst>
              <a:ext uri="{FF2B5EF4-FFF2-40B4-BE49-F238E27FC236}">
                <a16:creationId xmlns:a16="http://schemas.microsoft.com/office/drawing/2014/main" id="{67D481AA-F3A8-4360-9981-F4657D8B1B13}"/>
              </a:ext>
            </a:extLst>
          </p:cNvPr>
          <p:cNvSpPr txBox="1"/>
          <p:nvPr/>
        </p:nvSpPr>
        <p:spPr>
          <a:xfrm>
            <a:off x="11853949" y="6431973"/>
            <a:ext cx="338051" cy="207818"/>
          </a:xfrm>
          <a:prstGeom prst="rect">
            <a:avLst/>
          </a:prstGeom>
        </p:spPr>
        <p:txBody>
          <a:bodyPr vert="horz" wrap="square" lIns="0" tIns="45720" rIns="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fld id="{B0E1C688-2A94-4C23-89D7-1BDBDDABE19E}" type="slidenum">
              <a:rPr lang="sk-SK" sz="950" b="0" kern="1200" noProof="0" smtClean="0">
                <a:solidFill>
                  <a:schemeClr val="bg1">
                    <a:lumMod val="50000"/>
                  </a:schemeClr>
                </a:solidFill>
                <a:latin typeface="+mn-lt"/>
                <a:ea typeface="+mn-ea"/>
                <a:cs typeface="+mn-cs"/>
              </a:rPr>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t>‹#›</a:t>
            </a:fld>
            <a:endParaRPr lang="sk-SK" sz="950" b="0" kern="1200" noProof="0" dirty="0">
              <a:solidFill>
                <a:schemeClr val="bg1">
                  <a:lumMod val="50000"/>
                </a:schemeClr>
              </a:solidFill>
              <a:latin typeface="+mn-lt"/>
              <a:ea typeface="+mn-ea"/>
              <a:cs typeface="+mn-cs"/>
            </a:endParaRPr>
          </a:p>
        </p:txBody>
      </p:sp>
    </p:spTree>
    <p:extLst>
      <p:ext uri="{BB962C8B-B14F-4D97-AF65-F5344CB8AC3E}">
        <p14:creationId xmlns:p14="http://schemas.microsoft.com/office/powerpoint/2010/main" val="39849058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5_LeftText_2">
    <p:bg>
      <p:bgPr>
        <a:solidFill>
          <a:schemeClr val="bg1"/>
        </a:solidFill>
        <a:effectLst/>
      </p:bgPr>
    </p:bg>
    <p:spTree>
      <p:nvGrpSpPr>
        <p:cNvPr id="1" name=""/>
        <p:cNvGrpSpPr/>
        <p:nvPr/>
      </p:nvGrpSpPr>
      <p:grpSpPr>
        <a:xfrm>
          <a:off x="0" y="0"/>
          <a:ext cx="0" cy="0"/>
          <a:chOff x="0" y="0"/>
          <a:chExt cx="0" cy="0"/>
        </a:xfrm>
      </p:grpSpPr>
      <p:sp>
        <p:nvSpPr>
          <p:cNvPr id="14" name="Zástupný objekt pre text 13">
            <a:extLst>
              <a:ext uri="{FF2B5EF4-FFF2-40B4-BE49-F238E27FC236}">
                <a16:creationId xmlns:a16="http://schemas.microsoft.com/office/drawing/2014/main" id="{ACA22D96-AB45-4340-BC17-743ADAFD8AC1}"/>
              </a:ext>
            </a:extLst>
          </p:cNvPr>
          <p:cNvSpPr>
            <a:spLocks noGrp="1"/>
          </p:cNvSpPr>
          <p:nvPr>
            <p:ph type="body" sz="quarter" idx="17"/>
          </p:nvPr>
        </p:nvSpPr>
        <p:spPr>
          <a:xfrm>
            <a:off x="893619" y="862446"/>
            <a:ext cx="6338454" cy="363682"/>
          </a:xfrm>
          <a:prstGeom prst="rect">
            <a:avLst/>
          </a:prstGeom>
        </p:spPr>
        <p:txBody>
          <a:bodyPr/>
          <a:lstStyle>
            <a:lvl1pPr marL="0" indent="0" algn="l">
              <a:buFont typeface="Arial" panose="020B0604020202020204" pitchFamily="34" charset="0"/>
              <a:buNone/>
              <a:defRPr lang="sk-SK" sz="3000" dirty="0">
                <a:solidFill>
                  <a:schemeClr val="tx1"/>
                </a:solidFill>
              </a:defRPr>
            </a:lvl1pPr>
            <a:lvl2pPr marL="457200" indent="0" algn="l">
              <a:buFont typeface="Arial" panose="020B0604020202020204" pitchFamily="34" charset="0"/>
              <a:buNone/>
              <a:defRPr sz="2400">
                <a:solidFill>
                  <a:schemeClr val="tx1"/>
                </a:solidFill>
              </a:defRPr>
            </a:lvl2pPr>
            <a:lvl3pPr marL="914400" indent="0" algn="l">
              <a:buFont typeface="Arial" panose="020B0604020202020204" pitchFamily="34" charset="0"/>
              <a:buNone/>
              <a:defRPr sz="2400">
                <a:solidFill>
                  <a:schemeClr val="tx1"/>
                </a:solidFill>
              </a:defRPr>
            </a:lvl3pPr>
            <a:lvl4pPr marL="1371600" indent="0" algn="l">
              <a:buFont typeface="Arial" panose="020B0604020202020204" pitchFamily="34" charset="0"/>
              <a:buNone/>
              <a:defRPr sz="2400">
                <a:solidFill>
                  <a:schemeClr val="tx1"/>
                </a:solidFill>
              </a:defRPr>
            </a:lvl4pPr>
            <a:lvl5pPr marL="1828800" indent="0" algn="l">
              <a:buFont typeface="Arial" panose="020B0604020202020204" pitchFamily="34" charset="0"/>
              <a:buNone/>
              <a:defRPr sz="2400">
                <a:solidFill>
                  <a:schemeClr val="tx1"/>
                </a:solidFill>
              </a:defRPr>
            </a:lvl5pPr>
          </a:lstStyle>
          <a:p>
            <a:pPr lvl="0"/>
            <a:r>
              <a:rPr lang="cs-CZ"/>
              <a:t>Upravte styly předlohy textu.</a:t>
            </a:r>
          </a:p>
        </p:txBody>
      </p:sp>
      <p:cxnSp>
        <p:nvCxnSpPr>
          <p:cNvPr id="17" name="Rovná spojnica 16">
            <a:extLst>
              <a:ext uri="{FF2B5EF4-FFF2-40B4-BE49-F238E27FC236}">
                <a16:creationId xmlns:a16="http://schemas.microsoft.com/office/drawing/2014/main" id="{3D56B16E-4FD8-4509-BE3F-C627D6B76B34}"/>
              </a:ext>
            </a:extLst>
          </p:cNvPr>
          <p:cNvCxnSpPr/>
          <p:nvPr/>
        </p:nvCxnSpPr>
        <p:spPr>
          <a:xfrm>
            <a:off x="11762511" y="6483928"/>
            <a:ext cx="0" cy="155863"/>
          </a:xfrm>
          <a:prstGeom prst="line">
            <a:avLst/>
          </a:prstGeom>
          <a:ln>
            <a:solidFill>
              <a:schemeClr val="bg2">
                <a:lumMod val="75000"/>
              </a:schemeClr>
            </a:solidFill>
          </a:ln>
        </p:spPr>
        <p:style>
          <a:lnRef idx="1">
            <a:schemeClr val="dk1"/>
          </a:lnRef>
          <a:fillRef idx="0">
            <a:schemeClr val="dk1"/>
          </a:fillRef>
          <a:effectRef idx="0">
            <a:schemeClr val="dk1"/>
          </a:effectRef>
          <a:fontRef idx="minor">
            <a:schemeClr val="tx1"/>
          </a:fontRef>
        </p:style>
      </p:cxnSp>
      <p:grpSp>
        <p:nvGrpSpPr>
          <p:cNvPr id="10" name="Skupina 9">
            <a:extLst>
              <a:ext uri="{FF2B5EF4-FFF2-40B4-BE49-F238E27FC236}">
                <a16:creationId xmlns:a16="http://schemas.microsoft.com/office/drawing/2014/main" id="{1A115AB3-50A6-4D3F-A282-519F4A867FF0}"/>
              </a:ext>
            </a:extLst>
          </p:cNvPr>
          <p:cNvGrpSpPr/>
          <p:nvPr/>
        </p:nvGrpSpPr>
        <p:grpSpPr>
          <a:xfrm>
            <a:off x="232633" y="6431406"/>
            <a:ext cx="848022" cy="183990"/>
            <a:chOff x="2560197" y="6541214"/>
            <a:chExt cx="1398836" cy="303496"/>
          </a:xfrm>
        </p:grpSpPr>
        <p:sp>
          <p:nvSpPr>
            <p:cNvPr id="13" name="Voľný tvar: obrazec 12">
              <a:extLst>
                <a:ext uri="{FF2B5EF4-FFF2-40B4-BE49-F238E27FC236}">
                  <a16:creationId xmlns:a16="http://schemas.microsoft.com/office/drawing/2014/main" id="{B1B46398-000C-4C60-A104-FE64AC98A158}"/>
                </a:ext>
              </a:extLst>
            </p:cNvPr>
            <p:cNvSpPr/>
            <p:nvPr/>
          </p:nvSpPr>
          <p:spPr>
            <a:xfrm>
              <a:off x="3265060" y="6542851"/>
              <a:ext cx="191228" cy="296094"/>
            </a:xfrm>
            <a:custGeom>
              <a:avLst/>
              <a:gdLst>
                <a:gd name="connsiteX0" fmla="*/ 2989 w 191228"/>
                <a:gd name="connsiteY0" fmla="*/ 2989 h 296094"/>
                <a:gd name="connsiteX1" fmla="*/ 2989 w 191228"/>
                <a:gd name="connsiteY1" fmla="*/ 297232 h 296094"/>
                <a:gd name="connsiteX2" fmla="*/ 192983 w 191228"/>
                <a:gd name="connsiteY2" fmla="*/ 297232 h 296094"/>
                <a:gd name="connsiteX3" fmla="*/ 192983 w 191228"/>
                <a:gd name="connsiteY3" fmla="*/ 231228 h 296094"/>
                <a:gd name="connsiteX4" fmla="*/ 73311 w 191228"/>
                <a:gd name="connsiteY4" fmla="*/ 231228 h 296094"/>
                <a:gd name="connsiteX5" fmla="*/ 73311 w 191228"/>
                <a:gd name="connsiteY5" fmla="*/ 2989 h 29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1228" h="296094">
                  <a:moveTo>
                    <a:pt x="2989" y="2989"/>
                  </a:moveTo>
                  <a:lnTo>
                    <a:pt x="2989" y="297232"/>
                  </a:lnTo>
                  <a:lnTo>
                    <a:pt x="192983" y="297232"/>
                  </a:lnTo>
                  <a:lnTo>
                    <a:pt x="192983" y="231228"/>
                  </a:lnTo>
                  <a:lnTo>
                    <a:pt x="73311" y="231228"/>
                  </a:lnTo>
                  <a:lnTo>
                    <a:pt x="73311" y="2989"/>
                  </a:lnTo>
                  <a:close/>
                </a:path>
              </a:pathLst>
            </a:custGeom>
            <a:solidFill>
              <a:schemeClr val="tx1"/>
            </a:solidFill>
            <a:ln w="6153" cap="flat">
              <a:noFill/>
              <a:prstDash val="solid"/>
              <a:miter/>
            </a:ln>
          </p:spPr>
          <p:txBody>
            <a:bodyPr rtlCol="0" anchor="ctr"/>
            <a:lstStyle/>
            <a:p>
              <a:endParaRPr lang="sk-SK" dirty="0"/>
            </a:p>
          </p:txBody>
        </p:sp>
        <p:sp>
          <p:nvSpPr>
            <p:cNvPr id="15" name="Voľný tvar: obrazec 14">
              <a:extLst>
                <a:ext uri="{FF2B5EF4-FFF2-40B4-BE49-F238E27FC236}">
                  <a16:creationId xmlns:a16="http://schemas.microsoft.com/office/drawing/2014/main" id="{7E69DB8B-CB5A-4BBE-8442-7EE46298393B}"/>
                </a:ext>
              </a:extLst>
            </p:cNvPr>
            <p:cNvSpPr/>
            <p:nvPr/>
          </p:nvSpPr>
          <p:spPr>
            <a:xfrm>
              <a:off x="3495767" y="6542851"/>
              <a:ext cx="209734" cy="296094"/>
            </a:xfrm>
            <a:custGeom>
              <a:avLst/>
              <a:gdLst>
                <a:gd name="connsiteX0" fmla="*/ 2989 w 209733"/>
                <a:gd name="connsiteY0" fmla="*/ 2989 h 296094"/>
                <a:gd name="connsiteX1" fmla="*/ 2989 w 209733"/>
                <a:gd name="connsiteY1" fmla="*/ 297232 h 296094"/>
                <a:gd name="connsiteX2" fmla="*/ 212106 w 209733"/>
                <a:gd name="connsiteY2" fmla="*/ 297232 h 296094"/>
                <a:gd name="connsiteX3" fmla="*/ 212106 w 209733"/>
                <a:gd name="connsiteY3" fmla="*/ 234312 h 296094"/>
                <a:gd name="connsiteX4" fmla="*/ 73311 w 209733"/>
                <a:gd name="connsiteY4" fmla="*/ 234312 h 296094"/>
                <a:gd name="connsiteX5" fmla="*/ 73311 w 209733"/>
                <a:gd name="connsiteY5" fmla="*/ 175710 h 296094"/>
                <a:gd name="connsiteX6" fmla="*/ 196067 w 209733"/>
                <a:gd name="connsiteY6" fmla="*/ 175710 h 296094"/>
                <a:gd name="connsiteX7" fmla="*/ 196067 w 209733"/>
                <a:gd name="connsiteY7" fmla="*/ 112790 h 296094"/>
                <a:gd name="connsiteX8" fmla="*/ 73311 w 209733"/>
                <a:gd name="connsiteY8" fmla="*/ 112790 h 296094"/>
                <a:gd name="connsiteX9" fmla="*/ 73311 w 209733"/>
                <a:gd name="connsiteY9" fmla="*/ 65909 h 296094"/>
                <a:gd name="connsiteX10" fmla="*/ 212106 w 209733"/>
                <a:gd name="connsiteY10" fmla="*/ 65909 h 296094"/>
                <a:gd name="connsiteX11" fmla="*/ 212106 w 209733"/>
                <a:gd name="connsiteY11" fmla="*/ 2989 h 29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9733" h="296094">
                  <a:moveTo>
                    <a:pt x="2989" y="2989"/>
                  </a:moveTo>
                  <a:lnTo>
                    <a:pt x="2989" y="297232"/>
                  </a:lnTo>
                  <a:lnTo>
                    <a:pt x="212106" y="297232"/>
                  </a:lnTo>
                  <a:lnTo>
                    <a:pt x="212106" y="234312"/>
                  </a:lnTo>
                  <a:lnTo>
                    <a:pt x="73311" y="234312"/>
                  </a:lnTo>
                  <a:lnTo>
                    <a:pt x="73311" y="175710"/>
                  </a:lnTo>
                  <a:lnTo>
                    <a:pt x="196067" y="175710"/>
                  </a:lnTo>
                  <a:lnTo>
                    <a:pt x="196067" y="112790"/>
                  </a:lnTo>
                  <a:lnTo>
                    <a:pt x="73311" y="112790"/>
                  </a:lnTo>
                  <a:lnTo>
                    <a:pt x="73311" y="65909"/>
                  </a:lnTo>
                  <a:lnTo>
                    <a:pt x="212106" y="65909"/>
                  </a:lnTo>
                  <a:lnTo>
                    <a:pt x="212106" y="2989"/>
                  </a:lnTo>
                  <a:close/>
                </a:path>
              </a:pathLst>
            </a:custGeom>
            <a:solidFill>
              <a:schemeClr val="tx1"/>
            </a:solidFill>
            <a:ln w="6153" cap="flat">
              <a:noFill/>
              <a:prstDash val="solid"/>
              <a:miter/>
            </a:ln>
          </p:spPr>
          <p:txBody>
            <a:bodyPr rtlCol="0" anchor="ctr"/>
            <a:lstStyle/>
            <a:p>
              <a:endParaRPr lang="sk-SK" dirty="0"/>
            </a:p>
          </p:txBody>
        </p:sp>
        <p:sp>
          <p:nvSpPr>
            <p:cNvPr id="16" name="Voľný tvar: obrazec 15">
              <a:extLst>
                <a:ext uri="{FF2B5EF4-FFF2-40B4-BE49-F238E27FC236}">
                  <a16:creationId xmlns:a16="http://schemas.microsoft.com/office/drawing/2014/main" id="{EFEC6082-6334-4BDA-865B-E8C8DE75ED9E}"/>
                </a:ext>
              </a:extLst>
            </p:cNvPr>
            <p:cNvSpPr/>
            <p:nvPr/>
          </p:nvSpPr>
          <p:spPr>
            <a:xfrm>
              <a:off x="3749299" y="6542851"/>
              <a:ext cx="209734" cy="296094"/>
            </a:xfrm>
            <a:custGeom>
              <a:avLst/>
              <a:gdLst>
                <a:gd name="connsiteX0" fmla="*/ 2989 w 209733"/>
                <a:gd name="connsiteY0" fmla="*/ 2989 h 296094"/>
                <a:gd name="connsiteX1" fmla="*/ 2989 w 209733"/>
                <a:gd name="connsiteY1" fmla="*/ 297232 h 296094"/>
                <a:gd name="connsiteX2" fmla="*/ 73311 w 209733"/>
                <a:gd name="connsiteY2" fmla="*/ 297232 h 296094"/>
                <a:gd name="connsiteX3" fmla="*/ 73311 w 209733"/>
                <a:gd name="connsiteY3" fmla="*/ 179411 h 296094"/>
                <a:gd name="connsiteX4" fmla="*/ 193600 w 209733"/>
                <a:gd name="connsiteY4" fmla="*/ 179411 h 296094"/>
                <a:gd name="connsiteX5" fmla="*/ 193600 w 209733"/>
                <a:gd name="connsiteY5" fmla="*/ 117108 h 296094"/>
                <a:gd name="connsiteX6" fmla="*/ 73311 w 209733"/>
                <a:gd name="connsiteY6" fmla="*/ 117108 h 296094"/>
                <a:gd name="connsiteX7" fmla="*/ 73311 w 209733"/>
                <a:gd name="connsiteY7" fmla="*/ 65909 h 296094"/>
                <a:gd name="connsiteX8" fmla="*/ 209638 w 209733"/>
                <a:gd name="connsiteY8" fmla="*/ 65909 h 296094"/>
                <a:gd name="connsiteX9" fmla="*/ 209638 w 209733"/>
                <a:gd name="connsiteY9" fmla="*/ 2989 h 29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9733" h="296094">
                  <a:moveTo>
                    <a:pt x="2989" y="2989"/>
                  </a:moveTo>
                  <a:lnTo>
                    <a:pt x="2989" y="297232"/>
                  </a:lnTo>
                  <a:lnTo>
                    <a:pt x="73311" y="297232"/>
                  </a:lnTo>
                  <a:lnTo>
                    <a:pt x="73311" y="179411"/>
                  </a:lnTo>
                  <a:lnTo>
                    <a:pt x="193600" y="179411"/>
                  </a:lnTo>
                  <a:lnTo>
                    <a:pt x="193600" y="117108"/>
                  </a:lnTo>
                  <a:lnTo>
                    <a:pt x="73311" y="117108"/>
                  </a:lnTo>
                  <a:lnTo>
                    <a:pt x="73311" y="65909"/>
                  </a:lnTo>
                  <a:lnTo>
                    <a:pt x="209638" y="65909"/>
                  </a:lnTo>
                  <a:lnTo>
                    <a:pt x="209638" y="2989"/>
                  </a:lnTo>
                  <a:close/>
                </a:path>
              </a:pathLst>
            </a:custGeom>
            <a:solidFill>
              <a:schemeClr val="tx1"/>
            </a:solidFill>
            <a:ln w="6153" cap="flat">
              <a:noFill/>
              <a:prstDash val="solid"/>
              <a:miter/>
            </a:ln>
          </p:spPr>
          <p:txBody>
            <a:bodyPr rtlCol="0" anchor="ctr"/>
            <a:lstStyle/>
            <a:p>
              <a:endParaRPr lang="sk-SK" dirty="0"/>
            </a:p>
          </p:txBody>
        </p:sp>
        <p:sp>
          <p:nvSpPr>
            <p:cNvPr id="20" name="Voľný tvar: obrazec 19">
              <a:extLst>
                <a:ext uri="{FF2B5EF4-FFF2-40B4-BE49-F238E27FC236}">
                  <a16:creationId xmlns:a16="http://schemas.microsoft.com/office/drawing/2014/main" id="{5231A626-F5BB-4E7B-83FE-0CC52E13EA0D}"/>
                </a:ext>
              </a:extLst>
            </p:cNvPr>
            <p:cNvSpPr/>
            <p:nvPr/>
          </p:nvSpPr>
          <p:spPr>
            <a:xfrm>
              <a:off x="2943886" y="6541214"/>
              <a:ext cx="296095" cy="302263"/>
            </a:xfrm>
            <a:custGeom>
              <a:avLst/>
              <a:gdLst>
                <a:gd name="connsiteX0" fmla="*/ 81118 w 296095"/>
                <a:gd name="connsiteY0" fmla="*/ 298870 h 302262"/>
                <a:gd name="connsiteX1" fmla="*/ 102091 w 296095"/>
                <a:gd name="connsiteY1" fmla="*/ 235950 h 302262"/>
                <a:gd name="connsiteX2" fmla="*/ 198939 w 296095"/>
                <a:gd name="connsiteY2" fmla="*/ 235950 h 302262"/>
                <a:gd name="connsiteX3" fmla="*/ 219295 w 296095"/>
                <a:gd name="connsiteY3" fmla="*/ 298870 h 302262"/>
                <a:gd name="connsiteX4" fmla="*/ 295787 w 296095"/>
                <a:gd name="connsiteY4" fmla="*/ 298870 h 302262"/>
                <a:gd name="connsiteX5" fmla="*/ 190303 w 296095"/>
                <a:gd name="connsiteY5" fmla="*/ 4626 h 302262"/>
                <a:gd name="connsiteX6" fmla="*/ 110110 w 296095"/>
                <a:gd name="connsiteY6" fmla="*/ 4626 h 302262"/>
                <a:gd name="connsiteX7" fmla="*/ 4626 w 296095"/>
                <a:gd name="connsiteY7" fmla="*/ 298870 h 302262"/>
                <a:gd name="connsiteX8" fmla="*/ 81118 w 296095"/>
                <a:gd name="connsiteY8" fmla="*/ 298870 h 302262"/>
                <a:gd name="connsiteX9" fmla="*/ 149590 w 296095"/>
                <a:gd name="connsiteY9" fmla="*/ 99006 h 302262"/>
                <a:gd name="connsiteX10" fmla="*/ 150823 w 296095"/>
                <a:gd name="connsiteY10" fmla="*/ 95922 h 302262"/>
                <a:gd name="connsiteX11" fmla="*/ 151440 w 296095"/>
                <a:gd name="connsiteY11" fmla="*/ 98390 h 302262"/>
                <a:gd name="connsiteX12" fmla="*/ 177965 w 296095"/>
                <a:gd name="connsiteY12" fmla="*/ 173647 h 302262"/>
                <a:gd name="connsiteX13" fmla="*/ 123681 w 296095"/>
                <a:gd name="connsiteY13" fmla="*/ 173647 h 302262"/>
                <a:gd name="connsiteX14" fmla="*/ 149590 w 296095"/>
                <a:gd name="connsiteY14" fmla="*/ 99006 h 302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6095" h="302262">
                  <a:moveTo>
                    <a:pt x="81118" y="298870"/>
                  </a:moveTo>
                  <a:lnTo>
                    <a:pt x="102091" y="235950"/>
                  </a:lnTo>
                  <a:lnTo>
                    <a:pt x="198939" y="235950"/>
                  </a:lnTo>
                  <a:lnTo>
                    <a:pt x="219295" y="298870"/>
                  </a:lnTo>
                  <a:lnTo>
                    <a:pt x="295787" y="298870"/>
                  </a:lnTo>
                  <a:lnTo>
                    <a:pt x="190303" y="4626"/>
                  </a:lnTo>
                  <a:lnTo>
                    <a:pt x="110110" y="4626"/>
                  </a:lnTo>
                  <a:lnTo>
                    <a:pt x="4626" y="298870"/>
                  </a:lnTo>
                  <a:lnTo>
                    <a:pt x="81118" y="298870"/>
                  </a:lnTo>
                  <a:close/>
                  <a:moveTo>
                    <a:pt x="149590" y="99006"/>
                  </a:moveTo>
                  <a:cubicBezTo>
                    <a:pt x="150207" y="98390"/>
                    <a:pt x="150207" y="97156"/>
                    <a:pt x="150823" y="95922"/>
                  </a:cubicBezTo>
                  <a:cubicBezTo>
                    <a:pt x="150823" y="96539"/>
                    <a:pt x="151440" y="97773"/>
                    <a:pt x="151440" y="98390"/>
                  </a:cubicBezTo>
                  <a:lnTo>
                    <a:pt x="177965" y="173647"/>
                  </a:lnTo>
                  <a:lnTo>
                    <a:pt x="123681" y="173647"/>
                  </a:lnTo>
                  <a:lnTo>
                    <a:pt x="149590" y="99006"/>
                  </a:lnTo>
                  <a:close/>
                </a:path>
              </a:pathLst>
            </a:custGeom>
            <a:solidFill>
              <a:schemeClr val="tx1"/>
            </a:solidFill>
            <a:ln w="9525" cap="flat">
              <a:noFill/>
              <a:prstDash val="solid"/>
              <a:miter/>
            </a:ln>
          </p:spPr>
          <p:txBody>
            <a:bodyPr rtlCol="0" anchor="ctr"/>
            <a:lstStyle/>
            <a:p>
              <a:endParaRPr lang="sk-SK" dirty="0"/>
            </a:p>
          </p:txBody>
        </p:sp>
        <p:sp>
          <p:nvSpPr>
            <p:cNvPr id="21" name="Voľný tvar: obrazec 20">
              <a:extLst>
                <a:ext uri="{FF2B5EF4-FFF2-40B4-BE49-F238E27FC236}">
                  <a16:creationId xmlns:a16="http://schemas.microsoft.com/office/drawing/2014/main" id="{5C44B311-6D0C-4539-95F8-047A283D0CC4}"/>
                </a:ext>
              </a:extLst>
            </p:cNvPr>
            <p:cNvSpPr/>
            <p:nvPr/>
          </p:nvSpPr>
          <p:spPr>
            <a:xfrm>
              <a:off x="2567386" y="6543468"/>
              <a:ext cx="271420" cy="296094"/>
            </a:xfrm>
            <a:custGeom>
              <a:avLst/>
              <a:gdLst>
                <a:gd name="connsiteX0" fmla="*/ 2989 w 271420"/>
                <a:gd name="connsiteY0" fmla="*/ 2989 h 296094"/>
                <a:gd name="connsiteX1" fmla="*/ 174477 w 271420"/>
                <a:gd name="connsiteY1" fmla="*/ 296615 h 296094"/>
                <a:gd name="connsiteX2" fmla="*/ 270708 w 271420"/>
                <a:gd name="connsiteY2" fmla="*/ 296615 h 296094"/>
                <a:gd name="connsiteX3" fmla="*/ 101687 w 271420"/>
                <a:gd name="connsiteY3" fmla="*/ 2989 h 296094"/>
              </a:gdLst>
              <a:ahLst/>
              <a:cxnLst>
                <a:cxn ang="0">
                  <a:pos x="connsiteX0" y="connsiteY0"/>
                </a:cxn>
                <a:cxn ang="0">
                  <a:pos x="connsiteX1" y="connsiteY1"/>
                </a:cxn>
                <a:cxn ang="0">
                  <a:pos x="connsiteX2" y="connsiteY2"/>
                </a:cxn>
                <a:cxn ang="0">
                  <a:pos x="connsiteX3" y="connsiteY3"/>
                </a:cxn>
              </a:cxnLst>
              <a:rect l="l" t="t" r="r" b="b"/>
              <a:pathLst>
                <a:path w="271420" h="296094">
                  <a:moveTo>
                    <a:pt x="2989" y="2989"/>
                  </a:moveTo>
                  <a:lnTo>
                    <a:pt x="174477" y="296615"/>
                  </a:lnTo>
                  <a:lnTo>
                    <a:pt x="270708" y="296615"/>
                  </a:lnTo>
                  <a:lnTo>
                    <a:pt x="101687" y="2989"/>
                  </a:lnTo>
                  <a:close/>
                </a:path>
              </a:pathLst>
            </a:custGeom>
            <a:solidFill>
              <a:schemeClr val="tx2"/>
            </a:solidFill>
            <a:ln w="6153" cap="flat">
              <a:noFill/>
              <a:prstDash val="solid"/>
              <a:miter/>
            </a:ln>
          </p:spPr>
          <p:txBody>
            <a:bodyPr rtlCol="0" anchor="ctr"/>
            <a:lstStyle/>
            <a:p>
              <a:endParaRPr lang="sk-SK" dirty="0"/>
            </a:p>
          </p:txBody>
        </p:sp>
        <p:sp>
          <p:nvSpPr>
            <p:cNvPr id="22" name="Voľný tvar: obrazec 21">
              <a:extLst>
                <a:ext uri="{FF2B5EF4-FFF2-40B4-BE49-F238E27FC236}">
                  <a16:creationId xmlns:a16="http://schemas.microsoft.com/office/drawing/2014/main" id="{D84B0380-7340-47C5-8558-22CC34B7A29D}"/>
                </a:ext>
              </a:extLst>
            </p:cNvPr>
            <p:cNvSpPr/>
            <p:nvPr/>
          </p:nvSpPr>
          <p:spPr>
            <a:xfrm>
              <a:off x="2744022" y="6541214"/>
              <a:ext cx="104867" cy="148047"/>
            </a:xfrm>
            <a:custGeom>
              <a:avLst/>
              <a:gdLst>
                <a:gd name="connsiteX0" fmla="*/ 4626 w 104866"/>
                <a:gd name="connsiteY0" fmla="*/ 143421 h 148047"/>
                <a:gd name="connsiteX1" fmla="*/ 16964 w 104866"/>
                <a:gd name="connsiteY1" fmla="*/ 4626 h 148047"/>
                <a:gd name="connsiteX2" fmla="*/ 101474 w 104866"/>
                <a:gd name="connsiteY2" fmla="*/ 4626 h 148047"/>
                <a:gd name="connsiteX3" fmla="*/ 91604 w 104866"/>
                <a:gd name="connsiteY3" fmla="*/ 102708 h 148047"/>
                <a:gd name="connsiteX4" fmla="*/ 4626 w 104866"/>
                <a:gd name="connsiteY4" fmla="*/ 143421 h 148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66" h="148047">
                  <a:moveTo>
                    <a:pt x="4626" y="143421"/>
                  </a:moveTo>
                  <a:lnTo>
                    <a:pt x="16964" y="4626"/>
                  </a:lnTo>
                  <a:lnTo>
                    <a:pt x="101474" y="4626"/>
                  </a:lnTo>
                  <a:lnTo>
                    <a:pt x="91604" y="102708"/>
                  </a:lnTo>
                  <a:cubicBezTo>
                    <a:pt x="90988" y="102708"/>
                    <a:pt x="70014" y="131083"/>
                    <a:pt x="4626" y="143421"/>
                  </a:cubicBezTo>
                </a:path>
              </a:pathLst>
            </a:custGeom>
            <a:solidFill>
              <a:schemeClr val="tx2"/>
            </a:solidFill>
            <a:ln w="9525" cap="flat">
              <a:noFill/>
              <a:prstDash val="solid"/>
              <a:miter/>
            </a:ln>
          </p:spPr>
          <p:txBody>
            <a:bodyPr rtlCol="0" anchor="ctr"/>
            <a:lstStyle/>
            <a:p>
              <a:endParaRPr lang="sk-SK" dirty="0"/>
            </a:p>
          </p:txBody>
        </p:sp>
        <p:sp>
          <p:nvSpPr>
            <p:cNvPr id="23" name="Voľný tvar: obrazec 22">
              <a:extLst>
                <a:ext uri="{FF2B5EF4-FFF2-40B4-BE49-F238E27FC236}">
                  <a16:creationId xmlns:a16="http://schemas.microsoft.com/office/drawing/2014/main" id="{C821FC7D-775A-43AC-B95D-153712422F21}"/>
                </a:ext>
              </a:extLst>
            </p:cNvPr>
            <p:cNvSpPr/>
            <p:nvPr/>
          </p:nvSpPr>
          <p:spPr>
            <a:xfrm>
              <a:off x="2560197" y="6696663"/>
              <a:ext cx="104867" cy="148047"/>
            </a:xfrm>
            <a:custGeom>
              <a:avLst/>
              <a:gdLst>
                <a:gd name="connsiteX0" fmla="*/ 100857 w 104866"/>
                <a:gd name="connsiteY0" fmla="*/ 4626 h 148047"/>
                <a:gd name="connsiteX1" fmla="*/ 88520 w 104866"/>
                <a:gd name="connsiteY1" fmla="*/ 143421 h 148047"/>
                <a:gd name="connsiteX2" fmla="*/ 4626 w 104866"/>
                <a:gd name="connsiteY2" fmla="*/ 143421 h 148047"/>
                <a:gd name="connsiteX3" fmla="*/ 14496 w 104866"/>
                <a:gd name="connsiteY3" fmla="*/ 45339 h 148047"/>
                <a:gd name="connsiteX4" fmla="*/ 100857 w 104866"/>
                <a:gd name="connsiteY4" fmla="*/ 4626 h 148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66" h="148047">
                  <a:moveTo>
                    <a:pt x="100857" y="4626"/>
                  </a:moveTo>
                  <a:lnTo>
                    <a:pt x="88520" y="143421"/>
                  </a:lnTo>
                  <a:lnTo>
                    <a:pt x="4626" y="143421"/>
                  </a:lnTo>
                  <a:lnTo>
                    <a:pt x="14496" y="45339"/>
                  </a:lnTo>
                  <a:cubicBezTo>
                    <a:pt x="14496" y="45339"/>
                    <a:pt x="36087" y="16347"/>
                    <a:pt x="100857" y="4626"/>
                  </a:cubicBezTo>
                </a:path>
              </a:pathLst>
            </a:custGeom>
            <a:solidFill>
              <a:schemeClr val="tx2"/>
            </a:solidFill>
            <a:ln w="9525" cap="flat">
              <a:noFill/>
              <a:prstDash val="solid"/>
              <a:miter/>
            </a:ln>
          </p:spPr>
          <p:txBody>
            <a:bodyPr rtlCol="0" anchor="ctr"/>
            <a:lstStyle/>
            <a:p>
              <a:endParaRPr lang="sk-SK" dirty="0"/>
            </a:p>
          </p:txBody>
        </p:sp>
      </p:grpSp>
      <p:sp>
        <p:nvSpPr>
          <p:cNvPr id="6" name="Zástupný objekt pre text 5">
            <a:extLst>
              <a:ext uri="{FF2B5EF4-FFF2-40B4-BE49-F238E27FC236}">
                <a16:creationId xmlns:a16="http://schemas.microsoft.com/office/drawing/2014/main" id="{3CBC49DD-7833-4745-9384-9184589FAC91}"/>
              </a:ext>
            </a:extLst>
          </p:cNvPr>
          <p:cNvSpPr>
            <a:spLocks noGrp="1"/>
          </p:cNvSpPr>
          <p:nvPr>
            <p:ph type="body" sz="quarter" idx="19"/>
          </p:nvPr>
        </p:nvSpPr>
        <p:spPr>
          <a:xfrm>
            <a:off x="8281556" y="4436918"/>
            <a:ext cx="2961410" cy="1080941"/>
          </a:xfrm>
          <a:prstGeom prst="rect">
            <a:avLst/>
          </a:prstGeom>
        </p:spPr>
        <p:txBody>
          <a:bodyPr/>
          <a:lstStyle>
            <a:lvl1pPr marL="0" indent="0" algn="l">
              <a:lnSpc>
                <a:spcPct val="100000"/>
              </a:lnSpc>
              <a:spcBef>
                <a:spcPts val="0"/>
              </a:spcBef>
              <a:buFont typeface="Arial" panose="020B0604020202020204" pitchFamily="34" charset="0"/>
              <a:buNone/>
              <a:defRPr sz="1200">
                <a:solidFill>
                  <a:schemeClr val="tx1">
                    <a:lumMod val="75000"/>
                    <a:lumOff val="25000"/>
                  </a:schemeClr>
                </a:solidFill>
              </a:defRPr>
            </a:lvl1pPr>
            <a:lvl2pPr marL="457200" indent="0" algn="l">
              <a:buFont typeface="Arial" panose="020B0604020202020204" pitchFamily="34" charset="0"/>
              <a:buNone/>
              <a:defRPr sz="1200">
                <a:solidFill>
                  <a:schemeClr val="tx1">
                    <a:lumMod val="50000"/>
                    <a:lumOff val="50000"/>
                  </a:schemeClr>
                </a:solidFill>
              </a:defRPr>
            </a:lvl2pPr>
            <a:lvl3pPr marL="914400" indent="0" algn="l">
              <a:buFont typeface="Arial" panose="020B0604020202020204" pitchFamily="34" charset="0"/>
              <a:buNone/>
              <a:defRPr sz="1200">
                <a:solidFill>
                  <a:schemeClr val="tx1">
                    <a:lumMod val="50000"/>
                    <a:lumOff val="50000"/>
                  </a:schemeClr>
                </a:solidFill>
              </a:defRPr>
            </a:lvl3pPr>
            <a:lvl4pPr marL="1371600" indent="0" algn="l">
              <a:buFont typeface="Arial" panose="020B0604020202020204" pitchFamily="34" charset="0"/>
              <a:buNone/>
              <a:defRPr sz="1200">
                <a:solidFill>
                  <a:schemeClr val="tx1">
                    <a:lumMod val="50000"/>
                    <a:lumOff val="50000"/>
                  </a:schemeClr>
                </a:solidFill>
              </a:defRPr>
            </a:lvl4pPr>
            <a:lvl5pPr marL="1828800" indent="0" algn="l">
              <a:buFont typeface="Arial" panose="020B0604020202020204" pitchFamily="34" charset="0"/>
              <a:buNone/>
              <a:defRPr sz="1200">
                <a:solidFill>
                  <a:schemeClr val="tx1">
                    <a:lumMod val="50000"/>
                    <a:lumOff val="50000"/>
                  </a:schemeClr>
                </a:solidFill>
              </a:defRPr>
            </a:lvl5pPr>
          </a:lstStyle>
          <a:p>
            <a:pPr lvl="0"/>
            <a:r>
              <a:rPr lang="cs-CZ"/>
              <a:t>Upravte styly předlohy textu.</a:t>
            </a:r>
          </a:p>
        </p:txBody>
      </p:sp>
      <p:sp>
        <p:nvSpPr>
          <p:cNvPr id="25" name="Zástupný objekt pre text 5">
            <a:extLst>
              <a:ext uri="{FF2B5EF4-FFF2-40B4-BE49-F238E27FC236}">
                <a16:creationId xmlns:a16="http://schemas.microsoft.com/office/drawing/2014/main" id="{8A63DAD4-51BC-4C27-BF95-838C4BF3706A}"/>
              </a:ext>
            </a:extLst>
          </p:cNvPr>
          <p:cNvSpPr>
            <a:spLocks noGrp="1"/>
          </p:cNvSpPr>
          <p:nvPr>
            <p:ph type="body" sz="quarter" idx="21"/>
          </p:nvPr>
        </p:nvSpPr>
        <p:spPr>
          <a:xfrm>
            <a:off x="4615296" y="4436918"/>
            <a:ext cx="2961410" cy="1080941"/>
          </a:xfrm>
          <a:prstGeom prst="rect">
            <a:avLst/>
          </a:prstGeom>
        </p:spPr>
        <p:txBody>
          <a:bodyPr/>
          <a:lstStyle>
            <a:lvl1pPr marL="0" indent="0" algn="l">
              <a:lnSpc>
                <a:spcPct val="100000"/>
              </a:lnSpc>
              <a:spcBef>
                <a:spcPts val="0"/>
              </a:spcBef>
              <a:buFont typeface="Arial" panose="020B0604020202020204" pitchFamily="34" charset="0"/>
              <a:buNone/>
              <a:defRPr sz="1200">
                <a:solidFill>
                  <a:schemeClr val="tx1">
                    <a:lumMod val="75000"/>
                    <a:lumOff val="25000"/>
                  </a:schemeClr>
                </a:solidFill>
              </a:defRPr>
            </a:lvl1pPr>
            <a:lvl2pPr marL="457200" indent="0" algn="l">
              <a:buFont typeface="Arial" panose="020B0604020202020204" pitchFamily="34" charset="0"/>
              <a:buNone/>
              <a:defRPr sz="1200">
                <a:solidFill>
                  <a:schemeClr val="tx1">
                    <a:lumMod val="50000"/>
                    <a:lumOff val="50000"/>
                  </a:schemeClr>
                </a:solidFill>
              </a:defRPr>
            </a:lvl2pPr>
            <a:lvl3pPr marL="914400" indent="0" algn="l">
              <a:buFont typeface="Arial" panose="020B0604020202020204" pitchFamily="34" charset="0"/>
              <a:buNone/>
              <a:defRPr sz="1200">
                <a:solidFill>
                  <a:schemeClr val="tx1">
                    <a:lumMod val="50000"/>
                    <a:lumOff val="50000"/>
                  </a:schemeClr>
                </a:solidFill>
              </a:defRPr>
            </a:lvl3pPr>
            <a:lvl4pPr marL="1371600" indent="0" algn="l">
              <a:buFont typeface="Arial" panose="020B0604020202020204" pitchFamily="34" charset="0"/>
              <a:buNone/>
              <a:defRPr sz="1200">
                <a:solidFill>
                  <a:schemeClr val="tx1">
                    <a:lumMod val="50000"/>
                    <a:lumOff val="50000"/>
                  </a:schemeClr>
                </a:solidFill>
              </a:defRPr>
            </a:lvl4pPr>
            <a:lvl5pPr marL="1828800" indent="0" algn="l">
              <a:buFont typeface="Arial" panose="020B0604020202020204" pitchFamily="34" charset="0"/>
              <a:buNone/>
              <a:defRPr sz="1200">
                <a:solidFill>
                  <a:schemeClr val="tx1">
                    <a:lumMod val="50000"/>
                    <a:lumOff val="50000"/>
                  </a:schemeClr>
                </a:solidFill>
              </a:defRPr>
            </a:lvl5pPr>
          </a:lstStyle>
          <a:p>
            <a:pPr lvl="0"/>
            <a:r>
              <a:rPr lang="cs-CZ"/>
              <a:t>Upravte styly předlohy textu.</a:t>
            </a:r>
          </a:p>
        </p:txBody>
      </p:sp>
      <p:sp>
        <p:nvSpPr>
          <p:cNvPr id="27" name="Zástupný objekt pre text 5">
            <a:extLst>
              <a:ext uri="{FF2B5EF4-FFF2-40B4-BE49-F238E27FC236}">
                <a16:creationId xmlns:a16="http://schemas.microsoft.com/office/drawing/2014/main" id="{E25F0636-5AA4-459A-B231-9C3CFAD1609C}"/>
              </a:ext>
            </a:extLst>
          </p:cNvPr>
          <p:cNvSpPr>
            <a:spLocks noGrp="1"/>
          </p:cNvSpPr>
          <p:nvPr>
            <p:ph type="body" sz="quarter" idx="23"/>
          </p:nvPr>
        </p:nvSpPr>
        <p:spPr>
          <a:xfrm>
            <a:off x="949469" y="4436918"/>
            <a:ext cx="2961410" cy="1080941"/>
          </a:xfrm>
          <a:prstGeom prst="rect">
            <a:avLst/>
          </a:prstGeom>
        </p:spPr>
        <p:txBody>
          <a:bodyPr/>
          <a:lstStyle>
            <a:lvl1pPr marL="0" indent="0" algn="l">
              <a:lnSpc>
                <a:spcPct val="100000"/>
              </a:lnSpc>
              <a:spcBef>
                <a:spcPts val="0"/>
              </a:spcBef>
              <a:buFont typeface="Arial" panose="020B0604020202020204" pitchFamily="34" charset="0"/>
              <a:buNone/>
              <a:defRPr sz="1200">
                <a:solidFill>
                  <a:schemeClr val="tx1">
                    <a:lumMod val="75000"/>
                    <a:lumOff val="25000"/>
                  </a:schemeClr>
                </a:solidFill>
              </a:defRPr>
            </a:lvl1pPr>
            <a:lvl2pPr marL="457200" indent="0" algn="l">
              <a:buFont typeface="Arial" panose="020B0604020202020204" pitchFamily="34" charset="0"/>
              <a:buNone/>
              <a:defRPr sz="1200">
                <a:solidFill>
                  <a:schemeClr val="tx1">
                    <a:lumMod val="50000"/>
                    <a:lumOff val="50000"/>
                  </a:schemeClr>
                </a:solidFill>
              </a:defRPr>
            </a:lvl2pPr>
            <a:lvl3pPr marL="914400" indent="0" algn="l">
              <a:buFont typeface="Arial" panose="020B0604020202020204" pitchFamily="34" charset="0"/>
              <a:buNone/>
              <a:defRPr sz="1200">
                <a:solidFill>
                  <a:schemeClr val="tx1">
                    <a:lumMod val="50000"/>
                    <a:lumOff val="50000"/>
                  </a:schemeClr>
                </a:solidFill>
              </a:defRPr>
            </a:lvl3pPr>
            <a:lvl4pPr marL="1371600" indent="0" algn="l">
              <a:buFont typeface="Arial" panose="020B0604020202020204" pitchFamily="34" charset="0"/>
              <a:buNone/>
              <a:defRPr sz="1200">
                <a:solidFill>
                  <a:schemeClr val="tx1">
                    <a:lumMod val="50000"/>
                    <a:lumOff val="50000"/>
                  </a:schemeClr>
                </a:solidFill>
              </a:defRPr>
            </a:lvl4pPr>
            <a:lvl5pPr marL="1828800" indent="0" algn="l">
              <a:buFont typeface="Arial" panose="020B0604020202020204" pitchFamily="34" charset="0"/>
              <a:buNone/>
              <a:defRPr sz="1200">
                <a:solidFill>
                  <a:schemeClr val="tx1">
                    <a:lumMod val="50000"/>
                    <a:lumOff val="50000"/>
                  </a:schemeClr>
                </a:solidFill>
              </a:defRPr>
            </a:lvl5pPr>
          </a:lstStyle>
          <a:p>
            <a:pPr lvl="0"/>
            <a:r>
              <a:rPr lang="cs-CZ"/>
              <a:t>Upravte styly předlohy textu.</a:t>
            </a:r>
          </a:p>
        </p:txBody>
      </p:sp>
      <p:sp>
        <p:nvSpPr>
          <p:cNvPr id="3" name="Zástupný objekt pre text 2">
            <a:extLst>
              <a:ext uri="{FF2B5EF4-FFF2-40B4-BE49-F238E27FC236}">
                <a16:creationId xmlns:a16="http://schemas.microsoft.com/office/drawing/2014/main" id="{65AD280F-4783-4B1E-B21D-EB7470E6F787}"/>
              </a:ext>
            </a:extLst>
          </p:cNvPr>
          <p:cNvSpPr>
            <a:spLocks noGrp="1"/>
          </p:cNvSpPr>
          <p:nvPr>
            <p:ph type="body" sz="quarter" idx="24" hasCustomPrompt="1"/>
          </p:nvPr>
        </p:nvSpPr>
        <p:spPr>
          <a:xfrm>
            <a:off x="957696" y="1891144"/>
            <a:ext cx="2961410" cy="2067791"/>
          </a:xfrm>
          <a:prstGeom prst="rect">
            <a:avLst/>
          </a:prstGeom>
        </p:spPr>
        <p:txBody>
          <a:bodyPr anchor="ctr"/>
          <a:lstStyle>
            <a:lvl1pPr>
              <a:defRPr sz="8000"/>
            </a:lvl1pPr>
          </a:lstStyle>
          <a:p>
            <a:pPr lvl="0"/>
            <a:r>
              <a:rPr lang="cs-CZ" dirty="0" err="1"/>
              <a:t>ohy</a:t>
            </a:r>
            <a:r>
              <a:rPr lang="cs-CZ" dirty="0"/>
              <a:t> </a:t>
            </a:r>
          </a:p>
        </p:txBody>
      </p:sp>
      <p:sp>
        <p:nvSpPr>
          <p:cNvPr id="28" name="Zástupný objekt pre text 2">
            <a:extLst>
              <a:ext uri="{FF2B5EF4-FFF2-40B4-BE49-F238E27FC236}">
                <a16:creationId xmlns:a16="http://schemas.microsoft.com/office/drawing/2014/main" id="{82A4AB75-EAFF-4653-A1BA-7E3F15D9D53C}"/>
              </a:ext>
            </a:extLst>
          </p:cNvPr>
          <p:cNvSpPr>
            <a:spLocks noGrp="1"/>
          </p:cNvSpPr>
          <p:nvPr>
            <p:ph type="body" sz="quarter" idx="25" hasCustomPrompt="1"/>
          </p:nvPr>
        </p:nvSpPr>
        <p:spPr>
          <a:xfrm>
            <a:off x="4615296" y="1891144"/>
            <a:ext cx="2961410" cy="2067791"/>
          </a:xfrm>
          <a:prstGeom prst="rect">
            <a:avLst/>
          </a:prstGeom>
        </p:spPr>
        <p:txBody>
          <a:bodyPr anchor="ctr"/>
          <a:lstStyle>
            <a:lvl1pPr>
              <a:defRPr sz="8000"/>
            </a:lvl1pPr>
          </a:lstStyle>
          <a:p>
            <a:pPr lvl="0"/>
            <a:r>
              <a:rPr lang="cs-CZ" dirty="0"/>
              <a:t>předlohy</a:t>
            </a:r>
          </a:p>
        </p:txBody>
      </p:sp>
      <p:sp>
        <p:nvSpPr>
          <p:cNvPr id="29" name="Zástupný objekt pre text 2">
            <a:extLst>
              <a:ext uri="{FF2B5EF4-FFF2-40B4-BE49-F238E27FC236}">
                <a16:creationId xmlns:a16="http://schemas.microsoft.com/office/drawing/2014/main" id="{ADF52997-95CF-4679-9E0F-B68BAE0D9589}"/>
              </a:ext>
            </a:extLst>
          </p:cNvPr>
          <p:cNvSpPr>
            <a:spLocks noGrp="1"/>
          </p:cNvSpPr>
          <p:nvPr>
            <p:ph type="body" sz="quarter" idx="26"/>
          </p:nvPr>
        </p:nvSpPr>
        <p:spPr>
          <a:xfrm>
            <a:off x="8295407" y="1891144"/>
            <a:ext cx="2961410" cy="2067791"/>
          </a:xfrm>
          <a:prstGeom prst="rect">
            <a:avLst/>
          </a:prstGeom>
        </p:spPr>
        <p:txBody>
          <a:bodyPr anchor="ctr"/>
          <a:lstStyle>
            <a:lvl1pPr>
              <a:defRPr sz="8000"/>
            </a:lvl1pPr>
          </a:lstStyle>
          <a:p>
            <a:pPr lvl="0"/>
            <a:r>
              <a:rPr lang="cs-CZ" dirty="0"/>
              <a:t>Upravte</a:t>
            </a:r>
          </a:p>
        </p:txBody>
      </p:sp>
      <p:sp>
        <p:nvSpPr>
          <p:cNvPr id="24" name="Zástupný objekt pre text 14">
            <a:extLst>
              <a:ext uri="{FF2B5EF4-FFF2-40B4-BE49-F238E27FC236}">
                <a16:creationId xmlns:a16="http://schemas.microsoft.com/office/drawing/2014/main" id="{4B1A7800-B53C-4668-B81E-BEDEEB3F6977}"/>
              </a:ext>
            </a:extLst>
          </p:cNvPr>
          <p:cNvSpPr>
            <a:spLocks noGrp="1"/>
          </p:cNvSpPr>
          <p:nvPr>
            <p:ph type="body" sz="quarter" idx="15" hasCustomPrompt="1"/>
          </p:nvPr>
        </p:nvSpPr>
        <p:spPr>
          <a:xfrm>
            <a:off x="8672947" y="6431973"/>
            <a:ext cx="3089564" cy="207818"/>
          </a:xfrm>
          <a:prstGeom prst="rect">
            <a:avLst/>
          </a:prstGeom>
        </p:spPr>
        <p:txBody>
          <a:bodyPr/>
          <a:lstStyle>
            <a:lvl1pPr algn="r">
              <a:defRPr sz="950" b="0">
                <a:solidFill>
                  <a:schemeClr val="bg1">
                    <a:lumMod val="50000"/>
                  </a:schemeClr>
                </a:solidFill>
              </a:defRPr>
            </a:lvl1pPr>
            <a:lvl2pPr>
              <a:defRPr sz="950" b="0">
                <a:solidFill>
                  <a:schemeClr val="bg1">
                    <a:lumMod val="50000"/>
                  </a:schemeClr>
                </a:solidFill>
              </a:defRPr>
            </a:lvl2pPr>
            <a:lvl3pPr>
              <a:defRPr sz="950" b="0">
                <a:solidFill>
                  <a:schemeClr val="bg1">
                    <a:lumMod val="50000"/>
                  </a:schemeClr>
                </a:solidFill>
              </a:defRPr>
            </a:lvl3pPr>
            <a:lvl4pPr>
              <a:defRPr sz="950" b="0">
                <a:solidFill>
                  <a:schemeClr val="bg1">
                    <a:lumMod val="50000"/>
                  </a:schemeClr>
                </a:solidFill>
              </a:defRPr>
            </a:lvl4pPr>
            <a:lvl5pPr>
              <a:defRPr sz="950" b="0">
                <a:solidFill>
                  <a:schemeClr val="bg1">
                    <a:lumMod val="50000"/>
                  </a:schemeClr>
                </a:solidFill>
              </a:defRPr>
            </a:lvl5pPr>
          </a:lstStyle>
          <a:p>
            <a:pPr lvl="0"/>
            <a:r>
              <a:rPr lang="sk-SK" dirty="0" err="1"/>
              <a:t>Název</a:t>
            </a:r>
            <a:r>
              <a:rPr lang="sk-SK" dirty="0"/>
              <a:t> </a:t>
            </a:r>
            <a:r>
              <a:rPr lang="sk-SK" dirty="0" err="1"/>
              <a:t>prezentace</a:t>
            </a:r>
            <a:r>
              <a:rPr lang="sk-SK" dirty="0"/>
              <a:t> (</a:t>
            </a:r>
            <a:r>
              <a:rPr lang="sk-SK" dirty="0" err="1"/>
              <a:t>volitelně</a:t>
            </a:r>
            <a:r>
              <a:rPr lang="sk-SK" dirty="0"/>
              <a:t>)</a:t>
            </a:r>
          </a:p>
        </p:txBody>
      </p:sp>
      <p:sp>
        <p:nvSpPr>
          <p:cNvPr id="26" name="BlokTextu 25">
            <a:extLst>
              <a:ext uri="{FF2B5EF4-FFF2-40B4-BE49-F238E27FC236}">
                <a16:creationId xmlns:a16="http://schemas.microsoft.com/office/drawing/2014/main" id="{BAAC626F-06C0-4CBA-B743-6CDC97AB30A8}"/>
              </a:ext>
            </a:extLst>
          </p:cNvPr>
          <p:cNvSpPr txBox="1"/>
          <p:nvPr/>
        </p:nvSpPr>
        <p:spPr>
          <a:xfrm>
            <a:off x="11853949" y="6431973"/>
            <a:ext cx="338051" cy="207818"/>
          </a:xfrm>
          <a:prstGeom prst="rect">
            <a:avLst/>
          </a:prstGeom>
        </p:spPr>
        <p:txBody>
          <a:bodyPr vert="horz" wrap="square" lIns="0" tIns="45720" rIns="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fld id="{B0E1C688-2A94-4C23-89D7-1BDBDDABE19E}" type="slidenum">
              <a:rPr lang="sk-SK" sz="950" b="0" kern="1200" noProof="0" smtClean="0">
                <a:solidFill>
                  <a:schemeClr val="bg1">
                    <a:lumMod val="50000"/>
                  </a:schemeClr>
                </a:solidFill>
                <a:latin typeface="+mn-lt"/>
                <a:ea typeface="+mn-ea"/>
                <a:cs typeface="+mn-cs"/>
              </a:rPr>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t>‹#›</a:t>
            </a:fld>
            <a:endParaRPr lang="sk-SK" sz="950" b="0" kern="1200" noProof="0" dirty="0">
              <a:solidFill>
                <a:schemeClr val="bg1">
                  <a:lumMod val="50000"/>
                </a:schemeClr>
              </a:solidFill>
              <a:latin typeface="+mn-lt"/>
              <a:ea typeface="+mn-ea"/>
              <a:cs typeface="+mn-cs"/>
            </a:endParaRPr>
          </a:p>
        </p:txBody>
      </p:sp>
    </p:spTree>
    <p:extLst>
      <p:ext uri="{BB962C8B-B14F-4D97-AF65-F5344CB8AC3E}">
        <p14:creationId xmlns:p14="http://schemas.microsoft.com/office/powerpoint/2010/main" val="23254782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artnership &amp; Certifications">
    <p:bg>
      <p:bgPr>
        <a:solidFill>
          <a:schemeClr val="bg1"/>
        </a:solidFill>
        <a:effectLst/>
      </p:bgPr>
    </p:bg>
    <p:spTree>
      <p:nvGrpSpPr>
        <p:cNvPr id="1" name=""/>
        <p:cNvGrpSpPr/>
        <p:nvPr/>
      </p:nvGrpSpPr>
      <p:grpSpPr>
        <a:xfrm>
          <a:off x="0" y="0"/>
          <a:ext cx="0" cy="0"/>
          <a:chOff x="0" y="0"/>
          <a:chExt cx="0" cy="0"/>
        </a:xfrm>
      </p:grpSpPr>
      <p:sp>
        <p:nvSpPr>
          <p:cNvPr id="2" name="Obdĺžnik 1">
            <a:extLst>
              <a:ext uri="{FF2B5EF4-FFF2-40B4-BE49-F238E27FC236}">
                <a16:creationId xmlns:a16="http://schemas.microsoft.com/office/drawing/2014/main" id="{1D902D2F-9688-4536-8B26-BD483AFD8980}"/>
              </a:ext>
            </a:extLst>
          </p:cNvPr>
          <p:cNvSpPr/>
          <p:nvPr/>
        </p:nvSpPr>
        <p:spPr>
          <a:xfrm>
            <a:off x="0" y="0"/>
            <a:ext cx="12192000" cy="4478482"/>
          </a:xfrm>
          <a:prstGeom prst="rect">
            <a:avLst/>
          </a:prstGeom>
          <a:solidFill>
            <a:srgbClr val="CC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k-SK" dirty="0"/>
          </a:p>
        </p:txBody>
      </p:sp>
      <p:sp>
        <p:nvSpPr>
          <p:cNvPr id="11" name="Zástupný objekt pre text 13">
            <a:extLst>
              <a:ext uri="{FF2B5EF4-FFF2-40B4-BE49-F238E27FC236}">
                <a16:creationId xmlns:a16="http://schemas.microsoft.com/office/drawing/2014/main" id="{5A6B9A21-4072-4B5E-82A4-A84DA82F4CAA}"/>
              </a:ext>
            </a:extLst>
          </p:cNvPr>
          <p:cNvSpPr>
            <a:spLocks noGrp="1"/>
          </p:cNvSpPr>
          <p:nvPr>
            <p:ph type="body" sz="quarter" idx="19" hasCustomPrompt="1"/>
          </p:nvPr>
        </p:nvSpPr>
        <p:spPr>
          <a:xfrm>
            <a:off x="893619" y="862444"/>
            <a:ext cx="7512626" cy="488373"/>
          </a:xfrm>
          <a:prstGeom prst="rect">
            <a:avLst/>
          </a:prstGeom>
        </p:spPr>
        <p:txBody>
          <a:bodyPr/>
          <a:lstStyle>
            <a:lvl1pPr marL="0" indent="0" algn="l">
              <a:buFont typeface="Arial" panose="020B0604020202020204" pitchFamily="34" charset="0"/>
              <a:buNone/>
              <a:defRPr lang="sk-SK" sz="3000" dirty="0">
                <a:solidFill>
                  <a:schemeClr val="tx1"/>
                </a:solidFill>
              </a:defRPr>
            </a:lvl1pPr>
            <a:lvl2pPr marL="457200" indent="0" algn="l">
              <a:buFont typeface="Arial" panose="020B0604020202020204" pitchFamily="34" charset="0"/>
              <a:buNone/>
              <a:defRPr sz="2400">
                <a:solidFill>
                  <a:schemeClr val="tx1"/>
                </a:solidFill>
              </a:defRPr>
            </a:lvl2pPr>
            <a:lvl3pPr marL="914400" indent="0" algn="l">
              <a:buFont typeface="Arial" panose="020B0604020202020204" pitchFamily="34" charset="0"/>
              <a:buNone/>
              <a:defRPr sz="2400">
                <a:solidFill>
                  <a:schemeClr val="tx1"/>
                </a:solidFill>
              </a:defRPr>
            </a:lvl3pPr>
            <a:lvl4pPr marL="1371600" indent="0" algn="l">
              <a:buFont typeface="Arial" panose="020B0604020202020204" pitchFamily="34" charset="0"/>
              <a:buNone/>
              <a:defRPr sz="2400">
                <a:solidFill>
                  <a:schemeClr val="tx1"/>
                </a:solidFill>
              </a:defRPr>
            </a:lvl4pPr>
            <a:lvl5pPr marL="1828800" indent="0" algn="l">
              <a:buFont typeface="Arial" panose="020B0604020202020204" pitchFamily="34" charset="0"/>
              <a:buNone/>
              <a:defRPr sz="2400">
                <a:solidFill>
                  <a:schemeClr val="tx1"/>
                </a:solidFill>
              </a:defRPr>
            </a:lvl5pPr>
          </a:lstStyle>
          <a:p>
            <a:pPr lvl="0"/>
            <a:r>
              <a:rPr lang="sk-SK" dirty="0" err="1"/>
              <a:t>Process</a:t>
            </a:r>
            <a:r>
              <a:rPr lang="sk-SK" dirty="0"/>
              <a:t> </a:t>
            </a:r>
            <a:r>
              <a:rPr lang="sk-SK" dirty="0" err="1"/>
              <a:t>showcase</a:t>
            </a:r>
            <a:endParaRPr lang="sk-SK" dirty="0"/>
          </a:p>
        </p:txBody>
      </p:sp>
      <p:cxnSp>
        <p:nvCxnSpPr>
          <p:cNvPr id="16" name="Rovná spojnica 15">
            <a:extLst>
              <a:ext uri="{FF2B5EF4-FFF2-40B4-BE49-F238E27FC236}">
                <a16:creationId xmlns:a16="http://schemas.microsoft.com/office/drawing/2014/main" id="{8E327D95-9170-48DE-9333-2EFD7E8DE138}"/>
              </a:ext>
            </a:extLst>
          </p:cNvPr>
          <p:cNvCxnSpPr/>
          <p:nvPr/>
        </p:nvCxnSpPr>
        <p:spPr>
          <a:xfrm>
            <a:off x="11762511" y="6483928"/>
            <a:ext cx="0" cy="155863"/>
          </a:xfrm>
          <a:prstGeom prst="line">
            <a:avLst/>
          </a:prstGeom>
          <a:ln>
            <a:solidFill>
              <a:schemeClr val="bg2">
                <a:lumMod val="75000"/>
              </a:schemeClr>
            </a:solidFill>
          </a:ln>
        </p:spPr>
        <p:style>
          <a:lnRef idx="1">
            <a:schemeClr val="dk1"/>
          </a:lnRef>
          <a:fillRef idx="0">
            <a:schemeClr val="dk1"/>
          </a:fillRef>
          <a:effectRef idx="0">
            <a:schemeClr val="dk1"/>
          </a:effectRef>
          <a:fontRef idx="minor">
            <a:schemeClr val="tx1"/>
          </a:fontRef>
        </p:style>
      </p:cxnSp>
      <p:sp>
        <p:nvSpPr>
          <p:cNvPr id="8" name="Zástupný objekt pre text 14">
            <a:extLst>
              <a:ext uri="{FF2B5EF4-FFF2-40B4-BE49-F238E27FC236}">
                <a16:creationId xmlns:a16="http://schemas.microsoft.com/office/drawing/2014/main" id="{16DC09F2-F206-4BDD-8CE7-A9C31C25B33A}"/>
              </a:ext>
            </a:extLst>
          </p:cNvPr>
          <p:cNvSpPr>
            <a:spLocks noGrp="1"/>
          </p:cNvSpPr>
          <p:nvPr>
            <p:ph type="body" sz="quarter" idx="15" hasCustomPrompt="1"/>
          </p:nvPr>
        </p:nvSpPr>
        <p:spPr>
          <a:xfrm>
            <a:off x="8672947" y="6431973"/>
            <a:ext cx="3089564" cy="207818"/>
          </a:xfrm>
          <a:prstGeom prst="rect">
            <a:avLst/>
          </a:prstGeom>
        </p:spPr>
        <p:txBody>
          <a:bodyPr/>
          <a:lstStyle>
            <a:lvl1pPr algn="r">
              <a:defRPr sz="950" b="0">
                <a:solidFill>
                  <a:schemeClr val="bg1">
                    <a:lumMod val="50000"/>
                  </a:schemeClr>
                </a:solidFill>
              </a:defRPr>
            </a:lvl1pPr>
            <a:lvl2pPr>
              <a:defRPr sz="950" b="0">
                <a:solidFill>
                  <a:schemeClr val="bg1">
                    <a:lumMod val="50000"/>
                  </a:schemeClr>
                </a:solidFill>
              </a:defRPr>
            </a:lvl2pPr>
            <a:lvl3pPr>
              <a:defRPr sz="950" b="0">
                <a:solidFill>
                  <a:schemeClr val="bg1">
                    <a:lumMod val="50000"/>
                  </a:schemeClr>
                </a:solidFill>
              </a:defRPr>
            </a:lvl3pPr>
            <a:lvl4pPr>
              <a:defRPr sz="950" b="0">
                <a:solidFill>
                  <a:schemeClr val="bg1">
                    <a:lumMod val="50000"/>
                  </a:schemeClr>
                </a:solidFill>
              </a:defRPr>
            </a:lvl4pPr>
            <a:lvl5pPr>
              <a:defRPr sz="950" b="0">
                <a:solidFill>
                  <a:schemeClr val="bg1">
                    <a:lumMod val="50000"/>
                  </a:schemeClr>
                </a:solidFill>
              </a:defRPr>
            </a:lvl5pPr>
          </a:lstStyle>
          <a:p>
            <a:pPr lvl="0"/>
            <a:r>
              <a:rPr lang="sk-SK" dirty="0" err="1"/>
              <a:t>Název</a:t>
            </a:r>
            <a:r>
              <a:rPr lang="sk-SK" dirty="0"/>
              <a:t> </a:t>
            </a:r>
            <a:r>
              <a:rPr lang="sk-SK" dirty="0" err="1"/>
              <a:t>prezentace</a:t>
            </a:r>
            <a:r>
              <a:rPr lang="sk-SK" dirty="0"/>
              <a:t> (</a:t>
            </a:r>
            <a:r>
              <a:rPr lang="sk-SK" dirty="0" err="1"/>
              <a:t>volitelně</a:t>
            </a:r>
            <a:r>
              <a:rPr lang="sk-SK" dirty="0"/>
              <a:t>)</a:t>
            </a:r>
          </a:p>
        </p:txBody>
      </p:sp>
      <p:sp>
        <p:nvSpPr>
          <p:cNvPr id="9" name="BlokTextu 8">
            <a:extLst>
              <a:ext uri="{FF2B5EF4-FFF2-40B4-BE49-F238E27FC236}">
                <a16:creationId xmlns:a16="http://schemas.microsoft.com/office/drawing/2014/main" id="{CA8A3AA4-7575-4A1E-A4E3-07D4A15FE1FC}"/>
              </a:ext>
            </a:extLst>
          </p:cNvPr>
          <p:cNvSpPr txBox="1"/>
          <p:nvPr/>
        </p:nvSpPr>
        <p:spPr>
          <a:xfrm>
            <a:off x="11853949" y="6431973"/>
            <a:ext cx="338051" cy="207818"/>
          </a:xfrm>
          <a:prstGeom prst="rect">
            <a:avLst/>
          </a:prstGeom>
        </p:spPr>
        <p:txBody>
          <a:bodyPr vert="horz" wrap="square" lIns="0" tIns="45720" rIns="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fld id="{B0E1C688-2A94-4C23-89D7-1BDBDDABE19E}" type="slidenum">
              <a:rPr lang="sk-SK" sz="950" b="0" kern="1200" noProof="0" smtClean="0">
                <a:solidFill>
                  <a:schemeClr val="bg1">
                    <a:lumMod val="50000"/>
                  </a:schemeClr>
                </a:solidFill>
                <a:latin typeface="+mn-lt"/>
                <a:ea typeface="+mn-ea"/>
                <a:cs typeface="+mn-cs"/>
              </a:rPr>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t>‹#›</a:t>
            </a:fld>
            <a:endParaRPr lang="sk-SK" sz="950" b="0" kern="1200" noProof="0" dirty="0">
              <a:solidFill>
                <a:schemeClr val="bg1">
                  <a:lumMod val="50000"/>
                </a:schemeClr>
              </a:solidFill>
              <a:latin typeface="+mn-lt"/>
              <a:ea typeface="+mn-ea"/>
              <a:cs typeface="+mn-cs"/>
            </a:endParaRPr>
          </a:p>
        </p:txBody>
      </p:sp>
      <p:sp>
        <p:nvSpPr>
          <p:cNvPr id="10" name="Zástupný objekt pre text 2">
            <a:extLst>
              <a:ext uri="{FF2B5EF4-FFF2-40B4-BE49-F238E27FC236}">
                <a16:creationId xmlns:a16="http://schemas.microsoft.com/office/drawing/2014/main" id="{29408E56-E691-47F0-93F7-2BEB1114B98F}"/>
              </a:ext>
            </a:extLst>
          </p:cNvPr>
          <p:cNvSpPr>
            <a:spLocks noGrp="1"/>
          </p:cNvSpPr>
          <p:nvPr>
            <p:ph type="body" sz="quarter" idx="21" hasCustomPrompt="1"/>
          </p:nvPr>
        </p:nvSpPr>
        <p:spPr>
          <a:xfrm>
            <a:off x="893620" y="1647410"/>
            <a:ext cx="10764980" cy="2566781"/>
          </a:xfrm>
          <a:prstGeom prst="rect">
            <a:avLst/>
          </a:prstGeom>
        </p:spPr>
        <p:txBody>
          <a:bodyPr lIns="90000" tIns="46800" rIns="90000" bIns="46800"/>
          <a:lstStyle>
            <a:lvl1pPr marL="0" indent="0" algn="l">
              <a:lnSpc>
                <a:spcPct val="120000"/>
              </a:lnSpc>
              <a:spcBef>
                <a:spcPts val="0"/>
              </a:spcBef>
              <a:buFont typeface="Arial" panose="020B0604020202020204" pitchFamily="34" charset="0"/>
              <a:buNone/>
              <a:defRPr sz="1800" b="0">
                <a:solidFill>
                  <a:schemeClr val="tx1"/>
                </a:solidFill>
              </a:defRPr>
            </a:lvl1pPr>
            <a:lvl2pPr marL="457200" indent="0" algn="l">
              <a:lnSpc>
                <a:spcPct val="120000"/>
              </a:lnSpc>
              <a:spcBef>
                <a:spcPts val="0"/>
              </a:spcBef>
              <a:buFont typeface="Arial" panose="020B0604020202020204" pitchFamily="34" charset="0"/>
              <a:buNone/>
              <a:defRPr sz="1800" b="0">
                <a:solidFill>
                  <a:schemeClr val="tx1"/>
                </a:solidFill>
              </a:defRPr>
            </a:lvl2pPr>
            <a:lvl3pPr marL="914400" indent="0" algn="l">
              <a:lnSpc>
                <a:spcPct val="120000"/>
              </a:lnSpc>
              <a:spcBef>
                <a:spcPts val="0"/>
              </a:spcBef>
              <a:buFont typeface="Arial" panose="020B0604020202020204" pitchFamily="34" charset="0"/>
              <a:buNone/>
              <a:defRPr sz="1800" b="0">
                <a:solidFill>
                  <a:schemeClr val="tx1"/>
                </a:solidFill>
              </a:defRPr>
            </a:lvl3pPr>
            <a:lvl4pPr marL="1371600" indent="0" algn="l">
              <a:buFont typeface="Arial" panose="020B0604020202020204" pitchFamily="34" charset="0"/>
              <a:buNone/>
              <a:defRPr sz="1800" b="0">
                <a:solidFill>
                  <a:schemeClr val="tx1"/>
                </a:solidFill>
              </a:defRPr>
            </a:lvl4pPr>
            <a:lvl5pPr marL="1828800" indent="0" algn="l">
              <a:buFont typeface="Arial" panose="020B0604020202020204" pitchFamily="34" charset="0"/>
              <a:buNone/>
              <a:defRPr sz="1800" b="0">
                <a:solidFill>
                  <a:schemeClr val="tx1"/>
                </a:solidFill>
              </a:defRPr>
            </a:lvl5pPr>
          </a:lstStyle>
          <a:p>
            <a:pPr lvl="0"/>
            <a:r>
              <a:rPr lang="sk-SK" dirty="0" err="1"/>
              <a:t>Sample</a:t>
            </a:r>
            <a:r>
              <a:rPr lang="sk-SK" dirty="0"/>
              <a:t> text bla-</a:t>
            </a:r>
            <a:r>
              <a:rPr lang="sk-SK" dirty="0" err="1"/>
              <a:t>blah</a:t>
            </a:r>
            <a:r>
              <a:rPr lang="sk-SK" dirty="0"/>
              <a:t>, a formula </a:t>
            </a:r>
            <a:r>
              <a:rPr lang="sk-SK" dirty="0" err="1"/>
              <a:t>used</a:t>
            </a:r>
            <a:r>
              <a:rPr lang="sk-SK" dirty="0"/>
              <a:t> in </a:t>
            </a:r>
            <a:r>
              <a:rPr lang="sk-SK" dirty="0" err="1"/>
              <a:t>dictation</a:t>
            </a:r>
            <a:r>
              <a:rPr lang="sk-SK" dirty="0"/>
              <a:t> to </a:t>
            </a:r>
            <a:r>
              <a:rPr lang="sk-SK" dirty="0" err="1"/>
              <a:t>introduce</a:t>
            </a:r>
            <a:r>
              <a:rPr lang="sk-SK" dirty="0"/>
              <a:t> and </a:t>
            </a:r>
            <a:r>
              <a:rPr lang="sk-SK" dirty="0" err="1"/>
              <a:t>terminate</a:t>
            </a:r>
            <a:r>
              <a:rPr lang="sk-SK" dirty="0"/>
              <a:t> a </a:t>
            </a:r>
            <a:r>
              <a:rPr lang="sk-SK" dirty="0" err="1"/>
              <a:t>quotation</a:t>
            </a:r>
            <a:r>
              <a:rPr lang="sk-SK" dirty="0"/>
              <a:t> BCMA. </a:t>
            </a:r>
            <a:r>
              <a:rPr lang="sk-SK" dirty="0" err="1"/>
              <a:t>Introducing</a:t>
            </a:r>
            <a:r>
              <a:rPr lang="sk-SK" dirty="0"/>
              <a:t> and </a:t>
            </a:r>
            <a:r>
              <a:rPr lang="sk-SK" dirty="0" err="1"/>
              <a:t>terminating</a:t>
            </a:r>
            <a:r>
              <a:rPr lang="sk-SK" dirty="0"/>
              <a:t> </a:t>
            </a:r>
            <a:r>
              <a:rPr lang="sk-SK" dirty="0" err="1"/>
              <a:t>words</a:t>
            </a:r>
            <a:r>
              <a:rPr lang="sk-SK" dirty="0"/>
              <a:t> </a:t>
            </a:r>
            <a:r>
              <a:rPr lang="sk-SK" dirty="0" err="1"/>
              <a:t>quoted</a:t>
            </a:r>
            <a:r>
              <a:rPr lang="sk-SK" dirty="0"/>
              <a:t>. 2015 </a:t>
            </a:r>
            <a:r>
              <a:rPr lang="sk-SK" dirty="0" err="1"/>
              <a:t>Excepteur</a:t>
            </a:r>
            <a:r>
              <a:rPr lang="sk-SK" dirty="0"/>
              <a:t> </a:t>
            </a:r>
            <a:r>
              <a:rPr lang="sk-SK" dirty="0" err="1"/>
              <a:t>sint</a:t>
            </a:r>
            <a:r>
              <a:rPr lang="sk-SK" dirty="0"/>
              <a:t> </a:t>
            </a:r>
            <a:r>
              <a:rPr lang="sk-SK" dirty="0" err="1"/>
              <a:t>occaecat</a:t>
            </a:r>
            <a:r>
              <a:rPr lang="sk-SK" dirty="0"/>
              <a:t> </a:t>
            </a:r>
            <a:r>
              <a:rPr lang="sk-SK" dirty="0" err="1"/>
              <a:t>cupidatat</a:t>
            </a:r>
            <a:r>
              <a:rPr lang="sk-SK" dirty="0"/>
              <a:t> </a:t>
            </a:r>
            <a:r>
              <a:rPr lang="sk-SK" dirty="0" err="1"/>
              <a:t>non</a:t>
            </a:r>
            <a:r>
              <a:rPr lang="sk-SK" dirty="0"/>
              <a:t> </a:t>
            </a:r>
            <a:r>
              <a:rPr lang="sk-SK" dirty="0" err="1"/>
              <a:t>proident</a:t>
            </a:r>
            <a:r>
              <a:rPr lang="sk-SK" dirty="0"/>
              <a:t>, </a:t>
            </a:r>
            <a:r>
              <a:rPr lang="sk-SK" dirty="0" err="1"/>
              <a:t>sunt</a:t>
            </a:r>
            <a:r>
              <a:rPr lang="sk-SK" dirty="0"/>
              <a:t> X3R in </a:t>
            </a:r>
            <a:r>
              <a:rPr lang="sk-SK" dirty="0" err="1"/>
              <a:t>culpa</a:t>
            </a:r>
            <a:r>
              <a:rPr lang="sk-SK" dirty="0"/>
              <a:t> </a:t>
            </a:r>
            <a:r>
              <a:rPr lang="sk-SK" dirty="0" err="1"/>
              <a:t>qui</a:t>
            </a:r>
            <a:r>
              <a:rPr lang="sk-SK" dirty="0"/>
              <a:t> </a:t>
            </a:r>
            <a:r>
              <a:rPr lang="sk-SK" dirty="0" err="1"/>
              <a:t>officia</a:t>
            </a:r>
            <a:r>
              <a:rPr lang="sk-SK" dirty="0"/>
              <a:t> </a:t>
            </a:r>
            <a:r>
              <a:rPr lang="sk-SK" dirty="0" err="1"/>
              <a:t>deserunt</a:t>
            </a:r>
            <a:r>
              <a:rPr lang="sk-SK" dirty="0"/>
              <a:t> </a:t>
            </a:r>
            <a:r>
              <a:rPr lang="sk-SK" dirty="0" err="1"/>
              <a:t>mollit</a:t>
            </a:r>
            <a:r>
              <a:rPr lang="sk-SK" dirty="0"/>
              <a:t> </a:t>
            </a:r>
            <a:r>
              <a:rPr lang="sk-SK" dirty="0" err="1"/>
              <a:t>anim</a:t>
            </a:r>
            <a:r>
              <a:rPr lang="sk-SK" dirty="0"/>
              <a:t> id </a:t>
            </a:r>
            <a:r>
              <a:rPr lang="sk-SK" dirty="0" err="1"/>
              <a:t>est</a:t>
            </a:r>
            <a:r>
              <a:rPr lang="sk-SK" dirty="0"/>
              <a:t> laborum.2017 </a:t>
            </a:r>
            <a:r>
              <a:rPr lang="sk-SK" dirty="0" err="1"/>
              <a:t>Duis</a:t>
            </a:r>
            <a:r>
              <a:rPr lang="sk-SK" dirty="0"/>
              <a:t> aute </a:t>
            </a:r>
            <a:r>
              <a:rPr lang="sk-SK" dirty="0" err="1"/>
              <a:t>irure</a:t>
            </a:r>
            <a:r>
              <a:rPr lang="sk-SK" dirty="0"/>
              <a:t> </a:t>
            </a:r>
            <a:r>
              <a:rPr lang="sk-SK" dirty="0" err="1"/>
              <a:t>dolor</a:t>
            </a:r>
            <a:r>
              <a:rPr lang="sk-SK" dirty="0"/>
              <a:t> in </a:t>
            </a:r>
            <a:r>
              <a:rPr lang="sk-SK" dirty="0" err="1"/>
              <a:t>reprehenderit</a:t>
            </a:r>
            <a:r>
              <a:rPr lang="sk-SK" dirty="0"/>
              <a:t> in </a:t>
            </a:r>
            <a:r>
              <a:rPr lang="sk-SK" dirty="0" err="1"/>
              <a:t>voluptate</a:t>
            </a:r>
            <a:r>
              <a:rPr lang="sk-SK" dirty="0"/>
              <a:t> </a:t>
            </a:r>
            <a:r>
              <a:rPr lang="sk-SK" dirty="0" err="1"/>
              <a:t>velit</a:t>
            </a:r>
            <a:r>
              <a:rPr lang="sk-SK" dirty="0"/>
              <a:t> </a:t>
            </a:r>
            <a:r>
              <a:rPr lang="sk-SK" dirty="0" err="1"/>
              <a:t>esse</a:t>
            </a:r>
            <a:r>
              <a:rPr lang="sk-SK" dirty="0"/>
              <a:t> </a:t>
            </a:r>
            <a:r>
              <a:rPr lang="sk-SK" dirty="0" err="1"/>
              <a:t>cillum</a:t>
            </a:r>
            <a:r>
              <a:rPr lang="sk-SK" dirty="0"/>
              <a:t> </a:t>
            </a:r>
            <a:r>
              <a:rPr lang="sk-SK" dirty="0" err="1"/>
              <a:t>dolore</a:t>
            </a:r>
            <a:r>
              <a:rPr lang="sk-SK" dirty="0"/>
              <a:t> </a:t>
            </a:r>
            <a:r>
              <a:rPr lang="sk-SK" dirty="0" err="1"/>
              <a:t>eu</a:t>
            </a:r>
            <a:r>
              <a:rPr lang="sk-SK" dirty="0"/>
              <a:t> </a:t>
            </a:r>
            <a:r>
              <a:rPr lang="sk-SK" dirty="0" err="1"/>
              <a:t>fugiat</a:t>
            </a:r>
            <a:r>
              <a:rPr lang="sk-SK" dirty="0"/>
              <a:t> </a:t>
            </a:r>
            <a:r>
              <a:rPr lang="sk-SK" dirty="0" err="1"/>
              <a:t>nulla</a:t>
            </a:r>
            <a:r>
              <a:rPr lang="sk-SK" dirty="0"/>
              <a:t> </a:t>
            </a:r>
            <a:r>
              <a:rPr lang="sk-SK" dirty="0" err="1"/>
              <a:t>pariatur</a:t>
            </a:r>
            <a:r>
              <a:rPr lang="sk-SK" dirty="0"/>
              <a:t>.</a:t>
            </a:r>
          </a:p>
        </p:txBody>
      </p:sp>
    </p:spTree>
    <p:extLst>
      <p:ext uri="{BB962C8B-B14F-4D97-AF65-F5344CB8AC3E}">
        <p14:creationId xmlns:p14="http://schemas.microsoft.com/office/powerpoint/2010/main" val="40546990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6_LeftText_2">
    <p:bg>
      <p:bgPr>
        <a:solidFill>
          <a:schemeClr val="bg1"/>
        </a:solidFill>
        <a:effectLst/>
      </p:bgPr>
    </p:bg>
    <p:spTree>
      <p:nvGrpSpPr>
        <p:cNvPr id="1" name=""/>
        <p:cNvGrpSpPr/>
        <p:nvPr/>
      </p:nvGrpSpPr>
      <p:grpSpPr>
        <a:xfrm>
          <a:off x="0" y="0"/>
          <a:ext cx="0" cy="0"/>
          <a:chOff x="0" y="0"/>
          <a:chExt cx="0" cy="0"/>
        </a:xfrm>
      </p:grpSpPr>
      <p:sp>
        <p:nvSpPr>
          <p:cNvPr id="14" name="Zástupný objekt pre text 13">
            <a:extLst>
              <a:ext uri="{FF2B5EF4-FFF2-40B4-BE49-F238E27FC236}">
                <a16:creationId xmlns:a16="http://schemas.microsoft.com/office/drawing/2014/main" id="{ACA22D96-AB45-4340-BC17-743ADAFD8AC1}"/>
              </a:ext>
            </a:extLst>
          </p:cNvPr>
          <p:cNvSpPr>
            <a:spLocks noGrp="1"/>
          </p:cNvSpPr>
          <p:nvPr>
            <p:ph type="body" sz="quarter" idx="17"/>
          </p:nvPr>
        </p:nvSpPr>
        <p:spPr>
          <a:xfrm>
            <a:off x="893619" y="862446"/>
            <a:ext cx="6338454" cy="363682"/>
          </a:xfrm>
          <a:prstGeom prst="rect">
            <a:avLst/>
          </a:prstGeom>
        </p:spPr>
        <p:txBody>
          <a:bodyPr/>
          <a:lstStyle>
            <a:lvl1pPr marL="0" indent="0" algn="l">
              <a:buFont typeface="Arial" panose="020B0604020202020204" pitchFamily="34" charset="0"/>
              <a:buNone/>
              <a:defRPr lang="sk-SK" sz="3000" dirty="0">
                <a:solidFill>
                  <a:schemeClr val="tx1"/>
                </a:solidFill>
              </a:defRPr>
            </a:lvl1pPr>
            <a:lvl2pPr marL="457200" indent="0" algn="l">
              <a:buFont typeface="Arial" panose="020B0604020202020204" pitchFamily="34" charset="0"/>
              <a:buNone/>
              <a:defRPr sz="2400">
                <a:solidFill>
                  <a:schemeClr val="tx1"/>
                </a:solidFill>
              </a:defRPr>
            </a:lvl2pPr>
            <a:lvl3pPr marL="914400" indent="0" algn="l">
              <a:buFont typeface="Arial" panose="020B0604020202020204" pitchFamily="34" charset="0"/>
              <a:buNone/>
              <a:defRPr sz="2400">
                <a:solidFill>
                  <a:schemeClr val="tx1"/>
                </a:solidFill>
              </a:defRPr>
            </a:lvl3pPr>
            <a:lvl4pPr marL="1371600" indent="0" algn="l">
              <a:buFont typeface="Arial" panose="020B0604020202020204" pitchFamily="34" charset="0"/>
              <a:buNone/>
              <a:defRPr sz="2400">
                <a:solidFill>
                  <a:schemeClr val="tx1"/>
                </a:solidFill>
              </a:defRPr>
            </a:lvl4pPr>
            <a:lvl5pPr marL="1828800" indent="0" algn="l">
              <a:buFont typeface="Arial" panose="020B0604020202020204" pitchFamily="34" charset="0"/>
              <a:buNone/>
              <a:defRPr sz="2400">
                <a:solidFill>
                  <a:schemeClr val="tx1"/>
                </a:solidFill>
              </a:defRPr>
            </a:lvl5pPr>
          </a:lstStyle>
          <a:p>
            <a:pPr lvl="0"/>
            <a:r>
              <a:rPr lang="cs-CZ" noProof="0"/>
              <a:t>Upravte styly předlohy textu.</a:t>
            </a:r>
          </a:p>
        </p:txBody>
      </p:sp>
      <p:cxnSp>
        <p:nvCxnSpPr>
          <p:cNvPr id="17" name="Rovná spojnica 16">
            <a:extLst>
              <a:ext uri="{FF2B5EF4-FFF2-40B4-BE49-F238E27FC236}">
                <a16:creationId xmlns:a16="http://schemas.microsoft.com/office/drawing/2014/main" id="{3D56B16E-4FD8-4509-BE3F-C627D6B76B34}"/>
              </a:ext>
            </a:extLst>
          </p:cNvPr>
          <p:cNvCxnSpPr/>
          <p:nvPr/>
        </p:nvCxnSpPr>
        <p:spPr>
          <a:xfrm>
            <a:off x="11762511" y="6483928"/>
            <a:ext cx="0" cy="155863"/>
          </a:xfrm>
          <a:prstGeom prst="line">
            <a:avLst/>
          </a:prstGeom>
          <a:ln>
            <a:solidFill>
              <a:schemeClr val="bg2">
                <a:lumMod val="75000"/>
              </a:schemeClr>
            </a:solidFill>
          </a:ln>
        </p:spPr>
        <p:style>
          <a:lnRef idx="1">
            <a:schemeClr val="dk1"/>
          </a:lnRef>
          <a:fillRef idx="0">
            <a:schemeClr val="dk1"/>
          </a:fillRef>
          <a:effectRef idx="0">
            <a:schemeClr val="dk1"/>
          </a:effectRef>
          <a:fontRef idx="minor">
            <a:schemeClr val="tx1"/>
          </a:fontRef>
        </p:style>
      </p:cxnSp>
      <p:grpSp>
        <p:nvGrpSpPr>
          <p:cNvPr id="10" name="Skupina 9">
            <a:extLst>
              <a:ext uri="{FF2B5EF4-FFF2-40B4-BE49-F238E27FC236}">
                <a16:creationId xmlns:a16="http://schemas.microsoft.com/office/drawing/2014/main" id="{1A115AB3-50A6-4D3F-A282-519F4A867FF0}"/>
              </a:ext>
            </a:extLst>
          </p:cNvPr>
          <p:cNvGrpSpPr/>
          <p:nvPr/>
        </p:nvGrpSpPr>
        <p:grpSpPr>
          <a:xfrm>
            <a:off x="232633" y="6431406"/>
            <a:ext cx="848022" cy="183990"/>
            <a:chOff x="2560197" y="6541214"/>
            <a:chExt cx="1398836" cy="303496"/>
          </a:xfrm>
        </p:grpSpPr>
        <p:sp>
          <p:nvSpPr>
            <p:cNvPr id="13" name="Voľný tvar: obrazec 12">
              <a:extLst>
                <a:ext uri="{FF2B5EF4-FFF2-40B4-BE49-F238E27FC236}">
                  <a16:creationId xmlns:a16="http://schemas.microsoft.com/office/drawing/2014/main" id="{B1B46398-000C-4C60-A104-FE64AC98A158}"/>
                </a:ext>
              </a:extLst>
            </p:cNvPr>
            <p:cNvSpPr/>
            <p:nvPr/>
          </p:nvSpPr>
          <p:spPr>
            <a:xfrm>
              <a:off x="3265060" y="6542851"/>
              <a:ext cx="191228" cy="296094"/>
            </a:xfrm>
            <a:custGeom>
              <a:avLst/>
              <a:gdLst>
                <a:gd name="connsiteX0" fmla="*/ 2989 w 191228"/>
                <a:gd name="connsiteY0" fmla="*/ 2989 h 296094"/>
                <a:gd name="connsiteX1" fmla="*/ 2989 w 191228"/>
                <a:gd name="connsiteY1" fmla="*/ 297232 h 296094"/>
                <a:gd name="connsiteX2" fmla="*/ 192983 w 191228"/>
                <a:gd name="connsiteY2" fmla="*/ 297232 h 296094"/>
                <a:gd name="connsiteX3" fmla="*/ 192983 w 191228"/>
                <a:gd name="connsiteY3" fmla="*/ 231228 h 296094"/>
                <a:gd name="connsiteX4" fmla="*/ 73311 w 191228"/>
                <a:gd name="connsiteY4" fmla="*/ 231228 h 296094"/>
                <a:gd name="connsiteX5" fmla="*/ 73311 w 191228"/>
                <a:gd name="connsiteY5" fmla="*/ 2989 h 29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1228" h="296094">
                  <a:moveTo>
                    <a:pt x="2989" y="2989"/>
                  </a:moveTo>
                  <a:lnTo>
                    <a:pt x="2989" y="297232"/>
                  </a:lnTo>
                  <a:lnTo>
                    <a:pt x="192983" y="297232"/>
                  </a:lnTo>
                  <a:lnTo>
                    <a:pt x="192983" y="231228"/>
                  </a:lnTo>
                  <a:lnTo>
                    <a:pt x="73311" y="231228"/>
                  </a:lnTo>
                  <a:lnTo>
                    <a:pt x="73311" y="2989"/>
                  </a:lnTo>
                  <a:close/>
                </a:path>
              </a:pathLst>
            </a:custGeom>
            <a:solidFill>
              <a:schemeClr val="tx1"/>
            </a:solidFill>
            <a:ln w="6153" cap="flat">
              <a:noFill/>
              <a:prstDash val="solid"/>
              <a:miter/>
            </a:ln>
          </p:spPr>
          <p:txBody>
            <a:bodyPr rtlCol="0" anchor="ctr"/>
            <a:lstStyle/>
            <a:p>
              <a:endParaRPr lang="en-US" noProof="0"/>
            </a:p>
          </p:txBody>
        </p:sp>
        <p:sp>
          <p:nvSpPr>
            <p:cNvPr id="15" name="Voľný tvar: obrazec 14">
              <a:extLst>
                <a:ext uri="{FF2B5EF4-FFF2-40B4-BE49-F238E27FC236}">
                  <a16:creationId xmlns:a16="http://schemas.microsoft.com/office/drawing/2014/main" id="{7E69DB8B-CB5A-4BBE-8442-7EE46298393B}"/>
                </a:ext>
              </a:extLst>
            </p:cNvPr>
            <p:cNvSpPr/>
            <p:nvPr/>
          </p:nvSpPr>
          <p:spPr>
            <a:xfrm>
              <a:off x="3495767" y="6542851"/>
              <a:ext cx="209734" cy="296094"/>
            </a:xfrm>
            <a:custGeom>
              <a:avLst/>
              <a:gdLst>
                <a:gd name="connsiteX0" fmla="*/ 2989 w 209733"/>
                <a:gd name="connsiteY0" fmla="*/ 2989 h 296094"/>
                <a:gd name="connsiteX1" fmla="*/ 2989 w 209733"/>
                <a:gd name="connsiteY1" fmla="*/ 297232 h 296094"/>
                <a:gd name="connsiteX2" fmla="*/ 212106 w 209733"/>
                <a:gd name="connsiteY2" fmla="*/ 297232 h 296094"/>
                <a:gd name="connsiteX3" fmla="*/ 212106 w 209733"/>
                <a:gd name="connsiteY3" fmla="*/ 234312 h 296094"/>
                <a:gd name="connsiteX4" fmla="*/ 73311 w 209733"/>
                <a:gd name="connsiteY4" fmla="*/ 234312 h 296094"/>
                <a:gd name="connsiteX5" fmla="*/ 73311 w 209733"/>
                <a:gd name="connsiteY5" fmla="*/ 175710 h 296094"/>
                <a:gd name="connsiteX6" fmla="*/ 196067 w 209733"/>
                <a:gd name="connsiteY6" fmla="*/ 175710 h 296094"/>
                <a:gd name="connsiteX7" fmla="*/ 196067 w 209733"/>
                <a:gd name="connsiteY7" fmla="*/ 112790 h 296094"/>
                <a:gd name="connsiteX8" fmla="*/ 73311 w 209733"/>
                <a:gd name="connsiteY8" fmla="*/ 112790 h 296094"/>
                <a:gd name="connsiteX9" fmla="*/ 73311 w 209733"/>
                <a:gd name="connsiteY9" fmla="*/ 65909 h 296094"/>
                <a:gd name="connsiteX10" fmla="*/ 212106 w 209733"/>
                <a:gd name="connsiteY10" fmla="*/ 65909 h 296094"/>
                <a:gd name="connsiteX11" fmla="*/ 212106 w 209733"/>
                <a:gd name="connsiteY11" fmla="*/ 2989 h 29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9733" h="296094">
                  <a:moveTo>
                    <a:pt x="2989" y="2989"/>
                  </a:moveTo>
                  <a:lnTo>
                    <a:pt x="2989" y="297232"/>
                  </a:lnTo>
                  <a:lnTo>
                    <a:pt x="212106" y="297232"/>
                  </a:lnTo>
                  <a:lnTo>
                    <a:pt x="212106" y="234312"/>
                  </a:lnTo>
                  <a:lnTo>
                    <a:pt x="73311" y="234312"/>
                  </a:lnTo>
                  <a:lnTo>
                    <a:pt x="73311" y="175710"/>
                  </a:lnTo>
                  <a:lnTo>
                    <a:pt x="196067" y="175710"/>
                  </a:lnTo>
                  <a:lnTo>
                    <a:pt x="196067" y="112790"/>
                  </a:lnTo>
                  <a:lnTo>
                    <a:pt x="73311" y="112790"/>
                  </a:lnTo>
                  <a:lnTo>
                    <a:pt x="73311" y="65909"/>
                  </a:lnTo>
                  <a:lnTo>
                    <a:pt x="212106" y="65909"/>
                  </a:lnTo>
                  <a:lnTo>
                    <a:pt x="212106" y="2989"/>
                  </a:lnTo>
                  <a:close/>
                </a:path>
              </a:pathLst>
            </a:custGeom>
            <a:solidFill>
              <a:schemeClr val="tx1"/>
            </a:solidFill>
            <a:ln w="6153" cap="flat">
              <a:noFill/>
              <a:prstDash val="solid"/>
              <a:miter/>
            </a:ln>
          </p:spPr>
          <p:txBody>
            <a:bodyPr rtlCol="0" anchor="ctr"/>
            <a:lstStyle/>
            <a:p>
              <a:endParaRPr lang="en-US" noProof="0"/>
            </a:p>
          </p:txBody>
        </p:sp>
        <p:sp>
          <p:nvSpPr>
            <p:cNvPr id="16" name="Voľný tvar: obrazec 15">
              <a:extLst>
                <a:ext uri="{FF2B5EF4-FFF2-40B4-BE49-F238E27FC236}">
                  <a16:creationId xmlns:a16="http://schemas.microsoft.com/office/drawing/2014/main" id="{EFEC6082-6334-4BDA-865B-E8C8DE75ED9E}"/>
                </a:ext>
              </a:extLst>
            </p:cNvPr>
            <p:cNvSpPr/>
            <p:nvPr/>
          </p:nvSpPr>
          <p:spPr>
            <a:xfrm>
              <a:off x="3749299" y="6542851"/>
              <a:ext cx="209734" cy="296094"/>
            </a:xfrm>
            <a:custGeom>
              <a:avLst/>
              <a:gdLst>
                <a:gd name="connsiteX0" fmla="*/ 2989 w 209733"/>
                <a:gd name="connsiteY0" fmla="*/ 2989 h 296094"/>
                <a:gd name="connsiteX1" fmla="*/ 2989 w 209733"/>
                <a:gd name="connsiteY1" fmla="*/ 297232 h 296094"/>
                <a:gd name="connsiteX2" fmla="*/ 73311 w 209733"/>
                <a:gd name="connsiteY2" fmla="*/ 297232 h 296094"/>
                <a:gd name="connsiteX3" fmla="*/ 73311 w 209733"/>
                <a:gd name="connsiteY3" fmla="*/ 179411 h 296094"/>
                <a:gd name="connsiteX4" fmla="*/ 193600 w 209733"/>
                <a:gd name="connsiteY4" fmla="*/ 179411 h 296094"/>
                <a:gd name="connsiteX5" fmla="*/ 193600 w 209733"/>
                <a:gd name="connsiteY5" fmla="*/ 117108 h 296094"/>
                <a:gd name="connsiteX6" fmla="*/ 73311 w 209733"/>
                <a:gd name="connsiteY6" fmla="*/ 117108 h 296094"/>
                <a:gd name="connsiteX7" fmla="*/ 73311 w 209733"/>
                <a:gd name="connsiteY7" fmla="*/ 65909 h 296094"/>
                <a:gd name="connsiteX8" fmla="*/ 209638 w 209733"/>
                <a:gd name="connsiteY8" fmla="*/ 65909 h 296094"/>
                <a:gd name="connsiteX9" fmla="*/ 209638 w 209733"/>
                <a:gd name="connsiteY9" fmla="*/ 2989 h 29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9733" h="296094">
                  <a:moveTo>
                    <a:pt x="2989" y="2989"/>
                  </a:moveTo>
                  <a:lnTo>
                    <a:pt x="2989" y="297232"/>
                  </a:lnTo>
                  <a:lnTo>
                    <a:pt x="73311" y="297232"/>
                  </a:lnTo>
                  <a:lnTo>
                    <a:pt x="73311" y="179411"/>
                  </a:lnTo>
                  <a:lnTo>
                    <a:pt x="193600" y="179411"/>
                  </a:lnTo>
                  <a:lnTo>
                    <a:pt x="193600" y="117108"/>
                  </a:lnTo>
                  <a:lnTo>
                    <a:pt x="73311" y="117108"/>
                  </a:lnTo>
                  <a:lnTo>
                    <a:pt x="73311" y="65909"/>
                  </a:lnTo>
                  <a:lnTo>
                    <a:pt x="209638" y="65909"/>
                  </a:lnTo>
                  <a:lnTo>
                    <a:pt x="209638" y="2989"/>
                  </a:lnTo>
                  <a:close/>
                </a:path>
              </a:pathLst>
            </a:custGeom>
            <a:solidFill>
              <a:schemeClr val="tx1"/>
            </a:solidFill>
            <a:ln w="6153" cap="flat">
              <a:noFill/>
              <a:prstDash val="solid"/>
              <a:miter/>
            </a:ln>
          </p:spPr>
          <p:txBody>
            <a:bodyPr rtlCol="0" anchor="ctr"/>
            <a:lstStyle/>
            <a:p>
              <a:endParaRPr lang="en-US" noProof="0"/>
            </a:p>
          </p:txBody>
        </p:sp>
        <p:sp>
          <p:nvSpPr>
            <p:cNvPr id="20" name="Voľný tvar: obrazec 19">
              <a:extLst>
                <a:ext uri="{FF2B5EF4-FFF2-40B4-BE49-F238E27FC236}">
                  <a16:creationId xmlns:a16="http://schemas.microsoft.com/office/drawing/2014/main" id="{5231A626-F5BB-4E7B-83FE-0CC52E13EA0D}"/>
                </a:ext>
              </a:extLst>
            </p:cNvPr>
            <p:cNvSpPr/>
            <p:nvPr/>
          </p:nvSpPr>
          <p:spPr>
            <a:xfrm>
              <a:off x="2943886" y="6541214"/>
              <a:ext cx="296095" cy="302263"/>
            </a:xfrm>
            <a:custGeom>
              <a:avLst/>
              <a:gdLst>
                <a:gd name="connsiteX0" fmla="*/ 81118 w 296095"/>
                <a:gd name="connsiteY0" fmla="*/ 298870 h 302262"/>
                <a:gd name="connsiteX1" fmla="*/ 102091 w 296095"/>
                <a:gd name="connsiteY1" fmla="*/ 235950 h 302262"/>
                <a:gd name="connsiteX2" fmla="*/ 198939 w 296095"/>
                <a:gd name="connsiteY2" fmla="*/ 235950 h 302262"/>
                <a:gd name="connsiteX3" fmla="*/ 219295 w 296095"/>
                <a:gd name="connsiteY3" fmla="*/ 298870 h 302262"/>
                <a:gd name="connsiteX4" fmla="*/ 295787 w 296095"/>
                <a:gd name="connsiteY4" fmla="*/ 298870 h 302262"/>
                <a:gd name="connsiteX5" fmla="*/ 190303 w 296095"/>
                <a:gd name="connsiteY5" fmla="*/ 4626 h 302262"/>
                <a:gd name="connsiteX6" fmla="*/ 110110 w 296095"/>
                <a:gd name="connsiteY6" fmla="*/ 4626 h 302262"/>
                <a:gd name="connsiteX7" fmla="*/ 4626 w 296095"/>
                <a:gd name="connsiteY7" fmla="*/ 298870 h 302262"/>
                <a:gd name="connsiteX8" fmla="*/ 81118 w 296095"/>
                <a:gd name="connsiteY8" fmla="*/ 298870 h 302262"/>
                <a:gd name="connsiteX9" fmla="*/ 149590 w 296095"/>
                <a:gd name="connsiteY9" fmla="*/ 99006 h 302262"/>
                <a:gd name="connsiteX10" fmla="*/ 150823 w 296095"/>
                <a:gd name="connsiteY10" fmla="*/ 95922 h 302262"/>
                <a:gd name="connsiteX11" fmla="*/ 151440 w 296095"/>
                <a:gd name="connsiteY11" fmla="*/ 98390 h 302262"/>
                <a:gd name="connsiteX12" fmla="*/ 177965 w 296095"/>
                <a:gd name="connsiteY12" fmla="*/ 173647 h 302262"/>
                <a:gd name="connsiteX13" fmla="*/ 123681 w 296095"/>
                <a:gd name="connsiteY13" fmla="*/ 173647 h 302262"/>
                <a:gd name="connsiteX14" fmla="*/ 149590 w 296095"/>
                <a:gd name="connsiteY14" fmla="*/ 99006 h 302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6095" h="302262">
                  <a:moveTo>
                    <a:pt x="81118" y="298870"/>
                  </a:moveTo>
                  <a:lnTo>
                    <a:pt x="102091" y="235950"/>
                  </a:lnTo>
                  <a:lnTo>
                    <a:pt x="198939" y="235950"/>
                  </a:lnTo>
                  <a:lnTo>
                    <a:pt x="219295" y="298870"/>
                  </a:lnTo>
                  <a:lnTo>
                    <a:pt x="295787" y="298870"/>
                  </a:lnTo>
                  <a:lnTo>
                    <a:pt x="190303" y="4626"/>
                  </a:lnTo>
                  <a:lnTo>
                    <a:pt x="110110" y="4626"/>
                  </a:lnTo>
                  <a:lnTo>
                    <a:pt x="4626" y="298870"/>
                  </a:lnTo>
                  <a:lnTo>
                    <a:pt x="81118" y="298870"/>
                  </a:lnTo>
                  <a:close/>
                  <a:moveTo>
                    <a:pt x="149590" y="99006"/>
                  </a:moveTo>
                  <a:cubicBezTo>
                    <a:pt x="150207" y="98390"/>
                    <a:pt x="150207" y="97156"/>
                    <a:pt x="150823" y="95922"/>
                  </a:cubicBezTo>
                  <a:cubicBezTo>
                    <a:pt x="150823" y="96539"/>
                    <a:pt x="151440" y="97773"/>
                    <a:pt x="151440" y="98390"/>
                  </a:cubicBezTo>
                  <a:lnTo>
                    <a:pt x="177965" y="173647"/>
                  </a:lnTo>
                  <a:lnTo>
                    <a:pt x="123681" y="173647"/>
                  </a:lnTo>
                  <a:lnTo>
                    <a:pt x="149590" y="99006"/>
                  </a:lnTo>
                  <a:close/>
                </a:path>
              </a:pathLst>
            </a:custGeom>
            <a:solidFill>
              <a:schemeClr val="tx1"/>
            </a:solidFill>
            <a:ln w="9525" cap="flat">
              <a:noFill/>
              <a:prstDash val="solid"/>
              <a:miter/>
            </a:ln>
          </p:spPr>
          <p:txBody>
            <a:bodyPr rtlCol="0" anchor="ctr"/>
            <a:lstStyle/>
            <a:p>
              <a:endParaRPr lang="en-US" noProof="0"/>
            </a:p>
          </p:txBody>
        </p:sp>
        <p:sp>
          <p:nvSpPr>
            <p:cNvPr id="21" name="Voľný tvar: obrazec 20">
              <a:extLst>
                <a:ext uri="{FF2B5EF4-FFF2-40B4-BE49-F238E27FC236}">
                  <a16:creationId xmlns:a16="http://schemas.microsoft.com/office/drawing/2014/main" id="{5C44B311-6D0C-4539-95F8-047A283D0CC4}"/>
                </a:ext>
              </a:extLst>
            </p:cNvPr>
            <p:cNvSpPr/>
            <p:nvPr/>
          </p:nvSpPr>
          <p:spPr>
            <a:xfrm>
              <a:off x="2567386" y="6543468"/>
              <a:ext cx="271420" cy="296094"/>
            </a:xfrm>
            <a:custGeom>
              <a:avLst/>
              <a:gdLst>
                <a:gd name="connsiteX0" fmla="*/ 2989 w 271420"/>
                <a:gd name="connsiteY0" fmla="*/ 2989 h 296094"/>
                <a:gd name="connsiteX1" fmla="*/ 174477 w 271420"/>
                <a:gd name="connsiteY1" fmla="*/ 296615 h 296094"/>
                <a:gd name="connsiteX2" fmla="*/ 270708 w 271420"/>
                <a:gd name="connsiteY2" fmla="*/ 296615 h 296094"/>
                <a:gd name="connsiteX3" fmla="*/ 101687 w 271420"/>
                <a:gd name="connsiteY3" fmla="*/ 2989 h 296094"/>
              </a:gdLst>
              <a:ahLst/>
              <a:cxnLst>
                <a:cxn ang="0">
                  <a:pos x="connsiteX0" y="connsiteY0"/>
                </a:cxn>
                <a:cxn ang="0">
                  <a:pos x="connsiteX1" y="connsiteY1"/>
                </a:cxn>
                <a:cxn ang="0">
                  <a:pos x="connsiteX2" y="connsiteY2"/>
                </a:cxn>
                <a:cxn ang="0">
                  <a:pos x="connsiteX3" y="connsiteY3"/>
                </a:cxn>
              </a:cxnLst>
              <a:rect l="l" t="t" r="r" b="b"/>
              <a:pathLst>
                <a:path w="271420" h="296094">
                  <a:moveTo>
                    <a:pt x="2989" y="2989"/>
                  </a:moveTo>
                  <a:lnTo>
                    <a:pt x="174477" y="296615"/>
                  </a:lnTo>
                  <a:lnTo>
                    <a:pt x="270708" y="296615"/>
                  </a:lnTo>
                  <a:lnTo>
                    <a:pt x="101687" y="2989"/>
                  </a:lnTo>
                  <a:close/>
                </a:path>
              </a:pathLst>
            </a:custGeom>
            <a:solidFill>
              <a:schemeClr val="tx2"/>
            </a:solidFill>
            <a:ln w="6153" cap="flat">
              <a:noFill/>
              <a:prstDash val="solid"/>
              <a:miter/>
            </a:ln>
          </p:spPr>
          <p:txBody>
            <a:bodyPr rtlCol="0" anchor="ctr"/>
            <a:lstStyle/>
            <a:p>
              <a:endParaRPr lang="en-US" noProof="0"/>
            </a:p>
          </p:txBody>
        </p:sp>
        <p:sp>
          <p:nvSpPr>
            <p:cNvPr id="22" name="Voľný tvar: obrazec 21">
              <a:extLst>
                <a:ext uri="{FF2B5EF4-FFF2-40B4-BE49-F238E27FC236}">
                  <a16:creationId xmlns:a16="http://schemas.microsoft.com/office/drawing/2014/main" id="{D84B0380-7340-47C5-8558-22CC34B7A29D}"/>
                </a:ext>
              </a:extLst>
            </p:cNvPr>
            <p:cNvSpPr/>
            <p:nvPr/>
          </p:nvSpPr>
          <p:spPr>
            <a:xfrm>
              <a:off x="2744022" y="6541214"/>
              <a:ext cx="104867" cy="148047"/>
            </a:xfrm>
            <a:custGeom>
              <a:avLst/>
              <a:gdLst>
                <a:gd name="connsiteX0" fmla="*/ 4626 w 104866"/>
                <a:gd name="connsiteY0" fmla="*/ 143421 h 148047"/>
                <a:gd name="connsiteX1" fmla="*/ 16964 w 104866"/>
                <a:gd name="connsiteY1" fmla="*/ 4626 h 148047"/>
                <a:gd name="connsiteX2" fmla="*/ 101474 w 104866"/>
                <a:gd name="connsiteY2" fmla="*/ 4626 h 148047"/>
                <a:gd name="connsiteX3" fmla="*/ 91604 w 104866"/>
                <a:gd name="connsiteY3" fmla="*/ 102708 h 148047"/>
                <a:gd name="connsiteX4" fmla="*/ 4626 w 104866"/>
                <a:gd name="connsiteY4" fmla="*/ 143421 h 148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66" h="148047">
                  <a:moveTo>
                    <a:pt x="4626" y="143421"/>
                  </a:moveTo>
                  <a:lnTo>
                    <a:pt x="16964" y="4626"/>
                  </a:lnTo>
                  <a:lnTo>
                    <a:pt x="101474" y="4626"/>
                  </a:lnTo>
                  <a:lnTo>
                    <a:pt x="91604" y="102708"/>
                  </a:lnTo>
                  <a:cubicBezTo>
                    <a:pt x="90988" y="102708"/>
                    <a:pt x="70014" y="131083"/>
                    <a:pt x="4626" y="143421"/>
                  </a:cubicBezTo>
                </a:path>
              </a:pathLst>
            </a:custGeom>
            <a:solidFill>
              <a:schemeClr val="tx2"/>
            </a:solidFill>
            <a:ln w="9525" cap="flat">
              <a:noFill/>
              <a:prstDash val="solid"/>
              <a:miter/>
            </a:ln>
          </p:spPr>
          <p:txBody>
            <a:bodyPr rtlCol="0" anchor="ctr"/>
            <a:lstStyle/>
            <a:p>
              <a:endParaRPr lang="en-US" noProof="0"/>
            </a:p>
          </p:txBody>
        </p:sp>
        <p:sp>
          <p:nvSpPr>
            <p:cNvPr id="23" name="Voľný tvar: obrazec 22">
              <a:extLst>
                <a:ext uri="{FF2B5EF4-FFF2-40B4-BE49-F238E27FC236}">
                  <a16:creationId xmlns:a16="http://schemas.microsoft.com/office/drawing/2014/main" id="{C821FC7D-775A-43AC-B95D-153712422F21}"/>
                </a:ext>
              </a:extLst>
            </p:cNvPr>
            <p:cNvSpPr/>
            <p:nvPr/>
          </p:nvSpPr>
          <p:spPr>
            <a:xfrm>
              <a:off x="2560197" y="6696663"/>
              <a:ext cx="104867" cy="148047"/>
            </a:xfrm>
            <a:custGeom>
              <a:avLst/>
              <a:gdLst>
                <a:gd name="connsiteX0" fmla="*/ 100857 w 104866"/>
                <a:gd name="connsiteY0" fmla="*/ 4626 h 148047"/>
                <a:gd name="connsiteX1" fmla="*/ 88520 w 104866"/>
                <a:gd name="connsiteY1" fmla="*/ 143421 h 148047"/>
                <a:gd name="connsiteX2" fmla="*/ 4626 w 104866"/>
                <a:gd name="connsiteY2" fmla="*/ 143421 h 148047"/>
                <a:gd name="connsiteX3" fmla="*/ 14496 w 104866"/>
                <a:gd name="connsiteY3" fmla="*/ 45339 h 148047"/>
                <a:gd name="connsiteX4" fmla="*/ 100857 w 104866"/>
                <a:gd name="connsiteY4" fmla="*/ 4626 h 148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66" h="148047">
                  <a:moveTo>
                    <a:pt x="100857" y="4626"/>
                  </a:moveTo>
                  <a:lnTo>
                    <a:pt x="88520" y="143421"/>
                  </a:lnTo>
                  <a:lnTo>
                    <a:pt x="4626" y="143421"/>
                  </a:lnTo>
                  <a:lnTo>
                    <a:pt x="14496" y="45339"/>
                  </a:lnTo>
                  <a:cubicBezTo>
                    <a:pt x="14496" y="45339"/>
                    <a:pt x="36087" y="16347"/>
                    <a:pt x="100857" y="4626"/>
                  </a:cubicBezTo>
                </a:path>
              </a:pathLst>
            </a:custGeom>
            <a:solidFill>
              <a:schemeClr val="tx2"/>
            </a:solidFill>
            <a:ln w="9525" cap="flat">
              <a:noFill/>
              <a:prstDash val="solid"/>
              <a:miter/>
            </a:ln>
          </p:spPr>
          <p:txBody>
            <a:bodyPr rtlCol="0" anchor="ctr"/>
            <a:lstStyle/>
            <a:p>
              <a:endParaRPr lang="en-US" noProof="0"/>
            </a:p>
          </p:txBody>
        </p:sp>
      </p:grpSp>
      <p:sp>
        <p:nvSpPr>
          <p:cNvPr id="27" name="Zástupný objekt pre text 5">
            <a:extLst>
              <a:ext uri="{FF2B5EF4-FFF2-40B4-BE49-F238E27FC236}">
                <a16:creationId xmlns:a16="http://schemas.microsoft.com/office/drawing/2014/main" id="{E25F0636-5AA4-459A-B231-9C3CFAD1609C}"/>
              </a:ext>
            </a:extLst>
          </p:cNvPr>
          <p:cNvSpPr>
            <a:spLocks noGrp="1"/>
          </p:cNvSpPr>
          <p:nvPr>
            <p:ph type="body" sz="quarter" idx="23"/>
          </p:nvPr>
        </p:nvSpPr>
        <p:spPr>
          <a:xfrm>
            <a:off x="949468" y="3429000"/>
            <a:ext cx="10813043" cy="2088859"/>
          </a:xfrm>
          <a:prstGeom prst="rect">
            <a:avLst/>
          </a:prstGeom>
        </p:spPr>
        <p:txBody>
          <a:bodyPr numCol="5" spcCol="216000"/>
          <a:lstStyle>
            <a:lvl1pPr marL="0" indent="0" algn="l">
              <a:lnSpc>
                <a:spcPct val="130000"/>
              </a:lnSpc>
              <a:spcBef>
                <a:spcPts val="0"/>
              </a:spcBef>
              <a:buFont typeface="Arial" panose="020B0604020202020204" pitchFamily="34" charset="0"/>
              <a:buNone/>
              <a:defRPr sz="1200">
                <a:solidFill>
                  <a:schemeClr val="tx1">
                    <a:lumMod val="75000"/>
                    <a:lumOff val="25000"/>
                  </a:schemeClr>
                </a:solidFill>
              </a:defRPr>
            </a:lvl1pPr>
            <a:lvl2pPr marL="457200" indent="0" algn="l">
              <a:buFont typeface="Arial" panose="020B0604020202020204" pitchFamily="34" charset="0"/>
              <a:buNone/>
              <a:defRPr sz="1200">
                <a:solidFill>
                  <a:schemeClr val="tx1">
                    <a:lumMod val="50000"/>
                    <a:lumOff val="50000"/>
                  </a:schemeClr>
                </a:solidFill>
              </a:defRPr>
            </a:lvl2pPr>
            <a:lvl3pPr marL="914400" indent="0" algn="l">
              <a:buFont typeface="Arial" panose="020B0604020202020204" pitchFamily="34" charset="0"/>
              <a:buNone/>
              <a:defRPr sz="1200">
                <a:solidFill>
                  <a:schemeClr val="tx1">
                    <a:lumMod val="50000"/>
                    <a:lumOff val="50000"/>
                  </a:schemeClr>
                </a:solidFill>
              </a:defRPr>
            </a:lvl3pPr>
            <a:lvl4pPr marL="1371600" indent="0" algn="l">
              <a:buFont typeface="Arial" panose="020B0604020202020204" pitchFamily="34" charset="0"/>
              <a:buNone/>
              <a:defRPr sz="1200">
                <a:solidFill>
                  <a:schemeClr val="tx1">
                    <a:lumMod val="50000"/>
                    <a:lumOff val="50000"/>
                  </a:schemeClr>
                </a:solidFill>
              </a:defRPr>
            </a:lvl4pPr>
            <a:lvl5pPr marL="1828800" indent="0" algn="l">
              <a:buFont typeface="Arial" panose="020B0604020202020204" pitchFamily="34" charset="0"/>
              <a:buNone/>
              <a:defRPr sz="1200">
                <a:solidFill>
                  <a:schemeClr val="tx1">
                    <a:lumMod val="50000"/>
                    <a:lumOff val="50000"/>
                  </a:schemeClr>
                </a:solidFill>
              </a:defRPr>
            </a:lvl5pPr>
          </a:lstStyle>
          <a:p>
            <a:pPr lvl="0"/>
            <a:r>
              <a:rPr lang="cs-CZ" noProof="0"/>
              <a:t>Upravte styly předlohy textu.</a:t>
            </a:r>
          </a:p>
        </p:txBody>
      </p:sp>
      <p:sp>
        <p:nvSpPr>
          <p:cNvPr id="28" name="Zástupný objekt pre text 14">
            <a:extLst>
              <a:ext uri="{FF2B5EF4-FFF2-40B4-BE49-F238E27FC236}">
                <a16:creationId xmlns:a16="http://schemas.microsoft.com/office/drawing/2014/main" id="{AF33FA51-B83E-40DA-88B0-908E5EF1DDF3}"/>
              </a:ext>
            </a:extLst>
          </p:cNvPr>
          <p:cNvSpPr>
            <a:spLocks noGrp="1"/>
          </p:cNvSpPr>
          <p:nvPr>
            <p:ph type="body" sz="quarter" idx="15" hasCustomPrompt="1"/>
          </p:nvPr>
        </p:nvSpPr>
        <p:spPr>
          <a:xfrm>
            <a:off x="8672947" y="6431973"/>
            <a:ext cx="3089564" cy="207818"/>
          </a:xfrm>
          <a:prstGeom prst="rect">
            <a:avLst/>
          </a:prstGeom>
        </p:spPr>
        <p:txBody>
          <a:bodyPr/>
          <a:lstStyle>
            <a:lvl1pPr algn="r">
              <a:defRPr sz="950" b="0">
                <a:solidFill>
                  <a:schemeClr val="bg1">
                    <a:lumMod val="50000"/>
                  </a:schemeClr>
                </a:solidFill>
              </a:defRPr>
            </a:lvl1pPr>
            <a:lvl2pPr>
              <a:defRPr sz="950" b="0">
                <a:solidFill>
                  <a:schemeClr val="bg1">
                    <a:lumMod val="50000"/>
                  </a:schemeClr>
                </a:solidFill>
              </a:defRPr>
            </a:lvl2pPr>
            <a:lvl3pPr>
              <a:defRPr sz="950" b="0">
                <a:solidFill>
                  <a:schemeClr val="bg1">
                    <a:lumMod val="50000"/>
                  </a:schemeClr>
                </a:solidFill>
              </a:defRPr>
            </a:lvl3pPr>
            <a:lvl4pPr>
              <a:defRPr sz="950" b="0">
                <a:solidFill>
                  <a:schemeClr val="bg1">
                    <a:lumMod val="50000"/>
                  </a:schemeClr>
                </a:solidFill>
              </a:defRPr>
            </a:lvl4pPr>
            <a:lvl5pPr>
              <a:defRPr sz="950" b="0">
                <a:solidFill>
                  <a:schemeClr val="bg1">
                    <a:lumMod val="50000"/>
                  </a:schemeClr>
                </a:solidFill>
              </a:defRPr>
            </a:lvl5pPr>
          </a:lstStyle>
          <a:p>
            <a:pPr lvl="0"/>
            <a:r>
              <a:rPr lang="en-US" noProof="0"/>
              <a:t>Název prezentace (volitelně)</a:t>
            </a:r>
          </a:p>
        </p:txBody>
      </p:sp>
      <p:sp>
        <p:nvSpPr>
          <p:cNvPr id="29" name="BlokTextu 28">
            <a:extLst>
              <a:ext uri="{FF2B5EF4-FFF2-40B4-BE49-F238E27FC236}">
                <a16:creationId xmlns:a16="http://schemas.microsoft.com/office/drawing/2014/main" id="{67D481AA-F3A8-4360-9981-F4657D8B1B13}"/>
              </a:ext>
            </a:extLst>
          </p:cNvPr>
          <p:cNvSpPr txBox="1"/>
          <p:nvPr/>
        </p:nvSpPr>
        <p:spPr>
          <a:xfrm>
            <a:off x="11853949" y="6431973"/>
            <a:ext cx="338051" cy="207818"/>
          </a:xfrm>
          <a:prstGeom prst="rect">
            <a:avLst/>
          </a:prstGeom>
        </p:spPr>
        <p:txBody>
          <a:bodyPr vert="horz" wrap="square" lIns="0" tIns="45720" rIns="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fld id="{B0E1C688-2A94-4C23-89D7-1BDBDDABE19E}" type="slidenum">
              <a:rPr lang="en-US" sz="950" b="0" kern="1200" noProof="0" smtClean="0">
                <a:solidFill>
                  <a:schemeClr val="bg1">
                    <a:lumMod val="50000"/>
                  </a:schemeClr>
                </a:solidFill>
                <a:latin typeface="+mn-lt"/>
                <a:ea typeface="+mn-ea"/>
                <a:cs typeface="+mn-cs"/>
              </a:rPr>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t>‹#›</a:t>
            </a:fld>
            <a:endParaRPr lang="en-US" sz="950" b="0" kern="1200" noProof="0">
              <a:solidFill>
                <a:schemeClr val="bg1">
                  <a:lumMod val="50000"/>
                </a:schemeClr>
              </a:solidFill>
              <a:latin typeface="+mn-lt"/>
              <a:ea typeface="+mn-ea"/>
              <a:cs typeface="+mn-cs"/>
            </a:endParaRPr>
          </a:p>
        </p:txBody>
      </p:sp>
      <p:sp>
        <p:nvSpPr>
          <p:cNvPr id="3" name="Zástupný objekt pre obrázok 2">
            <a:extLst>
              <a:ext uri="{FF2B5EF4-FFF2-40B4-BE49-F238E27FC236}">
                <a16:creationId xmlns:a16="http://schemas.microsoft.com/office/drawing/2014/main" id="{84439355-B890-45E3-86CE-9730126B6FCD}"/>
              </a:ext>
            </a:extLst>
          </p:cNvPr>
          <p:cNvSpPr>
            <a:spLocks noGrp="1"/>
          </p:cNvSpPr>
          <p:nvPr>
            <p:ph type="pic" sz="quarter" idx="24"/>
          </p:nvPr>
        </p:nvSpPr>
        <p:spPr>
          <a:xfrm>
            <a:off x="949469" y="1596232"/>
            <a:ext cx="1657350" cy="1657350"/>
          </a:xfrm>
          <a:prstGeom prst="rect">
            <a:avLst/>
          </a:prstGeom>
        </p:spPr>
        <p:txBody>
          <a:bodyPr/>
          <a:lstStyle>
            <a:lvl1pPr>
              <a:defRPr sz="1200"/>
            </a:lvl1pPr>
          </a:lstStyle>
          <a:p>
            <a:r>
              <a:rPr lang="cs-CZ" noProof="0"/>
              <a:t>Kliknutím na ikonu přidáte obrázek.</a:t>
            </a:r>
            <a:endParaRPr lang="en-US" noProof="0"/>
          </a:p>
        </p:txBody>
      </p:sp>
      <p:sp>
        <p:nvSpPr>
          <p:cNvPr id="30" name="Zástupný objekt pre obrázok 2">
            <a:extLst>
              <a:ext uri="{FF2B5EF4-FFF2-40B4-BE49-F238E27FC236}">
                <a16:creationId xmlns:a16="http://schemas.microsoft.com/office/drawing/2014/main" id="{9B448865-FF64-4354-AD0D-46202841E973}"/>
              </a:ext>
            </a:extLst>
          </p:cNvPr>
          <p:cNvSpPr>
            <a:spLocks noGrp="1"/>
          </p:cNvSpPr>
          <p:nvPr>
            <p:ph type="pic" sz="quarter" idx="25"/>
          </p:nvPr>
        </p:nvSpPr>
        <p:spPr>
          <a:xfrm>
            <a:off x="3108721" y="1596232"/>
            <a:ext cx="1657350" cy="1657350"/>
          </a:xfrm>
          <a:prstGeom prst="rect">
            <a:avLst/>
          </a:prstGeom>
        </p:spPr>
        <p:txBody>
          <a:bodyPr/>
          <a:lstStyle>
            <a:lvl1pPr>
              <a:defRPr sz="1200"/>
            </a:lvl1pPr>
          </a:lstStyle>
          <a:p>
            <a:r>
              <a:rPr lang="cs-CZ" noProof="0"/>
              <a:t>Kliknutím na ikonu přidáte obrázek.</a:t>
            </a:r>
            <a:endParaRPr lang="en-US" noProof="0"/>
          </a:p>
        </p:txBody>
      </p:sp>
      <p:sp>
        <p:nvSpPr>
          <p:cNvPr id="31" name="Zástupný objekt pre obrázok 2">
            <a:extLst>
              <a:ext uri="{FF2B5EF4-FFF2-40B4-BE49-F238E27FC236}">
                <a16:creationId xmlns:a16="http://schemas.microsoft.com/office/drawing/2014/main" id="{C0C6F2CB-60B5-4655-9533-C69DDFF6363B}"/>
              </a:ext>
            </a:extLst>
          </p:cNvPr>
          <p:cNvSpPr>
            <a:spLocks noGrp="1"/>
          </p:cNvSpPr>
          <p:nvPr>
            <p:ph type="pic" sz="quarter" idx="26"/>
          </p:nvPr>
        </p:nvSpPr>
        <p:spPr>
          <a:xfrm>
            <a:off x="5267973" y="1596232"/>
            <a:ext cx="1657350" cy="1657350"/>
          </a:xfrm>
          <a:prstGeom prst="rect">
            <a:avLst/>
          </a:prstGeom>
        </p:spPr>
        <p:txBody>
          <a:bodyPr/>
          <a:lstStyle>
            <a:lvl1pPr>
              <a:defRPr sz="1200"/>
            </a:lvl1pPr>
          </a:lstStyle>
          <a:p>
            <a:r>
              <a:rPr lang="cs-CZ" noProof="0"/>
              <a:t>Kliknutím na ikonu přidáte obrázek.</a:t>
            </a:r>
            <a:endParaRPr lang="en-US" noProof="0"/>
          </a:p>
        </p:txBody>
      </p:sp>
      <p:sp>
        <p:nvSpPr>
          <p:cNvPr id="32" name="Zástupný objekt pre obrázok 2">
            <a:extLst>
              <a:ext uri="{FF2B5EF4-FFF2-40B4-BE49-F238E27FC236}">
                <a16:creationId xmlns:a16="http://schemas.microsoft.com/office/drawing/2014/main" id="{A6FF5E35-ED64-490D-96DA-730236F99872}"/>
              </a:ext>
            </a:extLst>
          </p:cNvPr>
          <p:cNvSpPr>
            <a:spLocks noGrp="1"/>
          </p:cNvSpPr>
          <p:nvPr>
            <p:ph type="pic" sz="quarter" idx="27"/>
          </p:nvPr>
        </p:nvSpPr>
        <p:spPr>
          <a:xfrm>
            <a:off x="7427225" y="1596232"/>
            <a:ext cx="1657350" cy="1657350"/>
          </a:xfrm>
          <a:prstGeom prst="rect">
            <a:avLst/>
          </a:prstGeom>
        </p:spPr>
        <p:txBody>
          <a:bodyPr/>
          <a:lstStyle>
            <a:lvl1pPr>
              <a:defRPr sz="1200"/>
            </a:lvl1pPr>
          </a:lstStyle>
          <a:p>
            <a:r>
              <a:rPr lang="cs-CZ" noProof="0"/>
              <a:t>Kliknutím na ikonu přidáte obrázek.</a:t>
            </a:r>
            <a:endParaRPr lang="en-US" noProof="0"/>
          </a:p>
        </p:txBody>
      </p:sp>
      <p:sp>
        <p:nvSpPr>
          <p:cNvPr id="33" name="Zástupný objekt pre obrázok 2">
            <a:extLst>
              <a:ext uri="{FF2B5EF4-FFF2-40B4-BE49-F238E27FC236}">
                <a16:creationId xmlns:a16="http://schemas.microsoft.com/office/drawing/2014/main" id="{DC8F8C30-5418-49E6-A7E9-324934C79048}"/>
              </a:ext>
            </a:extLst>
          </p:cNvPr>
          <p:cNvSpPr>
            <a:spLocks noGrp="1"/>
          </p:cNvSpPr>
          <p:nvPr>
            <p:ph type="pic" sz="quarter" idx="28"/>
          </p:nvPr>
        </p:nvSpPr>
        <p:spPr>
          <a:xfrm>
            <a:off x="9586475" y="1596232"/>
            <a:ext cx="1657350" cy="1657350"/>
          </a:xfrm>
          <a:prstGeom prst="rect">
            <a:avLst/>
          </a:prstGeom>
        </p:spPr>
        <p:txBody>
          <a:bodyPr/>
          <a:lstStyle>
            <a:lvl1pPr>
              <a:defRPr sz="1200"/>
            </a:lvl1pPr>
          </a:lstStyle>
          <a:p>
            <a:r>
              <a:rPr lang="cs-CZ" noProof="0"/>
              <a:t>Kliknutím na ikonu přidáte obrázek.</a:t>
            </a:r>
            <a:endParaRPr lang="en-US" noProof="0"/>
          </a:p>
        </p:txBody>
      </p:sp>
    </p:spTree>
    <p:extLst>
      <p:ext uri="{BB962C8B-B14F-4D97-AF65-F5344CB8AC3E}">
        <p14:creationId xmlns:p14="http://schemas.microsoft.com/office/powerpoint/2010/main" val="7667197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Úvodní sním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A8729A3-AD30-4B61-A0C7-22F3B7087B16}"/>
              </a:ext>
            </a:extLst>
          </p:cNvPr>
          <p:cNvSpPr>
            <a:spLocks noGrp="1"/>
          </p:cNvSpPr>
          <p:nvPr>
            <p:ph type="ctrTitle"/>
          </p:nvPr>
        </p:nvSpPr>
        <p:spPr>
          <a:xfrm>
            <a:off x="1524000" y="1122363"/>
            <a:ext cx="9144000" cy="2387600"/>
          </a:xfrm>
        </p:spPr>
        <p:txBody>
          <a:bodyPr anchor="b"/>
          <a:lstStyle>
            <a:lvl1pPr algn="ctr">
              <a:defRPr sz="6000"/>
            </a:lvl1pPr>
          </a:lstStyle>
          <a:p>
            <a:r>
              <a:rPr lang="cs-CZ"/>
              <a:t>Kliknutím lze upravit styl.</a:t>
            </a:r>
          </a:p>
        </p:txBody>
      </p:sp>
      <p:sp>
        <p:nvSpPr>
          <p:cNvPr id="3" name="Podnadpis 2">
            <a:extLst>
              <a:ext uri="{FF2B5EF4-FFF2-40B4-BE49-F238E27FC236}">
                <a16:creationId xmlns:a16="http://schemas.microsoft.com/office/drawing/2014/main" id="{08CA9C03-0A2E-4B82-A84A-0B63C133B3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p>
        </p:txBody>
      </p:sp>
      <p:sp>
        <p:nvSpPr>
          <p:cNvPr id="4" name="Zástupný symbol pro datum 3">
            <a:extLst>
              <a:ext uri="{FF2B5EF4-FFF2-40B4-BE49-F238E27FC236}">
                <a16:creationId xmlns:a16="http://schemas.microsoft.com/office/drawing/2014/main" id="{A71796BB-AE9A-4BC0-9EE4-4FBD47A171A1}"/>
              </a:ext>
            </a:extLst>
          </p:cNvPr>
          <p:cNvSpPr>
            <a:spLocks noGrp="1"/>
          </p:cNvSpPr>
          <p:nvPr>
            <p:ph type="dt" sz="half" idx="10"/>
          </p:nvPr>
        </p:nvSpPr>
        <p:spPr/>
        <p:txBody>
          <a:bodyPr/>
          <a:lstStyle/>
          <a:p>
            <a:endParaRPr lang="cs-CZ"/>
          </a:p>
        </p:txBody>
      </p:sp>
      <p:sp>
        <p:nvSpPr>
          <p:cNvPr id="5" name="Zástupný symbol pro zápatí 4">
            <a:extLst>
              <a:ext uri="{FF2B5EF4-FFF2-40B4-BE49-F238E27FC236}">
                <a16:creationId xmlns:a16="http://schemas.microsoft.com/office/drawing/2014/main" id="{4C88F985-BBEB-49CD-B756-4BCB098B415F}"/>
              </a:ext>
            </a:extLst>
          </p:cNvPr>
          <p:cNvSpPr>
            <a:spLocks noGrp="1"/>
          </p:cNvSpPr>
          <p:nvPr>
            <p:ph type="ftr" sz="quarter" idx="11"/>
          </p:nvPr>
        </p:nvSpPr>
        <p:spPr/>
        <p:txBody>
          <a:bodyPr/>
          <a:lstStyle/>
          <a:p>
            <a:endParaRPr lang="cs-CZ" dirty="0"/>
          </a:p>
        </p:txBody>
      </p:sp>
      <p:sp>
        <p:nvSpPr>
          <p:cNvPr id="6" name="Zástupný symbol pro číslo snímku 5">
            <a:extLst>
              <a:ext uri="{FF2B5EF4-FFF2-40B4-BE49-F238E27FC236}">
                <a16:creationId xmlns:a16="http://schemas.microsoft.com/office/drawing/2014/main" id="{96CAB59B-AC9A-4D99-8BF5-2E4B698AF285}"/>
              </a:ext>
            </a:extLst>
          </p:cNvPr>
          <p:cNvSpPr>
            <a:spLocks noGrp="1"/>
          </p:cNvSpPr>
          <p:nvPr>
            <p:ph type="sldNum" sz="quarter" idx="12"/>
          </p:nvPr>
        </p:nvSpPr>
        <p:spPr>
          <a:xfrm>
            <a:off x="11071126" y="6315134"/>
            <a:ext cx="874440" cy="365125"/>
          </a:xfrm>
        </p:spPr>
        <p:txBody>
          <a:bodyPr/>
          <a:lstStyle/>
          <a:p>
            <a:fld id="{9C2A840F-0B87-418B-810F-AF8C7854C3AD}" type="slidenum">
              <a:rPr lang="cs-CZ" smtClean="0"/>
              <a:t>‹#›</a:t>
            </a:fld>
            <a:endParaRPr lang="cs-CZ"/>
          </a:p>
        </p:txBody>
      </p:sp>
    </p:spTree>
    <p:extLst>
      <p:ext uri="{BB962C8B-B14F-4D97-AF65-F5344CB8AC3E}">
        <p14:creationId xmlns:p14="http://schemas.microsoft.com/office/powerpoint/2010/main" val="29336475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Vlastní rozložení">
    <p:bg>
      <p:bgPr>
        <a:solidFill>
          <a:srgbClr val="D3D3D3"/>
        </a:solidFill>
        <a:effectLst/>
      </p:bgPr>
    </p:bg>
    <p:spTree>
      <p:nvGrpSpPr>
        <p:cNvPr id="1" name=""/>
        <p:cNvGrpSpPr/>
        <p:nvPr/>
      </p:nvGrpSpPr>
      <p:grpSpPr>
        <a:xfrm>
          <a:off x="0" y="0"/>
          <a:ext cx="0" cy="0"/>
          <a:chOff x="0" y="0"/>
          <a:chExt cx="0" cy="0"/>
        </a:xfrm>
      </p:grpSpPr>
      <p:sp>
        <p:nvSpPr>
          <p:cNvPr id="2" name="Nadpis 1"/>
          <p:cNvSpPr>
            <a:spLocks noGrp="1"/>
          </p:cNvSpPr>
          <p:nvPr>
            <p:ph type="title"/>
          </p:nvPr>
        </p:nvSpPr>
        <p:spPr>
          <a:xfrm>
            <a:off x="609600" y="980728"/>
            <a:ext cx="10972800" cy="2578298"/>
          </a:xfrm>
        </p:spPr>
        <p:txBody>
          <a:bodyPr>
            <a:normAutofit/>
          </a:bodyPr>
          <a:lstStyle>
            <a:lvl1pPr>
              <a:defRPr sz="3500" b="1"/>
            </a:lvl1pPr>
          </a:lstStyle>
          <a:p>
            <a:r>
              <a:rPr lang="en-US"/>
              <a:t>Click to edit Master title style</a:t>
            </a:r>
            <a:endParaRPr lang="en-US" dirty="0"/>
          </a:p>
        </p:txBody>
      </p:sp>
      <p:pic>
        <p:nvPicPr>
          <p:cNvPr id="3" name="Obrázek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142875"/>
          </a:xfrm>
          <a:prstGeom prst="rect">
            <a:avLst/>
          </a:prstGeom>
        </p:spPr>
      </p:pic>
      <p:pic>
        <p:nvPicPr>
          <p:cNvPr id="4" name="Obrázek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616" y="6309321"/>
            <a:ext cx="1266825" cy="207168"/>
          </a:xfrm>
          <a:prstGeom prst="rect">
            <a:avLst/>
          </a:prstGeom>
        </p:spPr>
      </p:pic>
    </p:spTree>
    <p:extLst>
      <p:ext uri="{BB962C8B-B14F-4D97-AF65-F5344CB8AC3E}">
        <p14:creationId xmlns:p14="http://schemas.microsoft.com/office/powerpoint/2010/main" val="352423511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1stlpcova-sadzba-velkepismo">
    <p:spTree>
      <p:nvGrpSpPr>
        <p:cNvPr id="1" name=""/>
        <p:cNvGrpSpPr/>
        <p:nvPr/>
      </p:nvGrpSpPr>
      <p:grpSpPr>
        <a:xfrm>
          <a:off x="0" y="0"/>
          <a:ext cx="0" cy="0"/>
          <a:chOff x="0" y="0"/>
          <a:chExt cx="0" cy="0"/>
        </a:xfrm>
      </p:grpSpPr>
      <p:sp>
        <p:nvSpPr>
          <p:cNvPr id="8" name="Obdélník 7"/>
          <p:cNvSpPr/>
          <p:nvPr/>
        </p:nvSpPr>
        <p:spPr>
          <a:xfrm>
            <a:off x="0" y="0"/>
            <a:ext cx="12192000" cy="908720"/>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Zástupný symbol pro obsah 2"/>
          <p:cNvSpPr>
            <a:spLocks noGrp="1"/>
          </p:cNvSpPr>
          <p:nvPr>
            <p:ph idx="1"/>
          </p:nvPr>
        </p:nvSpPr>
        <p:spPr>
          <a:xfrm>
            <a:off x="609600" y="1268760"/>
            <a:ext cx="10972800" cy="4857403"/>
          </a:xfrm>
        </p:spPr>
        <p:txBody>
          <a:bodyPr>
            <a:normAutofit/>
          </a:bodyPr>
          <a:lstStyle>
            <a:lvl1pPr marL="182563" indent="-182563">
              <a:spcBef>
                <a:spcPts val="600"/>
              </a:spcBef>
              <a:defRPr sz="1600"/>
            </a:lvl1pPr>
            <a:lvl2pPr marL="358775" indent="-176213">
              <a:spcBef>
                <a:spcPts val="600"/>
              </a:spcBef>
              <a:defRPr sz="1600"/>
            </a:lvl2pPr>
            <a:lvl3pPr marL="541338" indent="-182563">
              <a:spcBef>
                <a:spcPts val="600"/>
              </a:spcBef>
              <a:defRPr sz="1600" b="0"/>
            </a:lvl3pPr>
            <a:lvl4pPr marL="715963" indent="-174625">
              <a:spcBef>
                <a:spcPts val="600"/>
              </a:spcBef>
              <a:defRPr sz="1600" b="0"/>
            </a:lvl4pPr>
            <a:lvl5pPr marL="898525" indent="-182563">
              <a:spcBef>
                <a:spcPts val="600"/>
              </a:spcBef>
              <a:defRPr sz="16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Obrázek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9616" y="6309321"/>
            <a:ext cx="1266825" cy="207168"/>
          </a:xfrm>
          <a:prstGeom prst="rect">
            <a:avLst/>
          </a:prstGeom>
        </p:spPr>
      </p:pic>
      <p:sp>
        <p:nvSpPr>
          <p:cNvPr id="10" name="Nadpis 1"/>
          <p:cNvSpPr>
            <a:spLocks noGrp="1"/>
          </p:cNvSpPr>
          <p:nvPr>
            <p:ph type="title" hasCustomPrompt="1"/>
          </p:nvPr>
        </p:nvSpPr>
        <p:spPr>
          <a:xfrm>
            <a:off x="609600" y="228600"/>
            <a:ext cx="10972800" cy="536104"/>
          </a:xfrm>
        </p:spPr>
        <p:txBody>
          <a:bodyPr>
            <a:normAutofit/>
          </a:bodyPr>
          <a:lstStyle>
            <a:lvl1pPr algn="l">
              <a:lnSpc>
                <a:spcPct val="80000"/>
              </a:lnSpc>
              <a:defRPr sz="3400" b="1" cap="all" baseline="0">
                <a:solidFill>
                  <a:schemeClr val="tx2"/>
                </a:solidFill>
              </a:defRPr>
            </a:lvl1pPr>
          </a:lstStyle>
          <a:p>
            <a:r>
              <a:rPr lang="cs-CZ" dirty="0"/>
              <a:t>Text </a:t>
            </a:r>
            <a:r>
              <a:rPr lang="cs-CZ" dirty="0" err="1"/>
              <a:t>here</a:t>
            </a:r>
            <a:endParaRPr lang="en-US" dirty="0"/>
          </a:p>
        </p:txBody>
      </p:sp>
      <p:sp>
        <p:nvSpPr>
          <p:cNvPr id="6" name="Slide Number Placeholder 3"/>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081344-80CD-4A13-B8B9-B3290E12764D}" type="slidenum">
              <a:rPr lang="cs-CZ" smtClean="0"/>
              <a:t>‹#›</a:t>
            </a:fld>
            <a:endParaRPr lang="cs-CZ"/>
          </a:p>
        </p:txBody>
      </p:sp>
    </p:spTree>
    <p:extLst>
      <p:ext uri="{BB962C8B-B14F-4D97-AF65-F5344CB8AC3E}">
        <p14:creationId xmlns:p14="http://schemas.microsoft.com/office/powerpoint/2010/main" val="22768529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cSld name="CF slide">
    <p:spTree>
      <p:nvGrpSpPr>
        <p:cNvPr id="1" name=""/>
        <p:cNvGrpSpPr/>
        <p:nvPr/>
      </p:nvGrpSpPr>
      <p:grpSpPr>
        <a:xfrm>
          <a:off x="0" y="0"/>
          <a:ext cx="0" cy="0"/>
          <a:chOff x="0" y="0"/>
          <a:chExt cx="0" cy="0"/>
        </a:xfrm>
      </p:grpSpPr>
      <p:sp>
        <p:nvSpPr>
          <p:cNvPr id="2" name="Title 1"/>
          <p:cNvSpPr>
            <a:spLocks noGrp="1"/>
          </p:cNvSpPr>
          <p:nvPr>
            <p:ph type="title"/>
          </p:nvPr>
        </p:nvSpPr>
        <p:spPr>
          <a:xfrm>
            <a:off x="306270" y="454878"/>
            <a:ext cx="11587047" cy="727095"/>
          </a:xfrm>
        </p:spPr>
        <p:txBody>
          <a:bodyPr/>
          <a:lstStyle>
            <a:lvl1pPr>
              <a:defRPr b="1">
                <a:latin typeface="CiscoSans"/>
              </a:defRPr>
            </a:lvl1pPr>
          </a:lstStyle>
          <a:p>
            <a:r>
              <a:rPr lang="en-US" dirty="0"/>
              <a:t>Click to edit Master title style</a:t>
            </a:r>
          </a:p>
        </p:txBody>
      </p:sp>
      <p:sp>
        <p:nvSpPr>
          <p:cNvPr id="3" name="Content Placeholder 2"/>
          <p:cNvSpPr>
            <a:spLocks noGrp="1"/>
          </p:cNvSpPr>
          <p:nvPr>
            <p:ph idx="1"/>
          </p:nvPr>
        </p:nvSpPr>
        <p:spPr>
          <a:xfrm>
            <a:off x="306270" y="1340189"/>
            <a:ext cx="11587047" cy="4965256"/>
          </a:xfrm>
          <a:prstGeom prst="rect">
            <a:avLst/>
          </a:prstGeom>
        </p:spPr>
        <p:txBody>
          <a:bodyPr/>
          <a:lstStyle>
            <a:lvl1pPr>
              <a:defRPr sz="3200">
                <a:latin typeface="CiscoSans"/>
              </a:defRPr>
            </a:lvl1pPr>
            <a:lvl2pPr>
              <a:buFont typeface="Arial" pitchFamily="34" charset="0"/>
              <a:buChar char="–"/>
              <a:defRPr sz="2667">
                <a:latin typeface="CiscoSans"/>
              </a:defRPr>
            </a:lvl2pPr>
            <a:lvl3pPr>
              <a:buFont typeface="Verdana" pitchFamily="34" charset="0"/>
              <a:buChar char="&gt;"/>
              <a:defRPr sz="2400">
                <a:latin typeface="CiscoSans"/>
              </a:defRPr>
            </a:lvl3pPr>
            <a:lvl4pPr>
              <a:defRPr sz="2133">
                <a:latin typeface="CiscoSans"/>
              </a:defRPr>
            </a:lvl4pPr>
            <a:lvl5pPr>
              <a:defRPr sz="2133">
                <a:latin typeface="CiscoSan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p:cNvSpPr/>
          <p:nvPr userDrawn="1"/>
        </p:nvSpPr>
        <p:spPr>
          <a:xfrm>
            <a:off x="306270" y="6134656"/>
            <a:ext cx="11494495" cy="543649"/>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pic>
        <p:nvPicPr>
          <p:cNvPr id="1027" name="Picture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01" y="6226430"/>
            <a:ext cx="906456" cy="6220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261443" y="6458116"/>
            <a:ext cx="3903260" cy="3630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6"/>
          <p:cNvPicPr>
            <a:picLocks noChangeAspect="1"/>
          </p:cNvPicPr>
          <p:nvPr userDrawn="1"/>
        </p:nvPicPr>
        <p:blipFill>
          <a:blip r:embed="rId4"/>
          <a:stretch>
            <a:fillRect/>
          </a:stretch>
        </p:blipFill>
        <p:spPr>
          <a:xfrm>
            <a:off x="8127998" y="6524241"/>
            <a:ext cx="4016049" cy="303463"/>
          </a:xfrm>
          <a:prstGeom prst="rect">
            <a:avLst/>
          </a:prstGeom>
        </p:spPr>
      </p:pic>
    </p:spTree>
    <p:extLst>
      <p:ext uri="{BB962C8B-B14F-4D97-AF65-F5344CB8AC3E}">
        <p14:creationId xmlns:p14="http://schemas.microsoft.com/office/powerpoint/2010/main" val="37392207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Bullet_Heavy Text">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593600" y="1607864"/>
            <a:ext cx="5181600" cy="4110792"/>
          </a:xfrm>
          <a:prstGeom prst="rect">
            <a:avLst/>
          </a:prstGeom>
        </p:spPr>
        <p:txBody>
          <a:bodyPr lIns="91440" tIns="45710" rIns="0" bIns="45710">
            <a:noAutofit/>
          </a:bodyPr>
          <a:lstStyle>
            <a:lvl1pPr marL="154513" indent="-154513">
              <a:lnSpc>
                <a:spcPct val="95000"/>
              </a:lnSpc>
              <a:spcBef>
                <a:spcPts val="1433"/>
              </a:spcBef>
              <a:buClr>
                <a:schemeClr val="tx1"/>
              </a:buClr>
              <a:buSzPct val="60000"/>
              <a:buFont typeface="Arial"/>
              <a:buChar char="•"/>
              <a:defRPr sz="2667" b="0" i="0">
                <a:solidFill>
                  <a:schemeClr val="tx1"/>
                </a:solidFill>
                <a:latin typeface="+mn-lt"/>
                <a:cs typeface="CiscoSans ExtraLight"/>
              </a:defRPr>
            </a:lvl1pPr>
            <a:lvl2pPr marL="309026" indent="-148163">
              <a:lnSpc>
                <a:spcPct val="95000"/>
              </a:lnSpc>
              <a:spcBef>
                <a:spcPts val="800"/>
              </a:spcBef>
              <a:buClr>
                <a:schemeClr val="tx1"/>
              </a:buClr>
              <a:buSzPct val="60000"/>
              <a:buFont typeface="Arial"/>
              <a:buChar char="•"/>
              <a:defRPr sz="2400" b="0" i="0">
                <a:solidFill>
                  <a:schemeClr val="tx1"/>
                </a:solidFill>
                <a:latin typeface="+mn-lt"/>
                <a:cs typeface="CiscoSans ExtraLight"/>
              </a:defRPr>
            </a:lvl2pPr>
            <a:lvl3pPr marL="455073" indent="-152396">
              <a:spcBef>
                <a:spcPts val="800"/>
              </a:spcBef>
              <a:buClr>
                <a:schemeClr val="tx1"/>
              </a:buClr>
              <a:buSzPct val="60000"/>
              <a:buFont typeface="Arial"/>
              <a:buChar char="•"/>
              <a:tabLst/>
              <a:defRPr sz="2133" b="0" i="0">
                <a:solidFill>
                  <a:schemeClr val="tx1"/>
                </a:solidFill>
                <a:latin typeface="+mn-lt"/>
                <a:cs typeface="CiscoSans ExtraLight"/>
              </a:defRPr>
            </a:lvl3pPr>
            <a:lvl4pPr marL="690016" indent="-152396">
              <a:buClr>
                <a:schemeClr val="tx1"/>
              </a:buClr>
              <a:buSzPct val="60000"/>
              <a:buFont typeface="Arial"/>
              <a:buChar char="•"/>
              <a:defRPr sz="1867" b="0" i="0">
                <a:solidFill>
                  <a:schemeClr val="tx1"/>
                </a:solidFill>
                <a:latin typeface="CiscoSansTT Light" panose="020B0503020201020303" pitchFamily="34" charset="0"/>
                <a:cs typeface="CiscoSans ExtraLight"/>
              </a:defRPr>
            </a:lvl4pPr>
            <a:lvl5pPr marL="842412" indent="-152396">
              <a:buClr>
                <a:schemeClr val="tx1"/>
              </a:buClr>
              <a:buSzPct val="60000"/>
              <a:buFont typeface="Arial"/>
              <a:buChar char="•"/>
              <a:defRPr sz="1600" b="0" i="0">
                <a:solidFill>
                  <a:schemeClr val="tx1"/>
                </a:solidFill>
                <a:latin typeface="CiscoSansTT Light" panose="020B0503020201020303" pitchFamily="34" charset="0"/>
                <a:cs typeface="CiscoSans ExtraLight"/>
              </a:defRPr>
            </a:lvl5pPr>
          </a:lstStyle>
          <a:p>
            <a:pPr lvl="0"/>
            <a:r>
              <a:rPr lang="en-US" dirty="0"/>
              <a:t>Click to edit Master text styles</a:t>
            </a:r>
          </a:p>
          <a:p>
            <a:pPr lvl="1"/>
            <a:r>
              <a:rPr lang="en-US" dirty="0"/>
              <a:t>Second level</a:t>
            </a:r>
          </a:p>
          <a:p>
            <a:pPr lvl="2"/>
            <a:r>
              <a:rPr lang="en-US" dirty="0"/>
              <a:t>Third level</a:t>
            </a:r>
          </a:p>
        </p:txBody>
      </p:sp>
      <p:sp>
        <p:nvSpPr>
          <p:cNvPr id="5" name="Title Placeholder 5"/>
          <p:cNvSpPr>
            <a:spLocks noGrp="1"/>
          </p:cNvSpPr>
          <p:nvPr>
            <p:ph type="title"/>
          </p:nvPr>
        </p:nvSpPr>
        <p:spPr bwMode="auto">
          <a:xfrm>
            <a:off x="593601" y="256033"/>
            <a:ext cx="11009967" cy="9757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733">
                <a:solidFill>
                  <a:schemeClr val="bg1"/>
                </a:solidFill>
                <a:latin typeface="+mj-lt"/>
              </a:defRPr>
            </a:lvl1pPr>
          </a:lstStyle>
          <a:p>
            <a:pPr lvl="0"/>
            <a:r>
              <a:rPr lang="en-US"/>
              <a:t>Click to edit Master title style</a:t>
            </a:r>
            <a:endParaRPr lang="en-GB" dirty="0"/>
          </a:p>
        </p:txBody>
      </p:sp>
      <p:sp>
        <p:nvSpPr>
          <p:cNvPr id="6" name="Slide Number Placeholder 1"/>
          <p:cNvSpPr>
            <a:spLocks noGrp="1"/>
          </p:cNvSpPr>
          <p:nvPr>
            <p:ph type="sldNum" sz="quarter" idx="4"/>
          </p:nvPr>
        </p:nvSpPr>
        <p:spPr>
          <a:xfrm>
            <a:off x="11160200" y="6507857"/>
            <a:ext cx="479555" cy="366183"/>
          </a:xfrm>
          <a:prstGeom prst="rect">
            <a:avLst/>
          </a:prstGeom>
        </p:spPr>
        <p:txBody>
          <a:bodyPr vert="horz" lIns="91440" tIns="45720" rIns="91440" bIns="45720" rtlCol="0" anchor="ctr"/>
          <a:lstStyle>
            <a:lvl1pPr algn="r">
              <a:defRPr lang="en-US" sz="800" kern="1200" smtClean="0">
                <a:solidFill>
                  <a:schemeClr val="tx1"/>
                </a:solidFill>
                <a:latin typeface="+mn-lt"/>
                <a:ea typeface="+mn-ea"/>
                <a:cs typeface="CiscoSans Thin"/>
              </a:defRPr>
            </a:lvl1pPr>
          </a:lstStyle>
          <a:p>
            <a:fld id="{96A97DD0-5BE7-4856-A2A9-C42C6688E607}" type="slidenum">
              <a:rPr lang="en-US" smtClean="0"/>
              <a:pPr/>
              <a:t>‹#›</a:t>
            </a:fld>
            <a:endParaRPr lang="en-US" dirty="0"/>
          </a:p>
        </p:txBody>
      </p:sp>
      <p:sp>
        <p:nvSpPr>
          <p:cNvPr id="11" name="Text Placeholder 3"/>
          <p:cNvSpPr>
            <a:spLocks noGrp="1"/>
          </p:cNvSpPr>
          <p:nvPr>
            <p:ph type="body" sz="quarter" idx="12" hasCustomPrompt="1"/>
          </p:nvPr>
        </p:nvSpPr>
        <p:spPr>
          <a:xfrm>
            <a:off x="6458155" y="1607864"/>
            <a:ext cx="5181600" cy="4110792"/>
          </a:xfrm>
          <a:prstGeom prst="rect">
            <a:avLst/>
          </a:prstGeom>
        </p:spPr>
        <p:txBody>
          <a:bodyPr lIns="91440" tIns="45710" rIns="0" bIns="45710">
            <a:noAutofit/>
          </a:bodyPr>
          <a:lstStyle>
            <a:lvl1pPr marL="154513" indent="-154513">
              <a:lnSpc>
                <a:spcPct val="95000"/>
              </a:lnSpc>
              <a:spcBef>
                <a:spcPts val="1433"/>
              </a:spcBef>
              <a:buClr>
                <a:schemeClr val="tx1"/>
              </a:buClr>
              <a:buSzPct val="60000"/>
              <a:buFont typeface="Arial"/>
              <a:buChar char="•"/>
              <a:defRPr sz="2667" b="0" i="0">
                <a:solidFill>
                  <a:schemeClr val="tx1"/>
                </a:solidFill>
                <a:latin typeface="+mn-lt"/>
                <a:cs typeface="CiscoSans ExtraLight"/>
              </a:defRPr>
            </a:lvl1pPr>
            <a:lvl2pPr marL="309026" indent="-148163">
              <a:lnSpc>
                <a:spcPct val="95000"/>
              </a:lnSpc>
              <a:spcBef>
                <a:spcPts val="800"/>
              </a:spcBef>
              <a:buClr>
                <a:schemeClr val="tx1"/>
              </a:buClr>
              <a:buSzPct val="60000"/>
              <a:buFont typeface="Arial"/>
              <a:buChar char="•"/>
              <a:defRPr sz="2400" b="0" i="0">
                <a:solidFill>
                  <a:schemeClr val="tx1"/>
                </a:solidFill>
                <a:latin typeface="+mn-lt"/>
                <a:cs typeface="CiscoSans ExtraLight"/>
              </a:defRPr>
            </a:lvl2pPr>
            <a:lvl3pPr marL="455073" indent="-152396">
              <a:spcBef>
                <a:spcPts val="800"/>
              </a:spcBef>
              <a:buClr>
                <a:schemeClr val="tx1"/>
              </a:buClr>
              <a:buSzPct val="60000"/>
              <a:buFont typeface="Arial"/>
              <a:buChar char="•"/>
              <a:tabLst/>
              <a:defRPr sz="2133" b="0" i="0">
                <a:solidFill>
                  <a:schemeClr val="tx1"/>
                </a:solidFill>
                <a:latin typeface="+mn-lt"/>
                <a:cs typeface="CiscoSans ExtraLight"/>
              </a:defRPr>
            </a:lvl3pPr>
            <a:lvl4pPr marL="690016" indent="-152396">
              <a:buClr>
                <a:schemeClr val="tx1"/>
              </a:buClr>
              <a:buSzPct val="60000"/>
              <a:buFont typeface="Arial"/>
              <a:buChar char="•"/>
              <a:defRPr sz="1867" b="0" i="0">
                <a:solidFill>
                  <a:schemeClr val="tx1"/>
                </a:solidFill>
                <a:latin typeface="CiscoSansTT Light" panose="020B0503020201020303" pitchFamily="34" charset="0"/>
                <a:cs typeface="CiscoSans ExtraLight"/>
              </a:defRPr>
            </a:lvl4pPr>
            <a:lvl5pPr marL="842412" indent="-152396">
              <a:buClr>
                <a:schemeClr val="tx1"/>
              </a:buClr>
              <a:buSzPct val="60000"/>
              <a:buFont typeface="Arial"/>
              <a:buChar char="•"/>
              <a:defRPr sz="1600" b="0" i="0">
                <a:solidFill>
                  <a:schemeClr val="tx1"/>
                </a:solidFill>
                <a:latin typeface="CiscoSansTT Light" panose="020B0503020201020303" pitchFamily="34" charset="0"/>
                <a:cs typeface="CiscoSans ExtraLight"/>
              </a:defRPr>
            </a:lvl5pPr>
          </a:lstStyle>
          <a:p>
            <a:pPr lvl="0"/>
            <a:r>
              <a:rPr lang="en-US" dirty="0"/>
              <a:t>Click to edit Master text styles</a:t>
            </a:r>
          </a:p>
          <a:p>
            <a:pPr lvl="1"/>
            <a:r>
              <a:rPr lang="en-US" dirty="0"/>
              <a:t>Second level</a:t>
            </a:r>
          </a:p>
          <a:p>
            <a:pPr lvl="2"/>
            <a:r>
              <a:rPr lang="en-US" dirty="0"/>
              <a:t>Third level</a:t>
            </a:r>
          </a:p>
        </p:txBody>
      </p:sp>
      <p:sp>
        <p:nvSpPr>
          <p:cNvPr id="16" name="Footer Placeholder 2">
            <a:extLst>
              <a:ext uri="{FF2B5EF4-FFF2-40B4-BE49-F238E27FC236}">
                <a16:creationId xmlns:a16="http://schemas.microsoft.com/office/drawing/2014/main" id="{BE986F06-8E2C-1E4C-90C3-171D8D245001}"/>
              </a:ext>
            </a:extLst>
          </p:cNvPr>
          <p:cNvSpPr>
            <a:spLocks noGrp="1"/>
          </p:cNvSpPr>
          <p:nvPr>
            <p:ph type="ftr" sz="quarter" idx="3"/>
          </p:nvPr>
        </p:nvSpPr>
        <p:spPr bwMode="white">
          <a:xfrm>
            <a:off x="6583331" y="6616601"/>
            <a:ext cx="999744" cy="185296"/>
          </a:xfrm>
          <a:prstGeom prst="rect">
            <a:avLst/>
          </a:prstGeom>
          <a:noFill/>
          <a:ln w="9525">
            <a:noFill/>
            <a:miter lim="800000"/>
            <a:headEnd/>
            <a:tailEnd/>
          </a:ln>
          <a:effectLst/>
        </p:spPr>
        <p:txBody>
          <a:bodyPr wrap="square" lIns="61586" tIns="30792" rIns="61586" bIns="30792" anchor="b">
            <a:spAutoFit/>
          </a:bodyPr>
          <a:lstStyle>
            <a:lvl1pPr algn="l">
              <a:defRPr lang="en-US" sz="800" dirty="0">
                <a:solidFill>
                  <a:schemeClr val="tx1"/>
                </a:solidFill>
                <a:latin typeface="+mn-lt"/>
                <a:cs typeface="CiscoSans Thin"/>
              </a:defRPr>
            </a:lvl1pPr>
          </a:lstStyle>
          <a:p>
            <a:pPr defTabSz="814305"/>
            <a:r>
              <a:rPr lang="en-US"/>
              <a:t>TECSPG-1000</a:t>
            </a:r>
          </a:p>
        </p:txBody>
      </p:sp>
      <p:grpSp>
        <p:nvGrpSpPr>
          <p:cNvPr id="14" name="Group 13">
            <a:extLst>
              <a:ext uri="{FF2B5EF4-FFF2-40B4-BE49-F238E27FC236}">
                <a16:creationId xmlns:a16="http://schemas.microsoft.com/office/drawing/2014/main" id="{8038D1F5-1170-364A-8D3F-6654EB2B237B}"/>
              </a:ext>
            </a:extLst>
          </p:cNvPr>
          <p:cNvGrpSpPr/>
          <p:nvPr userDrawn="1"/>
        </p:nvGrpSpPr>
        <p:grpSpPr>
          <a:xfrm>
            <a:off x="715224" y="6381263"/>
            <a:ext cx="1341120" cy="365592"/>
            <a:chOff x="536418" y="4785947"/>
            <a:chExt cx="1005840" cy="274194"/>
          </a:xfrm>
          <a:solidFill>
            <a:schemeClr val="bg1"/>
          </a:solidFill>
        </p:grpSpPr>
        <p:grpSp>
          <p:nvGrpSpPr>
            <p:cNvPr id="15" name="Group 14">
              <a:extLst>
                <a:ext uri="{FF2B5EF4-FFF2-40B4-BE49-F238E27FC236}">
                  <a16:creationId xmlns:a16="http://schemas.microsoft.com/office/drawing/2014/main" id="{A92DCFF1-C52C-AE4B-9BF3-8D6DAF0B6C79}"/>
                </a:ext>
              </a:extLst>
            </p:cNvPr>
            <p:cNvGrpSpPr/>
            <p:nvPr/>
          </p:nvGrpSpPr>
          <p:grpSpPr>
            <a:xfrm>
              <a:off x="536418" y="4930673"/>
              <a:ext cx="386220" cy="86649"/>
              <a:chOff x="2826390" y="-407669"/>
              <a:chExt cx="1216132" cy="272841"/>
            </a:xfrm>
            <a:grpFill/>
          </p:grpSpPr>
          <p:sp>
            <p:nvSpPr>
              <p:cNvPr id="23" name="Freeform 22">
                <a:extLst>
                  <a:ext uri="{FF2B5EF4-FFF2-40B4-BE49-F238E27FC236}">
                    <a16:creationId xmlns:a16="http://schemas.microsoft.com/office/drawing/2014/main" id="{FB5B4617-A7D9-5648-8D4A-5251DB13112C}"/>
                  </a:ext>
                </a:extLst>
              </p:cNvPr>
              <p:cNvSpPr/>
              <p:nvPr/>
            </p:nvSpPr>
            <p:spPr>
              <a:xfrm>
                <a:off x="3112516" y="-397325"/>
                <a:ext cx="68279" cy="250823"/>
              </a:xfrm>
              <a:custGeom>
                <a:avLst/>
                <a:gdLst>
                  <a:gd name="connsiteX0" fmla="*/ 0 w 68279"/>
                  <a:gd name="connsiteY0" fmla="*/ 0 h 250823"/>
                  <a:gd name="connsiteX1" fmla="*/ 68279 w 68279"/>
                  <a:gd name="connsiteY1" fmla="*/ 0 h 250823"/>
                  <a:gd name="connsiteX2" fmla="*/ 68279 w 68279"/>
                  <a:gd name="connsiteY2" fmla="*/ 250824 h 250823"/>
                  <a:gd name="connsiteX3" fmla="*/ 0 w 68279"/>
                  <a:gd name="connsiteY3" fmla="*/ 250824 h 250823"/>
                </a:gdLst>
                <a:ahLst/>
                <a:cxnLst>
                  <a:cxn ang="0">
                    <a:pos x="connsiteX0" y="connsiteY0"/>
                  </a:cxn>
                  <a:cxn ang="0">
                    <a:pos x="connsiteX1" y="connsiteY1"/>
                  </a:cxn>
                  <a:cxn ang="0">
                    <a:pos x="connsiteX2" y="connsiteY2"/>
                  </a:cxn>
                  <a:cxn ang="0">
                    <a:pos x="connsiteX3" y="connsiteY3"/>
                  </a:cxn>
                </a:cxnLst>
                <a:rect l="l" t="t" r="r" b="b"/>
                <a:pathLst>
                  <a:path w="68279" h="250823">
                    <a:moveTo>
                      <a:pt x="0" y="0"/>
                    </a:moveTo>
                    <a:lnTo>
                      <a:pt x="68279" y="0"/>
                    </a:lnTo>
                    <a:lnTo>
                      <a:pt x="68279" y="250824"/>
                    </a:lnTo>
                    <a:lnTo>
                      <a:pt x="0" y="250824"/>
                    </a:lnTo>
                    <a:close/>
                  </a:path>
                </a:pathLst>
              </a:custGeom>
              <a:grpFill/>
              <a:ln w="9496"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14D7701B-6721-EE43-9E30-E9B109355CA3}"/>
                  </a:ext>
                </a:extLst>
              </p:cNvPr>
              <p:cNvSpPr/>
              <p:nvPr/>
            </p:nvSpPr>
            <p:spPr>
              <a:xfrm>
                <a:off x="3505952" y="-406341"/>
                <a:ext cx="198569" cy="267051"/>
              </a:xfrm>
              <a:custGeom>
                <a:avLst/>
                <a:gdLst>
                  <a:gd name="connsiteX0" fmla="*/ 198570 w 198569"/>
                  <a:gd name="connsiteY0" fmla="*/ 77819 h 267051"/>
                  <a:gd name="connsiteX1" fmla="*/ 142541 w 198569"/>
                  <a:gd name="connsiteY1" fmla="*/ 64058 h 267051"/>
                  <a:gd name="connsiteX2" fmla="*/ 70653 w 198569"/>
                  <a:gd name="connsiteY2" fmla="*/ 132862 h 267051"/>
                  <a:gd name="connsiteX3" fmla="*/ 142826 w 198569"/>
                  <a:gd name="connsiteY3" fmla="*/ 201665 h 267051"/>
                  <a:gd name="connsiteX4" fmla="*/ 198570 w 198569"/>
                  <a:gd name="connsiteY4" fmla="*/ 188284 h 267051"/>
                  <a:gd name="connsiteX5" fmla="*/ 198570 w 198569"/>
                  <a:gd name="connsiteY5" fmla="*/ 257562 h 267051"/>
                  <a:gd name="connsiteX6" fmla="*/ 137983 w 198569"/>
                  <a:gd name="connsiteY6" fmla="*/ 267052 h 267051"/>
                  <a:gd name="connsiteX7" fmla="*/ 0 w 198569"/>
                  <a:gd name="connsiteY7" fmla="*/ 133526 h 267051"/>
                  <a:gd name="connsiteX8" fmla="*/ 138268 w 198569"/>
                  <a:gd name="connsiteY8" fmla="*/ 0 h 267051"/>
                  <a:gd name="connsiteX9" fmla="*/ 198570 w 198569"/>
                  <a:gd name="connsiteY9" fmla="*/ 9490 h 267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8569" h="267051">
                    <a:moveTo>
                      <a:pt x="198570" y="77819"/>
                    </a:moveTo>
                    <a:cubicBezTo>
                      <a:pt x="181462" y="68304"/>
                      <a:pt x="162113" y="63552"/>
                      <a:pt x="142541" y="64058"/>
                    </a:cubicBezTo>
                    <a:cubicBezTo>
                      <a:pt x="100472" y="64058"/>
                      <a:pt x="70653" y="93383"/>
                      <a:pt x="70653" y="132862"/>
                    </a:cubicBezTo>
                    <a:cubicBezTo>
                      <a:pt x="70653" y="172340"/>
                      <a:pt x="99142" y="201665"/>
                      <a:pt x="142826" y="201665"/>
                    </a:cubicBezTo>
                    <a:cubicBezTo>
                      <a:pt x="162269" y="202249"/>
                      <a:pt x="181514" y="197630"/>
                      <a:pt x="198570" y="188284"/>
                    </a:cubicBezTo>
                    <a:lnTo>
                      <a:pt x="198570" y="257562"/>
                    </a:lnTo>
                    <a:cubicBezTo>
                      <a:pt x="178846" y="263222"/>
                      <a:pt x="158494" y="266409"/>
                      <a:pt x="137983" y="267052"/>
                    </a:cubicBezTo>
                    <a:cubicBezTo>
                      <a:pt x="64860" y="267052"/>
                      <a:pt x="0" y="216564"/>
                      <a:pt x="0" y="133526"/>
                    </a:cubicBezTo>
                    <a:cubicBezTo>
                      <a:pt x="0" y="56466"/>
                      <a:pt x="59068" y="0"/>
                      <a:pt x="138268" y="0"/>
                    </a:cubicBezTo>
                    <a:cubicBezTo>
                      <a:pt x="158679" y="710"/>
                      <a:pt x="178928" y="3897"/>
                      <a:pt x="198570" y="9490"/>
                    </a:cubicBezTo>
                    <a:close/>
                  </a:path>
                </a:pathLst>
              </a:custGeom>
              <a:grpFill/>
              <a:ln w="9496"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DAA632AD-C28F-5C4E-8910-482A91C9FA13}"/>
                  </a:ext>
                </a:extLst>
              </p:cNvPr>
              <p:cNvSpPr/>
              <p:nvPr/>
            </p:nvSpPr>
            <p:spPr>
              <a:xfrm>
                <a:off x="2826390" y="-407005"/>
                <a:ext cx="195055" cy="267716"/>
              </a:xfrm>
              <a:custGeom>
                <a:avLst/>
                <a:gdLst>
                  <a:gd name="connsiteX0" fmla="*/ 195056 w 195055"/>
                  <a:gd name="connsiteY0" fmla="*/ 78483 h 267716"/>
                  <a:gd name="connsiteX1" fmla="*/ 141401 w 195055"/>
                  <a:gd name="connsiteY1" fmla="*/ 64723 h 267716"/>
                  <a:gd name="connsiteX2" fmla="*/ 72552 w 195055"/>
                  <a:gd name="connsiteY2" fmla="*/ 133526 h 267716"/>
                  <a:gd name="connsiteX3" fmla="*/ 141401 w 195055"/>
                  <a:gd name="connsiteY3" fmla="*/ 202329 h 267716"/>
                  <a:gd name="connsiteX4" fmla="*/ 195056 w 195055"/>
                  <a:gd name="connsiteY4" fmla="*/ 188948 h 267716"/>
                  <a:gd name="connsiteX5" fmla="*/ 195056 w 195055"/>
                  <a:gd name="connsiteY5" fmla="*/ 258226 h 267716"/>
                  <a:gd name="connsiteX6" fmla="*/ 136748 w 195055"/>
                  <a:gd name="connsiteY6" fmla="*/ 267716 h 267716"/>
                  <a:gd name="connsiteX7" fmla="*/ 0 w 195055"/>
                  <a:gd name="connsiteY7" fmla="*/ 133526 h 267716"/>
                  <a:gd name="connsiteX8" fmla="*/ 136463 w 195055"/>
                  <a:gd name="connsiteY8" fmla="*/ 0 h 267716"/>
                  <a:gd name="connsiteX9" fmla="*/ 195056 w 195055"/>
                  <a:gd name="connsiteY9" fmla="*/ 9490 h 267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055" h="267716">
                    <a:moveTo>
                      <a:pt x="195056" y="78483"/>
                    </a:moveTo>
                    <a:cubicBezTo>
                      <a:pt x="178900" y="68759"/>
                      <a:pt x="160247" y="63976"/>
                      <a:pt x="141401" y="64723"/>
                    </a:cubicBezTo>
                    <a:cubicBezTo>
                      <a:pt x="103377" y="64723"/>
                      <a:pt x="72552" y="95526"/>
                      <a:pt x="72552" y="133526"/>
                    </a:cubicBezTo>
                    <a:cubicBezTo>
                      <a:pt x="72552" y="171525"/>
                      <a:pt x="103377" y="202329"/>
                      <a:pt x="141401" y="202329"/>
                    </a:cubicBezTo>
                    <a:cubicBezTo>
                      <a:pt x="160194" y="203039"/>
                      <a:pt x="178801" y="198399"/>
                      <a:pt x="195056" y="188948"/>
                    </a:cubicBezTo>
                    <a:lnTo>
                      <a:pt x="195056" y="258226"/>
                    </a:lnTo>
                    <a:cubicBezTo>
                      <a:pt x="176125" y="263948"/>
                      <a:pt x="156518" y="267140"/>
                      <a:pt x="136748" y="267716"/>
                    </a:cubicBezTo>
                    <a:cubicBezTo>
                      <a:pt x="63626" y="267052"/>
                      <a:pt x="0" y="216564"/>
                      <a:pt x="0" y="133526"/>
                    </a:cubicBezTo>
                    <a:cubicBezTo>
                      <a:pt x="0" y="56087"/>
                      <a:pt x="56978" y="0"/>
                      <a:pt x="136463" y="0"/>
                    </a:cubicBezTo>
                    <a:cubicBezTo>
                      <a:pt x="167042" y="0"/>
                      <a:pt x="195056" y="7402"/>
                      <a:pt x="195056" y="9490"/>
                    </a:cubicBezTo>
                    <a:close/>
                  </a:path>
                </a:pathLst>
              </a:custGeom>
              <a:grpFill/>
              <a:ln w="9496"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975A98ED-D8D7-3F4D-8F90-DC37D0A98141}"/>
                  </a:ext>
                </a:extLst>
              </p:cNvPr>
              <p:cNvSpPr/>
              <p:nvPr/>
            </p:nvSpPr>
            <p:spPr>
              <a:xfrm>
                <a:off x="3770165" y="-407058"/>
                <a:ext cx="272357" cy="272230"/>
              </a:xfrm>
              <a:custGeom>
                <a:avLst/>
                <a:gdLst>
                  <a:gd name="connsiteX0" fmla="*/ 272333 w 272357"/>
                  <a:gd name="connsiteY0" fmla="*/ 133579 h 272230"/>
                  <a:gd name="connsiteX1" fmla="*/ 138747 w 272357"/>
                  <a:gd name="connsiteY1" fmla="*/ 272206 h 272230"/>
                  <a:gd name="connsiteX2" fmla="*/ 25 w 272357"/>
                  <a:gd name="connsiteY2" fmla="*/ 138703 h 272230"/>
                  <a:gd name="connsiteX3" fmla="*/ 133619 w 272357"/>
                  <a:gd name="connsiteY3" fmla="*/ 77 h 272230"/>
                  <a:gd name="connsiteX4" fmla="*/ 136155 w 272357"/>
                  <a:gd name="connsiteY4" fmla="*/ 53 h 272230"/>
                  <a:gd name="connsiteX5" fmla="*/ 272285 w 272357"/>
                  <a:gd name="connsiteY5" fmla="*/ 128682 h 272230"/>
                  <a:gd name="connsiteX6" fmla="*/ 272333 w 272357"/>
                  <a:gd name="connsiteY6" fmla="*/ 133579 h 272230"/>
                  <a:gd name="connsiteX7" fmla="*/ 136155 w 272357"/>
                  <a:gd name="connsiteY7" fmla="*/ 65630 h 272230"/>
                  <a:gd name="connsiteX8" fmla="*/ 67591 w 272357"/>
                  <a:gd name="connsiteY8" fmla="*/ 132817 h 272230"/>
                  <a:gd name="connsiteX9" fmla="*/ 134825 w 272357"/>
                  <a:gd name="connsiteY9" fmla="*/ 201332 h 272230"/>
                  <a:gd name="connsiteX10" fmla="*/ 203389 w 272357"/>
                  <a:gd name="connsiteY10" fmla="*/ 134145 h 272230"/>
                  <a:gd name="connsiteX11" fmla="*/ 203389 w 272357"/>
                  <a:gd name="connsiteY11" fmla="*/ 133484 h 272230"/>
                  <a:gd name="connsiteX12" fmla="*/ 138358 w 272357"/>
                  <a:gd name="connsiteY12" fmla="*/ 65640 h 272230"/>
                  <a:gd name="connsiteX13" fmla="*/ 136155 w 272357"/>
                  <a:gd name="connsiteY13" fmla="*/ 65630 h 27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2357" h="272230">
                    <a:moveTo>
                      <a:pt x="272333" y="133579"/>
                    </a:moveTo>
                    <a:cubicBezTo>
                      <a:pt x="273748" y="208725"/>
                      <a:pt x="213940" y="270790"/>
                      <a:pt x="138747" y="272206"/>
                    </a:cubicBezTo>
                    <a:cubicBezTo>
                      <a:pt x="63545" y="273621"/>
                      <a:pt x="1441" y="213850"/>
                      <a:pt x="25" y="138703"/>
                    </a:cubicBezTo>
                    <a:cubicBezTo>
                      <a:pt x="-1391" y="63557"/>
                      <a:pt x="58417" y="1493"/>
                      <a:pt x="133619" y="77"/>
                    </a:cubicBezTo>
                    <a:cubicBezTo>
                      <a:pt x="134464" y="61"/>
                      <a:pt x="135309" y="53"/>
                      <a:pt x="136155" y="53"/>
                    </a:cubicBezTo>
                    <a:cubicBezTo>
                      <a:pt x="209286" y="-1994"/>
                      <a:pt x="270234" y="55595"/>
                      <a:pt x="272285" y="128682"/>
                    </a:cubicBezTo>
                    <a:cubicBezTo>
                      <a:pt x="272333" y="130313"/>
                      <a:pt x="272352" y="131946"/>
                      <a:pt x="272333" y="133579"/>
                    </a:cubicBezTo>
                    <a:moveTo>
                      <a:pt x="136155" y="65630"/>
                    </a:moveTo>
                    <a:cubicBezTo>
                      <a:pt x="98653" y="65262"/>
                      <a:pt x="67961" y="95343"/>
                      <a:pt x="67591" y="132817"/>
                    </a:cubicBezTo>
                    <a:cubicBezTo>
                      <a:pt x="67230" y="170289"/>
                      <a:pt x="97324" y="200965"/>
                      <a:pt x="134825" y="201332"/>
                    </a:cubicBezTo>
                    <a:cubicBezTo>
                      <a:pt x="172326" y="201699"/>
                      <a:pt x="203019" y="171618"/>
                      <a:pt x="203389" y="134145"/>
                    </a:cubicBezTo>
                    <a:cubicBezTo>
                      <a:pt x="203389" y="133924"/>
                      <a:pt x="203389" y="133704"/>
                      <a:pt x="203389" y="133484"/>
                    </a:cubicBezTo>
                    <a:cubicBezTo>
                      <a:pt x="204177" y="96804"/>
                      <a:pt x="175061" y="66429"/>
                      <a:pt x="138358" y="65640"/>
                    </a:cubicBezTo>
                    <a:cubicBezTo>
                      <a:pt x="137626" y="65625"/>
                      <a:pt x="136886" y="65621"/>
                      <a:pt x="136155" y="65630"/>
                    </a:cubicBezTo>
                  </a:path>
                </a:pathLst>
              </a:custGeom>
              <a:grpFill/>
              <a:ln w="9496"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B466F6E1-5190-8946-8F58-5013DD67A178}"/>
                  </a:ext>
                </a:extLst>
              </p:cNvPr>
              <p:cNvSpPr/>
              <p:nvPr/>
            </p:nvSpPr>
            <p:spPr>
              <a:xfrm>
                <a:off x="3260565" y="-407669"/>
                <a:ext cx="181666" cy="267810"/>
              </a:xfrm>
              <a:custGeom>
                <a:avLst/>
                <a:gdLst>
                  <a:gd name="connsiteX0" fmla="*/ 159350 w 181666"/>
                  <a:gd name="connsiteY0" fmla="*/ 63868 h 267810"/>
                  <a:gd name="connsiteX1" fmla="*/ 110633 w 181666"/>
                  <a:gd name="connsiteY1" fmla="*/ 55992 h 267810"/>
                  <a:gd name="connsiteX2" fmla="*/ 71508 w 181666"/>
                  <a:gd name="connsiteY2" fmla="*/ 77155 h 267810"/>
                  <a:gd name="connsiteX3" fmla="*/ 101896 w 181666"/>
                  <a:gd name="connsiteY3" fmla="*/ 101639 h 267810"/>
                  <a:gd name="connsiteX4" fmla="*/ 120034 w 181666"/>
                  <a:gd name="connsiteY4" fmla="*/ 107428 h 267810"/>
                  <a:gd name="connsiteX5" fmla="*/ 181666 w 181666"/>
                  <a:gd name="connsiteY5" fmla="*/ 181166 h 267810"/>
                  <a:gd name="connsiteX6" fmla="*/ 72552 w 181666"/>
                  <a:gd name="connsiteY6" fmla="*/ 267811 h 267810"/>
                  <a:gd name="connsiteX7" fmla="*/ 0 w 181666"/>
                  <a:gd name="connsiteY7" fmla="*/ 260693 h 267810"/>
                  <a:gd name="connsiteX8" fmla="*/ 0 w 181666"/>
                  <a:gd name="connsiteY8" fmla="*/ 201380 h 267810"/>
                  <a:gd name="connsiteX9" fmla="*/ 63816 w 181666"/>
                  <a:gd name="connsiteY9" fmla="*/ 210870 h 267810"/>
                  <a:gd name="connsiteX10" fmla="*/ 112342 w 181666"/>
                  <a:gd name="connsiteY10" fmla="*/ 186765 h 267810"/>
                  <a:gd name="connsiteX11" fmla="*/ 83853 w 181666"/>
                  <a:gd name="connsiteY11" fmla="*/ 161047 h 267810"/>
                  <a:gd name="connsiteX12" fmla="*/ 70273 w 181666"/>
                  <a:gd name="connsiteY12" fmla="*/ 156587 h 267810"/>
                  <a:gd name="connsiteX13" fmla="*/ 3799 w 181666"/>
                  <a:gd name="connsiteY13" fmla="*/ 80666 h 267810"/>
                  <a:gd name="connsiteX14" fmla="*/ 97718 w 181666"/>
                  <a:gd name="connsiteY14" fmla="*/ 0 h 267810"/>
                  <a:gd name="connsiteX15" fmla="*/ 159350 w 181666"/>
                  <a:gd name="connsiteY15" fmla="*/ 9300 h 26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1666" h="267810">
                    <a:moveTo>
                      <a:pt x="159350" y="63868"/>
                    </a:moveTo>
                    <a:cubicBezTo>
                      <a:pt x="143531" y="59099"/>
                      <a:pt x="127149" y="56450"/>
                      <a:pt x="110633" y="55992"/>
                    </a:cubicBezTo>
                    <a:cubicBezTo>
                      <a:pt x="84613" y="55992"/>
                      <a:pt x="71508" y="64723"/>
                      <a:pt x="71508" y="77155"/>
                    </a:cubicBezTo>
                    <a:cubicBezTo>
                      <a:pt x="71508" y="92813"/>
                      <a:pt x="91165" y="98318"/>
                      <a:pt x="101896" y="101639"/>
                    </a:cubicBezTo>
                    <a:lnTo>
                      <a:pt x="120034" y="107428"/>
                    </a:lnTo>
                    <a:cubicBezTo>
                      <a:pt x="162293" y="120809"/>
                      <a:pt x="181666" y="149754"/>
                      <a:pt x="181666" y="181166"/>
                    </a:cubicBezTo>
                    <a:cubicBezTo>
                      <a:pt x="181666" y="245984"/>
                      <a:pt x="122314" y="267811"/>
                      <a:pt x="72552" y="267811"/>
                    </a:cubicBezTo>
                    <a:cubicBezTo>
                      <a:pt x="48241" y="266988"/>
                      <a:pt x="24007" y="264611"/>
                      <a:pt x="0" y="260693"/>
                    </a:cubicBezTo>
                    <a:lnTo>
                      <a:pt x="0" y="201380"/>
                    </a:lnTo>
                    <a:cubicBezTo>
                      <a:pt x="20921" y="206563"/>
                      <a:pt x="42290" y="209741"/>
                      <a:pt x="63816" y="210870"/>
                    </a:cubicBezTo>
                    <a:cubicBezTo>
                      <a:pt x="96198" y="210870"/>
                      <a:pt x="112342" y="201380"/>
                      <a:pt x="112342" y="186765"/>
                    </a:cubicBezTo>
                    <a:cubicBezTo>
                      <a:pt x="112342" y="173669"/>
                      <a:pt x="100092" y="166172"/>
                      <a:pt x="83853" y="161047"/>
                    </a:cubicBezTo>
                    <a:lnTo>
                      <a:pt x="70273" y="156587"/>
                    </a:lnTo>
                    <a:cubicBezTo>
                      <a:pt x="34092" y="145104"/>
                      <a:pt x="3799" y="123846"/>
                      <a:pt x="3799" y="80666"/>
                    </a:cubicBezTo>
                    <a:cubicBezTo>
                      <a:pt x="3799" y="32361"/>
                      <a:pt x="37796" y="0"/>
                      <a:pt x="97718" y="0"/>
                    </a:cubicBezTo>
                    <a:cubicBezTo>
                      <a:pt x="118590" y="278"/>
                      <a:pt x="139326" y="3407"/>
                      <a:pt x="159350" y="9300"/>
                    </a:cubicBezTo>
                    <a:close/>
                  </a:path>
                </a:pathLst>
              </a:custGeom>
              <a:grpFill/>
              <a:ln w="9496" cap="flat">
                <a:noFill/>
                <a:prstDash val="solid"/>
                <a:miter/>
              </a:ln>
            </p:spPr>
            <p:txBody>
              <a:bodyPr rtlCol="0" anchor="ctr"/>
              <a:lstStyle/>
              <a:p>
                <a:endParaRPr lang="en-US" sz="2400"/>
              </a:p>
            </p:txBody>
          </p:sp>
        </p:grpSp>
        <p:grpSp>
          <p:nvGrpSpPr>
            <p:cNvPr id="17" name="Group 16">
              <a:extLst>
                <a:ext uri="{FF2B5EF4-FFF2-40B4-BE49-F238E27FC236}">
                  <a16:creationId xmlns:a16="http://schemas.microsoft.com/office/drawing/2014/main" id="{AF90BCA1-DEB4-564D-8B0E-078E24447C2D}"/>
                </a:ext>
              </a:extLst>
            </p:cNvPr>
            <p:cNvGrpSpPr/>
            <p:nvPr/>
          </p:nvGrpSpPr>
          <p:grpSpPr>
            <a:xfrm>
              <a:off x="968312" y="4785947"/>
              <a:ext cx="573946" cy="274194"/>
              <a:chOff x="4186345" y="-863385"/>
              <a:chExt cx="1807247" cy="863385"/>
            </a:xfrm>
            <a:grpFill/>
          </p:grpSpPr>
          <p:sp>
            <p:nvSpPr>
              <p:cNvPr id="18" name="Freeform 17">
                <a:extLst>
                  <a:ext uri="{FF2B5EF4-FFF2-40B4-BE49-F238E27FC236}">
                    <a16:creationId xmlns:a16="http://schemas.microsoft.com/office/drawing/2014/main" id="{DDE70381-494D-AB48-BA66-A2E072FFDB27}"/>
                  </a:ext>
                </a:extLst>
              </p:cNvPr>
              <p:cNvSpPr/>
              <p:nvPr/>
            </p:nvSpPr>
            <p:spPr>
              <a:xfrm>
                <a:off x="4186345" y="-863385"/>
                <a:ext cx="1196080" cy="863385"/>
              </a:xfrm>
              <a:custGeom>
                <a:avLst/>
                <a:gdLst>
                  <a:gd name="connsiteX0" fmla="*/ 748245 w 1196080"/>
                  <a:gd name="connsiteY0" fmla="*/ 709196 h 863385"/>
                  <a:gd name="connsiteX1" fmla="*/ 745016 w 1196080"/>
                  <a:gd name="connsiteY1" fmla="*/ 709196 h 863385"/>
                  <a:gd name="connsiteX2" fmla="*/ 735520 w 1196080"/>
                  <a:gd name="connsiteY2" fmla="*/ 716883 h 863385"/>
                  <a:gd name="connsiteX3" fmla="*/ 698389 w 1196080"/>
                  <a:gd name="connsiteY3" fmla="*/ 747156 h 863385"/>
                  <a:gd name="connsiteX4" fmla="*/ 669900 w 1196080"/>
                  <a:gd name="connsiteY4" fmla="*/ 765567 h 863385"/>
                  <a:gd name="connsiteX5" fmla="*/ 620708 w 1196080"/>
                  <a:gd name="connsiteY5" fmla="*/ 781321 h 863385"/>
                  <a:gd name="connsiteX6" fmla="*/ 538754 w 1196080"/>
                  <a:gd name="connsiteY6" fmla="*/ 735673 h 863385"/>
                  <a:gd name="connsiteX7" fmla="*/ 530872 w 1196080"/>
                  <a:gd name="connsiteY7" fmla="*/ 690975 h 863385"/>
                  <a:gd name="connsiteX8" fmla="*/ 544642 w 1196080"/>
                  <a:gd name="connsiteY8" fmla="*/ 639823 h 863385"/>
                  <a:gd name="connsiteX9" fmla="*/ 550910 w 1196080"/>
                  <a:gd name="connsiteY9" fmla="*/ 623880 h 863385"/>
                  <a:gd name="connsiteX10" fmla="*/ 549865 w 1196080"/>
                  <a:gd name="connsiteY10" fmla="*/ 620938 h 863385"/>
                  <a:gd name="connsiteX11" fmla="*/ 548251 w 1196080"/>
                  <a:gd name="connsiteY11" fmla="*/ 620938 h 863385"/>
                  <a:gd name="connsiteX12" fmla="*/ 534006 w 1196080"/>
                  <a:gd name="connsiteY12" fmla="*/ 630428 h 863385"/>
                  <a:gd name="connsiteX13" fmla="*/ 516628 w 1196080"/>
                  <a:gd name="connsiteY13" fmla="*/ 643904 h 863385"/>
                  <a:gd name="connsiteX14" fmla="*/ 498680 w 1196080"/>
                  <a:gd name="connsiteY14" fmla="*/ 656905 h 863385"/>
                  <a:gd name="connsiteX15" fmla="*/ 412167 w 1196080"/>
                  <a:gd name="connsiteY15" fmla="*/ 712423 h 863385"/>
                  <a:gd name="connsiteX16" fmla="*/ 407704 w 1196080"/>
                  <a:gd name="connsiteY16" fmla="*/ 715080 h 863385"/>
                  <a:gd name="connsiteX17" fmla="*/ 332967 w 1196080"/>
                  <a:gd name="connsiteY17" fmla="*/ 760158 h 863385"/>
                  <a:gd name="connsiteX18" fmla="*/ 281592 w 1196080"/>
                  <a:gd name="connsiteY18" fmla="*/ 794227 h 863385"/>
                  <a:gd name="connsiteX19" fmla="*/ 261080 w 1196080"/>
                  <a:gd name="connsiteY19" fmla="*/ 806659 h 863385"/>
                  <a:gd name="connsiteX20" fmla="*/ 211224 w 1196080"/>
                  <a:gd name="connsiteY20" fmla="*/ 833042 h 863385"/>
                  <a:gd name="connsiteX21" fmla="*/ 206855 w 1196080"/>
                  <a:gd name="connsiteY21" fmla="*/ 835794 h 863385"/>
                  <a:gd name="connsiteX22" fmla="*/ 145888 w 1196080"/>
                  <a:gd name="connsiteY22" fmla="*/ 858096 h 863385"/>
                  <a:gd name="connsiteX23" fmla="*/ 119109 w 1196080"/>
                  <a:gd name="connsiteY23" fmla="*/ 863315 h 863385"/>
                  <a:gd name="connsiteX24" fmla="*/ 98596 w 1196080"/>
                  <a:gd name="connsiteY24" fmla="*/ 862082 h 863385"/>
                  <a:gd name="connsiteX25" fmla="*/ 70962 w 1196080"/>
                  <a:gd name="connsiteY25" fmla="*/ 853541 h 863385"/>
                  <a:gd name="connsiteX26" fmla="*/ 12844 w 1196080"/>
                  <a:gd name="connsiteY26" fmla="*/ 799162 h 863385"/>
                  <a:gd name="connsiteX27" fmla="*/ 2778 w 1196080"/>
                  <a:gd name="connsiteY27" fmla="*/ 773824 h 863385"/>
                  <a:gd name="connsiteX28" fmla="*/ 2778 w 1196080"/>
                  <a:gd name="connsiteY28" fmla="*/ 724665 h 863385"/>
                  <a:gd name="connsiteX29" fmla="*/ 15313 w 1196080"/>
                  <a:gd name="connsiteY29" fmla="*/ 685566 h 863385"/>
                  <a:gd name="connsiteX30" fmla="*/ 51494 w 1196080"/>
                  <a:gd name="connsiteY30" fmla="*/ 606038 h 863385"/>
                  <a:gd name="connsiteX31" fmla="*/ 53773 w 1196080"/>
                  <a:gd name="connsiteY31" fmla="*/ 601388 h 863385"/>
                  <a:gd name="connsiteX32" fmla="*/ 83497 w 1196080"/>
                  <a:gd name="connsiteY32" fmla="*/ 543499 h 863385"/>
                  <a:gd name="connsiteX33" fmla="*/ 119014 w 1196080"/>
                  <a:gd name="connsiteY33" fmla="*/ 480959 h 863385"/>
                  <a:gd name="connsiteX34" fmla="*/ 174852 w 1196080"/>
                  <a:gd name="connsiteY34" fmla="*/ 386058 h 863385"/>
                  <a:gd name="connsiteX35" fmla="*/ 188147 w 1196080"/>
                  <a:gd name="connsiteY35" fmla="*/ 362048 h 863385"/>
                  <a:gd name="connsiteX36" fmla="*/ 194985 w 1196080"/>
                  <a:gd name="connsiteY36" fmla="*/ 350185 h 863385"/>
                  <a:gd name="connsiteX37" fmla="*/ 214737 w 1196080"/>
                  <a:gd name="connsiteY37" fmla="*/ 318109 h 863385"/>
                  <a:gd name="connsiteX38" fmla="*/ 243227 w 1196080"/>
                  <a:gd name="connsiteY38" fmla="*/ 270658 h 863385"/>
                  <a:gd name="connsiteX39" fmla="*/ 265448 w 1196080"/>
                  <a:gd name="connsiteY39" fmla="*/ 232033 h 863385"/>
                  <a:gd name="connsiteX40" fmla="*/ 278268 w 1196080"/>
                  <a:gd name="connsiteY40" fmla="*/ 211819 h 863385"/>
                  <a:gd name="connsiteX41" fmla="*/ 349396 w 1196080"/>
                  <a:gd name="connsiteY41" fmla="*/ 75921 h 863385"/>
                  <a:gd name="connsiteX42" fmla="*/ 367724 w 1196080"/>
                  <a:gd name="connsiteY42" fmla="*/ 13476 h 863385"/>
                  <a:gd name="connsiteX43" fmla="*/ 369054 w 1196080"/>
                  <a:gd name="connsiteY43" fmla="*/ 6738 h 863385"/>
                  <a:gd name="connsiteX44" fmla="*/ 377885 w 1196080"/>
                  <a:gd name="connsiteY44" fmla="*/ 0 h 863385"/>
                  <a:gd name="connsiteX45" fmla="*/ 420049 w 1196080"/>
                  <a:gd name="connsiteY45" fmla="*/ 19834 h 863385"/>
                  <a:gd name="connsiteX46" fmla="*/ 428311 w 1196080"/>
                  <a:gd name="connsiteY46" fmla="*/ 41946 h 863385"/>
                  <a:gd name="connsiteX47" fmla="*/ 428311 w 1196080"/>
                  <a:gd name="connsiteY47" fmla="*/ 52196 h 863385"/>
                  <a:gd name="connsiteX48" fmla="*/ 429546 w 1196080"/>
                  <a:gd name="connsiteY48" fmla="*/ 57036 h 863385"/>
                  <a:gd name="connsiteX49" fmla="*/ 432015 w 1196080"/>
                  <a:gd name="connsiteY49" fmla="*/ 74972 h 863385"/>
                  <a:gd name="connsiteX50" fmla="*/ 422993 w 1196080"/>
                  <a:gd name="connsiteY50" fmla="*/ 97084 h 863385"/>
                  <a:gd name="connsiteX51" fmla="*/ 419480 w 1196080"/>
                  <a:gd name="connsiteY51" fmla="*/ 106574 h 863385"/>
                  <a:gd name="connsiteX52" fmla="*/ 414921 w 1196080"/>
                  <a:gd name="connsiteY52" fmla="*/ 115115 h 863385"/>
                  <a:gd name="connsiteX53" fmla="*/ 409508 w 1196080"/>
                  <a:gd name="connsiteY53" fmla="*/ 123561 h 863385"/>
                  <a:gd name="connsiteX54" fmla="*/ 394504 w 1196080"/>
                  <a:gd name="connsiteY54" fmla="*/ 161522 h 863385"/>
                  <a:gd name="connsiteX55" fmla="*/ 355759 w 1196080"/>
                  <a:gd name="connsiteY55" fmla="*/ 234026 h 863385"/>
                  <a:gd name="connsiteX56" fmla="*/ 347782 w 1196080"/>
                  <a:gd name="connsiteY56" fmla="*/ 249210 h 863385"/>
                  <a:gd name="connsiteX57" fmla="*/ 338285 w 1196080"/>
                  <a:gd name="connsiteY57" fmla="*/ 263256 h 863385"/>
                  <a:gd name="connsiteX58" fmla="*/ 325845 w 1196080"/>
                  <a:gd name="connsiteY58" fmla="*/ 285747 h 863385"/>
                  <a:gd name="connsiteX59" fmla="*/ 273805 w 1196080"/>
                  <a:gd name="connsiteY59" fmla="*/ 372392 h 863385"/>
                  <a:gd name="connsiteX60" fmla="*/ 241327 w 1196080"/>
                  <a:gd name="connsiteY60" fmla="*/ 426865 h 863385"/>
                  <a:gd name="connsiteX61" fmla="*/ 212838 w 1196080"/>
                  <a:gd name="connsiteY61" fmla="*/ 475834 h 863385"/>
                  <a:gd name="connsiteX62" fmla="*/ 203816 w 1196080"/>
                  <a:gd name="connsiteY62" fmla="*/ 490354 h 863385"/>
                  <a:gd name="connsiteX63" fmla="*/ 171624 w 1196080"/>
                  <a:gd name="connsiteY63" fmla="*/ 546725 h 863385"/>
                  <a:gd name="connsiteX64" fmla="*/ 169914 w 1196080"/>
                  <a:gd name="connsiteY64" fmla="*/ 549762 h 863385"/>
                  <a:gd name="connsiteX65" fmla="*/ 145603 w 1196080"/>
                  <a:gd name="connsiteY65" fmla="*/ 593037 h 863385"/>
                  <a:gd name="connsiteX66" fmla="*/ 101730 w 1196080"/>
                  <a:gd name="connsiteY66" fmla="*/ 676455 h 863385"/>
                  <a:gd name="connsiteX67" fmla="*/ 96412 w 1196080"/>
                  <a:gd name="connsiteY67" fmla="*/ 687179 h 863385"/>
                  <a:gd name="connsiteX68" fmla="*/ 63650 w 1196080"/>
                  <a:gd name="connsiteY68" fmla="*/ 777145 h 863385"/>
                  <a:gd name="connsiteX69" fmla="*/ 63650 w 1196080"/>
                  <a:gd name="connsiteY69" fmla="*/ 783883 h 863385"/>
                  <a:gd name="connsiteX70" fmla="*/ 73621 w 1196080"/>
                  <a:gd name="connsiteY70" fmla="*/ 791855 h 863385"/>
                  <a:gd name="connsiteX71" fmla="*/ 99071 w 1196080"/>
                  <a:gd name="connsiteY71" fmla="*/ 789482 h 863385"/>
                  <a:gd name="connsiteX72" fmla="*/ 144749 w 1196080"/>
                  <a:gd name="connsiteY72" fmla="*/ 775057 h 863385"/>
                  <a:gd name="connsiteX73" fmla="*/ 206950 w 1196080"/>
                  <a:gd name="connsiteY73" fmla="*/ 746207 h 863385"/>
                  <a:gd name="connsiteX74" fmla="*/ 277983 w 1196080"/>
                  <a:gd name="connsiteY74" fmla="*/ 704830 h 863385"/>
                  <a:gd name="connsiteX75" fmla="*/ 311790 w 1196080"/>
                  <a:gd name="connsiteY75" fmla="*/ 684617 h 863385"/>
                  <a:gd name="connsiteX76" fmla="*/ 340944 w 1196080"/>
                  <a:gd name="connsiteY76" fmla="*/ 666680 h 863385"/>
                  <a:gd name="connsiteX77" fmla="*/ 366490 w 1196080"/>
                  <a:gd name="connsiteY77" fmla="*/ 652825 h 863385"/>
                  <a:gd name="connsiteX78" fmla="*/ 381589 w 1196080"/>
                  <a:gd name="connsiteY78" fmla="*/ 644853 h 863385"/>
                  <a:gd name="connsiteX79" fmla="*/ 403336 w 1196080"/>
                  <a:gd name="connsiteY79" fmla="*/ 631187 h 863385"/>
                  <a:gd name="connsiteX80" fmla="*/ 458700 w 1196080"/>
                  <a:gd name="connsiteY80" fmla="*/ 597877 h 863385"/>
                  <a:gd name="connsiteX81" fmla="*/ 470380 w 1196080"/>
                  <a:gd name="connsiteY81" fmla="*/ 590759 h 863385"/>
                  <a:gd name="connsiteX82" fmla="*/ 579494 w 1196080"/>
                  <a:gd name="connsiteY82" fmla="*/ 529928 h 863385"/>
                  <a:gd name="connsiteX83" fmla="*/ 637612 w 1196080"/>
                  <a:gd name="connsiteY83" fmla="*/ 475834 h 863385"/>
                  <a:gd name="connsiteX84" fmla="*/ 650717 w 1196080"/>
                  <a:gd name="connsiteY84" fmla="*/ 469381 h 863385"/>
                  <a:gd name="connsiteX85" fmla="*/ 679206 w 1196080"/>
                  <a:gd name="connsiteY85" fmla="*/ 479535 h 863385"/>
                  <a:gd name="connsiteX86" fmla="*/ 699528 w 1196080"/>
                  <a:gd name="connsiteY86" fmla="*/ 508765 h 863385"/>
                  <a:gd name="connsiteX87" fmla="*/ 699054 w 1196080"/>
                  <a:gd name="connsiteY87" fmla="*/ 518255 h 863385"/>
                  <a:gd name="connsiteX88" fmla="*/ 695540 w 1196080"/>
                  <a:gd name="connsiteY88" fmla="*/ 524139 h 863385"/>
                  <a:gd name="connsiteX89" fmla="*/ 671039 w 1196080"/>
                  <a:gd name="connsiteY89" fmla="*/ 564851 h 863385"/>
                  <a:gd name="connsiteX90" fmla="*/ 666196 w 1196080"/>
                  <a:gd name="connsiteY90" fmla="*/ 573867 h 863385"/>
                  <a:gd name="connsiteX91" fmla="*/ 658029 w 1196080"/>
                  <a:gd name="connsiteY91" fmla="*/ 586868 h 863385"/>
                  <a:gd name="connsiteX92" fmla="*/ 643500 w 1196080"/>
                  <a:gd name="connsiteY92" fmla="*/ 608031 h 863385"/>
                  <a:gd name="connsiteX93" fmla="*/ 602380 w 1196080"/>
                  <a:gd name="connsiteY93" fmla="*/ 692778 h 863385"/>
                  <a:gd name="connsiteX94" fmla="*/ 594593 w 1196080"/>
                  <a:gd name="connsiteY94" fmla="*/ 717168 h 863385"/>
                  <a:gd name="connsiteX95" fmla="*/ 594593 w 1196080"/>
                  <a:gd name="connsiteY95" fmla="*/ 727322 h 863385"/>
                  <a:gd name="connsiteX96" fmla="*/ 596967 w 1196080"/>
                  <a:gd name="connsiteY96" fmla="*/ 729220 h 863385"/>
                  <a:gd name="connsiteX97" fmla="*/ 704182 w 1196080"/>
                  <a:gd name="connsiteY97" fmla="*/ 653299 h 863385"/>
                  <a:gd name="connsiteX98" fmla="*/ 804938 w 1196080"/>
                  <a:gd name="connsiteY98" fmla="*/ 536476 h 863385"/>
                  <a:gd name="connsiteX99" fmla="*/ 833428 w 1196080"/>
                  <a:gd name="connsiteY99" fmla="*/ 456949 h 863385"/>
                  <a:gd name="connsiteX100" fmla="*/ 853655 w 1196080"/>
                  <a:gd name="connsiteY100" fmla="*/ 409498 h 863385"/>
                  <a:gd name="connsiteX101" fmla="*/ 874927 w 1196080"/>
                  <a:gd name="connsiteY101" fmla="*/ 359011 h 863385"/>
                  <a:gd name="connsiteX102" fmla="*/ 884993 w 1196080"/>
                  <a:gd name="connsiteY102" fmla="*/ 351514 h 863385"/>
                  <a:gd name="connsiteX103" fmla="*/ 930196 w 1196080"/>
                  <a:gd name="connsiteY103" fmla="*/ 373246 h 863385"/>
                  <a:gd name="connsiteX104" fmla="*/ 933140 w 1196080"/>
                  <a:gd name="connsiteY104" fmla="*/ 377517 h 863385"/>
                  <a:gd name="connsiteX105" fmla="*/ 933140 w 1196080"/>
                  <a:gd name="connsiteY105" fmla="*/ 390233 h 863385"/>
                  <a:gd name="connsiteX106" fmla="*/ 912343 w 1196080"/>
                  <a:gd name="connsiteY106" fmla="*/ 435311 h 863385"/>
                  <a:gd name="connsiteX107" fmla="*/ 900282 w 1196080"/>
                  <a:gd name="connsiteY107" fmla="*/ 465585 h 863385"/>
                  <a:gd name="connsiteX108" fmla="*/ 849002 w 1196080"/>
                  <a:gd name="connsiteY108" fmla="*/ 605374 h 863385"/>
                  <a:gd name="connsiteX109" fmla="*/ 844443 w 1196080"/>
                  <a:gd name="connsiteY109" fmla="*/ 621887 h 863385"/>
                  <a:gd name="connsiteX110" fmla="*/ 844443 w 1196080"/>
                  <a:gd name="connsiteY110" fmla="*/ 626822 h 863385"/>
                  <a:gd name="connsiteX111" fmla="*/ 848527 w 1196080"/>
                  <a:gd name="connsiteY111" fmla="*/ 628815 h 863385"/>
                  <a:gd name="connsiteX112" fmla="*/ 852515 w 1196080"/>
                  <a:gd name="connsiteY112" fmla="*/ 625778 h 863385"/>
                  <a:gd name="connsiteX113" fmla="*/ 871508 w 1196080"/>
                  <a:gd name="connsiteY113" fmla="*/ 599395 h 863385"/>
                  <a:gd name="connsiteX114" fmla="*/ 928486 w 1196080"/>
                  <a:gd name="connsiteY114" fmla="*/ 522525 h 863385"/>
                  <a:gd name="connsiteX115" fmla="*/ 1042918 w 1196080"/>
                  <a:gd name="connsiteY115" fmla="*/ 397256 h 863385"/>
                  <a:gd name="connsiteX116" fmla="*/ 1080904 w 1196080"/>
                  <a:gd name="connsiteY116" fmla="*/ 362332 h 863385"/>
                  <a:gd name="connsiteX117" fmla="*/ 1109393 w 1196080"/>
                  <a:gd name="connsiteY117" fmla="*/ 340410 h 863385"/>
                  <a:gd name="connsiteX118" fmla="*/ 1132944 w 1196080"/>
                  <a:gd name="connsiteY118" fmla="*/ 330920 h 863385"/>
                  <a:gd name="connsiteX119" fmla="*/ 1139497 w 1196080"/>
                  <a:gd name="connsiteY119" fmla="*/ 329307 h 863385"/>
                  <a:gd name="connsiteX120" fmla="*/ 1169885 w 1196080"/>
                  <a:gd name="connsiteY120" fmla="*/ 330351 h 863385"/>
                  <a:gd name="connsiteX121" fmla="*/ 1174443 w 1196080"/>
                  <a:gd name="connsiteY121" fmla="*/ 332628 h 863385"/>
                  <a:gd name="connsiteX122" fmla="*/ 1186124 w 1196080"/>
                  <a:gd name="connsiteY122" fmla="*/ 339461 h 863385"/>
                  <a:gd name="connsiteX123" fmla="*/ 1195620 w 1196080"/>
                  <a:gd name="connsiteY123" fmla="*/ 350849 h 863385"/>
                  <a:gd name="connsiteX124" fmla="*/ 1194480 w 1196080"/>
                  <a:gd name="connsiteY124" fmla="*/ 357208 h 863385"/>
                  <a:gd name="connsiteX125" fmla="*/ 1187833 w 1196080"/>
                  <a:gd name="connsiteY125" fmla="*/ 362522 h 863385"/>
                  <a:gd name="connsiteX126" fmla="*/ 1169885 w 1196080"/>
                  <a:gd name="connsiteY126" fmla="*/ 372582 h 863385"/>
                  <a:gd name="connsiteX127" fmla="*/ 1137122 w 1196080"/>
                  <a:gd name="connsiteY127" fmla="*/ 394314 h 863385"/>
                  <a:gd name="connsiteX128" fmla="*/ 1100181 w 1196080"/>
                  <a:gd name="connsiteY128" fmla="*/ 427529 h 863385"/>
                  <a:gd name="connsiteX129" fmla="*/ 1046906 w 1196080"/>
                  <a:gd name="connsiteY129" fmla="*/ 483331 h 863385"/>
                  <a:gd name="connsiteX130" fmla="*/ 992682 w 1196080"/>
                  <a:gd name="connsiteY130" fmla="*/ 545207 h 863385"/>
                  <a:gd name="connsiteX131" fmla="*/ 985560 w 1196080"/>
                  <a:gd name="connsiteY131" fmla="*/ 554697 h 863385"/>
                  <a:gd name="connsiteX132" fmla="*/ 957735 w 1196080"/>
                  <a:gd name="connsiteY132" fmla="*/ 591613 h 863385"/>
                  <a:gd name="connsiteX133" fmla="*/ 938743 w 1196080"/>
                  <a:gd name="connsiteY133" fmla="*/ 615718 h 863385"/>
                  <a:gd name="connsiteX134" fmla="*/ 936178 w 1196080"/>
                  <a:gd name="connsiteY134" fmla="*/ 620084 h 863385"/>
                  <a:gd name="connsiteX135" fmla="*/ 928866 w 1196080"/>
                  <a:gd name="connsiteY135" fmla="*/ 631567 h 863385"/>
                  <a:gd name="connsiteX136" fmla="*/ 879485 w 1196080"/>
                  <a:gd name="connsiteY136" fmla="*/ 699421 h 863385"/>
                  <a:gd name="connsiteX137" fmla="*/ 815194 w 1196080"/>
                  <a:gd name="connsiteY137" fmla="*/ 820325 h 863385"/>
                  <a:gd name="connsiteX138" fmla="*/ 800190 w 1196080"/>
                  <a:gd name="connsiteY138" fmla="*/ 847182 h 863385"/>
                  <a:gd name="connsiteX139" fmla="*/ 791169 w 1196080"/>
                  <a:gd name="connsiteY139" fmla="*/ 857526 h 863385"/>
                  <a:gd name="connsiteX140" fmla="*/ 773790 w 1196080"/>
                  <a:gd name="connsiteY140" fmla="*/ 862082 h 863385"/>
                  <a:gd name="connsiteX141" fmla="*/ 756222 w 1196080"/>
                  <a:gd name="connsiteY141" fmla="*/ 851927 h 863385"/>
                  <a:gd name="connsiteX142" fmla="*/ 734095 w 1196080"/>
                  <a:gd name="connsiteY142" fmla="*/ 830574 h 863385"/>
                  <a:gd name="connsiteX143" fmla="*/ 731056 w 1196080"/>
                  <a:gd name="connsiteY143" fmla="*/ 824691 h 863385"/>
                  <a:gd name="connsiteX144" fmla="*/ 731056 w 1196080"/>
                  <a:gd name="connsiteY144" fmla="*/ 800870 h 863385"/>
                  <a:gd name="connsiteX145" fmla="*/ 746061 w 1196080"/>
                  <a:gd name="connsiteY145" fmla="*/ 721723 h 863385"/>
                  <a:gd name="connsiteX146" fmla="*/ 747010 w 1196080"/>
                  <a:gd name="connsiteY146" fmla="*/ 708247 h 863385"/>
                  <a:gd name="connsiteX147" fmla="*/ 748245 w 1196080"/>
                  <a:gd name="connsiteY147" fmla="*/ 708247 h 863385"/>
                  <a:gd name="connsiteX148" fmla="*/ 748245 w 1196080"/>
                  <a:gd name="connsiteY148" fmla="*/ 707298 h 863385"/>
                  <a:gd name="connsiteX149" fmla="*/ 747390 w 1196080"/>
                  <a:gd name="connsiteY149" fmla="*/ 708816 h 86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196080" h="863385">
                    <a:moveTo>
                      <a:pt x="748245" y="709196"/>
                    </a:moveTo>
                    <a:cubicBezTo>
                      <a:pt x="747200" y="709196"/>
                      <a:pt x="745776" y="709196"/>
                      <a:pt x="745016" y="709196"/>
                    </a:cubicBezTo>
                    <a:cubicBezTo>
                      <a:pt x="741882" y="711569"/>
                      <a:pt x="738843" y="714226"/>
                      <a:pt x="735520" y="716883"/>
                    </a:cubicBezTo>
                    <a:cubicBezTo>
                      <a:pt x="723554" y="727512"/>
                      <a:pt x="711304" y="737761"/>
                      <a:pt x="698389" y="747156"/>
                    </a:cubicBezTo>
                    <a:cubicBezTo>
                      <a:pt x="689329" y="753937"/>
                      <a:pt x="679804" y="760089"/>
                      <a:pt x="669900" y="765567"/>
                    </a:cubicBezTo>
                    <a:cubicBezTo>
                      <a:pt x="655190" y="775074"/>
                      <a:pt x="638210" y="780510"/>
                      <a:pt x="620708" y="781321"/>
                    </a:cubicBezTo>
                    <a:cubicBezTo>
                      <a:pt x="586730" y="783789"/>
                      <a:pt x="554528" y="765853"/>
                      <a:pt x="538754" y="735673"/>
                    </a:cubicBezTo>
                    <a:cubicBezTo>
                      <a:pt x="531091" y="722112"/>
                      <a:pt x="528308" y="706337"/>
                      <a:pt x="530872" y="690975"/>
                    </a:cubicBezTo>
                    <a:cubicBezTo>
                      <a:pt x="533398" y="673435"/>
                      <a:pt x="538023" y="656262"/>
                      <a:pt x="544642" y="639823"/>
                    </a:cubicBezTo>
                    <a:cubicBezTo>
                      <a:pt x="546731" y="634509"/>
                      <a:pt x="548915" y="629194"/>
                      <a:pt x="550910" y="623880"/>
                    </a:cubicBezTo>
                    <a:cubicBezTo>
                      <a:pt x="550910" y="623121"/>
                      <a:pt x="550340" y="621887"/>
                      <a:pt x="549865" y="620938"/>
                    </a:cubicBezTo>
                    <a:cubicBezTo>
                      <a:pt x="549390" y="619989"/>
                      <a:pt x="548726" y="620938"/>
                      <a:pt x="548251" y="620938"/>
                    </a:cubicBezTo>
                    <a:cubicBezTo>
                      <a:pt x="543104" y="623454"/>
                      <a:pt x="538308" y="626645"/>
                      <a:pt x="534006" y="630428"/>
                    </a:cubicBezTo>
                    <a:cubicBezTo>
                      <a:pt x="528555" y="635348"/>
                      <a:pt x="522753" y="639853"/>
                      <a:pt x="516628" y="643904"/>
                    </a:cubicBezTo>
                    <a:cubicBezTo>
                      <a:pt x="510873" y="648543"/>
                      <a:pt x="504881" y="652883"/>
                      <a:pt x="498680" y="656905"/>
                    </a:cubicBezTo>
                    <a:cubicBezTo>
                      <a:pt x="470190" y="675886"/>
                      <a:pt x="441701" y="694866"/>
                      <a:pt x="412167" y="712423"/>
                    </a:cubicBezTo>
                    <a:cubicBezTo>
                      <a:pt x="410648" y="713277"/>
                      <a:pt x="409128" y="714131"/>
                      <a:pt x="407704" y="715080"/>
                    </a:cubicBezTo>
                    <a:cubicBezTo>
                      <a:pt x="383583" y="731403"/>
                      <a:pt x="358133" y="745543"/>
                      <a:pt x="332967" y="760158"/>
                    </a:cubicBezTo>
                    <a:cubicBezTo>
                      <a:pt x="315143" y="770418"/>
                      <a:pt x="297983" y="781796"/>
                      <a:pt x="281592" y="794227"/>
                    </a:cubicBezTo>
                    <a:cubicBezTo>
                      <a:pt x="275305" y="799214"/>
                      <a:pt x="268411" y="803391"/>
                      <a:pt x="261080" y="806659"/>
                    </a:cubicBezTo>
                    <a:cubicBezTo>
                      <a:pt x="243796" y="814251"/>
                      <a:pt x="227842" y="824216"/>
                      <a:pt x="211224" y="833042"/>
                    </a:cubicBezTo>
                    <a:cubicBezTo>
                      <a:pt x="209828" y="834048"/>
                      <a:pt x="208365" y="834967"/>
                      <a:pt x="206855" y="835794"/>
                    </a:cubicBezTo>
                    <a:cubicBezTo>
                      <a:pt x="187084" y="844643"/>
                      <a:pt x="166704" y="852095"/>
                      <a:pt x="145888" y="858096"/>
                    </a:cubicBezTo>
                    <a:cubicBezTo>
                      <a:pt x="137104" y="860491"/>
                      <a:pt x="128149" y="862235"/>
                      <a:pt x="119109" y="863315"/>
                    </a:cubicBezTo>
                    <a:cubicBezTo>
                      <a:pt x="112243" y="863564"/>
                      <a:pt x="105377" y="863151"/>
                      <a:pt x="98596" y="862082"/>
                    </a:cubicBezTo>
                    <a:cubicBezTo>
                      <a:pt x="88919" y="861029"/>
                      <a:pt x="79537" y="858130"/>
                      <a:pt x="70962" y="853541"/>
                    </a:cubicBezTo>
                    <a:cubicBezTo>
                      <a:pt x="47097" y="840899"/>
                      <a:pt x="27031" y="822128"/>
                      <a:pt x="12844" y="799162"/>
                    </a:cubicBezTo>
                    <a:cubicBezTo>
                      <a:pt x="7896" y="791437"/>
                      <a:pt x="4478" y="782835"/>
                      <a:pt x="2778" y="773824"/>
                    </a:cubicBezTo>
                    <a:cubicBezTo>
                      <a:pt x="-926" y="757647"/>
                      <a:pt x="-926" y="740842"/>
                      <a:pt x="2778" y="724665"/>
                    </a:cubicBezTo>
                    <a:cubicBezTo>
                      <a:pt x="5893" y="711314"/>
                      <a:pt x="10080" y="698239"/>
                      <a:pt x="15313" y="685566"/>
                    </a:cubicBezTo>
                    <a:cubicBezTo>
                      <a:pt x="27278" y="658993"/>
                      <a:pt x="39434" y="632516"/>
                      <a:pt x="51494" y="606038"/>
                    </a:cubicBezTo>
                    <a:cubicBezTo>
                      <a:pt x="52159" y="604443"/>
                      <a:pt x="52919" y="602891"/>
                      <a:pt x="53773" y="601388"/>
                    </a:cubicBezTo>
                    <a:cubicBezTo>
                      <a:pt x="64789" y="582408"/>
                      <a:pt x="73431" y="562764"/>
                      <a:pt x="83497" y="543499"/>
                    </a:cubicBezTo>
                    <a:cubicBezTo>
                      <a:pt x="94608" y="522241"/>
                      <a:pt x="106953" y="501647"/>
                      <a:pt x="119014" y="480959"/>
                    </a:cubicBezTo>
                    <a:cubicBezTo>
                      <a:pt x="137532" y="449452"/>
                      <a:pt x="156334" y="418039"/>
                      <a:pt x="174852" y="386058"/>
                    </a:cubicBezTo>
                    <a:cubicBezTo>
                      <a:pt x="179411" y="378181"/>
                      <a:pt x="183684" y="370114"/>
                      <a:pt x="188147" y="362048"/>
                    </a:cubicBezTo>
                    <a:cubicBezTo>
                      <a:pt x="190189" y="357959"/>
                      <a:pt x="192468" y="353997"/>
                      <a:pt x="194985" y="350185"/>
                    </a:cubicBezTo>
                    <a:cubicBezTo>
                      <a:pt x="202297" y="339936"/>
                      <a:pt x="208280" y="328927"/>
                      <a:pt x="214737" y="318109"/>
                    </a:cubicBezTo>
                    <a:cubicBezTo>
                      <a:pt x="224234" y="302355"/>
                      <a:pt x="233730" y="286886"/>
                      <a:pt x="243227" y="270658"/>
                    </a:cubicBezTo>
                    <a:cubicBezTo>
                      <a:pt x="250824" y="257941"/>
                      <a:pt x="257946" y="244845"/>
                      <a:pt x="265448" y="232033"/>
                    </a:cubicBezTo>
                    <a:cubicBezTo>
                      <a:pt x="269560" y="225200"/>
                      <a:pt x="273833" y="218462"/>
                      <a:pt x="278268" y="211819"/>
                    </a:cubicBezTo>
                    <a:cubicBezTo>
                      <a:pt x="307080" y="169373"/>
                      <a:pt x="330935" y="123778"/>
                      <a:pt x="349396" y="75921"/>
                    </a:cubicBezTo>
                    <a:cubicBezTo>
                      <a:pt x="357107" y="55611"/>
                      <a:pt x="363242" y="34733"/>
                      <a:pt x="367724" y="13476"/>
                    </a:cubicBezTo>
                    <a:cubicBezTo>
                      <a:pt x="367724" y="11293"/>
                      <a:pt x="368484" y="9016"/>
                      <a:pt x="369054" y="6738"/>
                    </a:cubicBezTo>
                    <a:cubicBezTo>
                      <a:pt x="370241" y="2826"/>
                      <a:pt x="373792" y="111"/>
                      <a:pt x="377885" y="0"/>
                    </a:cubicBezTo>
                    <a:cubicBezTo>
                      <a:pt x="394067" y="535"/>
                      <a:pt x="409318" y="7709"/>
                      <a:pt x="420049" y="19834"/>
                    </a:cubicBezTo>
                    <a:cubicBezTo>
                      <a:pt x="425244" y="26051"/>
                      <a:pt x="428159" y="33851"/>
                      <a:pt x="428311" y="41946"/>
                    </a:cubicBezTo>
                    <a:cubicBezTo>
                      <a:pt x="428311" y="45363"/>
                      <a:pt x="428311" y="48779"/>
                      <a:pt x="428311" y="52196"/>
                    </a:cubicBezTo>
                    <a:cubicBezTo>
                      <a:pt x="428283" y="53890"/>
                      <a:pt x="428710" y="55561"/>
                      <a:pt x="429546" y="57036"/>
                    </a:cubicBezTo>
                    <a:cubicBezTo>
                      <a:pt x="433126" y="62302"/>
                      <a:pt x="434038" y="68935"/>
                      <a:pt x="432015" y="74972"/>
                    </a:cubicBezTo>
                    <a:cubicBezTo>
                      <a:pt x="430210" y="82777"/>
                      <a:pt x="427162" y="90243"/>
                      <a:pt x="422993" y="97084"/>
                    </a:cubicBezTo>
                    <a:cubicBezTo>
                      <a:pt x="420942" y="99850"/>
                      <a:pt x="419727" y="103141"/>
                      <a:pt x="419480" y="106574"/>
                    </a:cubicBezTo>
                    <a:cubicBezTo>
                      <a:pt x="419641" y="110040"/>
                      <a:pt x="417884" y="113315"/>
                      <a:pt x="414921" y="115115"/>
                    </a:cubicBezTo>
                    <a:cubicBezTo>
                      <a:pt x="412091" y="117122"/>
                      <a:pt x="410145" y="120151"/>
                      <a:pt x="409508" y="123561"/>
                    </a:cubicBezTo>
                    <a:cubicBezTo>
                      <a:pt x="405852" y="136704"/>
                      <a:pt x="400819" y="149427"/>
                      <a:pt x="394504" y="161522"/>
                    </a:cubicBezTo>
                    <a:cubicBezTo>
                      <a:pt x="382634" y="186196"/>
                      <a:pt x="369908" y="210586"/>
                      <a:pt x="355759" y="234026"/>
                    </a:cubicBezTo>
                    <a:cubicBezTo>
                      <a:pt x="352815" y="238866"/>
                      <a:pt x="350726" y="244275"/>
                      <a:pt x="347782" y="249210"/>
                    </a:cubicBezTo>
                    <a:cubicBezTo>
                      <a:pt x="344838" y="254145"/>
                      <a:pt x="341134" y="258700"/>
                      <a:pt x="338285" y="263256"/>
                    </a:cubicBezTo>
                    <a:cubicBezTo>
                      <a:pt x="333917" y="270563"/>
                      <a:pt x="329929" y="278250"/>
                      <a:pt x="325845" y="285747"/>
                    </a:cubicBezTo>
                    <a:cubicBezTo>
                      <a:pt x="309416" y="315167"/>
                      <a:pt x="291943" y="344016"/>
                      <a:pt x="273805" y="372392"/>
                    </a:cubicBezTo>
                    <a:cubicBezTo>
                      <a:pt x="262409" y="390233"/>
                      <a:pt x="252153" y="408739"/>
                      <a:pt x="241327" y="426865"/>
                    </a:cubicBezTo>
                    <a:cubicBezTo>
                      <a:pt x="231005" y="442691"/>
                      <a:pt x="221489" y="459036"/>
                      <a:pt x="212838" y="475834"/>
                    </a:cubicBezTo>
                    <a:cubicBezTo>
                      <a:pt x="210217" y="480903"/>
                      <a:pt x="207197" y="485758"/>
                      <a:pt x="203816" y="490354"/>
                    </a:cubicBezTo>
                    <a:cubicBezTo>
                      <a:pt x="191613" y="508263"/>
                      <a:pt x="180845" y="527113"/>
                      <a:pt x="171624" y="546725"/>
                    </a:cubicBezTo>
                    <a:cubicBezTo>
                      <a:pt x="171111" y="547768"/>
                      <a:pt x="170541" y="548783"/>
                      <a:pt x="169914" y="549762"/>
                    </a:cubicBezTo>
                    <a:cubicBezTo>
                      <a:pt x="160997" y="563717"/>
                      <a:pt x="152887" y="578165"/>
                      <a:pt x="145603" y="593037"/>
                    </a:cubicBezTo>
                    <a:cubicBezTo>
                      <a:pt x="130219" y="620369"/>
                      <a:pt x="116165" y="648554"/>
                      <a:pt x="101730" y="676455"/>
                    </a:cubicBezTo>
                    <a:cubicBezTo>
                      <a:pt x="99831" y="679966"/>
                      <a:pt x="98311" y="683668"/>
                      <a:pt x="96412" y="687179"/>
                    </a:cubicBezTo>
                    <a:cubicBezTo>
                      <a:pt x="82054" y="715804"/>
                      <a:pt x="71057" y="745994"/>
                      <a:pt x="63650" y="777145"/>
                    </a:cubicBezTo>
                    <a:cubicBezTo>
                      <a:pt x="63175" y="779366"/>
                      <a:pt x="63175" y="781662"/>
                      <a:pt x="63650" y="783883"/>
                    </a:cubicBezTo>
                    <a:cubicBezTo>
                      <a:pt x="64799" y="788479"/>
                      <a:pt x="68882" y="791741"/>
                      <a:pt x="73621" y="791855"/>
                    </a:cubicBezTo>
                    <a:cubicBezTo>
                      <a:pt x="82168" y="792158"/>
                      <a:pt x="90724" y="791361"/>
                      <a:pt x="99071" y="789482"/>
                    </a:cubicBezTo>
                    <a:cubicBezTo>
                      <a:pt x="114664" y="785913"/>
                      <a:pt x="129934" y="781088"/>
                      <a:pt x="144749" y="775057"/>
                    </a:cubicBezTo>
                    <a:cubicBezTo>
                      <a:pt x="166021" y="766647"/>
                      <a:pt x="186789" y="757015"/>
                      <a:pt x="206950" y="746207"/>
                    </a:cubicBezTo>
                    <a:cubicBezTo>
                      <a:pt x="231166" y="733301"/>
                      <a:pt x="254432" y="719066"/>
                      <a:pt x="277983" y="704830"/>
                    </a:cubicBezTo>
                    <a:cubicBezTo>
                      <a:pt x="289189" y="697903"/>
                      <a:pt x="300585" y="691355"/>
                      <a:pt x="311790" y="684617"/>
                    </a:cubicBezTo>
                    <a:cubicBezTo>
                      <a:pt x="321287" y="678733"/>
                      <a:pt x="331353" y="672849"/>
                      <a:pt x="340944" y="666680"/>
                    </a:cubicBezTo>
                    <a:cubicBezTo>
                      <a:pt x="349007" y="661270"/>
                      <a:pt x="357554" y="656631"/>
                      <a:pt x="366490" y="652825"/>
                    </a:cubicBezTo>
                    <a:cubicBezTo>
                      <a:pt x="371713" y="650546"/>
                      <a:pt x="376765" y="647881"/>
                      <a:pt x="381589" y="644853"/>
                    </a:cubicBezTo>
                    <a:cubicBezTo>
                      <a:pt x="388996" y="640488"/>
                      <a:pt x="396024" y="635363"/>
                      <a:pt x="403336" y="631187"/>
                    </a:cubicBezTo>
                    <a:cubicBezTo>
                      <a:pt x="421122" y="619014"/>
                      <a:pt x="439612" y="607892"/>
                      <a:pt x="458700" y="597877"/>
                    </a:cubicBezTo>
                    <a:cubicBezTo>
                      <a:pt x="462755" y="595778"/>
                      <a:pt x="466658" y="593400"/>
                      <a:pt x="470380" y="590759"/>
                    </a:cubicBezTo>
                    <a:cubicBezTo>
                      <a:pt x="505327" y="567888"/>
                      <a:pt x="544452" y="552799"/>
                      <a:pt x="579494" y="529928"/>
                    </a:cubicBezTo>
                    <a:cubicBezTo>
                      <a:pt x="625361" y="500508"/>
                      <a:pt x="633433" y="482477"/>
                      <a:pt x="637612" y="475834"/>
                    </a:cubicBezTo>
                    <a:cubicBezTo>
                      <a:pt x="640432" y="471405"/>
                      <a:pt x="645484" y="468916"/>
                      <a:pt x="650717" y="469381"/>
                    </a:cubicBezTo>
                    <a:cubicBezTo>
                      <a:pt x="661134" y="469190"/>
                      <a:pt x="671258" y="472800"/>
                      <a:pt x="679206" y="479535"/>
                    </a:cubicBezTo>
                    <a:cubicBezTo>
                      <a:pt x="688180" y="487551"/>
                      <a:pt x="695141" y="497564"/>
                      <a:pt x="699528" y="508765"/>
                    </a:cubicBezTo>
                    <a:cubicBezTo>
                      <a:pt x="700753" y="511848"/>
                      <a:pt x="700573" y="515308"/>
                      <a:pt x="699054" y="518255"/>
                    </a:cubicBezTo>
                    <a:cubicBezTo>
                      <a:pt x="698066" y="520321"/>
                      <a:pt x="696888" y="522290"/>
                      <a:pt x="695540" y="524139"/>
                    </a:cubicBezTo>
                    <a:cubicBezTo>
                      <a:pt x="690982" y="530782"/>
                      <a:pt x="675597" y="558303"/>
                      <a:pt x="671039" y="564851"/>
                    </a:cubicBezTo>
                    <a:cubicBezTo>
                      <a:pt x="669140" y="567604"/>
                      <a:pt x="668000" y="570925"/>
                      <a:pt x="666196" y="573867"/>
                    </a:cubicBezTo>
                    <a:cubicBezTo>
                      <a:pt x="663632" y="578327"/>
                      <a:pt x="660878" y="582693"/>
                      <a:pt x="658029" y="586868"/>
                    </a:cubicBezTo>
                    <a:cubicBezTo>
                      <a:pt x="653281" y="593986"/>
                      <a:pt x="647868" y="600724"/>
                      <a:pt x="643500" y="608031"/>
                    </a:cubicBezTo>
                    <a:cubicBezTo>
                      <a:pt x="627356" y="635032"/>
                      <a:pt x="613595" y="663388"/>
                      <a:pt x="602380" y="692778"/>
                    </a:cubicBezTo>
                    <a:cubicBezTo>
                      <a:pt x="599341" y="700750"/>
                      <a:pt x="597062" y="709006"/>
                      <a:pt x="594593" y="717168"/>
                    </a:cubicBezTo>
                    <a:cubicBezTo>
                      <a:pt x="593406" y="720448"/>
                      <a:pt x="593406" y="724041"/>
                      <a:pt x="594593" y="727322"/>
                    </a:cubicBezTo>
                    <a:cubicBezTo>
                      <a:pt x="594593" y="728176"/>
                      <a:pt x="596018" y="729315"/>
                      <a:pt x="596967" y="729220"/>
                    </a:cubicBezTo>
                    <a:cubicBezTo>
                      <a:pt x="617764" y="727702"/>
                      <a:pt x="686708" y="668768"/>
                      <a:pt x="704182" y="653299"/>
                    </a:cubicBezTo>
                    <a:cubicBezTo>
                      <a:pt x="728113" y="632041"/>
                      <a:pt x="779203" y="603761"/>
                      <a:pt x="804938" y="536476"/>
                    </a:cubicBezTo>
                    <a:cubicBezTo>
                      <a:pt x="811681" y="518824"/>
                      <a:pt x="819278" y="496712"/>
                      <a:pt x="833428" y="456949"/>
                    </a:cubicBezTo>
                    <a:cubicBezTo>
                      <a:pt x="839258" y="440758"/>
                      <a:pt x="846010" y="424915"/>
                      <a:pt x="853655" y="409498"/>
                    </a:cubicBezTo>
                    <a:cubicBezTo>
                      <a:pt x="861936" y="393193"/>
                      <a:pt x="869039" y="376322"/>
                      <a:pt x="874927" y="359011"/>
                    </a:cubicBezTo>
                    <a:cubicBezTo>
                      <a:pt x="875914" y="354336"/>
                      <a:pt x="880226" y="351124"/>
                      <a:pt x="884993" y="351514"/>
                    </a:cubicBezTo>
                    <a:cubicBezTo>
                      <a:pt x="902210" y="353006"/>
                      <a:pt x="918287" y="360735"/>
                      <a:pt x="930196" y="373246"/>
                    </a:cubicBezTo>
                    <a:cubicBezTo>
                      <a:pt x="931307" y="374577"/>
                      <a:pt x="932294" y="376007"/>
                      <a:pt x="933140" y="377517"/>
                    </a:cubicBezTo>
                    <a:cubicBezTo>
                      <a:pt x="935808" y="381335"/>
                      <a:pt x="935808" y="386415"/>
                      <a:pt x="933140" y="390233"/>
                    </a:cubicBezTo>
                    <a:cubicBezTo>
                      <a:pt x="924849" y="404597"/>
                      <a:pt x="917888" y="419685"/>
                      <a:pt x="912343" y="435311"/>
                    </a:cubicBezTo>
                    <a:cubicBezTo>
                      <a:pt x="908354" y="445466"/>
                      <a:pt x="904651" y="455620"/>
                      <a:pt x="900282" y="465585"/>
                    </a:cubicBezTo>
                    <a:cubicBezTo>
                      <a:pt x="880216" y="511038"/>
                      <a:pt x="863085" y="557730"/>
                      <a:pt x="849002" y="605374"/>
                    </a:cubicBezTo>
                    <a:cubicBezTo>
                      <a:pt x="847387" y="610878"/>
                      <a:pt x="845773" y="616383"/>
                      <a:pt x="844443" y="621887"/>
                    </a:cubicBezTo>
                    <a:cubicBezTo>
                      <a:pt x="844120" y="623515"/>
                      <a:pt x="844120" y="625193"/>
                      <a:pt x="844443" y="626822"/>
                    </a:cubicBezTo>
                    <a:cubicBezTo>
                      <a:pt x="844443" y="628150"/>
                      <a:pt x="847577" y="629574"/>
                      <a:pt x="848527" y="628815"/>
                    </a:cubicBezTo>
                    <a:cubicBezTo>
                      <a:pt x="849989" y="627989"/>
                      <a:pt x="851328" y="626967"/>
                      <a:pt x="852515" y="625778"/>
                    </a:cubicBezTo>
                    <a:cubicBezTo>
                      <a:pt x="858973" y="617047"/>
                      <a:pt x="865715" y="608506"/>
                      <a:pt x="871508" y="599395"/>
                    </a:cubicBezTo>
                    <a:cubicBezTo>
                      <a:pt x="888830" y="572574"/>
                      <a:pt x="907860" y="546898"/>
                      <a:pt x="928486" y="522525"/>
                    </a:cubicBezTo>
                    <a:cubicBezTo>
                      <a:pt x="964763" y="479061"/>
                      <a:pt x="1002558" y="437114"/>
                      <a:pt x="1042918" y="397256"/>
                    </a:cubicBezTo>
                    <a:cubicBezTo>
                      <a:pt x="1055073" y="385204"/>
                      <a:pt x="1067704" y="373626"/>
                      <a:pt x="1080904" y="362332"/>
                    </a:cubicBezTo>
                    <a:cubicBezTo>
                      <a:pt x="1090400" y="354456"/>
                      <a:pt x="1099896" y="347433"/>
                      <a:pt x="1109393" y="340410"/>
                    </a:cubicBezTo>
                    <a:cubicBezTo>
                      <a:pt x="1116221" y="335143"/>
                      <a:pt x="1124369" y="331860"/>
                      <a:pt x="1132944" y="330920"/>
                    </a:cubicBezTo>
                    <a:cubicBezTo>
                      <a:pt x="1135185" y="330664"/>
                      <a:pt x="1137388" y="330121"/>
                      <a:pt x="1139497" y="329307"/>
                    </a:cubicBezTo>
                    <a:cubicBezTo>
                      <a:pt x="1149506" y="326613"/>
                      <a:pt x="1160085" y="326976"/>
                      <a:pt x="1169885" y="330351"/>
                    </a:cubicBezTo>
                    <a:cubicBezTo>
                      <a:pt x="1171575" y="330718"/>
                      <a:pt x="1173142" y="331501"/>
                      <a:pt x="1174443" y="332628"/>
                    </a:cubicBezTo>
                    <a:cubicBezTo>
                      <a:pt x="1177824" y="335689"/>
                      <a:pt x="1181803" y="338016"/>
                      <a:pt x="1186124" y="339461"/>
                    </a:cubicBezTo>
                    <a:cubicBezTo>
                      <a:pt x="1190881" y="341580"/>
                      <a:pt x="1194395" y="345787"/>
                      <a:pt x="1195620" y="350849"/>
                    </a:cubicBezTo>
                    <a:cubicBezTo>
                      <a:pt x="1196522" y="353009"/>
                      <a:pt x="1196076" y="355494"/>
                      <a:pt x="1194480" y="357208"/>
                    </a:cubicBezTo>
                    <a:cubicBezTo>
                      <a:pt x="1192486" y="359240"/>
                      <a:pt x="1190255" y="361024"/>
                      <a:pt x="1187833" y="362522"/>
                    </a:cubicBezTo>
                    <a:cubicBezTo>
                      <a:pt x="1181945" y="366034"/>
                      <a:pt x="1175963" y="369355"/>
                      <a:pt x="1169885" y="372582"/>
                    </a:cubicBezTo>
                    <a:cubicBezTo>
                      <a:pt x="1158290" y="378757"/>
                      <a:pt x="1147321" y="386034"/>
                      <a:pt x="1137122" y="394314"/>
                    </a:cubicBezTo>
                    <a:cubicBezTo>
                      <a:pt x="1124141" y="404626"/>
                      <a:pt x="1111805" y="415718"/>
                      <a:pt x="1100181" y="427529"/>
                    </a:cubicBezTo>
                    <a:cubicBezTo>
                      <a:pt x="1082233" y="445940"/>
                      <a:pt x="1064380" y="464446"/>
                      <a:pt x="1046906" y="483331"/>
                    </a:cubicBezTo>
                    <a:cubicBezTo>
                      <a:pt x="1029433" y="502217"/>
                      <a:pt x="1009871" y="523759"/>
                      <a:pt x="992682" y="545207"/>
                    </a:cubicBezTo>
                    <a:cubicBezTo>
                      <a:pt x="990109" y="548219"/>
                      <a:pt x="987734" y="551389"/>
                      <a:pt x="985560" y="554697"/>
                    </a:cubicBezTo>
                    <a:cubicBezTo>
                      <a:pt x="977269" y="567715"/>
                      <a:pt x="967963" y="580058"/>
                      <a:pt x="957735" y="591613"/>
                    </a:cubicBezTo>
                    <a:cubicBezTo>
                      <a:pt x="951088" y="599490"/>
                      <a:pt x="944820" y="607652"/>
                      <a:pt x="938743" y="615718"/>
                    </a:cubicBezTo>
                    <a:cubicBezTo>
                      <a:pt x="937641" y="617014"/>
                      <a:pt x="936777" y="618490"/>
                      <a:pt x="936178" y="620084"/>
                    </a:cubicBezTo>
                    <a:cubicBezTo>
                      <a:pt x="934640" y="624413"/>
                      <a:pt x="932143" y="628339"/>
                      <a:pt x="928866" y="631567"/>
                    </a:cubicBezTo>
                    <a:cubicBezTo>
                      <a:pt x="910785" y="652961"/>
                      <a:pt x="894280" y="675639"/>
                      <a:pt x="879485" y="699421"/>
                    </a:cubicBezTo>
                    <a:cubicBezTo>
                      <a:pt x="854842" y="737934"/>
                      <a:pt x="833342" y="778366"/>
                      <a:pt x="815194" y="820325"/>
                    </a:cubicBezTo>
                    <a:cubicBezTo>
                      <a:pt x="811272" y="829837"/>
                      <a:pt x="806230" y="838852"/>
                      <a:pt x="800190" y="847182"/>
                    </a:cubicBezTo>
                    <a:cubicBezTo>
                      <a:pt x="797417" y="850826"/>
                      <a:pt x="794397" y="854282"/>
                      <a:pt x="791169" y="857526"/>
                    </a:cubicBezTo>
                    <a:cubicBezTo>
                      <a:pt x="786629" y="862077"/>
                      <a:pt x="779982" y="863819"/>
                      <a:pt x="773790" y="862082"/>
                    </a:cubicBezTo>
                    <a:cubicBezTo>
                      <a:pt x="767029" y="860580"/>
                      <a:pt x="760894" y="857035"/>
                      <a:pt x="756222" y="851927"/>
                    </a:cubicBezTo>
                    <a:cubicBezTo>
                      <a:pt x="749365" y="844288"/>
                      <a:pt x="741977" y="837152"/>
                      <a:pt x="734095" y="830574"/>
                    </a:cubicBezTo>
                    <a:cubicBezTo>
                      <a:pt x="732500" y="828972"/>
                      <a:pt x="731436" y="826917"/>
                      <a:pt x="731056" y="824691"/>
                    </a:cubicBezTo>
                    <a:cubicBezTo>
                      <a:pt x="729537" y="816823"/>
                      <a:pt x="729537" y="808738"/>
                      <a:pt x="731056" y="800870"/>
                    </a:cubicBezTo>
                    <a:cubicBezTo>
                      <a:pt x="735330" y="774298"/>
                      <a:pt x="739793" y="747821"/>
                      <a:pt x="746061" y="721723"/>
                    </a:cubicBezTo>
                    <a:cubicBezTo>
                      <a:pt x="747751" y="717434"/>
                      <a:pt x="748083" y="712730"/>
                      <a:pt x="747010" y="708247"/>
                    </a:cubicBezTo>
                    <a:cubicBezTo>
                      <a:pt x="747419" y="708337"/>
                      <a:pt x="747837" y="708337"/>
                      <a:pt x="748245" y="708247"/>
                    </a:cubicBezTo>
                    <a:cubicBezTo>
                      <a:pt x="748245" y="708247"/>
                      <a:pt x="748245" y="707298"/>
                      <a:pt x="748245" y="707298"/>
                    </a:cubicBezTo>
                    <a:cubicBezTo>
                      <a:pt x="748245" y="707298"/>
                      <a:pt x="746820" y="707298"/>
                      <a:pt x="747390" y="708816"/>
                    </a:cubicBezTo>
                  </a:path>
                </a:pathLst>
              </a:custGeom>
              <a:grpFill/>
              <a:ln w="9496"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058973A9-0AD3-684B-828C-B3BAC312C6AC}"/>
                  </a:ext>
                </a:extLst>
              </p:cNvPr>
              <p:cNvSpPr/>
              <p:nvPr/>
            </p:nvSpPr>
            <p:spPr>
              <a:xfrm>
                <a:off x="4921141" y="-580737"/>
                <a:ext cx="66058" cy="65097"/>
              </a:xfrm>
              <a:custGeom>
                <a:avLst/>
                <a:gdLst>
                  <a:gd name="connsiteX0" fmla="*/ 3952 w 66058"/>
                  <a:gd name="connsiteY0" fmla="*/ 4713 h 65097"/>
                  <a:gd name="connsiteX1" fmla="*/ 55993 w 66058"/>
                  <a:gd name="connsiteY1" fmla="*/ 11831 h 65097"/>
                  <a:gd name="connsiteX2" fmla="*/ 66059 w 66058"/>
                  <a:gd name="connsiteY2" fmla="*/ 31665 h 65097"/>
                  <a:gd name="connsiteX3" fmla="*/ 64255 w 66058"/>
                  <a:gd name="connsiteY3" fmla="*/ 49127 h 65097"/>
                  <a:gd name="connsiteX4" fmla="*/ 63020 w 66058"/>
                  <a:gd name="connsiteY4" fmla="*/ 58048 h 65097"/>
                  <a:gd name="connsiteX5" fmla="*/ 14303 w 66058"/>
                  <a:gd name="connsiteY5" fmla="*/ 54252 h 65097"/>
                  <a:gd name="connsiteX6" fmla="*/ 2718 w 66058"/>
                  <a:gd name="connsiteY6" fmla="*/ 34227 h 65097"/>
                  <a:gd name="connsiteX7" fmla="*/ 3952 w 66058"/>
                  <a:gd name="connsiteY7" fmla="*/ 4713 h 65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058" h="65097">
                    <a:moveTo>
                      <a:pt x="3952" y="4713"/>
                    </a:moveTo>
                    <a:cubicBezTo>
                      <a:pt x="24654" y="-127"/>
                      <a:pt x="39849" y="-5346"/>
                      <a:pt x="55993" y="11831"/>
                    </a:cubicBezTo>
                    <a:cubicBezTo>
                      <a:pt x="61833" y="16859"/>
                      <a:pt x="65451" y="23987"/>
                      <a:pt x="66059" y="31665"/>
                    </a:cubicBezTo>
                    <a:cubicBezTo>
                      <a:pt x="66059" y="37264"/>
                      <a:pt x="64349" y="43243"/>
                      <a:pt x="64255" y="49127"/>
                    </a:cubicBezTo>
                    <a:cubicBezTo>
                      <a:pt x="64255" y="52828"/>
                      <a:pt x="65204" y="54726"/>
                      <a:pt x="63020" y="58048"/>
                    </a:cubicBezTo>
                    <a:cubicBezTo>
                      <a:pt x="53524" y="72567"/>
                      <a:pt x="25034" y="61274"/>
                      <a:pt x="14303" y="54252"/>
                    </a:cubicBezTo>
                    <a:cubicBezTo>
                      <a:pt x="6611" y="49222"/>
                      <a:pt x="5662" y="42294"/>
                      <a:pt x="2718" y="34227"/>
                    </a:cubicBezTo>
                    <a:cubicBezTo>
                      <a:pt x="-1299" y="24698"/>
                      <a:pt x="-843" y="13874"/>
                      <a:pt x="3952" y="4713"/>
                    </a:cubicBezTo>
                  </a:path>
                </a:pathLst>
              </a:custGeom>
              <a:grpFill/>
              <a:ln w="9496"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760C844A-754A-854A-BAD0-93C60C5331B6}"/>
                  </a:ext>
                </a:extLst>
              </p:cNvPr>
              <p:cNvSpPr/>
              <p:nvPr/>
            </p:nvSpPr>
            <p:spPr>
              <a:xfrm>
                <a:off x="5175172" y="-425891"/>
                <a:ext cx="412425" cy="351340"/>
              </a:xfrm>
              <a:custGeom>
                <a:avLst/>
                <a:gdLst>
                  <a:gd name="connsiteX0" fmla="*/ 151 w 412425"/>
                  <a:gd name="connsiteY0" fmla="*/ 240100 h 351340"/>
                  <a:gd name="connsiteX1" fmla="*/ 4139 w 412425"/>
                  <a:gd name="connsiteY1" fmla="*/ 204987 h 351340"/>
                  <a:gd name="connsiteX2" fmla="*/ 14775 w 412425"/>
                  <a:gd name="connsiteY2" fmla="*/ 177940 h 351340"/>
                  <a:gd name="connsiteX3" fmla="*/ 99388 w 412425"/>
                  <a:gd name="connsiteY3" fmla="*/ 68614 h 351340"/>
                  <a:gd name="connsiteX4" fmla="*/ 141267 w 412425"/>
                  <a:gd name="connsiteY4" fmla="*/ 33406 h 351340"/>
                  <a:gd name="connsiteX5" fmla="*/ 184666 w 412425"/>
                  <a:gd name="connsiteY5" fmla="*/ 9491 h 351340"/>
                  <a:gd name="connsiteX6" fmla="*/ 229584 w 412425"/>
                  <a:gd name="connsiteY6" fmla="*/ 1 h 351340"/>
                  <a:gd name="connsiteX7" fmla="*/ 291405 w 412425"/>
                  <a:gd name="connsiteY7" fmla="*/ 28471 h 351340"/>
                  <a:gd name="connsiteX8" fmla="*/ 305080 w 412425"/>
                  <a:gd name="connsiteY8" fmla="*/ 64628 h 351340"/>
                  <a:gd name="connsiteX9" fmla="*/ 299003 w 412425"/>
                  <a:gd name="connsiteY9" fmla="*/ 87405 h 351340"/>
                  <a:gd name="connsiteX10" fmla="*/ 278775 w 412425"/>
                  <a:gd name="connsiteY10" fmla="*/ 116919 h 351340"/>
                  <a:gd name="connsiteX11" fmla="*/ 264341 w 412425"/>
                  <a:gd name="connsiteY11" fmla="*/ 135899 h 351340"/>
                  <a:gd name="connsiteX12" fmla="*/ 174220 w 412425"/>
                  <a:gd name="connsiteY12" fmla="*/ 208593 h 351340"/>
                  <a:gd name="connsiteX13" fmla="*/ 134430 w 412425"/>
                  <a:gd name="connsiteY13" fmla="*/ 223683 h 351340"/>
                  <a:gd name="connsiteX14" fmla="*/ 95590 w 412425"/>
                  <a:gd name="connsiteY14" fmla="*/ 221500 h 351340"/>
                  <a:gd name="connsiteX15" fmla="*/ 79161 w 412425"/>
                  <a:gd name="connsiteY15" fmla="*/ 216755 h 351340"/>
                  <a:gd name="connsiteX16" fmla="*/ 71754 w 412425"/>
                  <a:gd name="connsiteY16" fmla="*/ 219697 h 351340"/>
                  <a:gd name="connsiteX17" fmla="*/ 70709 w 412425"/>
                  <a:gd name="connsiteY17" fmla="*/ 221120 h 351340"/>
                  <a:gd name="connsiteX18" fmla="*/ 57889 w 412425"/>
                  <a:gd name="connsiteY18" fmla="*/ 266768 h 351340"/>
                  <a:gd name="connsiteX19" fmla="*/ 58649 w 412425"/>
                  <a:gd name="connsiteY19" fmla="*/ 277017 h 351340"/>
                  <a:gd name="connsiteX20" fmla="*/ 68810 w 412425"/>
                  <a:gd name="connsiteY20" fmla="*/ 294099 h 351340"/>
                  <a:gd name="connsiteX21" fmla="*/ 72893 w 412425"/>
                  <a:gd name="connsiteY21" fmla="*/ 297231 h 351340"/>
                  <a:gd name="connsiteX22" fmla="*/ 91886 w 412425"/>
                  <a:gd name="connsiteY22" fmla="*/ 301881 h 351340"/>
                  <a:gd name="connsiteX23" fmla="*/ 111734 w 412425"/>
                  <a:gd name="connsiteY23" fmla="*/ 296756 h 351340"/>
                  <a:gd name="connsiteX24" fmla="*/ 164629 w 412425"/>
                  <a:gd name="connsiteY24" fmla="*/ 269235 h 351340"/>
                  <a:gd name="connsiteX25" fmla="*/ 177354 w 412425"/>
                  <a:gd name="connsiteY25" fmla="*/ 260504 h 351340"/>
                  <a:gd name="connsiteX26" fmla="*/ 256839 w 412425"/>
                  <a:gd name="connsiteY26" fmla="*/ 198154 h 351340"/>
                  <a:gd name="connsiteX27" fmla="*/ 312582 w 412425"/>
                  <a:gd name="connsiteY27" fmla="*/ 152697 h 351340"/>
                  <a:gd name="connsiteX28" fmla="*/ 350568 w 412425"/>
                  <a:gd name="connsiteY28" fmla="*/ 125934 h 351340"/>
                  <a:gd name="connsiteX29" fmla="*/ 376018 w 412425"/>
                  <a:gd name="connsiteY29" fmla="*/ 111794 h 351340"/>
                  <a:gd name="connsiteX30" fmla="*/ 398810 w 412425"/>
                  <a:gd name="connsiteY30" fmla="*/ 104961 h 351340"/>
                  <a:gd name="connsiteX31" fmla="*/ 407166 w 412425"/>
                  <a:gd name="connsiteY31" fmla="*/ 106195 h 351340"/>
                  <a:gd name="connsiteX32" fmla="*/ 411535 w 412425"/>
                  <a:gd name="connsiteY32" fmla="*/ 111035 h 351340"/>
                  <a:gd name="connsiteX33" fmla="*/ 411535 w 412425"/>
                  <a:gd name="connsiteY33" fmla="*/ 122898 h 351340"/>
                  <a:gd name="connsiteX34" fmla="*/ 407831 w 412425"/>
                  <a:gd name="connsiteY34" fmla="*/ 132388 h 351340"/>
                  <a:gd name="connsiteX35" fmla="*/ 398335 w 412425"/>
                  <a:gd name="connsiteY35" fmla="*/ 150704 h 351340"/>
                  <a:gd name="connsiteX36" fmla="*/ 375828 w 412425"/>
                  <a:gd name="connsiteY36" fmla="*/ 178320 h 351340"/>
                  <a:gd name="connsiteX37" fmla="*/ 350663 w 412425"/>
                  <a:gd name="connsiteY37" fmla="*/ 198913 h 351340"/>
                  <a:gd name="connsiteX38" fmla="*/ 293020 w 412425"/>
                  <a:gd name="connsiteY38" fmla="*/ 254905 h 351340"/>
                  <a:gd name="connsiteX39" fmla="*/ 281719 w 412425"/>
                  <a:gd name="connsiteY39" fmla="*/ 264775 h 351340"/>
                  <a:gd name="connsiteX40" fmla="*/ 246772 w 412425"/>
                  <a:gd name="connsiteY40" fmla="*/ 289449 h 351340"/>
                  <a:gd name="connsiteX41" fmla="*/ 229394 w 412425"/>
                  <a:gd name="connsiteY41" fmla="*/ 303210 h 351340"/>
                  <a:gd name="connsiteX42" fmla="*/ 210401 w 412425"/>
                  <a:gd name="connsiteY42" fmla="*/ 314788 h 351340"/>
                  <a:gd name="connsiteX43" fmla="*/ 180013 w 412425"/>
                  <a:gd name="connsiteY43" fmla="*/ 330446 h 351340"/>
                  <a:gd name="connsiteX44" fmla="*/ 161590 w 412425"/>
                  <a:gd name="connsiteY44" fmla="*/ 339367 h 351340"/>
                  <a:gd name="connsiteX45" fmla="*/ 128732 w 412425"/>
                  <a:gd name="connsiteY45" fmla="*/ 348857 h 351340"/>
                  <a:gd name="connsiteX46" fmla="*/ 40321 w 412425"/>
                  <a:gd name="connsiteY46" fmla="*/ 327504 h 351340"/>
                  <a:gd name="connsiteX47" fmla="*/ 7843 w 412425"/>
                  <a:gd name="connsiteY47" fmla="*/ 282047 h 351340"/>
                  <a:gd name="connsiteX48" fmla="*/ 246 w 412425"/>
                  <a:gd name="connsiteY48" fmla="*/ 239816 h 351340"/>
                  <a:gd name="connsiteX49" fmla="*/ 102807 w 412425"/>
                  <a:gd name="connsiteY49" fmla="*/ 176042 h 351340"/>
                  <a:gd name="connsiteX50" fmla="*/ 112303 w 412425"/>
                  <a:gd name="connsiteY50" fmla="*/ 173859 h 351340"/>
                  <a:gd name="connsiteX51" fmla="*/ 143641 w 412425"/>
                  <a:gd name="connsiteY51" fmla="*/ 156398 h 351340"/>
                  <a:gd name="connsiteX52" fmla="*/ 221132 w 412425"/>
                  <a:gd name="connsiteY52" fmla="*/ 86740 h 351340"/>
                  <a:gd name="connsiteX53" fmla="*/ 237656 w 412425"/>
                  <a:gd name="connsiteY53" fmla="*/ 64818 h 351340"/>
                  <a:gd name="connsiteX54" fmla="*/ 240790 w 412425"/>
                  <a:gd name="connsiteY54" fmla="*/ 58744 h 351340"/>
                  <a:gd name="connsiteX55" fmla="*/ 240790 w 412425"/>
                  <a:gd name="connsiteY55" fmla="*/ 55708 h 351340"/>
                  <a:gd name="connsiteX56" fmla="*/ 237846 w 412425"/>
                  <a:gd name="connsiteY56" fmla="*/ 54569 h 351340"/>
                  <a:gd name="connsiteX57" fmla="*/ 225121 w 412425"/>
                  <a:gd name="connsiteY57" fmla="*/ 59409 h 351340"/>
                  <a:gd name="connsiteX58" fmla="*/ 192453 w 412425"/>
                  <a:gd name="connsiteY58" fmla="*/ 81331 h 351340"/>
                  <a:gd name="connsiteX59" fmla="*/ 126453 w 412425"/>
                  <a:gd name="connsiteY59" fmla="*/ 141119 h 351340"/>
                  <a:gd name="connsiteX60" fmla="*/ 104042 w 412425"/>
                  <a:gd name="connsiteY60" fmla="*/ 167027 h 351340"/>
                  <a:gd name="connsiteX61" fmla="*/ 101098 w 412425"/>
                  <a:gd name="connsiteY61" fmla="*/ 173005 h 351340"/>
                  <a:gd name="connsiteX62" fmla="*/ 103092 w 412425"/>
                  <a:gd name="connsiteY62" fmla="*/ 176042 h 351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12425" h="351340">
                    <a:moveTo>
                      <a:pt x="151" y="240100"/>
                    </a:moveTo>
                    <a:cubicBezTo>
                      <a:pt x="28" y="228277"/>
                      <a:pt x="1366" y="216482"/>
                      <a:pt x="4139" y="204987"/>
                    </a:cubicBezTo>
                    <a:cubicBezTo>
                      <a:pt x="6523" y="195557"/>
                      <a:pt x="10094" y="186468"/>
                      <a:pt x="14775" y="177940"/>
                    </a:cubicBezTo>
                    <a:cubicBezTo>
                      <a:pt x="37757" y="137744"/>
                      <a:pt x="66236" y="100948"/>
                      <a:pt x="99388" y="68614"/>
                    </a:cubicBezTo>
                    <a:cubicBezTo>
                      <a:pt x="112275" y="55665"/>
                      <a:pt x="126292" y="43882"/>
                      <a:pt x="141267" y="33406"/>
                    </a:cubicBezTo>
                    <a:cubicBezTo>
                      <a:pt x="154714" y="23715"/>
                      <a:pt x="169291" y="15686"/>
                      <a:pt x="184666" y="9491"/>
                    </a:cubicBezTo>
                    <a:cubicBezTo>
                      <a:pt x="198910" y="3549"/>
                      <a:pt x="214152" y="330"/>
                      <a:pt x="229584" y="1"/>
                    </a:cubicBezTo>
                    <a:cubicBezTo>
                      <a:pt x="253382" y="-94"/>
                      <a:pt x="276012" y="10327"/>
                      <a:pt x="291405" y="28471"/>
                    </a:cubicBezTo>
                    <a:cubicBezTo>
                      <a:pt x="300171" y="38484"/>
                      <a:pt x="305033" y="51323"/>
                      <a:pt x="305080" y="64628"/>
                    </a:cubicBezTo>
                    <a:cubicBezTo>
                      <a:pt x="305593" y="72680"/>
                      <a:pt x="303456" y="80677"/>
                      <a:pt x="299003" y="87405"/>
                    </a:cubicBezTo>
                    <a:cubicBezTo>
                      <a:pt x="292868" y="97643"/>
                      <a:pt x="286106" y="107499"/>
                      <a:pt x="278775" y="116919"/>
                    </a:cubicBezTo>
                    <a:cubicBezTo>
                      <a:pt x="273362" y="122803"/>
                      <a:pt x="269279" y="130015"/>
                      <a:pt x="264341" y="135899"/>
                    </a:cubicBezTo>
                    <a:cubicBezTo>
                      <a:pt x="239147" y="165583"/>
                      <a:pt x="208568" y="190247"/>
                      <a:pt x="174220" y="208593"/>
                    </a:cubicBezTo>
                    <a:cubicBezTo>
                      <a:pt x="161713" y="215428"/>
                      <a:pt x="148323" y="220505"/>
                      <a:pt x="134430" y="223683"/>
                    </a:cubicBezTo>
                    <a:cubicBezTo>
                      <a:pt x="121496" y="226100"/>
                      <a:pt x="108172" y="225351"/>
                      <a:pt x="95590" y="221500"/>
                    </a:cubicBezTo>
                    <a:cubicBezTo>
                      <a:pt x="90082" y="219981"/>
                      <a:pt x="84764" y="218083"/>
                      <a:pt x="79161" y="216755"/>
                    </a:cubicBezTo>
                    <a:cubicBezTo>
                      <a:pt x="76322" y="216077"/>
                      <a:pt x="73359" y="217254"/>
                      <a:pt x="71754" y="219697"/>
                    </a:cubicBezTo>
                    <a:cubicBezTo>
                      <a:pt x="71355" y="220130"/>
                      <a:pt x="71004" y="220608"/>
                      <a:pt x="70709" y="221120"/>
                    </a:cubicBezTo>
                    <a:cubicBezTo>
                      <a:pt x="63065" y="235181"/>
                      <a:pt x="58677" y="250782"/>
                      <a:pt x="57889" y="266768"/>
                    </a:cubicBezTo>
                    <a:cubicBezTo>
                      <a:pt x="57861" y="270199"/>
                      <a:pt x="58117" y="273627"/>
                      <a:pt x="58649" y="277017"/>
                    </a:cubicBezTo>
                    <a:cubicBezTo>
                      <a:pt x="59238" y="283966"/>
                      <a:pt x="62989" y="290259"/>
                      <a:pt x="68810" y="294099"/>
                    </a:cubicBezTo>
                    <a:cubicBezTo>
                      <a:pt x="70234" y="295060"/>
                      <a:pt x="71592" y="296105"/>
                      <a:pt x="72893" y="297231"/>
                    </a:cubicBezTo>
                    <a:cubicBezTo>
                      <a:pt x="78259" y="301436"/>
                      <a:pt x="85182" y="303130"/>
                      <a:pt x="91886" y="301881"/>
                    </a:cubicBezTo>
                    <a:cubicBezTo>
                      <a:pt x="98667" y="300893"/>
                      <a:pt x="105323" y="299175"/>
                      <a:pt x="111734" y="296756"/>
                    </a:cubicBezTo>
                    <a:cubicBezTo>
                      <a:pt x="130366" y="289645"/>
                      <a:pt x="148114" y="280411"/>
                      <a:pt x="164629" y="269235"/>
                    </a:cubicBezTo>
                    <a:cubicBezTo>
                      <a:pt x="168807" y="266198"/>
                      <a:pt x="173175" y="263446"/>
                      <a:pt x="177354" y="260504"/>
                    </a:cubicBezTo>
                    <a:cubicBezTo>
                      <a:pt x="204988" y="241524"/>
                      <a:pt x="230913" y="219697"/>
                      <a:pt x="256839" y="198154"/>
                    </a:cubicBezTo>
                    <a:cubicBezTo>
                      <a:pt x="275262" y="182780"/>
                      <a:pt x="293685" y="167501"/>
                      <a:pt x="312582" y="152697"/>
                    </a:cubicBezTo>
                    <a:cubicBezTo>
                      <a:pt x="324643" y="143206"/>
                      <a:pt x="337368" y="134381"/>
                      <a:pt x="350568" y="125934"/>
                    </a:cubicBezTo>
                    <a:cubicBezTo>
                      <a:pt x="358801" y="120777"/>
                      <a:pt x="367291" y="116057"/>
                      <a:pt x="376018" y="111794"/>
                    </a:cubicBezTo>
                    <a:cubicBezTo>
                      <a:pt x="383160" y="108197"/>
                      <a:pt x="390871" y="105885"/>
                      <a:pt x="398810" y="104961"/>
                    </a:cubicBezTo>
                    <a:cubicBezTo>
                      <a:pt x="401649" y="104865"/>
                      <a:pt x="404479" y="105284"/>
                      <a:pt x="407166" y="106195"/>
                    </a:cubicBezTo>
                    <a:cubicBezTo>
                      <a:pt x="409389" y="106901"/>
                      <a:pt x="411060" y="108752"/>
                      <a:pt x="411535" y="111035"/>
                    </a:cubicBezTo>
                    <a:cubicBezTo>
                      <a:pt x="412722" y="114900"/>
                      <a:pt x="412722" y="119032"/>
                      <a:pt x="411535" y="122898"/>
                    </a:cubicBezTo>
                    <a:cubicBezTo>
                      <a:pt x="410481" y="126128"/>
                      <a:pt x="409246" y="129296"/>
                      <a:pt x="407831" y="132388"/>
                    </a:cubicBezTo>
                    <a:cubicBezTo>
                      <a:pt x="404887" y="138556"/>
                      <a:pt x="401564" y="144535"/>
                      <a:pt x="398335" y="150704"/>
                    </a:cubicBezTo>
                    <a:cubicBezTo>
                      <a:pt x="393112" y="161551"/>
                      <a:pt x="385401" y="171012"/>
                      <a:pt x="375828" y="178320"/>
                    </a:cubicBezTo>
                    <a:cubicBezTo>
                      <a:pt x="367282" y="184963"/>
                      <a:pt x="359115" y="192080"/>
                      <a:pt x="350663" y="198913"/>
                    </a:cubicBezTo>
                    <a:cubicBezTo>
                      <a:pt x="329429" y="215378"/>
                      <a:pt x="310094" y="234158"/>
                      <a:pt x="293020" y="254905"/>
                    </a:cubicBezTo>
                    <a:cubicBezTo>
                      <a:pt x="289734" y="258706"/>
                      <a:pt x="285926" y="262028"/>
                      <a:pt x="281719" y="264775"/>
                    </a:cubicBezTo>
                    <a:lnTo>
                      <a:pt x="246772" y="289449"/>
                    </a:lnTo>
                    <a:cubicBezTo>
                      <a:pt x="240514" y="293413"/>
                      <a:pt x="234683" y="298025"/>
                      <a:pt x="229394" y="303210"/>
                    </a:cubicBezTo>
                    <a:cubicBezTo>
                      <a:pt x="223952" y="308370"/>
                      <a:pt x="217485" y="312317"/>
                      <a:pt x="210401" y="314788"/>
                    </a:cubicBezTo>
                    <a:cubicBezTo>
                      <a:pt x="199889" y="319226"/>
                      <a:pt x="189727" y="324461"/>
                      <a:pt x="180013" y="330446"/>
                    </a:cubicBezTo>
                    <a:cubicBezTo>
                      <a:pt x="174096" y="333855"/>
                      <a:pt x="167933" y="336836"/>
                      <a:pt x="161590" y="339367"/>
                    </a:cubicBezTo>
                    <a:cubicBezTo>
                      <a:pt x="151030" y="343762"/>
                      <a:pt x="140004" y="346946"/>
                      <a:pt x="128732" y="348857"/>
                    </a:cubicBezTo>
                    <a:cubicBezTo>
                      <a:pt x="97546" y="355828"/>
                      <a:pt x="64878" y="347939"/>
                      <a:pt x="40321" y="327504"/>
                    </a:cubicBezTo>
                    <a:cubicBezTo>
                      <a:pt x="25753" y="315405"/>
                      <a:pt x="14566" y="299746"/>
                      <a:pt x="7843" y="282047"/>
                    </a:cubicBezTo>
                    <a:cubicBezTo>
                      <a:pt x="1756" y="268845"/>
                      <a:pt x="-856" y="254309"/>
                      <a:pt x="246" y="239816"/>
                    </a:cubicBezTo>
                    <a:moveTo>
                      <a:pt x="102807" y="176042"/>
                    </a:moveTo>
                    <a:cubicBezTo>
                      <a:pt x="106026" y="175572"/>
                      <a:pt x="109198" y="174842"/>
                      <a:pt x="112303" y="173859"/>
                    </a:cubicBezTo>
                    <a:cubicBezTo>
                      <a:pt x="123395" y="169282"/>
                      <a:pt x="133917" y="163422"/>
                      <a:pt x="143641" y="156398"/>
                    </a:cubicBezTo>
                    <a:cubicBezTo>
                      <a:pt x="172377" y="136622"/>
                      <a:pt x="198426" y="113208"/>
                      <a:pt x="221132" y="86740"/>
                    </a:cubicBezTo>
                    <a:cubicBezTo>
                      <a:pt x="227115" y="79718"/>
                      <a:pt x="232243" y="72220"/>
                      <a:pt x="237656" y="64818"/>
                    </a:cubicBezTo>
                    <a:cubicBezTo>
                      <a:pt x="238938" y="62927"/>
                      <a:pt x="239992" y="60887"/>
                      <a:pt x="240790" y="58744"/>
                    </a:cubicBezTo>
                    <a:cubicBezTo>
                      <a:pt x="241170" y="57768"/>
                      <a:pt x="241170" y="56684"/>
                      <a:pt x="240790" y="55708"/>
                    </a:cubicBezTo>
                    <a:cubicBezTo>
                      <a:pt x="239963" y="55003"/>
                      <a:pt x="238928" y="54602"/>
                      <a:pt x="237846" y="54569"/>
                    </a:cubicBezTo>
                    <a:cubicBezTo>
                      <a:pt x="233278" y="55131"/>
                      <a:pt x="228910" y="56791"/>
                      <a:pt x="225121" y="59409"/>
                    </a:cubicBezTo>
                    <a:cubicBezTo>
                      <a:pt x="213621" y="65761"/>
                      <a:pt x="202690" y="73096"/>
                      <a:pt x="192453" y="81331"/>
                    </a:cubicBezTo>
                    <a:cubicBezTo>
                      <a:pt x="168968" y="99564"/>
                      <a:pt x="146908" y="119550"/>
                      <a:pt x="126453" y="141119"/>
                    </a:cubicBezTo>
                    <a:cubicBezTo>
                      <a:pt x="118666" y="149375"/>
                      <a:pt x="111354" y="158296"/>
                      <a:pt x="104042" y="167027"/>
                    </a:cubicBezTo>
                    <a:cubicBezTo>
                      <a:pt x="102712" y="168831"/>
                      <a:pt x="101715" y="170855"/>
                      <a:pt x="101098" y="173005"/>
                    </a:cubicBezTo>
                    <a:cubicBezTo>
                      <a:pt x="101098" y="173575"/>
                      <a:pt x="102142" y="174619"/>
                      <a:pt x="103092" y="176042"/>
                    </a:cubicBezTo>
                  </a:path>
                </a:pathLst>
              </a:custGeom>
              <a:grpFill/>
              <a:ln w="9496"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BB1E1B4C-04A6-0744-8081-0C5245EBDCEC}"/>
                  </a:ext>
                </a:extLst>
              </p:cNvPr>
              <p:cNvSpPr/>
              <p:nvPr/>
            </p:nvSpPr>
            <p:spPr>
              <a:xfrm>
                <a:off x="5660524" y="-724743"/>
                <a:ext cx="333068" cy="540294"/>
              </a:xfrm>
              <a:custGeom>
                <a:avLst/>
                <a:gdLst>
                  <a:gd name="connsiteX0" fmla="*/ 322278 w 333068"/>
                  <a:gd name="connsiteY0" fmla="*/ 12157 h 540294"/>
                  <a:gd name="connsiteX1" fmla="*/ 330825 w 333068"/>
                  <a:gd name="connsiteY1" fmla="*/ 27436 h 540294"/>
                  <a:gd name="connsiteX2" fmla="*/ 330825 w 333068"/>
                  <a:gd name="connsiteY2" fmla="*/ 43854 h 540294"/>
                  <a:gd name="connsiteX3" fmla="*/ 324462 w 333068"/>
                  <a:gd name="connsiteY3" fmla="*/ 53913 h 540294"/>
                  <a:gd name="connsiteX4" fmla="*/ 308318 w 333068"/>
                  <a:gd name="connsiteY4" fmla="*/ 76120 h 540294"/>
                  <a:gd name="connsiteX5" fmla="*/ 267199 w 333068"/>
                  <a:gd name="connsiteY5" fmla="*/ 139134 h 540294"/>
                  <a:gd name="connsiteX6" fmla="*/ 241464 w 333068"/>
                  <a:gd name="connsiteY6" fmla="*/ 179562 h 540294"/>
                  <a:gd name="connsiteX7" fmla="*/ 228643 w 333068"/>
                  <a:gd name="connsiteY7" fmla="*/ 199776 h 540294"/>
                  <a:gd name="connsiteX8" fmla="*/ 211835 w 333068"/>
                  <a:gd name="connsiteY8" fmla="*/ 227677 h 540294"/>
                  <a:gd name="connsiteX9" fmla="*/ 193792 w 333068"/>
                  <a:gd name="connsiteY9" fmla="*/ 258710 h 540294"/>
                  <a:gd name="connsiteX10" fmla="*/ 186669 w 333068"/>
                  <a:gd name="connsiteY10" fmla="*/ 270382 h 540294"/>
                  <a:gd name="connsiteX11" fmla="*/ 124373 w 333068"/>
                  <a:gd name="connsiteY11" fmla="*/ 384264 h 540294"/>
                  <a:gd name="connsiteX12" fmla="*/ 94460 w 333068"/>
                  <a:gd name="connsiteY12" fmla="*/ 449556 h 540294"/>
                  <a:gd name="connsiteX13" fmla="*/ 65400 w 333068"/>
                  <a:gd name="connsiteY13" fmla="*/ 513424 h 540294"/>
                  <a:gd name="connsiteX14" fmla="*/ 46407 w 333068"/>
                  <a:gd name="connsiteY14" fmla="*/ 534018 h 540294"/>
                  <a:gd name="connsiteX15" fmla="*/ 33872 w 333068"/>
                  <a:gd name="connsiteY15" fmla="*/ 539332 h 540294"/>
                  <a:gd name="connsiteX16" fmla="*/ 14880 w 333068"/>
                  <a:gd name="connsiteY16" fmla="*/ 532025 h 540294"/>
                  <a:gd name="connsiteX17" fmla="*/ 8992 w 333068"/>
                  <a:gd name="connsiteY17" fmla="*/ 519688 h 540294"/>
                  <a:gd name="connsiteX18" fmla="*/ 6333 w 333068"/>
                  <a:gd name="connsiteY18" fmla="*/ 515417 h 540294"/>
                  <a:gd name="connsiteX19" fmla="*/ 1205 w 333068"/>
                  <a:gd name="connsiteY19" fmla="*/ 497765 h 540294"/>
                  <a:gd name="connsiteX20" fmla="*/ 13645 w 333068"/>
                  <a:gd name="connsiteY20" fmla="*/ 453352 h 540294"/>
                  <a:gd name="connsiteX21" fmla="*/ 39190 w 333068"/>
                  <a:gd name="connsiteY21" fmla="*/ 387965 h 540294"/>
                  <a:gd name="connsiteX22" fmla="*/ 94649 w 333068"/>
                  <a:gd name="connsiteY22" fmla="*/ 274084 h 540294"/>
                  <a:gd name="connsiteX23" fmla="*/ 113642 w 333068"/>
                  <a:gd name="connsiteY23" fmla="*/ 243336 h 540294"/>
                  <a:gd name="connsiteX24" fmla="*/ 118105 w 333068"/>
                  <a:gd name="connsiteY24" fmla="*/ 236028 h 540294"/>
                  <a:gd name="connsiteX25" fmla="*/ 137858 w 333068"/>
                  <a:gd name="connsiteY25" fmla="*/ 202243 h 540294"/>
                  <a:gd name="connsiteX26" fmla="*/ 158370 w 333068"/>
                  <a:gd name="connsiteY26" fmla="*/ 166656 h 540294"/>
                  <a:gd name="connsiteX27" fmla="*/ 178882 w 333068"/>
                  <a:gd name="connsiteY27" fmla="*/ 132966 h 540294"/>
                  <a:gd name="connsiteX28" fmla="*/ 261691 w 333068"/>
                  <a:gd name="connsiteY28" fmla="*/ 15478 h 540294"/>
                  <a:gd name="connsiteX29" fmla="*/ 270713 w 333068"/>
                  <a:gd name="connsiteY29" fmla="*/ 5134 h 540294"/>
                  <a:gd name="connsiteX30" fmla="*/ 284767 w 333068"/>
                  <a:gd name="connsiteY30" fmla="*/ 104 h 540294"/>
                  <a:gd name="connsiteX31" fmla="*/ 291510 w 333068"/>
                  <a:gd name="connsiteY31" fmla="*/ 1148 h 540294"/>
                  <a:gd name="connsiteX32" fmla="*/ 323513 w 333068"/>
                  <a:gd name="connsiteY32" fmla="*/ 11967 h 54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33068" h="540294">
                    <a:moveTo>
                      <a:pt x="322278" y="12157"/>
                    </a:moveTo>
                    <a:lnTo>
                      <a:pt x="330825" y="27436"/>
                    </a:lnTo>
                    <a:cubicBezTo>
                      <a:pt x="333816" y="32500"/>
                      <a:pt x="333816" y="38790"/>
                      <a:pt x="330825" y="43854"/>
                    </a:cubicBezTo>
                    <a:cubicBezTo>
                      <a:pt x="328887" y="47317"/>
                      <a:pt x="326760" y="50675"/>
                      <a:pt x="324462" y="53913"/>
                    </a:cubicBezTo>
                    <a:cubicBezTo>
                      <a:pt x="319144" y="61410"/>
                      <a:pt x="313826" y="68813"/>
                      <a:pt x="308318" y="76120"/>
                    </a:cubicBezTo>
                    <a:cubicBezTo>
                      <a:pt x="293285" y="96227"/>
                      <a:pt x="279544" y="117275"/>
                      <a:pt x="267199" y="139134"/>
                    </a:cubicBezTo>
                    <a:cubicBezTo>
                      <a:pt x="259317" y="153085"/>
                      <a:pt x="250010" y="166086"/>
                      <a:pt x="241464" y="179562"/>
                    </a:cubicBezTo>
                    <a:cubicBezTo>
                      <a:pt x="237095" y="186300"/>
                      <a:pt x="232727" y="193038"/>
                      <a:pt x="228643" y="199776"/>
                    </a:cubicBezTo>
                    <a:cubicBezTo>
                      <a:pt x="222946" y="209266"/>
                      <a:pt x="217723" y="218756"/>
                      <a:pt x="211835" y="227677"/>
                    </a:cubicBezTo>
                    <a:cubicBezTo>
                      <a:pt x="205187" y="237639"/>
                      <a:pt x="199157" y="248003"/>
                      <a:pt x="193792" y="258710"/>
                    </a:cubicBezTo>
                    <a:cubicBezTo>
                      <a:pt x="191750" y="262793"/>
                      <a:pt x="189366" y="266697"/>
                      <a:pt x="186669" y="270382"/>
                    </a:cubicBezTo>
                    <a:cubicBezTo>
                      <a:pt x="161779" y="305941"/>
                      <a:pt x="140887" y="344132"/>
                      <a:pt x="124373" y="384264"/>
                    </a:cubicBezTo>
                    <a:cubicBezTo>
                      <a:pt x="114877" y="406376"/>
                      <a:pt x="104905" y="428013"/>
                      <a:pt x="94460" y="449556"/>
                    </a:cubicBezTo>
                    <a:cubicBezTo>
                      <a:pt x="84013" y="471098"/>
                      <a:pt x="73472" y="491407"/>
                      <a:pt x="65400" y="513424"/>
                    </a:cubicBezTo>
                    <a:cubicBezTo>
                      <a:pt x="62409" y="522744"/>
                      <a:pt x="55458" y="530276"/>
                      <a:pt x="46407" y="534018"/>
                    </a:cubicBezTo>
                    <a:cubicBezTo>
                      <a:pt x="42229" y="535726"/>
                      <a:pt x="38146" y="537814"/>
                      <a:pt x="33872" y="539332"/>
                    </a:cubicBezTo>
                    <a:cubicBezTo>
                      <a:pt x="26608" y="542027"/>
                      <a:pt x="18460" y="538896"/>
                      <a:pt x="14880" y="532025"/>
                    </a:cubicBezTo>
                    <a:cubicBezTo>
                      <a:pt x="12885" y="527944"/>
                      <a:pt x="10986" y="523768"/>
                      <a:pt x="8992" y="519688"/>
                    </a:cubicBezTo>
                    <a:cubicBezTo>
                      <a:pt x="8232" y="518169"/>
                      <a:pt x="7567" y="516081"/>
                      <a:pt x="6333" y="515417"/>
                    </a:cubicBezTo>
                    <a:cubicBezTo>
                      <a:pt x="-2119" y="511336"/>
                      <a:pt x="-125" y="504693"/>
                      <a:pt x="1205" y="497765"/>
                    </a:cubicBezTo>
                    <a:cubicBezTo>
                      <a:pt x="4405" y="482712"/>
                      <a:pt x="8564" y="467877"/>
                      <a:pt x="13645" y="453352"/>
                    </a:cubicBezTo>
                    <a:cubicBezTo>
                      <a:pt x="21147" y="431145"/>
                      <a:pt x="29884" y="409413"/>
                      <a:pt x="39190" y="387965"/>
                    </a:cubicBezTo>
                    <a:cubicBezTo>
                      <a:pt x="55904" y="349182"/>
                      <a:pt x="74394" y="311221"/>
                      <a:pt x="94649" y="274084"/>
                    </a:cubicBezTo>
                    <a:cubicBezTo>
                      <a:pt x="100262" y="263406"/>
                      <a:pt x="106605" y="253131"/>
                      <a:pt x="113642" y="243336"/>
                    </a:cubicBezTo>
                    <a:cubicBezTo>
                      <a:pt x="115465" y="241119"/>
                      <a:pt x="116966" y="238660"/>
                      <a:pt x="118105" y="236028"/>
                    </a:cubicBezTo>
                    <a:cubicBezTo>
                      <a:pt x="123689" y="224209"/>
                      <a:pt x="130299" y="212905"/>
                      <a:pt x="137858" y="202243"/>
                    </a:cubicBezTo>
                    <a:cubicBezTo>
                      <a:pt x="144410" y="190191"/>
                      <a:pt x="151438" y="178423"/>
                      <a:pt x="158370" y="166656"/>
                    </a:cubicBezTo>
                    <a:cubicBezTo>
                      <a:pt x="165303" y="154888"/>
                      <a:pt x="171855" y="144164"/>
                      <a:pt x="178882" y="132966"/>
                    </a:cubicBezTo>
                    <a:cubicBezTo>
                      <a:pt x="204057" y="92150"/>
                      <a:pt x="231711" y="52914"/>
                      <a:pt x="261691" y="15478"/>
                    </a:cubicBezTo>
                    <a:cubicBezTo>
                      <a:pt x="264521" y="11877"/>
                      <a:pt x="267531" y="8424"/>
                      <a:pt x="270713" y="5134"/>
                    </a:cubicBezTo>
                    <a:cubicBezTo>
                      <a:pt x="274369" y="1382"/>
                      <a:pt x="279554" y="-475"/>
                      <a:pt x="284767" y="104"/>
                    </a:cubicBezTo>
                    <a:cubicBezTo>
                      <a:pt x="287046" y="166"/>
                      <a:pt x="289316" y="516"/>
                      <a:pt x="291510" y="1148"/>
                    </a:cubicBezTo>
                    <a:cubicBezTo>
                      <a:pt x="302240" y="4659"/>
                      <a:pt x="312971" y="8361"/>
                      <a:pt x="323513" y="11967"/>
                    </a:cubicBezTo>
                  </a:path>
                </a:pathLst>
              </a:custGeom>
              <a:grpFill/>
              <a:ln w="9496"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CE7ECAAC-11FA-254E-805F-F5635E7570EF}"/>
                  </a:ext>
                </a:extLst>
              </p:cNvPr>
              <p:cNvSpPr/>
              <p:nvPr/>
            </p:nvSpPr>
            <p:spPr>
              <a:xfrm>
                <a:off x="5588240" y="-82064"/>
                <a:ext cx="97217" cy="64492"/>
              </a:xfrm>
              <a:custGeom>
                <a:avLst/>
                <a:gdLst>
                  <a:gd name="connsiteX0" fmla="*/ 25057 w 97217"/>
                  <a:gd name="connsiteY0" fmla="*/ 0 h 64492"/>
                  <a:gd name="connsiteX1" fmla="*/ 35788 w 97217"/>
                  <a:gd name="connsiteY1" fmla="*/ 1613 h 64492"/>
                  <a:gd name="connsiteX2" fmla="*/ 57724 w 97217"/>
                  <a:gd name="connsiteY2" fmla="*/ 3227 h 64492"/>
                  <a:gd name="connsiteX3" fmla="*/ 76717 w 97217"/>
                  <a:gd name="connsiteY3" fmla="*/ 8731 h 64492"/>
                  <a:gd name="connsiteX4" fmla="*/ 94760 w 97217"/>
                  <a:gd name="connsiteY4" fmla="*/ 28850 h 64492"/>
                  <a:gd name="connsiteX5" fmla="*/ 94760 w 97217"/>
                  <a:gd name="connsiteY5" fmla="*/ 44888 h 64492"/>
                  <a:gd name="connsiteX6" fmla="*/ 80041 w 97217"/>
                  <a:gd name="connsiteY6" fmla="*/ 61401 h 64492"/>
                  <a:gd name="connsiteX7" fmla="*/ 70544 w 97217"/>
                  <a:gd name="connsiteY7" fmla="*/ 64438 h 64492"/>
                  <a:gd name="connsiteX8" fmla="*/ 46993 w 97217"/>
                  <a:gd name="connsiteY8" fmla="*/ 60642 h 64492"/>
                  <a:gd name="connsiteX9" fmla="*/ 13186 w 97217"/>
                  <a:gd name="connsiteY9" fmla="*/ 38909 h 64492"/>
                  <a:gd name="connsiteX10" fmla="*/ 1126 w 97217"/>
                  <a:gd name="connsiteY10" fmla="*/ 18316 h 64492"/>
                  <a:gd name="connsiteX11" fmla="*/ 6472 w 97217"/>
                  <a:gd name="connsiteY11" fmla="*/ 3123 h 64492"/>
                  <a:gd name="connsiteX12" fmla="*/ 8913 w 97217"/>
                  <a:gd name="connsiteY12" fmla="*/ 2278 h 64492"/>
                  <a:gd name="connsiteX13" fmla="*/ 17270 w 97217"/>
                  <a:gd name="connsiteY13" fmla="*/ 569 h 64492"/>
                  <a:gd name="connsiteX14" fmla="*/ 25152 w 97217"/>
                  <a:gd name="connsiteY14" fmla="*/ 0 h 6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217" h="64492">
                    <a:moveTo>
                      <a:pt x="25057" y="0"/>
                    </a:moveTo>
                    <a:cubicBezTo>
                      <a:pt x="28665" y="335"/>
                      <a:pt x="32245" y="873"/>
                      <a:pt x="35788" y="1613"/>
                    </a:cubicBezTo>
                    <a:cubicBezTo>
                      <a:pt x="42910" y="3665"/>
                      <a:pt x="50383" y="4214"/>
                      <a:pt x="57724" y="3227"/>
                    </a:cubicBezTo>
                    <a:cubicBezTo>
                      <a:pt x="64524" y="2611"/>
                      <a:pt x="71304" y="4576"/>
                      <a:pt x="76717" y="8731"/>
                    </a:cubicBezTo>
                    <a:cubicBezTo>
                      <a:pt x="84314" y="13832"/>
                      <a:pt x="90515" y="20747"/>
                      <a:pt x="94760" y="28850"/>
                    </a:cubicBezTo>
                    <a:cubicBezTo>
                      <a:pt x="98036" y="33696"/>
                      <a:pt x="98036" y="40043"/>
                      <a:pt x="94760" y="44888"/>
                    </a:cubicBezTo>
                    <a:cubicBezTo>
                      <a:pt x="90810" y="51175"/>
                      <a:pt x="85834" y="56757"/>
                      <a:pt x="80041" y="61401"/>
                    </a:cubicBezTo>
                    <a:cubicBezTo>
                      <a:pt x="77420" y="63662"/>
                      <a:pt x="73991" y="64759"/>
                      <a:pt x="70544" y="64438"/>
                    </a:cubicBezTo>
                    <a:cubicBezTo>
                      <a:pt x="62662" y="63299"/>
                      <a:pt x="54685" y="62445"/>
                      <a:pt x="46993" y="60642"/>
                    </a:cubicBezTo>
                    <a:cubicBezTo>
                      <a:pt x="33556" y="57503"/>
                      <a:pt x="21619" y="49828"/>
                      <a:pt x="13186" y="38909"/>
                    </a:cubicBezTo>
                    <a:cubicBezTo>
                      <a:pt x="8334" y="32564"/>
                      <a:pt x="4288" y="25648"/>
                      <a:pt x="1126" y="18316"/>
                    </a:cubicBezTo>
                    <a:cubicBezTo>
                      <a:pt x="-1600" y="12645"/>
                      <a:pt x="793" y="5843"/>
                      <a:pt x="6472" y="3123"/>
                    </a:cubicBezTo>
                    <a:cubicBezTo>
                      <a:pt x="7251" y="2749"/>
                      <a:pt x="8068" y="2466"/>
                      <a:pt x="8913" y="2278"/>
                    </a:cubicBezTo>
                    <a:cubicBezTo>
                      <a:pt x="11657" y="1508"/>
                      <a:pt x="14449" y="937"/>
                      <a:pt x="17270" y="569"/>
                    </a:cubicBezTo>
                    <a:cubicBezTo>
                      <a:pt x="19454" y="569"/>
                      <a:pt x="21733" y="569"/>
                      <a:pt x="25152" y="0"/>
                    </a:cubicBezTo>
                  </a:path>
                </a:pathLst>
              </a:custGeom>
              <a:grpFill/>
              <a:ln w="9496" cap="flat">
                <a:noFill/>
                <a:prstDash val="solid"/>
                <a:miter/>
              </a:ln>
            </p:spPr>
            <p:txBody>
              <a:bodyPr rtlCol="0" anchor="ctr"/>
              <a:lstStyle/>
              <a:p>
                <a:endParaRPr lang="en-US" sz="2400"/>
              </a:p>
            </p:txBody>
          </p:sp>
        </p:grpSp>
      </p:grpSp>
      <p:sp>
        <p:nvSpPr>
          <p:cNvPr id="2" name="Rectangle 4">
            <a:extLst>
              <a:ext uri="{FF2B5EF4-FFF2-40B4-BE49-F238E27FC236}">
                <a16:creationId xmlns:a16="http://schemas.microsoft.com/office/drawing/2014/main" id="{B5D1337C-1180-11FD-ADD1-7C5EB2F17C9F}"/>
              </a:ext>
            </a:extLst>
          </p:cNvPr>
          <p:cNvSpPr>
            <a:spLocks noChangeArrowheads="1"/>
          </p:cNvSpPr>
          <p:nvPr userDrawn="1"/>
        </p:nvSpPr>
        <p:spPr bwMode="black">
          <a:xfrm>
            <a:off x="7549662" y="6595873"/>
            <a:ext cx="3642852" cy="206025"/>
          </a:xfrm>
          <a:prstGeom prst="rect">
            <a:avLst/>
          </a:prstGeom>
          <a:noFill/>
          <a:ln w="9525">
            <a:noFill/>
            <a:miter lim="800000"/>
            <a:headEnd/>
            <a:tailEnd/>
          </a:ln>
          <a:effectLst/>
        </p:spPr>
        <p:txBody>
          <a:bodyPr wrap="square" lIns="82115" tIns="41056" rIns="82115" bIns="41056" anchor="b">
            <a:spAutoFit/>
          </a:bodyPr>
          <a:lstStyle/>
          <a:p>
            <a:pPr marL="0" marR="0" lvl="0" indent="0" algn="r" defTabSz="814305"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n-lt"/>
                <a:ea typeface="ＭＳ Ｐゴシック" charset="0"/>
                <a:cs typeface="CiscoSansTT Light" panose="020B0503020201020303" pitchFamily="34" charset="0"/>
              </a:rPr>
              <a:t>© 2025  Cisco and/or its affiliates. All rights reserved.   Cisco Public</a:t>
            </a:r>
          </a:p>
        </p:txBody>
      </p:sp>
    </p:spTree>
    <p:extLst>
      <p:ext uri="{BB962C8B-B14F-4D97-AF65-F5344CB8AC3E}">
        <p14:creationId xmlns:p14="http://schemas.microsoft.com/office/powerpoint/2010/main" val="15599268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6" name="Title 1"/>
          <p:cNvSpPr>
            <a:spLocks noGrp="1"/>
          </p:cNvSpPr>
          <p:nvPr>
            <p:ph type="title"/>
          </p:nvPr>
        </p:nvSpPr>
        <p:spPr>
          <a:xfrm>
            <a:off x="591996" y="256032"/>
            <a:ext cx="11009376" cy="975360"/>
          </a:xfrm>
        </p:spPr>
        <p:txBody>
          <a:bodyPr anchor="b" anchorCtr="0"/>
          <a:lstStyle>
            <a:lvl1pPr>
              <a:defRPr lang="en-US" sz="3733" b="0" i="0" u="none" kern="1200" dirty="0">
                <a:solidFill>
                  <a:schemeClr val="bg1"/>
                </a:solidFill>
                <a:latin typeface="+mj-lt"/>
                <a:ea typeface="CiscoSansTT Light" panose="020B0503020201020303" pitchFamily="34" charset="0"/>
                <a:cs typeface="CiscoSansTT Light" panose="020B0503020201020303" pitchFamily="34" charset="0"/>
              </a:defRPr>
            </a:lvl1pPr>
          </a:lstStyle>
          <a:p>
            <a:r>
              <a:rPr lang="en-US"/>
              <a:t>Click to edit Master title style</a:t>
            </a:r>
            <a:endParaRPr lang="en-US" dirty="0"/>
          </a:p>
        </p:txBody>
      </p:sp>
      <p:sp>
        <p:nvSpPr>
          <p:cNvPr id="9" name="Content Placeholder 4"/>
          <p:cNvSpPr>
            <a:spLocks noGrp="1"/>
          </p:cNvSpPr>
          <p:nvPr>
            <p:ph sz="quarter" idx="11" hasCustomPrompt="1"/>
          </p:nvPr>
        </p:nvSpPr>
        <p:spPr>
          <a:xfrm>
            <a:off x="591996" y="1597152"/>
            <a:ext cx="11009376" cy="4523232"/>
          </a:xfrm>
          <a:prstGeom prst="rect">
            <a:avLst/>
          </a:prstGeom>
        </p:spPr>
        <p:txBody>
          <a:bodyPr/>
          <a:lstStyle>
            <a:lvl1pPr marL="226478" indent="-226478" algn="l" defTabSz="912261" rtl="0" eaLnBrk="1" fontAlgn="base" hangingPunct="1">
              <a:lnSpc>
                <a:spcPct val="95000"/>
              </a:lnSpc>
              <a:spcBef>
                <a:spcPts val="1468"/>
              </a:spcBef>
              <a:spcAft>
                <a:spcPct val="0"/>
              </a:spcAft>
              <a:buClr>
                <a:schemeClr val="tx1"/>
              </a:buClr>
              <a:buSzPct val="80000"/>
              <a:buFont typeface="Arial"/>
              <a:buChar char="•"/>
              <a:defRPr lang="en-US" sz="2667" b="0" i="0" kern="1200" dirty="0">
                <a:solidFill>
                  <a:schemeClr val="tx1"/>
                </a:solidFill>
                <a:latin typeface="+mn-lt"/>
                <a:ea typeface="CiscoSansTT Thin" charset="0"/>
                <a:cs typeface="CiscoSansTT Thin" charset="0"/>
              </a:defRPr>
            </a:lvl1pPr>
            <a:lvl2pPr marL="455073" indent="-228594" algn="l" defTabSz="912261" rtl="0" eaLnBrk="1" fontAlgn="base" hangingPunct="1">
              <a:lnSpc>
                <a:spcPct val="95000"/>
              </a:lnSpc>
              <a:spcBef>
                <a:spcPts val="800"/>
              </a:spcBef>
              <a:spcAft>
                <a:spcPct val="0"/>
              </a:spcAft>
              <a:buClr>
                <a:schemeClr val="tx1"/>
              </a:buClr>
              <a:buSzPct val="80000"/>
              <a:buFont typeface="Arial"/>
              <a:buChar char="•"/>
              <a:defRPr lang="en-US" sz="2400" b="0" i="0" kern="1200" dirty="0">
                <a:solidFill>
                  <a:schemeClr val="tx1"/>
                </a:solidFill>
                <a:latin typeface="+mn-lt"/>
                <a:ea typeface="CiscoSansTT Thin" charset="0"/>
                <a:cs typeface="CiscoSansTT Thin" charset="0"/>
              </a:defRPr>
            </a:lvl2pPr>
            <a:lvl3pPr marL="681550" indent="-226478" algn="l" defTabSz="912261" rtl="0" eaLnBrk="1" fontAlgn="base" hangingPunct="1">
              <a:lnSpc>
                <a:spcPct val="95000"/>
              </a:lnSpc>
              <a:spcBef>
                <a:spcPts val="800"/>
              </a:spcBef>
              <a:spcAft>
                <a:spcPct val="0"/>
              </a:spcAft>
              <a:buClr>
                <a:schemeClr val="tx1"/>
              </a:buClr>
              <a:buSzPct val="80000"/>
              <a:buFont typeface="Arial"/>
              <a:buChar char="•"/>
              <a:defRPr lang="en-US" sz="2133" b="0" i="0" kern="1200" dirty="0">
                <a:solidFill>
                  <a:schemeClr val="tx1"/>
                </a:solidFill>
                <a:latin typeface="+mn-lt"/>
                <a:ea typeface="CiscoSansTT Thin" charset="0"/>
                <a:cs typeface="CiscoSansTT Thin" charset="0"/>
              </a:defRPr>
            </a:lvl3pPr>
            <a:lvl4pPr marL="670967" indent="-226478" algn="l" defTabSz="912261" rtl="0" eaLnBrk="1" fontAlgn="base" hangingPunct="1">
              <a:lnSpc>
                <a:spcPct val="95000"/>
              </a:lnSpc>
              <a:spcBef>
                <a:spcPts val="800"/>
              </a:spcBef>
              <a:spcAft>
                <a:spcPct val="0"/>
              </a:spcAft>
              <a:buClr>
                <a:schemeClr val="tx1"/>
              </a:buClr>
              <a:buSzPct val="80000"/>
              <a:buFont typeface="Arial"/>
              <a:buChar char="•"/>
              <a:defRPr lang="en-US" sz="2400" b="0" i="0" kern="1200" dirty="0">
                <a:solidFill>
                  <a:schemeClr val="tx1"/>
                </a:solidFill>
                <a:latin typeface="CiscoSansTT Light" panose="020B0503020201020303" pitchFamily="34" charset="0"/>
                <a:ea typeface="CiscoSansTT Thin" charset="0"/>
                <a:cs typeface="CiscoSansTT Thin" charset="0"/>
              </a:defRPr>
            </a:lvl4pPr>
          </a:lstStyle>
          <a:p>
            <a:pPr marL="228594" lvl="0" indent="-228594" algn="l" defTabSz="912261" rtl="0" eaLnBrk="1" fontAlgn="base" hangingPunct="1">
              <a:lnSpc>
                <a:spcPct val="95000"/>
              </a:lnSpc>
              <a:spcBef>
                <a:spcPts val="1480"/>
              </a:spcBef>
              <a:spcAft>
                <a:spcPct val="0"/>
              </a:spcAft>
              <a:buClr>
                <a:schemeClr val="tx1"/>
              </a:buClr>
              <a:buSzPct val="80000"/>
              <a:buFont typeface="Arial"/>
              <a:buChar char="•"/>
            </a:pPr>
            <a:r>
              <a:rPr lang="en-US" dirty="0"/>
              <a:t>Click to edit Master text styles</a:t>
            </a:r>
          </a:p>
          <a:p>
            <a:pPr lvl="1"/>
            <a:r>
              <a:rPr lang="en-US" dirty="0"/>
              <a:t>Second level</a:t>
            </a:r>
          </a:p>
          <a:p>
            <a:pPr lvl="2"/>
            <a:r>
              <a:rPr lang="en-US" dirty="0"/>
              <a:t>Third level</a:t>
            </a:r>
          </a:p>
        </p:txBody>
      </p:sp>
      <p:sp>
        <p:nvSpPr>
          <p:cNvPr id="49" name="Slide Number Placeholder 1"/>
          <p:cNvSpPr>
            <a:spLocks noGrp="1"/>
          </p:cNvSpPr>
          <p:nvPr>
            <p:ph type="sldNum" sz="quarter" idx="4"/>
          </p:nvPr>
        </p:nvSpPr>
        <p:spPr>
          <a:xfrm>
            <a:off x="11160200" y="6507857"/>
            <a:ext cx="479555" cy="366183"/>
          </a:xfrm>
          <a:prstGeom prst="rect">
            <a:avLst/>
          </a:prstGeom>
        </p:spPr>
        <p:txBody>
          <a:bodyPr vert="horz" lIns="91440" tIns="45720" rIns="91440" bIns="45720" rtlCol="0" anchor="ctr"/>
          <a:lstStyle>
            <a:lvl1pPr algn="r">
              <a:defRPr lang="en-US" sz="800" kern="1200" smtClean="0">
                <a:solidFill>
                  <a:schemeClr val="tx1"/>
                </a:solidFill>
                <a:latin typeface="+mn-lt"/>
                <a:ea typeface="+mn-ea"/>
                <a:cs typeface="CiscoSans Thin"/>
              </a:defRPr>
            </a:lvl1pPr>
          </a:lstStyle>
          <a:p>
            <a:fld id="{96A97DD0-5BE7-4856-A2A9-C42C6688E607}" type="slidenum">
              <a:rPr lang="en-US" smtClean="0"/>
              <a:pPr/>
              <a:t>‹#›</a:t>
            </a:fld>
            <a:endParaRPr lang="en-US" dirty="0"/>
          </a:p>
        </p:txBody>
      </p:sp>
      <p:grpSp>
        <p:nvGrpSpPr>
          <p:cNvPr id="11" name="Group 10">
            <a:extLst>
              <a:ext uri="{FF2B5EF4-FFF2-40B4-BE49-F238E27FC236}">
                <a16:creationId xmlns:a16="http://schemas.microsoft.com/office/drawing/2014/main" id="{DA06DA18-22F5-9341-8B98-98D126AAF812}"/>
              </a:ext>
            </a:extLst>
          </p:cNvPr>
          <p:cNvGrpSpPr/>
          <p:nvPr userDrawn="1"/>
        </p:nvGrpSpPr>
        <p:grpSpPr>
          <a:xfrm>
            <a:off x="715224" y="6381263"/>
            <a:ext cx="1341120" cy="365592"/>
            <a:chOff x="536418" y="4785947"/>
            <a:chExt cx="1005840" cy="274194"/>
          </a:xfrm>
          <a:solidFill>
            <a:schemeClr val="bg1"/>
          </a:solidFill>
        </p:grpSpPr>
        <p:grpSp>
          <p:nvGrpSpPr>
            <p:cNvPr id="14" name="Group 13">
              <a:extLst>
                <a:ext uri="{FF2B5EF4-FFF2-40B4-BE49-F238E27FC236}">
                  <a16:creationId xmlns:a16="http://schemas.microsoft.com/office/drawing/2014/main" id="{DDA72225-6F27-AD4A-98F6-4F0E76DD059C}"/>
                </a:ext>
              </a:extLst>
            </p:cNvPr>
            <p:cNvGrpSpPr/>
            <p:nvPr/>
          </p:nvGrpSpPr>
          <p:grpSpPr>
            <a:xfrm>
              <a:off x="536418" y="4930673"/>
              <a:ext cx="386220" cy="86649"/>
              <a:chOff x="2826390" y="-407669"/>
              <a:chExt cx="1216132" cy="272841"/>
            </a:xfrm>
            <a:grpFill/>
          </p:grpSpPr>
          <p:sp>
            <p:nvSpPr>
              <p:cNvPr id="22" name="Freeform 21">
                <a:extLst>
                  <a:ext uri="{FF2B5EF4-FFF2-40B4-BE49-F238E27FC236}">
                    <a16:creationId xmlns:a16="http://schemas.microsoft.com/office/drawing/2014/main" id="{AADA4D7E-414A-4B46-A435-E51A7F7E93A4}"/>
                  </a:ext>
                </a:extLst>
              </p:cNvPr>
              <p:cNvSpPr/>
              <p:nvPr/>
            </p:nvSpPr>
            <p:spPr>
              <a:xfrm>
                <a:off x="3112516" y="-397325"/>
                <a:ext cx="68279" cy="250823"/>
              </a:xfrm>
              <a:custGeom>
                <a:avLst/>
                <a:gdLst>
                  <a:gd name="connsiteX0" fmla="*/ 0 w 68279"/>
                  <a:gd name="connsiteY0" fmla="*/ 0 h 250823"/>
                  <a:gd name="connsiteX1" fmla="*/ 68279 w 68279"/>
                  <a:gd name="connsiteY1" fmla="*/ 0 h 250823"/>
                  <a:gd name="connsiteX2" fmla="*/ 68279 w 68279"/>
                  <a:gd name="connsiteY2" fmla="*/ 250824 h 250823"/>
                  <a:gd name="connsiteX3" fmla="*/ 0 w 68279"/>
                  <a:gd name="connsiteY3" fmla="*/ 250824 h 250823"/>
                </a:gdLst>
                <a:ahLst/>
                <a:cxnLst>
                  <a:cxn ang="0">
                    <a:pos x="connsiteX0" y="connsiteY0"/>
                  </a:cxn>
                  <a:cxn ang="0">
                    <a:pos x="connsiteX1" y="connsiteY1"/>
                  </a:cxn>
                  <a:cxn ang="0">
                    <a:pos x="connsiteX2" y="connsiteY2"/>
                  </a:cxn>
                  <a:cxn ang="0">
                    <a:pos x="connsiteX3" y="connsiteY3"/>
                  </a:cxn>
                </a:cxnLst>
                <a:rect l="l" t="t" r="r" b="b"/>
                <a:pathLst>
                  <a:path w="68279" h="250823">
                    <a:moveTo>
                      <a:pt x="0" y="0"/>
                    </a:moveTo>
                    <a:lnTo>
                      <a:pt x="68279" y="0"/>
                    </a:lnTo>
                    <a:lnTo>
                      <a:pt x="68279" y="250824"/>
                    </a:lnTo>
                    <a:lnTo>
                      <a:pt x="0" y="250824"/>
                    </a:lnTo>
                    <a:close/>
                  </a:path>
                </a:pathLst>
              </a:custGeom>
              <a:grpFill/>
              <a:ln w="9496"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09C1404B-2827-1C47-8D44-930C1DC32C48}"/>
                  </a:ext>
                </a:extLst>
              </p:cNvPr>
              <p:cNvSpPr/>
              <p:nvPr/>
            </p:nvSpPr>
            <p:spPr>
              <a:xfrm>
                <a:off x="3505952" y="-406341"/>
                <a:ext cx="198569" cy="267051"/>
              </a:xfrm>
              <a:custGeom>
                <a:avLst/>
                <a:gdLst>
                  <a:gd name="connsiteX0" fmla="*/ 198570 w 198569"/>
                  <a:gd name="connsiteY0" fmla="*/ 77819 h 267051"/>
                  <a:gd name="connsiteX1" fmla="*/ 142541 w 198569"/>
                  <a:gd name="connsiteY1" fmla="*/ 64058 h 267051"/>
                  <a:gd name="connsiteX2" fmla="*/ 70653 w 198569"/>
                  <a:gd name="connsiteY2" fmla="*/ 132862 h 267051"/>
                  <a:gd name="connsiteX3" fmla="*/ 142826 w 198569"/>
                  <a:gd name="connsiteY3" fmla="*/ 201665 h 267051"/>
                  <a:gd name="connsiteX4" fmla="*/ 198570 w 198569"/>
                  <a:gd name="connsiteY4" fmla="*/ 188284 h 267051"/>
                  <a:gd name="connsiteX5" fmla="*/ 198570 w 198569"/>
                  <a:gd name="connsiteY5" fmla="*/ 257562 h 267051"/>
                  <a:gd name="connsiteX6" fmla="*/ 137983 w 198569"/>
                  <a:gd name="connsiteY6" fmla="*/ 267052 h 267051"/>
                  <a:gd name="connsiteX7" fmla="*/ 0 w 198569"/>
                  <a:gd name="connsiteY7" fmla="*/ 133526 h 267051"/>
                  <a:gd name="connsiteX8" fmla="*/ 138268 w 198569"/>
                  <a:gd name="connsiteY8" fmla="*/ 0 h 267051"/>
                  <a:gd name="connsiteX9" fmla="*/ 198570 w 198569"/>
                  <a:gd name="connsiteY9" fmla="*/ 9490 h 267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8569" h="267051">
                    <a:moveTo>
                      <a:pt x="198570" y="77819"/>
                    </a:moveTo>
                    <a:cubicBezTo>
                      <a:pt x="181462" y="68304"/>
                      <a:pt x="162113" y="63552"/>
                      <a:pt x="142541" y="64058"/>
                    </a:cubicBezTo>
                    <a:cubicBezTo>
                      <a:pt x="100472" y="64058"/>
                      <a:pt x="70653" y="93383"/>
                      <a:pt x="70653" y="132862"/>
                    </a:cubicBezTo>
                    <a:cubicBezTo>
                      <a:pt x="70653" y="172340"/>
                      <a:pt x="99142" y="201665"/>
                      <a:pt x="142826" y="201665"/>
                    </a:cubicBezTo>
                    <a:cubicBezTo>
                      <a:pt x="162269" y="202249"/>
                      <a:pt x="181514" y="197630"/>
                      <a:pt x="198570" y="188284"/>
                    </a:cubicBezTo>
                    <a:lnTo>
                      <a:pt x="198570" y="257562"/>
                    </a:lnTo>
                    <a:cubicBezTo>
                      <a:pt x="178846" y="263222"/>
                      <a:pt x="158494" y="266409"/>
                      <a:pt x="137983" y="267052"/>
                    </a:cubicBezTo>
                    <a:cubicBezTo>
                      <a:pt x="64860" y="267052"/>
                      <a:pt x="0" y="216564"/>
                      <a:pt x="0" y="133526"/>
                    </a:cubicBezTo>
                    <a:cubicBezTo>
                      <a:pt x="0" y="56466"/>
                      <a:pt x="59068" y="0"/>
                      <a:pt x="138268" y="0"/>
                    </a:cubicBezTo>
                    <a:cubicBezTo>
                      <a:pt x="158679" y="710"/>
                      <a:pt x="178928" y="3897"/>
                      <a:pt x="198570" y="9490"/>
                    </a:cubicBezTo>
                    <a:close/>
                  </a:path>
                </a:pathLst>
              </a:custGeom>
              <a:grpFill/>
              <a:ln w="9496"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74C9DA09-6B0C-9642-A776-1D5D58D05AF9}"/>
                  </a:ext>
                </a:extLst>
              </p:cNvPr>
              <p:cNvSpPr/>
              <p:nvPr/>
            </p:nvSpPr>
            <p:spPr>
              <a:xfrm>
                <a:off x="2826390" y="-407005"/>
                <a:ext cx="195055" cy="267716"/>
              </a:xfrm>
              <a:custGeom>
                <a:avLst/>
                <a:gdLst>
                  <a:gd name="connsiteX0" fmla="*/ 195056 w 195055"/>
                  <a:gd name="connsiteY0" fmla="*/ 78483 h 267716"/>
                  <a:gd name="connsiteX1" fmla="*/ 141401 w 195055"/>
                  <a:gd name="connsiteY1" fmla="*/ 64723 h 267716"/>
                  <a:gd name="connsiteX2" fmla="*/ 72552 w 195055"/>
                  <a:gd name="connsiteY2" fmla="*/ 133526 h 267716"/>
                  <a:gd name="connsiteX3" fmla="*/ 141401 w 195055"/>
                  <a:gd name="connsiteY3" fmla="*/ 202329 h 267716"/>
                  <a:gd name="connsiteX4" fmla="*/ 195056 w 195055"/>
                  <a:gd name="connsiteY4" fmla="*/ 188948 h 267716"/>
                  <a:gd name="connsiteX5" fmla="*/ 195056 w 195055"/>
                  <a:gd name="connsiteY5" fmla="*/ 258226 h 267716"/>
                  <a:gd name="connsiteX6" fmla="*/ 136748 w 195055"/>
                  <a:gd name="connsiteY6" fmla="*/ 267716 h 267716"/>
                  <a:gd name="connsiteX7" fmla="*/ 0 w 195055"/>
                  <a:gd name="connsiteY7" fmla="*/ 133526 h 267716"/>
                  <a:gd name="connsiteX8" fmla="*/ 136463 w 195055"/>
                  <a:gd name="connsiteY8" fmla="*/ 0 h 267716"/>
                  <a:gd name="connsiteX9" fmla="*/ 195056 w 195055"/>
                  <a:gd name="connsiteY9" fmla="*/ 9490 h 267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055" h="267716">
                    <a:moveTo>
                      <a:pt x="195056" y="78483"/>
                    </a:moveTo>
                    <a:cubicBezTo>
                      <a:pt x="178900" y="68759"/>
                      <a:pt x="160247" y="63976"/>
                      <a:pt x="141401" y="64723"/>
                    </a:cubicBezTo>
                    <a:cubicBezTo>
                      <a:pt x="103377" y="64723"/>
                      <a:pt x="72552" y="95526"/>
                      <a:pt x="72552" y="133526"/>
                    </a:cubicBezTo>
                    <a:cubicBezTo>
                      <a:pt x="72552" y="171525"/>
                      <a:pt x="103377" y="202329"/>
                      <a:pt x="141401" y="202329"/>
                    </a:cubicBezTo>
                    <a:cubicBezTo>
                      <a:pt x="160194" y="203039"/>
                      <a:pt x="178801" y="198399"/>
                      <a:pt x="195056" y="188948"/>
                    </a:cubicBezTo>
                    <a:lnTo>
                      <a:pt x="195056" y="258226"/>
                    </a:lnTo>
                    <a:cubicBezTo>
                      <a:pt x="176125" y="263948"/>
                      <a:pt x="156518" y="267140"/>
                      <a:pt x="136748" y="267716"/>
                    </a:cubicBezTo>
                    <a:cubicBezTo>
                      <a:pt x="63626" y="267052"/>
                      <a:pt x="0" y="216564"/>
                      <a:pt x="0" y="133526"/>
                    </a:cubicBezTo>
                    <a:cubicBezTo>
                      <a:pt x="0" y="56087"/>
                      <a:pt x="56978" y="0"/>
                      <a:pt x="136463" y="0"/>
                    </a:cubicBezTo>
                    <a:cubicBezTo>
                      <a:pt x="167042" y="0"/>
                      <a:pt x="195056" y="7402"/>
                      <a:pt x="195056" y="9490"/>
                    </a:cubicBezTo>
                    <a:close/>
                  </a:path>
                </a:pathLst>
              </a:custGeom>
              <a:grpFill/>
              <a:ln w="9496"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BC714548-FE94-A64E-8E2E-19CEE56BA2E2}"/>
                  </a:ext>
                </a:extLst>
              </p:cNvPr>
              <p:cNvSpPr/>
              <p:nvPr/>
            </p:nvSpPr>
            <p:spPr>
              <a:xfrm>
                <a:off x="3770165" y="-407058"/>
                <a:ext cx="272357" cy="272230"/>
              </a:xfrm>
              <a:custGeom>
                <a:avLst/>
                <a:gdLst>
                  <a:gd name="connsiteX0" fmla="*/ 272333 w 272357"/>
                  <a:gd name="connsiteY0" fmla="*/ 133579 h 272230"/>
                  <a:gd name="connsiteX1" fmla="*/ 138747 w 272357"/>
                  <a:gd name="connsiteY1" fmla="*/ 272206 h 272230"/>
                  <a:gd name="connsiteX2" fmla="*/ 25 w 272357"/>
                  <a:gd name="connsiteY2" fmla="*/ 138703 h 272230"/>
                  <a:gd name="connsiteX3" fmla="*/ 133619 w 272357"/>
                  <a:gd name="connsiteY3" fmla="*/ 77 h 272230"/>
                  <a:gd name="connsiteX4" fmla="*/ 136155 w 272357"/>
                  <a:gd name="connsiteY4" fmla="*/ 53 h 272230"/>
                  <a:gd name="connsiteX5" fmla="*/ 272285 w 272357"/>
                  <a:gd name="connsiteY5" fmla="*/ 128682 h 272230"/>
                  <a:gd name="connsiteX6" fmla="*/ 272333 w 272357"/>
                  <a:gd name="connsiteY6" fmla="*/ 133579 h 272230"/>
                  <a:gd name="connsiteX7" fmla="*/ 136155 w 272357"/>
                  <a:gd name="connsiteY7" fmla="*/ 65630 h 272230"/>
                  <a:gd name="connsiteX8" fmla="*/ 67591 w 272357"/>
                  <a:gd name="connsiteY8" fmla="*/ 132817 h 272230"/>
                  <a:gd name="connsiteX9" fmla="*/ 134825 w 272357"/>
                  <a:gd name="connsiteY9" fmla="*/ 201332 h 272230"/>
                  <a:gd name="connsiteX10" fmla="*/ 203389 w 272357"/>
                  <a:gd name="connsiteY10" fmla="*/ 134145 h 272230"/>
                  <a:gd name="connsiteX11" fmla="*/ 203389 w 272357"/>
                  <a:gd name="connsiteY11" fmla="*/ 133484 h 272230"/>
                  <a:gd name="connsiteX12" fmla="*/ 138358 w 272357"/>
                  <a:gd name="connsiteY12" fmla="*/ 65640 h 272230"/>
                  <a:gd name="connsiteX13" fmla="*/ 136155 w 272357"/>
                  <a:gd name="connsiteY13" fmla="*/ 65630 h 27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2357" h="272230">
                    <a:moveTo>
                      <a:pt x="272333" y="133579"/>
                    </a:moveTo>
                    <a:cubicBezTo>
                      <a:pt x="273748" y="208725"/>
                      <a:pt x="213940" y="270790"/>
                      <a:pt x="138747" y="272206"/>
                    </a:cubicBezTo>
                    <a:cubicBezTo>
                      <a:pt x="63545" y="273621"/>
                      <a:pt x="1441" y="213850"/>
                      <a:pt x="25" y="138703"/>
                    </a:cubicBezTo>
                    <a:cubicBezTo>
                      <a:pt x="-1391" y="63557"/>
                      <a:pt x="58417" y="1493"/>
                      <a:pt x="133619" y="77"/>
                    </a:cubicBezTo>
                    <a:cubicBezTo>
                      <a:pt x="134464" y="61"/>
                      <a:pt x="135309" y="53"/>
                      <a:pt x="136155" y="53"/>
                    </a:cubicBezTo>
                    <a:cubicBezTo>
                      <a:pt x="209286" y="-1994"/>
                      <a:pt x="270234" y="55595"/>
                      <a:pt x="272285" y="128682"/>
                    </a:cubicBezTo>
                    <a:cubicBezTo>
                      <a:pt x="272333" y="130313"/>
                      <a:pt x="272352" y="131946"/>
                      <a:pt x="272333" y="133579"/>
                    </a:cubicBezTo>
                    <a:moveTo>
                      <a:pt x="136155" y="65630"/>
                    </a:moveTo>
                    <a:cubicBezTo>
                      <a:pt x="98653" y="65262"/>
                      <a:pt x="67961" y="95343"/>
                      <a:pt x="67591" y="132817"/>
                    </a:cubicBezTo>
                    <a:cubicBezTo>
                      <a:pt x="67230" y="170289"/>
                      <a:pt x="97324" y="200965"/>
                      <a:pt x="134825" y="201332"/>
                    </a:cubicBezTo>
                    <a:cubicBezTo>
                      <a:pt x="172326" y="201699"/>
                      <a:pt x="203019" y="171618"/>
                      <a:pt x="203389" y="134145"/>
                    </a:cubicBezTo>
                    <a:cubicBezTo>
                      <a:pt x="203389" y="133924"/>
                      <a:pt x="203389" y="133704"/>
                      <a:pt x="203389" y="133484"/>
                    </a:cubicBezTo>
                    <a:cubicBezTo>
                      <a:pt x="204177" y="96804"/>
                      <a:pt x="175061" y="66429"/>
                      <a:pt x="138358" y="65640"/>
                    </a:cubicBezTo>
                    <a:cubicBezTo>
                      <a:pt x="137626" y="65625"/>
                      <a:pt x="136886" y="65621"/>
                      <a:pt x="136155" y="65630"/>
                    </a:cubicBezTo>
                  </a:path>
                </a:pathLst>
              </a:custGeom>
              <a:grpFill/>
              <a:ln w="9496"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4F60D8DD-08BA-2241-88B6-00DB3D66DDF5}"/>
                  </a:ext>
                </a:extLst>
              </p:cNvPr>
              <p:cNvSpPr/>
              <p:nvPr/>
            </p:nvSpPr>
            <p:spPr>
              <a:xfrm>
                <a:off x="3260565" y="-407669"/>
                <a:ext cx="181666" cy="267810"/>
              </a:xfrm>
              <a:custGeom>
                <a:avLst/>
                <a:gdLst>
                  <a:gd name="connsiteX0" fmla="*/ 159350 w 181666"/>
                  <a:gd name="connsiteY0" fmla="*/ 63868 h 267810"/>
                  <a:gd name="connsiteX1" fmla="*/ 110633 w 181666"/>
                  <a:gd name="connsiteY1" fmla="*/ 55992 h 267810"/>
                  <a:gd name="connsiteX2" fmla="*/ 71508 w 181666"/>
                  <a:gd name="connsiteY2" fmla="*/ 77155 h 267810"/>
                  <a:gd name="connsiteX3" fmla="*/ 101896 w 181666"/>
                  <a:gd name="connsiteY3" fmla="*/ 101639 h 267810"/>
                  <a:gd name="connsiteX4" fmla="*/ 120034 w 181666"/>
                  <a:gd name="connsiteY4" fmla="*/ 107428 h 267810"/>
                  <a:gd name="connsiteX5" fmla="*/ 181666 w 181666"/>
                  <a:gd name="connsiteY5" fmla="*/ 181166 h 267810"/>
                  <a:gd name="connsiteX6" fmla="*/ 72552 w 181666"/>
                  <a:gd name="connsiteY6" fmla="*/ 267811 h 267810"/>
                  <a:gd name="connsiteX7" fmla="*/ 0 w 181666"/>
                  <a:gd name="connsiteY7" fmla="*/ 260693 h 267810"/>
                  <a:gd name="connsiteX8" fmla="*/ 0 w 181666"/>
                  <a:gd name="connsiteY8" fmla="*/ 201380 h 267810"/>
                  <a:gd name="connsiteX9" fmla="*/ 63816 w 181666"/>
                  <a:gd name="connsiteY9" fmla="*/ 210870 h 267810"/>
                  <a:gd name="connsiteX10" fmla="*/ 112342 w 181666"/>
                  <a:gd name="connsiteY10" fmla="*/ 186765 h 267810"/>
                  <a:gd name="connsiteX11" fmla="*/ 83853 w 181666"/>
                  <a:gd name="connsiteY11" fmla="*/ 161047 h 267810"/>
                  <a:gd name="connsiteX12" fmla="*/ 70273 w 181666"/>
                  <a:gd name="connsiteY12" fmla="*/ 156587 h 267810"/>
                  <a:gd name="connsiteX13" fmla="*/ 3799 w 181666"/>
                  <a:gd name="connsiteY13" fmla="*/ 80666 h 267810"/>
                  <a:gd name="connsiteX14" fmla="*/ 97718 w 181666"/>
                  <a:gd name="connsiteY14" fmla="*/ 0 h 267810"/>
                  <a:gd name="connsiteX15" fmla="*/ 159350 w 181666"/>
                  <a:gd name="connsiteY15" fmla="*/ 9300 h 26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1666" h="267810">
                    <a:moveTo>
                      <a:pt x="159350" y="63868"/>
                    </a:moveTo>
                    <a:cubicBezTo>
                      <a:pt x="143531" y="59099"/>
                      <a:pt x="127149" y="56450"/>
                      <a:pt x="110633" y="55992"/>
                    </a:cubicBezTo>
                    <a:cubicBezTo>
                      <a:pt x="84613" y="55992"/>
                      <a:pt x="71508" y="64723"/>
                      <a:pt x="71508" y="77155"/>
                    </a:cubicBezTo>
                    <a:cubicBezTo>
                      <a:pt x="71508" y="92813"/>
                      <a:pt x="91165" y="98318"/>
                      <a:pt x="101896" y="101639"/>
                    </a:cubicBezTo>
                    <a:lnTo>
                      <a:pt x="120034" y="107428"/>
                    </a:lnTo>
                    <a:cubicBezTo>
                      <a:pt x="162293" y="120809"/>
                      <a:pt x="181666" y="149754"/>
                      <a:pt x="181666" y="181166"/>
                    </a:cubicBezTo>
                    <a:cubicBezTo>
                      <a:pt x="181666" y="245984"/>
                      <a:pt x="122314" y="267811"/>
                      <a:pt x="72552" y="267811"/>
                    </a:cubicBezTo>
                    <a:cubicBezTo>
                      <a:pt x="48241" y="266988"/>
                      <a:pt x="24007" y="264611"/>
                      <a:pt x="0" y="260693"/>
                    </a:cubicBezTo>
                    <a:lnTo>
                      <a:pt x="0" y="201380"/>
                    </a:lnTo>
                    <a:cubicBezTo>
                      <a:pt x="20921" y="206563"/>
                      <a:pt x="42290" y="209741"/>
                      <a:pt x="63816" y="210870"/>
                    </a:cubicBezTo>
                    <a:cubicBezTo>
                      <a:pt x="96198" y="210870"/>
                      <a:pt x="112342" y="201380"/>
                      <a:pt x="112342" y="186765"/>
                    </a:cubicBezTo>
                    <a:cubicBezTo>
                      <a:pt x="112342" y="173669"/>
                      <a:pt x="100092" y="166172"/>
                      <a:pt x="83853" y="161047"/>
                    </a:cubicBezTo>
                    <a:lnTo>
                      <a:pt x="70273" y="156587"/>
                    </a:lnTo>
                    <a:cubicBezTo>
                      <a:pt x="34092" y="145104"/>
                      <a:pt x="3799" y="123846"/>
                      <a:pt x="3799" y="80666"/>
                    </a:cubicBezTo>
                    <a:cubicBezTo>
                      <a:pt x="3799" y="32361"/>
                      <a:pt x="37796" y="0"/>
                      <a:pt x="97718" y="0"/>
                    </a:cubicBezTo>
                    <a:cubicBezTo>
                      <a:pt x="118590" y="278"/>
                      <a:pt x="139326" y="3407"/>
                      <a:pt x="159350" y="9300"/>
                    </a:cubicBezTo>
                    <a:close/>
                  </a:path>
                </a:pathLst>
              </a:custGeom>
              <a:grpFill/>
              <a:ln w="9496" cap="flat">
                <a:noFill/>
                <a:prstDash val="solid"/>
                <a:miter/>
              </a:ln>
            </p:spPr>
            <p:txBody>
              <a:bodyPr rtlCol="0" anchor="ctr"/>
              <a:lstStyle/>
              <a:p>
                <a:endParaRPr lang="en-US" sz="2400"/>
              </a:p>
            </p:txBody>
          </p:sp>
        </p:grpSp>
        <p:grpSp>
          <p:nvGrpSpPr>
            <p:cNvPr id="15" name="Group 14">
              <a:extLst>
                <a:ext uri="{FF2B5EF4-FFF2-40B4-BE49-F238E27FC236}">
                  <a16:creationId xmlns:a16="http://schemas.microsoft.com/office/drawing/2014/main" id="{6CEE7B14-3CE0-D745-9217-2F8BAF5E6D30}"/>
                </a:ext>
              </a:extLst>
            </p:cNvPr>
            <p:cNvGrpSpPr/>
            <p:nvPr/>
          </p:nvGrpSpPr>
          <p:grpSpPr>
            <a:xfrm>
              <a:off x="968312" y="4785947"/>
              <a:ext cx="573946" cy="274194"/>
              <a:chOff x="4186345" y="-863385"/>
              <a:chExt cx="1807247" cy="863385"/>
            </a:xfrm>
            <a:grpFill/>
          </p:grpSpPr>
          <p:sp>
            <p:nvSpPr>
              <p:cNvPr id="17" name="Freeform 16">
                <a:extLst>
                  <a:ext uri="{FF2B5EF4-FFF2-40B4-BE49-F238E27FC236}">
                    <a16:creationId xmlns:a16="http://schemas.microsoft.com/office/drawing/2014/main" id="{3DEC05E4-6D6F-944B-8BE0-72086836BB38}"/>
                  </a:ext>
                </a:extLst>
              </p:cNvPr>
              <p:cNvSpPr/>
              <p:nvPr/>
            </p:nvSpPr>
            <p:spPr>
              <a:xfrm>
                <a:off x="4186345" y="-863385"/>
                <a:ext cx="1196080" cy="863385"/>
              </a:xfrm>
              <a:custGeom>
                <a:avLst/>
                <a:gdLst>
                  <a:gd name="connsiteX0" fmla="*/ 748245 w 1196080"/>
                  <a:gd name="connsiteY0" fmla="*/ 709196 h 863385"/>
                  <a:gd name="connsiteX1" fmla="*/ 745016 w 1196080"/>
                  <a:gd name="connsiteY1" fmla="*/ 709196 h 863385"/>
                  <a:gd name="connsiteX2" fmla="*/ 735520 w 1196080"/>
                  <a:gd name="connsiteY2" fmla="*/ 716883 h 863385"/>
                  <a:gd name="connsiteX3" fmla="*/ 698389 w 1196080"/>
                  <a:gd name="connsiteY3" fmla="*/ 747156 h 863385"/>
                  <a:gd name="connsiteX4" fmla="*/ 669900 w 1196080"/>
                  <a:gd name="connsiteY4" fmla="*/ 765567 h 863385"/>
                  <a:gd name="connsiteX5" fmla="*/ 620708 w 1196080"/>
                  <a:gd name="connsiteY5" fmla="*/ 781321 h 863385"/>
                  <a:gd name="connsiteX6" fmla="*/ 538754 w 1196080"/>
                  <a:gd name="connsiteY6" fmla="*/ 735673 h 863385"/>
                  <a:gd name="connsiteX7" fmla="*/ 530872 w 1196080"/>
                  <a:gd name="connsiteY7" fmla="*/ 690975 h 863385"/>
                  <a:gd name="connsiteX8" fmla="*/ 544642 w 1196080"/>
                  <a:gd name="connsiteY8" fmla="*/ 639823 h 863385"/>
                  <a:gd name="connsiteX9" fmla="*/ 550910 w 1196080"/>
                  <a:gd name="connsiteY9" fmla="*/ 623880 h 863385"/>
                  <a:gd name="connsiteX10" fmla="*/ 549865 w 1196080"/>
                  <a:gd name="connsiteY10" fmla="*/ 620938 h 863385"/>
                  <a:gd name="connsiteX11" fmla="*/ 548251 w 1196080"/>
                  <a:gd name="connsiteY11" fmla="*/ 620938 h 863385"/>
                  <a:gd name="connsiteX12" fmla="*/ 534006 w 1196080"/>
                  <a:gd name="connsiteY12" fmla="*/ 630428 h 863385"/>
                  <a:gd name="connsiteX13" fmla="*/ 516628 w 1196080"/>
                  <a:gd name="connsiteY13" fmla="*/ 643904 h 863385"/>
                  <a:gd name="connsiteX14" fmla="*/ 498680 w 1196080"/>
                  <a:gd name="connsiteY14" fmla="*/ 656905 h 863385"/>
                  <a:gd name="connsiteX15" fmla="*/ 412167 w 1196080"/>
                  <a:gd name="connsiteY15" fmla="*/ 712423 h 863385"/>
                  <a:gd name="connsiteX16" fmla="*/ 407704 w 1196080"/>
                  <a:gd name="connsiteY16" fmla="*/ 715080 h 863385"/>
                  <a:gd name="connsiteX17" fmla="*/ 332967 w 1196080"/>
                  <a:gd name="connsiteY17" fmla="*/ 760158 h 863385"/>
                  <a:gd name="connsiteX18" fmla="*/ 281592 w 1196080"/>
                  <a:gd name="connsiteY18" fmla="*/ 794227 h 863385"/>
                  <a:gd name="connsiteX19" fmla="*/ 261080 w 1196080"/>
                  <a:gd name="connsiteY19" fmla="*/ 806659 h 863385"/>
                  <a:gd name="connsiteX20" fmla="*/ 211224 w 1196080"/>
                  <a:gd name="connsiteY20" fmla="*/ 833042 h 863385"/>
                  <a:gd name="connsiteX21" fmla="*/ 206855 w 1196080"/>
                  <a:gd name="connsiteY21" fmla="*/ 835794 h 863385"/>
                  <a:gd name="connsiteX22" fmla="*/ 145888 w 1196080"/>
                  <a:gd name="connsiteY22" fmla="*/ 858096 h 863385"/>
                  <a:gd name="connsiteX23" fmla="*/ 119109 w 1196080"/>
                  <a:gd name="connsiteY23" fmla="*/ 863315 h 863385"/>
                  <a:gd name="connsiteX24" fmla="*/ 98596 w 1196080"/>
                  <a:gd name="connsiteY24" fmla="*/ 862082 h 863385"/>
                  <a:gd name="connsiteX25" fmla="*/ 70962 w 1196080"/>
                  <a:gd name="connsiteY25" fmla="*/ 853541 h 863385"/>
                  <a:gd name="connsiteX26" fmla="*/ 12844 w 1196080"/>
                  <a:gd name="connsiteY26" fmla="*/ 799162 h 863385"/>
                  <a:gd name="connsiteX27" fmla="*/ 2778 w 1196080"/>
                  <a:gd name="connsiteY27" fmla="*/ 773824 h 863385"/>
                  <a:gd name="connsiteX28" fmla="*/ 2778 w 1196080"/>
                  <a:gd name="connsiteY28" fmla="*/ 724665 h 863385"/>
                  <a:gd name="connsiteX29" fmla="*/ 15313 w 1196080"/>
                  <a:gd name="connsiteY29" fmla="*/ 685566 h 863385"/>
                  <a:gd name="connsiteX30" fmla="*/ 51494 w 1196080"/>
                  <a:gd name="connsiteY30" fmla="*/ 606038 h 863385"/>
                  <a:gd name="connsiteX31" fmla="*/ 53773 w 1196080"/>
                  <a:gd name="connsiteY31" fmla="*/ 601388 h 863385"/>
                  <a:gd name="connsiteX32" fmla="*/ 83497 w 1196080"/>
                  <a:gd name="connsiteY32" fmla="*/ 543499 h 863385"/>
                  <a:gd name="connsiteX33" fmla="*/ 119014 w 1196080"/>
                  <a:gd name="connsiteY33" fmla="*/ 480959 h 863385"/>
                  <a:gd name="connsiteX34" fmla="*/ 174852 w 1196080"/>
                  <a:gd name="connsiteY34" fmla="*/ 386058 h 863385"/>
                  <a:gd name="connsiteX35" fmla="*/ 188147 w 1196080"/>
                  <a:gd name="connsiteY35" fmla="*/ 362048 h 863385"/>
                  <a:gd name="connsiteX36" fmla="*/ 194985 w 1196080"/>
                  <a:gd name="connsiteY36" fmla="*/ 350185 h 863385"/>
                  <a:gd name="connsiteX37" fmla="*/ 214737 w 1196080"/>
                  <a:gd name="connsiteY37" fmla="*/ 318109 h 863385"/>
                  <a:gd name="connsiteX38" fmla="*/ 243227 w 1196080"/>
                  <a:gd name="connsiteY38" fmla="*/ 270658 h 863385"/>
                  <a:gd name="connsiteX39" fmla="*/ 265448 w 1196080"/>
                  <a:gd name="connsiteY39" fmla="*/ 232033 h 863385"/>
                  <a:gd name="connsiteX40" fmla="*/ 278268 w 1196080"/>
                  <a:gd name="connsiteY40" fmla="*/ 211819 h 863385"/>
                  <a:gd name="connsiteX41" fmla="*/ 349396 w 1196080"/>
                  <a:gd name="connsiteY41" fmla="*/ 75921 h 863385"/>
                  <a:gd name="connsiteX42" fmla="*/ 367724 w 1196080"/>
                  <a:gd name="connsiteY42" fmla="*/ 13476 h 863385"/>
                  <a:gd name="connsiteX43" fmla="*/ 369054 w 1196080"/>
                  <a:gd name="connsiteY43" fmla="*/ 6738 h 863385"/>
                  <a:gd name="connsiteX44" fmla="*/ 377885 w 1196080"/>
                  <a:gd name="connsiteY44" fmla="*/ 0 h 863385"/>
                  <a:gd name="connsiteX45" fmla="*/ 420049 w 1196080"/>
                  <a:gd name="connsiteY45" fmla="*/ 19834 h 863385"/>
                  <a:gd name="connsiteX46" fmla="*/ 428311 w 1196080"/>
                  <a:gd name="connsiteY46" fmla="*/ 41946 h 863385"/>
                  <a:gd name="connsiteX47" fmla="*/ 428311 w 1196080"/>
                  <a:gd name="connsiteY47" fmla="*/ 52196 h 863385"/>
                  <a:gd name="connsiteX48" fmla="*/ 429546 w 1196080"/>
                  <a:gd name="connsiteY48" fmla="*/ 57036 h 863385"/>
                  <a:gd name="connsiteX49" fmla="*/ 432015 w 1196080"/>
                  <a:gd name="connsiteY49" fmla="*/ 74972 h 863385"/>
                  <a:gd name="connsiteX50" fmla="*/ 422993 w 1196080"/>
                  <a:gd name="connsiteY50" fmla="*/ 97084 h 863385"/>
                  <a:gd name="connsiteX51" fmla="*/ 419480 w 1196080"/>
                  <a:gd name="connsiteY51" fmla="*/ 106574 h 863385"/>
                  <a:gd name="connsiteX52" fmla="*/ 414921 w 1196080"/>
                  <a:gd name="connsiteY52" fmla="*/ 115115 h 863385"/>
                  <a:gd name="connsiteX53" fmla="*/ 409508 w 1196080"/>
                  <a:gd name="connsiteY53" fmla="*/ 123561 h 863385"/>
                  <a:gd name="connsiteX54" fmla="*/ 394504 w 1196080"/>
                  <a:gd name="connsiteY54" fmla="*/ 161522 h 863385"/>
                  <a:gd name="connsiteX55" fmla="*/ 355759 w 1196080"/>
                  <a:gd name="connsiteY55" fmla="*/ 234026 h 863385"/>
                  <a:gd name="connsiteX56" fmla="*/ 347782 w 1196080"/>
                  <a:gd name="connsiteY56" fmla="*/ 249210 h 863385"/>
                  <a:gd name="connsiteX57" fmla="*/ 338285 w 1196080"/>
                  <a:gd name="connsiteY57" fmla="*/ 263256 h 863385"/>
                  <a:gd name="connsiteX58" fmla="*/ 325845 w 1196080"/>
                  <a:gd name="connsiteY58" fmla="*/ 285747 h 863385"/>
                  <a:gd name="connsiteX59" fmla="*/ 273805 w 1196080"/>
                  <a:gd name="connsiteY59" fmla="*/ 372392 h 863385"/>
                  <a:gd name="connsiteX60" fmla="*/ 241327 w 1196080"/>
                  <a:gd name="connsiteY60" fmla="*/ 426865 h 863385"/>
                  <a:gd name="connsiteX61" fmla="*/ 212838 w 1196080"/>
                  <a:gd name="connsiteY61" fmla="*/ 475834 h 863385"/>
                  <a:gd name="connsiteX62" fmla="*/ 203816 w 1196080"/>
                  <a:gd name="connsiteY62" fmla="*/ 490354 h 863385"/>
                  <a:gd name="connsiteX63" fmla="*/ 171624 w 1196080"/>
                  <a:gd name="connsiteY63" fmla="*/ 546725 h 863385"/>
                  <a:gd name="connsiteX64" fmla="*/ 169914 w 1196080"/>
                  <a:gd name="connsiteY64" fmla="*/ 549762 h 863385"/>
                  <a:gd name="connsiteX65" fmla="*/ 145603 w 1196080"/>
                  <a:gd name="connsiteY65" fmla="*/ 593037 h 863385"/>
                  <a:gd name="connsiteX66" fmla="*/ 101730 w 1196080"/>
                  <a:gd name="connsiteY66" fmla="*/ 676455 h 863385"/>
                  <a:gd name="connsiteX67" fmla="*/ 96412 w 1196080"/>
                  <a:gd name="connsiteY67" fmla="*/ 687179 h 863385"/>
                  <a:gd name="connsiteX68" fmla="*/ 63650 w 1196080"/>
                  <a:gd name="connsiteY68" fmla="*/ 777145 h 863385"/>
                  <a:gd name="connsiteX69" fmla="*/ 63650 w 1196080"/>
                  <a:gd name="connsiteY69" fmla="*/ 783883 h 863385"/>
                  <a:gd name="connsiteX70" fmla="*/ 73621 w 1196080"/>
                  <a:gd name="connsiteY70" fmla="*/ 791855 h 863385"/>
                  <a:gd name="connsiteX71" fmla="*/ 99071 w 1196080"/>
                  <a:gd name="connsiteY71" fmla="*/ 789482 h 863385"/>
                  <a:gd name="connsiteX72" fmla="*/ 144749 w 1196080"/>
                  <a:gd name="connsiteY72" fmla="*/ 775057 h 863385"/>
                  <a:gd name="connsiteX73" fmla="*/ 206950 w 1196080"/>
                  <a:gd name="connsiteY73" fmla="*/ 746207 h 863385"/>
                  <a:gd name="connsiteX74" fmla="*/ 277983 w 1196080"/>
                  <a:gd name="connsiteY74" fmla="*/ 704830 h 863385"/>
                  <a:gd name="connsiteX75" fmla="*/ 311790 w 1196080"/>
                  <a:gd name="connsiteY75" fmla="*/ 684617 h 863385"/>
                  <a:gd name="connsiteX76" fmla="*/ 340944 w 1196080"/>
                  <a:gd name="connsiteY76" fmla="*/ 666680 h 863385"/>
                  <a:gd name="connsiteX77" fmla="*/ 366490 w 1196080"/>
                  <a:gd name="connsiteY77" fmla="*/ 652825 h 863385"/>
                  <a:gd name="connsiteX78" fmla="*/ 381589 w 1196080"/>
                  <a:gd name="connsiteY78" fmla="*/ 644853 h 863385"/>
                  <a:gd name="connsiteX79" fmla="*/ 403336 w 1196080"/>
                  <a:gd name="connsiteY79" fmla="*/ 631187 h 863385"/>
                  <a:gd name="connsiteX80" fmla="*/ 458700 w 1196080"/>
                  <a:gd name="connsiteY80" fmla="*/ 597877 h 863385"/>
                  <a:gd name="connsiteX81" fmla="*/ 470380 w 1196080"/>
                  <a:gd name="connsiteY81" fmla="*/ 590759 h 863385"/>
                  <a:gd name="connsiteX82" fmla="*/ 579494 w 1196080"/>
                  <a:gd name="connsiteY82" fmla="*/ 529928 h 863385"/>
                  <a:gd name="connsiteX83" fmla="*/ 637612 w 1196080"/>
                  <a:gd name="connsiteY83" fmla="*/ 475834 h 863385"/>
                  <a:gd name="connsiteX84" fmla="*/ 650717 w 1196080"/>
                  <a:gd name="connsiteY84" fmla="*/ 469381 h 863385"/>
                  <a:gd name="connsiteX85" fmla="*/ 679206 w 1196080"/>
                  <a:gd name="connsiteY85" fmla="*/ 479535 h 863385"/>
                  <a:gd name="connsiteX86" fmla="*/ 699528 w 1196080"/>
                  <a:gd name="connsiteY86" fmla="*/ 508765 h 863385"/>
                  <a:gd name="connsiteX87" fmla="*/ 699054 w 1196080"/>
                  <a:gd name="connsiteY87" fmla="*/ 518255 h 863385"/>
                  <a:gd name="connsiteX88" fmla="*/ 695540 w 1196080"/>
                  <a:gd name="connsiteY88" fmla="*/ 524139 h 863385"/>
                  <a:gd name="connsiteX89" fmla="*/ 671039 w 1196080"/>
                  <a:gd name="connsiteY89" fmla="*/ 564851 h 863385"/>
                  <a:gd name="connsiteX90" fmla="*/ 666196 w 1196080"/>
                  <a:gd name="connsiteY90" fmla="*/ 573867 h 863385"/>
                  <a:gd name="connsiteX91" fmla="*/ 658029 w 1196080"/>
                  <a:gd name="connsiteY91" fmla="*/ 586868 h 863385"/>
                  <a:gd name="connsiteX92" fmla="*/ 643500 w 1196080"/>
                  <a:gd name="connsiteY92" fmla="*/ 608031 h 863385"/>
                  <a:gd name="connsiteX93" fmla="*/ 602380 w 1196080"/>
                  <a:gd name="connsiteY93" fmla="*/ 692778 h 863385"/>
                  <a:gd name="connsiteX94" fmla="*/ 594593 w 1196080"/>
                  <a:gd name="connsiteY94" fmla="*/ 717168 h 863385"/>
                  <a:gd name="connsiteX95" fmla="*/ 594593 w 1196080"/>
                  <a:gd name="connsiteY95" fmla="*/ 727322 h 863385"/>
                  <a:gd name="connsiteX96" fmla="*/ 596967 w 1196080"/>
                  <a:gd name="connsiteY96" fmla="*/ 729220 h 863385"/>
                  <a:gd name="connsiteX97" fmla="*/ 704182 w 1196080"/>
                  <a:gd name="connsiteY97" fmla="*/ 653299 h 863385"/>
                  <a:gd name="connsiteX98" fmla="*/ 804938 w 1196080"/>
                  <a:gd name="connsiteY98" fmla="*/ 536476 h 863385"/>
                  <a:gd name="connsiteX99" fmla="*/ 833428 w 1196080"/>
                  <a:gd name="connsiteY99" fmla="*/ 456949 h 863385"/>
                  <a:gd name="connsiteX100" fmla="*/ 853655 w 1196080"/>
                  <a:gd name="connsiteY100" fmla="*/ 409498 h 863385"/>
                  <a:gd name="connsiteX101" fmla="*/ 874927 w 1196080"/>
                  <a:gd name="connsiteY101" fmla="*/ 359011 h 863385"/>
                  <a:gd name="connsiteX102" fmla="*/ 884993 w 1196080"/>
                  <a:gd name="connsiteY102" fmla="*/ 351514 h 863385"/>
                  <a:gd name="connsiteX103" fmla="*/ 930196 w 1196080"/>
                  <a:gd name="connsiteY103" fmla="*/ 373246 h 863385"/>
                  <a:gd name="connsiteX104" fmla="*/ 933140 w 1196080"/>
                  <a:gd name="connsiteY104" fmla="*/ 377517 h 863385"/>
                  <a:gd name="connsiteX105" fmla="*/ 933140 w 1196080"/>
                  <a:gd name="connsiteY105" fmla="*/ 390233 h 863385"/>
                  <a:gd name="connsiteX106" fmla="*/ 912343 w 1196080"/>
                  <a:gd name="connsiteY106" fmla="*/ 435311 h 863385"/>
                  <a:gd name="connsiteX107" fmla="*/ 900282 w 1196080"/>
                  <a:gd name="connsiteY107" fmla="*/ 465585 h 863385"/>
                  <a:gd name="connsiteX108" fmla="*/ 849002 w 1196080"/>
                  <a:gd name="connsiteY108" fmla="*/ 605374 h 863385"/>
                  <a:gd name="connsiteX109" fmla="*/ 844443 w 1196080"/>
                  <a:gd name="connsiteY109" fmla="*/ 621887 h 863385"/>
                  <a:gd name="connsiteX110" fmla="*/ 844443 w 1196080"/>
                  <a:gd name="connsiteY110" fmla="*/ 626822 h 863385"/>
                  <a:gd name="connsiteX111" fmla="*/ 848527 w 1196080"/>
                  <a:gd name="connsiteY111" fmla="*/ 628815 h 863385"/>
                  <a:gd name="connsiteX112" fmla="*/ 852515 w 1196080"/>
                  <a:gd name="connsiteY112" fmla="*/ 625778 h 863385"/>
                  <a:gd name="connsiteX113" fmla="*/ 871508 w 1196080"/>
                  <a:gd name="connsiteY113" fmla="*/ 599395 h 863385"/>
                  <a:gd name="connsiteX114" fmla="*/ 928486 w 1196080"/>
                  <a:gd name="connsiteY114" fmla="*/ 522525 h 863385"/>
                  <a:gd name="connsiteX115" fmla="*/ 1042918 w 1196080"/>
                  <a:gd name="connsiteY115" fmla="*/ 397256 h 863385"/>
                  <a:gd name="connsiteX116" fmla="*/ 1080904 w 1196080"/>
                  <a:gd name="connsiteY116" fmla="*/ 362332 h 863385"/>
                  <a:gd name="connsiteX117" fmla="*/ 1109393 w 1196080"/>
                  <a:gd name="connsiteY117" fmla="*/ 340410 h 863385"/>
                  <a:gd name="connsiteX118" fmla="*/ 1132944 w 1196080"/>
                  <a:gd name="connsiteY118" fmla="*/ 330920 h 863385"/>
                  <a:gd name="connsiteX119" fmla="*/ 1139497 w 1196080"/>
                  <a:gd name="connsiteY119" fmla="*/ 329307 h 863385"/>
                  <a:gd name="connsiteX120" fmla="*/ 1169885 w 1196080"/>
                  <a:gd name="connsiteY120" fmla="*/ 330351 h 863385"/>
                  <a:gd name="connsiteX121" fmla="*/ 1174443 w 1196080"/>
                  <a:gd name="connsiteY121" fmla="*/ 332628 h 863385"/>
                  <a:gd name="connsiteX122" fmla="*/ 1186124 w 1196080"/>
                  <a:gd name="connsiteY122" fmla="*/ 339461 h 863385"/>
                  <a:gd name="connsiteX123" fmla="*/ 1195620 w 1196080"/>
                  <a:gd name="connsiteY123" fmla="*/ 350849 h 863385"/>
                  <a:gd name="connsiteX124" fmla="*/ 1194480 w 1196080"/>
                  <a:gd name="connsiteY124" fmla="*/ 357208 h 863385"/>
                  <a:gd name="connsiteX125" fmla="*/ 1187833 w 1196080"/>
                  <a:gd name="connsiteY125" fmla="*/ 362522 h 863385"/>
                  <a:gd name="connsiteX126" fmla="*/ 1169885 w 1196080"/>
                  <a:gd name="connsiteY126" fmla="*/ 372582 h 863385"/>
                  <a:gd name="connsiteX127" fmla="*/ 1137122 w 1196080"/>
                  <a:gd name="connsiteY127" fmla="*/ 394314 h 863385"/>
                  <a:gd name="connsiteX128" fmla="*/ 1100181 w 1196080"/>
                  <a:gd name="connsiteY128" fmla="*/ 427529 h 863385"/>
                  <a:gd name="connsiteX129" fmla="*/ 1046906 w 1196080"/>
                  <a:gd name="connsiteY129" fmla="*/ 483331 h 863385"/>
                  <a:gd name="connsiteX130" fmla="*/ 992682 w 1196080"/>
                  <a:gd name="connsiteY130" fmla="*/ 545207 h 863385"/>
                  <a:gd name="connsiteX131" fmla="*/ 985560 w 1196080"/>
                  <a:gd name="connsiteY131" fmla="*/ 554697 h 863385"/>
                  <a:gd name="connsiteX132" fmla="*/ 957735 w 1196080"/>
                  <a:gd name="connsiteY132" fmla="*/ 591613 h 863385"/>
                  <a:gd name="connsiteX133" fmla="*/ 938743 w 1196080"/>
                  <a:gd name="connsiteY133" fmla="*/ 615718 h 863385"/>
                  <a:gd name="connsiteX134" fmla="*/ 936178 w 1196080"/>
                  <a:gd name="connsiteY134" fmla="*/ 620084 h 863385"/>
                  <a:gd name="connsiteX135" fmla="*/ 928866 w 1196080"/>
                  <a:gd name="connsiteY135" fmla="*/ 631567 h 863385"/>
                  <a:gd name="connsiteX136" fmla="*/ 879485 w 1196080"/>
                  <a:gd name="connsiteY136" fmla="*/ 699421 h 863385"/>
                  <a:gd name="connsiteX137" fmla="*/ 815194 w 1196080"/>
                  <a:gd name="connsiteY137" fmla="*/ 820325 h 863385"/>
                  <a:gd name="connsiteX138" fmla="*/ 800190 w 1196080"/>
                  <a:gd name="connsiteY138" fmla="*/ 847182 h 863385"/>
                  <a:gd name="connsiteX139" fmla="*/ 791169 w 1196080"/>
                  <a:gd name="connsiteY139" fmla="*/ 857526 h 863385"/>
                  <a:gd name="connsiteX140" fmla="*/ 773790 w 1196080"/>
                  <a:gd name="connsiteY140" fmla="*/ 862082 h 863385"/>
                  <a:gd name="connsiteX141" fmla="*/ 756222 w 1196080"/>
                  <a:gd name="connsiteY141" fmla="*/ 851927 h 863385"/>
                  <a:gd name="connsiteX142" fmla="*/ 734095 w 1196080"/>
                  <a:gd name="connsiteY142" fmla="*/ 830574 h 863385"/>
                  <a:gd name="connsiteX143" fmla="*/ 731056 w 1196080"/>
                  <a:gd name="connsiteY143" fmla="*/ 824691 h 863385"/>
                  <a:gd name="connsiteX144" fmla="*/ 731056 w 1196080"/>
                  <a:gd name="connsiteY144" fmla="*/ 800870 h 863385"/>
                  <a:gd name="connsiteX145" fmla="*/ 746061 w 1196080"/>
                  <a:gd name="connsiteY145" fmla="*/ 721723 h 863385"/>
                  <a:gd name="connsiteX146" fmla="*/ 747010 w 1196080"/>
                  <a:gd name="connsiteY146" fmla="*/ 708247 h 863385"/>
                  <a:gd name="connsiteX147" fmla="*/ 748245 w 1196080"/>
                  <a:gd name="connsiteY147" fmla="*/ 708247 h 863385"/>
                  <a:gd name="connsiteX148" fmla="*/ 748245 w 1196080"/>
                  <a:gd name="connsiteY148" fmla="*/ 707298 h 863385"/>
                  <a:gd name="connsiteX149" fmla="*/ 747390 w 1196080"/>
                  <a:gd name="connsiteY149" fmla="*/ 708816 h 86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196080" h="863385">
                    <a:moveTo>
                      <a:pt x="748245" y="709196"/>
                    </a:moveTo>
                    <a:cubicBezTo>
                      <a:pt x="747200" y="709196"/>
                      <a:pt x="745776" y="709196"/>
                      <a:pt x="745016" y="709196"/>
                    </a:cubicBezTo>
                    <a:cubicBezTo>
                      <a:pt x="741882" y="711569"/>
                      <a:pt x="738843" y="714226"/>
                      <a:pt x="735520" y="716883"/>
                    </a:cubicBezTo>
                    <a:cubicBezTo>
                      <a:pt x="723554" y="727512"/>
                      <a:pt x="711304" y="737761"/>
                      <a:pt x="698389" y="747156"/>
                    </a:cubicBezTo>
                    <a:cubicBezTo>
                      <a:pt x="689329" y="753937"/>
                      <a:pt x="679804" y="760089"/>
                      <a:pt x="669900" y="765567"/>
                    </a:cubicBezTo>
                    <a:cubicBezTo>
                      <a:pt x="655190" y="775074"/>
                      <a:pt x="638210" y="780510"/>
                      <a:pt x="620708" y="781321"/>
                    </a:cubicBezTo>
                    <a:cubicBezTo>
                      <a:pt x="586730" y="783789"/>
                      <a:pt x="554528" y="765853"/>
                      <a:pt x="538754" y="735673"/>
                    </a:cubicBezTo>
                    <a:cubicBezTo>
                      <a:pt x="531091" y="722112"/>
                      <a:pt x="528308" y="706337"/>
                      <a:pt x="530872" y="690975"/>
                    </a:cubicBezTo>
                    <a:cubicBezTo>
                      <a:pt x="533398" y="673435"/>
                      <a:pt x="538023" y="656262"/>
                      <a:pt x="544642" y="639823"/>
                    </a:cubicBezTo>
                    <a:cubicBezTo>
                      <a:pt x="546731" y="634509"/>
                      <a:pt x="548915" y="629194"/>
                      <a:pt x="550910" y="623880"/>
                    </a:cubicBezTo>
                    <a:cubicBezTo>
                      <a:pt x="550910" y="623121"/>
                      <a:pt x="550340" y="621887"/>
                      <a:pt x="549865" y="620938"/>
                    </a:cubicBezTo>
                    <a:cubicBezTo>
                      <a:pt x="549390" y="619989"/>
                      <a:pt x="548726" y="620938"/>
                      <a:pt x="548251" y="620938"/>
                    </a:cubicBezTo>
                    <a:cubicBezTo>
                      <a:pt x="543104" y="623454"/>
                      <a:pt x="538308" y="626645"/>
                      <a:pt x="534006" y="630428"/>
                    </a:cubicBezTo>
                    <a:cubicBezTo>
                      <a:pt x="528555" y="635348"/>
                      <a:pt x="522753" y="639853"/>
                      <a:pt x="516628" y="643904"/>
                    </a:cubicBezTo>
                    <a:cubicBezTo>
                      <a:pt x="510873" y="648543"/>
                      <a:pt x="504881" y="652883"/>
                      <a:pt x="498680" y="656905"/>
                    </a:cubicBezTo>
                    <a:cubicBezTo>
                      <a:pt x="470190" y="675886"/>
                      <a:pt x="441701" y="694866"/>
                      <a:pt x="412167" y="712423"/>
                    </a:cubicBezTo>
                    <a:cubicBezTo>
                      <a:pt x="410648" y="713277"/>
                      <a:pt x="409128" y="714131"/>
                      <a:pt x="407704" y="715080"/>
                    </a:cubicBezTo>
                    <a:cubicBezTo>
                      <a:pt x="383583" y="731403"/>
                      <a:pt x="358133" y="745543"/>
                      <a:pt x="332967" y="760158"/>
                    </a:cubicBezTo>
                    <a:cubicBezTo>
                      <a:pt x="315143" y="770418"/>
                      <a:pt x="297983" y="781796"/>
                      <a:pt x="281592" y="794227"/>
                    </a:cubicBezTo>
                    <a:cubicBezTo>
                      <a:pt x="275305" y="799214"/>
                      <a:pt x="268411" y="803391"/>
                      <a:pt x="261080" y="806659"/>
                    </a:cubicBezTo>
                    <a:cubicBezTo>
                      <a:pt x="243796" y="814251"/>
                      <a:pt x="227842" y="824216"/>
                      <a:pt x="211224" y="833042"/>
                    </a:cubicBezTo>
                    <a:cubicBezTo>
                      <a:pt x="209828" y="834048"/>
                      <a:pt x="208365" y="834967"/>
                      <a:pt x="206855" y="835794"/>
                    </a:cubicBezTo>
                    <a:cubicBezTo>
                      <a:pt x="187084" y="844643"/>
                      <a:pt x="166704" y="852095"/>
                      <a:pt x="145888" y="858096"/>
                    </a:cubicBezTo>
                    <a:cubicBezTo>
                      <a:pt x="137104" y="860491"/>
                      <a:pt x="128149" y="862235"/>
                      <a:pt x="119109" y="863315"/>
                    </a:cubicBezTo>
                    <a:cubicBezTo>
                      <a:pt x="112243" y="863564"/>
                      <a:pt x="105377" y="863151"/>
                      <a:pt x="98596" y="862082"/>
                    </a:cubicBezTo>
                    <a:cubicBezTo>
                      <a:pt x="88919" y="861029"/>
                      <a:pt x="79537" y="858130"/>
                      <a:pt x="70962" y="853541"/>
                    </a:cubicBezTo>
                    <a:cubicBezTo>
                      <a:pt x="47097" y="840899"/>
                      <a:pt x="27031" y="822128"/>
                      <a:pt x="12844" y="799162"/>
                    </a:cubicBezTo>
                    <a:cubicBezTo>
                      <a:pt x="7896" y="791437"/>
                      <a:pt x="4478" y="782835"/>
                      <a:pt x="2778" y="773824"/>
                    </a:cubicBezTo>
                    <a:cubicBezTo>
                      <a:pt x="-926" y="757647"/>
                      <a:pt x="-926" y="740842"/>
                      <a:pt x="2778" y="724665"/>
                    </a:cubicBezTo>
                    <a:cubicBezTo>
                      <a:pt x="5893" y="711314"/>
                      <a:pt x="10080" y="698239"/>
                      <a:pt x="15313" y="685566"/>
                    </a:cubicBezTo>
                    <a:cubicBezTo>
                      <a:pt x="27278" y="658993"/>
                      <a:pt x="39434" y="632516"/>
                      <a:pt x="51494" y="606038"/>
                    </a:cubicBezTo>
                    <a:cubicBezTo>
                      <a:pt x="52159" y="604443"/>
                      <a:pt x="52919" y="602891"/>
                      <a:pt x="53773" y="601388"/>
                    </a:cubicBezTo>
                    <a:cubicBezTo>
                      <a:pt x="64789" y="582408"/>
                      <a:pt x="73431" y="562764"/>
                      <a:pt x="83497" y="543499"/>
                    </a:cubicBezTo>
                    <a:cubicBezTo>
                      <a:pt x="94608" y="522241"/>
                      <a:pt x="106953" y="501647"/>
                      <a:pt x="119014" y="480959"/>
                    </a:cubicBezTo>
                    <a:cubicBezTo>
                      <a:pt x="137532" y="449452"/>
                      <a:pt x="156334" y="418039"/>
                      <a:pt x="174852" y="386058"/>
                    </a:cubicBezTo>
                    <a:cubicBezTo>
                      <a:pt x="179411" y="378181"/>
                      <a:pt x="183684" y="370114"/>
                      <a:pt x="188147" y="362048"/>
                    </a:cubicBezTo>
                    <a:cubicBezTo>
                      <a:pt x="190189" y="357959"/>
                      <a:pt x="192468" y="353997"/>
                      <a:pt x="194985" y="350185"/>
                    </a:cubicBezTo>
                    <a:cubicBezTo>
                      <a:pt x="202297" y="339936"/>
                      <a:pt x="208280" y="328927"/>
                      <a:pt x="214737" y="318109"/>
                    </a:cubicBezTo>
                    <a:cubicBezTo>
                      <a:pt x="224234" y="302355"/>
                      <a:pt x="233730" y="286886"/>
                      <a:pt x="243227" y="270658"/>
                    </a:cubicBezTo>
                    <a:cubicBezTo>
                      <a:pt x="250824" y="257941"/>
                      <a:pt x="257946" y="244845"/>
                      <a:pt x="265448" y="232033"/>
                    </a:cubicBezTo>
                    <a:cubicBezTo>
                      <a:pt x="269560" y="225200"/>
                      <a:pt x="273833" y="218462"/>
                      <a:pt x="278268" y="211819"/>
                    </a:cubicBezTo>
                    <a:cubicBezTo>
                      <a:pt x="307080" y="169373"/>
                      <a:pt x="330935" y="123778"/>
                      <a:pt x="349396" y="75921"/>
                    </a:cubicBezTo>
                    <a:cubicBezTo>
                      <a:pt x="357107" y="55611"/>
                      <a:pt x="363242" y="34733"/>
                      <a:pt x="367724" y="13476"/>
                    </a:cubicBezTo>
                    <a:cubicBezTo>
                      <a:pt x="367724" y="11293"/>
                      <a:pt x="368484" y="9016"/>
                      <a:pt x="369054" y="6738"/>
                    </a:cubicBezTo>
                    <a:cubicBezTo>
                      <a:pt x="370241" y="2826"/>
                      <a:pt x="373792" y="111"/>
                      <a:pt x="377885" y="0"/>
                    </a:cubicBezTo>
                    <a:cubicBezTo>
                      <a:pt x="394067" y="535"/>
                      <a:pt x="409318" y="7709"/>
                      <a:pt x="420049" y="19834"/>
                    </a:cubicBezTo>
                    <a:cubicBezTo>
                      <a:pt x="425244" y="26051"/>
                      <a:pt x="428159" y="33851"/>
                      <a:pt x="428311" y="41946"/>
                    </a:cubicBezTo>
                    <a:cubicBezTo>
                      <a:pt x="428311" y="45363"/>
                      <a:pt x="428311" y="48779"/>
                      <a:pt x="428311" y="52196"/>
                    </a:cubicBezTo>
                    <a:cubicBezTo>
                      <a:pt x="428283" y="53890"/>
                      <a:pt x="428710" y="55561"/>
                      <a:pt x="429546" y="57036"/>
                    </a:cubicBezTo>
                    <a:cubicBezTo>
                      <a:pt x="433126" y="62302"/>
                      <a:pt x="434038" y="68935"/>
                      <a:pt x="432015" y="74972"/>
                    </a:cubicBezTo>
                    <a:cubicBezTo>
                      <a:pt x="430210" y="82777"/>
                      <a:pt x="427162" y="90243"/>
                      <a:pt x="422993" y="97084"/>
                    </a:cubicBezTo>
                    <a:cubicBezTo>
                      <a:pt x="420942" y="99850"/>
                      <a:pt x="419727" y="103141"/>
                      <a:pt x="419480" y="106574"/>
                    </a:cubicBezTo>
                    <a:cubicBezTo>
                      <a:pt x="419641" y="110040"/>
                      <a:pt x="417884" y="113315"/>
                      <a:pt x="414921" y="115115"/>
                    </a:cubicBezTo>
                    <a:cubicBezTo>
                      <a:pt x="412091" y="117122"/>
                      <a:pt x="410145" y="120151"/>
                      <a:pt x="409508" y="123561"/>
                    </a:cubicBezTo>
                    <a:cubicBezTo>
                      <a:pt x="405852" y="136704"/>
                      <a:pt x="400819" y="149427"/>
                      <a:pt x="394504" y="161522"/>
                    </a:cubicBezTo>
                    <a:cubicBezTo>
                      <a:pt x="382634" y="186196"/>
                      <a:pt x="369908" y="210586"/>
                      <a:pt x="355759" y="234026"/>
                    </a:cubicBezTo>
                    <a:cubicBezTo>
                      <a:pt x="352815" y="238866"/>
                      <a:pt x="350726" y="244275"/>
                      <a:pt x="347782" y="249210"/>
                    </a:cubicBezTo>
                    <a:cubicBezTo>
                      <a:pt x="344838" y="254145"/>
                      <a:pt x="341134" y="258700"/>
                      <a:pt x="338285" y="263256"/>
                    </a:cubicBezTo>
                    <a:cubicBezTo>
                      <a:pt x="333917" y="270563"/>
                      <a:pt x="329929" y="278250"/>
                      <a:pt x="325845" y="285747"/>
                    </a:cubicBezTo>
                    <a:cubicBezTo>
                      <a:pt x="309416" y="315167"/>
                      <a:pt x="291943" y="344016"/>
                      <a:pt x="273805" y="372392"/>
                    </a:cubicBezTo>
                    <a:cubicBezTo>
                      <a:pt x="262409" y="390233"/>
                      <a:pt x="252153" y="408739"/>
                      <a:pt x="241327" y="426865"/>
                    </a:cubicBezTo>
                    <a:cubicBezTo>
                      <a:pt x="231005" y="442691"/>
                      <a:pt x="221489" y="459036"/>
                      <a:pt x="212838" y="475834"/>
                    </a:cubicBezTo>
                    <a:cubicBezTo>
                      <a:pt x="210217" y="480903"/>
                      <a:pt x="207197" y="485758"/>
                      <a:pt x="203816" y="490354"/>
                    </a:cubicBezTo>
                    <a:cubicBezTo>
                      <a:pt x="191613" y="508263"/>
                      <a:pt x="180845" y="527113"/>
                      <a:pt x="171624" y="546725"/>
                    </a:cubicBezTo>
                    <a:cubicBezTo>
                      <a:pt x="171111" y="547768"/>
                      <a:pt x="170541" y="548783"/>
                      <a:pt x="169914" y="549762"/>
                    </a:cubicBezTo>
                    <a:cubicBezTo>
                      <a:pt x="160997" y="563717"/>
                      <a:pt x="152887" y="578165"/>
                      <a:pt x="145603" y="593037"/>
                    </a:cubicBezTo>
                    <a:cubicBezTo>
                      <a:pt x="130219" y="620369"/>
                      <a:pt x="116165" y="648554"/>
                      <a:pt x="101730" y="676455"/>
                    </a:cubicBezTo>
                    <a:cubicBezTo>
                      <a:pt x="99831" y="679966"/>
                      <a:pt x="98311" y="683668"/>
                      <a:pt x="96412" y="687179"/>
                    </a:cubicBezTo>
                    <a:cubicBezTo>
                      <a:pt x="82054" y="715804"/>
                      <a:pt x="71057" y="745994"/>
                      <a:pt x="63650" y="777145"/>
                    </a:cubicBezTo>
                    <a:cubicBezTo>
                      <a:pt x="63175" y="779366"/>
                      <a:pt x="63175" y="781662"/>
                      <a:pt x="63650" y="783883"/>
                    </a:cubicBezTo>
                    <a:cubicBezTo>
                      <a:pt x="64799" y="788479"/>
                      <a:pt x="68882" y="791741"/>
                      <a:pt x="73621" y="791855"/>
                    </a:cubicBezTo>
                    <a:cubicBezTo>
                      <a:pt x="82168" y="792158"/>
                      <a:pt x="90724" y="791361"/>
                      <a:pt x="99071" y="789482"/>
                    </a:cubicBezTo>
                    <a:cubicBezTo>
                      <a:pt x="114664" y="785913"/>
                      <a:pt x="129934" y="781088"/>
                      <a:pt x="144749" y="775057"/>
                    </a:cubicBezTo>
                    <a:cubicBezTo>
                      <a:pt x="166021" y="766647"/>
                      <a:pt x="186789" y="757015"/>
                      <a:pt x="206950" y="746207"/>
                    </a:cubicBezTo>
                    <a:cubicBezTo>
                      <a:pt x="231166" y="733301"/>
                      <a:pt x="254432" y="719066"/>
                      <a:pt x="277983" y="704830"/>
                    </a:cubicBezTo>
                    <a:cubicBezTo>
                      <a:pt x="289189" y="697903"/>
                      <a:pt x="300585" y="691355"/>
                      <a:pt x="311790" y="684617"/>
                    </a:cubicBezTo>
                    <a:cubicBezTo>
                      <a:pt x="321287" y="678733"/>
                      <a:pt x="331353" y="672849"/>
                      <a:pt x="340944" y="666680"/>
                    </a:cubicBezTo>
                    <a:cubicBezTo>
                      <a:pt x="349007" y="661270"/>
                      <a:pt x="357554" y="656631"/>
                      <a:pt x="366490" y="652825"/>
                    </a:cubicBezTo>
                    <a:cubicBezTo>
                      <a:pt x="371713" y="650546"/>
                      <a:pt x="376765" y="647881"/>
                      <a:pt x="381589" y="644853"/>
                    </a:cubicBezTo>
                    <a:cubicBezTo>
                      <a:pt x="388996" y="640488"/>
                      <a:pt x="396024" y="635363"/>
                      <a:pt x="403336" y="631187"/>
                    </a:cubicBezTo>
                    <a:cubicBezTo>
                      <a:pt x="421122" y="619014"/>
                      <a:pt x="439612" y="607892"/>
                      <a:pt x="458700" y="597877"/>
                    </a:cubicBezTo>
                    <a:cubicBezTo>
                      <a:pt x="462755" y="595778"/>
                      <a:pt x="466658" y="593400"/>
                      <a:pt x="470380" y="590759"/>
                    </a:cubicBezTo>
                    <a:cubicBezTo>
                      <a:pt x="505327" y="567888"/>
                      <a:pt x="544452" y="552799"/>
                      <a:pt x="579494" y="529928"/>
                    </a:cubicBezTo>
                    <a:cubicBezTo>
                      <a:pt x="625361" y="500508"/>
                      <a:pt x="633433" y="482477"/>
                      <a:pt x="637612" y="475834"/>
                    </a:cubicBezTo>
                    <a:cubicBezTo>
                      <a:pt x="640432" y="471405"/>
                      <a:pt x="645484" y="468916"/>
                      <a:pt x="650717" y="469381"/>
                    </a:cubicBezTo>
                    <a:cubicBezTo>
                      <a:pt x="661134" y="469190"/>
                      <a:pt x="671258" y="472800"/>
                      <a:pt x="679206" y="479535"/>
                    </a:cubicBezTo>
                    <a:cubicBezTo>
                      <a:pt x="688180" y="487551"/>
                      <a:pt x="695141" y="497564"/>
                      <a:pt x="699528" y="508765"/>
                    </a:cubicBezTo>
                    <a:cubicBezTo>
                      <a:pt x="700753" y="511848"/>
                      <a:pt x="700573" y="515308"/>
                      <a:pt x="699054" y="518255"/>
                    </a:cubicBezTo>
                    <a:cubicBezTo>
                      <a:pt x="698066" y="520321"/>
                      <a:pt x="696888" y="522290"/>
                      <a:pt x="695540" y="524139"/>
                    </a:cubicBezTo>
                    <a:cubicBezTo>
                      <a:pt x="690982" y="530782"/>
                      <a:pt x="675597" y="558303"/>
                      <a:pt x="671039" y="564851"/>
                    </a:cubicBezTo>
                    <a:cubicBezTo>
                      <a:pt x="669140" y="567604"/>
                      <a:pt x="668000" y="570925"/>
                      <a:pt x="666196" y="573867"/>
                    </a:cubicBezTo>
                    <a:cubicBezTo>
                      <a:pt x="663632" y="578327"/>
                      <a:pt x="660878" y="582693"/>
                      <a:pt x="658029" y="586868"/>
                    </a:cubicBezTo>
                    <a:cubicBezTo>
                      <a:pt x="653281" y="593986"/>
                      <a:pt x="647868" y="600724"/>
                      <a:pt x="643500" y="608031"/>
                    </a:cubicBezTo>
                    <a:cubicBezTo>
                      <a:pt x="627356" y="635032"/>
                      <a:pt x="613595" y="663388"/>
                      <a:pt x="602380" y="692778"/>
                    </a:cubicBezTo>
                    <a:cubicBezTo>
                      <a:pt x="599341" y="700750"/>
                      <a:pt x="597062" y="709006"/>
                      <a:pt x="594593" y="717168"/>
                    </a:cubicBezTo>
                    <a:cubicBezTo>
                      <a:pt x="593406" y="720448"/>
                      <a:pt x="593406" y="724041"/>
                      <a:pt x="594593" y="727322"/>
                    </a:cubicBezTo>
                    <a:cubicBezTo>
                      <a:pt x="594593" y="728176"/>
                      <a:pt x="596018" y="729315"/>
                      <a:pt x="596967" y="729220"/>
                    </a:cubicBezTo>
                    <a:cubicBezTo>
                      <a:pt x="617764" y="727702"/>
                      <a:pt x="686708" y="668768"/>
                      <a:pt x="704182" y="653299"/>
                    </a:cubicBezTo>
                    <a:cubicBezTo>
                      <a:pt x="728113" y="632041"/>
                      <a:pt x="779203" y="603761"/>
                      <a:pt x="804938" y="536476"/>
                    </a:cubicBezTo>
                    <a:cubicBezTo>
                      <a:pt x="811681" y="518824"/>
                      <a:pt x="819278" y="496712"/>
                      <a:pt x="833428" y="456949"/>
                    </a:cubicBezTo>
                    <a:cubicBezTo>
                      <a:pt x="839258" y="440758"/>
                      <a:pt x="846010" y="424915"/>
                      <a:pt x="853655" y="409498"/>
                    </a:cubicBezTo>
                    <a:cubicBezTo>
                      <a:pt x="861936" y="393193"/>
                      <a:pt x="869039" y="376322"/>
                      <a:pt x="874927" y="359011"/>
                    </a:cubicBezTo>
                    <a:cubicBezTo>
                      <a:pt x="875914" y="354336"/>
                      <a:pt x="880226" y="351124"/>
                      <a:pt x="884993" y="351514"/>
                    </a:cubicBezTo>
                    <a:cubicBezTo>
                      <a:pt x="902210" y="353006"/>
                      <a:pt x="918287" y="360735"/>
                      <a:pt x="930196" y="373246"/>
                    </a:cubicBezTo>
                    <a:cubicBezTo>
                      <a:pt x="931307" y="374577"/>
                      <a:pt x="932294" y="376007"/>
                      <a:pt x="933140" y="377517"/>
                    </a:cubicBezTo>
                    <a:cubicBezTo>
                      <a:pt x="935808" y="381335"/>
                      <a:pt x="935808" y="386415"/>
                      <a:pt x="933140" y="390233"/>
                    </a:cubicBezTo>
                    <a:cubicBezTo>
                      <a:pt x="924849" y="404597"/>
                      <a:pt x="917888" y="419685"/>
                      <a:pt x="912343" y="435311"/>
                    </a:cubicBezTo>
                    <a:cubicBezTo>
                      <a:pt x="908354" y="445466"/>
                      <a:pt x="904651" y="455620"/>
                      <a:pt x="900282" y="465585"/>
                    </a:cubicBezTo>
                    <a:cubicBezTo>
                      <a:pt x="880216" y="511038"/>
                      <a:pt x="863085" y="557730"/>
                      <a:pt x="849002" y="605374"/>
                    </a:cubicBezTo>
                    <a:cubicBezTo>
                      <a:pt x="847387" y="610878"/>
                      <a:pt x="845773" y="616383"/>
                      <a:pt x="844443" y="621887"/>
                    </a:cubicBezTo>
                    <a:cubicBezTo>
                      <a:pt x="844120" y="623515"/>
                      <a:pt x="844120" y="625193"/>
                      <a:pt x="844443" y="626822"/>
                    </a:cubicBezTo>
                    <a:cubicBezTo>
                      <a:pt x="844443" y="628150"/>
                      <a:pt x="847577" y="629574"/>
                      <a:pt x="848527" y="628815"/>
                    </a:cubicBezTo>
                    <a:cubicBezTo>
                      <a:pt x="849989" y="627989"/>
                      <a:pt x="851328" y="626967"/>
                      <a:pt x="852515" y="625778"/>
                    </a:cubicBezTo>
                    <a:cubicBezTo>
                      <a:pt x="858973" y="617047"/>
                      <a:pt x="865715" y="608506"/>
                      <a:pt x="871508" y="599395"/>
                    </a:cubicBezTo>
                    <a:cubicBezTo>
                      <a:pt x="888830" y="572574"/>
                      <a:pt x="907860" y="546898"/>
                      <a:pt x="928486" y="522525"/>
                    </a:cubicBezTo>
                    <a:cubicBezTo>
                      <a:pt x="964763" y="479061"/>
                      <a:pt x="1002558" y="437114"/>
                      <a:pt x="1042918" y="397256"/>
                    </a:cubicBezTo>
                    <a:cubicBezTo>
                      <a:pt x="1055073" y="385204"/>
                      <a:pt x="1067704" y="373626"/>
                      <a:pt x="1080904" y="362332"/>
                    </a:cubicBezTo>
                    <a:cubicBezTo>
                      <a:pt x="1090400" y="354456"/>
                      <a:pt x="1099896" y="347433"/>
                      <a:pt x="1109393" y="340410"/>
                    </a:cubicBezTo>
                    <a:cubicBezTo>
                      <a:pt x="1116221" y="335143"/>
                      <a:pt x="1124369" y="331860"/>
                      <a:pt x="1132944" y="330920"/>
                    </a:cubicBezTo>
                    <a:cubicBezTo>
                      <a:pt x="1135185" y="330664"/>
                      <a:pt x="1137388" y="330121"/>
                      <a:pt x="1139497" y="329307"/>
                    </a:cubicBezTo>
                    <a:cubicBezTo>
                      <a:pt x="1149506" y="326613"/>
                      <a:pt x="1160085" y="326976"/>
                      <a:pt x="1169885" y="330351"/>
                    </a:cubicBezTo>
                    <a:cubicBezTo>
                      <a:pt x="1171575" y="330718"/>
                      <a:pt x="1173142" y="331501"/>
                      <a:pt x="1174443" y="332628"/>
                    </a:cubicBezTo>
                    <a:cubicBezTo>
                      <a:pt x="1177824" y="335689"/>
                      <a:pt x="1181803" y="338016"/>
                      <a:pt x="1186124" y="339461"/>
                    </a:cubicBezTo>
                    <a:cubicBezTo>
                      <a:pt x="1190881" y="341580"/>
                      <a:pt x="1194395" y="345787"/>
                      <a:pt x="1195620" y="350849"/>
                    </a:cubicBezTo>
                    <a:cubicBezTo>
                      <a:pt x="1196522" y="353009"/>
                      <a:pt x="1196076" y="355494"/>
                      <a:pt x="1194480" y="357208"/>
                    </a:cubicBezTo>
                    <a:cubicBezTo>
                      <a:pt x="1192486" y="359240"/>
                      <a:pt x="1190255" y="361024"/>
                      <a:pt x="1187833" y="362522"/>
                    </a:cubicBezTo>
                    <a:cubicBezTo>
                      <a:pt x="1181945" y="366034"/>
                      <a:pt x="1175963" y="369355"/>
                      <a:pt x="1169885" y="372582"/>
                    </a:cubicBezTo>
                    <a:cubicBezTo>
                      <a:pt x="1158290" y="378757"/>
                      <a:pt x="1147321" y="386034"/>
                      <a:pt x="1137122" y="394314"/>
                    </a:cubicBezTo>
                    <a:cubicBezTo>
                      <a:pt x="1124141" y="404626"/>
                      <a:pt x="1111805" y="415718"/>
                      <a:pt x="1100181" y="427529"/>
                    </a:cubicBezTo>
                    <a:cubicBezTo>
                      <a:pt x="1082233" y="445940"/>
                      <a:pt x="1064380" y="464446"/>
                      <a:pt x="1046906" y="483331"/>
                    </a:cubicBezTo>
                    <a:cubicBezTo>
                      <a:pt x="1029433" y="502217"/>
                      <a:pt x="1009871" y="523759"/>
                      <a:pt x="992682" y="545207"/>
                    </a:cubicBezTo>
                    <a:cubicBezTo>
                      <a:pt x="990109" y="548219"/>
                      <a:pt x="987734" y="551389"/>
                      <a:pt x="985560" y="554697"/>
                    </a:cubicBezTo>
                    <a:cubicBezTo>
                      <a:pt x="977269" y="567715"/>
                      <a:pt x="967963" y="580058"/>
                      <a:pt x="957735" y="591613"/>
                    </a:cubicBezTo>
                    <a:cubicBezTo>
                      <a:pt x="951088" y="599490"/>
                      <a:pt x="944820" y="607652"/>
                      <a:pt x="938743" y="615718"/>
                    </a:cubicBezTo>
                    <a:cubicBezTo>
                      <a:pt x="937641" y="617014"/>
                      <a:pt x="936777" y="618490"/>
                      <a:pt x="936178" y="620084"/>
                    </a:cubicBezTo>
                    <a:cubicBezTo>
                      <a:pt x="934640" y="624413"/>
                      <a:pt x="932143" y="628339"/>
                      <a:pt x="928866" y="631567"/>
                    </a:cubicBezTo>
                    <a:cubicBezTo>
                      <a:pt x="910785" y="652961"/>
                      <a:pt x="894280" y="675639"/>
                      <a:pt x="879485" y="699421"/>
                    </a:cubicBezTo>
                    <a:cubicBezTo>
                      <a:pt x="854842" y="737934"/>
                      <a:pt x="833342" y="778366"/>
                      <a:pt x="815194" y="820325"/>
                    </a:cubicBezTo>
                    <a:cubicBezTo>
                      <a:pt x="811272" y="829837"/>
                      <a:pt x="806230" y="838852"/>
                      <a:pt x="800190" y="847182"/>
                    </a:cubicBezTo>
                    <a:cubicBezTo>
                      <a:pt x="797417" y="850826"/>
                      <a:pt x="794397" y="854282"/>
                      <a:pt x="791169" y="857526"/>
                    </a:cubicBezTo>
                    <a:cubicBezTo>
                      <a:pt x="786629" y="862077"/>
                      <a:pt x="779982" y="863819"/>
                      <a:pt x="773790" y="862082"/>
                    </a:cubicBezTo>
                    <a:cubicBezTo>
                      <a:pt x="767029" y="860580"/>
                      <a:pt x="760894" y="857035"/>
                      <a:pt x="756222" y="851927"/>
                    </a:cubicBezTo>
                    <a:cubicBezTo>
                      <a:pt x="749365" y="844288"/>
                      <a:pt x="741977" y="837152"/>
                      <a:pt x="734095" y="830574"/>
                    </a:cubicBezTo>
                    <a:cubicBezTo>
                      <a:pt x="732500" y="828972"/>
                      <a:pt x="731436" y="826917"/>
                      <a:pt x="731056" y="824691"/>
                    </a:cubicBezTo>
                    <a:cubicBezTo>
                      <a:pt x="729537" y="816823"/>
                      <a:pt x="729537" y="808738"/>
                      <a:pt x="731056" y="800870"/>
                    </a:cubicBezTo>
                    <a:cubicBezTo>
                      <a:pt x="735330" y="774298"/>
                      <a:pt x="739793" y="747821"/>
                      <a:pt x="746061" y="721723"/>
                    </a:cubicBezTo>
                    <a:cubicBezTo>
                      <a:pt x="747751" y="717434"/>
                      <a:pt x="748083" y="712730"/>
                      <a:pt x="747010" y="708247"/>
                    </a:cubicBezTo>
                    <a:cubicBezTo>
                      <a:pt x="747419" y="708337"/>
                      <a:pt x="747837" y="708337"/>
                      <a:pt x="748245" y="708247"/>
                    </a:cubicBezTo>
                    <a:cubicBezTo>
                      <a:pt x="748245" y="708247"/>
                      <a:pt x="748245" y="707298"/>
                      <a:pt x="748245" y="707298"/>
                    </a:cubicBezTo>
                    <a:cubicBezTo>
                      <a:pt x="748245" y="707298"/>
                      <a:pt x="746820" y="707298"/>
                      <a:pt x="747390" y="708816"/>
                    </a:cubicBezTo>
                  </a:path>
                </a:pathLst>
              </a:custGeom>
              <a:grpFill/>
              <a:ln w="9496"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F4E0A687-659D-FA45-AD53-F9782C195810}"/>
                  </a:ext>
                </a:extLst>
              </p:cNvPr>
              <p:cNvSpPr/>
              <p:nvPr/>
            </p:nvSpPr>
            <p:spPr>
              <a:xfrm>
                <a:off x="4921141" y="-580737"/>
                <a:ext cx="66058" cy="65097"/>
              </a:xfrm>
              <a:custGeom>
                <a:avLst/>
                <a:gdLst>
                  <a:gd name="connsiteX0" fmla="*/ 3952 w 66058"/>
                  <a:gd name="connsiteY0" fmla="*/ 4713 h 65097"/>
                  <a:gd name="connsiteX1" fmla="*/ 55993 w 66058"/>
                  <a:gd name="connsiteY1" fmla="*/ 11831 h 65097"/>
                  <a:gd name="connsiteX2" fmla="*/ 66059 w 66058"/>
                  <a:gd name="connsiteY2" fmla="*/ 31665 h 65097"/>
                  <a:gd name="connsiteX3" fmla="*/ 64255 w 66058"/>
                  <a:gd name="connsiteY3" fmla="*/ 49127 h 65097"/>
                  <a:gd name="connsiteX4" fmla="*/ 63020 w 66058"/>
                  <a:gd name="connsiteY4" fmla="*/ 58048 h 65097"/>
                  <a:gd name="connsiteX5" fmla="*/ 14303 w 66058"/>
                  <a:gd name="connsiteY5" fmla="*/ 54252 h 65097"/>
                  <a:gd name="connsiteX6" fmla="*/ 2718 w 66058"/>
                  <a:gd name="connsiteY6" fmla="*/ 34227 h 65097"/>
                  <a:gd name="connsiteX7" fmla="*/ 3952 w 66058"/>
                  <a:gd name="connsiteY7" fmla="*/ 4713 h 65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058" h="65097">
                    <a:moveTo>
                      <a:pt x="3952" y="4713"/>
                    </a:moveTo>
                    <a:cubicBezTo>
                      <a:pt x="24654" y="-127"/>
                      <a:pt x="39849" y="-5346"/>
                      <a:pt x="55993" y="11831"/>
                    </a:cubicBezTo>
                    <a:cubicBezTo>
                      <a:pt x="61833" y="16859"/>
                      <a:pt x="65451" y="23987"/>
                      <a:pt x="66059" y="31665"/>
                    </a:cubicBezTo>
                    <a:cubicBezTo>
                      <a:pt x="66059" y="37264"/>
                      <a:pt x="64349" y="43243"/>
                      <a:pt x="64255" y="49127"/>
                    </a:cubicBezTo>
                    <a:cubicBezTo>
                      <a:pt x="64255" y="52828"/>
                      <a:pt x="65204" y="54726"/>
                      <a:pt x="63020" y="58048"/>
                    </a:cubicBezTo>
                    <a:cubicBezTo>
                      <a:pt x="53524" y="72567"/>
                      <a:pt x="25034" y="61274"/>
                      <a:pt x="14303" y="54252"/>
                    </a:cubicBezTo>
                    <a:cubicBezTo>
                      <a:pt x="6611" y="49222"/>
                      <a:pt x="5662" y="42294"/>
                      <a:pt x="2718" y="34227"/>
                    </a:cubicBezTo>
                    <a:cubicBezTo>
                      <a:pt x="-1299" y="24698"/>
                      <a:pt x="-843" y="13874"/>
                      <a:pt x="3952" y="4713"/>
                    </a:cubicBezTo>
                  </a:path>
                </a:pathLst>
              </a:custGeom>
              <a:grpFill/>
              <a:ln w="9496"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F23B7152-0240-7349-9DBE-58B29C351750}"/>
                  </a:ext>
                </a:extLst>
              </p:cNvPr>
              <p:cNvSpPr/>
              <p:nvPr/>
            </p:nvSpPr>
            <p:spPr>
              <a:xfrm>
                <a:off x="5175172" y="-425891"/>
                <a:ext cx="412425" cy="351340"/>
              </a:xfrm>
              <a:custGeom>
                <a:avLst/>
                <a:gdLst>
                  <a:gd name="connsiteX0" fmla="*/ 151 w 412425"/>
                  <a:gd name="connsiteY0" fmla="*/ 240100 h 351340"/>
                  <a:gd name="connsiteX1" fmla="*/ 4139 w 412425"/>
                  <a:gd name="connsiteY1" fmla="*/ 204987 h 351340"/>
                  <a:gd name="connsiteX2" fmla="*/ 14775 w 412425"/>
                  <a:gd name="connsiteY2" fmla="*/ 177940 h 351340"/>
                  <a:gd name="connsiteX3" fmla="*/ 99388 w 412425"/>
                  <a:gd name="connsiteY3" fmla="*/ 68614 h 351340"/>
                  <a:gd name="connsiteX4" fmla="*/ 141267 w 412425"/>
                  <a:gd name="connsiteY4" fmla="*/ 33406 h 351340"/>
                  <a:gd name="connsiteX5" fmla="*/ 184666 w 412425"/>
                  <a:gd name="connsiteY5" fmla="*/ 9491 h 351340"/>
                  <a:gd name="connsiteX6" fmla="*/ 229584 w 412425"/>
                  <a:gd name="connsiteY6" fmla="*/ 1 h 351340"/>
                  <a:gd name="connsiteX7" fmla="*/ 291405 w 412425"/>
                  <a:gd name="connsiteY7" fmla="*/ 28471 h 351340"/>
                  <a:gd name="connsiteX8" fmla="*/ 305080 w 412425"/>
                  <a:gd name="connsiteY8" fmla="*/ 64628 h 351340"/>
                  <a:gd name="connsiteX9" fmla="*/ 299003 w 412425"/>
                  <a:gd name="connsiteY9" fmla="*/ 87405 h 351340"/>
                  <a:gd name="connsiteX10" fmla="*/ 278775 w 412425"/>
                  <a:gd name="connsiteY10" fmla="*/ 116919 h 351340"/>
                  <a:gd name="connsiteX11" fmla="*/ 264341 w 412425"/>
                  <a:gd name="connsiteY11" fmla="*/ 135899 h 351340"/>
                  <a:gd name="connsiteX12" fmla="*/ 174220 w 412425"/>
                  <a:gd name="connsiteY12" fmla="*/ 208593 h 351340"/>
                  <a:gd name="connsiteX13" fmla="*/ 134430 w 412425"/>
                  <a:gd name="connsiteY13" fmla="*/ 223683 h 351340"/>
                  <a:gd name="connsiteX14" fmla="*/ 95590 w 412425"/>
                  <a:gd name="connsiteY14" fmla="*/ 221500 h 351340"/>
                  <a:gd name="connsiteX15" fmla="*/ 79161 w 412425"/>
                  <a:gd name="connsiteY15" fmla="*/ 216755 h 351340"/>
                  <a:gd name="connsiteX16" fmla="*/ 71754 w 412425"/>
                  <a:gd name="connsiteY16" fmla="*/ 219697 h 351340"/>
                  <a:gd name="connsiteX17" fmla="*/ 70709 w 412425"/>
                  <a:gd name="connsiteY17" fmla="*/ 221120 h 351340"/>
                  <a:gd name="connsiteX18" fmla="*/ 57889 w 412425"/>
                  <a:gd name="connsiteY18" fmla="*/ 266768 h 351340"/>
                  <a:gd name="connsiteX19" fmla="*/ 58649 w 412425"/>
                  <a:gd name="connsiteY19" fmla="*/ 277017 h 351340"/>
                  <a:gd name="connsiteX20" fmla="*/ 68810 w 412425"/>
                  <a:gd name="connsiteY20" fmla="*/ 294099 h 351340"/>
                  <a:gd name="connsiteX21" fmla="*/ 72893 w 412425"/>
                  <a:gd name="connsiteY21" fmla="*/ 297231 h 351340"/>
                  <a:gd name="connsiteX22" fmla="*/ 91886 w 412425"/>
                  <a:gd name="connsiteY22" fmla="*/ 301881 h 351340"/>
                  <a:gd name="connsiteX23" fmla="*/ 111734 w 412425"/>
                  <a:gd name="connsiteY23" fmla="*/ 296756 h 351340"/>
                  <a:gd name="connsiteX24" fmla="*/ 164629 w 412425"/>
                  <a:gd name="connsiteY24" fmla="*/ 269235 h 351340"/>
                  <a:gd name="connsiteX25" fmla="*/ 177354 w 412425"/>
                  <a:gd name="connsiteY25" fmla="*/ 260504 h 351340"/>
                  <a:gd name="connsiteX26" fmla="*/ 256839 w 412425"/>
                  <a:gd name="connsiteY26" fmla="*/ 198154 h 351340"/>
                  <a:gd name="connsiteX27" fmla="*/ 312582 w 412425"/>
                  <a:gd name="connsiteY27" fmla="*/ 152697 h 351340"/>
                  <a:gd name="connsiteX28" fmla="*/ 350568 w 412425"/>
                  <a:gd name="connsiteY28" fmla="*/ 125934 h 351340"/>
                  <a:gd name="connsiteX29" fmla="*/ 376018 w 412425"/>
                  <a:gd name="connsiteY29" fmla="*/ 111794 h 351340"/>
                  <a:gd name="connsiteX30" fmla="*/ 398810 w 412425"/>
                  <a:gd name="connsiteY30" fmla="*/ 104961 h 351340"/>
                  <a:gd name="connsiteX31" fmla="*/ 407166 w 412425"/>
                  <a:gd name="connsiteY31" fmla="*/ 106195 h 351340"/>
                  <a:gd name="connsiteX32" fmla="*/ 411535 w 412425"/>
                  <a:gd name="connsiteY32" fmla="*/ 111035 h 351340"/>
                  <a:gd name="connsiteX33" fmla="*/ 411535 w 412425"/>
                  <a:gd name="connsiteY33" fmla="*/ 122898 h 351340"/>
                  <a:gd name="connsiteX34" fmla="*/ 407831 w 412425"/>
                  <a:gd name="connsiteY34" fmla="*/ 132388 h 351340"/>
                  <a:gd name="connsiteX35" fmla="*/ 398335 w 412425"/>
                  <a:gd name="connsiteY35" fmla="*/ 150704 h 351340"/>
                  <a:gd name="connsiteX36" fmla="*/ 375828 w 412425"/>
                  <a:gd name="connsiteY36" fmla="*/ 178320 h 351340"/>
                  <a:gd name="connsiteX37" fmla="*/ 350663 w 412425"/>
                  <a:gd name="connsiteY37" fmla="*/ 198913 h 351340"/>
                  <a:gd name="connsiteX38" fmla="*/ 293020 w 412425"/>
                  <a:gd name="connsiteY38" fmla="*/ 254905 h 351340"/>
                  <a:gd name="connsiteX39" fmla="*/ 281719 w 412425"/>
                  <a:gd name="connsiteY39" fmla="*/ 264775 h 351340"/>
                  <a:gd name="connsiteX40" fmla="*/ 246772 w 412425"/>
                  <a:gd name="connsiteY40" fmla="*/ 289449 h 351340"/>
                  <a:gd name="connsiteX41" fmla="*/ 229394 w 412425"/>
                  <a:gd name="connsiteY41" fmla="*/ 303210 h 351340"/>
                  <a:gd name="connsiteX42" fmla="*/ 210401 w 412425"/>
                  <a:gd name="connsiteY42" fmla="*/ 314788 h 351340"/>
                  <a:gd name="connsiteX43" fmla="*/ 180013 w 412425"/>
                  <a:gd name="connsiteY43" fmla="*/ 330446 h 351340"/>
                  <a:gd name="connsiteX44" fmla="*/ 161590 w 412425"/>
                  <a:gd name="connsiteY44" fmla="*/ 339367 h 351340"/>
                  <a:gd name="connsiteX45" fmla="*/ 128732 w 412425"/>
                  <a:gd name="connsiteY45" fmla="*/ 348857 h 351340"/>
                  <a:gd name="connsiteX46" fmla="*/ 40321 w 412425"/>
                  <a:gd name="connsiteY46" fmla="*/ 327504 h 351340"/>
                  <a:gd name="connsiteX47" fmla="*/ 7843 w 412425"/>
                  <a:gd name="connsiteY47" fmla="*/ 282047 h 351340"/>
                  <a:gd name="connsiteX48" fmla="*/ 246 w 412425"/>
                  <a:gd name="connsiteY48" fmla="*/ 239816 h 351340"/>
                  <a:gd name="connsiteX49" fmla="*/ 102807 w 412425"/>
                  <a:gd name="connsiteY49" fmla="*/ 176042 h 351340"/>
                  <a:gd name="connsiteX50" fmla="*/ 112303 w 412425"/>
                  <a:gd name="connsiteY50" fmla="*/ 173859 h 351340"/>
                  <a:gd name="connsiteX51" fmla="*/ 143641 w 412425"/>
                  <a:gd name="connsiteY51" fmla="*/ 156398 h 351340"/>
                  <a:gd name="connsiteX52" fmla="*/ 221132 w 412425"/>
                  <a:gd name="connsiteY52" fmla="*/ 86740 h 351340"/>
                  <a:gd name="connsiteX53" fmla="*/ 237656 w 412425"/>
                  <a:gd name="connsiteY53" fmla="*/ 64818 h 351340"/>
                  <a:gd name="connsiteX54" fmla="*/ 240790 w 412425"/>
                  <a:gd name="connsiteY54" fmla="*/ 58744 h 351340"/>
                  <a:gd name="connsiteX55" fmla="*/ 240790 w 412425"/>
                  <a:gd name="connsiteY55" fmla="*/ 55708 h 351340"/>
                  <a:gd name="connsiteX56" fmla="*/ 237846 w 412425"/>
                  <a:gd name="connsiteY56" fmla="*/ 54569 h 351340"/>
                  <a:gd name="connsiteX57" fmla="*/ 225121 w 412425"/>
                  <a:gd name="connsiteY57" fmla="*/ 59409 h 351340"/>
                  <a:gd name="connsiteX58" fmla="*/ 192453 w 412425"/>
                  <a:gd name="connsiteY58" fmla="*/ 81331 h 351340"/>
                  <a:gd name="connsiteX59" fmla="*/ 126453 w 412425"/>
                  <a:gd name="connsiteY59" fmla="*/ 141119 h 351340"/>
                  <a:gd name="connsiteX60" fmla="*/ 104042 w 412425"/>
                  <a:gd name="connsiteY60" fmla="*/ 167027 h 351340"/>
                  <a:gd name="connsiteX61" fmla="*/ 101098 w 412425"/>
                  <a:gd name="connsiteY61" fmla="*/ 173005 h 351340"/>
                  <a:gd name="connsiteX62" fmla="*/ 103092 w 412425"/>
                  <a:gd name="connsiteY62" fmla="*/ 176042 h 351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12425" h="351340">
                    <a:moveTo>
                      <a:pt x="151" y="240100"/>
                    </a:moveTo>
                    <a:cubicBezTo>
                      <a:pt x="28" y="228277"/>
                      <a:pt x="1366" y="216482"/>
                      <a:pt x="4139" y="204987"/>
                    </a:cubicBezTo>
                    <a:cubicBezTo>
                      <a:pt x="6523" y="195557"/>
                      <a:pt x="10094" y="186468"/>
                      <a:pt x="14775" y="177940"/>
                    </a:cubicBezTo>
                    <a:cubicBezTo>
                      <a:pt x="37757" y="137744"/>
                      <a:pt x="66236" y="100948"/>
                      <a:pt x="99388" y="68614"/>
                    </a:cubicBezTo>
                    <a:cubicBezTo>
                      <a:pt x="112275" y="55665"/>
                      <a:pt x="126292" y="43882"/>
                      <a:pt x="141267" y="33406"/>
                    </a:cubicBezTo>
                    <a:cubicBezTo>
                      <a:pt x="154714" y="23715"/>
                      <a:pt x="169291" y="15686"/>
                      <a:pt x="184666" y="9491"/>
                    </a:cubicBezTo>
                    <a:cubicBezTo>
                      <a:pt x="198910" y="3549"/>
                      <a:pt x="214152" y="330"/>
                      <a:pt x="229584" y="1"/>
                    </a:cubicBezTo>
                    <a:cubicBezTo>
                      <a:pt x="253382" y="-94"/>
                      <a:pt x="276012" y="10327"/>
                      <a:pt x="291405" y="28471"/>
                    </a:cubicBezTo>
                    <a:cubicBezTo>
                      <a:pt x="300171" y="38484"/>
                      <a:pt x="305033" y="51323"/>
                      <a:pt x="305080" y="64628"/>
                    </a:cubicBezTo>
                    <a:cubicBezTo>
                      <a:pt x="305593" y="72680"/>
                      <a:pt x="303456" y="80677"/>
                      <a:pt x="299003" y="87405"/>
                    </a:cubicBezTo>
                    <a:cubicBezTo>
                      <a:pt x="292868" y="97643"/>
                      <a:pt x="286106" y="107499"/>
                      <a:pt x="278775" y="116919"/>
                    </a:cubicBezTo>
                    <a:cubicBezTo>
                      <a:pt x="273362" y="122803"/>
                      <a:pt x="269279" y="130015"/>
                      <a:pt x="264341" y="135899"/>
                    </a:cubicBezTo>
                    <a:cubicBezTo>
                      <a:pt x="239147" y="165583"/>
                      <a:pt x="208568" y="190247"/>
                      <a:pt x="174220" y="208593"/>
                    </a:cubicBezTo>
                    <a:cubicBezTo>
                      <a:pt x="161713" y="215428"/>
                      <a:pt x="148323" y="220505"/>
                      <a:pt x="134430" y="223683"/>
                    </a:cubicBezTo>
                    <a:cubicBezTo>
                      <a:pt x="121496" y="226100"/>
                      <a:pt x="108172" y="225351"/>
                      <a:pt x="95590" y="221500"/>
                    </a:cubicBezTo>
                    <a:cubicBezTo>
                      <a:pt x="90082" y="219981"/>
                      <a:pt x="84764" y="218083"/>
                      <a:pt x="79161" y="216755"/>
                    </a:cubicBezTo>
                    <a:cubicBezTo>
                      <a:pt x="76322" y="216077"/>
                      <a:pt x="73359" y="217254"/>
                      <a:pt x="71754" y="219697"/>
                    </a:cubicBezTo>
                    <a:cubicBezTo>
                      <a:pt x="71355" y="220130"/>
                      <a:pt x="71004" y="220608"/>
                      <a:pt x="70709" y="221120"/>
                    </a:cubicBezTo>
                    <a:cubicBezTo>
                      <a:pt x="63065" y="235181"/>
                      <a:pt x="58677" y="250782"/>
                      <a:pt x="57889" y="266768"/>
                    </a:cubicBezTo>
                    <a:cubicBezTo>
                      <a:pt x="57861" y="270199"/>
                      <a:pt x="58117" y="273627"/>
                      <a:pt x="58649" y="277017"/>
                    </a:cubicBezTo>
                    <a:cubicBezTo>
                      <a:pt x="59238" y="283966"/>
                      <a:pt x="62989" y="290259"/>
                      <a:pt x="68810" y="294099"/>
                    </a:cubicBezTo>
                    <a:cubicBezTo>
                      <a:pt x="70234" y="295060"/>
                      <a:pt x="71592" y="296105"/>
                      <a:pt x="72893" y="297231"/>
                    </a:cubicBezTo>
                    <a:cubicBezTo>
                      <a:pt x="78259" y="301436"/>
                      <a:pt x="85182" y="303130"/>
                      <a:pt x="91886" y="301881"/>
                    </a:cubicBezTo>
                    <a:cubicBezTo>
                      <a:pt x="98667" y="300893"/>
                      <a:pt x="105323" y="299175"/>
                      <a:pt x="111734" y="296756"/>
                    </a:cubicBezTo>
                    <a:cubicBezTo>
                      <a:pt x="130366" y="289645"/>
                      <a:pt x="148114" y="280411"/>
                      <a:pt x="164629" y="269235"/>
                    </a:cubicBezTo>
                    <a:cubicBezTo>
                      <a:pt x="168807" y="266198"/>
                      <a:pt x="173175" y="263446"/>
                      <a:pt x="177354" y="260504"/>
                    </a:cubicBezTo>
                    <a:cubicBezTo>
                      <a:pt x="204988" y="241524"/>
                      <a:pt x="230913" y="219697"/>
                      <a:pt x="256839" y="198154"/>
                    </a:cubicBezTo>
                    <a:cubicBezTo>
                      <a:pt x="275262" y="182780"/>
                      <a:pt x="293685" y="167501"/>
                      <a:pt x="312582" y="152697"/>
                    </a:cubicBezTo>
                    <a:cubicBezTo>
                      <a:pt x="324643" y="143206"/>
                      <a:pt x="337368" y="134381"/>
                      <a:pt x="350568" y="125934"/>
                    </a:cubicBezTo>
                    <a:cubicBezTo>
                      <a:pt x="358801" y="120777"/>
                      <a:pt x="367291" y="116057"/>
                      <a:pt x="376018" y="111794"/>
                    </a:cubicBezTo>
                    <a:cubicBezTo>
                      <a:pt x="383160" y="108197"/>
                      <a:pt x="390871" y="105885"/>
                      <a:pt x="398810" y="104961"/>
                    </a:cubicBezTo>
                    <a:cubicBezTo>
                      <a:pt x="401649" y="104865"/>
                      <a:pt x="404479" y="105284"/>
                      <a:pt x="407166" y="106195"/>
                    </a:cubicBezTo>
                    <a:cubicBezTo>
                      <a:pt x="409389" y="106901"/>
                      <a:pt x="411060" y="108752"/>
                      <a:pt x="411535" y="111035"/>
                    </a:cubicBezTo>
                    <a:cubicBezTo>
                      <a:pt x="412722" y="114900"/>
                      <a:pt x="412722" y="119032"/>
                      <a:pt x="411535" y="122898"/>
                    </a:cubicBezTo>
                    <a:cubicBezTo>
                      <a:pt x="410481" y="126128"/>
                      <a:pt x="409246" y="129296"/>
                      <a:pt x="407831" y="132388"/>
                    </a:cubicBezTo>
                    <a:cubicBezTo>
                      <a:pt x="404887" y="138556"/>
                      <a:pt x="401564" y="144535"/>
                      <a:pt x="398335" y="150704"/>
                    </a:cubicBezTo>
                    <a:cubicBezTo>
                      <a:pt x="393112" y="161551"/>
                      <a:pt x="385401" y="171012"/>
                      <a:pt x="375828" y="178320"/>
                    </a:cubicBezTo>
                    <a:cubicBezTo>
                      <a:pt x="367282" y="184963"/>
                      <a:pt x="359115" y="192080"/>
                      <a:pt x="350663" y="198913"/>
                    </a:cubicBezTo>
                    <a:cubicBezTo>
                      <a:pt x="329429" y="215378"/>
                      <a:pt x="310094" y="234158"/>
                      <a:pt x="293020" y="254905"/>
                    </a:cubicBezTo>
                    <a:cubicBezTo>
                      <a:pt x="289734" y="258706"/>
                      <a:pt x="285926" y="262028"/>
                      <a:pt x="281719" y="264775"/>
                    </a:cubicBezTo>
                    <a:lnTo>
                      <a:pt x="246772" y="289449"/>
                    </a:lnTo>
                    <a:cubicBezTo>
                      <a:pt x="240514" y="293413"/>
                      <a:pt x="234683" y="298025"/>
                      <a:pt x="229394" y="303210"/>
                    </a:cubicBezTo>
                    <a:cubicBezTo>
                      <a:pt x="223952" y="308370"/>
                      <a:pt x="217485" y="312317"/>
                      <a:pt x="210401" y="314788"/>
                    </a:cubicBezTo>
                    <a:cubicBezTo>
                      <a:pt x="199889" y="319226"/>
                      <a:pt x="189727" y="324461"/>
                      <a:pt x="180013" y="330446"/>
                    </a:cubicBezTo>
                    <a:cubicBezTo>
                      <a:pt x="174096" y="333855"/>
                      <a:pt x="167933" y="336836"/>
                      <a:pt x="161590" y="339367"/>
                    </a:cubicBezTo>
                    <a:cubicBezTo>
                      <a:pt x="151030" y="343762"/>
                      <a:pt x="140004" y="346946"/>
                      <a:pt x="128732" y="348857"/>
                    </a:cubicBezTo>
                    <a:cubicBezTo>
                      <a:pt x="97546" y="355828"/>
                      <a:pt x="64878" y="347939"/>
                      <a:pt x="40321" y="327504"/>
                    </a:cubicBezTo>
                    <a:cubicBezTo>
                      <a:pt x="25753" y="315405"/>
                      <a:pt x="14566" y="299746"/>
                      <a:pt x="7843" y="282047"/>
                    </a:cubicBezTo>
                    <a:cubicBezTo>
                      <a:pt x="1756" y="268845"/>
                      <a:pt x="-856" y="254309"/>
                      <a:pt x="246" y="239816"/>
                    </a:cubicBezTo>
                    <a:moveTo>
                      <a:pt x="102807" y="176042"/>
                    </a:moveTo>
                    <a:cubicBezTo>
                      <a:pt x="106026" y="175572"/>
                      <a:pt x="109198" y="174842"/>
                      <a:pt x="112303" y="173859"/>
                    </a:cubicBezTo>
                    <a:cubicBezTo>
                      <a:pt x="123395" y="169282"/>
                      <a:pt x="133917" y="163422"/>
                      <a:pt x="143641" y="156398"/>
                    </a:cubicBezTo>
                    <a:cubicBezTo>
                      <a:pt x="172377" y="136622"/>
                      <a:pt x="198426" y="113208"/>
                      <a:pt x="221132" y="86740"/>
                    </a:cubicBezTo>
                    <a:cubicBezTo>
                      <a:pt x="227115" y="79718"/>
                      <a:pt x="232243" y="72220"/>
                      <a:pt x="237656" y="64818"/>
                    </a:cubicBezTo>
                    <a:cubicBezTo>
                      <a:pt x="238938" y="62927"/>
                      <a:pt x="239992" y="60887"/>
                      <a:pt x="240790" y="58744"/>
                    </a:cubicBezTo>
                    <a:cubicBezTo>
                      <a:pt x="241170" y="57768"/>
                      <a:pt x="241170" y="56684"/>
                      <a:pt x="240790" y="55708"/>
                    </a:cubicBezTo>
                    <a:cubicBezTo>
                      <a:pt x="239963" y="55003"/>
                      <a:pt x="238928" y="54602"/>
                      <a:pt x="237846" y="54569"/>
                    </a:cubicBezTo>
                    <a:cubicBezTo>
                      <a:pt x="233278" y="55131"/>
                      <a:pt x="228910" y="56791"/>
                      <a:pt x="225121" y="59409"/>
                    </a:cubicBezTo>
                    <a:cubicBezTo>
                      <a:pt x="213621" y="65761"/>
                      <a:pt x="202690" y="73096"/>
                      <a:pt x="192453" y="81331"/>
                    </a:cubicBezTo>
                    <a:cubicBezTo>
                      <a:pt x="168968" y="99564"/>
                      <a:pt x="146908" y="119550"/>
                      <a:pt x="126453" y="141119"/>
                    </a:cubicBezTo>
                    <a:cubicBezTo>
                      <a:pt x="118666" y="149375"/>
                      <a:pt x="111354" y="158296"/>
                      <a:pt x="104042" y="167027"/>
                    </a:cubicBezTo>
                    <a:cubicBezTo>
                      <a:pt x="102712" y="168831"/>
                      <a:pt x="101715" y="170855"/>
                      <a:pt x="101098" y="173005"/>
                    </a:cubicBezTo>
                    <a:cubicBezTo>
                      <a:pt x="101098" y="173575"/>
                      <a:pt x="102142" y="174619"/>
                      <a:pt x="103092" y="176042"/>
                    </a:cubicBezTo>
                  </a:path>
                </a:pathLst>
              </a:custGeom>
              <a:grpFill/>
              <a:ln w="9496"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72FE0773-31F1-A04D-9E49-242AFC82E155}"/>
                  </a:ext>
                </a:extLst>
              </p:cNvPr>
              <p:cNvSpPr/>
              <p:nvPr/>
            </p:nvSpPr>
            <p:spPr>
              <a:xfrm>
                <a:off x="5660524" y="-724743"/>
                <a:ext cx="333068" cy="540294"/>
              </a:xfrm>
              <a:custGeom>
                <a:avLst/>
                <a:gdLst>
                  <a:gd name="connsiteX0" fmla="*/ 322278 w 333068"/>
                  <a:gd name="connsiteY0" fmla="*/ 12157 h 540294"/>
                  <a:gd name="connsiteX1" fmla="*/ 330825 w 333068"/>
                  <a:gd name="connsiteY1" fmla="*/ 27436 h 540294"/>
                  <a:gd name="connsiteX2" fmla="*/ 330825 w 333068"/>
                  <a:gd name="connsiteY2" fmla="*/ 43854 h 540294"/>
                  <a:gd name="connsiteX3" fmla="*/ 324462 w 333068"/>
                  <a:gd name="connsiteY3" fmla="*/ 53913 h 540294"/>
                  <a:gd name="connsiteX4" fmla="*/ 308318 w 333068"/>
                  <a:gd name="connsiteY4" fmla="*/ 76120 h 540294"/>
                  <a:gd name="connsiteX5" fmla="*/ 267199 w 333068"/>
                  <a:gd name="connsiteY5" fmla="*/ 139134 h 540294"/>
                  <a:gd name="connsiteX6" fmla="*/ 241464 w 333068"/>
                  <a:gd name="connsiteY6" fmla="*/ 179562 h 540294"/>
                  <a:gd name="connsiteX7" fmla="*/ 228643 w 333068"/>
                  <a:gd name="connsiteY7" fmla="*/ 199776 h 540294"/>
                  <a:gd name="connsiteX8" fmla="*/ 211835 w 333068"/>
                  <a:gd name="connsiteY8" fmla="*/ 227677 h 540294"/>
                  <a:gd name="connsiteX9" fmla="*/ 193792 w 333068"/>
                  <a:gd name="connsiteY9" fmla="*/ 258710 h 540294"/>
                  <a:gd name="connsiteX10" fmla="*/ 186669 w 333068"/>
                  <a:gd name="connsiteY10" fmla="*/ 270382 h 540294"/>
                  <a:gd name="connsiteX11" fmla="*/ 124373 w 333068"/>
                  <a:gd name="connsiteY11" fmla="*/ 384264 h 540294"/>
                  <a:gd name="connsiteX12" fmla="*/ 94460 w 333068"/>
                  <a:gd name="connsiteY12" fmla="*/ 449556 h 540294"/>
                  <a:gd name="connsiteX13" fmla="*/ 65400 w 333068"/>
                  <a:gd name="connsiteY13" fmla="*/ 513424 h 540294"/>
                  <a:gd name="connsiteX14" fmla="*/ 46407 w 333068"/>
                  <a:gd name="connsiteY14" fmla="*/ 534018 h 540294"/>
                  <a:gd name="connsiteX15" fmla="*/ 33872 w 333068"/>
                  <a:gd name="connsiteY15" fmla="*/ 539332 h 540294"/>
                  <a:gd name="connsiteX16" fmla="*/ 14880 w 333068"/>
                  <a:gd name="connsiteY16" fmla="*/ 532025 h 540294"/>
                  <a:gd name="connsiteX17" fmla="*/ 8992 w 333068"/>
                  <a:gd name="connsiteY17" fmla="*/ 519688 h 540294"/>
                  <a:gd name="connsiteX18" fmla="*/ 6333 w 333068"/>
                  <a:gd name="connsiteY18" fmla="*/ 515417 h 540294"/>
                  <a:gd name="connsiteX19" fmla="*/ 1205 w 333068"/>
                  <a:gd name="connsiteY19" fmla="*/ 497765 h 540294"/>
                  <a:gd name="connsiteX20" fmla="*/ 13645 w 333068"/>
                  <a:gd name="connsiteY20" fmla="*/ 453352 h 540294"/>
                  <a:gd name="connsiteX21" fmla="*/ 39190 w 333068"/>
                  <a:gd name="connsiteY21" fmla="*/ 387965 h 540294"/>
                  <a:gd name="connsiteX22" fmla="*/ 94649 w 333068"/>
                  <a:gd name="connsiteY22" fmla="*/ 274084 h 540294"/>
                  <a:gd name="connsiteX23" fmla="*/ 113642 w 333068"/>
                  <a:gd name="connsiteY23" fmla="*/ 243336 h 540294"/>
                  <a:gd name="connsiteX24" fmla="*/ 118105 w 333068"/>
                  <a:gd name="connsiteY24" fmla="*/ 236028 h 540294"/>
                  <a:gd name="connsiteX25" fmla="*/ 137858 w 333068"/>
                  <a:gd name="connsiteY25" fmla="*/ 202243 h 540294"/>
                  <a:gd name="connsiteX26" fmla="*/ 158370 w 333068"/>
                  <a:gd name="connsiteY26" fmla="*/ 166656 h 540294"/>
                  <a:gd name="connsiteX27" fmla="*/ 178882 w 333068"/>
                  <a:gd name="connsiteY27" fmla="*/ 132966 h 540294"/>
                  <a:gd name="connsiteX28" fmla="*/ 261691 w 333068"/>
                  <a:gd name="connsiteY28" fmla="*/ 15478 h 540294"/>
                  <a:gd name="connsiteX29" fmla="*/ 270713 w 333068"/>
                  <a:gd name="connsiteY29" fmla="*/ 5134 h 540294"/>
                  <a:gd name="connsiteX30" fmla="*/ 284767 w 333068"/>
                  <a:gd name="connsiteY30" fmla="*/ 104 h 540294"/>
                  <a:gd name="connsiteX31" fmla="*/ 291510 w 333068"/>
                  <a:gd name="connsiteY31" fmla="*/ 1148 h 540294"/>
                  <a:gd name="connsiteX32" fmla="*/ 323513 w 333068"/>
                  <a:gd name="connsiteY32" fmla="*/ 11967 h 54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33068" h="540294">
                    <a:moveTo>
                      <a:pt x="322278" y="12157"/>
                    </a:moveTo>
                    <a:lnTo>
                      <a:pt x="330825" y="27436"/>
                    </a:lnTo>
                    <a:cubicBezTo>
                      <a:pt x="333816" y="32500"/>
                      <a:pt x="333816" y="38790"/>
                      <a:pt x="330825" y="43854"/>
                    </a:cubicBezTo>
                    <a:cubicBezTo>
                      <a:pt x="328887" y="47317"/>
                      <a:pt x="326760" y="50675"/>
                      <a:pt x="324462" y="53913"/>
                    </a:cubicBezTo>
                    <a:cubicBezTo>
                      <a:pt x="319144" y="61410"/>
                      <a:pt x="313826" y="68813"/>
                      <a:pt x="308318" y="76120"/>
                    </a:cubicBezTo>
                    <a:cubicBezTo>
                      <a:pt x="293285" y="96227"/>
                      <a:pt x="279544" y="117275"/>
                      <a:pt x="267199" y="139134"/>
                    </a:cubicBezTo>
                    <a:cubicBezTo>
                      <a:pt x="259317" y="153085"/>
                      <a:pt x="250010" y="166086"/>
                      <a:pt x="241464" y="179562"/>
                    </a:cubicBezTo>
                    <a:cubicBezTo>
                      <a:pt x="237095" y="186300"/>
                      <a:pt x="232727" y="193038"/>
                      <a:pt x="228643" y="199776"/>
                    </a:cubicBezTo>
                    <a:cubicBezTo>
                      <a:pt x="222946" y="209266"/>
                      <a:pt x="217723" y="218756"/>
                      <a:pt x="211835" y="227677"/>
                    </a:cubicBezTo>
                    <a:cubicBezTo>
                      <a:pt x="205187" y="237639"/>
                      <a:pt x="199157" y="248003"/>
                      <a:pt x="193792" y="258710"/>
                    </a:cubicBezTo>
                    <a:cubicBezTo>
                      <a:pt x="191750" y="262793"/>
                      <a:pt x="189366" y="266697"/>
                      <a:pt x="186669" y="270382"/>
                    </a:cubicBezTo>
                    <a:cubicBezTo>
                      <a:pt x="161779" y="305941"/>
                      <a:pt x="140887" y="344132"/>
                      <a:pt x="124373" y="384264"/>
                    </a:cubicBezTo>
                    <a:cubicBezTo>
                      <a:pt x="114877" y="406376"/>
                      <a:pt x="104905" y="428013"/>
                      <a:pt x="94460" y="449556"/>
                    </a:cubicBezTo>
                    <a:cubicBezTo>
                      <a:pt x="84013" y="471098"/>
                      <a:pt x="73472" y="491407"/>
                      <a:pt x="65400" y="513424"/>
                    </a:cubicBezTo>
                    <a:cubicBezTo>
                      <a:pt x="62409" y="522744"/>
                      <a:pt x="55458" y="530276"/>
                      <a:pt x="46407" y="534018"/>
                    </a:cubicBezTo>
                    <a:cubicBezTo>
                      <a:pt x="42229" y="535726"/>
                      <a:pt x="38146" y="537814"/>
                      <a:pt x="33872" y="539332"/>
                    </a:cubicBezTo>
                    <a:cubicBezTo>
                      <a:pt x="26608" y="542027"/>
                      <a:pt x="18460" y="538896"/>
                      <a:pt x="14880" y="532025"/>
                    </a:cubicBezTo>
                    <a:cubicBezTo>
                      <a:pt x="12885" y="527944"/>
                      <a:pt x="10986" y="523768"/>
                      <a:pt x="8992" y="519688"/>
                    </a:cubicBezTo>
                    <a:cubicBezTo>
                      <a:pt x="8232" y="518169"/>
                      <a:pt x="7567" y="516081"/>
                      <a:pt x="6333" y="515417"/>
                    </a:cubicBezTo>
                    <a:cubicBezTo>
                      <a:pt x="-2119" y="511336"/>
                      <a:pt x="-125" y="504693"/>
                      <a:pt x="1205" y="497765"/>
                    </a:cubicBezTo>
                    <a:cubicBezTo>
                      <a:pt x="4405" y="482712"/>
                      <a:pt x="8564" y="467877"/>
                      <a:pt x="13645" y="453352"/>
                    </a:cubicBezTo>
                    <a:cubicBezTo>
                      <a:pt x="21147" y="431145"/>
                      <a:pt x="29884" y="409413"/>
                      <a:pt x="39190" y="387965"/>
                    </a:cubicBezTo>
                    <a:cubicBezTo>
                      <a:pt x="55904" y="349182"/>
                      <a:pt x="74394" y="311221"/>
                      <a:pt x="94649" y="274084"/>
                    </a:cubicBezTo>
                    <a:cubicBezTo>
                      <a:pt x="100262" y="263406"/>
                      <a:pt x="106605" y="253131"/>
                      <a:pt x="113642" y="243336"/>
                    </a:cubicBezTo>
                    <a:cubicBezTo>
                      <a:pt x="115465" y="241119"/>
                      <a:pt x="116966" y="238660"/>
                      <a:pt x="118105" y="236028"/>
                    </a:cubicBezTo>
                    <a:cubicBezTo>
                      <a:pt x="123689" y="224209"/>
                      <a:pt x="130299" y="212905"/>
                      <a:pt x="137858" y="202243"/>
                    </a:cubicBezTo>
                    <a:cubicBezTo>
                      <a:pt x="144410" y="190191"/>
                      <a:pt x="151438" y="178423"/>
                      <a:pt x="158370" y="166656"/>
                    </a:cubicBezTo>
                    <a:cubicBezTo>
                      <a:pt x="165303" y="154888"/>
                      <a:pt x="171855" y="144164"/>
                      <a:pt x="178882" y="132966"/>
                    </a:cubicBezTo>
                    <a:cubicBezTo>
                      <a:pt x="204057" y="92150"/>
                      <a:pt x="231711" y="52914"/>
                      <a:pt x="261691" y="15478"/>
                    </a:cubicBezTo>
                    <a:cubicBezTo>
                      <a:pt x="264521" y="11877"/>
                      <a:pt x="267531" y="8424"/>
                      <a:pt x="270713" y="5134"/>
                    </a:cubicBezTo>
                    <a:cubicBezTo>
                      <a:pt x="274369" y="1382"/>
                      <a:pt x="279554" y="-475"/>
                      <a:pt x="284767" y="104"/>
                    </a:cubicBezTo>
                    <a:cubicBezTo>
                      <a:pt x="287046" y="166"/>
                      <a:pt x="289316" y="516"/>
                      <a:pt x="291510" y="1148"/>
                    </a:cubicBezTo>
                    <a:cubicBezTo>
                      <a:pt x="302240" y="4659"/>
                      <a:pt x="312971" y="8361"/>
                      <a:pt x="323513" y="11967"/>
                    </a:cubicBezTo>
                  </a:path>
                </a:pathLst>
              </a:custGeom>
              <a:grpFill/>
              <a:ln w="9496"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2A2397CA-4274-2444-B555-60D032183521}"/>
                  </a:ext>
                </a:extLst>
              </p:cNvPr>
              <p:cNvSpPr/>
              <p:nvPr/>
            </p:nvSpPr>
            <p:spPr>
              <a:xfrm>
                <a:off x="5588240" y="-82064"/>
                <a:ext cx="97217" cy="64492"/>
              </a:xfrm>
              <a:custGeom>
                <a:avLst/>
                <a:gdLst>
                  <a:gd name="connsiteX0" fmla="*/ 25057 w 97217"/>
                  <a:gd name="connsiteY0" fmla="*/ 0 h 64492"/>
                  <a:gd name="connsiteX1" fmla="*/ 35788 w 97217"/>
                  <a:gd name="connsiteY1" fmla="*/ 1613 h 64492"/>
                  <a:gd name="connsiteX2" fmla="*/ 57724 w 97217"/>
                  <a:gd name="connsiteY2" fmla="*/ 3227 h 64492"/>
                  <a:gd name="connsiteX3" fmla="*/ 76717 w 97217"/>
                  <a:gd name="connsiteY3" fmla="*/ 8731 h 64492"/>
                  <a:gd name="connsiteX4" fmla="*/ 94760 w 97217"/>
                  <a:gd name="connsiteY4" fmla="*/ 28850 h 64492"/>
                  <a:gd name="connsiteX5" fmla="*/ 94760 w 97217"/>
                  <a:gd name="connsiteY5" fmla="*/ 44888 h 64492"/>
                  <a:gd name="connsiteX6" fmla="*/ 80041 w 97217"/>
                  <a:gd name="connsiteY6" fmla="*/ 61401 h 64492"/>
                  <a:gd name="connsiteX7" fmla="*/ 70544 w 97217"/>
                  <a:gd name="connsiteY7" fmla="*/ 64438 h 64492"/>
                  <a:gd name="connsiteX8" fmla="*/ 46993 w 97217"/>
                  <a:gd name="connsiteY8" fmla="*/ 60642 h 64492"/>
                  <a:gd name="connsiteX9" fmla="*/ 13186 w 97217"/>
                  <a:gd name="connsiteY9" fmla="*/ 38909 h 64492"/>
                  <a:gd name="connsiteX10" fmla="*/ 1126 w 97217"/>
                  <a:gd name="connsiteY10" fmla="*/ 18316 h 64492"/>
                  <a:gd name="connsiteX11" fmla="*/ 6472 w 97217"/>
                  <a:gd name="connsiteY11" fmla="*/ 3123 h 64492"/>
                  <a:gd name="connsiteX12" fmla="*/ 8913 w 97217"/>
                  <a:gd name="connsiteY12" fmla="*/ 2278 h 64492"/>
                  <a:gd name="connsiteX13" fmla="*/ 17270 w 97217"/>
                  <a:gd name="connsiteY13" fmla="*/ 569 h 64492"/>
                  <a:gd name="connsiteX14" fmla="*/ 25152 w 97217"/>
                  <a:gd name="connsiteY14" fmla="*/ 0 h 6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217" h="64492">
                    <a:moveTo>
                      <a:pt x="25057" y="0"/>
                    </a:moveTo>
                    <a:cubicBezTo>
                      <a:pt x="28665" y="335"/>
                      <a:pt x="32245" y="873"/>
                      <a:pt x="35788" y="1613"/>
                    </a:cubicBezTo>
                    <a:cubicBezTo>
                      <a:pt x="42910" y="3665"/>
                      <a:pt x="50383" y="4214"/>
                      <a:pt x="57724" y="3227"/>
                    </a:cubicBezTo>
                    <a:cubicBezTo>
                      <a:pt x="64524" y="2611"/>
                      <a:pt x="71304" y="4576"/>
                      <a:pt x="76717" y="8731"/>
                    </a:cubicBezTo>
                    <a:cubicBezTo>
                      <a:pt x="84314" y="13832"/>
                      <a:pt x="90515" y="20747"/>
                      <a:pt x="94760" y="28850"/>
                    </a:cubicBezTo>
                    <a:cubicBezTo>
                      <a:pt x="98036" y="33696"/>
                      <a:pt x="98036" y="40043"/>
                      <a:pt x="94760" y="44888"/>
                    </a:cubicBezTo>
                    <a:cubicBezTo>
                      <a:pt x="90810" y="51175"/>
                      <a:pt x="85834" y="56757"/>
                      <a:pt x="80041" y="61401"/>
                    </a:cubicBezTo>
                    <a:cubicBezTo>
                      <a:pt x="77420" y="63662"/>
                      <a:pt x="73991" y="64759"/>
                      <a:pt x="70544" y="64438"/>
                    </a:cubicBezTo>
                    <a:cubicBezTo>
                      <a:pt x="62662" y="63299"/>
                      <a:pt x="54685" y="62445"/>
                      <a:pt x="46993" y="60642"/>
                    </a:cubicBezTo>
                    <a:cubicBezTo>
                      <a:pt x="33556" y="57503"/>
                      <a:pt x="21619" y="49828"/>
                      <a:pt x="13186" y="38909"/>
                    </a:cubicBezTo>
                    <a:cubicBezTo>
                      <a:pt x="8334" y="32564"/>
                      <a:pt x="4288" y="25648"/>
                      <a:pt x="1126" y="18316"/>
                    </a:cubicBezTo>
                    <a:cubicBezTo>
                      <a:pt x="-1600" y="12645"/>
                      <a:pt x="793" y="5843"/>
                      <a:pt x="6472" y="3123"/>
                    </a:cubicBezTo>
                    <a:cubicBezTo>
                      <a:pt x="7251" y="2749"/>
                      <a:pt x="8068" y="2466"/>
                      <a:pt x="8913" y="2278"/>
                    </a:cubicBezTo>
                    <a:cubicBezTo>
                      <a:pt x="11657" y="1508"/>
                      <a:pt x="14449" y="937"/>
                      <a:pt x="17270" y="569"/>
                    </a:cubicBezTo>
                    <a:cubicBezTo>
                      <a:pt x="19454" y="569"/>
                      <a:pt x="21733" y="569"/>
                      <a:pt x="25152" y="0"/>
                    </a:cubicBezTo>
                  </a:path>
                </a:pathLst>
              </a:custGeom>
              <a:grpFill/>
              <a:ln w="9496" cap="flat">
                <a:noFill/>
                <a:prstDash val="solid"/>
                <a:miter/>
              </a:ln>
            </p:spPr>
            <p:txBody>
              <a:bodyPr rtlCol="0" anchor="ctr"/>
              <a:lstStyle/>
              <a:p>
                <a:endParaRPr lang="en-US" sz="2400"/>
              </a:p>
            </p:txBody>
          </p:sp>
        </p:grpSp>
      </p:grpSp>
      <p:sp>
        <p:nvSpPr>
          <p:cNvPr id="5" name="Footer Placeholder 2">
            <a:extLst>
              <a:ext uri="{FF2B5EF4-FFF2-40B4-BE49-F238E27FC236}">
                <a16:creationId xmlns:a16="http://schemas.microsoft.com/office/drawing/2014/main" id="{80B0F335-6E8E-75C8-F1F5-983929FDEE72}"/>
              </a:ext>
            </a:extLst>
          </p:cNvPr>
          <p:cNvSpPr>
            <a:spLocks noGrp="1"/>
          </p:cNvSpPr>
          <p:nvPr>
            <p:ph type="ftr" sz="quarter" idx="3"/>
          </p:nvPr>
        </p:nvSpPr>
        <p:spPr bwMode="white">
          <a:xfrm>
            <a:off x="6583331" y="6616601"/>
            <a:ext cx="999744" cy="185296"/>
          </a:xfrm>
          <a:prstGeom prst="rect">
            <a:avLst/>
          </a:prstGeom>
          <a:noFill/>
          <a:ln w="9525">
            <a:noFill/>
            <a:miter lim="800000"/>
            <a:headEnd/>
            <a:tailEnd/>
          </a:ln>
          <a:effectLst/>
        </p:spPr>
        <p:txBody>
          <a:bodyPr wrap="square" lIns="61586" tIns="30792" rIns="61586" bIns="30792" anchor="b">
            <a:spAutoFit/>
          </a:bodyPr>
          <a:lstStyle>
            <a:lvl1pPr algn="l">
              <a:defRPr lang="en-US" sz="800" dirty="0">
                <a:solidFill>
                  <a:schemeClr val="tx1"/>
                </a:solidFill>
                <a:latin typeface="+mn-lt"/>
                <a:cs typeface="CiscoSans Thin"/>
              </a:defRPr>
            </a:lvl1pPr>
          </a:lstStyle>
          <a:p>
            <a:pPr defTabSz="814305"/>
            <a:r>
              <a:rPr lang="en-US"/>
              <a:t>TECSPG-1000</a:t>
            </a:r>
          </a:p>
        </p:txBody>
      </p:sp>
      <p:sp>
        <p:nvSpPr>
          <p:cNvPr id="2" name="Rectangle 4">
            <a:extLst>
              <a:ext uri="{FF2B5EF4-FFF2-40B4-BE49-F238E27FC236}">
                <a16:creationId xmlns:a16="http://schemas.microsoft.com/office/drawing/2014/main" id="{26254187-EB0E-4D58-EF81-84B7F529ABE5}"/>
              </a:ext>
            </a:extLst>
          </p:cNvPr>
          <p:cNvSpPr>
            <a:spLocks noChangeArrowheads="1"/>
          </p:cNvSpPr>
          <p:nvPr userDrawn="1"/>
        </p:nvSpPr>
        <p:spPr bwMode="black">
          <a:xfrm>
            <a:off x="7549662" y="6595873"/>
            <a:ext cx="3642852" cy="206025"/>
          </a:xfrm>
          <a:prstGeom prst="rect">
            <a:avLst/>
          </a:prstGeom>
          <a:noFill/>
          <a:ln w="9525">
            <a:noFill/>
            <a:miter lim="800000"/>
            <a:headEnd/>
            <a:tailEnd/>
          </a:ln>
          <a:effectLst/>
        </p:spPr>
        <p:txBody>
          <a:bodyPr wrap="square" lIns="82115" tIns="41056" rIns="82115" bIns="41056" anchor="b">
            <a:spAutoFit/>
          </a:bodyPr>
          <a:lstStyle/>
          <a:p>
            <a:pPr marL="0" marR="0" lvl="0" indent="0" algn="r" defTabSz="814305"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n-lt"/>
                <a:ea typeface="ＭＳ Ｐゴシック" charset="0"/>
                <a:cs typeface="CiscoSansTT Light" panose="020B0503020201020303" pitchFamily="34" charset="0"/>
              </a:rPr>
              <a:t>© 2025  Cisco and/or its affiliates. All rights reserved.   Cisco Public</a:t>
            </a:r>
          </a:p>
        </p:txBody>
      </p:sp>
    </p:spTree>
    <p:extLst>
      <p:ext uri="{BB962C8B-B14F-4D97-AF65-F5344CB8AC3E}">
        <p14:creationId xmlns:p14="http://schemas.microsoft.com/office/powerpoint/2010/main" val="88178011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CCEEED"/>
        </a:solidFill>
        <a:effectLst/>
      </p:bgPr>
    </p:bg>
    <p:spTree>
      <p:nvGrpSpPr>
        <p:cNvPr id="1" name=""/>
        <p:cNvGrpSpPr/>
        <p:nvPr/>
      </p:nvGrpSpPr>
      <p:grpSpPr>
        <a:xfrm>
          <a:off x="0" y="0"/>
          <a:ext cx="0" cy="0"/>
          <a:chOff x="0" y="0"/>
          <a:chExt cx="0" cy="0"/>
        </a:xfrm>
      </p:grpSpPr>
      <p:grpSp>
        <p:nvGrpSpPr>
          <p:cNvPr id="18" name="Skupina 17">
            <a:extLst>
              <a:ext uri="{FF2B5EF4-FFF2-40B4-BE49-F238E27FC236}">
                <a16:creationId xmlns:a16="http://schemas.microsoft.com/office/drawing/2014/main" id="{4011FF68-80A6-4631-A6F3-CE34C3AAD663}"/>
              </a:ext>
            </a:extLst>
          </p:cNvPr>
          <p:cNvGrpSpPr/>
          <p:nvPr/>
        </p:nvGrpSpPr>
        <p:grpSpPr>
          <a:xfrm>
            <a:off x="232633" y="6431406"/>
            <a:ext cx="848022" cy="183990"/>
            <a:chOff x="2560197" y="6541214"/>
            <a:chExt cx="1398836" cy="303496"/>
          </a:xfrm>
        </p:grpSpPr>
        <p:sp>
          <p:nvSpPr>
            <p:cNvPr id="11" name="Voľný tvar: obrazec 10">
              <a:extLst>
                <a:ext uri="{FF2B5EF4-FFF2-40B4-BE49-F238E27FC236}">
                  <a16:creationId xmlns:a16="http://schemas.microsoft.com/office/drawing/2014/main" id="{4FA5191C-6A62-486C-B14D-F51AEBF38CC6}"/>
                </a:ext>
              </a:extLst>
            </p:cNvPr>
            <p:cNvSpPr/>
            <p:nvPr/>
          </p:nvSpPr>
          <p:spPr>
            <a:xfrm>
              <a:off x="3265060" y="6542851"/>
              <a:ext cx="191228" cy="296094"/>
            </a:xfrm>
            <a:custGeom>
              <a:avLst/>
              <a:gdLst>
                <a:gd name="connsiteX0" fmla="*/ 2989 w 191228"/>
                <a:gd name="connsiteY0" fmla="*/ 2989 h 296094"/>
                <a:gd name="connsiteX1" fmla="*/ 2989 w 191228"/>
                <a:gd name="connsiteY1" fmla="*/ 297232 h 296094"/>
                <a:gd name="connsiteX2" fmla="*/ 192983 w 191228"/>
                <a:gd name="connsiteY2" fmla="*/ 297232 h 296094"/>
                <a:gd name="connsiteX3" fmla="*/ 192983 w 191228"/>
                <a:gd name="connsiteY3" fmla="*/ 231228 h 296094"/>
                <a:gd name="connsiteX4" fmla="*/ 73311 w 191228"/>
                <a:gd name="connsiteY4" fmla="*/ 231228 h 296094"/>
                <a:gd name="connsiteX5" fmla="*/ 73311 w 191228"/>
                <a:gd name="connsiteY5" fmla="*/ 2989 h 29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1228" h="296094">
                  <a:moveTo>
                    <a:pt x="2989" y="2989"/>
                  </a:moveTo>
                  <a:lnTo>
                    <a:pt x="2989" y="297232"/>
                  </a:lnTo>
                  <a:lnTo>
                    <a:pt x="192983" y="297232"/>
                  </a:lnTo>
                  <a:lnTo>
                    <a:pt x="192983" y="231228"/>
                  </a:lnTo>
                  <a:lnTo>
                    <a:pt x="73311" y="231228"/>
                  </a:lnTo>
                  <a:lnTo>
                    <a:pt x="73311" y="2989"/>
                  </a:lnTo>
                  <a:close/>
                </a:path>
              </a:pathLst>
            </a:custGeom>
            <a:solidFill>
              <a:schemeClr val="tx1"/>
            </a:solidFill>
            <a:ln w="6153" cap="flat">
              <a:noFill/>
              <a:prstDash val="solid"/>
              <a:miter/>
            </a:ln>
          </p:spPr>
          <p:txBody>
            <a:bodyPr rtlCol="0" anchor="ctr"/>
            <a:lstStyle/>
            <a:p>
              <a:endParaRPr lang="en-US" noProof="0"/>
            </a:p>
          </p:txBody>
        </p:sp>
        <p:sp>
          <p:nvSpPr>
            <p:cNvPr id="12" name="Voľný tvar: obrazec 11">
              <a:extLst>
                <a:ext uri="{FF2B5EF4-FFF2-40B4-BE49-F238E27FC236}">
                  <a16:creationId xmlns:a16="http://schemas.microsoft.com/office/drawing/2014/main" id="{EA115CAD-27CA-4D2D-A850-EB2D27E27870}"/>
                </a:ext>
              </a:extLst>
            </p:cNvPr>
            <p:cNvSpPr/>
            <p:nvPr/>
          </p:nvSpPr>
          <p:spPr>
            <a:xfrm>
              <a:off x="3495767" y="6542851"/>
              <a:ext cx="209734" cy="296094"/>
            </a:xfrm>
            <a:custGeom>
              <a:avLst/>
              <a:gdLst>
                <a:gd name="connsiteX0" fmla="*/ 2989 w 209733"/>
                <a:gd name="connsiteY0" fmla="*/ 2989 h 296094"/>
                <a:gd name="connsiteX1" fmla="*/ 2989 w 209733"/>
                <a:gd name="connsiteY1" fmla="*/ 297232 h 296094"/>
                <a:gd name="connsiteX2" fmla="*/ 212106 w 209733"/>
                <a:gd name="connsiteY2" fmla="*/ 297232 h 296094"/>
                <a:gd name="connsiteX3" fmla="*/ 212106 w 209733"/>
                <a:gd name="connsiteY3" fmla="*/ 234312 h 296094"/>
                <a:gd name="connsiteX4" fmla="*/ 73311 w 209733"/>
                <a:gd name="connsiteY4" fmla="*/ 234312 h 296094"/>
                <a:gd name="connsiteX5" fmla="*/ 73311 w 209733"/>
                <a:gd name="connsiteY5" fmla="*/ 175710 h 296094"/>
                <a:gd name="connsiteX6" fmla="*/ 196067 w 209733"/>
                <a:gd name="connsiteY6" fmla="*/ 175710 h 296094"/>
                <a:gd name="connsiteX7" fmla="*/ 196067 w 209733"/>
                <a:gd name="connsiteY7" fmla="*/ 112790 h 296094"/>
                <a:gd name="connsiteX8" fmla="*/ 73311 w 209733"/>
                <a:gd name="connsiteY8" fmla="*/ 112790 h 296094"/>
                <a:gd name="connsiteX9" fmla="*/ 73311 w 209733"/>
                <a:gd name="connsiteY9" fmla="*/ 65909 h 296094"/>
                <a:gd name="connsiteX10" fmla="*/ 212106 w 209733"/>
                <a:gd name="connsiteY10" fmla="*/ 65909 h 296094"/>
                <a:gd name="connsiteX11" fmla="*/ 212106 w 209733"/>
                <a:gd name="connsiteY11" fmla="*/ 2989 h 29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9733" h="296094">
                  <a:moveTo>
                    <a:pt x="2989" y="2989"/>
                  </a:moveTo>
                  <a:lnTo>
                    <a:pt x="2989" y="297232"/>
                  </a:lnTo>
                  <a:lnTo>
                    <a:pt x="212106" y="297232"/>
                  </a:lnTo>
                  <a:lnTo>
                    <a:pt x="212106" y="234312"/>
                  </a:lnTo>
                  <a:lnTo>
                    <a:pt x="73311" y="234312"/>
                  </a:lnTo>
                  <a:lnTo>
                    <a:pt x="73311" y="175710"/>
                  </a:lnTo>
                  <a:lnTo>
                    <a:pt x="196067" y="175710"/>
                  </a:lnTo>
                  <a:lnTo>
                    <a:pt x="196067" y="112790"/>
                  </a:lnTo>
                  <a:lnTo>
                    <a:pt x="73311" y="112790"/>
                  </a:lnTo>
                  <a:lnTo>
                    <a:pt x="73311" y="65909"/>
                  </a:lnTo>
                  <a:lnTo>
                    <a:pt x="212106" y="65909"/>
                  </a:lnTo>
                  <a:lnTo>
                    <a:pt x="212106" y="2989"/>
                  </a:lnTo>
                  <a:close/>
                </a:path>
              </a:pathLst>
            </a:custGeom>
            <a:solidFill>
              <a:schemeClr val="tx1"/>
            </a:solidFill>
            <a:ln w="6153" cap="flat">
              <a:noFill/>
              <a:prstDash val="solid"/>
              <a:miter/>
            </a:ln>
          </p:spPr>
          <p:txBody>
            <a:bodyPr rtlCol="0" anchor="ctr"/>
            <a:lstStyle/>
            <a:p>
              <a:endParaRPr lang="en-US" noProof="0"/>
            </a:p>
          </p:txBody>
        </p:sp>
        <p:sp>
          <p:nvSpPr>
            <p:cNvPr id="13" name="Voľný tvar: obrazec 12">
              <a:extLst>
                <a:ext uri="{FF2B5EF4-FFF2-40B4-BE49-F238E27FC236}">
                  <a16:creationId xmlns:a16="http://schemas.microsoft.com/office/drawing/2014/main" id="{B7276C16-C8EB-4288-8120-2936E96BE39D}"/>
                </a:ext>
              </a:extLst>
            </p:cNvPr>
            <p:cNvSpPr/>
            <p:nvPr/>
          </p:nvSpPr>
          <p:spPr>
            <a:xfrm>
              <a:off x="3749299" y="6542851"/>
              <a:ext cx="209734" cy="296094"/>
            </a:xfrm>
            <a:custGeom>
              <a:avLst/>
              <a:gdLst>
                <a:gd name="connsiteX0" fmla="*/ 2989 w 209733"/>
                <a:gd name="connsiteY0" fmla="*/ 2989 h 296094"/>
                <a:gd name="connsiteX1" fmla="*/ 2989 w 209733"/>
                <a:gd name="connsiteY1" fmla="*/ 297232 h 296094"/>
                <a:gd name="connsiteX2" fmla="*/ 73311 w 209733"/>
                <a:gd name="connsiteY2" fmla="*/ 297232 h 296094"/>
                <a:gd name="connsiteX3" fmla="*/ 73311 w 209733"/>
                <a:gd name="connsiteY3" fmla="*/ 179411 h 296094"/>
                <a:gd name="connsiteX4" fmla="*/ 193600 w 209733"/>
                <a:gd name="connsiteY4" fmla="*/ 179411 h 296094"/>
                <a:gd name="connsiteX5" fmla="*/ 193600 w 209733"/>
                <a:gd name="connsiteY5" fmla="*/ 117108 h 296094"/>
                <a:gd name="connsiteX6" fmla="*/ 73311 w 209733"/>
                <a:gd name="connsiteY6" fmla="*/ 117108 h 296094"/>
                <a:gd name="connsiteX7" fmla="*/ 73311 w 209733"/>
                <a:gd name="connsiteY7" fmla="*/ 65909 h 296094"/>
                <a:gd name="connsiteX8" fmla="*/ 209638 w 209733"/>
                <a:gd name="connsiteY8" fmla="*/ 65909 h 296094"/>
                <a:gd name="connsiteX9" fmla="*/ 209638 w 209733"/>
                <a:gd name="connsiteY9" fmla="*/ 2989 h 29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9733" h="296094">
                  <a:moveTo>
                    <a:pt x="2989" y="2989"/>
                  </a:moveTo>
                  <a:lnTo>
                    <a:pt x="2989" y="297232"/>
                  </a:lnTo>
                  <a:lnTo>
                    <a:pt x="73311" y="297232"/>
                  </a:lnTo>
                  <a:lnTo>
                    <a:pt x="73311" y="179411"/>
                  </a:lnTo>
                  <a:lnTo>
                    <a:pt x="193600" y="179411"/>
                  </a:lnTo>
                  <a:lnTo>
                    <a:pt x="193600" y="117108"/>
                  </a:lnTo>
                  <a:lnTo>
                    <a:pt x="73311" y="117108"/>
                  </a:lnTo>
                  <a:lnTo>
                    <a:pt x="73311" y="65909"/>
                  </a:lnTo>
                  <a:lnTo>
                    <a:pt x="209638" y="65909"/>
                  </a:lnTo>
                  <a:lnTo>
                    <a:pt x="209638" y="2989"/>
                  </a:lnTo>
                  <a:close/>
                </a:path>
              </a:pathLst>
            </a:custGeom>
            <a:solidFill>
              <a:schemeClr val="tx1"/>
            </a:solidFill>
            <a:ln w="6153" cap="flat">
              <a:noFill/>
              <a:prstDash val="solid"/>
              <a:miter/>
            </a:ln>
          </p:spPr>
          <p:txBody>
            <a:bodyPr rtlCol="0" anchor="ctr"/>
            <a:lstStyle/>
            <a:p>
              <a:endParaRPr lang="en-US" noProof="0"/>
            </a:p>
          </p:txBody>
        </p:sp>
        <p:sp>
          <p:nvSpPr>
            <p:cNvPr id="14" name="Voľný tvar: obrazec 13">
              <a:extLst>
                <a:ext uri="{FF2B5EF4-FFF2-40B4-BE49-F238E27FC236}">
                  <a16:creationId xmlns:a16="http://schemas.microsoft.com/office/drawing/2014/main" id="{52A2A020-B15D-40F3-A467-FF58DE1FB0D9}"/>
                </a:ext>
              </a:extLst>
            </p:cNvPr>
            <p:cNvSpPr/>
            <p:nvPr/>
          </p:nvSpPr>
          <p:spPr>
            <a:xfrm>
              <a:off x="2943886" y="6541214"/>
              <a:ext cx="296095" cy="302263"/>
            </a:xfrm>
            <a:custGeom>
              <a:avLst/>
              <a:gdLst>
                <a:gd name="connsiteX0" fmla="*/ 81118 w 296095"/>
                <a:gd name="connsiteY0" fmla="*/ 298870 h 302262"/>
                <a:gd name="connsiteX1" fmla="*/ 102091 w 296095"/>
                <a:gd name="connsiteY1" fmla="*/ 235950 h 302262"/>
                <a:gd name="connsiteX2" fmla="*/ 198939 w 296095"/>
                <a:gd name="connsiteY2" fmla="*/ 235950 h 302262"/>
                <a:gd name="connsiteX3" fmla="*/ 219295 w 296095"/>
                <a:gd name="connsiteY3" fmla="*/ 298870 h 302262"/>
                <a:gd name="connsiteX4" fmla="*/ 295787 w 296095"/>
                <a:gd name="connsiteY4" fmla="*/ 298870 h 302262"/>
                <a:gd name="connsiteX5" fmla="*/ 190303 w 296095"/>
                <a:gd name="connsiteY5" fmla="*/ 4626 h 302262"/>
                <a:gd name="connsiteX6" fmla="*/ 110110 w 296095"/>
                <a:gd name="connsiteY6" fmla="*/ 4626 h 302262"/>
                <a:gd name="connsiteX7" fmla="*/ 4626 w 296095"/>
                <a:gd name="connsiteY7" fmla="*/ 298870 h 302262"/>
                <a:gd name="connsiteX8" fmla="*/ 81118 w 296095"/>
                <a:gd name="connsiteY8" fmla="*/ 298870 h 302262"/>
                <a:gd name="connsiteX9" fmla="*/ 149590 w 296095"/>
                <a:gd name="connsiteY9" fmla="*/ 99006 h 302262"/>
                <a:gd name="connsiteX10" fmla="*/ 150823 w 296095"/>
                <a:gd name="connsiteY10" fmla="*/ 95922 h 302262"/>
                <a:gd name="connsiteX11" fmla="*/ 151440 w 296095"/>
                <a:gd name="connsiteY11" fmla="*/ 98390 h 302262"/>
                <a:gd name="connsiteX12" fmla="*/ 177965 w 296095"/>
                <a:gd name="connsiteY12" fmla="*/ 173647 h 302262"/>
                <a:gd name="connsiteX13" fmla="*/ 123681 w 296095"/>
                <a:gd name="connsiteY13" fmla="*/ 173647 h 302262"/>
                <a:gd name="connsiteX14" fmla="*/ 149590 w 296095"/>
                <a:gd name="connsiteY14" fmla="*/ 99006 h 302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6095" h="302262">
                  <a:moveTo>
                    <a:pt x="81118" y="298870"/>
                  </a:moveTo>
                  <a:lnTo>
                    <a:pt x="102091" y="235950"/>
                  </a:lnTo>
                  <a:lnTo>
                    <a:pt x="198939" y="235950"/>
                  </a:lnTo>
                  <a:lnTo>
                    <a:pt x="219295" y="298870"/>
                  </a:lnTo>
                  <a:lnTo>
                    <a:pt x="295787" y="298870"/>
                  </a:lnTo>
                  <a:lnTo>
                    <a:pt x="190303" y="4626"/>
                  </a:lnTo>
                  <a:lnTo>
                    <a:pt x="110110" y="4626"/>
                  </a:lnTo>
                  <a:lnTo>
                    <a:pt x="4626" y="298870"/>
                  </a:lnTo>
                  <a:lnTo>
                    <a:pt x="81118" y="298870"/>
                  </a:lnTo>
                  <a:close/>
                  <a:moveTo>
                    <a:pt x="149590" y="99006"/>
                  </a:moveTo>
                  <a:cubicBezTo>
                    <a:pt x="150207" y="98390"/>
                    <a:pt x="150207" y="97156"/>
                    <a:pt x="150823" y="95922"/>
                  </a:cubicBezTo>
                  <a:cubicBezTo>
                    <a:pt x="150823" y="96539"/>
                    <a:pt x="151440" y="97773"/>
                    <a:pt x="151440" y="98390"/>
                  </a:cubicBezTo>
                  <a:lnTo>
                    <a:pt x="177965" y="173647"/>
                  </a:lnTo>
                  <a:lnTo>
                    <a:pt x="123681" y="173647"/>
                  </a:lnTo>
                  <a:lnTo>
                    <a:pt x="149590" y="99006"/>
                  </a:lnTo>
                  <a:close/>
                </a:path>
              </a:pathLst>
            </a:custGeom>
            <a:solidFill>
              <a:schemeClr val="tx1"/>
            </a:solidFill>
            <a:ln w="9525" cap="flat">
              <a:noFill/>
              <a:prstDash val="solid"/>
              <a:miter/>
            </a:ln>
          </p:spPr>
          <p:txBody>
            <a:bodyPr rtlCol="0" anchor="ctr"/>
            <a:lstStyle/>
            <a:p>
              <a:endParaRPr lang="en-US" noProof="0"/>
            </a:p>
          </p:txBody>
        </p:sp>
        <p:sp>
          <p:nvSpPr>
            <p:cNvPr id="15" name="Voľný tvar: obrazec 14">
              <a:extLst>
                <a:ext uri="{FF2B5EF4-FFF2-40B4-BE49-F238E27FC236}">
                  <a16:creationId xmlns:a16="http://schemas.microsoft.com/office/drawing/2014/main" id="{5860F4B5-43B2-4A66-9F04-CDA8CCB0FFAC}"/>
                </a:ext>
              </a:extLst>
            </p:cNvPr>
            <p:cNvSpPr/>
            <p:nvPr/>
          </p:nvSpPr>
          <p:spPr>
            <a:xfrm>
              <a:off x="2567386" y="6543468"/>
              <a:ext cx="271420" cy="296094"/>
            </a:xfrm>
            <a:custGeom>
              <a:avLst/>
              <a:gdLst>
                <a:gd name="connsiteX0" fmla="*/ 2989 w 271420"/>
                <a:gd name="connsiteY0" fmla="*/ 2989 h 296094"/>
                <a:gd name="connsiteX1" fmla="*/ 174477 w 271420"/>
                <a:gd name="connsiteY1" fmla="*/ 296615 h 296094"/>
                <a:gd name="connsiteX2" fmla="*/ 270708 w 271420"/>
                <a:gd name="connsiteY2" fmla="*/ 296615 h 296094"/>
                <a:gd name="connsiteX3" fmla="*/ 101687 w 271420"/>
                <a:gd name="connsiteY3" fmla="*/ 2989 h 296094"/>
              </a:gdLst>
              <a:ahLst/>
              <a:cxnLst>
                <a:cxn ang="0">
                  <a:pos x="connsiteX0" y="connsiteY0"/>
                </a:cxn>
                <a:cxn ang="0">
                  <a:pos x="connsiteX1" y="connsiteY1"/>
                </a:cxn>
                <a:cxn ang="0">
                  <a:pos x="connsiteX2" y="connsiteY2"/>
                </a:cxn>
                <a:cxn ang="0">
                  <a:pos x="connsiteX3" y="connsiteY3"/>
                </a:cxn>
              </a:cxnLst>
              <a:rect l="l" t="t" r="r" b="b"/>
              <a:pathLst>
                <a:path w="271420" h="296094">
                  <a:moveTo>
                    <a:pt x="2989" y="2989"/>
                  </a:moveTo>
                  <a:lnTo>
                    <a:pt x="174477" y="296615"/>
                  </a:lnTo>
                  <a:lnTo>
                    <a:pt x="270708" y="296615"/>
                  </a:lnTo>
                  <a:lnTo>
                    <a:pt x="101687" y="2989"/>
                  </a:lnTo>
                  <a:close/>
                </a:path>
              </a:pathLst>
            </a:custGeom>
            <a:solidFill>
              <a:schemeClr val="tx2"/>
            </a:solidFill>
            <a:ln w="6153" cap="flat">
              <a:noFill/>
              <a:prstDash val="solid"/>
              <a:miter/>
            </a:ln>
          </p:spPr>
          <p:txBody>
            <a:bodyPr rtlCol="0" anchor="ctr"/>
            <a:lstStyle/>
            <a:p>
              <a:endParaRPr lang="en-US" noProof="0"/>
            </a:p>
          </p:txBody>
        </p:sp>
        <p:sp>
          <p:nvSpPr>
            <p:cNvPr id="16" name="Voľný tvar: obrazec 15">
              <a:extLst>
                <a:ext uri="{FF2B5EF4-FFF2-40B4-BE49-F238E27FC236}">
                  <a16:creationId xmlns:a16="http://schemas.microsoft.com/office/drawing/2014/main" id="{8F5A66BB-792C-44C6-B241-00F85F17CFDC}"/>
                </a:ext>
              </a:extLst>
            </p:cNvPr>
            <p:cNvSpPr/>
            <p:nvPr/>
          </p:nvSpPr>
          <p:spPr>
            <a:xfrm>
              <a:off x="2744022" y="6541214"/>
              <a:ext cx="104867" cy="148047"/>
            </a:xfrm>
            <a:custGeom>
              <a:avLst/>
              <a:gdLst>
                <a:gd name="connsiteX0" fmla="*/ 4626 w 104866"/>
                <a:gd name="connsiteY0" fmla="*/ 143421 h 148047"/>
                <a:gd name="connsiteX1" fmla="*/ 16964 w 104866"/>
                <a:gd name="connsiteY1" fmla="*/ 4626 h 148047"/>
                <a:gd name="connsiteX2" fmla="*/ 101474 w 104866"/>
                <a:gd name="connsiteY2" fmla="*/ 4626 h 148047"/>
                <a:gd name="connsiteX3" fmla="*/ 91604 w 104866"/>
                <a:gd name="connsiteY3" fmla="*/ 102708 h 148047"/>
                <a:gd name="connsiteX4" fmla="*/ 4626 w 104866"/>
                <a:gd name="connsiteY4" fmla="*/ 143421 h 148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66" h="148047">
                  <a:moveTo>
                    <a:pt x="4626" y="143421"/>
                  </a:moveTo>
                  <a:lnTo>
                    <a:pt x="16964" y="4626"/>
                  </a:lnTo>
                  <a:lnTo>
                    <a:pt x="101474" y="4626"/>
                  </a:lnTo>
                  <a:lnTo>
                    <a:pt x="91604" y="102708"/>
                  </a:lnTo>
                  <a:cubicBezTo>
                    <a:pt x="90988" y="102708"/>
                    <a:pt x="70014" y="131083"/>
                    <a:pt x="4626" y="143421"/>
                  </a:cubicBezTo>
                </a:path>
              </a:pathLst>
            </a:custGeom>
            <a:solidFill>
              <a:schemeClr val="tx2"/>
            </a:solidFill>
            <a:ln w="9525" cap="flat">
              <a:noFill/>
              <a:prstDash val="solid"/>
              <a:miter/>
            </a:ln>
          </p:spPr>
          <p:txBody>
            <a:bodyPr rtlCol="0" anchor="ctr"/>
            <a:lstStyle/>
            <a:p>
              <a:endParaRPr lang="en-US" noProof="0"/>
            </a:p>
          </p:txBody>
        </p:sp>
        <p:sp>
          <p:nvSpPr>
            <p:cNvPr id="17" name="Voľný tvar: obrazec 16">
              <a:extLst>
                <a:ext uri="{FF2B5EF4-FFF2-40B4-BE49-F238E27FC236}">
                  <a16:creationId xmlns:a16="http://schemas.microsoft.com/office/drawing/2014/main" id="{B87BEB4D-0B19-448B-A068-4C7C485A7F7F}"/>
                </a:ext>
              </a:extLst>
            </p:cNvPr>
            <p:cNvSpPr/>
            <p:nvPr/>
          </p:nvSpPr>
          <p:spPr>
            <a:xfrm>
              <a:off x="2560197" y="6696663"/>
              <a:ext cx="104867" cy="148047"/>
            </a:xfrm>
            <a:custGeom>
              <a:avLst/>
              <a:gdLst>
                <a:gd name="connsiteX0" fmla="*/ 100857 w 104866"/>
                <a:gd name="connsiteY0" fmla="*/ 4626 h 148047"/>
                <a:gd name="connsiteX1" fmla="*/ 88520 w 104866"/>
                <a:gd name="connsiteY1" fmla="*/ 143421 h 148047"/>
                <a:gd name="connsiteX2" fmla="*/ 4626 w 104866"/>
                <a:gd name="connsiteY2" fmla="*/ 143421 h 148047"/>
                <a:gd name="connsiteX3" fmla="*/ 14496 w 104866"/>
                <a:gd name="connsiteY3" fmla="*/ 45339 h 148047"/>
                <a:gd name="connsiteX4" fmla="*/ 100857 w 104866"/>
                <a:gd name="connsiteY4" fmla="*/ 4626 h 148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66" h="148047">
                  <a:moveTo>
                    <a:pt x="100857" y="4626"/>
                  </a:moveTo>
                  <a:lnTo>
                    <a:pt x="88520" y="143421"/>
                  </a:lnTo>
                  <a:lnTo>
                    <a:pt x="4626" y="143421"/>
                  </a:lnTo>
                  <a:lnTo>
                    <a:pt x="14496" y="45339"/>
                  </a:lnTo>
                  <a:cubicBezTo>
                    <a:pt x="14496" y="45339"/>
                    <a:pt x="36087" y="16347"/>
                    <a:pt x="100857" y="4626"/>
                  </a:cubicBezTo>
                </a:path>
              </a:pathLst>
            </a:custGeom>
            <a:solidFill>
              <a:schemeClr val="tx2"/>
            </a:solidFill>
            <a:ln w="9525" cap="flat">
              <a:noFill/>
              <a:prstDash val="solid"/>
              <a:miter/>
            </a:ln>
          </p:spPr>
          <p:txBody>
            <a:bodyPr rtlCol="0" anchor="ctr"/>
            <a:lstStyle/>
            <a:p>
              <a:endParaRPr lang="en-US" noProof="0"/>
            </a:p>
          </p:txBody>
        </p:sp>
      </p:grpSp>
      <p:sp>
        <p:nvSpPr>
          <p:cNvPr id="21" name="Slide Number Placeholder 1">
            <a:extLst>
              <a:ext uri="{FF2B5EF4-FFF2-40B4-BE49-F238E27FC236}">
                <a16:creationId xmlns:a16="http://schemas.microsoft.com/office/drawing/2014/main" id="{7F6A1F85-4FDB-4E97-A84C-9C866BB3AF30}"/>
              </a:ext>
            </a:extLst>
          </p:cNvPr>
          <p:cNvSpPr>
            <a:spLocks noGrp="1"/>
          </p:cNvSpPr>
          <p:nvPr>
            <p:ph type="sldNum" sz="quarter" idx="4"/>
          </p:nvPr>
        </p:nvSpPr>
        <p:spPr>
          <a:xfrm>
            <a:off x="7812360" y="6237312"/>
            <a:ext cx="874440" cy="365125"/>
          </a:xfrm>
          <a:prstGeom prst="rect">
            <a:avLst/>
          </a:prstGeom>
        </p:spPr>
        <p:txBody>
          <a:bodyPr/>
          <a:lstStyle>
            <a:lvl1pPr>
              <a:defRPr/>
            </a:lvl1pPr>
          </a:lstStyle>
          <a:p>
            <a:fld id="{9C2A840F-0B87-418B-810F-AF8C7854C3AD}" type="slidenum">
              <a:rPr lang="cs-CZ" smtClean="0"/>
              <a:t>‹#›</a:t>
            </a:fld>
            <a:endParaRPr lang="cs-CZ"/>
          </a:p>
        </p:txBody>
      </p:sp>
    </p:spTree>
    <p:extLst>
      <p:ext uri="{BB962C8B-B14F-4D97-AF65-F5344CB8AC3E}">
        <p14:creationId xmlns:p14="http://schemas.microsoft.com/office/powerpoint/2010/main" val="3072744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89" r:id="rId7"/>
    <p:sldLayoutId id="2147483693" r:id="rId8"/>
    <p:sldLayoutId id="2147483694" r:id="rId9"/>
    <p:sldLayoutId id="2147483692" r:id="rId10"/>
    <p:sldLayoutId id="2147483667" r:id="rId11"/>
    <p:sldLayoutId id="2147483668" r:id="rId12"/>
    <p:sldLayoutId id="2147483691" r:id="rId13"/>
    <p:sldLayoutId id="2147483669" r:id="rId14"/>
    <p:sldLayoutId id="2147483670" r:id="rId15"/>
    <p:sldLayoutId id="2147483671" r:id="rId16"/>
    <p:sldLayoutId id="2147483672" r:id="rId17"/>
    <p:sldLayoutId id="2147483673" r:id="rId18"/>
    <p:sldLayoutId id="2147483674" r:id="rId19"/>
    <p:sldLayoutId id="2147483675" r:id="rId20"/>
    <p:sldLayoutId id="2147483676" r:id="rId21"/>
    <p:sldLayoutId id="2147483677" r:id="rId22"/>
    <p:sldLayoutId id="2147483678" r:id="rId23"/>
    <p:sldLayoutId id="2147483679" r:id="rId24"/>
    <p:sldLayoutId id="2147483680" r:id="rId25"/>
    <p:sldLayoutId id="2147483681" r:id="rId26"/>
    <p:sldLayoutId id="2147483682" r:id="rId27"/>
    <p:sldLayoutId id="2147483683" r:id="rId28"/>
    <p:sldLayoutId id="2147483684" r:id="rId29"/>
    <p:sldLayoutId id="2147483685" r:id="rId30"/>
    <p:sldLayoutId id="2147483686" r:id="rId31"/>
    <p:sldLayoutId id="2147483687" r:id="rId32"/>
    <p:sldLayoutId id="2147483688" r:id="rId33"/>
    <p:sldLayoutId id="2147483695" r:id="rId34"/>
    <p:sldLayoutId id="2147483696" r:id="rId35"/>
    <p:sldLayoutId id="2147483697" r:id="rId36"/>
    <p:sldLayoutId id="2147483698" r:id="rId37"/>
    <p:sldLayoutId id="2147483699" r:id="rId3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ctr" defTabSz="914400" rtl="0" eaLnBrk="1" latinLnBrk="0" hangingPunct="1">
        <a:lnSpc>
          <a:spcPct val="90000"/>
        </a:lnSpc>
        <a:spcBef>
          <a:spcPts val="1000"/>
        </a:spcBef>
        <a:buFont typeface="Arial" panose="020B0604020202020204" pitchFamily="34" charset="0"/>
        <a:buNone/>
        <a:defRPr sz="3600" b="1" kern="1200">
          <a:solidFill>
            <a:schemeClr val="tx2"/>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400" b="1" kern="1200">
          <a:solidFill>
            <a:schemeClr val="tx2"/>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2000" b="1" kern="1200">
          <a:solidFill>
            <a:schemeClr val="tx2"/>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800" b="1" kern="1200">
          <a:solidFill>
            <a:schemeClr val="tx2"/>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800" b="1"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image" Target="../media/image26.tmp"/><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3" Type="http://schemas.openxmlformats.org/officeDocument/2006/relationships/image" Target="../media/image27.tmp"/><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image" Target="../media/image29.tmp"/><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image" Target="../media/image30.tmp"/><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2" Type="http://schemas.openxmlformats.org/officeDocument/2006/relationships/image" Target="../media/image31.tmp"/><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3" Type="http://schemas.openxmlformats.org/officeDocument/2006/relationships/image" Target="../media/image32.tmp"/><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2" Type="http://schemas.openxmlformats.org/officeDocument/2006/relationships/image" Target="../media/image33.tmp"/><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2" Type="http://schemas.openxmlformats.org/officeDocument/2006/relationships/image" Target="../media/image34.tmp"/><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3" Type="http://schemas.openxmlformats.org/officeDocument/2006/relationships/image" Target="../media/image35.tmp"/><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3" Type="http://schemas.openxmlformats.org/officeDocument/2006/relationships/image" Target="../media/image36.tmp"/><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3" Type="http://schemas.openxmlformats.org/officeDocument/2006/relationships/image" Target="../media/image37.tmp"/><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3" Type="http://schemas.openxmlformats.org/officeDocument/2006/relationships/image" Target="../media/image38.tmp"/><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3" Type="http://schemas.openxmlformats.org/officeDocument/2006/relationships/image" Target="../media/image39.tmp"/><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3" Type="http://schemas.openxmlformats.org/officeDocument/2006/relationships/image" Target="../media/image40.tmp"/><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3" Type="http://schemas.openxmlformats.org/officeDocument/2006/relationships/image" Target="../media/image41.tmp"/><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132.xml.rels><?xml version="1.0" encoding="UTF-8" standalone="yes"?>
<Relationships xmlns="http://schemas.openxmlformats.org/package/2006/relationships"><Relationship Id="rId3" Type="http://schemas.openxmlformats.org/officeDocument/2006/relationships/image" Target="../media/image42.tmp"/><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2" Type="http://schemas.openxmlformats.org/officeDocument/2006/relationships/image" Target="../media/image43.tmp"/><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image" Target="../media/image44.tmp"/><Relationship Id="rId1" Type="http://schemas.openxmlformats.org/officeDocument/2006/relationships/slideLayout" Target="../slideLayouts/slideLayout6.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hyperlink" Target="https://www.cisco.com/c/dam/en/us/td/i/400001-500000/460001-470000/469001-470000/469650.jpg" TargetMode="External"/><Relationship Id="rId1" Type="http://schemas.openxmlformats.org/officeDocument/2006/relationships/slideLayout" Target="../slideLayouts/slideLayout6.xml"/></Relationships>
</file>

<file path=ppt/slides/_rels/slide13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13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139.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hyperlink" Target="https://www.cisco.com/c/dam/en/us/td/i/400001-500000/460001-470000/469001-470000/469651.jpg" TargetMode="External"/><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3" Type="http://schemas.openxmlformats.org/officeDocument/2006/relationships/image" Target="../media/image48.tmp"/><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141.xml.rels><?xml version="1.0" encoding="UTF-8" standalone="yes"?>
<Relationships xmlns="http://schemas.openxmlformats.org/package/2006/relationships"><Relationship Id="rId2" Type="http://schemas.openxmlformats.org/officeDocument/2006/relationships/image" Target="../media/image49.tmp"/><Relationship Id="rId1" Type="http://schemas.openxmlformats.org/officeDocument/2006/relationships/slideLayout" Target="../slideLayouts/slideLayout6.xml"/></Relationships>
</file>

<file path=ppt/slides/_rels/slide142.xml.rels><?xml version="1.0" encoding="UTF-8" standalone="yes"?>
<Relationships xmlns="http://schemas.openxmlformats.org/package/2006/relationships"><Relationship Id="rId2" Type="http://schemas.openxmlformats.org/officeDocument/2006/relationships/image" Target="../media/image50.tmp"/><Relationship Id="rId1" Type="http://schemas.openxmlformats.org/officeDocument/2006/relationships/slideLayout" Target="../slideLayouts/slideLayout6.xml"/></Relationships>
</file>

<file path=ppt/slides/_rels/slide143.xml.rels><?xml version="1.0" encoding="UTF-8" standalone="yes"?>
<Relationships xmlns="http://schemas.openxmlformats.org/package/2006/relationships"><Relationship Id="rId2" Type="http://schemas.openxmlformats.org/officeDocument/2006/relationships/image" Target="../media/image51.tmp"/><Relationship Id="rId1" Type="http://schemas.openxmlformats.org/officeDocument/2006/relationships/slideLayout" Target="../slideLayouts/slideLayout6.xml"/></Relationships>
</file>

<file path=ppt/slides/_rels/slide144.xml.rels><?xml version="1.0" encoding="UTF-8" standalone="yes"?>
<Relationships xmlns="http://schemas.openxmlformats.org/package/2006/relationships"><Relationship Id="rId2" Type="http://schemas.openxmlformats.org/officeDocument/2006/relationships/image" Target="../media/image50.tmp"/><Relationship Id="rId1" Type="http://schemas.openxmlformats.org/officeDocument/2006/relationships/slideLayout" Target="../slideLayouts/slideLayout6.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7.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6.xml"/></Relationships>
</file>

<file path=ppt/slides/_rels/slide148.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6.xml"/></Relationships>
</file>

<file path=ppt/slides/_rels/slide149.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6.xml"/></Relationships>
</file>

<file path=ppt/slides/_rels/slide150.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6.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6.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153.xml.rels><?xml version="1.0" encoding="UTF-8" standalone="yes"?>
<Relationships xmlns="http://schemas.openxmlformats.org/package/2006/relationships"><Relationship Id="rId3" Type="http://schemas.openxmlformats.org/officeDocument/2006/relationships/image" Target="../media/image52.tmp"/><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16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5.xml"/><Relationship Id="rId1" Type="http://schemas.openxmlformats.org/officeDocument/2006/relationships/slideLayout" Target="../slideLayouts/slideLayout6.xml"/><Relationship Id="rId5" Type="http://schemas.openxmlformats.org/officeDocument/2006/relationships/image" Target="../media/image55.jpeg"/><Relationship Id="rId4" Type="http://schemas.openxmlformats.org/officeDocument/2006/relationships/image" Target="../media/image54.jpe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4.xml.rels><?xml version="1.0" encoding="UTF-8" standalone="yes"?>
<Relationships xmlns="http://schemas.openxmlformats.org/package/2006/relationships"><Relationship Id="rId2" Type="http://schemas.openxmlformats.org/officeDocument/2006/relationships/image" Target="../media/image56.tmp"/><Relationship Id="rId1" Type="http://schemas.openxmlformats.org/officeDocument/2006/relationships/slideLayout" Target="../slideLayouts/slideLayout6.xml"/></Relationships>
</file>

<file path=ppt/slides/_rels/slide165.xml.rels><?xml version="1.0" encoding="UTF-8" standalone="yes"?>
<Relationships xmlns="http://schemas.openxmlformats.org/package/2006/relationships"><Relationship Id="rId2" Type="http://schemas.openxmlformats.org/officeDocument/2006/relationships/image" Target="../media/image57.tmp"/><Relationship Id="rId1" Type="http://schemas.openxmlformats.org/officeDocument/2006/relationships/slideLayout" Target="../slideLayouts/slideLayout6.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3.xml"/></Relationships>
</file>

<file path=ppt/slides/_rels/slide173.xml.rels><?xml version="1.0" encoding="UTF-8" standalone="yes"?>
<Relationships xmlns="http://schemas.openxmlformats.org/package/2006/relationships"><Relationship Id="rId2" Type="http://schemas.openxmlformats.org/officeDocument/2006/relationships/image" Target="../media/image58.tmp"/><Relationship Id="rId1" Type="http://schemas.openxmlformats.org/officeDocument/2006/relationships/slideLayout" Target="../slideLayouts/slideLayout6.xml"/></Relationships>
</file>

<file path=ppt/slides/_rels/slide174.xml.rels><?xml version="1.0" encoding="UTF-8" standalone="yes"?>
<Relationships xmlns="http://schemas.openxmlformats.org/package/2006/relationships"><Relationship Id="rId2" Type="http://schemas.openxmlformats.org/officeDocument/2006/relationships/image" Target="../media/image59.tmp"/><Relationship Id="rId1" Type="http://schemas.openxmlformats.org/officeDocument/2006/relationships/slideLayout" Target="../slideLayouts/slideLayout6.xml"/></Relationships>
</file>

<file path=ppt/slides/_rels/slide175.xml.rels><?xml version="1.0" encoding="UTF-8" standalone="yes"?>
<Relationships xmlns="http://schemas.openxmlformats.org/package/2006/relationships"><Relationship Id="rId2" Type="http://schemas.openxmlformats.org/officeDocument/2006/relationships/image" Target="../media/image60.tmp"/><Relationship Id="rId1" Type="http://schemas.openxmlformats.org/officeDocument/2006/relationships/slideLayout" Target="../slideLayouts/slideLayout6.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7.xml.rels><?xml version="1.0" encoding="UTF-8" standalone="yes"?>
<Relationships xmlns="http://schemas.openxmlformats.org/package/2006/relationships"><Relationship Id="rId2" Type="http://schemas.openxmlformats.org/officeDocument/2006/relationships/image" Target="../media/image61.tmp"/><Relationship Id="rId1" Type="http://schemas.openxmlformats.org/officeDocument/2006/relationships/slideLayout" Target="../slideLayouts/slideLayout6.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6.xml"/></Relationships>
</file>

<file path=ppt/slides/_rels/slide186.xml.rels><?xml version="1.0" encoding="UTF-8" standalone="yes"?>
<Relationships xmlns="http://schemas.openxmlformats.org/package/2006/relationships"><Relationship Id="rId2" Type="http://schemas.openxmlformats.org/officeDocument/2006/relationships/image" Target="../media/image62.tmp"/><Relationship Id="rId1" Type="http://schemas.openxmlformats.org/officeDocument/2006/relationships/slideLayout" Target="../slideLayouts/slideLayout6.xml"/></Relationships>
</file>

<file path=ppt/slides/_rels/slide187.xml.rels><?xml version="1.0" encoding="UTF-8" standalone="yes"?>
<Relationships xmlns="http://schemas.openxmlformats.org/package/2006/relationships"><Relationship Id="rId2" Type="http://schemas.openxmlformats.org/officeDocument/2006/relationships/image" Target="../media/image63.tmp"/><Relationship Id="rId1" Type="http://schemas.openxmlformats.org/officeDocument/2006/relationships/slideLayout" Target="../slideLayouts/slideLayout6.xml"/></Relationships>
</file>

<file path=ppt/slides/_rels/slide188.xml.rels><?xml version="1.0" encoding="UTF-8" standalone="yes"?>
<Relationships xmlns="http://schemas.openxmlformats.org/package/2006/relationships"><Relationship Id="rId3" Type="http://schemas.openxmlformats.org/officeDocument/2006/relationships/image" Target="../media/image65.tmp"/><Relationship Id="rId2" Type="http://schemas.openxmlformats.org/officeDocument/2006/relationships/image" Target="../media/image64.tmp"/><Relationship Id="rId1" Type="http://schemas.openxmlformats.org/officeDocument/2006/relationships/slideLayout" Target="../slideLayouts/slideLayout6.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6.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6.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8.xml.rels><?xml version="1.0" encoding="UTF-8" standalone="yes"?>
<Relationships xmlns="http://schemas.openxmlformats.org/package/2006/relationships"><Relationship Id="rId2" Type="http://schemas.openxmlformats.org/officeDocument/2006/relationships/image" Target="../media/image67.tmp"/><Relationship Id="rId1" Type="http://schemas.openxmlformats.org/officeDocument/2006/relationships/slideLayout" Target="../slideLayouts/slideLayout6.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1.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1.xml.rels><?xml version="1.0" encoding="UTF-8" standalone="yes"?>
<Relationships xmlns="http://schemas.openxmlformats.org/package/2006/relationships"><Relationship Id="rId3" Type="http://schemas.openxmlformats.org/officeDocument/2006/relationships/image" Target="../media/image68.tmp"/><Relationship Id="rId2" Type="http://schemas.openxmlformats.org/officeDocument/2006/relationships/notesSlide" Target="../notesSlides/notesSlide93.xml"/><Relationship Id="rId1" Type="http://schemas.openxmlformats.org/officeDocument/2006/relationships/slideLayout" Target="../slideLayouts/slideLayout6.xml"/></Relationships>
</file>

<file path=ppt/slides/_rels/slide232.xml.rels><?xml version="1.0" encoding="UTF-8" standalone="yes"?>
<Relationships xmlns="http://schemas.openxmlformats.org/package/2006/relationships"><Relationship Id="rId2" Type="http://schemas.openxmlformats.org/officeDocument/2006/relationships/image" Target="../media/image69.tmp"/><Relationship Id="rId1" Type="http://schemas.openxmlformats.org/officeDocument/2006/relationships/slideLayout" Target="../slideLayouts/slideLayout6.xml"/></Relationships>
</file>

<file path=ppt/slides/_rels/slide233.xml.rels><?xml version="1.0" encoding="UTF-8" standalone="yes"?>
<Relationships xmlns="http://schemas.openxmlformats.org/package/2006/relationships"><Relationship Id="rId2" Type="http://schemas.openxmlformats.org/officeDocument/2006/relationships/image" Target="../media/image43.tmp"/><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2" Type="http://schemas.openxmlformats.org/officeDocument/2006/relationships/image" Target="../media/image44.tmp"/><Relationship Id="rId1" Type="http://schemas.openxmlformats.org/officeDocument/2006/relationships/slideLayout" Target="../slideLayouts/slideLayout6.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1.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6.xml.rels><?xml version="1.0" encoding="UTF-8" standalone="yes"?>
<Relationships xmlns="http://schemas.openxmlformats.org/package/2006/relationships"><Relationship Id="rId2" Type="http://schemas.openxmlformats.org/officeDocument/2006/relationships/image" Target="../media/image70.tmp"/><Relationship Id="rId1" Type="http://schemas.openxmlformats.org/officeDocument/2006/relationships/slideLayout" Target="../slideLayouts/slideLayout6.xml"/></Relationships>
</file>

<file path=ppt/slides/_rels/slide247.xml.rels><?xml version="1.0" encoding="UTF-8" standalone="yes"?>
<Relationships xmlns="http://schemas.openxmlformats.org/package/2006/relationships"><Relationship Id="rId3" Type="http://schemas.openxmlformats.org/officeDocument/2006/relationships/image" Target="../media/image71.tmp"/><Relationship Id="rId2" Type="http://schemas.openxmlformats.org/officeDocument/2006/relationships/notesSlide" Target="../notesSlides/notesSlide96.xml"/><Relationship Id="rId1" Type="http://schemas.openxmlformats.org/officeDocument/2006/relationships/slideLayout" Target="../slideLayouts/slideLayout6.xml"/></Relationships>
</file>

<file path=ppt/slides/_rels/slide248.xml.rels><?xml version="1.0" encoding="UTF-8" standalone="yes"?>
<Relationships xmlns="http://schemas.openxmlformats.org/package/2006/relationships"><Relationship Id="rId2" Type="http://schemas.openxmlformats.org/officeDocument/2006/relationships/image" Target="../media/image72.tmp"/><Relationship Id="rId1" Type="http://schemas.openxmlformats.org/officeDocument/2006/relationships/slideLayout" Target="../slideLayouts/slideLayout6.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3.xml.rels><?xml version="1.0" encoding="UTF-8" standalone="yes"?>
<Relationships xmlns="http://schemas.openxmlformats.org/package/2006/relationships"><Relationship Id="rId2" Type="http://schemas.openxmlformats.org/officeDocument/2006/relationships/image" Target="../media/image73.tmp"/><Relationship Id="rId1" Type="http://schemas.openxmlformats.org/officeDocument/2006/relationships/slideLayout" Target="../slideLayouts/slideLayout6.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5.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9.xml.rels><?xml version="1.0" encoding="UTF-8" standalone="yes"?>
<Relationships xmlns="http://schemas.openxmlformats.org/package/2006/relationships"><Relationship Id="rId3" Type="http://schemas.openxmlformats.org/officeDocument/2006/relationships/image" Target="../media/image74.tmp"/><Relationship Id="rId2" Type="http://schemas.openxmlformats.org/officeDocument/2006/relationships/notesSlide" Target="../notesSlides/notesSlide98.xml"/><Relationship Id="rId1" Type="http://schemas.openxmlformats.org/officeDocument/2006/relationships/slideLayout" Target="../slideLayouts/slideLayout6.xml"/></Relationships>
</file>

<file path=ppt/slides/_rels/slide260.xml.rels><?xml version="1.0" encoding="UTF-8" standalone="yes"?>
<Relationships xmlns="http://schemas.openxmlformats.org/package/2006/relationships"><Relationship Id="rId3" Type="http://schemas.openxmlformats.org/officeDocument/2006/relationships/hyperlink" Target="https://www.cisco.com/c/en/us/td/docs/routers/asr9000/software/24xx/segment-routing/configuration/guide/b-segment-routing-cg-asr9000-24xx/configure-srv6-traffic-engineering.html" TargetMode="External"/><Relationship Id="rId2" Type="http://schemas.openxmlformats.org/officeDocument/2006/relationships/notesSlide" Target="../notesSlides/notesSlide99.xml"/><Relationship Id="rId1" Type="http://schemas.openxmlformats.org/officeDocument/2006/relationships/slideLayout" Target="../slideLayouts/slideLayout6.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3.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1.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5.xml.rels><?xml version="1.0" encoding="UTF-8" standalone="yes"?>
<Relationships xmlns="http://schemas.openxmlformats.org/package/2006/relationships"><Relationship Id="rId3" Type="http://schemas.openxmlformats.org/officeDocument/2006/relationships/image" Target="../media/image75.tmp"/><Relationship Id="rId2" Type="http://schemas.openxmlformats.org/officeDocument/2006/relationships/notesSlide" Target="../notesSlides/notesSlide101.xml"/><Relationship Id="rId1" Type="http://schemas.openxmlformats.org/officeDocument/2006/relationships/slideLayout" Target="../slideLayouts/slideLayout6.xml"/><Relationship Id="rId4" Type="http://schemas.openxmlformats.org/officeDocument/2006/relationships/image" Target="../media/image76.tmp"/></Relationships>
</file>

<file path=ppt/slides/_rels/slide266.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6.xml"/></Relationships>
</file>

<file path=ppt/slides/_rels/slide267.xml.rels><?xml version="1.0" encoding="UTF-8" standalone="yes"?>
<Relationships xmlns="http://schemas.openxmlformats.org/package/2006/relationships"><Relationship Id="rId3" Type="http://schemas.openxmlformats.org/officeDocument/2006/relationships/image" Target="../media/image77.tmp"/><Relationship Id="rId2" Type="http://schemas.openxmlformats.org/officeDocument/2006/relationships/notesSlide" Target="../notesSlides/notesSlide103.xml"/><Relationship Id="rId1" Type="http://schemas.openxmlformats.org/officeDocument/2006/relationships/slideLayout" Target="../slideLayouts/slideLayout10.xml"/></Relationships>
</file>

<file path=ppt/slides/_rels/slide268.xml.rels><?xml version="1.0" encoding="UTF-8" standalone="yes"?>
<Relationships xmlns="http://schemas.openxmlformats.org/package/2006/relationships"><Relationship Id="rId3" Type="http://schemas.openxmlformats.org/officeDocument/2006/relationships/image" Target="../media/image78.tmp"/><Relationship Id="rId2" Type="http://schemas.openxmlformats.org/officeDocument/2006/relationships/notesSlide" Target="../notesSlides/notesSlide104.xml"/><Relationship Id="rId1" Type="http://schemas.openxmlformats.org/officeDocument/2006/relationships/slideLayout" Target="../slideLayouts/slideLayout6.xml"/></Relationships>
</file>

<file path=ppt/slides/_rels/slide269.xml.rels><?xml version="1.0" encoding="UTF-8" standalone="yes"?>
<Relationships xmlns="http://schemas.openxmlformats.org/package/2006/relationships"><Relationship Id="rId2" Type="http://schemas.openxmlformats.org/officeDocument/2006/relationships/image" Target="../media/image51.tmp"/><Relationship Id="rId1" Type="http://schemas.openxmlformats.org/officeDocument/2006/relationships/slideLayout" Target="../slideLayouts/slideLayout6.xml"/></Relationships>
</file>

<file path=ppt/slides/_rels/slide270.xml.rels><?xml version="1.0" encoding="UTF-8" standalone="yes"?>
<Relationships xmlns="http://schemas.openxmlformats.org/package/2006/relationships"><Relationship Id="rId3" Type="http://schemas.openxmlformats.org/officeDocument/2006/relationships/image" Target="../media/image79.tmp"/><Relationship Id="rId2" Type="http://schemas.openxmlformats.org/officeDocument/2006/relationships/notesSlide" Target="../notesSlides/notesSlide105.xml"/><Relationship Id="rId1" Type="http://schemas.openxmlformats.org/officeDocument/2006/relationships/slideLayout" Target="../slideLayouts/slideLayout6.xml"/></Relationships>
</file>

<file path=ppt/slides/_rels/slide271.xml.rels><?xml version="1.0" encoding="UTF-8" standalone="yes"?>
<Relationships xmlns="http://schemas.openxmlformats.org/package/2006/relationships"><Relationship Id="rId3" Type="http://schemas.openxmlformats.org/officeDocument/2006/relationships/image" Target="../media/image80.tmp"/><Relationship Id="rId2" Type="http://schemas.openxmlformats.org/officeDocument/2006/relationships/notesSlide" Target="../notesSlides/notesSlide106.xml"/><Relationship Id="rId1" Type="http://schemas.openxmlformats.org/officeDocument/2006/relationships/slideLayout" Target="../slideLayouts/slideLayout6.xml"/></Relationships>
</file>

<file path=ppt/slides/_rels/slide272.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1.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4.xml.rels><?xml version="1.0" encoding="UTF-8" standalone="yes"?>
<Relationships xmlns="http://schemas.openxmlformats.org/package/2006/relationships"><Relationship Id="rId3" Type="http://schemas.openxmlformats.org/officeDocument/2006/relationships/image" Target="../media/image81.tmp"/><Relationship Id="rId2" Type="http://schemas.openxmlformats.org/officeDocument/2006/relationships/notesSlide" Target="../notesSlides/notesSlide108.xml"/><Relationship Id="rId1" Type="http://schemas.openxmlformats.org/officeDocument/2006/relationships/slideLayout" Target="../slideLayouts/slideLayout6.xml"/></Relationships>
</file>

<file path=ppt/slides/_rels/slide27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6.xml"/></Relationships>
</file>

<file path=ppt/slides/_rels/slide276.xml.rels><?xml version="1.0" encoding="UTF-8" standalone="yes"?>
<Relationships xmlns="http://schemas.openxmlformats.org/package/2006/relationships"><Relationship Id="rId2" Type="http://schemas.openxmlformats.org/officeDocument/2006/relationships/image" Target="../media/image83.tmp"/><Relationship Id="rId1" Type="http://schemas.openxmlformats.org/officeDocument/2006/relationships/slideLayout" Target="../slideLayouts/slideLayout6.xml"/></Relationships>
</file>

<file path=ppt/slides/_rels/slide277.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6.xml"/></Relationships>
</file>

<file path=ppt/slides/_rels/slide278.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1.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6.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3.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6.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5.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6.xml"/></Relationships>
</file>

<file path=ppt/slides/_rels/slide286.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2.xml"/></Relationships>
</file>

<file path=ppt/slides/_rels/slide287.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3.xml"/></Relationships>
</file>

<file path=ppt/slides/_rels/slide288.xml.rels><?xml version="1.0" encoding="UTF-8" standalone="yes"?>
<Relationships xmlns="http://schemas.openxmlformats.org/package/2006/relationships"><Relationship Id="rId2" Type="http://schemas.openxmlformats.org/officeDocument/2006/relationships/image" Target="../media/image85.tmp"/><Relationship Id="rId1" Type="http://schemas.openxmlformats.org/officeDocument/2006/relationships/slideLayout" Target="../slideLayouts/slideLayout6.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1.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6.xml"/></Relationships>
</file>

<file path=ppt/slides/_rels/slide292.xml.rels><?xml version="1.0" encoding="UTF-8" standalone="yes"?>
<Relationships xmlns="http://schemas.openxmlformats.org/package/2006/relationships"><Relationship Id="rId2" Type="http://schemas.openxmlformats.org/officeDocument/2006/relationships/image" Target="../media/image86.tmp"/><Relationship Id="rId1" Type="http://schemas.openxmlformats.org/officeDocument/2006/relationships/slideLayout" Target="../slideLayouts/slideLayout6.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4.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6.xml"/></Relationships>
</file>

<file path=ppt/slides/_rels/slide295.xml.rels><?xml version="1.0" encoding="UTF-8" standalone="yes"?>
<Relationships xmlns="http://schemas.openxmlformats.org/package/2006/relationships"><Relationship Id="rId2" Type="http://schemas.openxmlformats.org/officeDocument/2006/relationships/image" Target="../media/image87.tmp"/><Relationship Id="rId1" Type="http://schemas.openxmlformats.org/officeDocument/2006/relationships/slideLayout" Target="../slideLayouts/slideLayout6.xml"/></Relationships>
</file>

<file path=ppt/slides/_rels/slide296.xml.rels><?xml version="1.0" encoding="UTF-8" standalone="yes"?>
<Relationships xmlns="http://schemas.openxmlformats.org/package/2006/relationships"><Relationship Id="rId2" Type="http://schemas.openxmlformats.org/officeDocument/2006/relationships/image" Target="../media/image88.tmp"/><Relationship Id="rId1" Type="http://schemas.openxmlformats.org/officeDocument/2006/relationships/slideLayout" Target="../slideLayouts/slideLayout6.xml"/></Relationships>
</file>

<file path=ppt/slides/_rels/slide297.xml.rels><?xml version="1.0" encoding="UTF-8" standalone="yes"?>
<Relationships xmlns="http://schemas.openxmlformats.org/package/2006/relationships"><Relationship Id="rId2" Type="http://schemas.openxmlformats.org/officeDocument/2006/relationships/image" Target="../media/image89.tmp"/><Relationship Id="rId1" Type="http://schemas.openxmlformats.org/officeDocument/2006/relationships/slideLayout" Target="../slideLayouts/slideLayout6.xml"/></Relationships>
</file>

<file path=ppt/slides/_rels/slide298.xml.rels><?xml version="1.0" encoding="UTF-8" standalone="yes"?>
<Relationships xmlns="http://schemas.openxmlformats.org/package/2006/relationships"><Relationship Id="rId2" Type="http://schemas.openxmlformats.org/officeDocument/2006/relationships/image" Target="../media/image90.tmp"/><Relationship Id="rId1" Type="http://schemas.openxmlformats.org/officeDocument/2006/relationships/slideLayout" Target="../slideLayouts/slideLayout6.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1.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3.xml"/></Relationships>
</file>

<file path=ppt/slides/_rels/slide302.xml.rels><?xml version="1.0" encoding="UTF-8" standalone="yes"?>
<Relationships xmlns="http://schemas.openxmlformats.org/package/2006/relationships"><Relationship Id="rId2" Type="http://schemas.openxmlformats.org/officeDocument/2006/relationships/image" Target="../media/image91.tmp"/><Relationship Id="rId1" Type="http://schemas.openxmlformats.org/officeDocument/2006/relationships/slideLayout" Target="../slideLayouts/slideLayout6.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5.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6.xml"/></Relationships>
</file>

<file path=ppt/slides/_rels/slide306.xml.rels><?xml version="1.0" encoding="UTF-8" standalone="yes"?>
<Relationships xmlns="http://schemas.openxmlformats.org/package/2006/relationships"><Relationship Id="rId3" Type="http://schemas.openxmlformats.org/officeDocument/2006/relationships/image" Target="../media/image92.tmp"/><Relationship Id="rId2" Type="http://schemas.openxmlformats.org/officeDocument/2006/relationships/notesSlide" Target="../notesSlides/notesSlide119.xml"/><Relationship Id="rId1" Type="http://schemas.openxmlformats.org/officeDocument/2006/relationships/slideLayout" Target="../slideLayouts/slideLayout6.xml"/></Relationships>
</file>

<file path=ppt/slides/_rels/slide307.xml.rels><?xml version="1.0" encoding="UTF-8" standalone="yes"?>
<Relationships xmlns="http://schemas.openxmlformats.org/package/2006/relationships"><Relationship Id="rId3" Type="http://schemas.openxmlformats.org/officeDocument/2006/relationships/image" Target="../media/image93.tmp"/><Relationship Id="rId2" Type="http://schemas.openxmlformats.org/officeDocument/2006/relationships/notesSlide" Target="../notesSlides/notesSlide120.xml"/><Relationship Id="rId1" Type="http://schemas.openxmlformats.org/officeDocument/2006/relationships/slideLayout" Target="../slideLayouts/slideLayout6.xml"/></Relationships>
</file>

<file path=ppt/slides/_rels/slide308.xml.rels><?xml version="1.0" encoding="UTF-8" standalone="yes"?>
<Relationships xmlns="http://schemas.openxmlformats.org/package/2006/relationships"><Relationship Id="rId3" Type="http://schemas.openxmlformats.org/officeDocument/2006/relationships/image" Target="../media/image94.tmp"/><Relationship Id="rId2" Type="http://schemas.openxmlformats.org/officeDocument/2006/relationships/notesSlide" Target="../notesSlides/notesSlide121.xml"/><Relationship Id="rId1" Type="http://schemas.openxmlformats.org/officeDocument/2006/relationships/slideLayout" Target="../slideLayouts/slideLayout6.xml"/></Relationships>
</file>

<file path=ppt/slides/_rels/slide309.xml.rels><?xml version="1.0" encoding="UTF-8" standalone="yes"?>
<Relationships xmlns="http://schemas.openxmlformats.org/package/2006/relationships"><Relationship Id="rId3" Type="http://schemas.openxmlformats.org/officeDocument/2006/relationships/image" Target="../media/image94.tmp"/><Relationship Id="rId2" Type="http://schemas.openxmlformats.org/officeDocument/2006/relationships/notesSlide" Target="../notesSlides/notesSlide122.xml"/><Relationship Id="rId1" Type="http://schemas.openxmlformats.org/officeDocument/2006/relationships/slideLayout" Target="../slideLayouts/slideLayout6.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2.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3.xml"/></Relationships>
</file>

<file path=ppt/slides/_rels/slide313.xml.rels><?xml version="1.0" encoding="UTF-8" standalone="yes"?>
<Relationships xmlns="http://schemas.openxmlformats.org/package/2006/relationships"><Relationship Id="rId2" Type="http://schemas.openxmlformats.org/officeDocument/2006/relationships/image" Target="../media/image95.tmp"/><Relationship Id="rId1" Type="http://schemas.openxmlformats.org/officeDocument/2006/relationships/slideLayout" Target="../slideLayouts/slideLayout6.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6.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6.xml"/></Relationships>
</file>

<file path=ppt/slides/_rels/slide317.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2.xml"/></Relationships>
</file>

<file path=ppt/slides/_rels/slide318.xml.rels><?xml version="1.0" encoding="UTF-8" standalone="yes"?>
<Relationships xmlns="http://schemas.openxmlformats.org/package/2006/relationships"><Relationship Id="rId2" Type="http://schemas.openxmlformats.org/officeDocument/2006/relationships/image" Target="../media/image96.tmp"/><Relationship Id="rId1" Type="http://schemas.openxmlformats.org/officeDocument/2006/relationships/slideLayout" Target="../slideLayouts/slideLayout6.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0851410-1336-4F8D-895F-62B503C32AA6}"/>
              </a:ext>
            </a:extLst>
          </p:cNvPr>
          <p:cNvSpPr>
            <a:spLocks noGrp="1"/>
          </p:cNvSpPr>
          <p:nvPr>
            <p:ph type="ctrTitle"/>
          </p:nvPr>
        </p:nvSpPr>
        <p:spPr>
          <a:xfrm>
            <a:off x="667657" y="1183697"/>
            <a:ext cx="11146971" cy="2022740"/>
          </a:xfrm>
        </p:spPr>
        <p:txBody>
          <a:bodyPr/>
          <a:lstStyle/>
          <a:p>
            <a:r>
              <a:rPr lang="en-US" sz="4800" dirty="0">
                <a:cs typeface="Calibri" pitchFamily="34" charset="0"/>
              </a:rPr>
              <a:t>Segment Routing over IPv6 dataplane</a:t>
            </a:r>
            <a:br>
              <a:rPr lang="en-US" sz="4800" dirty="0">
                <a:cs typeface="Calibri" pitchFamily="34" charset="0"/>
              </a:rPr>
            </a:br>
            <a:r>
              <a:rPr lang="en-US" sz="4800" dirty="0">
                <a:cs typeface="Calibri" pitchFamily="34" charset="0"/>
              </a:rPr>
              <a:t>(SRv6)</a:t>
            </a:r>
            <a:endParaRPr lang="en-US" sz="4800" noProof="0" dirty="0"/>
          </a:p>
        </p:txBody>
      </p:sp>
      <p:sp>
        <p:nvSpPr>
          <p:cNvPr id="3" name="Podnadpis 2">
            <a:extLst>
              <a:ext uri="{FF2B5EF4-FFF2-40B4-BE49-F238E27FC236}">
                <a16:creationId xmlns:a16="http://schemas.microsoft.com/office/drawing/2014/main" id="{722BB0DB-0FB1-48FB-BA07-9F7BF7A57384}"/>
              </a:ext>
            </a:extLst>
          </p:cNvPr>
          <p:cNvSpPr>
            <a:spLocks noGrp="1"/>
          </p:cNvSpPr>
          <p:nvPr>
            <p:ph type="subTitle" idx="1"/>
          </p:nvPr>
        </p:nvSpPr>
        <p:spPr>
          <a:xfrm>
            <a:off x="1524000" y="3651564"/>
            <a:ext cx="9144000" cy="2152891"/>
          </a:xfrm>
        </p:spPr>
        <p:txBody>
          <a:bodyPr/>
          <a:lstStyle/>
          <a:p>
            <a:endParaRPr lang="en-US" sz="3200" noProof="0" dirty="0"/>
          </a:p>
          <a:p>
            <a:r>
              <a:rPr lang="en-US" sz="3200" noProof="0" dirty="0"/>
              <a:t>Vladimír </a:t>
            </a:r>
            <a:r>
              <a:rPr lang="en-US" sz="3200" noProof="0" dirty="0" err="1"/>
              <a:t>Bureš</a:t>
            </a:r>
            <a:br>
              <a:rPr lang="en-US" sz="3200" noProof="0" dirty="0"/>
            </a:br>
            <a:r>
              <a:rPr lang="en-US" noProof="0" dirty="0"/>
              <a:t>vladimir.bures@alef.com</a:t>
            </a:r>
          </a:p>
          <a:p>
            <a:r>
              <a:rPr lang="en-US" dirty="0"/>
              <a:t>Version 2.06</a:t>
            </a:r>
          </a:p>
          <a:p>
            <a:endParaRPr lang="en-US" noProof="0" dirty="0"/>
          </a:p>
        </p:txBody>
      </p:sp>
      <p:sp>
        <p:nvSpPr>
          <p:cNvPr id="10" name="TextovéPole 9">
            <a:extLst>
              <a:ext uri="{FF2B5EF4-FFF2-40B4-BE49-F238E27FC236}">
                <a16:creationId xmlns:a16="http://schemas.microsoft.com/office/drawing/2014/main" id="{A83E7804-E2D9-494A-AF38-BBCF20C4EF3F}"/>
              </a:ext>
            </a:extLst>
          </p:cNvPr>
          <p:cNvSpPr txBox="1"/>
          <p:nvPr/>
        </p:nvSpPr>
        <p:spPr>
          <a:xfrm>
            <a:off x="9613683" y="356434"/>
            <a:ext cx="2706688" cy="369332"/>
          </a:xfrm>
          <a:prstGeom prst="rect">
            <a:avLst/>
          </a:prstGeom>
          <a:noFill/>
        </p:spPr>
        <p:txBody>
          <a:bodyPr>
            <a:spAutoFit/>
          </a:bodyPr>
          <a:lstStyle/>
          <a:p>
            <a:r>
              <a:rPr lang="en-US" b="1" dirty="0">
                <a:solidFill>
                  <a:schemeClr val="tx2"/>
                </a:solidFill>
              </a:rPr>
              <a:t>Trust the Strong</a:t>
            </a:r>
            <a:endParaRPr lang="cs-CZ" dirty="0">
              <a:solidFill>
                <a:schemeClr val="tx2"/>
              </a:solidFill>
            </a:endParaRPr>
          </a:p>
        </p:txBody>
      </p:sp>
      <p:pic>
        <p:nvPicPr>
          <p:cNvPr id="5" name="Obrázek 4">
            <a:extLst>
              <a:ext uri="{FF2B5EF4-FFF2-40B4-BE49-F238E27FC236}">
                <a16:creationId xmlns:a16="http://schemas.microsoft.com/office/drawing/2014/main" id="{699AB158-A1DF-4F67-869A-828BBC609892}"/>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8544354" y="3429000"/>
            <a:ext cx="3270274" cy="3181373"/>
          </a:xfrm>
          <a:prstGeom prst="rect">
            <a:avLst/>
          </a:prstGeom>
        </p:spPr>
      </p:pic>
      <p:pic>
        <p:nvPicPr>
          <p:cNvPr id="7" name="Obrázek 6">
            <a:extLst>
              <a:ext uri="{FF2B5EF4-FFF2-40B4-BE49-F238E27FC236}">
                <a16:creationId xmlns:a16="http://schemas.microsoft.com/office/drawing/2014/main" id="{AED3F958-B8C0-4EA0-ABC7-91978DE2D7A8}"/>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0" y="642698"/>
            <a:ext cx="6096000" cy="217617"/>
          </a:xfrm>
          <a:prstGeom prst="rect">
            <a:avLst/>
          </a:prstGeom>
        </p:spPr>
      </p:pic>
    </p:spTree>
    <p:extLst>
      <p:ext uri="{BB962C8B-B14F-4D97-AF65-F5344CB8AC3E}">
        <p14:creationId xmlns:p14="http://schemas.microsoft.com/office/powerpoint/2010/main" val="1043927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text 1">
            <a:extLst>
              <a:ext uri="{FF2B5EF4-FFF2-40B4-BE49-F238E27FC236}">
                <a16:creationId xmlns:a16="http://schemas.microsoft.com/office/drawing/2014/main" id="{EC1C1D59-3ECA-40AF-BC0C-F7EAD4618B32}"/>
              </a:ext>
            </a:extLst>
          </p:cNvPr>
          <p:cNvSpPr>
            <a:spLocks noGrp="1"/>
          </p:cNvSpPr>
          <p:nvPr>
            <p:ph type="body" sz="quarter" idx="10"/>
          </p:nvPr>
        </p:nvSpPr>
        <p:spPr>
          <a:xfrm>
            <a:off x="873918" y="947651"/>
            <a:ext cx="5179641" cy="5345084"/>
          </a:xfrm>
        </p:spPr>
        <p:txBody>
          <a:bodyPr/>
          <a:lstStyle/>
          <a:p>
            <a:r>
              <a:rPr lang="en-US" sz="2000" dirty="0"/>
              <a:t>Classic MPLS - Recap</a:t>
            </a:r>
            <a:endParaRPr lang="en-US" sz="2000" noProof="0" dirty="0"/>
          </a:p>
          <a:p>
            <a:r>
              <a:rPr lang="en-US" sz="2000" noProof="0" dirty="0"/>
              <a:t>Segment Routing over MPLS dataplane (SR-MPLS, IPv4) - Recap</a:t>
            </a:r>
          </a:p>
          <a:p>
            <a:pPr lvl="1"/>
            <a:r>
              <a:rPr lang="en-US" sz="2000" noProof="0" dirty="0"/>
              <a:t>Global and Local Segments</a:t>
            </a:r>
          </a:p>
          <a:p>
            <a:pPr lvl="1"/>
            <a:r>
              <a:rPr lang="en-US" sz="2000" noProof="0" dirty="0"/>
              <a:t>SR IGP Control Plane</a:t>
            </a:r>
          </a:p>
          <a:p>
            <a:r>
              <a:rPr lang="en-US" sz="2000" dirty="0"/>
              <a:t>Segment Routing over IPv6 dataplane (SRv6)</a:t>
            </a:r>
          </a:p>
          <a:p>
            <a:pPr lvl="1"/>
            <a:r>
              <a:rPr lang="en-US" sz="2000" dirty="0"/>
              <a:t>Segment Routing extension Header (SRH)</a:t>
            </a:r>
          </a:p>
          <a:p>
            <a:pPr lvl="1"/>
            <a:r>
              <a:rPr lang="en-US" sz="2000" dirty="0"/>
              <a:t>Locator</a:t>
            </a:r>
          </a:p>
          <a:p>
            <a:pPr lvl="1"/>
            <a:r>
              <a:rPr lang="en-US" sz="2000" dirty="0"/>
              <a:t>SRv6 Full SID</a:t>
            </a:r>
          </a:p>
          <a:p>
            <a:pPr lvl="1"/>
            <a:r>
              <a:rPr lang="en-US" sz="2000" dirty="0"/>
              <a:t>L3VPN over SRv6</a:t>
            </a:r>
          </a:p>
          <a:p>
            <a:pPr lvl="1"/>
            <a:r>
              <a:rPr lang="en-US" sz="2000" dirty="0"/>
              <a:t>L2VPN over SRv6</a:t>
            </a:r>
          </a:p>
          <a:p>
            <a:pPr lvl="1"/>
            <a:r>
              <a:rPr lang="en-US" sz="2000" dirty="0"/>
              <a:t>SRv6 </a:t>
            </a:r>
            <a:r>
              <a:rPr lang="en-US" sz="2000" dirty="0" err="1"/>
              <a:t>uSID</a:t>
            </a:r>
            <a:r>
              <a:rPr lang="en-US" sz="2000" dirty="0"/>
              <a:t> (Compressed SRv6 SID)</a:t>
            </a:r>
          </a:p>
          <a:p>
            <a:pPr lvl="1"/>
            <a:r>
              <a:rPr lang="en-US" sz="2000" dirty="0"/>
              <a:t>Function</a:t>
            </a:r>
          </a:p>
          <a:p>
            <a:pPr lvl="1"/>
            <a:endParaRPr lang="en-US" sz="2000" noProof="0" dirty="0"/>
          </a:p>
          <a:p>
            <a:endParaRPr lang="en-US" sz="2000" noProof="0" dirty="0"/>
          </a:p>
          <a:p>
            <a:endParaRPr lang="en-US" sz="2000" noProof="0" dirty="0"/>
          </a:p>
        </p:txBody>
      </p:sp>
      <p:sp>
        <p:nvSpPr>
          <p:cNvPr id="3" name="Zástupný text 2">
            <a:extLst>
              <a:ext uri="{FF2B5EF4-FFF2-40B4-BE49-F238E27FC236}">
                <a16:creationId xmlns:a16="http://schemas.microsoft.com/office/drawing/2014/main" id="{A0BA8F8B-6D78-483D-B4B7-D76BF1CC8221}"/>
              </a:ext>
            </a:extLst>
          </p:cNvPr>
          <p:cNvSpPr>
            <a:spLocks noGrp="1"/>
          </p:cNvSpPr>
          <p:nvPr>
            <p:ph type="body" sz="quarter" idx="11"/>
          </p:nvPr>
        </p:nvSpPr>
        <p:spPr>
          <a:xfrm>
            <a:off x="873918" y="5760"/>
            <a:ext cx="10444163" cy="773017"/>
          </a:xfrm>
        </p:spPr>
        <p:txBody>
          <a:bodyPr/>
          <a:lstStyle/>
          <a:p>
            <a:r>
              <a:rPr lang="en-US" noProof="0" dirty="0"/>
              <a:t>Agenda</a:t>
            </a:r>
          </a:p>
        </p:txBody>
      </p:sp>
      <p:sp>
        <p:nvSpPr>
          <p:cNvPr id="4" name="Text Placeholder 3">
            <a:extLst>
              <a:ext uri="{FF2B5EF4-FFF2-40B4-BE49-F238E27FC236}">
                <a16:creationId xmlns:a16="http://schemas.microsoft.com/office/drawing/2014/main" id="{2E6206E9-9B2B-7FF5-44BC-FD43CB540A27}"/>
              </a:ext>
            </a:extLst>
          </p:cNvPr>
          <p:cNvSpPr>
            <a:spLocks noGrp="1"/>
          </p:cNvSpPr>
          <p:nvPr>
            <p:ph type="body" sz="quarter" idx="12"/>
          </p:nvPr>
        </p:nvSpPr>
        <p:spPr>
          <a:xfrm>
            <a:off x="6204030" y="947651"/>
            <a:ext cx="5114051" cy="5345084"/>
          </a:xfrm>
        </p:spPr>
        <p:txBody>
          <a:bodyPr/>
          <a:lstStyle/>
          <a:p>
            <a:pPr marL="800100" lvl="1" indent="-342900">
              <a:buFont typeface="Arial" panose="020B0604020202020204" pitchFamily="34" charset="0"/>
              <a:buChar char="–"/>
            </a:pPr>
            <a:r>
              <a:rPr lang="en-US" sz="2000" dirty="0"/>
              <a:t>MPLS / SRv6 interoperability</a:t>
            </a:r>
          </a:p>
          <a:p>
            <a:pPr lvl="2">
              <a:buFont typeface="Wingdings" panose="05000000000000000000" pitchFamily="2" charset="2"/>
              <a:buChar char="§"/>
            </a:pPr>
            <a:r>
              <a:rPr lang="en-US" sz="2000" dirty="0"/>
              <a:t>Dual connected PE</a:t>
            </a:r>
          </a:p>
          <a:p>
            <a:pPr lvl="2">
              <a:buFont typeface="Wingdings" panose="05000000000000000000" pitchFamily="2" charset="2"/>
              <a:buChar char="§"/>
            </a:pPr>
            <a:r>
              <a:rPr lang="en-US" sz="2000" dirty="0"/>
              <a:t>MPLS/SRv6 VPN</a:t>
            </a:r>
          </a:p>
          <a:p>
            <a:pPr marL="800100" lvl="1" indent="-342900">
              <a:buFont typeface="Arial" panose="020B0604020202020204" pitchFamily="34" charset="0"/>
              <a:buChar char="–"/>
            </a:pPr>
            <a:r>
              <a:rPr lang="en-US" sz="2000" dirty="0"/>
              <a:t>TI-LFA for SRv6</a:t>
            </a:r>
          </a:p>
          <a:p>
            <a:pPr marL="800100" lvl="1" indent="-342900">
              <a:buFont typeface="Arial" panose="020B0604020202020204" pitchFamily="34" charset="0"/>
              <a:buChar char="–"/>
            </a:pPr>
            <a:r>
              <a:rPr lang="en-US" sz="2000" dirty="0"/>
              <a:t>SRv6 Traffic Engineering</a:t>
            </a:r>
          </a:p>
          <a:p>
            <a:pPr marL="800100" lvl="1" indent="-342900">
              <a:buFont typeface="Arial" panose="020B0604020202020204" pitchFamily="34" charset="0"/>
              <a:buChar char="–"/>
            </a:pPr>
            <a:r>
              <a:rPr lang="en-US" sz="2000" dirty="0"/>
              <a:t>SRv6 Flex Algo</a:t>
            </a:r>
          </a:p>
          <a:p>
            <a:pPr marL="800100" lvl="1" indent="-342900">
              <a:buFont typeface="Arial" panose="020B0604020202020204" pitchFamily="34" charset="0"/>
              <a:buChar char="–"/>
            </a:pPr>
            <a:r>
              <a:rPr lang="en-US" sz="2000" dirty="0"/>
              <a:t>SRv6 Design</a:t>
            </a:r>
          </a:p>
          <a:p>
            <a:pPr marL="800100" lvl="1" indent="-342900">
              <a:buFont typeface="Arial" panose="020B0604020202020204" pitchFamily="34" charset="0"/>
              <a:buChar char="–"/>
            </a:pPr>
            <a:r>
              <a:rPr lang="en-US" sz="2000" dirty="0"/>
              <a:t>Network Migration MPLS -&gt; SRv6</a:t>
            </a:r>
          </a:p>
          <a:p>
            <a:pPr lvl="2">
              <a:buFont typeface="Wingdings" panose="05000000000000000000" pitchFamily="2" charset="2"/>
              <a:buChar char="§"/>
            </a:pPr>
            <a:r>
              <a:rPr lang="en-US" sz="2000" dirty="0"/>
              <a:t>Dual-stack Core</a:t>
            </a:r>
          </a:p>
          <a:p>
            <a:pPr lvl="2">
              <a:buFont typeface="Wingdings" panose="05000000000000000000" pitchFamily="2" charset="2"/>
              <a:buChar char="§"/>
            </a:pPr>
            <a:r>
              <a:rPr lang="en-US" sz="2000" dirty="0"/>
              <a:t>Service Migration - L3VPN</a:t>
            </a:r>
          </a:p>
          <a:p>
            <a:pPr lvl="2">
              <a:buFont typeface="Wingdings" panose="05000000000000000000" pitchFamily="2" charset="2"/>
              <a:buChar char="§"/>
            </a:pPr>
            <a:r>
              <a:rPr lang="en-US" sz="2000" dirty="0"/>
              <a:t>Service Migration - L2VPN</a:t>
            </a:r>
          </a:p>
          <a:p>
            <a:pPr marL="800100" lvl="1" indent="-342900">
              <a:buFont typeface="Arial" panose="020B0604020202020204" pitchFamily="34" charset="0"/>
              <a:buChar char="–"/>
            </a:pPr>
            <a:r>
              <a:rPr lang="en-US" sz="2000" dirty="0"/>
              <a:t>VPLS</a:t>
            </a:r>
          </a:p>
          <a:p>
            <a:pPr marL="800100" lvl="1" indent="-342900">
              <a:buFont typeface="Arial" panose="020B0604020202020204" pitchFamily="34" charset="0"/>
              <a:buChar char="–"/>
            </a:pPr>
            <a:r>
              <a:rPr lang="en-US" sz="2000" dirty="0"/>
              <a:t>VPWS</a:t>
            </a:r>
          </a:p>
          <a:p>
            <a:pPr marL="800100" lvl="1" indent="-342900">
              <a:buFont typeface="Arial" panose="020B0604020202020204" pitchFamily="34" charset="0"/>
              <a:buChar char="–"/>
            </a:pPr>
            <a:r>
              <a:rPr lang="en-US" sz="2000" dirty="0"/>
              <a:t>SRv6 support on IOS-XE, restrictions</a:t>
            </a:r>
          </a:p>
          <a:p>
            <a:endParaRPr lang="en-US" sz="2000" dirty="0"/>
          </a:p>
        </p:txBody>
      </p:sp>
    </p:spTree>
    <p:extLst>
      <p:ext uri="{BB962C8B-B14F-4D97-AF65-F5344CB8AC3E}">
        <p14:creationId xmlns:p14="http://schemas.microsoft.com/office/powerpoint/2010/main" val="631550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7DF76D3A-5E3E-4BC8-8F39-771134FF4322}"/>
              </a:ext>
            </a:extLst>
          </p:cNvPr>
          <p:cNvSpPr>
            <a:spLocks noGrp="1"/>
          </p:cNvSpPr>
          <p:nvPr>
            <p:ph type="body" idx="1"/>
          </p:nvPr>
        </p:nvSpPr>
        <p:spPr/>
        <p:txBody>
          <a:bodyPr/>
          <a:lstStyle/>
          <a:p>
            <a:r>
              <a:rPr lang="en-US" dirty="0"/>
              <a:t>SRv6</a:t>
            </a:r>
            <a:endParaRPr lang="en-US" noProof="0" dirty="0"/>
          </a:p>
        </p:txBody>
      </p:sp>
      <p:sp>
        <p:nvSpPr>
          <p:cNvPr id="3" name="Text Placeholder 2"/>
          <p:cNvSpPr>
            <a:spLocks noGrp="1"/>
          </p:cNvSpPr>
          <p:nvPr>
            <p:ph type="body" sz="quarter" idx="13"/>
          </p:nvPr>
        </p:nvSpPr>
        <p:spPr/>
        <p:txBody>
          <a:bodyPr/>
          <a:lstStyle/>
          <a:p>
            <a:r>
              <a:rPr lang="en-US" dirty="0"/>
              <a:t>Segment Routing over MPLS/IPv6 dataplane</a:t>
            </a:r>
          </a:p>
        </p:txBody>
      </p:sp>
      <p:sp>
        <p:nvSpPr>
          <p:cNvPr id="8" name="Text Placeholder 7"/>
          <p:cNvSpPr>
            <a:spLocks noGrp="1"/>
          </p:cNvSpPr>
          <p:nvPr>
            <p:ph type="body" sz="quarter" idx="14"/>
          </p:nvPr>
        </p:nvSpPr>
        <p:spPr/>
        <p:txBody>
          <a:bodyPr/>
          <a:lstStyle/>
          <a:p>
            <a:r>
              <a:rPr lang="en-US" dirty="0"/>
              <a:t>Introduction </a:t>
            </a:r>
          </a:p>
        </p:txBody>
      </p:sp>
      <p:sp>
        <p:nvSpPr>
          <p:cNvPr id="9" name="Text Placeholder 8"/>
          <p:cNvSpPr>
            <a:spLocks noGrp="1"/>
          </p:cNvSpPr>
          <p:nvPr>
            <p:ph type="body" sz="quarter" idx="15"/>
          </p:nvPr>
        </p:nvSpPr>
        <p:spPr/>
        <p:txBody>
          <a:bodyPr/>
          <a:lstStyle/>
          <a:p>
            <a:r>
              <a:rPr lang="en-US" dirty="0">
                <a:cs typeface="Calibri" pitchFamily="34" charset="0"/>
              </a:rPr>
              <a:t>SRv6</a:t>
            </a:r>
            <a:endParaRPr lang="cs-CZ" dirty="0"/>
          </a:p>
        </p:txBody>
      </p:sp>
    </p:spTree>
    <p:extLst>
      <p:ext uri="{BB962C8B-B14F-4D97-AF65-F5344CB8AC3E}">
        <p14:creationId xmlns:p14="http://schemas.microsoft.com/office/powerpoint/2010/main" val="452170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41D917C4-816C-7595-0992-750048D86C02}"/>
              </a:ext>
            </a:extLst>
          </p:cNvPr>
          <p:cNvSpPr>
            <a:spLocks noGrp="1"/>
          </p:cNvSpPr>
          <p:nvPr>
            <p:ph type="body" sz="quarter" idx="11"/>
          </p:nvPr>
        </p:nvSpPr>
        <p:spPr/>
        <p:txBody>
          <a:bodyPr/>
          <a:lstStyle/>
          <a:p>
            <a:r>
              <a:rPr lang="en-US" dirty="0"/>
              <a:t>Understanding Today’s Service Creation</a:t>
            </a:r>
          </a:p>
        </p:txBody>
      </p:sp>
      <p:pic>
        <p:nvPicPr>
          <p:cNvPr id="10" name="Picture 9" descr="A diagram of a network&#10;&#10;Description automatically generated with medium confidence">
            <a:extLst>
              <a:ext uri="{FF2B5EF4-FFF2-40B4-BE49-F238E27FC236}">
                <a16:creationId xmlns:a16="http://schemas.microsoft.com/office/drawing/2014/main" id="{04476B5E-6969-B09D-848D-CFC1842C4A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915" y="1542361"/>
            <a:ext cx="10684166" cy="4694327"/>
          </a:xfrm>
          <a:prstGeom prst="rect">
            <a:avLst/>
          </a:prstGeom>
        </p:spPr>
      </p:pic>
    </p:spTree>
    <p:extLst>
      <p:ext uri="{BB962C8B-B14F-4D97-AF65-F5344CB8AC3E}">
        <p14:creationId xmlns:p14="http://schemas.microsoft.com/office/powerpoint/2010/main" val="66057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5D22B29-6E1F-D836-AA78-9CEEF747CAD7}"/>
              </a:ext>
            </a:extLst>
          </p:cNvPr>
          <p:cNvSpPr>
            <a:spLocks noGrp="1"/>
          </p:cNvSpPr>
          <p:nvPr>
            <p:ph type="body" sz="quarter" idx="11"/>
          </p:nvPr>
        </p:nvSpPr>
        <p:spPr/>
        <p:txBody>
          <a:bodyPr/>
          <a:lstStyle/>
          <a:p>
            <a:r>
              <a:rPr lang="en-US" sz="2400" dirty="0"/>
              <a:t>SR-MPLS: SDN ready “Network as a Fabric” for Service Creation</a:t>
            </a:r>
          </a:p>
        </p:txBody>
      </p:sp>
      <p:pic>
        <p:nvPicPr>
          <p:cNvPr id="5" name="Picture 4" descr="A screenshot of a computer&#10;&#10;Description automatically generated">
            <a:extLst>
              <a:ext uri="{FF2B5EF4-FFF2-40B4-BE49-F238E27FC236}">
                <a16:creationId xmlns:a16="http://schemas.microsoft.com/office/drawing/2014/main" id="{66C7D0AE-2D55-6A89-1399-0CECA7E8BE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3451" y="1154233"/>
            <a:ext cx="10585097" cy="4549534"/>
          </a:xfrm>
          <a:prstGeom prst="rect">
            <a:avLst/>
          </a:prstGeom>
        </p:spPr>
      </p:pic>
    </p:spTree>
    <p:extLst>
      <p:ext uri="{BB962C8B-B14F-4D97-AF65-F5344CB8AC3E}">
        <p14:creationId xmlns:p14="http://schemas.microsoft.com/office/powerpoint/2010/main" val="3254061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98C5DB1-EB61-E905-FCA6-EBA95E336ADB}"/>
              </a:ext>
            </a:extLst>
          </p:cNvPr>
          <p:cNvSpPr>
            <a:spLocks noGrp="1"/>
          </p:cNvSpPr>
          <p:nvPr>
            <p:ph type="body" sz="quarter" idx="11"/>
          </p:nvPr>
        </p:nvSpPr>
        <p:spPr/>
        <p:txBody>
          <a:bodyPr/>
          <a:lstStyle/>
          <a:p>
            <a:r>
              <a:rPr lang="en-US" sz="2400" dirty="0"/>
              <a:t>SRv6: SDN, </a:t>
            </a:r>
            <a:r>
              <a:rPr lang="en-US" sz="2400" dirty="0" err="1"/>
              <a:t>NfV</a:t>
            </a:r>
            <a:r>
              <a:rPr lang="en-US" sz="2400" dirty="0"/>
              <a:t>, 5G ready “Network as an API” for Service Creation</a:t>
            </a:r>
          </a:p>
        </p:txBody>
      </p:sp>
      <p:pic>
        <p:nvPicPr>
          <p:cNvPr id="5" name="Picture 4" descr="A screenshot of a computer&#10;&#10;Description automatically generated">
            <a:extLst>
              <a:ext uri="{FF2B5EF4-FFF2-40B4-BE49-F238E27FC236}">
                <a16:creationId xmlns:a16="http://schemas.microsoft.com/office/drawing/2014/main" id="{87A91798-B92E-3482-B575-7D6BF64043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918" y="1226610"/>
            <a:ext cx="10554615" cy="4831499"/>
          </a:xfrm>
          <a:prstGeom prst="rect">
            <a:avLst/>
          </a:prstGeom>
        </p:spPr>
      </p:pic>
      <p:sp>
        <p:nvSpPr>
          <p:cNvPr id="6" name="Rectangle 5">
            <a:extLst>
              <a:ext uri="{FF2B5EF4-FFF2-40B4-BE49-F238E27FC236}">
                <a16:creationId xmlns:a16="http://schemas.microsoft.com/office/drawing/2014/main" id="{187DDA49-9E76-BEBB-DC8C-4509495F835C}"/>
              </a:ext>
            </a:extLst>
          </p:cNvPr>
          <p:cNvSpPr/>
          <p:nvPr/>
        </p:nvSpPr>
        <p:spPr>
          <a:xfrm>
            <a:off x="198120" y="5440680"/>
            <a:ext cx="2758440"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8873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7DF76D3A-5E3E-4BC8-8F39-771134FF4322}"/>
              </a:ext>
            </a:extLst>
          </p:cNvPr>
          <p:cNvSpPr>
            <a:spLocks noGrp="1"/>
          </p:cNvSpPr>
          <p:nvPr>
            <p:ph type="body" idx="1"/>
          </p:nvPr>
        </p:nvSpPr>
        <p:spPr/>
        <p:txBody>
          <a:bodyPr/>
          <a:lstStyle/>
          <a:p>
            <a:r>
              <a:rPr lang="en-US" dirty="0"/>
              <a:t>Classic </a:t>
            </a:r>
            <a:r>
              <a:rPr lang="en-US" noProof="0" dirty="0"/>
              <a:t>MPLS</a:t>
            </a:r>
          </a:p>
        </p:txBody>
      </p:sp>
      <p:sp>
        <p:nvSpPr>
          <p:cNvPr id="5" name="Text Placeholder 4">
            <a:extLst>
              <a:ext uri="{FF2B5EF4-FFF2-40B4-BE49-F238E27FC236}">
                <a16:creationId xmlns:a16="http://schemas.microsoft.com/office/drawing/2014/main" id="{5B649BB8-AF21-94E1-F63D-20603C7C7C5B}"/>
              </a:ext>
            </a:extLst>
          </p:cNvPr>
          <p:cNvSpPr>
            <a:spLocks noGrp="1"/>
          </p:cNvSpPr>
          <p:nvPr>
            <p:ph type="body" sz="quarter" idx="15"/>
          </p:nvPr>
        </p:nvSpPr>
        <p:spPr/>
        <p:txBody>
          <a:bodyPr/>
          <a:lstStyle/>
          <a:p>
            <a:r>
              <a:rPr lang="en-US" dirty="0">
                <a:cs typeface="Calibri" pitchFamily="34" charset="0"/>
              </a:rPr>
              <a:t>SRv6 and service migration</a:t>
            </a:r>
            <a:endParaRPr lang="cs-CZ" dirty="0"/>
          </a:p>
          <a:p>
            <a:endParaRPr lang="en-US" dirty="0"/>
          </a:p>
        </p:txBody>
      </p:sp>
      <p:sp>
        <p:nvSpPr>
          <p:cNvPr id="3" name="Text Placeholder 2"/>
          <p:cNvSpPr>
            <a:spLocks noGrp="1"/>
          </p:cNvSpPr>
          <p:nvPr>
            <p:ph type="body" sz="quarter" idx="13"/>
          </p:nvPr>
        </p:nvSpPr>
        <p:spPr/>
        <p:txBody>
          <a:bodyPr/>
          <a:lstStyle/>
          <a:p>
            <a:r>
              <a:rPr lang="en-US" dirty="0"/>
              <a:t>Segment Routing over MPLS/IPv6 dataplane</a:t>
            </a:r>
          </a:p>
        </p:txBody>
      </p:sp>
      <p:sp>
        <p:nvSpPr>
          <p:cNvPr id="8" name="Text Placeholder 7"/>
          <p:cNvSpPr>
            <a:spLocks noGrp="1"/>
          </p:cNvSpPr>
          <p:nvPr>
            <p:ph type="body" sz="quarter" idx="14"/>
          </p:nvPr>
        </p:nvSpPr>
        <p:spPr/>
        <p:txBody>
          <a:bodyPr/>
          <a:lstStyle/>
          <a:p>
            <a:r>
              <a:rPr lang="en-US" dirty="0"/>
              <a:t>Classic MPLS (LDP) Quick Review</a:t>
            </a:r>
          </a:p>
        </p:txBody>
      </p:sp>
    </p:spTree>
    <p:extLst>
      <p:ext uri="{BB962C8B-B14F-4D97-AF65-F5344CB8AC3E}">
        <p14:creationId xmlns:p14="http://schemas.microsoft.com/office/powerpoint/2010/main" val="5621745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text 1">
            <a:extLst>
              <a:ext uri="{FF2B5EF4-FFF2-40B4-BE49-F238E27FC236}">
                <a16:creationId xmlns:a16="http://schemas.microsoft.com/office/drawing/2014/main" id="{94203376-0B93-41E6-B285-FBB06A702728}"/>
              </a:ext>
            </a:extLst>
          </p:cNvPr>
          <p:cNvSpPr>
            <a:spLocks noGrp="1"/>
          </p:cNvSpPr>
          <p:nvPr>
            <p:ph type="body" sz="quarter" idx="10"/>
          </p:nvPr>
        </p:nvSpPr>
        <p:spPr/>
        <p:txBody>
          <a:bodyPr/>
          <a:lstStyle/>
          <a:p>
            <a:r>
              <a:rPr lang="en-US" noProof="0" dirty="0"/>
              <a:t>MPLS - Multi Protocol Label Switching</a:t>
            </a:r>
          </a:p>
          <a:p>
            <a:r>
              <a:rPr lang="en-US" noProof="0" dirty="0"/>
              <a:t>MPLS is a forwarding mechanism in which network devices switch packets according to the labels carried by every MPLS packet</a:t>
            </a:r>
          </a:p>
          <a:p>
            <a:r>
              <a:rPr lang="en-US" noProof="0" dirty="0"/>
              <a:t>Labels usually corresponds to the destination IP networks (the same as traditional IP forwarding)</a:t>
            </a:r>
          </a:p>
          <a:p>
            <a:r>
              <a:rPr lang="en-US" noProof="0" dirty="0"/>
              <a:t>Labels can also correspond to the other parameters such as </a:t>
            </a:r>
            <a:r>
              <a:rPr lang="en-US" noProof="0" dirty="0" err="1"/>
              <a:t>QoS</a:t>
            </a:r>
            <a:r>
              <a:rPr lang="en-US" noProof="0" dirty="0"/>
              <a:t>, destination network, VPN, etc.</a:t>
            </a:r>
          </a:p>
          <a:p>
            <a:r>
              <a:rPr lang="en-US" noProof="0" dirty="0"/>
              <a:t>MPLS was not designed only for IP, it also supports forwarding of other protocols (multiprotocol) </a:t>
            </a:r>
          </a:p>
          <a:p>
            <a:endParaRPr lang="en-US" noProof="0" dirty="0"/>
          </a:p>
        </p:txBody>
      </p:sp>
      <p:sp>
        <p:nvSpPr>
          <p:cNvPr id="3" name="Zástupný text 2">
            <a:extLst>
              <a:ext uri="{FF2B5EF4-FFF2-40B4-BE49-F238E27FC236}">
                <a16:creationId xmlns:a16="http://schemas.microsoft.com/office/drawing/2014/main" id="{F0D941A8-899E-4663-8781-5AB94F7563D1}"/>
              </a:ext>
            </a:extLst>
          </p:cNvPr>
          <p:cNvSpPr>
            <a:spLocks noGrp="1"/>
          </p:cNvSpPr>
          <p:nvPr>
            <p:ph type="body" sz="quarter" idx="11"/>
          </p:nvPr>
        </p:nvSpPr>
        <p:spPr/>
        <p:txBody>
          <a:bodyPr/>
          <a:lstStyle/>
          <a:p>
            <a:r>
              <a:rPr lang="en-US" noProof="0" dirty="0"/>
              <a:t>MPLS</a:t>
            </a:r>
          </a:p>
        </p:txBody>
      </p:sp>
    </p:spTree>
    <p:extLst>
      <p:ext uri="{BB962C8B-B14F-4D97-AF65-F5344CB8AC3E}">
        <p14:creationId xmlns:p14="http://schemas.microsoft.com/office/powerpoint/2010/main" val="4236930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noProof="0" dirty="0"/>
              <a:t>MPLS uses a 32-bit label field that contains the following information:</a:t>
            </a:r>
          </a:p>
          <a:p>
            <a:pPr lvl="1"/>
            <a:r>
              <a:rPr lang="en-US" noProof="0" dirty="0"/>
              <a:t>20-bit label</a:t>
            </a:r>
          </a:p>
          <a:p>
            <a:pPr lvl="1"/>
            <a:r>
              <a:rPr lang="en-US" noProof="0" dirty="0"/>
              <a:t>3-bit experimental field (EXP renamed to Traffic Class = TC)</a:t>
            </a:r>
          </a:p>
          <a:p>
            <a:pPr lvl="1"/>
            <a:r>
              <a:rPr lang="en-US" noProof="0" dirty="0"/>
              <a:t>1-bit bottom-of-stack indicator</a:t>
            </a:r>
          </a:p>
          <a:p>
            <a:pPr lvl="1"/>
            <a:r>
              <a:rPr lang="en-US" noProof="0" dirty="0"/>
              <a:t>8-bit time-to-live (TTL) field</a:t>
            </a:r>
          </a:p>
          <a:p>
            <a:endParaRPr lang="en-US" noProof="0" dirty="0"/>
          </a:p>
        </p:txBody>
      </p:sp>
      <p:sp>
        <p:nvSpPr>
          <p:cNvPr id="3" name="Text Placeholder 2"/>
          <p:cNvSpPr>
            <a:spLocks noGrp="1"/>
          </p:cNvSpPr>
          <p:nvPr>
            <p:ph type="body" sz="quarter" idx="11"/>
          </p:nvPr>
        </p:nvSpPr>
        <p:spPr/>
        <p:txBody>
          <a:bodyPr/>
          <a:lstStyle/>
          <a:p>
            <a:r>
              <a:rPr lang="en-US" noProof="0" dirty="0"/>
              <a:t>MPLS Label Format</a:t>
            </a:r>
          </a:p>
        </p:txBody>
      </p:sp>
      <p:sp>
        <p:nvSpPr>
          <p:cNvPr id="8" name="Rectangle 4"/>
          <p:cNvSpPr>
            <a:spLocks noChangeArrowheads="1"/>
          </p:cNvSpPr>
          <p:nvPr/>
        </p:nvSpPr>
        <p:spPr bwMode="auto">
          <a:xfrm>
            <a:off x="1522071" y="4872387"/>
            <a:ext cx="5029200" cy="609600"/>
          </a:xfrm>
          <a:prstGeom prst="rect">
            <a:avLst/>
          </a:prstGeom>
          <a:gradFill rotWithShape="0">
            <a:gsLst>
              <a:gs pos="0">
                <a:schemeClr val="bg1"/>
              </a:gs>
              <a:gs pos="0">
                <a:schemeClr val="bg1"/>
              </a:gs>
              <a:gs pos="100000">
                <a:srgbClr val="00838A"/>
              </a:gs>
            </a:gsLst>
            <a:lin ang="0" scaled="1"/>
          </a:gradFill>
          <a:ln w="19050">
            <a:solidFill>
              <a:schemeClr val="tx1"/>
            </a:solidFill>
            <a:miter lim="800000"/>
            <a:headEnd type="none" w="sm" len="sm"/>
            <a:tailEnd/>
          </a:ln>
        </p:spPr>
        <p:txBody>
          <a:bodyPr wrap="none" anchor="ctr"/>
          <a:lstStyle/>
          <a:p>
            <a:pPr algn="ctr"/>
            <a:r>
              <a:rPr lang="sl-SI"/>
              <a:t>LABEL</a:t>
            </a:r>
            <a:endParaRPr lang="en-GB"/>
          </a:p>
        </p:txBody>
      </p:sp>
      <p:sp>
        <p:nvSpPr>
          <p:cNvPr id="9" name="Rectangle 5"/>
          <p:cNvSpPr>
            <a:spLocks noChangeArrowheads="1"/>
          </p:cNvSpPr>
          <p:nvPr/>
        </p:nvSpPr>
        <p:spPr bwMode="auto">
          <a:xfrm>
            <a:off x="6551271" y="4872387"/>
            <a:ext cx="762000" cy="609600"/>
          </a:xfrm>
          <a:prstGeom prst="rect">
            <a:avLst/>
          </a:prstGeom>
          <a:gradFill rotWithShape="0">
            <a:gsLst>
              <a:gs pos="0">
                <a:schemeClr val="bg1"/>
              </a:gs>
              <a:gs pos="0">
                <a:schemeClr val="bg1"/>
              </a:gs>
              <a:gs pos="100000">
                <a:srgbClr val="00838A"/>
              </a:gs>
            </a:gsLst>
            <a:lin ang="0" scaled="1"/>
          </a:gradFill>
          <a:ln w="19050">
            <a:solidFill>
              <a:schemeClr val="tx1"/>
            </a:solidFill>
            <a:miter lim="800000"/>
            <a:headEnd type="none" w="sm" len="sm"/>
            <a:tailEnd/>
          </a:ln>
        </p:spPr>
        <p:txBody>
          <a:bodyPr wrap="none" anchor="ctr"/>
          <a:lstStyle/>
          <a:p>
            <a:pPr algn="ctr"/>
            <a:r>
              <a:rPr lang="sl-SI"/>
              <a:t>EXP</a:t>
            </a:r>
            <a:endParaRPr lang="en-GB"/>
          </a:p>
        </p:txBody>
      </p:sp>
      <p:sp>
        <p:nvSpPr>
          <p:cNvPr id="10" name="Rectangle 6"/>
          <p:cNvSpPr>
            <a:spLocks noChangeArrowheads="1"/>
          </p:cNvSpPr>
          <p:nvPr/>
        </p:nvSpPr>
        <p:spPr bwMode="auto">
          <a:xfrm>
            <a:off x="7313271" y="4872387"/>
            <a:ext cx="304800" cy="609600"/>
          </a:xfrm>
          <a:prstGeom prst="rect">
            <a:avLst/>
          </a:prstGeom>
          <a:gradFill rotWithShape="0">
            <a:gsLst>
              <a:gs pos="0">
                <a:schemeClr val="bg1"/>
              </a:gs>
              <a:gs pos="0">
                <a:schemeClr val="bg1"/>
              </a:gs>
              <a:gs pos="100000">
                <a:srgbClr val="00838A"/>
              </a:gs>
            </a:gsLst>
            <a:lin ang="0" scaled="1"/>
          </a:gradFill>
          <a:ln w="19050">
            <a:solidFill>
              <a:schemeClr val="tx1"/>
            </a:solidFill>
            <a:miter lim="800000"/>
            <a:headEnd type="none" w="sm" len="sm"/>
            <a:tailEnd/>
          </a:ln>
        </p:spPr>
        <p:txBody>
          <a:bodyPr wrap="none" anchor="ctr"/>
          <a:lstStyle/>
          <a:p>
            <a:pPr algn="ctr"/>
            <a:r>
              <a:rPr lang="sl-SI"/>
              <a:t>S</a:t>
            </a:r>
            <a:endParaRPr lang="en-GB"/>
          </a:p>
        </p:txBody>
      </p:sp>
      <p:sp>
        <p:nvSpPr>
          <p:cNvPr id="11" name="Rectangle 7"/>
          <p:cNvSpPr>
            <a:spLocks noChangeArrowheads="1"/>
          </p:cNvSpPr>
          <p:nvPr/>
        </p:nvSpPr>
        <p:spPr bwMode="auto">
          <a:xfrm>
            <a:off x="7618071" y="4872387"/>
            <a:ext cx="2057400" cy="609600"/>
          </a:xfrm>
          <a:prstGeom prst="rect">
            <a:avLst/>
          </a:prstGeom>
          <a:gradFill rotWithShape="0">
            <a:gsLst>
              <a:gs pos="0">
                <a:schemeClr val="bg1"/>
              </a:gs>
              <a:gs pos="0">
                <a:schemeClr val="bg1"/>
              </a:gs>
              <a:gs pos="100000">
                <a:srgbClr val="00838A"/>
              </a:gs>
            </a:gsLst>
            <a:lin ang="0" scaled="1"/>
          </a:gradFill>
          <a:ln w="19050">
            <a:solidFill>
              <a:schemeClr val="tx1"/>
            </a:solidFill>
            <a:miter lim="800000"/>
            <a:headEnd type="none" w="sm" len="sm"/>
            <a:tailEnd/>
          </a:ln>
        </p:spPr>
        <p:txBody>
          <a:bodyPr wrap="none" anchor="ctr"/>
          <a:lstStyle/>
          <a:p>
            <a:pPr algn="ctr"/>
            <a:r>
              <a:rPr lang="sl-SI"/>
              <a:t>TTL</a:t>
            </a:r>
            <a:endParaRPr lang="en-GB"/>
          </a:p>
        </p:txBody>
      </p:sp>
      <p:sp>
        <p:nvSpPr>
          <p:cNvPr id="12" name="Text Box 8"/>
          <p:cNvSpPr txBox="1">
            <a:spLocks noChangeArrowheads="1"/>
          </p:cNvSpPr>
          <p:nvPr/>
        </p:nvSpPr>
        <p:spPr bwMode="auto">
          <a:xfrm>
            <a:off x="1452221" y="5440712"/>
            <a:ext cx="268288" cy="274637"/>
          </a:xfrm>
          <a:prstGeom prst="rect">
            <a:avLst/>
          </a:prstGeom>
          <a:noFill/>
          <a:ln w="19050">
            <a:noFill/>
            <a:miter lim="800000"/>
            <a:headEnd type="none" w="sm" len="sm"/>
            <a:tailEnd/>
          </a:ln>
        </p:spPr>
        <p:txBody>
          <a:bodyPr wrap="none">
            <a:spAutoFit/>
          </a:bodyPr>
          <a:lstStyle/>
          <a:p>
            <a:pPr algn="ctr"/>
            <a:r>
              <a:rPr lang="sl-SI" sz="1200"/>
              <a:t>0</a:t>
            </a:r>
            <a:endParaRPr lang="en-GB" sz="1200"/>
          </a:p>
        </p:txBody>
      </p:sp>
      <p:sp>
        <p:nvSpPr>
          <p:cNvPr id="13" name="Text Box 9"/>
          <p:cNvSpPr txBox="1">
            <a:spLocks noChangeArrowheads="1"/>
          </p:cNvSpPr>
          <p:nvPr/>
        </p:nvSpPr>
        <p:spPr bwMode="auto">
          <a:xfrm>
            <a:off x="6255996" y="5450237"/>
            <a:ext cx="352425" cy="274637"/>
          </a:xfrm>
          <a:prstGeom prst="rect">
            <a:avLst/>
          </a:prstGeom>
          <a:noFill/>
          <a:ln w="19050">
            <a:noFill/>
            <a:miter lim="800000"/>
            <a:headEnd type="none" w="sm" len="sm"/>
            <a:tailEnd/>
          </a:ln>
        </p:spPr>
        <p:txBody>
          <a:bodyPr wrap="none">
            <a:spAutoFit/>
          </a:bodyPr>
          <a:lstStyle/>
          <a:p>
            <a:pPr algn="ctr"/>
            <a:r>
              <a:rPr lang="sl-SI" sz="1200"/>
              <a:t>19</a:t>
            </a:r>
            <a:endParaRPr lang="en-GB" sz="1200"/>
          </a:p>
        </p:txBody>
      </p:sp>
      <p:sp>
        <p:nvSpPr>
          <p:cNvPr id="14" name="Text Box 10"/>
          <p:cNvSpPr txBox="1">
            <a:spLocks noChangeArrowheads="1"/>
          </p:cNvSpPr>
          <p:nvPr/>
        </p:nvSpPr>
        <p:spPr bwMode="auto">
          <a:xfrm>
            <a:off x="6998946" y="5445474"/>
            <a:ext cx="352425" cy="274638"/>
          </a:xfrm>
          <a:prstGeom prst="rect">
            <a:avLst/>
          </a:prstGeom>
          <a:noFill/>
          <a:ln w="19050">
            <a:noFill/>
            <a:miter lim="800000"/>
            <a:headEnd type="none" w="sm" len="sm"/>
            <a:tailEnd/>
          </a:ln>
        </p:spPr>
        <p:txBody>
          <a:bodyPr wrap="none">
            <a:spAutoFit/>
          </a:bodyPr>
          <a:lstStyle/>
          <a:p>
            <a:pPr algn="ctr"/>
            <a:r>
              <a:rPr lang="sl-SI" sz="1200"/>
              <a:t>22</a:t>
            </a:r>
            <a:endParaRPr lang="en-GB" sz="1200"/>
          </a:p>
        </p:txBody>
      </p:sp>
      <p:sp>
        <p:nvSpPr>
          <p:cNvPr id="15" name="Text Box 11"/>
          <p:cNvSpPr txBox="1">
            <a:spLocks noChangeArrowheads="1"/>
          </p:cNvSpPr>
          <p:nvPr/>
        </p:nvSpPr>
        <p:spPr bwMode="auto">
          <a:xfrm>
            <a:off x="7289459" y="5445474"/>
            <a:ext cx="352425" cy="274638"/>
          </a:xfrm>
          <a:prstGeom prst="rect">
            <a:avLst/>
          </a:prstGeom>
          <a:noFill/>
          <a:ln w="19050">
            <a:noFill/>
            <a:miter lim="800000"/>
            <a:headEnd type="none" w="sm" len="sm"/>
            <a:tailEnd/>
          </a:ln>
        </p:spPr>
        <p:txBody>
          <a:bodyPr wrap="none">
            <a:spAutoFit/>
          </a:bodyPr>
          <a:lstStyle/>
          <a:p>
            <a:pPr algn="ctr"/>
            <a:r>
              <a:rPr lang="sl-SI" sz="1200"/>
              <a:t>23</a:t>
            </a:r>
            <a:endParaRPr lang="en-GB" sz="1200"/>
          </a:p>
        </p:txBody>
      </p:sp>
      <p:sp>
        <p:nvSpPr>
          <p:cNvPr id="16" name="Text Box 12"/>
          <p:cNvSpPr txBox="1">
            <a:spLocks noChangeArrowheads="1"/>
          </p:cNvSpPr>
          <p:nvPr/>
        </p:nvSpPr>
        <p:spPr bwMode="auto">
          <a:xfrm>
            <a:off x="9389721" y="5445474"/>
            <a:ext cx="352425" cy="274638"/>
          </a:xfrm>
          <a:prstGeom prst="rect">
            <a:avLst/>
          </a:prstGeom>
          <a:noFill/>
          <a:ln w="19050">
            <a:noFill/>
            <a:miter lim="800000"/>
            <a:headEnd type="none" w="sm" len="sm"/>
            <a:tailEnd/>
          </a:ln>
        </p:spPr>
        <p:txBody>
          <a:bodyPr wrap="none">
            <a:spAutoFit/>
          </a:bodyPr>
          <a:lstStyle/>
          <a:p>
            <a:pPr algn="ctr"/>
            <a:r>
              <a:rPr lang="sl-SI" sz="1200"/>
              <a:t>31</a:t>
            </a:r>
            <a:endParaRPr lang="en-GB" sz="1200"/>
          </a:p>
        </p:txBody>
      </p:sp>
      <p:sp>
        <p:nvSpPr>
          <p:cNvPr id="17" name="Text Box 13"/>
          <p:cNvSpPr txBox="1">
            <a:spLocks noChangeArrowheads="1"/>
          </p:cNvSpPr>
          <p:nvPr/>
        </p:nvSpPr>
        <p:spPr bwMode="auto">
          <a:xfrm>
            <a:off x="6509996" y="5448649"/>
            <a:ext cx="352425" cy="274638"/>
          </a:xfrm>
          <a:prstGeom prst="rect">
            <a:avLst/>
          </a:prstGeom>
          <a:noFill/>
          <a:ln w="19050">
            <a:noFill/>
            <a:miter lim="800000"/>
            <a:headEnd type="none" w="sm" len="sm"/>
            <a:tailEnd/>
          </a:ln>
        </p:spPr>
        <p:txBody>
          <a:bodyPr wrap="none">
            <a:spAutoFit/>
          </a:bodyPr>
          <a:lstStyle/>
          <a:p>
            <a:pPr algn="ctr"/>
            <a:r>
              <a:rPr lang="sl-SI" sz="1200"/>
              <a:t>20</a:t>
            </a:r>
            <a:endParaRPr lang="en-GB" sz="1200"/>
          </a:p>
        </p:txBody>
      </p:sp>
      <p:sp>
        <p:nvSpPr>
          <p:cNvPr id="18" name="Text Box 14"/>
          <p:cNvSpPr txBox="1">
            <a:spLocks noChangeArrowheads="1"/>
          </p:cNvSpPr>
          <p:nvPr/>
        </p:nvSpPr>
        <p:spPr bwMode="auto">
          <a:xfrm>
            <a:off x="7576796" y="5448649"/>
            <a:ext cx="352425" cy="274638"/>
          </a:xfrm>
          <a:prstGeom prst="rect">
            <a:avLst/>
          </a:prstGeom>
          <a:noFill/>
          <a:ln w="19050">
            <a:noFill/>
            <a:miter lim="800000"/>
            <a:headEnd type="none" w="sm" len="sm"/>
            <a:tailEnd/>
          </a:ln>
        </p:spPr>
        <p:txBody>
          <a:bodyPr wrap="none">
            <a:spAutoFit/>
          </a:bodyPr>
          <a:lstStyle/>
          <a:p>
            <a:pPr algn="ctr"/>
            <a:r>
              <a:rPr lang="sl-SI" sz="1200"/>
              <a:t>24</a:t>
            </a:r>
            <a:endParaRPr lang="en-GB" sz="1200"/>
          </a:p>
        </p:txBody>
      </p:sp>
      <p:sp>
        <p:nvSpPr>
          <p:cNvPr id="19" name="TextBox 18"/>
          <p:cNvSpPr txBox="1"/>
          <p:nvPr/>
        </p:nvSpPr>
        <p:spPr>
          <a:xfrm>
            <a:off x="1429490" y="4503055"/>
            <a:ext cx="1057854" cy="369332"/>
          </a:xfrm>
          <a:prstGeom prst="rect">
            <a:avLst/>
          </a:prstGeom>
          <a:noFill/>
        </p:spPr>
        <p:txBody>
          <a:bodyPr wrap="none" rtlCol="0">
            <a:spAutoFit/>
          </a:bodyPr>
          <a:lstStyle/>
          <a:p>
            <a:r>
              <a:rPr lang="en-US" dirty="0"/>
              <a:t>RFC 3032</a:t>
            </a:r>
            <a:endParaRPr lang="cs-CZ" dirty="0"/>
          </a:p>
        </p:txBody>
      </p:sp>
      <p:sp>
        <p:nvSpPr>
          <p:cNvPr id="20" name="TextBox 19"/>
          <p:cNvSpPr txBox="1"/>
          <p:nvPr/>
        </p:nvSpPr>
        <p:spPr>
          <a:xfrm>
            <a:off x="6712583" y="4535091"/>
            <a:ext cx="415563" cy="369332"/>
          </a:xfrm>
          <a:prstGeom prst="rect">
            <a:avLst/>
          </a:prstGeom>
          <a:noFill/>
        </p:spPr>
        <p:txBody>
          <a:bodyPr wrap="none" rtlCol="0">
            <a:spAutoFit/>
          </a:bodyPr>
          <a:lstStyle/>
          <a:p>
            <a:r>
              <a:rPr lang="en-US" dirty="0"/>
              <a:t>TC</a:t>
            </a:r>
            <a:endParaRPr lang="cs-CZ" dirty="0"/>
          </a:p>
        </p:txBody>
      </p:sp>
      <p:sp>
        <p:nvSpPr>
          <p:cNvPr id="21" name="Line Callout 2 20"/>
          <p:cNvSpPr/>
          <p:nvPr/>
        </p:nvSpPr>
        <p:spPr>
          <a:xfrm>
            <a:off x="7465671" y="4243463"/>
            <a:ext cx="1238491" cy="291628"/>
          </a:xfrm>
          <a:prstGeom prst="borderCallout2">
            <a:avLst/>
          </a:prstGeom>
          <a:solidFill>
            <a:srgbClr val="F8B45A"/>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RFC 5462</a:t>
            </a:r>
            <a:endParaRPr lang="cs-CZ" dirty="0"/>
          </a:p>
        </p:txBody>
      </p:sp>
    </p:spTree>
    <p:extLst>
      <p:ext uri="{BB962C8B-B14F-4D97-AF65-F5344CB8AC3E}">
        <p14:creationId xmlns:p14="http://schemas.microsoft.com/office/powerpoint/2010/main" val="3881138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noProof="0" dirty="0"/>
              <a:t>Label stack“ record is placed between data-link layer header (L2) and network layer header (L3)</a:t>
            </a:r>
          </a:p>
          <a:p>
            <a:r>
              <a:rPr lang="en-US" noProof="0" dirty="0"/>
              <a:t>The beginning of „label stack“ (top label) directly follows the data-link layer (L2)</a:t>
            </a:r>
          </a:p>
          <a:p>
            <a:r>
              <a:rPr lang="en-US" noProof="0" dirty="0"/>
              <a:t> Network layer header is placed directly after the „label stack“ record which has the „s“ bit flag set</a:t>
            </a:r>
          </a:p>
        </p:txBody>
      </p:sp>
      <p:sp>
        <p:nvSpPr>
          <p:cNvPr id="3" name="Text Placeholder 2"/>
          <p:cNvSpPr>
            <a:spLocks noGrp="1"/>
          </p:cNvSpPr>
          <p:nvPr>
            <p:ph type="body" sz="quarter" idx="11"/>
          </p:nvPr>
        </p:nvSpPr>
        <p:spPr/>
        <p:txBody>
          <a:bodyPr/>
          <a:lstStyle/>
          <a:p>
            <a:r>
              <a:rPr lang="en-US" noProof="0" dirty="0"/>
              <a:t>Label Encapsulation</a:t>
            </a:r>
          </a:p>
        </p:txBody>
      </p:sp>
      <p:grpSp>
        <p:nvGrpSpPr>
          <p:cNvPr id="23" name="Group 22"/>
          <p:cNvGrpSpPr/>
          <p:nvPr/>
        </p:nvGrpSpPr>
        <p:grpSpPr>
          <a:xfrm>
            <a:off x="1087926" y="4342183"/>
            <a:ext cx="9621462" cy="2024248"/>
            <a:chOff x="980948" y="4163636"/>
            <a:chExt cx="9621462" cy="2024248"/>
          </a:xfrm>
        </p:grpSpPr>
        <p:sp>
          <p:nvSpPr>
            <p:cNvPr id="4" name="Rectangle 4"/>
            <p:cNvSpPr>
              <a:spLocks noChangeArrowheads="1"/>
            </p:cNvSpPr>
            <p:nvPr/>
          </p:nvSpPr>
          <p:spPr bwMode="auto">
            <a:xfrm>
              <a:off x="2364123" y="4872387"/>
              <a:ext cx="1189318" cy="609600"/>
            </a:xfrm>
            <a:prstGeom prst="rect">
              <a:avLst/>
            </a:prstGeom>
            <a:solidFill>
              <a:schemeClr val="accent3"/>
            </a:solidFill>
            <a:ln w="19050">
              <a:solidFill>
                <a:schemeClr val="tx1"/>
              </a:solidFill>
              <a:miter lim="800000"/>
              <a:headEnd type="none" w="sm" len="sm"/>
              <a:tailEnd/>
            </a:ln>
          </p:spPr>
          <p:txBody>
            <a:bodyPr wrap="none" anchor="ctr"/>
            <a:lstStyle/>
            <a:p>
              <a:pPr algn="ctr"/>
              <a:r>
                <a:rPr lang="sl-SI" dirty="0"/>
                <a:t>L2 </a:t>
              </a:r>
              <a:r>
                <a:rPr lang="sl-SI" dirty="0" err="1"/>
                <a:t>Header</a:t>
              </a:r>
              <a:endParaRPr lang="en-GB" dirty="0"/>
            </a:p>
          </p:txBody>
        </p:sp>
        <p:sp>
          <p:nvSpPr>
            <p:cNvPr id="5" name="Rectangle 4"/>
            <p:cNvSpPr>
              <a:spLocks noChangeArrowheads="1"/>
            </p:cNvSpPr>
            <p:nvPr/>
          </p:nvSpPr>
          <p:spPr bwMode="auto">
            <a:xfrm>
              <a:off x="3553441" y="4872387"/>
              <a:ext cx="1325296" cy="609600"/>
            </a:xfrm>
            <a:prstGeom prst="rect">
              <a:avLst/>
            </a:prstGeom>
            <a:noFill/>
            <a:ln w="19050">
              <a:solidFill>
                <a:schemeClr val="tx1"/>
              </a:solidFill>
              <a:miter lim="800000"/>
              <a:headEnd type="none" w="sm" len="sm"/>
              <a:tailEnd/>
            </a:ln>
          </p:spPr>
          <p:txBody>
            <a:bodyPr wrap="none" anchor="ctr"/>
            <a:lstStyle/>
            <a:p>
              <a:pPr algn="ctr"/>
              <a:r>
                <a:rPr lang="sl-SI" dirty="0"/>
                <a:t>MPLS </a:t>
              </a:r>
              <a:r>
                <a:rPr lang="sl-SI" dirty="0" err="1"/>
                <a:t>Label</a:t>
              </a:r>
              <a:endParaRPr lang="sl-SI" dirty="0"/>
            </a:p>
            <a:p>
              <a:pPr algn="ctr"/>
              <a:r>
                <a:rPr lang="sl-SI" dirty="0"/>
                <a:t>s=0</a:t>
              </a:r>
              <a:endParaRPr lang="en-GB" dirty="0"/>
            </a:p>
          </p:txBody>
        </p:sp>
        <p:sp>
          <p:nvSpPr>
            <p:cNvPr id="6" name="Rectangle 5"/>
            <p:cNvSpPr>
              <a:spLocks noChangeArrowheads="1"/>
            </p:cNvSpPr>
            <p:nvPr/>
          </p:nvSpPr>
          <p:spPr bwMode="auto">
            <a:xfrm>
              <a:off x="4878737" y="4872387"/>
              <a:ext cx="1394736" cy="609600"/>
            </a:xfrm>
            <a:prstGeom prst="rect">
              <a:avLst/>
            </a:prstGeom>
            <a:noFill/>
            <a:ln w="19050">
              <a:solidFill>
                <a:schemeClr val="tx1"/>
              </a:solidFill>
              <a:miter lim="800000"/>
              <a:headEnd type="none" w="sm" len="sm"/>
              <a:tailEnd/>
            </a:ln>
          </p:spPr>
          <p:txBody>
            <a:bodyPr wrap="none" anchor="ctr"/>
            <a:lstStyle/>
            <a:p>
              <a:pPr algn="ctr"/>
              <a:r>
                <a:rPr lang="sl-SI" dirty="0"/>
                <a:t>MPLS Labe</a:t>
              </a:r>
              <a:r>
                <a:rPr lang="en-US" dirty="0"/>
                <a:t>l</a:t>
              </a:r>
              <a:endParaRPr lang="sl-SI" dirty="0"/>
            </a:p>
            <a:p>
              <a:pPr algn="ctr"/>
              <a:r>
                <a:rPr lang="sl-SI" b="1" dirty="0">
                  <a:solidFill>
                    <a:srgbClr val="FF0000"/>
                  </a:solidFill>
                </a:rPr>
                <a:t>s=1</a:t>
              </a:r>
              <a:endParaRPr lang="en-GB" b="1" dirty="0">
                <a:solidFill>
                  <a:srgbClr val="FF0000"/>
                </a:solidFill>
              </a:endParaRPr>
            </a:p>
          </p:txBody>
        </p:sp>
        <p:sp>
          <p:nvSpPr>
            <p:cNvPr id="7" name="Rectangle 4"/>
            <p:cNvSpPr>
              <a:spLocks noChangeArrowheads="1"/>
            </p:cNvSpPr>
            <p:nvPr/>
          </p:nvSpPr>
          <p:spPr bwMode="auto">
            <a:xfrm>
              <a:off x="6215593" y="4872387"/>
              <a:ext cx="1284790" cy="609600"/>
            </a:xfrm>
            <a:prstGeom prst="rect">
              <a:avLst/>
            </a:prstGeom>
            <a:solidFill>
              <a:schemeClr val="tx2"/>
            </a:solidFill>
            <a:ln w="19050">
              <a:solidFill>
                <a:schemeClr val="tx1"/>
              </a:solidFill>
              <a:miter lim="800000"/>
              <a:headEnd type="none" w="sm" len="sm"/>
              <a:tailEnd/>
            </a:ln>
          </p:spPr>
          <p:txBody>
            <a:bodyPr wrap="none" anchor="ctr"/>
            <a:lstStyle/>
            <a:p>
              <a:pPr algn="ctr"/>
              <a:r>
                <a:rPr lang="sl-SI" dirty="0"/>
                <a:t>L3 </a:t>
              </a:r>
              <a:r>
                <a:rPr lang="sl-SI" dirty="0" err="1"/>
                <a:t>Header</a:t>
              </a:r>
              <a:endParaRPr lang="en-GB" dirty="0"/>
            </a:p>
          </p:txBody>
        </p:sp>
        <p:sp>
          <p:nvSpPr>
            <p:cNvPr id="8" name="Rectangle 4"/>
            <p:cNvSpPr>
              <a:spLocks noChangeArrowheads="1"/>
            </p:cNvSpPr>
            <p:nvPr/>
          </p:nvSpPr>
          <p:spPr bwMode="auto">
            <a:xfrm>
              <a:off x="7500383" y="4872387"/>
              <a:ext cx="2222346" cy="609600"/>
            </a:xfrm>
            <a:prstGeom prst="rect">
              <a:avLst/>
            </a:prstGeom>
            <a:solidFill>
              <a:schemeClr val="accent4"/>
            </a:solidFill>
            <a:ln w="19050">
              <a:solidFill>
                <a:schemeClr val="tx1"/>
              </a:solidFill>
              <a:miter lim="800000"/>
              <a:headEnd type="none" w="sm" len="sm"/>
              <a:tailEnd/>
            </a:ln>
          </p:spPr>
          <p:txBody>
            <a:bodyPr wrap="none" anchor="ctr"/>
            <a:lstStyle/>
            <a:p>
              <a:pPr algn="ctr"/>
              <a:r>
                <a:rPr lang="cs-CZ" dirty="0"/>
                <a:t>DATA</a:t>
              </a:r>
              <a:endParaRPr lang="en-GB" dirty="0"/>
            </a:p>
          </p:txBody>
        </p:sp>
        <p:sp>
          <p:nvSpPr>
            <p:cNvPr id="9" name="Rectangle 4"/>
            <p:cNvSpPr>
              <a:spLocks noChangeArrowheads="1"/>
            </p:cNvSpPr>
            <p:nvPr/>
          </p:nvSpPr>
          <p:spPr bwMode="auto">
            <a:xfrm>
              <a:off x="9722729" y="4872387"/>
              <a:ext cx="879681" cy="609600"/>
            </a:xfrm>
            <a:prstGeom prst="rect">
              <a:avLst/>
            </a:prstGeom>
            <a:solidFill>
              <a:schemeClr val="accent3"/>
            </a:solidFill>
            <a:ln w="19050">
              <a:solidFill>
                <a:schemeClr val="tx1"/>
              </a:solidFill>
              <a:miter lim="800000"/>
              <a:headEnd type="none" w="sm" len="sm"/>
              <a:tailEnd/>
            </a:ln>
          </p:spPr>
          <p:txBody>
            <a:bodyPr wrap="none" anchor="ctr"/>
            <a:lstStyle/>
            <a:p>
              <a:pPr algn="ctr"/>
              <a:r>
                <a:rPr lang="sl-SI" dirty="0"/>
                <a:t>L2 CRC</a:t>
              </a:r>
              <a:endParaRPr lang="en-GB" dirty="0"/>
            </a:p>
          </p:txBody>
        </p:sp>
        <p:sp>
          <p:nvSpPr>
            <p:cNvPr id="10" name="Rectangle 4"/>
            <p:cNvSpPr>
              <a:spLocks noChangeArrowheads="1"/>
            </p:cNvSpPr>
            <p:nvPr/>
          </p:nvSpPr>
          <p:spPr bwMode="auto">
            <a:xfrm>
              <a:off x="3689419" y="5578284"/>
              <a:ext cx="1189318" cy="609600"/>
            </a:xfrm>
            <a:prstGeom prst="rect">
              <a:avLst/>
            </a:prstGeom>
            <a:solidFill>
              <a:schemeClr val="accent3"/>
            </a:solidFill>
            <a:ln w="19050">
              <a:solidFill>
                <a:schemeClr val="tx1"/>
              </a:solidFill>
              <a:miter lim="800000"/>
              <a:headEnd type="none" w="sm" len="sm"/>
              <a:tailEnd/>
            </a:ln>
          </p:spPr>
          <p:txBody>
            <a:bodyPr wrap="none" anchor="ctr"/>
            <a:lstStyle/>
            <a:p>
              <a:pPr algn="ctr"/>
              <a:r>
                <a:rPr lang="sl-SI" dirty="0"/>
                <a:t>L2 </a:t>
              </a:r>
              <a:r>
                <a:rPr lang="sl-SI" dirty="0" err="1"/>
                <a:t>Header</a:t>
              </a:r>
              <a:endParaRPr lang="en-GB" dirty="0"/>
            </a:p>
          </p:txBody>
        </p:sp>
        <p:sp>
          <p:nvSpPr>
            <p:cNvPr id="12" name="Rectangle 11"/>
            <p:cNvSpPr>
              <a:spLocks noChangeArrowheads="1"/>
            </p:cNvSpPr>
            <p:nvPr/>
          </p:nvSpPr>
          <p:spPr bwMode="auto">
            <a:xfrm>
              <a:off x="4878737" y="5578284"/>
              <a:ext cx="1336856" cy="609600"/>
            </a:xfrm>
            <a:prstGeom prst="rect">
              <a:avLst/>
            </a:prstGeom>
            <a:noFill/>
            <a:ln w="19050">
              <a:solidFill>
                <a:schemeClr val="tx1"/>
              </a:solidFill>
              <a:miter lim="800000"/>
              <a:headEnd type="none" w="sm" len="sm"/>
              <a:tailEnd/>
            </a:ln>
          </p:spPr>
          <p:txBody>
            <a:bodyPr wrap="none" anchor="ctr"/>
            <a:lstStyle/>
            <a:p>
              <a:pPr algn="ctr"/>
              <a:r>
                <a:rPr lang="sl-SI" dirty="0"/>
                <a:t>MPLS </a:t>
              </a:r>
              <a:r>
                <a:rPr lang="sl-SI" dirty="0" err="1"/>
                <a:t>Label</a:t>
              </a:r>
              <a:endParaRPr lang="sl-SI" dirty="0"/>
            </a:p>
            <a:p>
              <a:pPr algn="ctr"/>
              <a:r>
                <a:rPr lang="sl-SI" b="1" dirty="0">
                  <a:solidFill>
                    <a:srgbClr val="FF0000"/>
                  </a:solidFill>
                </a:rPr>
                <a:t>s=1</a:t>
              </a:r>
              <a:endParaRPr lang="en-GB" b="1" dirty="0">
                <a:solidFill>
                  <a:srgbClr val="FF0000"/>
                </a:solidFill>
              </a:endParaRPr>
            </a:p>
          </p:txBody>
        </p:sp>
        <p:sp>
          <p:nvSpPr>
            <p:cNvPr id="13" name="Rectangle 4"/>
            <p:cNvSpPr>
              <a:spLocks noChangeArrowheads="1"/>
            </p:cNvSpPr>
            <p:nvPr/>
          </p:nvSpPr>
          <p:spPr bwMode="auto">
            <a:xfrm>
              <a:off x="6215593" y="5578284"/>
              <a:ext cx="1284790" cy="609600"/>
            </a:xfrm>
            <a:prstGeom prst="rect">
              <a:avLst/>
            </a:prstGeom>
            <a:solidFill>
              <a:schemeClr val="tx2"/>
            </a:solidFill>
            <a:ln w="19050">
              <a:solidFill>
                <a:schemeClr val="tx1"/>
              </a:solidFill>
              <a:miter lim="800000"/>
              <a:headEnd type="none" w="sm" len="sm"/>
              <a:tailEnd/>
            </a:ln>
          </p:spPr>
          <p:txBody>
            <a:bodyPr wrap="none" anchor="ctr"/>
            <a:lstStyle/>
            <a:p>
              <a:pPr algn="ctr"/>
              <a:r>
                <a:rPr lang="sl-SI" dirty="0"/>
                <a:t>L3 </a:t>
              </a:r>
              <a:r>
                <a:rPr lang="sl-SI" dirty="0" err="1"/>
                <a:t>Header</a:t>
              </a:r>
              <a:endParaRPr lang="en-GB" dirty="0"/>
            </a:p>
          </p:txBody>
        </p:sp>
        <p:sp>
          <p:nvSpPr>
            <p:cNvPr id="14" name="Rectangle 4"/>
            <p:cNvSpPr>
              <a:spLocks noChangeArrowheads="1"/>
            </p:cNvSpPr>
            <p:nvPr/>
          </p:nvSpPr>
          <p:spPr bwMode="auto">
            <a:xfrm>
              <a:off x="7500383" y="5578284"/>
              <a:ext cx="2222346" cy="609600"/>
            </a:xfrm>
            <a:prstGeom prst="rect">
              <a:avLst/>
            </a:prstGeom>
            <a:solidFill>
              <a:schemeClr val="accent4"/>
            </a:solidFill>
            <a:ln w="19050">
              <a:solidFill>
                <a:schemeClr val="tx1"/>
              </a:solidFill>
              <a:miter lim="800000"/>
              <a:headEnd type="none" w="sm" len="sm"/>
              <a:tailEnd/>
            </a:ln>
          </p:spPr>
          <p:txBody>
            <a:bodyPr wrap="none" anchor="ctr"/>
            <a:lstStyle/>
            <a:p>
              <a:pPr algn="ctr"/>
              <a:r>
                <a:rPr lang="cs-CZ" dirty="0"/>
                <a:t>DATA</a:t>
              </a:r>
              <a:endParaRPr lang="en-GB" dirty="0"/>
            </a:p>
          </p:txBody>
        </p:sp>
        <p:sp>
          <p:nvSpPr>
            <p:cNvPr id="15" name="Rectangle 4"/>
            <p:cNvSpPr>
              <a:spLocks noChangeArrowheads="1"/>
            </p:cNvSpPr>
            <p:nvPr/>
          </p:nvSpPr>
          <p:spPr bwMode="auto">
            <a:xfrm>
              <a:off x="9722729" y="5578284"/>
              <a:ext cx="879681" cy="609600"/>
            </a:xfrm>
            <a:prstGeom prst="rect">
              <a:avLst/>
            </a:prstGeom>
            <a:solidFill>
              <a:schemeClr val="accent3"/>
            </a:solidFill>
            <a:ln w="19050">
              <a:solidFill>
                <a:schemeClr val="tx1"/>
              </a:solidFill>
              <a:miter lim="800000"/>
              <a:headEnd type="none" w="sm" len="sm"/>
              <a:tailEnd/>
            </a:ln>
          </p:spPr>
          <p:txBody>
            <a:bodyPr wrap="none" anchor="ctr"/>
            <a:lstStyle/>
            <a:p>
              <a:pPr algn="ctr"/>
              <a:r>
                <a:rPr lang="sl-SI" dirty="0"/>
                <a:t>L2 CRC</a:t>
              </a:r>
              <a:endParaRPr lang="en-GB" dirty="0"/>
            </a:p>
          </p:txBody>
        </p:sp>
        <p:sp>
          <p:nvSpPr>
            <p:cNvPr id="16" name="Rectangle 4"/>
            <p:cNvSpPr>
              <a:spLocks noChangeArrowheads="1"/>
            </p:cNvSpPr>
            <p:nvPr/>
          </p:nvSpPr>
          <p:spPr bwMode="auto">
            <a:xfrm>
              <a:off x="980948" y="4163636"/>
              <a:ext cx="1177542" cy="609600"/>
            </a:xfrm>
            <a:prstGeom prst="rect">
              <a:avLst/>
            </a:prstGeom>
            <a:solidFill>
              <a:schemeClr val="accent3"/>
            </a:solidFill>
            <a:ln w="19050">
              <a:solidFill>
                <a:schemeClr val="tx1"/>
              </a:solidFill>
              <a:miter lim="800000"/>
              <a:headEnd type="none" w="sm" len="sm"/>
              <a:tailEnd/>
            </a:ln>
          </p:spPr>
          <p:txBody>
            <a:bodyPr wrap="none" anchor="ctr"/>
            <a:lstStyle/>
            <a:p>
              <a:pPr algn="ctr"/>
              <a:r>
                <a:rPr lang="sl-SI" dirty="0"/>
                <a:t>L2 </a:t>
              </a:r>
              <a:r>
                <a:rPr lang="sl-SI" dirty="0" err="1"/>
                <a:t>Header</a:t>
              </a:r>
              <a:endParaRPr lang="en-GB" dirty="0"/>
            </a:p>
          </p:txBody>
        </p:sp>
        <p:sp>
          <p:nvSpPr>
            <p:cNvPr id="17" name="Rectangle 16"/>
            <p:cNvSpPr>
              <a:spLocks noChangeArrowheads="1"/>
            </p:cNvSpPr>
            <p:nvPr/>
          </p:nvSpPr>
          <p:spPr bwMode="auto">
            <a:xfrm>
              <a:off x="3553442" y="4163636"/>
              <a:ext cx="1325295" cy="609600"/>
            </a:xfrm>
            <a:prstGeom prst="rect">
              <a:avLst/>
            </a:prstGeom>
            <a:noFill/>
            <a:ln w="19050">
              <a:solidFill>
                <a:schemeClr val="tx1"/>
              </a:solidFill>
              <a:miter lim="800000"/>
              <a:headEnd type="none" w="sm" len="sm"/>
              <a:tailEnd/>
            </a:ln>
          </p:spPr>
          <p:txBody>
            <a:bodyPr wrap="none" anchor="ctr"/>
            <a:lstStyle/>
            <a:p>
              <a:pPr algn="ctr"/>
              <a:r>
                <a:rPr lang="sl-SI" dirty="0"/>
                <a:t>MPLS </a:t>
              </a:r>
              <a:r>
                <a:rPr lang="sl-SI" dirty="0" err="1"/>
                <a:t>Label</a:t>
              </a:r>
              <a:endParaRPr lang="sl-SI" dirty="0"/>
            </a:p>
            <a:p>
              <a:pPr algn="ctr"/>
              <a:r>
                <a:rPr lang="sl-SI" dirty="0"/>
                <a:t>s=0</a:t>
              </a:r>
              <a:endParaRPr lang="en-GB" dirty="0"/>
            </a:p>
          </p:txBody>
        </p:sp>
        <p:sp>
          <p:nvSpPr>
            <p:cNvPr id="18" name="Rectangle 17"/>
            <p:cNvSpPr>
              <a:spLocks noChangeArrowheads="1"/>
            </p:cNvSpPr>
            <p:nvPr/>
          </p:nvSpPr>
          <p:spPr bwMode="auto">
            <a:xfrm>
              <a:off x="4878738" y="4163636"/>
              <a:ext cx="1336856" cy="609600"/>
            </a:xfrm>
            <a:prstGeom prst="rect">
              <a:avLst/>
            </a:prstGeom>
            <a:noFill/>
            <a:ln w="19050">
              <a:solidFill>
                <a:schemeClr val="tx1"/>
              </a:solidFill>
              <a:miter lim="800000"/>
              <a:headEnd type="none" w="sm" len="sm"/>
              <a:tailEnd/>
            </a:ln>
          </p:spPr>
          <p:txBody>
            <a:bodyPr wrap="none" anchor="ctr"/>
            <a:lstStyle/>
            <a:p>
              <a:pPr algn="ctr"/>
              <a:r>
                <a:rPr lang="sl-SI" dirty="0"/>
                <a:t>MPLS </a:t>
              </a:r>
              <a:r>
                <a:rPr lang="sl-SI" dirty="0" err="1"/>
                <a:t>Label</a:t>
              </a:r>
              <a:endParaRPr lang="sl-SI" dirty="0"/>
            </a:p>
            <a:p>
              <a:pPr algn="ctr"/>
              <a:r>
                <a:rPr lang="sl-SI" b="1" dirty="0">
                  <a:solidFill>
                    <a:srgbClr val="FF0000"/>
                  </a:solidFill>
                </a:rPr>
                <a:t>s=1</a:t>
              </a:r>
              <a:endParaRPr lang="en-GB" b="1" dirty="0">
                <a:solidFill>
                  <a:srgbClr val="FF0000"/>
                </a:solidFill>
              </a:endParaRPr>
            </a:p>
          </p:txBody>
        </p:sp>
        <p:sp>
          <p:nvSpPr>
            <p:cNvPr id="19" name="Rectangle 4"/>
            <p:cNvSpPr>
              <a:spLocks noChangeArrowheads="1"/>
            </p:cNvSpPr>
            <p:nvPr/>
          </p:nvSpPr>
          <p:spPr bwMode="auto">
            <a:xfrm>
              <a:off x="6215594" y="4163636"/>
              <a:ext cx="1284789" cy="609600"/>
            </a:xfrm>
            <a:prstGeom prst="rect">
              <a:avLst/>
            </a:prstGeom>
            <a:solidFill>
              <a:schemeClr val="tx2"/>
            </a:solidFill>
            <a:ln w="19050">
              <a:solidFill>
                <a:schemeClr val="tx1"/>
              </a:solidFill>
              <a:miter lim="800000"/>
              <a:headEnd type="none" w="sm" len="sm"/>
              <a:tailEnd/>
            </a:ln>
          </p:spPr>
          <p:txBody>
            <a:bodyPr wrap="none" anchor="ctr"/>
            <a:lstStyle/>
            <a:p>
              <a:pPr algn="ctr"/>
              <a:r>
                <a:rPr lang="sl-SI" dirty="0"/>
                <a:t>L3 </a:t>
              </a:r>
              <a:r>
                <a:rPr lang="sl-SI" dirty="0" err="1"/>
                <a:t>Header</a:t>
              </a:r>
              <a:endParaRPr lang="en-GB" dirty="0"/>
            </a:p>
          </p:txBody>
        </p:sp>
        <p:sp>
          <p:nvSpPr>
            <p:cNvPr id="20" name="Rectangle 4"/>
            <p:cNvSpPr>
              <a:spLocks noChangeArrowheads="1"/>
            </p:cNvSpPr>
            <p:nvPr/>
          </p:nvSpPr>
          <p:spPr bwMode="auto">
            <a:xfrm>
              <a:off x="7500383" y="4163636"/>
              <a:ext cx="2222346" cy="609600"/>
            </a:xfrm>
            <a:prstGeom prst="rect">
              <a:avLst/>
            </a:prstGeom>
            <a:solidFill>
              <a:schemeClr val="accent4"/>
            </a:solidFill>
            <a:ln w="19050">
              <a:solidFill>
                <a:schemeClr val="tx1"/>
              </a:solidFill>
              <a:miter lim="800000"/>
              <a:headEnd type="none" w="sm" len="sm"/>
              <a:tailEnd/>
            </a:ln>
          </p:spPr>
          <p:txBody>
            <a:bodyPr wrap="none" anchor="ctr"/>
            <a:lstStyle/>
            <a:p>
              <a:pPr algn="ctr"/>
              <a:r>
                <a:rPr lang="cs-CZ" dirty="0"/>
                <a:t>DATA</a:t>
              </a:r>
              <a:endParaRPr lang="en-GB" dirty="0"/>
            </a:p>
          </p:txBody>
        </p:sp>
        <p:sp>
          <p:nvSpPr>
            <p:cNvPr id="21" name="Rectangle 4"/>
            <p:cNvSpPr>
              <a:spLocks noChangeArrowheads="1"/>
            </p:cNvSpPr>
            <p:nvPr/>
          </p:nvSpPr>
          <p:spPr bwMode="auto">
            <a:xfrm>
              <a:off x="9722730" y="4163636"/>
              <a:ext cx="868100" cy="609600"/>
            </a:xfrm>
            <a:prstGeom prst="rect">
              <a:avLst/>
            </a:prstGeom>
            <a:solidFill>
              <a:schemeClr val="accent3"/>
            </a:solidFill>
            <a:ln w="19050">
              <a:solidFill>
                <a:schemeClr val="tx1"/>
              </a:solidFill>
              <a:miter lim="800000"/>
              <a:headEnd type="none" w="sm" len="sm"/>
              <a:tailEnd/>
            </a:ln>
          </p:spPr>
          <p:txBody>
            <a:bodyPr wrap="none" anchor="ctr"/>
            <a:lstStyle/>
            <a:p>
              <a:pPr algn="ctr"/>
              <a:r>
                <a:rPr lang="sl-SI" dirty="0"/>
                <a:t>L2 CRC</a:t>
              </a:r>
              <a:endParaRPr lang="en-GB" dirty="0"/>
            </a:p>
          </p:txBody>
        </p:sp>
        <p:sp>
          <p:nvSpPr>
            <p:cNvPr id="22" name="Rectangle 21"/>
            <p:cNvSpPr>
              <a:spLocks noChangeArrowheads="1"/>
            </p:cNvSpPr>
            <p:nvPr/>
          </p:nvSpPr>
          <p:spPr bwMode="auto">
            <a:xfrm>
              <a:off x="2170266" y="4163636"/>
              <a:ext cx="1383175" cy="609600"/>
            </a:xfrm>
            <a:prstGeom prst="rect">
              <a:avLst/>
            </a:prstGeom>
            <a:noFill/>
            <a:ln w="19050">
              <a:solidFill>
                <a:schemeClr val="tx1"/>
              </a:solidFill>
              <a:miter lim="800000"/>
              <a:headEnd type="none" w="sm" len="sm"/>
              <a:tailEnd/>
            </a:ln>
          </p:spPr>
          <p:txBody>
            <a:bodyPr wrap="none" anchor="ctr"/>
            <a:lstStyle/>
            <a:p>
              <a:pPr algn="ctr"/>
              <a:r>
                <a:rPr lang="sl-SI" dirty="0"/>
                <a:t>MPLS </a:t>
              </a:r>
              <a:r>
                <a:rPr lang="sl-SI" dirty="0" err="1"/>
                <a:t>Label</a:t>
              </a:r>
              <a:endParaRPr lang="sl-SI" dirty="0"/>
            </a:p>
            <a:p>
              <a:pPr algn="ctr"/>
              <a:r>
                <a:rPr lang="sl-SI" dirty="0"/>
                <a:t>s=0</a:t>
              </a:r>
              <a:endParaRPr lang="en-GB" dirty="0"/>
            </a:p>
          </p:txBody>
        </p:sp>
      </p:grpSp>
      <p:sp>
        <p:nvSpPr>
          <p:cNvPr id="24" name="TextBox 23"/>
          <p:cNvSpPr txBox="1"/>
          <p:nvPr/>
        </p:nvSpPr>
        <p:spPr>
          <a:xfrm>
            <a:off x="3165552" y="3845658"/>
            <a:ext cx="2766349" cy="416688"/>
          </a:xfrm>
          <a:prstGeom prst="rect">
            <a:avLst/>
          </a:prstGeom>
        </p:spPr>
        <p:txBody>
          <a:bodyPr vert="horz" wrap="none" lIns="91440" tIns="45720" rIns="91440" bIns="45720" rtlCol="0">
            <a:noAutofit/>
          </a:bodyPr>
          <a:lstStyle/>
          <a:p>
            <a:pPr>
              <a:lnSpc>
                <a:spcPct val="90000"/>
              </a:lnSpc>
              <a:spcBef>
                <a:spcPts val="1000"/>
              </a:spcBef>
            </a:pPr>
            <a:r>
              <a:rPr lang="cs-CZ" sz="2400" dirty="0"/>
              <a:t>MPLS Label </a:t>
            </a:r>
            <a:r>
              <a:rPr lang="cs-CZ" sz="2400" dirty="0" err="1"/>
              <a:t>Stack</a:t>
            </a:r>
            <a:endParaRPr lang="cs-CZ" sz="2400" dirty="0"/>
          </a:p>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endParaRPr kumimoji="0" lang="cs-CZ" sz="2400" b="1" i="0" u="none" strike="noStrike" kern="1200" cap="none" spc="0" normalizeH="0" baseline="0" noProof="0" dirty="0" err="1">
              <a:ln>
                <a:noFill/>
              </a:ln>
              <a:solidFill>
                <a:schemeClr val="tx1"/>
              </a:solidFill>
              <a:effectLst/>
              <a:uLnTx/>
              <a:uFillTx/>
              <a:latin typeface="Arial" panose="020B0604020202020204"/>
              <a:ea typeface="+mn-ea"/>
              <a:cs typeface="+mn-cs"/>
            </a:endParaRPr>
          </a:p>
        </p:txBody>
      </p:sp>
    </p:spTree>
    <p:extLst>
      <p:ext uri="{BB962C8B-B14F-4D97-AF65-F5344CB8AC3E}">
        <p14:creationId xmlns:p14="http://schemas.microsoft.com/office/powerpoint/2010/main" val="3077630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noProof="0" dirty="0"/>
              <a:t>Label allocation and distribution in a frame-mode (packet-mode) MPLS environment follow these steps:</a:t>
            </a:r>
          </a:p>
          <a:p>
            <a:pPr lvl="1"/>
            <a:r>
              <a:rPr lang="en-US" noProof="0" dirty="0"/>
              <a:t>IP routing protocols build the IP routing table.</a:t>
            </a:r>
          </a:p>
          <a:p>
            <a:pPr lvl="1"/>
            <a:r>
              <a:rPr lang="en-US" noProof="0" dirty="0"/>
              <a:t>Each LSR assigns a label to every destination in the IP routing table independently (not learned from BGP – default).</a:t>
            </a:r>
          </a:p>
          <a:p>
            <a:pPr lvl="1"/>
            <a:r>
              <a:rPr lang="en-US" noProof="0" dirty="0"/>
              <a:t>LSRs announce their own assigned labels to all other LSRs.</a:t>
            </a:r>
          </a:p>
          <a:p>
            <a:endParaRPr lang="en-US" noProof="0" dirty="0"/>
          </a:p>
          <a:p>
            <a:r>
              <a:rPr lang="en-US" noProof="0" dirty="0"/>
              <a:t>Each LSR builds its own LIB, LFIB, and FIB data structures based on received labels.</a:t>
            </a:r>
          </a:p>
          <a:p>
            <a:endParaRPr lang="en-US" noProof="0" dirty="0"/>
          </a:p>
        </p:txBody>
      </p:sp>
      <p:sp>
        <p:nvSpPr>
          <p:cNvPr id="3" name="Text Placeholder 2"/>
          <p:cNvSpPr>
            <a:spLocks noGrp="1"/>
          </p:cNvSpPr>
          <p:nvPr>
            <p:ph type="body" sz="quarter" idx="11"/>
          </p:nvPr>
        </p:nvSpPr>
        <p:spPr/>
        <p:txBody>
          <a:bodyPr/>
          <a:lstStyle/>
          <a:p>
            <a:r>
              <a:rPr lang="en-US" noProof="0" dirty="0"/>
              <a:t>Label Allocation</a:t>
            </a:r>
          </a:p>
        </p:txBody>
      </p:sp>
    </p:spTree>
    <p:extLst>
      <p:ext uri="{BB962C8B-B14F-4D97-AF65-F5344CB8AC3E}">
        <p14:creationId xmlns:p14="http://schemas.microsoft.com/office/powerpoint/2010/main" val="3806488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p:txBody>
          <a:bodyPr/>
          <a:lstStyle/>
          <a:p>
            <a:r>
              <a:rPr lang="en-US" noProof="0" dirty="0"/>
              <a:t>MPLS Services</a:t>
            </a:r>
          </a:p>
        </p:txBody>
      </p:sp>
      <p:grpSp>
        <p:nvGrpSpPr>
          <p:cNvPr id="4" name="Group 3"/>
          <p:cNvGrpSpPr/>
          <p:nvPr/>
        </p:nvGrpSpPr>
        <p:grpSpPr>
          <a:xfrm>
            <a:off x="423805" y="1542360"/>
            <a:ext cx="10894276" cy="4684819"/>
            <a:chOff x="467544" y="699542"/>
            <a:chExt cx="8147248" cy="4392488"/>
          </a:xfrm>
        </p:grpSpPr>
        <p:sp>
          <p:nvSpPr>
            <p:cNvPr id="5" name="AutoShape 2"/>
            <p:cNvSpPr>
              <a:spLocks noChangeArrowheads="1"/>
            </p:cNvSpPr>
            <p:nvPr/>
          </p:nvSpPr>
          <p:spPr bwMode="auto">
            <a:xfrm>
              <a:off x="467544" y="699542"/>
              <a:ext cx="8147248" cy="4392488"/>
            </a:xfrm>
            <a:prstGeom prst="roundRect">
              <a:avLst>
                <a:gd name="adj" fmla="val 5208"/>
              </a:avLst>
            </a:prstGeom>
            <a:solidFill>
              <a:srgbClr val="E5E5E5"/>
            </a:solidFill>
            <a:ln w="19050">
              <a:solidFill>
                <a:sysClr val="windowText" lastClr="000000"/>
              </a:solidFill>
              <a:round/>
              <a:headEnd type="none" w="sm" len="sm"/>
              <a:tailEnd/>
            </a:ln>
            <a:effectLst/>
          </p:spPr>
          <p:txBody>
            <a:bodyPr wrap="none"/>
            <a:lstStyle/>
            <a:p>
              <a:pPr marL="0" marR="0" lvl="0" indent="0" defTabSz="457200" eaLnBrk="0" fontAlgn="auto" latinLnBrk="0" hangingPunct="0">
                <a:lnSpc>
                  <a:spcPct val="100000"/>
                </a:lnSpc>
                <a:spcBef>
                  <a:spcPts val="0"/>
                </a:spcBef>
                <a:spcAft>
                  <a:spcPts val="0"/>
                </a:spcAft>
                <a:buClrTx/>
                <a:buSzTx/>
                <a:buFontTx/>
                <a:buNone/>
                <a:tabLst/>
                <a:defRPr/>
              </a:pPr>
              <a:endParaRPr kumimoji="0" lang="en-US" sz="1800" b="0" i="0" strike="noStrike" kern="0" cap="none" spc="0" normalizeH="0" baseline="0" noProof="0">
                <a:ln>
                  <a:noFill/>
                </a:ln>
                <a:solidFill>
                  <a:prstClr val="black"/>
                </a:solidFill>
                <a:effectLst/>
                <a:uLnTx/>
                <a:uFillTx/>
              </a:endParaRPr>
            </a:p>
          </p:txBody>
        </p:sp>
        <p:sp>
          <p:nvSpPr>
            <p:cNvPr id="6" name="AutoShape 3"/>
            <p:cNvSpPr>
              <a:spLocks noChangeArrowheads="1"/>
            </p:cNvSpPr>
            <p:nvPr/>
          </p:nvSpPr>
          <p:spPr bwMode="auto">
            <a:xfrm>
              <a:off x="619944" y="784024"/>
              <a:ext cx="7918820" cy="3165006"/>
            </a:xfrm>
            <a:prstGeom prst="roundRect">
              <a:avLst>
                <a:gd name="adj" fmla="val 7833"/>
              </a:avLst>
            </a:prstGeom>
            <a:solidFill>
              <a:srgbClr val="FFFFFF"/>
            </a:solidFill>
            <a:ln w="19050">
              <a:solidFill>
                <a:sysClr val="windowText" lastClr="000000"/>
              </a:solidFill>
              <a:round/>
              <a:headEnd type="none" w="sm" len="sm"/>
              <a:tailEnd/>
            </a:ln>
            <a:effectLst/>
          </p:spPr>
          <p:txBody>
            <a:bodyPr wrap="none"/>
            <a:lstStyle/>
            <a:p>
              <a:pPr marL="0" marR="0" lvl="0" indent="0" defTabSz="457200" eaLnBrk="0" fontAlgn="auto" latinLnBrk="0" hangingPunct="0">
                <a:lnSpc>
                  <a:spcPct val="100000"/>
                </a:lnSpc>
                <a:spcBef>
                  <a:spcPts val="0"/>
                </a:spcBef>
                <a:spcAft>
                  <a:spcPts val="0"/>
                </a:spcAft>
                <a:buClrTx/>
                <a:buSzTx/>
                <a:buFontTx/>
                <a:buNone/>
                <a:tabLst/>
                <a:defRPr/>
              </a:pPr>
              <a:r>
                <a:rPr kumimoji="0" lang="sl-SI" sz="1800" b="0" i="0" strike="noStrike" kern="0" cap="none" spc="0" normalizeH="0" baseline="0" noProof="0">
                  <a:ln>
                    <a:noFill/>
                  </a:ln>
                  <a:solidFill>
                    <a:prstClr val="black"/>
                  </a:solidFill>
                  <a:effectLst/>
                  <a:uLnTx/>
                  <a:uFillTx/>
                </a:rPr>
                <a:t>Control </a:t>
              </a:r>
              <a:r>
                <a:rPr kumimoji="0" lang="en-US" sz="1800" b="0" i="0" strike="noStrike" kern="0" cap="none" spc="0" normalizeH="0" baseline="0" noProof="0">
                  <a:ln>
                    <a:noFill/>
                  </a:ln>
                  <a:solidFill>
                    <a:prstClr val="black"/>
                  </a:solidFill>
                  <a:effectLst/>
                  <a:uLnTx/>
                  <a:uFillTx/>
                </a:rPr>
                <a:t>P</a:t>
              </a:r>
              <a:r>
                <a:rPr kumimoji="0" lang="sl-SI" sz="1800" b="0" i="0" strike="noStrike" kern="0" cap="none" spc="0" normalizeH="0" baseline="0" noProof="0">
                  <a:ln>
                    <a:noFill/>
                  </a:ln>
                  <a:solidFill>
                    <a:prstClr val="black"/>
                  </a:solidFill>
                  <a:effectLst/>
                  <a:uLnTx/>
                  <a:uFillTx/>
                </a:rPr>
                <a:t>lane</a:t>
              </a:r>
              <a:endParaRPr kumimoji="0" lang="en-GB" sz="1800" b="0" i="0" strike="noStrike" kern="0" cap="none" spc="0" normalizeH="0" baseline="0" noProof="0">
                <a:ln>
                  <a:noFill/>
                </a:ln>
                <a:solidFill>
                  <a:prstClr val="black"/>
                </a:solidFill>
                <a:effectLst/>
                <a:uLnTx/>
                <a:uFillTx/>
              </a:endParaRPr>
            </a:p>
          </p:txBody>
        </p:sp>
        <p:sp>
          <p:nvSpPr>
            <p:cNvPr id="7" name="AutoShape 4"/>
            <p:cNvSpPr>
              <a:spLocks noChangeArrowheads="1"/>
            </p:cNvSpPr>
            <p:nvPr/>
          </p:nvSpPr>
          <p:spPr bwMode="auto">
            <a:xfrm>
              <a:off x="2296344" y="1327746"/>
              <a:ext cx="1446708" cy="2468884"/>
            </a:xfrm>
            <a:prstGeom prst="roundRect">
              <a:avLst>
                <a:gd name="adj" fmla="val 6458"/>
              </a:avLst>
            </a:prstGeom>
            <a:solidFill>
              <a:srgbClr val="008B95">
                <a:lumMod val="20000"/>
                <a:lumOff val="80000"/>
              </a:srgbClr>
            </a:solidFill>
            <a:ln w="19050">
              <a:solidFill>
                <a:sysClr val="windowText" lastClr="000000"/>
              </a:solidFill>
              <a:round/>
              <a:headEnd type="none" w="sm" len="sm"/>
              <a:tailEnd/>
            </a:ln>
            <a:effectLst/>
          </p:spPr>
          <p:txBody>
            <a:bodyPr wrap="none"/>
            <a:lstStyle/>
            <a:p>
              <a:pPr marL="0" marR="0" lvl="0" indent="0"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a:ln>
                    <a:noFill/>
                  </a:ln>
                  <a:solidFill>
                    <a:prstClr val="black"/>
                  </a:solidFill>
                  <a:effectLst/>
                  <a:uLnTx/>
                  <a:uFillTx/>
                </a:rPr>
                <a:t>Multicast</a:t>
              </a:r>
            </a:p>
            <a:p>
              <a:pPr marL="0" marR="0" lvl="0" indent="0"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a:ln>
                    <a:noFill/>
                  </a:ln>
                  <a:solidFill>
                    <a:prstClr val="black"/>
                  </a:solidFill>
                  <a:effectLst/>
                  <a:uLnTx/>
                  <a:uFillTx/>
                </a:rPr>
                <a:t>IP Routing</a:t>
              </a:r>
              <a:endParaRPr kumimoji="0" lang="en-GB" sz="1600" b="0" i="0" strike="noStrike" kern="0" cap="none" spc="0" normalizeH="0" baseline="0" noProof="0">
                <a:ln>
                  <a:noFill/>
                </a:ln>
                <a:solidFill>
                  <a:prstClr val="black"/>
                </a:solidFill>
                <a:effectLst/>
                <a:uLnTx/>
                <a:uFillTx/>
              </a:endParaRPr>
            </a:p>
          </p:txBody>
        </p:sp>
        <p:sp>
          <p:nvSpPr>
            <p:cNvPr id="8" name="AutoShape 5"/>
            <p:cNvSpPr>
              <a:spLocks noChangeArrowheads="1"/>
            </p:cNvSpPr>
            <p:nvPr/>
          </p:nvSpPr>
          <p:spPr bwMode="auto">
            <a:xfrm>
              <a:off x="3820344" y="1327746"/>
              <a:ext cx="1446708" cy="2468884"/>
            </a:xfrm>
            <a:prstGeom prst="roundRect">
              <a:avLst>
                <a:gd name="adj" fmla="val 6458"/>
              </a:avLst>
            </a:prstGeom>
            <a:solidFill>
              <a:srgbClr val="008B95">
                <a:lumMod val="20000"/>
                <a:lumOff val="80000"/>
              </a:srgbClr>
            </a:solidFill>
            <a:ln w="19050">
              <a:solidFill>
                <a:sysClr val="windowText" lastClr="000000"/>
              </a:solidFill>
              <a:round/>
              <a:headEnd type="none" w="sm" len="sm"/>
              <a:tailEnd/>
            </a:ln>
            <a:effectLst/>
          </p:spPr>
          <p:txBody>
            <a:bodyPr wrap="none"/>
            <a:lstStyle/>
            <a:p>
              <a:pPr marL="0" marR="0" lvl="0" indent="0"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a:ln>
                    <a:noFill/>
                  </a:ln>
                  <a:solidFill>
                    <a:prstClr val="black"/>
                  </a:solidFill>
                  <a:effectLst/>
                  <a:uLnTx/>
                  <a:uFillTx/>
                </a:rPr>
                <a:t>MPLS Traffic </a:t>
              </a:r>
            </a:p>
            <a:p>
              <a:pPr marL="0" marR="0" lvl="0" indent="0"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a:ln>
                    <a:noFill/>
                  </a:ln>
                  <a:solidFill>
                    <a:prstClr val="black"/>
                  </a:solidFill>
                  <a:effectLst/>
                  <a:uLnTx/>
                  <a:uFillTx/>
                </a:rPr>
                <a:t>Engineering</a:t>
              </a:r>
              <a:endParaRPr kumimoji="0" lang="en-GB" sz="1600" b="0" i="0" strike="noStrike" kern="0" cap="none" spc="0" normalizeH="0" baseline="0" noProof="0">
                <a:ln>
                  <a:noFill/>
                </a:ln>
                <a:solidFill>
                  <a:prstClr val="black"/>
                </a:solidFill>
                <a:effectLst/>
                <a:uLnTx/>
                <a:uFillTx/>
              </a:endParaRPr>
            </a:p>
          </p:txBody>
        </p:sp>
        <p:sp>
          <p:nvSpPr>
            <p:cNvPr id="9" name="AutoShape 6"/>
            <p:cNvSpPr>
              <a:spLocks noChangeArrowheads="1"/>
            </p:cNvSpPr>
            <p:nvPr/>
          </p:nvSpPr>
          <p:spPr bwMode="auto">
            <a:xfrm>
              <a:off x="5344344" y="1327746"/>
              <a:ext cx="1446708" cy="2468884"/>
            </a:xfrm>
            <a:prstGeom prst="roundRect">
              <a:avLst>
                <a:gd name="adj" fmla="val 6458"/>
              </a:avLst>
            </a:prstGeom>
            <a:solidFill>
              <a:srgbClr val="008B95">
                <a:lumMod val="20000"/>
                <a:lumOff val="80000"/>
              </a:srgbClr>
            </a:solidFill>
            <a:ln w="19050">
              <a:solidFill>
                <a:sysClr val="windowText" lastClr="000000"/>
              </a:solidFill>
              <a:round/>
              <a:headEnd type="none" w="sm" len="sm"/>
              <a:tailEnd/>
            </a:ln>
            <a:effectLst/>
          </p:spPr>
          <p:txBody>
            <a:bodyPr wrap="none"/>
            <a:lstStyle/>
            <a:p>
              <a:pPr marL="0" marR="0" lvl="0" indent="0"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dirty="0">
                  <a:ln>
                    <a:noFill/>
                  </a:ln>
                  <a:solidFill>
                    <a:prstClr val="black"/>
                  </a:solidFill>
                  <a:effectLst/>
                  <a:uLnTx/>
                  <a:uFillTx/>
                </a:rPr>
                <a:t>Quality of </a:t>
              </a:r>
              <a:endParaRPr kumimoji="0" lang="en-US" sz="1600" b="0" i="0" strike="noStrike" kern="0" cap="none" spc="0" normalizeH="0" baseline="0" noProof="0" dirty="0">
                <a:ln>
                  <a:noFill/>
                </a:ln>
                <a:solidFill>
                  <a:prstClr val="black"/>
                </a:solidFill>
                <a:effectLst/>
                <a:uLnTx/>
                <a:uFillTx/>
              </a:endParaRPr>
            </a:p>
            <a:p>
              <a:pPr marL="0" marR="0" lvl="0" indent="0"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dirty="0">
                  <a:ln>
                    <a:noFill/>
                  </a:ln>
                  <a:solidFill>
                    <a:prstClr val="black"/>
                  </a:solidFill>
                  <a:effectLst/>
                  <a:uLnTx/>
                  <a:uFillTx/>
                </a:rPr>
                <a:t>Service</a:t>
              </a:r>
            </a:p>
            <a:p>
              <a:pPr marL="0" marR="0" lvl="0" indent="0" defTabSz="457200" eaLnBrk="0" fontAlgn="auto" latinLnBrk="0" hangingPunct="0">
                <a:lnSpc>
                  <a:spcPct val="100000"/>
                </a:lnSpc>
                <a:spcBef>
                  <a:spcPts val="0"/>
                </a:spcBef>
                <a:spcAft>
                  <a:spcPts val="0"/>
                </a:spcAft>
                <a:buClrTx/>
                <a:buSzTx/>
                <a:buFontTx/>
                <a:buNone/>
                <a:tabLst/>
                <a:defRPr/>
              </a:pPr>
              <a:endParaRPr kumimoji="0" lang="en-GB" sz="1600" b="0" i="0" strike="noStrike" kern="0" cap="none" spc="0" normalizeH="0" baseline="0" noProof="0" dirty="0">
                <a:ln>
                  <a:noFill/>
                </a:ln>
                <a:solidFill>
                  <a:prstClr val="black"/>
                </a:solidFill>
                <a:effectLst/>
                <a:uLnTx/>
                <a:uFillTx/>
              </a:endParaRPr>
            </a:p>
          </p:txBody>
        </p:sp>
        <p:sp>
          <p:nvSpPr>
            <p:cNvPr id="10" name="AutoShape 7"/>
            <p:cNvSpPr>
              <a:spLocks noChangeArrowheads="1"/>
            </p:cNvSpPr>
            <p:nvPr/>
          </p:nvSpPr>
          <p:spPr bwMode="auto">
            <a:xfrm>
              <a:off x="6868344" y="1327746"/>
              <a:ext cx="1446708" cy="2468884"/>
            </a:xfrm>
            <a:prstGeom prst="roundRect">
              <a:avLst>
                <a:gd name="adj" fmla="val 6458"/>
              </a:avLst>
            </a:prstGeom>
            <a:solidFill>
              <a:srgbClr val="008B95">
                <a:lumMod val="20000"/>
                <a:lumOff val="80000"/>
              </a:srgbClr>
            </a:solidFill>
            <a:ln w="19050">
              <a:solidFill>
                <a:sysClr val="windowText" lastClr="000000"/>
              </a:solidFill>
              <a:round/>
              <a:headEnd type="none" w="sm" len="sm"/>
              <a:tailEnd/>
            </a:ln>
            <a:effectLst/>
          </p:spPr>
          <p:txBody>
            <a:bodyPr wrap="none"/>
            <a:lstStyle/>
            <a:p>
              <a:pPr marL="0" marR="0" lvl="0" indent="0"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a:ln>
                    <a:noFill/>
                  </a:ln>
                  <a:solidFill>
                    <a:prstClr val="black"/>
                  </a:solidFill>
                  <a:effectLst/>
                  <a:uLnTx/>
                  <a:uFillTx/>
                </a:rPr>
                <a:t>MPLS/VPN</a:t>
              </a:r>
              <a:endParaRPr kumimoji="0" lang="en-GB" sz="1600" b="0" i="0" strike="noStrike" kern="0" cap="none" spc="0" normalizeH="0" baseline="0" noProof="0">
                <a:ln>
                  <a:noFill/>
                </a:ln>
                <a:solidFill>
                  <a:prstClr val="black"/>
                </a:solidFill>
                <a:effectLst/>
                <a:uLnTx/>
                <a:uFillTx/>
              </a:endParaRPr>
            </a:p>
          </p:txBody>
        </p:sp>
        <p:sp>
          <p:nvSpPr>
            <p:cNvPr id="11" name="AutoShape 8"/>
            <p:cNvSpPr>
              <a:spLocks noChangeArrowheads="1"/>
            </p:cNvSpPr>
            <p:nvPr/>
          </p:nvSpPr>
          <p:spPr bwMode="auto">
            <a:xfrm>
              <a:off x="772344" y="1327746"/>
              <a:ext cx="1446708" cy="2468884"/>
            </a:xfrm>
            <a:prstGeom prst="roundRect">
              <a:avLst>
                <a:gd name="adj" fmla="val 6458"/>
              </a:avLst>
            </a:prstGeom>
            <a:solidFill>
              <a:srgbClr val="008B95">
                <a:lumMod val="20000"/>
                <a:lumOff val="80000"/>
              </a:srgbClr>
            </a:solidFill>
            <a:ln w="19050">
              <a:solidFill>
                <a:sysClr val="windowText" lastClr="000000"/>
              </a:solidFill>
              <a:round/>
              <a:headEnd type="none" w="sm" len="sm"/>
              <a:tailEnd/>
            </a:ln>
            <a:effectLst/>
          </p:spPr>
          <p:txBody>
            <a:bodyPr wrap="none"/>
            <a:lstStyle/>
            <a:p>
              <a:pPr marL="0" marR="0" lvl="0" indent="0"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a:ln>
                    <a:noFill/>
                  </a:ln>
                  <a:solidFill>
                    <a:prstClr val="black"/>
                  </a:solidFill>
                  <a:effectLst/>
                  <a:uLnTx/>
                  <a:uFillTx/>
                </a:rPr>
                <a:t>Unicast </a:t>
              </a:r>
            </a:p>
            <a:p>
              <a:pPr marL="0" marR="0" lvl="0" indent="0"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a:ln>
                    <a:noFill/>
                  </a:ln>
                  <a:solidFill>
                    <a:prstClr val="black"/>
                  </a:solidFill>
                  <a:effectLst/>
                  <a:uLnTx/>
                  <a:uFillTx/>
                </a:rPr>
                <a:t>IP Routing</a:t>
              </a:r>
              <a:endParaRPr kumimoji="0" lang="en-GB" sz="1600" b="0" i="0" strike="noStrike" kern="0" cap="none" spc="0" normalizeH="0" baseline="0" noProof="0">
                <a:ln>
                  <a:noFill/>
                </a:ln>
                <a:solidFill>
                  <a:prstClr val="black"/>
                </a:solidFill>
                <a:effectLst/>
                <a:uLnTx/>
                <a:uFillTx/>
              </a:endParaRPr>
            </a:p>
          </p:txBody>
        </p:sp>
        <p:sp>
          <p:nvSpPr>
            <p:cNvPr id="12" name="AutoShape 10"/>
            <p:cNvSpPr>
              <a:spLocks noChangeArrowheads="1"/>
            </p:cNvSpPr>
            <p:nvPr/>
          </p:nvSpPr>
          <p:spPr bwMode="auto">
            <a:xfrm>
              <a:off x="2677344" y="4034578"/>
              <a:ext cx="3730983" cy="905052"/>
            </a:xfrm>
            <a:prstGeom prst="roundRect">
              <a:avLst>
                <a:gd name="adj" fmla="val 11458"/>
              </a:avLst>
            </a:prstGeom>
            <a:solidFill>
              <a:srgbClr val="AF7B28">
                <a:lumMod val="20000"/>
                <a:lumOff val="80000"/>
              </a:srgbClr>
            </a:solidFill>
            <a:ln w="19050">
              <a:solidFill>
                <a:sysClr val="windowText" lastClr="000000"/>
              </a:solidFill>
              <a:round/>
              <a:headEnd type="none" w="sm" len="sm"/>
              <a:tailEnd/>
            </a:ln>
            <a:effectLst/>
          </p:spPr>
          <p:txBody>
            <a:bodyPr wrap="none"/>
            <a:lstStyle/>
            <a:p>
              <a:pPr marL="0" marR="0" lvl="0" indent="0" defTabSz="457200" eaLnBrk="0" fontAlgn="auto" latinLnBrk="0" hangingPunct="0">
                <a:lnSpc>
                  <a:spcPct val="100000"/>
                </a:lnSpc>
                <a:spcBef>
                  <a:spcPts val="0"/>
                </a:spcBef>
                <a:spcAft>
                  <a:spcPts val="0"/>
                </a:spcAft>
                <a:buClrTx/>
                <a:buSzTx/>
                <a:buFontTx/>
                <a:buNone/>
                <a:tabLst>
                  <a:tab pos="673100" algn="l"/>
                </a:tabLst>
                <a:defRPr/>
              </a:pPr>
              <a:r>
                <a:rPr kumimoji="0" lang="sl-SI" sz="1800" b="0" i="0" strike="noStrike" kern="0" cap="none" spc="0" normalizeH="0" baseline="0" noProof="0">
                  <a:ln>
                    <a:noFill/>
                  </a:ln>
                  <a:solidFill>
                    <a:prstClr val="black"/>
                  </a:solidFill>
                  <a:effectLst/>
                  <a:uLnTx/>
                  <a:uFillTx/>
                </a:rPr>
                <a:t>	Data </a:t>
              </a:r>
              <a:r>
                <a:rPr kumimoji="0" lang="en-US" sz="1800" b="0" i="0" strike="noStrike" kern="0" cap="none" spc="0" normalizeH="0" baseline="0" noProof="0">
                  <a:ln>
                    <a:noFill/>
                  </a:ln>
                  <a:solidFill>
                    <a:prstClr val="black"/>
                  </a:solidFill>
                  <a:effectLst/>
                  <a:uLnTx/>
                  <a:uFillTx/>
                </a:rPr>
                <a:t>P</a:t>
              </a:r>
              <a:r>
                <a:rPr kumimoji="0" lang="sl-SI" sz="1800" b="0" i="0" strike="noStrike" kern="0" cap="none" spc="0" normalizeH="0" baseline="0" noProof="0">
                  <a:ln>
                    <a:noFill/>
                  </a:ln>
                  <a:solidFill>
                    <a:prstClr val="black"/>
                  </a:solidFill>
                  <a:effectLst/>
                  <a:uLnTx/>
                  <a:uFillTx/>
                </a:rPr>
                <a:t>lane</a:t>
              </a:r>
              <a:endParaRPr kumimoji="0" lang="en-GB" sz="1800" b="0" i="0" strike="noStrike" kern="0" cap="none" spc="0" normalizeH="0" baseline="0" noProof="0">
                <a:ln>
                  <a:noFill/>
                </a:ln>
                <a:solidFill>
                  <a:prstClr val="black"/>
                </a:solidFill>
                <a:effectLst/>
                <a:uLnTx/>
                <a:uFillTx/>
              </a:endParaRPr>
            </a:p>
          </p:txBody>
        </p:sp>
        <p:sp>
          <p:nvSpPr>
            <p:cNvPr id="13" name="AutoShape 11"/>
            <p:cNvSpPr>
              <a:spLocks noChangeArrowheads="1"/>
            </p:cNvSpPr>
            <p:nvPr/>
          </p:nvSpPr>
          <p:spPr bwMode="auto">
            <a:xfrm>
              <a:off x="848544" y="1979570"/>
              <a:ext cx="1294423" cy="301684"/>
            </a:xfrm>
            <a:prstGeom prst="roundRect">
              <a:avLst>
                <a:gd name="adj" fmla="val 16667"/>
              </a:avLst>
            </a:prstGeom>
            <a:solidFill>
              <a:srgbClr val="008B95"/>
            </a:solidFill>
            <a:ln w="19050">
              <a:solidFill>
                <a:sysClr val="windowText" lastClr="000000"/>
              </a:solidFill>
              <a:round/>
              <a:headEnd type="none" w="sm" len="sm"/>
              <a:tailEnd/>
            </a:ln>
            <a:effectLst/>
          </p:spPr>
          <p:txBody>
            <a:bodyPr wrap="none"/>
            <a:lstStyle/>
            <a:p>
              <a:pPr marL="0" marR="0" lvl="0" indent="0" algn="ctr"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a:ln>
                    <a:noFill/>
                  </a:ln>
                  <a:solidFill>
                    <a:srgbClr val="FFFFFF"/>
                  </a:solidFill>
                  <a:effectLst/>
                  <a:uLnTx/>
                  <a:uFillTx/>
                </a:rPr>
                <a:t>Any IGP</a:t>
              </a:r>
              <a:endParaRPr kumimoji="0" lang="en-GB" sz="1600" b="0" i="0" strike="noStrike" kern="0" cap="none" spc="0" normalizeH="0" baseline="0" noProof="0">
                <a:ln>
                  <a:noFill/>
                </a:ln>
                <a:solidFill>
                  <a:srgbClr val="FFFFFF"/>
                </a:solidFill>
                <a:effectLst/>
                <a:uLnTx/>
                <a:uFillTx/>
              </a:endParaRPr>
            </a:p>
          </p:txBody>
        </p:sp>
        <p:sp>
          <p:nvSpPr>
            <p:cNvPr id="14" name="AutoShape 12"/>
            <p:cNvSpPr>
              <a:spLocks noChangeArrowheads="1"/>
            </p:cNvSpPr>
            <p:nvPr/>
          </p:nvSpPr>
          <p:spPr bwMode="auto">
            <a:xfrm>
              <a:off x="848544" y="3418746"/>
              <a:ext cx="1294423" cy="301684"/>
            </a:xfrm>
            <a:prstGeom prst="roundRect">
              <a:avLst>
                <a:gd name="adj" fmla="val 16667"/>
              </a:avLst>
            </a:prstGeom>
            <a:solidFill>
              <a:srgbClr val="008B95"/>
            </a:solidFill>
            <a:ln w="19050">
              <a:solidFill>
                <a:sysClr val="windowText" lastClr="000000"/>
              </a:solidFill>
              <a:round/>
              <a:headEnd type="none" w="sm" len="sm"/>
              <a:tailEnd/>
            </a:ln>
            <a:effectLst/>
          </p:spPr>
          <p:txBody>
            <a:bodyPr wrap="none"/>
            <a:lstStyle/>
            <a:p>
              <a:pPr marL="0" marR="0" lvl="0" indent="0" algn="ctr"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dirty="0">
                  <a:ln>
                    <a:noFill/>
                  </a:ln>
                  <a:solidFill>
                    <a:srgbClr val="FFFFFF"/>
                  </a:solidFill>
                  <a:effectLst/>
                  <a:uLnTx/>
                  <a:uFillTx/>
                </a:rPr>
                <a:t>LDP</a:t>
              </a:r>
              <a:endParaRPr kumimoji="0" lang="en-GB" sz="1600" b="0" i="0" strike="noStrike" kern="0" cap="none" spc="0" normalizeH="0" baseline="0" noProof="0" dirty="0">
                <a:ln>
                  <a:noFill/>
                </a:ln>
                <a:solidFill>
                  <a:srgbClr val="FFFFFF"/>
                </a:solidFill>
                <a:effectLst/>
                <a:uLnTx/>
                <a:uFillTx/>
              </a:endParaRPr>
            </a:p>
          </p:txBody>
        </p:sp>
        <p:sp>
          <p:nvSpPr>
            <p:cNvPr id="15" name="AutoShape 13"/>
            <p:cNvSpPr>
              <a:spLocks noChangeArrowheads="1"/>
            </p:cNvSpPr>
            <p:nvPr/>
          </p:nvSpPr>
          <p:spPr bwMode="auto">
            <a:xfrm>
              <a:off x="2829744" y="4485546"/>
              <a:ext cx="3426413" cy="301684"/>
            </a:xfrm>
            <a:prstGeom prst="roundRect">
              <a:avLst>
                <a:gd name="adj" fmla="val 0"/>
              </a:avLst>
            </a:prstGeom>
            <a:solidFill>
              <a:srgbClr val="AF7B28"/>
            </a:solidFill>
            <a:ln w="19050">
              <a:solidFill>
                <a:sysClr val="windowText" lastClr="000000"/>
              </a:solidFill>
              <a:round/>
              <a:headEnd type="none" w="sm" len="sm"/>
              <a:tailEnd/>
            </a:ln>
            <a:effectLst/>
          </p:spPr>
          <p:txBody>
            <a:bodyPr wrap="none"/>
            <a:lstStyle/>
            <a:p>
              <a:pPr marL="0" marR="0" lvl="0" indent="0" algn="ctr" defTabSz="457200" eaLnBrk="0" fontAlgn="auto" latinLnBrk="0" hangingPunct="0">
                <a:lnSpc>
                  <a:spcPct val="100000"/>
                </a:lnSpc>
                <a:spcBef>
                  <a:spcPts val="0"/>
                </a:spcBef>
                <a:spcAft>
                  <a:spcPts val="0"/>
                </a:spcAft>
                <a:buClrTx/>
                <a:buSzTx/>
                <a:buFontTx/>
                <a:buNone/>
                <a:tabLst/>
                <a:defRPr/>
              </a:pPr>
              <a:r>
                <a:rPr kumimoji="0" lang="sl-SI" sz="1800" b="0" i="0" strike="noStrike" kern="0" cap="none" spc="0" normalizeH="0" baseline="0" noProof="0">
                  <a:ln>
                    <a:noFill/>
                  </a:ln>
                  <a:solidFill>
                    <a:srgbClr val="FFFFFF"/>
                  </a:solidFill>
                  <a:effectLst/>
                  <a:uLnTx/>
                  <a:uFillTx/>
                </a:rPr>
                <a:t>Label forwarding table</a:t>
              </a:r>
              <a:endParaRPr kumimoji="0" lang="en-GB" sz="1800" b="0" i="0" strike="noStrike" kern="0" cap="none" spc="0" normalizeH="0" baseline="0" noProof="0">
                <a:ln>
                  <a:noFill/>
                </a:ln>
                <a:solidFill>
                  <a:srgbClr val="FFFFFF"/>
                </a:solidFill>
                <a:effectLst/>
                <a:uLnTx/>
                <a:uFillTx/>
              </a:endParaRPr>
            </a:p>
          </p:txBody>
        </p:sp>
        <p:sp>
          <p:nvSpPr>
            <p:cNvPr id="16" name="AutoShape 14"/>
            <p:cNvSpPr>
              <a:spLocks noChangeArrowheads="1"/>
            </p:cNvSpPr>
            <p:nvPr/>
          </p:nvSpPr>
          <p:spPr bwMode="auto">
            <a:xfrm>
              <a:off x="848544" y="2523436"/>
              <a:ext cx="1294423" cy="677882"/>
            </a:xfrm>
            <a:prstGeom prst="roundRect">
              <a:avLst>
                <a:gd name="adj" fmla="val 0"/>
              </a:avLst>
            </a:prstGeom>
            <a:solidFill>
              <a:srgbClr val="008B95"/>
            </a:solidFill>
            <a:ln w="19050">
              <a:solidFill>
                <a:sysClr val="windowText" lastClr="000000"/>
              </a:solidFill>
              <a:round/>
              <a:headEnd type="none" w="sm" len="sm"/>
              <a:tailEnd/>
            </a:ln>
            <a:effectLst/>
          </p:spPr>
          <p:txBody>
            <a:bodyPr wrap="none"/>
            <a:lstStyle/>
            <a:p>
              <a:pPr marL="0" marR="0" lvl="0" indent="0" algn="ctr"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a:ln>
                    <a:noFill/>
                  </a:ln>
                  <a:solidFill>
                    <a:srgbClr val="FFFFFF"/>
                  </a:solidFill>
                  <a:effectLst/>
                  <a:uLnTx/>
                  <a:uFillTx/>
                </a:rPr>
                <a:t>Unicast IP</a:t>
              </a:r>
            </a:p>
            <a:p>
              <a:pPr marL="0" marR="0" lvl="0" indent="0" algn="ctr"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a:ln>
                    <a:noFill/>
                  </a:ln>
                  <a:solidFill>
                    <a:srgbClr val="FFFFFF"/>
                  </a:solidFill>
                  <a:effectLst/>
                  <a:uLnTx/>
                  <a:uFillTx/>
                </a:rPr>
                <a:t>routing table</a:t>
              </a:r>
              <a:endParaRPr kumimoji="0" lang="en-GB" sz="1600" b="0" i="0" strike="noStrike" kern="0" cap="none" spc="0" normalizeH="0" baseline="0" noProof="0">
                <a:ln>
                  <a:noFill/>
                </a:ln>
                <a:solidFill>
                  <a:srgbClr val="FFFFFF"/>
                </a:solidFill>
                <a:effectLst/>
                <a:uLnTx/>
                <a:uFillTx/>
              </a:endParaRPr>
            </a:p>
          </p:txBody>
        </p:sp>
        <p:sp>
          <p:nvSpPr>
            <p:cNvPr id="17" name="Line 15"/>
            <p:cNvSpPr>
              <a:spLocks noChangeShapeType="1"/>
            </p:cNvSpPr>
            <p:nvPr/>
          </p:nvSpPr>
          <p:spPr bwMode="auto">
            <a:xfrm>
              <a:off x="1473959" y="2283590"/>
              <a:ext cx="0" cy="226263"/>
            </a:xfrm>
            <a:prstGeom prst="line">
              <a:avLst/>
            </a:prstGeom>
            <a:noFill/>
            <a:ln w="28575">
              <a:solidFill>
                <a:sysClr val="windowText" lastClr="000000"/>
              </a:solidFill>
              <a:round/>
              <a:headEnd type="none" w="sm" len="sm"/>
              <a:tailEnd type="triangle" w="med" len="med"/>
            </a:ln>
            <a:effec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cs-CZ" sz="3200" b="0" i="0" strike="noStrike" kern="0" cap="none" spc="0" normalizeH="0" baseline="0" noProof="0">
                <a:ln>
                  <a:noFill/>
                </a:ln>
                <a:solidFill>
                  <a:prstClr val="black"/>
                </a:solidFill>
                <a:effectLst/>
                <a:uLnTx/>
                <a:uFillTx/>
              </a:endParaRPr>
            </a:p>
          </p:txBody>
        </p:sp>
        <p:sp>
          <p:nvSpPr>
            <p:cNvPr id="18" name="Line 16"/>
            <p:cNvSpPr>
              <a:spLocks noChangeShapeType="1"/>
            </p:cNvSpPr>
            <p:nvPr/>
          </p:nvSpPr>
          <p:spPr bwMode="auto">
            <a:xfrm>
              <a:off x="1458144" y="3203654"/>
              <a:ext cx="0" cy="226263"/>
            </a:xfrm>
            <a:prstGeom prst="line">
              <a:avLst/>
            </a:prstGeom>
            <a:noFill/>
            <a:ln w="28575">
              <a:solidFill>
                <a:sysClr val="windowText" lastClr="000000"/>
              </a:solidFill>
              <a:round/>
              <a:headEnd type="none" w="sm" len="sm"/>
              <a:tailEnd type="triangle" w="med" len="med"/>
            </a:ln>
            <a:effec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cs-CZ" sz="3200" b="0" i="0" strike="noStrike" kern="0" cap="none" spc="0" normalizeH="0" baseline="0" noProof="0">
                <a:ln>
                  <a:noFill/>
                </a:ln>
                <a:solidFill>
                  <a:prstClr val="black"/>
                </a:solidFill>
                <a:effectLst/>
                <a:uLnTx/>
                <a:uFillTx/>
              </a:endParaRPr>
            </a:p>
          </p:txBody>
        </p:sp>
        <p:sp>
          <p:nvSpPr>
            <p:cNvPr id="19" name="Line 17"/>
            <p:cNvSpPr>
              <a:spLocks noChangeShapeType="1"/>
            </p:cNvSpPr>
            <p:nvPr/>
          </p:nvSpPr>
          <p:spPr bwMode="auto">
            <a:xfrm>
              <a:off x="1458144" y="3728220"/>
              <a:ext cx="1522850" cy="754210"/>
            </a:xfrm>
            <a:prstGeom prst="line">
              <a:avLst/>
            </a:prstGeom>
            <a:noFill/>
            <a:ln w="28575">
              <a:solidFill>
                <a:sysClr val="windowText" lastClr="000000"/>
              </a:solidFill>
              <a:round/>
              <a:headEnd type="none" w="sm" len="sm"/>
              <a:tailEnd type="triangle" w="med" len="med"/>
            </a:ln>
            <a:effec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cs-CZ" sz="3200" b="0" i="0" strike="noStrike" kern="0" cap="none" spc="0" normalizeH="0" baseline="0" noProof="0">
                <a:ln>
                  <a:noFill/>
                </a:ln>
                <a:solidFill>
                  <a:prstClr val="black"/>
                </a:solidFill>
                <a:effectLst/>
                <a:uLnTx/>
                <a:uFillTx/>
              </a:endParaRPr>
            </a:p>
          </p:txBody>
        </p:sp>
        <p:sp>
          <p:nvSpPr>
            <p:cNvPr id="20" name="AutoShape 18"/>
            <p:cNvSpPr>
              <a:spLocks noChangeArrowheads="1"/>
            </p:cNvSpPr>
            <p:nvPr/>
          </p:nvSpPr>
          <p:spPr bwMode="auto">
            <a:xfrm>
              <a:off x="2372544" y="3418746"/>
              <a:ext cx="1294423" cy="301684"/>
            </a:xfrm>
            <a:prstGeom prst="roundRect">
              <a:avLst>
                <a:gd name="adj" fmla="val 16667"/>
              </a:avLst>
            </a:prstGeom>
            <a:solidFill>
              <a:srgbClr val="008B95"/>
            </a:solidFill>
            <a:ln w="19050">
              <a:solidFill>
                <a:sysClr val="windowText" lastClr="000000"/>
              </a:solidFill>
              <a:round/>
              <a:headEnd type="none" w="sm" len="sm"/>
              <a:tailEnd/>
            </a:ln>
            <a:effectLst/>
          </p:spPr>
          <p:txBody>
            <a:bodyPr wrap="none"/>
            <a:lstStyle/>
            <a:p>
              <a:pPr marL="0" marR="0" lvl="0" indent="0" algn="ctr" defTabSz="457200" eaLnBrk="0" fontAlgn="auto" latinLnBrk="0" hangingPunct="0">
                <a:lnSpc>
                  <a:spcPct val="100000"/>
                </a:lnSpc>
                <a:spcBef>
                  <a:spcPts val="0"/>
                </a:spcBef>
                <a:spcAft>
                  <a:spcPts val="0"/>
                </a:spcAft>
                <a:buClrTx/>
                <a:buSzTx/>
                <a:buFontTx/>
                <a:buNone/>
                <a:tabLst/>
                <a:defRPr/>
              </a:pPr>
              <a:r>
                <a:rPr kumimoji="0" lang="sl-SI" sz="1400" b="0" i="0" strike="noStrike" kern="0" cap="none" spc="0" normalizeH="0" baseline="0" noProof="0" dirty="0">
                  <a:ln>
                    <a:noFill/>
                  </a:ln>
                  <a:solidFill>
                    <a:srgbClr val="FFFFFF"/>
                  </a:solidFill>
                  <a:effectLst/>
                  <a:uLnTx/>
                  <a:uFillTx/>
                </a:rPr>
                <a:t>PIM</a:t>
              </a:r>
              <a:r>
                <a:rPr kumimoji="0" lang="en-US" sz="1400" b="0" i="0" strike="noStrike" kern="0" cap="none" spc="0" normalizeH="0" baseline="0" noProof="0" dirty="0">
                  <a:ln>
                    <a:noFill/>
                  </a:ln>
                  <a:solidFill>
                    <a:srgbClr val="FFFFFF"/>
                  </a:solidFill>
                  <a:effectLst/>
                  <a:uLnTx/>
                  <a:uFillTx/>
                </a:rPr>
                <a:t>, </a:t>
              </a:r>
              <a:r>
                <a:rPr kumimoji="0" lang="en-US" sz="1400" b="0" i="0" strike="noStrike" kern="0" cap="none" spc="0" normalizeH="0" baseline="0" noProof="0" dirty="0" err="1">
                  <a:ln>
                    <a:noFill/>
                  </a:ln>
                  <a:solidFill>
                    <a:srgbClr val="FFFFFF"/>
                  </a:solidFill>
                  <a:effectLst/>
                  <a:uLnTx/>
                  <a:uFillTx/>
                </a:rPr>
                <a:t>mLDP</a:t>
              </a:r>
              <a:r>
                <a:rPr kumimoji="0" lang="en-US" sz="1400" b="0" i="0" strike="noStrike" kern="0" cap="none" spc="0" normalizeH="0" baseline="0" noProof="0" dirty="0">
                  <a:ln>
                    <a:noFill/>
                  </a:ln>
                  <a:solidFill>
                    <a:srgbClr val="FFFFFF"/>
                  </a:solidFill>
                  <a:effectLst/>
                  <a:uLnTx/>
                  <a:uFillTx/>
                </a:rPr>
                <a:t>, BIER</a:t>
              </a:r>
              <a:endParaRPr kumimoji="0" lang="en-GB" sz="1400" b="0" i="0" strike="noStrike" kern="0" cap="none" spc="0" normalizeH="0" baseline="0" noProof="0" dirty="0">
                <a:ln>
                  <a:noFill/>
                </a:ln>
                <a:solidFill>
                  <a:srgbClr val="FFFFFF"/>
                </a:solidFill>
                <a:effectLst/>
                <a:uLnTx/>
                <a:uFillTx/>
              </a:endParaRPr>
            </a:p>
          </p:txBody>
        </p:sp>
        <p:sp>
          <p:nvSpPr>
            <p:cNvPr id="21" name="AutoShape 19"/>
            <p:cNvSpPr>
              <a:spLocks noChangeArrowheads="1"/>
            </p:cNvSpPr>
            <p:nvPr/>
          </p:nvSpPr>
          <p:spPr bwMode="auto">
            <a:xfrm>
              <a:off x="2372544" y="2523288"/>
              <a:ext cx="1294423" cy="663741"/>
            </a:xfrm>
            <a:prstGeom prst="roundRect">
              <a:avLst>
                <a:gd name="adj" fmla="val 0"/>
              </a:avLst>
            </a:prstGeom>
            <a:solidFill>
              <a:srgbClr val="008B95"/>
            </a:solidFill>
            <a:ln w="19050">
              <a:solidFill>
                <a:sysClr val="windowText" lastClr="000000"/>
              </a:solidFill>
              <a:round/>
              <a:headEnd type="none" w="sm" len="sm"/>
              <a:tailEnd/>
            </a:ln>
            <a:effectLst/>
          </p:spPr>
          <p:txBody>
            <a:bodyPr wrap="none"/>
            <a:lstStyle/>
            <a:p>
              <a:pPr marL="0" marR="0" lvl="0" indent="0" algn="ctr"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dirty="0">
                  <a:ln>
                    <a:noFill/>
                  </a:ln>
                  <a:solidFill>
                    <a:srgbClr val="FFFFFF"/>
                  </a:solidFill>
                  <a:effectLst/>
                  <a:uLnTx/>
                  <a:uFillTx/>
                </a:rPr>
                <a:t>Multicast</a:t>
              </a:r>
            </a:p>
            <a:p>
              <a:pPr marL="0" marR="0" lvl="0" indent="0" algn="ctr"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dirty="0">
                  <a:ln>
                    <a:noFill/>
                  </a:ln>
                  <a:solidFill>
                    <a:srgbClr val="FFFFFF"/>
                  </a:solidFill>
                  <a:effectLst/>
                  <a:uLnTx/>
                  <a:uFillTx/>
                </a:rPr>
                <a:t>IP routing table</a:t>
              </a:r>
              <a:endParaRPr kumimoji="0" lang="en-GB" sz="1600" b="0" i="0" strike="noStrike" kern="0" cap="none" spc="0" normalizeH="0" baseline="0" noProof="0" dirty="0">
                <a:ln>
                  <a:noFill/>
                </a:ln>
                <a:solidFill>
                  <a:srgbClr val="FFFFFF"/>
                </a:solidFill>
                <a:effectLst/>
                <a:uLnTx/>
                <a:uFillTx/>
              </a:endParaRPr>
            </a:p>
          </p:txBody>
        </p:sp>
        <p:sp>
          <p:nvSpPr>
            <p:cNvPr id="22" name="Line 20"/>
            <p:cNvSpPr>
              <a:spLocks noChangeShapeType="1"/>
            </p:cNvSpPr>
            <p:nvPr/>
          </p:nvSpPr>
          <p:spPr bwMode="auto">
            <a:xfrm flipH="1" flipV="1">
              <a:off x="2982144" y="3189366"/>
              <a:ext cx="0" cy="226263"/>
            </a:xfrm>
            <a:prstGeom prst="line">
              <a:avLst/>
            </a:prstGeom>
            <a:noFill/>
            <a:ln w="28575">
              <a:solidFill>
                <a:sysClr val="windowText" lastClr="000000"/>
              </a:solidFill>
              <a:round/>
              <a:headEnd type="none" w="sm" len="sm"/>
              <a:tailEnd type="triangle" w="med" len="med"/>
            </a:ln>
            <a:effec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cs-CZ" sz="3200" b="0" i="0" strike="noStrike" kern="0" cap="none" spc="0" normalizeH="0" baseline="0" noProof="0">
                <a:ln>
                  <a:noFill/>
                </a:ln>
                <a:solidFill>
                  <a:prstClr val="black"/>
                </a:solidFill>
                <a:effectLst/>
                <a:uLnTx/>
                <a:uFillTx/>
              </a:endParaRPr>
            </a:p>
          </p:txBody>
        </p:sp>
        <p:sp>
          <p:nvSpPr>
            <p:cNvPr id="23" name="Line 21"/>
            <p:cNvSpPr>
              <a:spLocks noChangeShapeType="1"/>
            </p:cNvSpPr>
            <p:nvPr/>
          </p:nvSpPr>
          <p:spPr bwMode="auto">
            <a:xfrm>
              <a:off x="3210744" y="3728220"/>
              <a:ext cx="0" cy="754210"/>
            </a:xfrm>
            <a:prstGeom prst="line">
              <a:avLst/>
            </a:prstGeom>
            <a:noFill/>
            <a:ln w="28575">
              <a:solidFill>
                <a:sysClr val="windowText" lastClr="000000"/>
              </a:solidFill>
              <a:round/>
              <a:headEnd type="none" w="sm" len="sm"/>
              <a:tailEnd type="triangle" w="med" len="med"/>
            </a:ln>
            <a:effec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cs-CZ" sz="3200" b="0" i="0" strike="noStrike" kern="0" cap="none" spc="0" normalizeH="0" baseline="0" noProof="0">
                <a:ln>
                  <a:noFill/>
                </a:ln>
                <a:solidFill>
                  <a:prstClr val="black"/>
                </a:solidFill>
                <a:effectLst/>
                <a:uLnTx/>
                <a:uFillTx/>
              </a:endParaRPr>
            </a:p>
          </p:txBody>
        </p:sp>
        <p:sp>
          <p:nvSpPr>
            <p:cNvPr id="24" name="AutoShape 22"/>
            <p:cNvSpPr>
              <a:spLocks noChangeArrowheads="1"/>
            </p:cNvSpPr>
            <p:nvPr/>
          </p:nvSpPr>
          <p:spPr bwMode="auto">
            <a:xfrm>
              <a:off x="3881828" y="1979570"/>
              <a:ext cx="1294423" cy="301684"/>
            </a:xfrm>
            <a:prstGeom prst="roundRect">
              <a:avLst>
                <a:gd name="adj" fmla="val 16667"/>
              </a:avLst>
            </a:prstGeom>
            <a:solidFill>
              <a:srgbClr val="008B95"/>
            </a:solidFill>
            <a:ln w="19050">
              <a:solidFill>
                <a:sysClr val="windowText" lastClr="000000"/>
              </a:solidFill>
              <a:round/>
              <a:headEnd type="none" w="sm" len="sm"/>
              <a:tailEnd/>
            </a:ln>
            <a:effectLst/>
          </p:spPr>
          <p:txBody>
            <a:bodyPr wrap="none"/>
            <a:lstStyle/>
            <a:p>
              <a:pPr marL="0" marR="0" lvl="0" indent="0" algn="ctr"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a:ln>
                    <a:noFill/>
                  </a:ln>
                  <a:solidFill>
                    <a:srgbClr val="FFFFFF"/>
                  </a:solidFill>
                  <a:effectLst/>
                  <a:uLnTx/>
                  <a:uFillTx/>
                </a:rPr>
                <a:t>OSPF or IS-IS</a:t>
              </a:r>
              <a:endParaRPr kumimoji="0" lang="en-GB" sz="1600" b="0" i="0" strike="noStrike" kern="0" cap="none" spc="0" normalizeH="0" baseline="0" noProof="0">
                <a:ln>
                  <a:noFill/>
                </a:ln>
                <a:solidFill>
                  <a:srgbClr val="FFFFFF"/>
                </a:solidFill>
                <a:effectLst/>
                <a:uLnTx/>
                <a:uFillTx/>
              </a:endParaRPr>
            </a:p>
          </p:txBody>
        </p:sp>
        <p:sp>
          <p:nvSpPr>
            <p:cNvPr id="25" name="AutoShape 23"/>
            <p:cNvSpPr>
              <a:spLocks noChangeArrowheads="1"/>
            </p:cNvSpPr>
            <p:nvPr/>
          </p:nvSpPr>
          <p:spPr bwMode="auto">
            <a:xfrm>
              <a:off x="3896544" y="3418746"/>
              <a:ext cx="532998" cy="301684"/>
            </a:xfrm>
            <a:prstGeom prst="roundRect">
              <a:avLst>
                <a:gd name="adj" fmla="val 16667"/>
              </a:avLst>
            </a:prstGeom>
            <a:solidFill>
              <a:srgbClr val="008B95"/>
            </a:solidFill>
            <a:ln w="19050">
              <a:solidFill>
                <a:sysClr val="windowText" lastClr="000000"/>
              </a:solidFill>
              <a:round/>
              <a:headEnd type="none" w="sm" len="sm"/>
              <a:tailEnd/>
            </a:ln>
            <a:effectLst/>
          </p:spPr>
          <p:txBody>
            <a:bodyPr wrap="none"/>
            <a:lstStyle/>
            <a:p>
              <a:pPr marL="0" marR="0" lvl="0" indent="0" algn="ctr"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a:ln>
                    <a:noFill/>
                  </a:ln>
                  <a:solidFill>
                    <a:srgbClr val="FFFFFF"/>
                  </a:solidFill>
                  <a:effectLst/>
                  <a:uLnTx/>
                  <a:uFillTx/>
                </a:rPr>
                <a:t>LDP</a:t>
              </a:r>
              <a:endParaRPr kumimoji="0" lang="en-GB" sz="1600" b="0" i="0" strike="noStrike" kern="0" cap="none" spc="0" normalizeH="0" baseline="0" noProof="0">
                <a:ln>
                  <a:noFill/>
                </a:ln>
                <a:solidFill>
                  <a:srgbClr val="FFFFFF"/>
                </a:solidFill>
                <a:effectLst/>
                <a:uLnTx/>
                <a:uFillTx/>
              </a:endParaRPr>
            </a:p>
          </p:txBody>
        </p:sp>
        <p:sp>
          <p:nvSpPr>
            <p:cNvPr id="26" name="AutoShape 24"/>
            <p:cNvSpPr>
              <a:spLocks noChangeArrowheads="1"/>
            </p:cNvSpPr>
            <p:nvPr/>
          </p:nvSpPr>
          <p:spPr bwMode="auto">
            <a:xfrm>
              <a:off x="3881002" y="2520025"/>
              <a:ext cx="1294423" cy="667004"/>
            </a:xfrm>
            <a:prstGeom prst="roundRect">
              <a:avLst>
                <a:gd name="adj" fmla="val 0"/>
              </a:avLst>
            </a:prstGeom>
            <a:solidFill>
              <a:srgbClr val="008B95"/>
            </a:solidFill>
            <a:ln w="19050">
              <a:solidFill>
                <a:sysClr val="windowText" lastClr="000000"/>
              </a:solidFill>
              <a:round/>
              <a:headEnd type="none" w="sm" len="sm"/>
              <a:tailEnd/>
            </a:ln>
            <a:effectLst/>
          </p:spPr>
          <p:txBody>
            <a:bodyPr wrap="none"/>
            <a:lstStyle/>
            <a:p>
              <a:pPr marL="0" marR="0" lvl="0" indent="0" algn="ctr"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a:ln>
                    <a:noFill/>
                  </a:ln>
                  <a:solidFill>
                    <a:srgbClr val="FFFFFF"/>
                  </a:solidFill>
                  <a:effectLst/>
                  <a:uLnTx/>
                  <a:uFillTx/>
                </a:rPr>
                <a:t>Unicast IP</a:t>
              </a:r>
            </a:p>
            <a:p>
              <a:pPr marL="0" marR="0" lvl="0" indent="0" algn="ctr"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a:ln>
                    <a:noFill/>
                  </a:ln>
                  <a:solidFill>
                    <a:srgbClr val="FFFFFF"/>
                  </a:solidFill>
                  <a:effectLst/>
                  <a:uLnTx/>
                  <a:uFillTx/>
                </a:rPr>
                <a:t>routing table</a:t>
              </a:r>
              <a:endParaRPr kumimoji="0" lang="en-GB" sz="1600" b="0" i="0" strike="noStrike" kern="0" cap="none" spc="0" normalizeH="0" baseline="0" noProof="0">
                <a:ln>
                  <a:noFill/>
                </a:ln>
                <a:solidFill>
                  <a:srgbClr val="FFFFFF"/>
                </a:solidFill>
                <a:effectLst/>
                <a:uLnTx/>
                <a:uFillTx/>
              </a:endParaRPr>
            </a:p>
          </p:txBody>
        </p:sp>
        <p:sp>
          <p:nvSpPr>
            <p:cNvPr id="27" name="Line 25"/>
            <p:cNvSpPr>
              <a:spLocks noChangeShapeType="1"/>
            </p:cNvSpPr>
            <p:nvPr/>
          </p:nvSpPr>
          <p:spPr bwMode="auto">
            <a:xfrm>
              <a:off x="4510336" y="2290170"/>
              <a:ext cx="0" cy="226263"/>
            </a:xfrm>
            <a:prstGeom prst="line">
              <a:avLst/>
            </a:prstGeom>
            <a:noFill/>
            <a:ln w="28575">
              <a:solidFill>
                <a:sysClr val="windowText" lastClr="000000"/>
              </a:solidFill>
              <a:round/>
              <a:headEnd type="none" w="sm" len="sm"/>
              <a:tailEnd type="triangle" w="med" len="med"/>
            </a:ln>
            <a:effec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cs-CZ" sz="3200" b="0" i="0" strike="noStrike" kern="0" cap="none" spc="0" normalizeH="0" baseline="0" noProof="0">
                <a:ln>
                  <a:noFill/>
                </a:ln>
                <a:solidFill>
                  <a:prstClr val="black"/>
                </a:solidFill>
                <a:effectLst/>
                <a:uLnTx/>
                <a:uFillTx/>
              </a:endParaRPr>
            </a:p>
          </p:txBody>
        </p:sp>
        <p:sp>
          <p:nvSpPr>
            <p:cNvPr id="28" name="Line 26"/>
            <p:cNvSpPr>
              <a:spLocks noChangeShapeType="1"/>
            </p:cNvSpPr>
            <p:nvPr/>
          </p:nvSpPr>
          <p:spPr bwMode="auto">
            <a:xfrm>
              <a:off x="4201344" y="3189366"/>
              <a:ext cx="0" cy="226263"/>
            </a:xfrm>
            <a:prstGeom prst="line">
              <a:avLst/>
            </a:prstGeom>
            <a:noFill/>
            <a:ln w="28575">
              <a:solidFill>
                <a:sysClr val="windowText" lastClr="000000"/>
              </a:solidFill>
              <a:round/>
              <a:headEnd type="none" w="sm" len="sm"/>
              <a:tailEnd type="triangle" w="med" len="med"/>
            </a:ln>
            <a:effec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cs-CZ" sz="3200" b="0" i="0" strike="noStrike" kern="0" cap="none" spc="0" normalizeH="0" baseline="0" noProof="0">
                <a:ln>
                  <a:noFill/>
                </a:ln>
                <a:solidFill>
                  <a:prstClr val="black"/>
                </a:solidFill>
                <a:effectLst/>
                <a:uLnTx/>
                <a:uFillTx/>
              </a:endParaRPr>
            </a:p>
          </p:txBody>
        </p:sp>
        <p:sp>
          <p:nvSpPr>
            <p:cNvPr id="29" name="AutoShape 27"/>
            <p:cNvSpPr>
              <a:spLocks noChangeArrowheads="1"/>
            </p:cNvSpPr>
            <p:nvPr/>
          </p:nvSpPr>
          <p:spPr bwMode="auto">
            <a:xfrm>
              <a:off x="4582344" y="3418746"/>
              <a:ext cx="532998" cy="301684"/>
            </a:xfrm>
            <a:prstGeom prst="roundRect">
              <a:avLst>
                <a:gd name="adj" fmla="val 16667"/>
              </a:avLst>
            </a:prstGeom>
            <a:solidFill>
              <a:srgbClr val="008B95"/>
            </a:solidFill>
            <a:ln w="19050">
              <a:solidFill>
                <a:sysClr val="windowText" lastClr="000000"/>
              </a:solidFill>
              <a:round/>
              <a:headEnd type="none" w="sm" len="sm"/>
              <a:tailEnd/>
            </a:ln>
            <a:effectLst/>
          </p:spPr>
          <p:txBody>
            <a:bodyPr wrap="none"/>
            <a:lstStyle/>
            <a:p>
              <a:pPr marL="0" marR="0" lvl="0" indent="0" algn="ctr"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a:ln>
                    <a:noFill/>
                  </a:ln>
                  <a:solidFill>
                    <a:srgbClr val="FFFFFF"/>
                  </a:solidFill>
                  <a:effectLst/>
                  <a:uLnTx/>
                  <a:uFillTx/>
                </a:rPr>
                <a:t>RSVP</a:t>
              </a:r>
              <a:endParaRPr kumimoji="0" lang="en-GB" sz="1600" b="0" i="0" strike="noStrike" kern="0" cap="none" spc="0" normalizeH="0" baseline="0" noProof="0">
                <a:ln>
                  <a:noFill/>
                </a:ln>
                <a:solidFill>
                  <a:srgbClr val="FFFFFF"/>
                </a:solidFill>
                <a:effectLst/>
                <a:uLnTx/>
                <a:uFillTx/>
              </a:endParaRPr>
            </a:p>
          </p:txBody>
        </p:sp>
        <p:sp>
          <p:nvSpPr>
            <p:cNvPr id="30" name="Line 28"/>
            <p:cNvSpPr>
              <a:spLocks noChangeShapeType="1"/>
            </p:cNvSpPr>
            <p:nvPr/>
          </p:nvSpPr>
          <p:spPr bwMode="auto">
            <a:xfrm>
              <a:off x="4810944" y="3728220"/>
              <a:ext cx="0" cy="754210"/>
            </a:xfrm>
            <a:prstGeom prst="line">
              <a:avLst/>
            </a:prstGeom>
            <a:noFill/>
            <a:ln w="28575">
              <a:solidFill>
                <a:sysClr val="windowText" lastClr="000000"/>
              </a:solidFill>
              <a:round/>
              <a:headEnd type="none" w="sm" len="sm"/>
              <a:tailEnd type="triangle" w="med" len="med"/>
            </a:ln>
            <a:effec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cs-CZ" sz="3200" b="0" i="0" strike="noStrike" kern="0" cap="none" spc="0" normalizeH="0" baseline="0" noProof="0">
                <a:ln>
                  <a:noFill/>
                </a:ln>
                <a:solidFill>
                  <a:prstClr val="black"/>
                </a:solidFill>
                <a:effectLst/>
                <a:uLnTx/>
                <a:uFillTx/>
              </a:endParaRPr>
            </a:p>
          </p:txBody>
        </p:sp>
        <p:sp>
          <p:nvSpPr>
            <p:cNvPr id="31" name="Line 29"/>
            <p:cNvSpPr>
              <a:spLocks noChangeShapeType="1"/>
            </p:cNvSpPr>
            <p:nvPr/>
          </p:nvSpPr>
          <p:spPr bwMode="auto">
            <a:xfrm>
              <a:off x="4429944" y="3568030"/>
              <a:ext cx="152285" cy="0"/>
            </a:xfrm>
            <a:prstGeom prst="line">
              <a:avLst/>
            </a:prstGeom>
            <a:noFill/>
            <a:ln w="28575">
              <a:solidFill>
                <a:sysClr val="windowText" lastClr="000000"/>
              </a:solidFill>
              <a:round/>
              <a:headEnd type="none" w="sm" len="sm"/>
              <a:tailEnd type="triangle" w="med" len="med"/>
            </a:ln>
            <a:effec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cs-CZ" sz="3200" b="0" i="0" strike="noStrike" kern="0" cap="none" spc="0" normalizeH="0" baseline="0" noProof="0">
                <a:ln>
                  <a:noFill/>
                </a:ln>
                <a:solidFill>
                  <a:prstClr val="black"/>
                </a:solidFill>
                <a:effectLst/>
                <a:uLnTx/>
                <a:uFillTx/>
              </a:endParaRPr>
            </a:p>
          </p:txBody>
        </p:sp>
        <p:sp>
          <p:nvSpPr>
            <p:cNvPr id="32" name="Line 30"/>
            <p:cNvSpPr>
              <a:spLocks noChangeShapeType="1"/>
            </p:cNvSpPr>
            <p:nvPr/>
          </p:nvSpPr>
          <p:spPr bwMode="auto">
            <a:xfrm>
              <a:off x="4810944" y="3189366"/>
              <a:ext cx="0" cy="226263"/>
            </a:xfrm>
            <a:prstGeom prst="line">
              <a:avLst/>
            </a:prstGeom>
            <a:noFill/>
            <a:ln w="28575">
              <a:solidFill>
                <a:sysClr val="windowText" lastClr="000000"/>
              </a:solidFill>
              <a:round/>
              <a:headEnd type="none" w="sm" len="sm"/>
              <a:tailEnd type="triangle" w="med" len="med"/>
            </a:ln>
            <a:effec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cs-CZ" sz="3200" b="0" i="0" strike="noStrike" kern="0" cap="none" spc="0" normalizeH="0" baseline="0" noProof="0">
                <a:ln>
                  <a:noFill/>
                </a:ln>
                <a:solidFill>
                  <a:prstClr val="black"/>
                </a:solidFill>
                <a:effectLst/>
                <a:uLnTx/>
                <a:uFillTx/>
              </a:endParaRPr>
            </a:p>
          </p:txBody>
        </p:sp>
        <p:sp>
          <p:nvSpPr>
            <p:cNvPr id="33" name="Freeform 31"/>
            <p:cNvSpPr>
              <a:spLocks/>
            </p:cNvSpPr>
            <p:nvPr/>
          </p:nvSpPr>
          <p:spPr bwMode="auto">
            <a:xfrm>
              <a:off x="5072882" y="2600286"/>
              <a:ext cx="177666" cy="829631"/>
            </a:xfrm>
            <a:custGeom>
              <a:avLst/>
              <a:gdLst/>
              <a:ahLst/>
              <a:cxnLst>
                <a:cxn ang="0">
                  <a:pos x="0" y="0"/>
                </a:cxn>
                <a:cxn ang="0">
                  <a:pos x="96" y="144"/>
                </a:cxn>
                <a:cxn ang="0">
                  <a:pos x="96" y="384"/>
                </a:cxn>
                <a:cxn ang="0">
                  <a:pos x="0" y="528"/>
                </a:cxn>
              </a:cxnLst>
              <a:rect l="0" t="0" r="r" b="b"/>
              <a:pathLst>
                <a:path w="112" h="528">
                  <a:moveTo>
                    <a:pt x="0" y="0"/>
                  </a:moveTo>
                  <a:cubicBezTo>
                    <a:pt x="40" y="40"/>
                    <a:pt x="80" y="80"/>
                    <a:pt x="96" y="144"/>
                  </a:cubicBezTo>
                  <a:cubicBezTo>
                    <a:pt x="112" y="208"/>
                    <a:pt x="112" y="320"/>
                    <a:pt x="96" y="384"/>
                  </a:cubicBezTo>
                  <a:cubicBezTo>
                    <a:pt x="80" y="448"/>
                    <a:pt x="40" y="488"/>
                    <a:pt x="0" y="528"/>
                  </a:cubicBezTo>
                </a:path>
              </a:pathLst>
            </a:custGeom>
            <a:noFill/>
            <a:ln w="28575" cap="flat" cmpd="sng">
              <a:solidFill>
                <a:sysClr val="windowText" lastClr="000000"/>
              </a:solidFill>
              <a:prstDash val="solid"/>
              <a:round/>
              <a:headEnd type="none" w="sm" len="sm"/>
              <a:tailEnd type="triangle" w="med" len="med"/>
            </a:ln>
            <a:effec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cs-CZ" sz="3200" b="0" i="0" strike="noStrike" kern="0" cap="none" spc="0" normalizeH="0" baseline="0" noProof="0">
                <a:ln>
                  <a:noFill/>
                </a:ln>
                <a:solidFill>
                  <a:prstClr val="black"/>
                </a:solidFill>
                <a:effectLst/>
                <a:uLnTx/>
                <a:uFillTx/>
              </a:endParaRPr>
            </a:p>
          </p:txBody>
        </p:sp>
        <p:sp>
          <p:nvSpPr>
            <p:cNvPr id="34" name="AutoShape 32"/>
            <p:cNvSpPr>
              <a:spLocks noChangeArrowheads="1"/>
            </p:cNvSpPr>
            <p:nvPr/>
          </p:nvSpPr>
          <p:spPr bwMode="auto">
            <a:xfrm>
              <a:off x="5420544" y="1979570"/>
              <a:ext cx="1294423" cy="301684"/>
            </a:xfrm>
            <a:prstGeom prst="roundRect">
              <a:avLst>
                <a:gd name="adj" fmla="val 16667"/>
              </a:avLst>
            </a:prstGeom>
            <a:solidFill>
              <a:srgbClr val="008B95"/>
            </a:solidFill>
            <a:ln w="19050">
              <a:solidFill>
                <a:sysClr val="windowText" lastClr="000000"/>
              </a:solidFill>
              <a:round/>
              <a:headEnd type="none" w="sm" len="sm"/>
              <a:tailEnd/>
            </a:ln>
            <a:effectLst/>
          </p:spPr>
          <p:txBody>
            <a:bodyPr wrap="none"/>
            <a:lstStyle/>
            <a:p>
              <a:pPr marL="0" marR="0" lvl="0" indent="0" algn="ctr"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a:ln>
                    <a:noFill/>
                  </a:ln>
                  <a:solidFill>
                    <a:srgbClr val="FFFFFF"/>
                  </a:solidFill>
                  <a:effectLst/>
                  <a:uLnTx/>
                  <a:uFillTx/>
                </a:rPr>
                <a:t>Any IGP</a:t>
              </a:r>
              <a:endParaRPr kumimoji="0" lang="en-GB" sz="1600" b="0" i="0" strike="noStrike" kern="0" cap="none" spc="0" normalizeH="0" baseline="0" noProof="0">
                <a:ln>
                  <a:noFill/>
                </a:ln>
                <a:solidFill>
                  <a:srgbClr val="FFFFFF"/>
                </a:solidFill>
                <a:effectLst/>
                <a:uLnTx/>
                <a:uFillTx/>
              </a:endParaRPr>
            </a:p>
          </p:txBody>
        </p:sp>
        <p:sp>
          <p:nvSpPr>
            <p:cNvPr id="35" name="AutoShape 33"/>
            <p:cNvSpPr>
              <a:spLocks noChangeArrowheads="1"/>
            </p:cNvSpPr>
            <p:nvPr/>
          </p:nvSpPr>
          <p:spPr bwMode="auto">
            <a:xfrm>
              <a:off x="5420544" y="3418746"/>
              <a:ext cx="1294423" cy="301684"/>
            </a:xfrm>
            <a:prstGeom prst="roundRect">
              <a:avLst>
                <a:gd name="adj" fmla="val 16667"/>
              </a:avLst>
            </a:prstGeom>
            <a:solidFill>
              <a:srgbClr val="008B95"/>
            </a:solidFill>
            <a:ln w="19050">
              <a:solidFill>
                <a:sysClr val="windowText" lastClr="000000"/>
              </a:solidFill>
              <a:round/>
              <a:headEnd type="none" w="sm" len="sm"/>
              <a:tailEnd/>
            </a:ln>
            <a:effectLst/>
          </p:spPr>
          <p:txBody>
            <a:bodyPr wrap="none"/>
            <a:lstStyle/>
            <a:p>
              <a:pPr marL="0" marR="0" lvl="0" indent="0" algn="ctr"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dirty="0">
                  <a:ln>
                    <a:noFill/>
                  </a:ln>
                  <a:solidFill>
                    <a:srgbClr val="FFFFFF"/>
                  </a:solidFill>
                  <a:effectLst/>
                  <a:uLnTx/>
                  <a:uFillTx/>
                </a:rPr>
                <a:t>LDP</a:t>
              </a:r>
              <a:endParaRPr kumimoji="0" lang="en-GB" sz="1600" b="0" i="0" strike="noStrike" kern="0" cap="none" spc="0" normalizeH="0" baseline="0" noProof="0" dirty="0">
                <a:ln>
                  <a:noFill/>
                </a:ln>
                <a:solidFill>
                  <a:srgbClr val="FFFFFF"/>
                </a:solidFill>
                <a:effectLst/>
                <a:uLnTx/>
                <a:uFillTx/>
              </a:endParaRPr>
            </a:p>
          </p:txBody>
        </p:sp>
        <p:sp>
          <p:nvSpPr>
            <p:cNvPr id="36" name="AutoShape 34"/>
            <p:cNvSpPr>
              <a:spLocks noChangeArrowheads="1"/>
            </p:cNvSpPr>
            <p:nvPr/>
          </p:nvSpPr>
          <p:spPr bwMode="auto">
            <a:xfrm>
              <a:off x="5420544" y="2523288"/>
              <a:ext cx="1294423" cy="663741"/>
            </a:xfrm>
            <a:prstGeom prst="roundRect">
              <a:avLst>
                <a:gd name="adj" fmla="val 0"/>
              </a:avLst>
            </a:prstGeom>
            <a:solidFill>
              <a:srgbClr val="008B95"/>
            </a:solidFill>
            <a:ln w="19050">
              <a:solidFill>
                <a:sysClr val="windowText" lastClr="000000"/>
              </a:solidFill>
              <a:round/>
              <a:headEnd type="none" w="sm" len="sm"/>
              <a:tailEnd/>
            </a:ln>
            <a:effectLst/>
          </p:spPr>
          <p:txBody>
            <a:bodyPr wrap="none"/>
            <a:lstStyle/>
            <a:p>
              <a:pPr marL="0" marR="0" lvl="0" indent="0" algn="ctr"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a:ln>
                    <a:noFill/>
                  </a:ln>
                  <a:solidFill>
                    <a:srgbClr val="FFFFFF"/>
                  </a:solidFill>
                  <a:effectLst/>
                  <a:uLnTx/>
                  <a:uFillTx/>
                </a:rPr>
                <a:t>Unicast IP</a:t>
              </a:r>
            </a:p>
            <a:p>
              <a:pPr marL="0" marR="0" lvl="0" indent="0" algn="ctr"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a:ln>
                    <a:noFill/>
                  </a:ln>
                  <a:solidFill>
                    <a:srgbClr val="FFFFFF"/>
                  </a:solidFill>
                  <a:effectLst/>
                  <a:uLnTx/>
                  <a:uFillTx/>
                </a:rPr>
                <a:t>routing table</a:t>
              </a:r>
              <a:endParaRPr kumimoji="0" lang="en-GB" sz="1600" b="0" i="0" strike="noStrike" kern="0" cap="none" spc="0" normalizeH="0" baseline="0" noProof="0">
                <a:ln>
                  <a:noFill/>
                </a:ln>
                <a:solidFill>
                  <a:srgbClr val="FFFFFF"/>
                </a:solidFill>
                <a:effectLst/>
                <a:uLnTx/>
                <a:uFillTx/>
              </a:endParaRPr>
            </a:p>
          </p:txBody>
        </p:sp>
        <p:sp>
          <p:nvSpPr>
            <p:cNvPr id="37" name="Line 35"/>
            <p:cNvSpPr>
              <a:spLocks noChangeShapeType="1"/>
            </p:cNvSpPr>
            <p:nvPr/>
          </p:nvSpPr>
          <p:spPr bwMode="auto">
            <a:xfrm>
              <a:off x="6030144" y="2290170"/>
              <a:ext cx="0" cy="226263"/>
            </a:xfrm>
            <a:prstGeom prst="line">
              <a:avLst/>
            </a:prstGeom>
            <a:noFill/>
            <a:ln w="28575">
              <a:solidFill>
                <a:sysClr val="windowText" lastClr="000000"/>
              </a:solidFill>
              <a:round/>
              <a:headEnd type="none" w="sm" len="sm"/>
              <a:tailEnd type="triangle" w="med" len="med"/>
            </a:ln>
            <a:effec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cs-CZ" sz="3200" b="0" i="0" strike="noStrike" kern="0" cap="none" spc="0" normalizeH="0" baseline="0" noProof="0">
                <a:ln>
                  <a:noFill/>
                </a:ln>
                <a:solidFill>
                  <a:prstClr val="black"/>
                </a:solidFill>
                <a:effectLst/>
                <a:uLnTx/>
                <a:uFillTx/>
              </a:endParaRPr>
            </a:p>
          </p:txBody>
        </p:sp>
        <p:sp>
          <p:nvSpPr>
            <p:cNvPr id="38" name="Line 36"/>
            <p:cNvSpPr>
              <a:spLocks noChangeShapeType="1"/>
            </p:cNvSpPr>
            <p:nvPr/>
          </p:nvSpPr>
          <p:spPr bwMode="auto">
            <a:xfrm>
              <a:off x="6030144" y="3203654"/>
              <a:ext cx="0" cy="226263"/>
            </a:xfrm>
            <a:prstGeom prst="line">
              <a:avLst/>
            </a:prstGeom>
            <a:noFill/>
            <a:ln w="28575">
              <a:solidFill>
                <a:sysClr val="windowText" lastClr="000000"/>
              </a:solidFill>
              <a:round/>
              <a:headEnd type="none" w="sm" len="sm"/>
              <a:tailEnd type="triangle" w="med" len="med"/>
            </a:ln>
            <a:effec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cs-CZ" sz="3200" b="0" i="0" strike="noStrike" kern="0" cap="none" spc="0" normalizeH="0" baseline="0" noProof="0">
                <a:ln>
                  <a:noFill/>
                </a:ln>
                <a:solidFill>
                  <a:prstClr val="black"/>
                </a:solidFill>
                <a:effectLst/>
                <a:uLnTx/>
                <a:uFillTx/>
              </a:endParaRPr>
            </a:p>
          </p:txBody>
        </p:sp>
        <p:sp>
          <p:nvSpPr>
            <p:cNvPr id="39" name="Line 37"/>
            <p:cNvSpPr>
              <a:spLocks noChangeShapeType="1"/>
            </p:cNvSpPr>
            <p:nvPr/>
          </p:nvSpPr>
          <p:spPr bwMode="auto">
            <a:xfrm flipH="1">
              <a:off x="5877744" y="3728220"/>
              <a:ext cx="0" cy="754210"/>
            </a:xfrm>
            <a:prstGeom prst="line">
              <a:avLst/>
            </a:prstGeom>
            <a:noFill/>
            <a:ln w="28575">
              <a:solidFill>
                <a:sysClr val="windowText" lastClr="000000"/>
              </a:solidFill>
              <a:round/>
              <a:headEnd type="none" w="sm" len="sm"/>
              <a:tailEnd type="triangle" w="med" len="med"/>
            </a:ln>
            <a:effec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cs-CZ" sz="3200" b="0" i="0" strike="noStrike" kern="0" cap="none" spc="0" normalizeH="0" baseline="0" noProof="0">
                <a:ln>
                  <a:noFill/>
                </a:ln>
                <a:solidFill>
                  <a:prstClr val="black"/>
                </a:solidFill>
                <a:effectLst/>
                <a:uLnTx/>
                <a:uFillTx/>
              </a:endParaRPr>
            </a:p>
          </p:txBody>
        </p:sp>
        <p:sp>
          <p:nvSpPr>
            <p:cNvPr id="40" name="AutoShape 38"/>
            <p:cNvSpPr>
              <a:spLocks noChangeArrowheads="1"/>
            </p:cNvSpPr>
            <p:nvPr/>
          </p:nvSpPr>
          <p:spPr bwMode="auto">
            <a:xfrm>
              <a:off x="6944544" y="1979570"/>
              <a:ext cx="1294423" cy="301684"/>
            </a:xfrm>
            <a:prstGeom prst="roundRect">
              <a:avLst>
                <a:gd name="adj" fmla="val 16667"/>
              </a:avLst>
            </a:prstGeom>
            <a:solidFill>
              <a:srgbClr val="008B95"/>
            </a:solidFill>
            <a:ln w="19050">
              <a:solidFill>
                <a:sysClr val="windowText" lastClr="000000"/>
              </a:solidFill>
              <a:round/>
              <a:headEnd type="none" w="sm" len="sm"/>
              <a:tailEnd/>
            </a:ln>
            <a:effectLst/>
          </p:spPr>
          <p:txBody>
            <a:bodyPr wrap="none"/>
            <a:lstStyle/>
            <a:p>
              <a:pPr marL="0" marR="0" lvl="0" indent="0" algn="ctr"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a:ln>
                    <a:noFill/>
                  </a:ln>
                  <a:solidFill>
                    <a:srgbClr val="FFFFFF"/>
                  </a:solidFill>
                  <a:effectLst/>
                  <a:uLnTx/>
                  <a:uFillTx/>
                </a:rPr>
                <a:t>Any IGP</a:t>
              </a:r>
              <a:endParaRPr kumimoji="0" lang="en-GB" sz="1600" b="0" i="0" strike="noStrike" kern="0" cap="none" spc="0" normalizeH="0" baseline="0" noProof="0">
                <a:ln>
                  <a:noFill/>
                </a:ln>
                <a:solidFill>
                  <a:srgbClr val="FFFFFF"/>
                </a:solidFill>
                <a:effectLst/>
                <a:uLnTx/>
                <a:uFillTx/>
              </a:endParaRPr>
            </a:p>
          </p:txBody>
        </p:sp>
        <p:sp>
          <p:nvSpPr>
            <p:cNvPr id="41" name="AutoShape 39"/>
            <p:cNvSpPr>
              <a:spLocks noChangeArrowheads="1"/>
            </p:cNvSpPr>
            <p:nvPr/>
          </p:nvSpPr>
          <p:spPr bwMode="auto">
            <a:xfrm>
              <a:off x="6944544" y="3418746"/>
              <a:ext cx="532998" cy="301684"/>
            </a:xfrm>
            <a:prstGeom prst="roundRect">
              <a:avLst>
                <a:gd name="adj" fmla="val 16667"/>
              </a:avLst>
            </a:prstGeom>
            <a:solidFill>
              <a:srgbClr val="008B95"/>
            </a:solidFill>
            <a:ln w="19050">
              <a:solidFill>
                <a:sysClr val="windowText" lastClr="000000"/>
              </a:solidFill>
              <a:round/>
              <a:headEnd type="none" w="sm" len="sm"/>
              <a:tailEnd/>
            </a:ln>
            <a:effectLst/>
          </p:spPr>
          <p:txBody>
            <a:bodyPr wrap="none"/>
            <a:lstStyle/>
            <a:p>
              <a:pPr marL="0" marR="0" lvl="0" indent="0" algn="ctr"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a:ln>
                    <a:noFill/>
                  </a:ln>
                  <a:solidFill>
                    <a:srgbClr val="FFFFFF"/>
                  </a:solidFill>
                  <a:effectLst/>
                  <a:uLnTx/>
                  <a:uFillTx/>
                </a:rPr>
                <a:t>LDP</a:t>
              </a:r>
              <a:endParaRPr kumimoji="0" lang="en-GB" sz="1600" b="0" i="0" strike="noStrike" kern="0" cap="none" spc="0" normalizeH="0" baseline="0" noProof="0">
                <a:ln>
                  <a:noFill/>
                </a:ln>
                <a:solidFill>
                  <a:srgbClr val="FFFFFF"/>
                </a:solidFill>
                <a:effectLst/>
                <a:uLnTx/>
                <a:uFillTx/>
              </a:endParaRPr>
            </a:p>
          </p:txBody>
        </p:sp>
        <p:sp>
          <p:nvSpPr>
            <p:cNvPr id="42" name="AutoShape 40"/>
            <p:cNvSpPr>
              <a:spLocks noChangeArrowheads="1"/>
            </p:cNvSpPr>
            <p:nvPr/>
          </p:nvSpPr>
          <p:spPr bwMode="auto">
            <a:xfrm>
              <a:off x="6944544" y="2520025"/>
              <a:ext cx="1294423" cy="667003"/>
            </a:xfrm>
            <a:prstGeom prst="roundRect">
              <a:avLst>
                <a:gd name="adj" fmla="val 0"/>
              </a:avLst>
            </a:prstGeom>
            <a:solidFill>
              <a:srgbClr val="008B95"/>
            </a:solidFill>
            <a:ln w="19050">
              <a:solidFill>
                <a:sysClr val="windowText" lastClr="000000"/>
              </a:solidFill>
              <a:round/>
              <a:headEnd type="none" w="sm" len="sm"/>
              <a:tailEnd/>
            </a:ln>
            <a:effectLst/>
          </p:spPr>
          <p:txBody>
            <a:bodyPr wrap="none"/>
            <a:lstStyle/>
            <a:p>
              <a:pPr marL="0" marR="0" lvl="0" indent="0" algn="ctr"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a:ln>
                    <a:noFill/>
                  </a:ln>
                  <a:solidFill>
                    <a:srgbClr val="FFFFFF"/>
                  </a:solidFill>
                  <a:effectLst/>
                  <a:uLnTx/>
                  <a:uFillTx/>
                </a:rPr>
                <a:t>Unicast IP</a:t>
              </a:r>
            </a:p>
            <a:p>
              <a:pPr marL="0" marR="0" lvl="0" indent="0" algn="ctr"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a:ln>
                    <a:noFill/>
                  </a:ln>
                  <a:solidFill>
                    <a:srgbClr val="FFFFFF"/>
                  </a:solidFill>
                  <a:effectLst/>
                  <a:uLnTx/>
                  <a:uFillTx/>
                </a:rPr>
                <a:t>routing tables</a:t>
              </a:r>
              <a:endParaRPr kumimoji="0" lang="en-GB" sz="1600" b="0" i="0" strike="noStrike" kern="0" cap="none" spc="0" normalizeH="0" baseline="0" noProof="0">
                <a:ln>
                  <a:noFill/>
                </a:ln>
                <a:solidFill>
                  <a:srgbClr val="FFFFFF"/>
                </a:solidFill>
                <a:effectLst/>
                <a:uLnTx/>
                <a:uFillTx/>
              </a:endParaRPr>
            </a:p>
          </p:txBody>
        </p:sp>
        <p:sp>
          <p:nvSpPr>
            <p:cNvPr id="43" name="Line 41"/>
            <p:cNvSpPr>
              <a:spLocks noChangeShapeType="1"/>
            </p:cNvSpPr>
            <p:nvPr/>
          </p:nvSpPr>
          <p:spPr bwMode="auto">
            <a:xfrm>
              <a:off x="7534672" y="2283590"/>
              <a:ext cx="0" cy="226263"/>
            </a:xfrm>
            <a:prstGeom prst="line">
              <a:avLst/>
            </a:prstGeom>
            <a:noFill/>
            <a:ln w="28575">
              <a:solidFill>
                <a:sysClr val="windowText" lastClr="000000"/>
              </a:solidFill>
              <a:round/>
              <a:headEnd type="none" w="sm" len="sm"/>
              <a:tailEnd type="triangle" w="med" len="med"/>
            </a:ln>
            <a:effec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cs-CZ" sz="3200" b="0" i="0" strike="noStrike" kern="0" cap="none" spc="0" normalizeH="0" baseline="0" noProof="0">
                <a:ln>
                  <a:noFill/>
                </a:ln>
                <a:solidFill>
                  <a:prstClr val="black"/>
                </a:solidFill>
                <a:effectLst/>
                <a:uLnTx/>
                <a:uFillTx/>
              </a:endParaRPr>
            </a:p>
          </p:txBody>
        </p:sp>
        <p:sp>
          <p:nvSpPr>
            <p:cNvPr id="44" name="Line 42"/>
            <p:cNvSpPr>
              <a:spLocks noChangeShapeType="1"/>
            </p:cNvSpPr>
            <p:nvPr/>
          </p:nvSpPr>
          <p:spPr bwMode="auto">
            <a:xfrm>
              <a:off x="7249344" y="3189366"/>
              <a:ext cx="0" cy="226263"/>
            </a:xfrm>
            <a:prstGeom prst="line">
              <a:avLst/>
            </a:prstGeom>
            <a:noFill/>
            <a:ln w="28575">
              <a:solidFill>
                <a:sysClr val="windowText" lastClr="000000"/>
              </a:solidFill>
              <a:round/>
              <a:headEnd type="none" w="sm" len="sm"/>
              <a:tailEnd type="triangle" w="med" len="med"/>
            </a:ln>
            <a:effec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cs-CZ" sz="3200" b="0" i="0" strike="noStrike" kern="0" cap="none" spc="0" normalizeH="0" baseline="0" noProof="0">
                <a:ln>
                  <a:noFill/>
                </a:ln>
                <a:solidFill>
                  <a:prstClr val="black"/>
                </a:solidFill>
                <a:effectLst/>
                <a:uLnTx/>
                <a:uFillTx/>
              </a:endParaRPr>
            </a:p>
          </p:txBody>
        </p:sp>
        <p:sp>
          <p:nvSpPr>
            <p:cNvPr id="45" name="AutoShape 43"/>
            <p:cNvSpPr>
              <a:spLocks noChangeArrowheads="1"/>
            </p:cNvSpPr>
            <p:nvPr/>
          </p:nvSpPr>
          <p:spPr bwMode="auto">
            <a:xfrm>
              <a:off x="7706544" y="3418746"/>
              <a:ext cx="532998" cy="301684"/>
            </a:xfrm>
            <a:prstGeom prst="roundRect">
              <a:avLst>
                <a:gd name="adj" fmla="val 16667"/>
              </a:avLst>
            </a:prstGeom>
            <a:solidFill>
              <a:srgbClr val="008B95"/>
            </a:solidFill>
            <a:ln w="19050">
              <a:solidFill>
                <a:sysClr val="windowText" lastClr="000000"/>
              </a:solidFill>
              <a:round/>
              <a:headEnd type="none" w="sm" len="sm"/>
              <a:tailEnd/>
            </a:ln>
            <a:effectLst/>
          </p:spPr>
          <p:txBody>
            <a:bodyPr wrap="none"/>
            <a:lstStyle/>
            <a:p>
              <a:pPr marL="0" marR="0" lvl="0" indent="0" algn="ctr" defTabSz="457200" eaLnBrk="0" fontAlgn="auto" latinLnBrk="0" hangingPunct="0">
                <a:lnSpc>
                  <a:spcPct val="100000"/>
                </a:lnSpc>
                <a:spcBef>
                  <a:spcPts val="0"/>
                </a:spcBef>
                <a:spcAft>
                  <a:spcPts val="0"/>
                </a:spcAft>
                <a:buClrTx/>
                <a:buSzTx/>
                <a:buFontTx/>
                <a:buNone/>
                <a:tabLst/>
                <a:defRPr/>
              </a:pPr>
              <a:r>
                <a:rPr kumimoji="0" lang="sl-SI" sz="1600" b="0" i="0" strike="noStrike" kern="0" cap="none" spc="0" normalizeH="0" baseline="0" noProof="0">
                  <a:ln>
                    <a:noFill/>
                  </a:ln>
                  <a:solidFill>
                    <a:srgbClr val="FFFFFF"/>
                  </a:solidFill>
                  <a:effectLst/>
                  <a:uLnTx/>
                  <a:uFillTx/>
                </a:rPr>
                <a:t>BGP</a:t>
              </a:r>
              <a:endParaRPr kumimoji="0" lang="en-GB" sz="1600" b="0" i="0" strike="noStrike" kern="0" cap="none" spc="0" normalizeH="0" baseline="0" noProof="0">
                <a:ln>
                  <a:noFill/>
                </a:ln>
                <a:solidFill>
                  <a:srgbClr val="FFFFFF"/>
                </a:solidFill>
                <a:effectLst/>
                <a:uLnTx/>
                <a:uFillTx/>
              </a:endParaRPr>
            </a:p>
          </p:txBody>
        </p:sp>
        <p:sp>
          <p:nvSpPr>
            <p:cNvPr id="46" name="Line 44"/>
            <p:cNvSpPr>
              <a:spLocks noChangeShapeType="1"/>
            </p:cNvSpPr>
            <p:nvPr/>
          </p:nvSpPr>
          <p:spPr bwMode="auto">
            <a:xfrm flipV="1">
              <a:off x="7935144" y="3189366"/>
              <a:ext cx="0" cy="226263"/>
            </a:xfrm>
            <a:prstGeom prst="line">
              <a:avLst/>
            </a:prstGeom>
            <a:noFill/>
            <a:ln w="28575">
              <a:solidFill>
                <a:sysClr val="windowText" lastClr="000000"/>
              </a:solidFill>
              <a:round/>
              <a:headEnd type="none" w="sm" len="sm"/>
              <a:tailEnd type="triangle" w="med" len="med"/>
            </a:ln>
            <a:effec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cs-CZ" sz="3200" b="0" i="0" strike="noStrike" kern="0" cap="none" spc="0" normalizeH="0" baseline="0" noProof="0">
                <a:ln>
                  <a:noFill/>
                </a:ln>
                <a:solidFill>
                  <a:prstClr val="black"/>
                </a:solidFill>
                <a:effectLst/>
                <a:uLnTx/>
                <a:uFillTx/>
              </a:endParaRPr>
            </a:p>
          </p:txBody>
        </p:sp>
        <p:sp>
          <p:nvSpPr>
            <p:cNvPr id="47" name="Line 45"/>
            <p:cNvSpPr>
              <a:spLocks noChangeShapeType="1"/>
            </p:cNvSpPr>
            <p:nvPr/>
          </p:nvSpPr>
          <p:spPr bwMode="auto">
            <a:xfrm>
              <a:off x="7477944" y="3568030"/>
              <a:ext cx="228428" cy="0"/>
            </a:xfrm>
            <a:prstGeom prst="line">
              <a:avLst/>
            </a:prstGeom>
            <a:noFill/>
            <a:ln w="28575">
              <a:solidFill>
                <a:sysClr val="windowText" lastClr="000000"/>
              </a:solidFill>
              <a:round/>
              <a:headEnd type="none" w="sm" len="sm"/>
              <a:tailEnd type="triangle" w="med" len="med"/>
            </a:ln>
            <a:effec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cs-CZ" sz="3200" b="0" i="0" strike="noStrike" kern="0" cap="none" spc="0" normalizeH="0" baseline="0" noProof="0">
                <a:ln>
                  <a:noFill/>
                </a:ln>
                <a:solidFill>
                  <a:prstClr val="black"/>
                </a:solidFill>
                <a:effectLst/>
                <a:uLnTx/>
                <a:uFillTx/>
              </a:endParaRPr>
            </a:p>
          </p:txBody>
        </p:sp>
        <p:sp>
          <p:nvSpPr>
            <p:cNvPr id="48" name="Line 46"/>
            <p:cNvSpPr>
              <a:spLocks noChangeShapeType="1"/>
            </p:cNvSpPr>
            <p:nvPr/>
          </p:nvSpPr>
          <p:spPr bwMode="auto">
            <a:xfrm flipH="1">
              <a:off x="6182544" y="3728220"/>
              <a:ext cx="1827420" cy="754210"/>
            </a:xfrm>
            <a:prstGeom prst="line">
              <a:avLst/>
            </a:prstGeom>
            <a:noFill/>
            <a:ln w="28575">
              <a:solidFill>
                <a:sysClr val="windowText" lastClr="000000"/>
              </a:solidFill>
              <a:round/>
              <a:headEnd type="none" w="sm" len="sm"/>
              <a:tailEnd type="triangle" w="med" len="med"/>
            </a:ln>
            <a:effec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cs-CZ" sz="3200" b="0" i="0" strike="noStrike" kern="0" cap="none" spc="0" normalizeH="0" baseline="0" noProof="0">
                <a:ln>
                  <a:noFill/>
                </a:ln>
                <a:solidFill>
                  <a:prstClr val="black"/>
                </a:solidFill>
                <a:effectLst/>
                <a:uLnTx/>
                <a:uFillTx/>
              </a:endParaRPr>
            </a:p>
          </p:txBody>
        </p:sp>
      </p:grpSp>
    </p:spTree>
    <p:extLst>
      <p:ext uri="{BB962C8B-B14F-4D97-AF65-F5344CB8AC3E}">
        <p14:creationId xmlns:p14="http://schemas.microsoft.com/office/powerpoint/2010/main" val="451375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noProof="0" dirty="0"/>
              <a:t>Too complex control plane (LDP, RSVP-TE)</a:t>
            </a:r>
          </a:p>
          <a:p>
            <a:pPr lvl="1"/>
            <a:r>
              <a:rPr lang="en-US" noProof="0" dirty="0"/>
              <a:t>LDP</a:t>
            </a:r>
          </a:p>
          <a:p>
            <a:pPr lvl="2"/>
            <a:r>
              <a:rPr lang="en-US" noProof="0" dirty="0"/>
              <a:t>Redundant to IGP</a:t>
            </a:r>
          </a:p>
          <a:p>
            <a:pPr lvl="2"/>
            <a:r>
              <a:rPr lang="en-US" noProof="0" dirty="0"/>
              <a:t>LDP-IGP synchronization issues</a:t>
            </a:r>
          </a:p>
          <a:p>
            <a:pPr lvl="1"/>
            <a:r>
              <a:rPr lang="en-US" noProof="0" dirty="0"/>
              <a:t>RSVP-TE</a:t>
            </a:r>
          </a:p>
          <a:p>
            <a:pPr lvl="2"/>
            <a:r>
              <a:rPr lang="en-US" noProof="0" dirty="0"/>
              <a:t>Weak deployment, scaling issues, operational complexity</a:t>
            </a:r>
          </a:p>
          <a:p>
            <a:pPr lvl="2"/>
            <a:r>
              <a:rPr lang="en-US" noProof="0" dirty="0"/>
              <a:t>Not ECMP friendly</a:t>
            </a:r>
          </a:p>
          <a:p>
            <a:pPr lvl="2"/>
            <a:r>
              <a:rPr lang="en-US" noProof="0" dirty="0"/>
              <a:t>MPLS FRR “replaced” by IP LFA/R-LFA</a:t>
            </a:r>
          </a:p>
          <a:p>
            <a:r>
              <a:rPr lang="en-US" noProof="0" dirty="0"/>
              <a:t>Microloop avoidance not solved </a:t>
            </a:r>
          </a:p>
          <a:p>
            <a:endParaRPr lang="en-US" noProof="0" dirty="0"/>
          </a:p>
        </p:txBody>
      </p:sp>
      <p:sp>
        <p:nvSpPr>
          <p:cNvPr id="3" name="Text Placeholder 2"/>
          <p:cNvSpPr>
            <a:spLocks noGrp="1"/>
          </p:cNvSpPr>
          <p:nvPr>
            <p:ph type="body" sz="quarter" idx="11"/>
          </p:nvPr>
        </p:nvSpPr>
        <p:spPr/>
        <p:txBody>
          <a:bodyPr/>
          <a:lstStyle/>
          <a:p>
            <a:r>
              <a:rPr lang="en-US" noProof="0" dirty="0"/>
              <a:t>MPLS Issues</a:t>
            </a:r>
          </a:p>
        </p:txBody>
      </p:sp>
    </p:spTree>
    <p:extLst>
      <p:ext uri="{BB962C8B-B14F-4D97-AF65-F5344CB8AC3E}">
        <p14:creationId xmlns:p14="http://schemas.microsoft.com/office/powerpoint/2010/main" val="10010278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7DF76D3A-5E3E-4BC8-8F39-771134FF4322}"/>
              </a:ext>
            </a:extLst>
          </p:cNvPr>
          <p:cNvSpPr>
            <a:spLocks noGrp="1"/>
          </p:cNvSpPr>
          <p:nvPr>
            <p:ph type="body" idx="1"/>
          </p:nvPr>
        </p:nvSpPr>
        <p:spPr/>
        <p:txBody>
          <a:bodyPr/>
          <a:lstStyle/>
          <a:p>
            <a:r>
              <a:rPr lang="en-US" noProof="0" dirty="0"/>
              <a:t>Segment Routing</a:t>
            </a:r>
          </a:p>
        </p:txBody>
      </p:sp>
      <p:sp>
        <p:nvSpPr>
          <p:cNvPr id="2" name="Text Placeholder 1">
            <a:extLst>
              <a:ext uri="{FF2B5EF4-FFF2-40B4-BE49-F238E27FC236}">
                <a16:creationId xmlns:a16="http://schemas.microsoft.com/office/drawing/2014/main" id="{B367786B-A4DD-DB9E-9087-78A451525AAC}"/>
              </a:ext>
            </a:extLst>
          </p:cNvPr>
          <p:cNvSpPr>
            <a:spLocks noGrp="1"/>
          </p:cNvSpPr>
          <p:nvPr>
            <p:ph type="body" sz="quarter" idx="15"/>
          </p:nvPr>
        </p:nvSpPr>
        <p:spPr/>
        <p:txBody>
          <a:bodyPr/>
          <a:lstStyle/>
          <a:p>
            <a:r>
              <a:rPr lang="en-US" dirty="0">
                <a:cs typeface="Calibri" pitchFamily="34" charset="0"/>
              </a:rPr>
              <a:t>SRv6 and service migration</a:t>
            </a:r>
            <a:endParaRPr lang="cs-CZ" dirty="0"/>
          </a:p>
        </p:txBody>
      </p:sp>
      <p:sp>
        <p:nvSpPr>
          <p:cNvPr id="5" name="Zástupný text 4">
            <a:extLst>
              <a:ext uri="{FF2B5EF4-FFF2-40B4-BE49-F238E27FC236}">
                <a16:creationId xmlns:a16="http://schemas.microsoft.com/office/drawing/2014/main" id="{CA46CB7B-0002-4873-B253-4D2438CC3611}"/>
              </a:ext>
            </a:extLst>
          </p:cNvPr>
          <p:cNvSpPr>
            <a:spLocks noGrp="1"/>
          </p:cNvSpPr>
          <p:nvPr>
            <p:ph type="body" sz="quarter" idx="13"/>
          </p:nvPr>
        </p:nvSpPr>
        <p:spPr/>
        <p:txBody>
          <a:bodyPr/>
          <a:lstStyle/>
          <a:p>
            <a:r>
              <a:rPr lang="en-US" dirty="0"/>
              <a:t>Segment Routing over MPLS/IPv6 dataplane</a:t>
            </a:r>
          </a:p>
        </p:txBody>
      </p:sp>
      <p:sp>
        <p:nvSpPr>
          <p:cNvPr id="6" name="Zástupný text 5">
            <a:extLst>
              <a:ext uri="{FF2B5EF4-FFF2-40B4-BE49-F238E27FC236}">
                <a16:creationId xmlns:a16="http://schemas.microsoft.com/office/drawing/2014/main" id="{955FA430-FA92-4EB5-849C-E3D05AB9B217}"/>
              </a:ext>
            </a:extLst>
          </p:cNvPr>
          <p:cNvSpPr>
            <a:spLocks noGrp="1"/>
          </p:cNvSpPr>
          <p:nvPr>
            <p:ph type="body" sz="quarter" idx="14"/>
          </p:nvPr>
        </p:nvSpPr>
        <p:spPr/>
        <p:txBody>
          <a:bodyPr/>
          <a:lstStyle/>
          <a:p>
            <a:r>
              <a:rPr lang="en-US" dirty="0"/>
              <a:t>Introduction</a:t>
            </a:r>
          </a:p>
        </p:txBody>
      </p:sp>
    </p:spTree>
    <p:extLst>
      <p:ext uri="{BB962C8B-B14F-4D97-AF65-F5344CB8AC3E}">
        <p14:creationId xmlns:p14="http://schemas.microsoft.com/office/powerpoint/2010/main" val="3853506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noProof="0" dirty="0"/>
              <a:t>Simplicity</a:t>
            </a:r>
          </a:p>
          <a:p>
            <a:pPr lvl="1"/>
            <a:r>
              <a:rPr lang="en-US" dirty="0"/>
              <a:t>automation: TILFA sub-50msec FRR</a:t>
            </a:r>
          </a:p>
          <a:p>
            <a:pPr lvl="1"/>
            <a:r>
              <a:rPr lang="en-US" dirty="0"/>
              <a:t>protocol elimination: LDP, RSVP-TE, </a:t>
            </a:r>
            <a:r>
              <a:rPr lang="en-US" dirty="0" err="1"/>
              <a:t>VxLAN</a:t>
            </a:r>
            <a:r>
              <a:rPr lang="en-US" dirty="0"/>
              <a:t>, NSH, GTP, ...</a:t>
            </a:r>
            <a:endParaRPr lang="en-US" noProof="0" dirty="0"/>
          </a:p>
          <a:p>
            <a:r>
              <a:rPr lang="en-US" noProof="0" dirty="0"/>
              <a:t>Application Engineered Routing</a:t>
            </a:r>
          </a:p>
          <a:p>
            <a:pPr lvl="1"/>
            <a:r>
              <a:rPr lang="en-US" noProof="0" dirty="0"/>
              <a:t>Scalable - </a:t>
            </a:r>
            <a:r>
              <a:rPr lang="en-US" dirty="0"/>
              <a:t>the network fabric does not hold any per-flow state for TE or NFV</a:t>
            </a:r>
            <a:endParaRPr lang="en-US" noProof="0" dirty="0"/>
          </a:p>
          <a:p>
            <a:pPr lvl="1"/>
            <a:r>
              <a:rPr lang="en-US" dirty="0"/>
              <a:t>Stateless - Source Routing - the topological and service (NFV) path is encoded in packet header</a:t>
            </a:r>
            <a:endParaRPr lang="en-US" noProof="0" dirty="0"/>
          </a:p>
          <a:p>
            <a:pPr lvl="1"/>
            <a:r>
              <a:rPr lang="en-US" noProof="0" dirty="0"/>
              <a:t>Programmable</a:t>
            </a:r>
          </a:p>
          <a:p>
            <a:pPr lvl="1"/>
            <a:r>
              <a:rPr lang="en-US" noProof="0" dirty="0"/>
              <a:t>Ease of configuration and troubleshooting</a:t>
            </a:r>
          </a:p>
          <a:p>
            <a:r>
              <a:rPr lang="en-US" dirty="0"/>
              <a:t>End-to-End</a:t>
            </a:r>
          </a:p>
          <a:p>
            <a:pPr lvl="1"/>
            <a:r>
              <a:rPr lang="en-US" noProof="0" dirty="0"/>
              <a:t>DC, Metro, WAN</a:t>
            </a:r>
          </a:p>
          <a:p>
            <a:endParaRPr lang="en-US" noProof="0" dirty="0"/>
          </a:p>
        </p:txBody>
      </p:sp>
      <p:sp>
        <p:nvSpPr>
          <p:cNvPr id="3" name="Text Placeholder 2"/>
          <p:cNvSpPr>
            <a:spLocks noGrp="1"/>
          </p:cNvSpPr>
          <p:nvPr>
            <p:ph type="body" sz="quarter" idx="11"/>
          </p:nvPr>
        </p:nvSpPr>
        <p:spPr/>
        <p:txBody>
          <a:bodyPr/>
          <a:lstStyle/>
          <a:p>
            <a:r>
              <a:rPr lang="en-US" noProof="0" dirty="0"/>
              <a:t>Why Segment Routing ?</a:t>
            </a:r>
          </a:p>
        </p:txBody>
      </p:sp>
    </p:spTree>
    <p:extLst>
      <p:ext uri="{BB962C8B-B14F-4D97-AF65-F5344CB8AC3E}">
        <p14:creationId xmlns:p14="http://schemas.microsoft.com/office/powerpoint/2010/main" val="844511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noProof="0" dirty="0"/>
              <a:t>Source Routing</a:t>
            </a:r>
          </a:p>
          <a:p>
            <a:pPr lvl="1"/>
            <a:r>
              <a:rPr lang="en-US" noProof="0" dirty="0"/>
              <a:t>the source chooses a path and encodes it in the packet header as an ordered list of segments</a:t>
            </a:r>
          </a:p>
          <a:p>
            <a:pPr lvl="1"/>
            <a:r>
              <a:rPr lang="en-US" noProof="0" dirty="0"/>
              <a:t>the rest of the network executes the encoded instructions</a:t>
            </a:r>
          </a:p>
          <a:p>
            <a:r>
              <a:rPr lang="en-US" noProof="0" dirty="0"/>
              <a:t>Segment</a:t>
            </a:r>
          </a:p>
          <a:p>
            <a:pPr lvl="1"/>
            <a:r>
              <a:rPr lang="en-US" noProof="0" dirty="0"/>
              <a:t>an identifier for any type of </a:t>
            </a:r>
            <a:r>
              <a:rPr lang="en-US" b="1" noProof="0" dirty="0"/>
              <a:t>instruction</a:t>
            </a:r>
            <a:r>
              <a:rPr lang="en-US" noProof="0" dirty="0"/>
              <a:t> (forwarding or service)</a:t>
            </a:r>
          </a:p>
          <a:p>
            <a:pPr lvl="2"/>
            <a:r>
              <a:rPr lang="en-US" dirty="0"/>
              <a:t>example of instruction “</a:t>
            </a:r>
            <a:r>
              <a:rPr lang="en-US" i="1" dirty="0">
                <a:solidFill>
                  <a:schemeClr val="accent2"/>
                </a:solidFill>
              </a:rPr>
              <a:t>go to node N using the shortest path, use </a:t>
            </a:r>
            <a:r>
              <a:rPr lang="en-US" i="1" dirty="0" err="1">
                <a:solidFill>
                  <a:schemeClr val="accent2"/>
                </a:solidFill>
              </a:rPr>
              <a:t>ECMP</a:t>
            </a:r>
            <a:r>
              <a:rPr lang="en-US" i="1" dirty="0">
                <a:solidFill>
                  <a:schemeClr val="accent2"/>
                </a:solidFill>
              </a:rPr>
              <a:t> when possible</a:t>
            </a:r>
            <a:r>
              <a:rPr lang="en-US" dirty="0"/>
              <a:t>”</a:t>
            </a:r>
            <a:endParaRPr lang="en-US" noProof="0" dirty="0"/>
          </a:p>
          <a:p>
            <a:r>
              <a:rPr lang="en-US" noProof="0" dirty="0"/>
              <a:t>Segment List</a:t>
            </a:r>
          </a:p>
          <a:p>
            <a:pPr lvl="1"/>
            <a:r>
              <a:rPr lang="en-US" noProof="0" dirty="0"/>
              <a:t>a list of segments</a:t>
            </a:r>
          </a:p>
          <a:p>
            <a:endParaRPr lang="en-US" noProof="0" dirty="0"/>
          </a:p>
        </p:txBody>
      </p:sp>
      <p:sp>
        <p:nvSpPr>
          <p:cNvPr id="3" name="Text Placeholder 2"/>
          <p:cNvSpPr>
            <a:spLocks noGrp="1"/>
          </p:cNvSpPr>
          <p:nvPr>
            <p:ph type="body" sz="quarter" idx="11"/>
          </p:nvPr>
        </p:nvSpPr>
        <p:spPr/>
        <p:txBody>
          <a:bodyPr/>
          <a:lstStyle/>
          <a:p>
            <a:r>
              <a:rPr lang="en-US" noProof="0" dirty="0"/>
              <a:t>What is Segment Routing ?</a:t>
            </a:r>
          </a:p>
        </p:txBody>
      </p:sp>
    </p:spTree>
    <p:extLst>
      <p:ext uri="{BB962C8B-B14F-4D97-AF65-F5344CB8AC3E}">
        <p14:creationId xmlns:p14="http://schemas.microsoft.com/office/powerpoint/2010/main" val="186877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US" dirty="0"/>
              <a:t>Reachability</a:t>
            </a:r>
          </a:p>
          <a:p>
            <a:r>
              <a:rPr lang="en-US" dirty="0"/>
              <a:t>No engineered Load Balancing</a:t>
            </a:r>
          </a:p>
          <a:p>
            <a:r>
              <a:rPr lang="en-US" dirty="0"/>
              <a:t>No VPN</a:t>
            </a:r>
          </a:p>
          <a:p>
            <a:r>
              <a:rPr lang="en-US" dirty="0"/>
              <a:t>No Traffic Engineering</a:t>
            </a:r>
          </a:p>
          <a:p>
            <a:r>
              <a:rPr lang="en-US" dirty="0"/>
              <a:t>No Service Chaining</a:t>
            </a:r>
          </a:p>
        </p:txBody>
      </p:sp>
      <p:sp>
        <p:nvSpPr>
          <p:cNvPr id="3" name="Text Placeholder 2"/>
          <p:cNvSpPr>
            <a:spLocks noGrp="1"/>
          </p:cNvSpPr>
          <p:nvPr>
            <p:ph type="body" sz="quarter" idx="11"/>
          </p:nvPr>
        </p:nvSpPr>
        <p:spPr/>
        <p:txBody>
          <a:bodyPr/>
          <a:lstStyle/>
          <a:p>
            <a:r>
              <a:rPr lang="en-US" dirty="0"/>
              <a:t>IPv4 limitations &amp; workarounds</a:t>
            </a:r>
          </a:p>
        </p:txBody>
      </p:sp>
      <p:sp>
        <p:nvSpPr>
          <p:cNvPr id="5" name="Text Placeholder 4"/>
          <p:cNvSpPr>
            <a:spLocks noGrp="1"/>
          </p:cNvSpPr>
          <p:nvPr>
            <p:ph type="body" sz="quarter" idx="12"/>
          </p:nvPr>
        </p:nvSpPr>
        <p:spPr/>
        <p:txBody>
          <a:bodyPr/>
          <a:lstStyle/>
          <a:p>
            <a:r>
              <a:rPr lang="en-US" dirty="0"/>
              <a:t>IPv4 Header</a:t>
            </a:r>
          </a:p>
          <a:p>
            <a:r>
              <a:rPr lang="en-US" dirty="0"/>
              <a:t>MPLS Entropy Label, </a:t>
            </a:r>
            <a:r>
              <a:rPr lang="en-US" dirty="0" err="1"/>
              <a:t>VxLAN</a:t>
            </a:r>
            <a:r>
              <a:rPr lang="en-US" dirty="0"/>
              <a:t> UDP</a:t>
            </a:r>
          </a:p>
          <a:p>
            <a:r>
              <a:rPr lang="en-US" dirty="0"/>
              <a:t>MPLS VPN’s, </a:t>
            </a:r>
            <a:r>
              <a:rPr lang="en-US" dirty="0" err="1"/>
              <a:t>VxLAN</a:t>
            </a:r>
            <a:endParaRPr lang="en-US" dirty="0"/>
          </a:p>
          <a:p>
            <a:r>
              <a:rPr lang="en-US" dirty="0"/>
              <a:t>RSVP-TE, SR-TE MPLS</a:t>
            </a:r>
          </a:p>
          <a:p>
            <a:r>
              <a:rPr lang="en-US" dirty="0"/>
              <a:t>NSH</a:t>
            </a:r>
          </a:p>
        </p:txBody>
      </p:sp>
      <p:sp>
        <p:nvSpPr>
          <p:cNvPr id="21" name="Text Placeholder 20">
            <a:extLst>
              <a:ext uri="{FF2B5EF4-FFF2-40B4-BE49-F238E27FC236}">
                <a16:creationId xmlns:a16="http://schemas.microsoft.com/office/drawing/2014/main" id="{6A57E094-6E2A-61A8-23F6-B3F566F5FB72}"/>
              </a:ext>
            </a:extLst>
          </p:cNvPr>
          <p:cNvSpPr>
            <a:spLocks noGrp="1"/>
          </p:cNvSpPr>
          <p:nvPr>
            <p:ph type="body" sz="quarter" idx="17"/>
          </p:nvPr>
        </p:nvSpPr>
        <p:spPr/>
        <p:txBody>
          <a:bodyPr/>
          <a:lstStyle/>
          <a:p>
            <a:r>
              <a:rPr lang="en-US" dirty="0"/>
              <a:t>Network Function</a:t>
            </a:r>
          </a:p>
        </p:txBody>
      </p:sp>
      <p:sp>
        <p:nvSpPr>
          <p:cNvPr id="22" name="Text Placeholder 21">
            <a:extLst>
              <a:ext uri="{FF2B5EF4-FFF2-40B4-BE49-F238E27FC236}">
                <a16:creationId xmlns:a16="http://schemas.microsoft.com/office/drawing/2014/main" id="{F14234B8-F00E-87D4-7025-096F003A974C}"/>
              </a:ext>
            </a:extLst>
          </p:cNvPr>
          <p:cNvSpPr>
            <a:spLocks noGrp="1"/>
          </p:cNvSpPr>
          <p:nvPr>
            <p:ph type="body" sz="quarter" idx="18"/>
          </p:nvPr>
        </p:nvSpPr>
        <p:spPr/>
        <p:txBody>
          <a:bodyPr/>
          <a:lstStyle/>
          <a:p>
            <a:r>
              <a:rPr lang="en-US" dirty="0"/>
              <a:t>IPv4</a:t>
            </a:r>
          </a:p>
        </p:txBody>
      </p:sp>
      <p:sp>
        <p:nvSpPr>
          <p:cNvPr id="6" name="Rectangle 5"/>
          <p:cNvSpPr/>
          <p:nvPr/>
        </p:nvSpPr>
        <p:spPr>
          <a:xfrm>
            <a:off x="1494263" y="4739268"/>
            <a:ext cx="2230244" cy="3791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 (L5, L6 &amp; L7)</a:t>
            </a:r>
            <a:endParaRPr lang="cs-CZ" dirty="0"/>
          </a:p>
        </p:txBody>
      </p:sp>
      <p:sp>
        <p:nvSpPr>
          <p:cNvPr id="7" name="Rectangle 6"/>
          <p:cNvSpPr/>
          <p:nvPr/>
        </p:nvSpPr>
        <p:spPr>
          <a:xfrm>
            <a:off x="1494262" y="5121605"/>
            <a:ext cx="2230245" cy="37914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Socket header (L4)</a:t>
            </a:r>
            <a:endParaRPr lang="cs-CZ" dirty="0"/>
          </a:p>
        </p:txBody>
      </p:sp>
      <p:sp>
        <p:nvSpPr>
          <p:cNvPr id="8" name="Rectangle 7"/>
          <p:cNvSpPr/>
          <p:nvPr/>
        </p:nvSpPr>
        <p:spPr>
          <a:xfrm>
            <a:off x="1494263" y="5505540"/>
            <a:ext cx="2230244" cy="379142"/>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IPv4 header (L3)</a:t>
            </a:r>
            <a:endParaRPr lang="cs-CZ" dirty="0"/>
          </a:p>
        </p:txBody>
      </p:sp>
      <p:sp>
        <p:nvSpPr>
          <p:cNvPr id="9" name="Rectangle 8"/>
          <p:cNvSpPr/>
          <p:nvPr/>
        </p:nvSpPr>
        <p:spPr>
          <a:xfrm>
            <a:off x="1494263" y="5883084"/>
            <a:ext cx="2230244" cy="379142"/>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Ethernet (L2)</a:t>
            </a:r>
            <a:endParaRPr lang="cs-CZ" dirty="0"/>
          </a:p>
        </p:txBody>
      </p:sp>
      <p:sp>
        <p:nvSpPr>
          <p:cNvPr id="10" name="Rectangle 9"/>
          <p:cNvSpPr/>
          <p:nvPr/>
        </p:nvSpPr>
        <p:spPr>
          <a:xfrm>
            <a:off x="7812683" y="5185133"/>
            <a:ext cx="3352140" cy="363290"/>
          </a:xfrm>
          <a:prstGeom prst="rect">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solidFill>
              </a:rPr>
              <a:t>NSH</a:t>
            </a:r>
            <a:endParaRPr lang="cs-CZ" dirty="0"/>
          </a:p>
        </p:txBody>
      </p:sp>
      <p:sp>
        <p:nvSpPr>
          <p:cNvPr id="11" name="Rectangle 10"/>
          <p:cNvSpPr/>
          <p:nvPr/>
        </p:nvSpPr>
        <p:spPr>
          <a:xfrm>
            <a:off x="7812682" y="5553217"/>
            <a:ext cx="3352141" cy="360095"/>
          </a:xfrm>
          <a:prstGeom prst="rect">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solidFill>
              </a:rPr>
              <a:t>MPLS VPN / EVPN</a:t>
            </a:r>
            <a:endParaRPr lang="cs-CZ" dirty="0">
              <a:solidFill>
                <a:schemeClr val="accent6"/>
              </a:solidFill>
            </a:endParaRPr>
          </a:p>
        </p:txBody>
      </p:sp>
      <p:sp>
        <p:nvSpPr>
          <p:cNvPr id="12" name="Rectangle 11"/>
          <p:cNvSpPr/>
          <p:nvPr/>
        </p:nvSpPr>
        <p:spPr>
          <a:xfrm>
            <a:off x="7812683" y="5913313"/>
            <a:ext cx="3352141" cy="356900"/>
          </a:xfrm>
          <a:prstGeom prst="rect">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solidFill>
              </a:rPr>
              <a:t>MPLS / </a:t>
            </a:r>
            <a:r>
              <a:rPr lang="en-US" dirty="0" err="1">
                <a:solidFill>
                  <a:schemeClr val="accent6"/>
                </a:solidFill>
              </a:rPr>
              <a:t>VxLAN</a:t>
            </a:r>
            <a:r>
              <a:rPr lang="en-US" dirty="0">
                <a:solidFill>
                  <a:schemeClr val="accent6"/>
                </a:solidFill>
              </a:rPr>
              <a:t> (+ IP and UDP)</a:t>
            </a:r>
            <a:endParaRPr lang="cs-CZ" dirty="0">
              <a:solidFill>
                <a:schemeClr val="accent6"/>
              </a:solidFill>
            </a:endParaRPr>
          </a:p>
        </p:txBody>
      </p:sp>
      <p:sp>
        <p:nvSpPr>
          <p:cNvPr id="13" name="Rectangle 12"/>
          <p:cNvSpPr/>
          <p:nvPr/>
        </p:nvSpPr>
        <p:spPr>
          <a:xfrm>
            <a:off x="7812682" y="6275006"/>
            <a:ext cx="3352141" cy="379142"/>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Ethernet (L2)</a:t>
            </a:r>
            <a:endParaRPr lang="cs-CZ" dirty="0"/>
          </a:p>
        </p:txBody>
      </p:sp>
      <p:sp>
        <p:nvSpPr>
          <p:cNvPr id="14" name="Rectangle 13"/>
          <p:cNvSpPr/>
          <p:nvPr/>
        </p:nvSpPr>
        <p:spPr>
          <a:xfrm>
            <a:off x="7812680" y="4087394"/>
            <a:ext cx="3352139" cy="374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 (L5, L6 &amp; L7)</a:t>
            </a:r>
            <a:endParaRPr lang="cs-CZ" dirty="0"/>
          </a:p>
        </p:txBody>
      </p:sp>
      <p:sp>
        <p:nvSpPr>
          <p:cNvPr id="15" name="Rectangle 14"/>
          <p:cNvSpPr/>
          <p:nvPr/>
        </p:nvSpPr>
        <p:spPr>
          <a:xfrm>
            <a:off x="7812680" y="4470530"/>
            <a:ext cx="3352140" cy="36009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Socket header (L4)</a:t>
            </a:r>
            <a:endParaRPr lang="cs-CZ" dirty="0"/>
          </a:p>
        </p:txBody>
      </p:sp>
      <p:sp>
        <p:nvSpPr>
          <p:cNvPr id="16" name="Rectangle 15"/>
          <p:cNvSpPr/>
          <p:nvPr/>
        </p:nvSpPr>
        <p:spPr>
          <a:xfrm>
            <a:off x="7812680" y="4833024"/>
            <a:ext cx="3352140" cy="358499"/>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IPv4 header (L3)</a:t>
            </a:r>
            <a:endParaRPr lang="cs-CZ" dirty="0"/>
          </a:p>
        </p:txBody>
      </p:sp>
      <p:sp>
        <p:nvSpPr>
          <p:cNvPr id="17" name="Left Brace 16"/>
          <p:cNvSpPr/>
          <p:nvPr/>
        </p:nvSpPr>
        <p:spPr>
          <a:xfrm>
            <a:off x="7394448" y="5191523"/>
            <a:ext cx="267760" cy="1078690"/>
          </a:xfrm>
          <a:prstGeom prst="leftBrace">
            <a:avLst>
              <a:gd name="adj1" fmla="val 8333"/>
              <a:gd name="adj2" fmla="val 50001"/>
            </a:avLst>
          </a:prstGeom>
          <a:ln w="34925">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cs-CZ"/>
          </a:p>
        </p:txBody>
      </p:sp>
      <p:sp>
        <p:nvSpPr>
          <p:cNvPr id="18" name="TextBox 17"/>
          <p:cNvSpPr txBox="1"/>
          <p:nvPr/>
        </p:nvSpPr>
        <p:spPr>
          <a:xfrm>
            <a:off x="4035365" y="5488828"/>
            <a:ext cx="2060061" cy="412565"/>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accent6"/>
                </a:solidFill>
                <a:effectLst/>
                <a:uLnTx/>
                <a:uFillTx/>
                <a:latin typeface="Arial" panose="020B0604020202020204"/>
                <a:ea typeface="+mn-ea"/>
                <a:cs typeface="+mn-cs"/>
              </a:rPr>
              <a:t>workarounds</a:t>
            </a:r>
            <a:endParaRPr kumimoji="0" lang="cs-CZ" sz="2400" i="0" u="none" strike="noStrike" kern="1200" cap="none" spc="0" normalizeH="0" baseline="0" noProof="0" dirty="0" err="1">
              <a:ln>
                <a:noFill/>
              </a:ln>
              <a:solidFill>
                <a:schemeClr val="accent6"/>
              </a:solidFill>
              <a:effectLst/>
              <a:uLnTx/>
              <a:uFillTx/>
              <a:latin typeface="Arial" panose="020B0604020202020204"/>
              <a:ea typeface="+mn-ea"/>
              <a:cs typeface="+mn-cs"/>
            </a:endParaRPr>
          </a:p>
        </p:txBody>
      </p:sp>
      <p:sp>
        <p:nvSpPr>
          <p:cNvPr id="19" name="Right Arrow 18"/>
          <p:cNvSpPr/>
          <p:nvPr/>
        </p:nvSpPr>
        <p:spPr>
          <a:xfrm>
            <a:off x="6297595" y="5619276"/>
            <a:ext cx="613458" cy="223184"/>
          </a:xfrm>
          <a:prstGeom prst="rightArrow">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2" name="TextBox 1">
            <a:extLst>
              <a:ext uri="{FF2B5EF4-FFF2-40B4-BE49-F238E27FC236}">
                <a16:creationId xmlns:a16="http://schemas.microsoft.com/office/drawing/2014/main" id="{B17C7488-FB0E-870D-06B3-F236BDBCB2DF}"/>
              </a:ext>
            </a:extLst>
          </p:cNvPr>
          <p:cNvSpPr txBox="1"/>
          <p:nvPr/>
        </p:nvSpPr>
        <p:spPr>
          <a:xfrm>
            <a:off x="5102352" y="3511296"/>
            <a:ext cx="914400" cy="914400"/>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endParaRPr kumimoji="0" lang="en-US" sz="2400" b="1" i="0" u="none" strike="noStrike" kern="1200" cap="none" spc="0" normalizeH="0" baseline="0" noProof="0" dirty="0" err="1">
              <a:ln>
                <a:noFill/>
              </a:ln>
              <a:solidFill>
                <a:schemeClr val="tx1"/>
              </a:solidFill>
              <a:effectLst/>
              <a:uLnTx/>
              <a:uFillTx/>
              <a:latin typeface="Arial" panose="020B0604020202020204"/>
              <a:ea typeface="+mn-ea"/>
              <a:cs typeface="+mn-cs"/>
            </a:endParaRPr>
          </a:p>
        </p:txBody>
      </p:sp>
      <p:sp>
        <p:nvSpPr>
          <p:cNvPr id="20" name="TextBox 19">
            <a:extLst>
              <a:ext uri="{FF2B5EF4-FFF2-40B4-BE49-F238E27FC236}">
                <a16:creationId xmlns:a16="http://schemas.microsoft.com/office/drawing/2014/main" id="{D9F93666-4969-0066-33D6-DDE596D7256E}"/>
              </a:ext>
            </a:extLst>
          </p:cNvPr>
          <p:cNvSpPr txBox="1"/>
          <p:nvPr/>
        </p:nvSpPr>
        <p:spPr>
          <a:xfrm>
            <a:off x="8882293" y="115485"/>
            <a:ext cx="3136392" cy="1900596"/>
          </a:xfrm>
          <a:prstGeom prst="rect">
            <a:avLst/>
          </a:prstGeom>
          <a:solidFill>
            <a:srgbClr val="FFC000"/>
          </a:solidFill>
          <a:ln w="41275">
            <a:solidFill>
              <a:schemeClr val="accent1"/>
            </a:solidFill>
          </a:ln>
        </p:spPr>
        <p:txBody>
          <a:bodyPr vert="horz" wrap="none" lIns="91440" tIns="45720" rIns="91440" bIns="45720" rtlCol="0">
            <a:noAutofit/>
          </a:bodyPr>
          <a:lstStyle/>
          <a:p>
            <a:pPr marL="0" marR="0" indent="0" algn="l" defTabSz="914400" rtl="0" eaLnBrk="1" fontAlgn="auto" latinLnBrk="0" hangingPunct="1">
              <a:lnSpc>
                <a:spcPct val="90000"/>
              </a:lnSpc>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Address space 32-bit limitation</a:t>
            </a:r>
          </a:p>
          <a:p>
            <a:pPr marL="0" marR="0" indent="0" algn="l" defTabSz="914400" rtl="0" eaLnBrk="1" fontAlgn="auto" latinLnBrk="0" hangingPunct="1">
              <a:lnSpc>
                <a:spcPct val="90000"/>
              </a:lnSpc>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No optional header</a:t>
            </a:r>
          </a:p>
          <a:p>
            <a:pPr marL="0" marR="0" indent="0" algn="l" defTabSz="914400" rtl="0" eaLnBrk="1" fontAlgn="auto" latinLnBrk="0" hangingPunct="1">
              <a:lnSpc>
                <a:spcPct val="90000"/>
              </a:lnSpc>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IPv4 header doesn’t support</a:t>
            </a:r>
          </a:p>
          <a:p>
            <a:pPr marL="285750" marR="0" indent="-285750" algn="l" defTabSz="914400" rtl="0" eaLnBrk="1" fontAlgn="auto" latinLnBrk="0" hangingPunct="1">
              <a:lnSpc>
                <a:spcPct val="90000"/>
              </a:lnSpc>
              <a:spcAft>
                <a:spcPts val="0"/>
              </a:spcAft>
              <a:buClrTx/>
              <a:buSzTx/>
              <a:buFont typeface="Arial" panose="020B0604020202020204" pitchFamily="34" charset="0"/>
              <a:buChar char="•"/>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VPN</a:t>
            </a:r>
          </a:p>
          <a:p>
            <a:pPr marL="285750" marR="0" indent="-285750" algn="l" defTabSz="914400" rtl="0" eaLnBrk="1" fontAlgn="auto" latinLnBrk="0" hangingPunct="1">
              <a:lnSpc>
                <a:spcPct val="90000"/>
              </a:lnSpc>
              <a:spcAft>
                <a:spcPts val="0"/>
              </a:spcAft>
              <a:buClrTx/>
              <a:buSzTx/>
              <a:buFont typeface="Arial" panose="020B0604020202020204" pitchFamily="34" charset="0"/>
              <a:buChar char="•"/>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Traffic Engineer</a:t>
            </a:r>
          </a:p>
          <a:p>
            <a:pPr marL="285750" marR="0" indent="-285750" algn="l" defTabSz="914400" rtl="0" eaLnBrk="1" fontAlgn="auto" latinLnBrk="0" hangingPunct="1">
              <a:lnSpc>
                <a:spcPct val="90000"/>
              </a:lnSpc>
              <a:spcAft>
                <a:spcPts val="0"/>
              </a:spcAft>
              <a:buClrTx/>
              <a:buSzTx/>
              <a:buFont typeface="Arial" panose="020B0604020202020204" pitchFamily="34" charset="0"/>
              <a:buChar char="•"/>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Service Chaining</a:t>
            </a:r>
          </a:p>
          <a:p>
            <a:pPr marL="285750" marR="0" indent="-285750" algn="l" defTabSz="914400" rtl="0" eaLnBrk="1" fontAlgn="auto" latinLnBrk="0" hangingPunct="1">
              <a:lnSpc>
                <a:spcPct val="90000"/>
              </a:lnSpc>
              <a:spcAft>
                <a:spcPts val="0"/>
              </a:spcAft>
              <a:buClrTx/>
              <a:buSzTx/>
              <a:buFont typeface="Arial" panose="020B0604020202020204" pitchFamily="34" charset="0"/>
              <a:buChar char="•"/>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Engineered Flow optimization</a:t>
            </a:r>
          </a:p>
          <a:p>
            <a:pPr marL="285750" marR="0" indent="-285750" algn="l" defTabSz="914400" rtl="0" eaLnBrk="1" fontAlgn="auto" latinLnBrk="0" hangingPunct="1">
              <a:lnSpc>
                <a:spcPct val="90000"/>
              </a:lnSpc>
              <a:spcAft>
                <a:spcPts val="0"/>
              </a:spcAft>
              <a:buClrTx/>
              <a:buSzTx/>
              <a:buFont typeface="Arial" panose="020B0604020202020204" pitchFamily="34" charset="0"/>
              <a:buChar char="•"/>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Source-Routing</a:t>
            </a:r>
          </a:p>
        </p:txBody>
      </p:sp>
    </p:spTree>
    <p:extLst>
      <p:ext uri="{BB962C8B-B14F-4D97-AF65-F5344CB8AC3E}">
        <p14:creationId xmlns:p14="http://schemas.microsoft.com/office/powerpoint/2010/main" val="7863688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US" sz="2000" dirty="0"/>
              <a:t>Reachability</a:t>
            </a:r>
          </a:p>
          <a:p>
            <a:r>
              <a:rPr lang="en-US" sz="2000" dirty="0"/>
              <a:t>Engineered Load Balancing</a:t>
            </a:r>
          </a:p>
          <a:p>
            <a:r>
              <a:rPr lang="en-US" sz="2000" dirty="0"/>
              <a:t>VPN</a:t>
            </a:r>
          </a:p>
          <a:p>
            <a:r>
              <a:rPr lang="en-US" sz="2000" dirty="0"/>
              <a:t>Traffic Engineering</a:t>
            </a:r>
          </a:p>
          <a:p>
            <a:r>
              <a:rPr lang="en-US" sz="2000" dirty="0"/>
              <a:t>Source Routing</a:t>
            </a:r>
          </a:p>
          <a:p>
            <a:r>
              <a:rPr lang="en-US" sz="2000" dirty="0"/>
              <a:t>No Service Chaining</a:t>
            </a:r>
          </a:p>
        </p:txBody>
      </p:sp>
      <p:sp>
        <p:nvSpPr>
          <p:cNvPr id="3" name="Text Placeholder 2"/>
          <p:cNvSpPr>
            <a:spLocks noGrp="1"/>
          </p:cNvSpPr>
          <p:nvPr>
            <p:ph type="body" sz="quarter" idx="11"/>
          </p:nvPr>
        </p:nvSpPr>
        <p:spPr/>
        <p:txBody>
          <a:bodyPr/>
          <a:lstStyle/>
          <a:p>
            <a:r>
              <a:rPr lang="en-US" dirty="0"/>
              <a:t>SRv6 solution</a:t>
            </a:r>
          </a:p>
        </p:txBody>
      </p:sp>
      <p:sp>
        <p:nvSpPr>
          <p:cNvPr id="5" name="Text Placeholder 4"/>
          <p:cNvSpPr>
            <a:spLocks noGrp="1"/>
          </p:cNvSpPr>
          <p:nvPr>
            <p:ph type="body" sz="quarter" idx="12"/>
          </p:nvPr>
        </p:nvSpPr>
        <p:spPr/>
        <p:txBody>
          <a:bodyPr/>
          <a:lstStyle/>
          <a:p>
            <a:r>
              <a:rPr lang="en-US" sz="2000" dirty="0"/>
              <a:t>IPv6 Header</a:t>
            </a:r>
          </a:p>
          <a:p>
            <a:r>
              <a:rPr lang="en-US" sz="2000" dirty="0"/>
              <a:t>IPv6 Header</a:t>
            </a:r>
          </a:p>
          <a:p>
            <a:r>
              <a:rPr lang="en-US" sz="2000" dirty="0"/>
              <a:t>IPv6 Header</a:t>
            </a:r>
          </a:p>
          <a:p>
            <a:r>
              <a:rPr lang="en-US" sz="2000" dirty="0"/>
              <a:t>IPv6 Header</a:t>
            </a:r>
          </a:p>
          <a:p>
            <a:r>
              <a:rPr lang="en-US" sz="2000" dirty="0"/>
              <a:t>IPv6 Header</a:t>
            </a:r>
          </a:p>
          <a:p>
            <a:r>
              <a:rPr lang="en-US" sz="2000" dirty="0"/>
              <a:t>IPv6 Header</a:t>
            </a:r>
          </a:p>
          <a:p>
            <a:pPr marL="0" indent="0">
              <a:buNone/>
            </a:pPr>
            <a:endParaRPr lang="en-US" sz="2000" dirty="0"/>
          </a:p>
          <a:p>
            <a:pPr marL="0" indent="0">
              <a:buNone/>
            </a:pPr>
            <a:endParaRPr lang="en-US" sz="2000" dirty="0"/>
          </a:p>
        </p:txBody>
      </p:sp>
      <p:sp>
        <p:nvSpPr>
          <p:cNvPr id="2" name="Text Placeholder 1">
            <a:extLst>
              <a:ext uri="{FF2B5EF4-FFF2-40B4-BE49-F238E27FC236}">
                <a16:creationId xmlns:a16="http://schemas.microsoft.com/office/drawing/2014/main" id="{B657C04D-503E-7328-EB9A-8757D7ACBF47}"/>
              </a:ext>
            </a:extLst>
          </p:cNvPr>
          <p:cNvSpPr>
            <a:spLocks noGrp="1"/>
          </p:cNvSpPr>
          <p:nvPr>
            <p:ph type="body" sz="quarter" idx="17"/>
          </p:nvPr>
        </p:nvSpPr>
        <p:spPr/>
        <p:txBody>
          <a:bodyPr/>
          <a:lstStyle/>
          <a:p>
            <a:r>
              <a:rPr lang="en-US" dirty="0"/>
              <a:t>Network Functions	</a:t>
            </a:r>
          </a:p>
        </p:txBody>
      </p:sp>
      <p:sp>
        <p:nvSpPr>
          <p:cNvPr id="22" name="Text Placeholder 21">
            <a:extLst>
              <a:ext uri="{FF2B5EF4-FFF2-40B4-BE49-F238E27FC236}">
                <a16:creationId xmlns:a16="http://schemas.microsoft.com/office/drawing/2014/main" id="{B1584312-7950-DEE3-B9A8-890BB27B04A0}"/>
              </a:ext>
            </a:extLst>
          </p:cNvPr>
          <p:cNvSpPr>
            <a:spLocks noGrp="1"/>
          </p:cNvSpPr>
          <p:nvPr>
            <p:ph type="body" sz="quarter" idx="18"/>
          </p:nvPr>
        </p:nvSpPr>
        <p:spPr/>
        <p:txBody>
          <a:bodyPr/>
          <a:lstStyle/>
          <a:p>
            <a:r>
              <a:rPr lang="en-US" dirty="0"/>
              <a:t>IPv6</a:t>
            </a:r>
          </a:p>
        </p:txBody>
      </p:sp>
      <p:sp>
        <p:nvSpPr>
          <p:cNvPr id="6" name="Rectangle 5"/>
          <p:cNvSpPr/>
          <p:nvPr/>
        </p:nvSpPr>
        <p:spPr>
          <a:xfrm>
            <a:off x="8728117" y="4769776"/>
            <a:ext cx="2230244" cy="3791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 (L5, L6 &amp; L7)</a:t>
            </a:r>
            <a:endParaRPr lang="cs-CZ" dirty="0"/>
          </a:p>
        </p:txBody>
      </p:sp>
      <p:sp>
        <p:nvSpPr>
          <p:cNvPr id="7" name="Rectangle 6"/>
          <p:cNvSpPr/>
          <p:nvPr/>
        </p:nvSpPr>
        <p:spPr>
          <a:xfrm>
            <a:off x="8728116" y="5152113"/>
            <a:ext cx="2230245" cy="37914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Socket header (L4)</a:t>
            </a:r>
            <a:endParaRPr lang="cs-CZ" dirty="0"/>
          </a:p>
        </p:txBody>
      </p:sp>
      <p:sp>
        <p:nvSpPr>
          <p:cNvPr id="8" name="Rectangle 7"/>
          <p:cNvSpPr/>
          <p:nvPr/>
        </p:nvSpPr>
        <p:spPr>
          <a:xfrm>
            <a:off x="8728117" y="5536048"/>
            <a:ext cx="2230244" cy="379142"/>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IPv6 header (L3)</a:t>
            </a:r>
            <a:endParaRPr lang="cs-CZ" dirty="0"/>
          </a:p>
        </p:txBody>
      </p:sp>
      <p:sp>
        <p:nvSpPr>
          <p:cNvPr id="9" name="Rectangle 8"/>
          <p:cNvSpPr/>
          <p:nvPr/>
        </p:nvSpPr>
        <p:spPr>
          <a:xfrm>
            <a:off x="8728117" y="5913592"/>
            <a:ext cx="2230244" cy="379142"/>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Ethernet (L2)</a:t>
            </a:r>
            <a:endParaRPr lang="cs-CZ" dirty="0"/>
          </a:p>
        </p:txBody>
      </p:sp>
      <p:sp>
        <p:nvSpPr>
          <p:cNvPr id="18" name="TextBox 17"/>
          <p:cNvSpPr txBox="1"/>
          <p:nvPr/>
        </p:nvSpPr>
        <p:spPr>
          <a:xfrm>
            <a:off x="5730837" y="5034794"/>
            <a:ext cx="2060061" cy="412565"/>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400" b="1" dirty="0">
                <a:solidFill>
                  <a:schemeClr val="accent4"/>
                </a:solidFill>
                <a:latin typeface="Arial" panose="020B0604020202020204"/>
              </a:rPr>
              <a:t>Simplicity</a:t>
            </a:r>
          </a:p>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effectLst/>
                <a:uLnTx/>
                <a:uFillTx/>
                <a:latin typeface="Arial" panose="020B0604020202020204"/>
              </a:rPr>
              <a:t>(back to the </a:t>
            </a:r>
          </a:p>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effectLst/>
                <a:uLnTx/>
                <a:uFillTx/>
                <a:latin typeface="Arial" panose="020B0604020202020204"/>
              </a:rPr>
              <a:t>OSI model)</a:t>
            </a:r>
            <a:endParaRPr kumimoji="0" lang="cs-CZ" sz="2400" i="0" u="none" strike="noStrike" kern="1200" cap="none" spc="0" normalizeH="0" baseline="0" noProof="0" dirty="0" err="1">
              <a:ln>
                <a:noFill/>
              </a:ln>
              <a:effectLst/>
              <a:uLnTx/>
              <a:uFillTx/>
              <a:latin typeface="Arial" panose="020B0604020202020204"/>
            </a:endParaRPr>
          </a:p>
        </p:txBody>
      </p:sp>
      <p:sp>
        <p:nvSpPr>
          <p:cNvPr id="19" name="Right Arrow 18"/>
          <p:cNvSpPr/>
          <p:nvPr/>
        </p:nvSpPr>
        <p:spPr>
          <a:xfrm>
            <a:off x="7754937" y="5459352"/>
            <a:ext cx="613458" cy="223184"/>
          </a:xfrm>
          <a:prstGeom prst="right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pic>
        <p:nvPicPr>
          <p:cNvPr id="25" name="Picture 24"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36860" y="4309808"/>
            <a:ext cx="757106" cy="724986"/>
          </a:xfrm>
          <a:prstGeom prst="rect">
            <a:avLst/>
          </a:prstGeom>
        </p:spPr>
      </p:pic>
      <p:sp>
        <p:nvSpPr>
          <p:cNvPr id="28" name="TextBox 27">
            <a:extLst>
              <a:ext uri="{FF2B5EF4-FFF2-40B4-BE49-F238E27FC236}">
                <a16:creationId xmlns:a16="http://schemas.microsoft.com/office/drawing/2014/main" id="{0D9AF65C-7761-63FF-ED8D-6987E2B09381}"/>
              </a:ext>
            </a:extLst>
          </p:cNvPr>
          <p:cNvSpPr txBox="1"/>
          <p:nvPr/>
        </p:nvSpPr>
        <p:spPr>
          <a:xfrm>
            <a:off x="8882293" y="115485"/>
            <a:ext cx="3136392" cy="1900596"/>
          </a:xfrm>
          <a:prstGeom prst="rect">
            <a:avLst/>
          </a:prstGeom>
          <a:solidFill>
            <a:srgbClr val="FFC000"/>
          </a:solidFill>
          <a:ln w="41275">
            <a:solidFill>
              <a:schemeClr val="accent1"/>
            </a:solidFill>
          </a:ln>
        </p:spPr>
        <p:txBody>
          <a:bodyPr vert="horz" wrap="none" lIns="91440" tIns="45720" rIns="91440" bIns="45720" rtlCol="0">
            <a:noAutofit/>
          </a:bodyPr>
          <a:lstStyle/>
          <a:p>
            <a:pPr marL="0" marR="0" indent="0" algn="l" defTabSz="914400" rtl="0" eaLnBrk="1" fontAlgn="auto" latinLnBrk="0" hangingPunct="1">
              <a:lnSpc>
                <a:spcPct val="90000"/>
              </a:lnSpc>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Pv6 Address 128bits</a:t>
            </a:r>
          </a:p>
          <a:p>
            <a:pPr marL="0" marR="0" indent="0" algn="l" defTabSz="914400" rtl="0" eaLnBrk="1" fontAlgn="auto" latinLnBrk="0" hangingPunct="1">
              <a:lnSpc>
                <a:spcPct val="90000"/>
              </a:lnSpc>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IPv6 Flow Header</a:t>
            </a:r>
          </a:p>
          <a:p>
            <a:pPr marL="285750" marR="0" indent="-285750" algn="l" defTabSz="914400" rtl="0" eaLnBrk="1" fontAlgn="auto" latinLnBrk="0" hangingPunct="1">
              <a:lnSpc>
                <a:spcPct val="90000"/>
              </a:lnSpc>
              <a:spcAft>
                <a:spcPts val="0"/>
              </a:spcAft>
              <a:buClrTx/>
              <a:buSzTx/>
              <a:buFont typeface="Arial" panose="020B0604020202020204" pitchFamily="34" charset="0"/>
              <a:buChar char="•"/>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Engineered Flow optimization</a:t>
            </a:r>
          </a:p>
          <a:p>
            <a:pPr marL="0" marR="0" indent="0" algn="l" defTabSz="914400" rtl="0" eaLnBrk="1" fontAlgn="auto" latinLnBrk="0" hangingPunct="1">
              <a:lnSpc>
                <a:spcPct val="90000"/>
              </a:lnSpc>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SRv6 Header</a:t>
            </a:r>
          </a:p>
          <a:p>
            <a:pPr marL="285750" marR="0" indent="-285750" algn="l" defTabSz="914400" rtl="0" eaLnBrk="1" fontAlgn="auto" latinLnBrk="0" hangingPunct="1">
              <a:lnSpc>
                <a:spcPct val="90000"/>
              </a:lnSpc>
              <a:spcAft>
                <a:spcPts val="0"/>
              </a:spcAft>
              <a:buClrTx/>
              <a:buSzTx/>
              <a:buFont typeface="Arial" panose="020B0604020202020204" pitchFamily="34" charset="0"/>
              <a:buChar char="•"/>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Source-Routing</a:t>
            </a:r>
          </a:p>
          <a:p>
            <a:pPr marL="285750" marR="0" indent="-285750" algn="l" defTabSz="914400" rtl="0" eaLnBrk="1" fontAlgn="auto" latinLnBrk="0" hangingPunct="1">
              <a:lnSpc>
                <a:spcPct val="90000"/>
              </a:lnSpc>
              <a:spcAft>
                <a:spcPts val="0"/>
              </a:spcAft>
              <a:buClrTx/>
              <a:buSzTx/>
              <a:buFont typeface="Arial" panose="020B0604020202020204" pitchFamily="34" charset="0"/>
              <a:buChar char="•"/>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Traffic Engineering</a:t>
            </a:r>
          </a:p>
          <a:p>
            <a:pPr marL="285750" marR="0" indent="-285750" algn="l" defTabSz="914400" rtl="0" eaLnBrk="1" fontAlgn="auto" latinLnBrk="0" hangingPunct="1">
              <a:lnSpc>
                <a:spcPct val="90000"/>
              </a:lnSpc>
              <a:spcAft>
                <a:spcPts val="0"/>
              </a:spcAft>
              <a:buClrTx/>
              <a:buSzTx/>
              <a:buFont typeface="Arial" panose="020B0604020202020204" pitchFamily="34" charset="0"/>
              <a:buChar char="•"/>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VPN</a:t>
            </a:r>
          </a:p>
          <a:p>
            <a:pPr marL="285750" marR="0" indent="-285750" algn="l" defTabSz="914400" rtl="0" eaLnBrk="1" fontAlgn="auto" latinLnBrk="0" hangingPunct="1">
              <a:lnSpc>
                <a:spcPct val="90000"/>
              </a:lnSpc>
              <a:spcAft>
                <a:spcPts val="0"/>
              </a:spcAft>
              <a:buClrTx/>
              <a:buSzTx/>
              <a:buFont typeface="Arial" panose="020B0604020202020204" pitchFamily="34" charset="0"/>
              <a:buChar char="•"/>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Service Chaining</a:t>
            </a:r>
          </a:p>
        </p:txBody>
      </p:sp>
      <p:sp>
        <p:nvSpPr>
          <p:cNvPr id="29" name="Rectangle 28">
            <a:extLst>
              <a:ext uri="{FF2B5EF4-FFF2-40B4-BE49-F238E27FC236}">
                <a16:creationId xmlns:a16="http://schemas.microsoft.com/office/drawing/2014/main" id="{050103DD-4F8D-6C82-258B-E3EA2C964E64}"/>
              </a:ext>
            </a:extLst>
          </p:cNvPr>
          <p:cNvSpPr/>
          <p:nvPr/>
        </p:nvSpPr>
        <p:spPr>
          <a:xfrm>
            <a:off x="1517994" y="5207654"/>
            <a:ext cx="3352140" cy="363290"/>
          </a:xfrm>
          <a:prstGeom prst="rect">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solidFill>
              </a:rPr>
              <a:t>NSH</a:t>
            </a:r>
            <a:endParaRPr lang="cs-CZ" dirty="0"/>
          </a:p>
        </p:txBody>
      </p:sp>
      <p:sp>
        <p:nvSpPr>
          <p:cNvPr id="30" name="Rectangle 29">
            <a:extLst>
              <a:ext uri="{FF2B5EF4-FFF2-40B4-BE49-F238E27FC236}">
                <a16:creationId xmlns:a16="http://schemas.microsoft.com/office/drawing/2014/main" id="{6096FCB6-652C-4C5D-31C1-833EDA9270AA}"/>
              </a:ext>
            </a:extLst>
          </p:cNvPr>
          <p:cNvSpPr/>
          <p:nvPr/>
        </p:nvSpPr>
        <p:spPr>
          <a:xfrm>
            <a:off x="1517993" y="5575738"/>
            <a:ext cx="3352141" cy="360095"/>
          </a:xfrm>
          <a:prstGeom prst="rect">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solidFill>
              </a:rPr>
              <a:t>MPLS VPN / EVPN</a:t>
            </a:r>
            <a:endParaRPr lang="cs-CZ" dirty="0">
              <a:solidFill>
                <a:schemeClr val="accent6"/>
              </a:solidFill>
            </a:endParaRPr>
          </a:p>
        </p:txBody>
      </p:sp>
      <p:sp>
        <p:nvSpPr>
          <p:cNvPr id="31" name="Rectangle 30">
            <a:extLst>
              <a:ext uri="{FF2B5EF4-FFF2-40B4-BE49-F238E27FC236}">
                <a16:creationId xmlns:a16="http://schemas.microsoft.com/office/drawing/2014/main" id="{61957ACA-C341-693F-1AC4-065180403EC6}"/>
              </a:ext>
            </a:extLst>
          </p:cNvPr>
          <p:cNvSpPr/>
          <p:nvPr/>
        </p:nvSpPr>
        <p:spPr>
          <a:xfrm>
            <a:off x="1517994" y="5935834"/>
            <a:ext cx="3352141" cy="356900"/>
          </a:xfrm>
          <a:prstGeom prst="rect">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solidFill>
              </a:rPr>
              <a:t>MPLS / </a:t>
            </a:r>
            <a:r>
              <a:rPr lang="en-US" dirty="0" err="1">
                <a:solidFill>
                  <a:schemeClr val="accent6"/>
                </a:solidFill>
              </a:rPr>
              <a:t>VxLAN</a:t>
            </a:r>
            <a:r>
              <a:rPr lang="en-US" dirty="0">
                <a:solidFill>
                  <a:schemeClr val="accent6"/>
                </a:solidFill>
              </a:rPr>
              <a:t> (+ IP and UDP)</a:t>
            </a:r>
            <a:endParaRPr lang="cs-CZ" dirty="0">
              <a:solidFill>
                <a:schemeClr val="accent6"/>
              </a:solidFill>
            </a:endParaRPr>
          </a:p>
        </p:txBody>
      </p:sp>
      <p:sp>
        <p:nvSpPr>
          <p:cNvPr id="32" name="Rectangle 31">
            <a:extLst>
              <a:ext uri="{FF2B5EF4-FFF2-40B4-BE49-F238E27FC236}">
                <a16:creationId xmlns:a16="http://schemas.microsoft.com/office/drawing/2014/main" id="{7AF3E86A-4BF2-412E-5340-C723841B9049}"/>
              </a:ext>
            </a:extLst>
          </p:cNvPr>
          <p:cNvSpPr/>
          <p:nvPr/>
        </p:nvSpPr>
        <p:spPr>
          <a:xfrm>
            <a:off x="1517993" y="6297527"/>
            <a:ext cx="3352141" cy="379142"/>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Ethernet (L2)</a:t>
            </a:r>
            <a:endParaRPr lang="cs-CZ" dirty="0"/>
          </a:p>
        </p:txBody>
      </p:sp>
      <p:sp>
        <p:nvSpPr>
          <p:cNvPr id="33" name="Rectangle 32">
            <a:extLst>
              <a:ext uri="{FF2B5EF4-FFF2-40B4-BE49-F238E27FC236}">
                <a16:creationId xmlns:a16="http://schemas.microsoft.com/office/drawing/2014/main" id="{02B662A2-56A9-DA77-36BE-03A8A611A162}"/>
              </a:ext>
            </a:extLst>
          </p:cNvPr>
          <p:cNvSpPr/>
          <p:nvPr/>
        </p:nvSpPr>
        <p:spPr>
          <a:xfrm>
            <a:off x="1517991" y="4109915"/>
            <a:ext cx="3352139" cy="374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 (L5, L6 &amp; L7)</a:t>
            </a:r>
            <a:endParaRPr lang="cs-CZ" dirty="0"/>
          </a:p>
        </p:txBody>
      </p:sp>
      <p:sp>
        <p:nvSpPr>
          <p:cNvPr id="34" name="Rectangle 33">
            <a:extLst>
              <a:ext uri="{FF2B5EF4-FFF2-40B4-BE49-F238E27FC236}">
                <a16:creationId xmlns:a16="http://schemas.microsoft.com/office/drawing/2014/main" id="{E19EB051-0B0F-5BDA-E46B-EF0FB1112ACA}"/>
              </a:ext>
            </a:extLst>
          </p:cNvPr>
          <p:cNvSpPr/>
          <p:nvPr/>
        </p:nvSpPr>
        <p:spPr>
          <a:xfrm>
            <a:off x="1517991" y="4493051"/>
            <a:ext cx="3352140" cy="36009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Socket header (L4)</a:t>
            </a:r>
            <a:endParaRPr lang="cs-CZ" dirty="0"/>
          </a:p>
        </p:txBody>
      </p:sp>
      <p:sp>
        <p:nvSpPr>
          <p:cNvPr id="35" name="Rectangle 34">
            <a:extLst>
              <a:ext uri="{FF2B5EF4-FFF2-40B4-BE49-F238E27FC236}">
                <a16:creationId xmlns:a16="http://schemas.microsoft.com/office/drawing/2014/main" id="{F543FB72-1119-0D1F-16A9-ABBDD7F89688}"/>
              </a:ext>
            </a:extLst>
          </p:cNvPr>
          <p:cNvSpPr/>
          <p:nvPr/>
        </p:nvSpPr>
        <p:spPr>
          <a:xfrm>
            <a:off x="1517991" y="4855545"/>
            <a:ext cx="3352140" cy="358499"/>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IPv4 header (L3)</a:t>
            </a:r>
            <a:endParaRPr lang="cs-CZ" dirty="0"/>
          </a:p>
        </p:txBody>
      </p:sp>
      <p:sp>
        <p:nvSpPr>
          <p:cNvPr id="36" name="Left Brace 35">
            <a:extLst>
              <a:ext uri="{FF2B5EF4-FFF2-40B4-BE49-F238E27FC236}">
                <a16:creationId xmlns:a16="http://schemas.microsoft.com/office/drawing/2014/main" id="{1A99F180-3511-9FFB-E78F-B12461D4B6D8}"/>
              </a:ext>
            </a:extLst>
          </p:cNvPr>
          <p:cNvSpPr/>
          <p:nvPr/>
        </p:nvSpPr>
        <p:spPr>
          <a:xfrm rot="10800000">
            <a:off x="5163423" y="4108605"/>
            <a:ext cx="274127" cy="2568063"/>
          </a:xfrm>
          <a:prstGeom prst="leftBrace">
            <a:avLst>
              <a:gd name="adj1" fmla="val 8333"/>
              <a:gd name="adj2" fmla="val 50001"/>
            </a:avLst>
          </a:prstGeom>
          <a:ln w="34925">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cs-CZ"/>
          </a:p>
        </p:txBody>
      </p:sp>
      <p:cxnSp>
        <p:nvCxnSpPr>
          <p:cNvPr id="38" name="Straight Connector 37">
            <a:extLst>
              <a:ext uri="{FF2B5EF4-FFF2-40B4-BE49-F238E27FC236}">
                <a16:creationId xmlns:a16="http://schemas.microsoft.com/office/drawing/2014/main" id="{94664923-9480-1798-2AB2-BBD0C4EDD5FB}"/>
              </a:ext>
            </a:extLst>
          </p:cNvPr>
          <p:cNvCxnSpPr>
            <a:cxnSpLocks/>
            <a:stCxn id="31" idx="1"/>
            <a:endCxn id="29" idx="3"/>
          </p:cNvCxnSpPr>
          <p:nvPr/>
        </p:nvCxnSpPr>
        <p:spPr>
          <a:xfrm flipV="1">
            <a:off x="1517994" y="5389299"/>
            <a:ext cx="3352140" cy="724985"/>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4252272-FC59-4B1E-3FBE-F739988C48CD}"/>
              </a:ext>
            </a:extLst>
          </p:cNvPr>
          <p:cNvCxnSpPr>
            <a:cxnSpLocks/>
            <a:stCxn id="29" idx="1"/>
            <a:endCxn id="31" idx="3"/>
          </p:cNvCxnSpPr>
          <p:nvPr/>
        </p:nvCxnSpPr>
        <p:spPr>
          <a:xfrm>
            <a:off x="1517994" y="5389299"/>
            <a:ext cx="3352141" cy="724985"/>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97643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CBAC051-A27A-AA9C-0681-256A72DBDA37}"/>
              </a:ext>
            </a:extLst>
          </p:cNvPr>
          <p:cNvSpPr>
            <a:spLocks noGrp="1"/>
          </p:cNvSpPr>
          <p:nvPr>
            <p:ph type="body" sz="quarter" idx="11"/>
          </p:nvPr>
        </p:nvSpPr>
        <p:spPr/>
        <p:txBody>
          <a:bodyPr/>
          <a:lstStyle/>
          <a:p>
            <a:r>
              <a:rPr lang="en-US" dirty="0"/>
              <a:t>L3VPN Services Overlay Encapsulation</a:t>
            </a:r>
          </a:p>
        </p:txBody>
      </p:sp>
      <p:pic>
        <p:nvPicPr>
          <p:cNvPr id="10" name="Picture 9" descr="A screen shot of a computer&#10;&#10;AI-generated content may be incorrect.">
            <a:extLst>
              <a:ext uri="{FF2B5EF4-FFF2-40B4-BE49-F238E27FC236}">
                <a16:creationId xmlns:a16="http://schemas.microsoft.com/office/drawing/2014/main" id="{16BA0DD5-81DC-0626-4BF8-7DCF13B57F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4484" y="998009"/>
            <a:ext cx="9823031" cy="4861981"/>
          </a:xfrm>
          <a:prstGeom prst="rect">
            <a:avLst/>
          </a:prstGeom>
        </p:spPr>
      </p:pic>
    </p:spTree>
    <p:extLst>
      <p:ext uri="{BB962C8B-B14F-4D97-AF65-F5344CB8AC3E}">
        <p14:creationId xmlns:p14="http://schemas.microsoft.com/office/powerpoint/2010/main" val="15166715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CBAC051-A27A-AA9C-0681-256A72DBDA37}"/>
              </a:ext>
            </a:extLst>
          </p:cNvPr>
          <p:cNvSpPr>
            <a:spLocks noGrp="1"/>
          </p:cNvSpPr>
          <p:nvPr>
            <p:ph type="body" sz="quarter" idx="11"/>
          </p:nvPr>
        </p:nvSpPr>
        <p:spPr/>
        <p:txBody>
          <a:bodyPr/>
          <a:lstStyle/>
          <a:p>
            <a:r>
              <a:rPr lang="en-US" dirty="0"/>
              <a:t>L2VPN Services Overlay Encapsulation</a:t>
            </a:r>
          </a:p>
        </p:txBody>
      </p:sp>
      <p:pic>
        <p:nvPicPr>
          <p:cNvPr id="3" name="Picture 2" descr="A screenshot of a computer&#10;&#10;AI-generated content may be incorrect.">
            <a:extLst>
              <a:ext uri="{FF2B5EF4-FFF2-40B4-BE49-F238E27FC236}">
                <a16:creationId xmlns:a16="http://schemas.microsoft.com/office/drawing/2014/main" id="{9E10629D-5DB2-2CF0-397D-A7438E7B5A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3104" y="1017061"/>
            <a:ext cx="9365792" cy="4823878"/>
          </a:xfrm>
          <a:prstGeom prst="rect">
            <a:avLst/>
          </a:prstGeom>
        </p:spPr>
      </p:pic>
    </p:spTree>
    <p:extLst>
      <p:ext uri="{BB962C8B-B14F-4D97-AF65-F5344CB8AC3E}">
        <p14:creationId xmlns:p14="http://schemas.microsoft.com/office/powerpoint/2010/main" val="11335391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MPLS -&gt; </a:t>
            </a:r>
            <a:r>
              <a:rPr lang="en-US" b="1" dirty="0"/>
              <a:t>SR-MPLS</a:t>
            </a:r>
          </a:p>
          <a:p>
            <a:pPr lvl="1"/>
            <a:r>
              <a:rPr lang="en-US" dirty="0"/>
              <a:t>an ordered list of segments is represented as a stack of labels</a:t>
            </a:r>
          </a:p>
          <a:p>
            <a:pPr lvl="2"/>
            <a:r>
              <a:rPr lang="en-US" dirty="0"/>
              <a:t>1 segment = 1 label, a segment list = a </a:t>
            </a:r>
            <a:r>
              <a:rPr lang="en-US" dirty="0" err="1"/>
              <a:t>labelstack</a:t>
            </a:r>
            <a:endParaRPr lang="en-US" dirty="0"/>
          </a:p>
          <a:p>
            <a:pPr lvl="1"/>
            <a:r>
              <a:rPr lang="en-US" dirty="0"/>
              <a:t>Segment Routing </a:t>
            </a:r>
            <a:r>
              <a:rPr lang="en-US" b="1" dirty="0"/>
              <a:t>re-uses MPLS data plane without any change</a:t>
            </a:r>
          </a:p>
          <a:p>
            <a:pPr lvl="1"/>
            <a:r>
              <a:rPr lang="en-US" dirty="0"/>
              <a:t>Segment represented as MPLS label</a:t>
            </a:r>
          </a:p>
          <a:p>
            <a:pPr lvl="1"/>
            <a:r>
              <a:rPr lang="en-US" dirty="0"/>
              <a:t>Applicable to IPv4 and IPv6 address families</a:t>
            </a:r>
          </a:p>
          <a:p>
            <a:r>
              <a:rPr lang="en-US" dirty="0"/>
              <a:t>IPv6 -&gt; </a:t>
            </a:r>
            <a:r>
              <a:rPr lang="en-US" b="1" dirty="0"/>
              <a:t>SRv6</a:t>
            </a:r>
          </a:p>
          <a:p>
            <a:pPr lvl="1"/>
            <a:r>
              <a:rPr lang="en-US" dirty="0"/>
              <a:t>an ordered list of segments is encoded in a routing extension header</a:t>
            </a:r>
          </a:p>
          <a:p>
            <a:pPr lvl="2"/>
            <a:r>
              <a:rPr lang="en-US" dirty="0"/>
              <a:t>1 segment = 1 IPv6 address, a segment list = an IPv6 address list in the SRH</a:t>
            </a:r>
          </a:p>
          <a:p>
            <a:pPr lvl="1"/>
            <a:r>
              <a:rPr lang="en-US" dirty="0"/>
              <a:t>leverages </a:t>
            </a:r>
            <a:r>
              <a:rPr lang="en-US" strike="sngStrike" dirty="0"/>
              <a:t>RFC2460</a:t>
            </a:r>
            <a:r>
              <a:rPr lang="en-US" dirty="0"/>
              <a:t> RFC8200 provision for source routing extension header</a:t>
            </a:r>
          </a:p>
          <a:p>
            <a:endParaRPr lang="en-US" dirty="0"/>
          </a:p>
        </p:txBody>
      </p:sp>
      <p:sp>
        <p:nvSpPr>
          <p:cNvPr id="3" name="Text Placeholder 2"/>
          <p:cNvSpPr>
            <a:spLocks noGrp="1"/>
          </p:cNvSpPr>
          <p:nvPr>
            <p:ph type="body" sz="quarter" idx="11"/>
          </p:nvPr>
        </p:nvSpPr>
        <p:spPr/>
        <p:txBody>
          <a:bodyPr/>
          <a:lstStyle/>
          <a:p>
            <a:r>
              <a:rPr lang="en-US" dirty="0"/>
              <a:t>Segment Routing Data Plane</a:t>
            </a:r>
          </a:p>
        </p:txBody>
      </p:sp>
    </p:spTree>
    <p:extLst>
      <p:ext uri="{BB962C8B-B14F-4D97-AF65-F5344CB8AC3E}">
        <p14:creationId xmlns:p14="http://schemas.microsoft.com/office/powerpoint/2010/main" val="1452658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2000" dirty="0"/>
              <a:t>IGP Segments</a:t>
            </a:r>
          </a:p>
          <a:p>
            <a:pPr lvl="1"/>
            <a:r>
              <a:rPr lang="en-US" sz="2000" dirty="0"/>
              <a:t>Prefix Segments</a:t>
            </a:r>
          </a:p>
          <a:p>
            <a:pPr lvl="2"/>
            <a:r>
              <a:rPr lang="en-US" sz="2000" dirty="0"/>
              <a:t>Node segments</a:t>
            </a:r>
          </a:p>
          <a:p>
            <a:pPr lvl="2"/>
            <a:r>
              <a:rPr lang="en-US" sz="2000" dirty="0" err="1"/>
              <a:t>Anycast</a:t>
            </a:r>
            <a:r>
              <a:rPr lang="en-US" sz="2000" dirty="0"/>
              <a:t> Segments</a:t>
            </a:r>
          </a:p>
          <a:p>
            <a:pPr lvl="1"/>
            <a:r>
              <a:rPr lang="en-US" sz="2000" dirty="0"/>
              <a:t>Adjacency Segments</a:t>
            </a:r>
          </a:p>
          <a:p>
            <a:endParaRPr lang="en-US" sz="2000" dirty="0"/>
          </a:p>
          <a:p>
            <a:r>
              <a:rPr lang="en-US" sz="2000" dirty="0"/>
              <a:t>BGP Segments</a:t>
            </a:r>
          </a:p>
          <a:p>
            <a:pPr lvl="1"/>
            <a:r>
              <a:rPr lang="en-US" sz="2000" dirty="0"/>
              <a:t>Prefix segments</a:t>
            </a:r>
          </a:p>
          <a:p>
            <a:pPr lvl="1"/>
            <a:r>
              <a:rPr lang="en-US" sz="2000" dirty="0"/>
              <a:t>Egress Peer Engineering (EPE) Segments</a:t>
            </a:r>
          </a:p>
          <a:p>
            <a:pPr lvl="2"/>
            <a:r>
              <a:rPr lang="en-US" sz="2000" dirty="0"/>
              <a:t>Peer Node Segments</a:t>
            </a:r>
          </a:p>
          <a:p>
            <a:pPr lvl="2"/>
            <a:r>
              <a:rPr lang="en-US" sz="2000" dirty="0"/>
              <a:t>Peer Adjacency Segments</a:t>
            </a:r>
          </a:p>
          <a:p>
            <a:pPr lvl="2"/>
            <a:r>
              <a:rPr lang="en-US" sz="2000" dirty="0"/>
              <a:t>Peer Set Segments</a:t>
            </a:r>
          </a:p>
        </p:txBody>
      </p:sp>
      <p:sp>
        <p:nvSpPr>
          <p:cNvPr id="3" name="Text Placeholder 2"/>
          <p:cNvSpPr>
            <a:spLocks noGrp="1"/>
          </p:cNvSpPr>
          <p:nvPr>
            <p:ph type="body" sz="quarter" idx="11"/>
          </p:nvPr>
        </p:nvSpPr>
        <p:spPr/>
        <p:txBody>
          <a:bodyPr/>
          <a:lstStyle/>
          <a:p>
            <a:r>
              <a:rPr lang="en-US" dirty="0"/>
              <a:t>Types of Segments</a:t>
            </a:r>
          </a:p>
        </p:txBody>
      </p:sp>
    </p:spTree>
    <p:extLst>
      <p:ext uri="{BB962C8B-B14F-4D97-AF65-F5344CB8AC3E}">
        <p14:creationId xmlns:p14="http://schemas.microsoft.com/office/powerpoint/2010/main" val="21716858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Global Segment</a:t>
            </a:r>
          </a:p>
          <a:p>
            <a:pPr lvl="1"/>
            <a:r>
              <a:rPr lang="en-US" dirty="0"/>
              <a:t>Any node in SR domain understands associated instruction</a:t>
            </a:r>
          </a:p>
          <a:p>
            <a:pPr lvl="1"/>
            <a:r>
              <a:rPr lang="en-US" dirty="0"/>
              <a:t>Each node in SR domain installs the associated instruction in its forwarding table</a:t>
            </a:r>
          </a:p>
          <a:p>
            <a:pPr lvl="1"/>
            <a:r>
              <a:rPr lang="en-US" dirty="0"/>
              <a:t>MPLS: global label value in </a:t>
            </a:r>
            <a:r>
              <a:rPr lang="en-US" b="1" dirty="0"/>
              <a:t>Segment Routing Global Block </a:t>
            </a:r>
            <a:r>
              <a:rPr lang="en-US" dirty="0"/>
              <a:t>(</a:t>
            </a:r>
            <a:r>
              <a:rPr lang="en-US" b="1" dirty="0"/>
              <a:t>SRGB</a:t>
            </a:r>
            <a:r>
              <a:rPr lang="en-US" dirty="0"/>
              <a:t>)</a:t>
            </a:r>
          </a:p>
          <a:p>
            <a:r>
              <a:rPr lang="en-US" dirty="0"/>
              <a:t>Local Segment </a:t>
            </a:r>
          </a:p>
          <a:p>
            <a:pPr lvl="1"/>
            <a:r>
              <a:rPr lang="en-US" dirty="0"/>
              <a:t>Only originating node understands associated instruction</a:t>
            </a:r>
          </a:p>
          <a:p>
            <a:pPr lvl="1"/>
            <a:r>
              <a:rPr lang="en-US" dirty="0"/>
              <a:t>MPLS: locally allocated label</a:t>
            </a:r>
          </a:p>
          <a:p>
            <a:endParaRPr lang="en-US" dirty="0"/>
          </a:p>
        </p:txBody>
      </p:sp>
      <p:sp>
        <p:nvSpPr>
          <p:cNvPr id="3" name="Text Placeholder 2"/>
          <p:cNvSpPr>
            <a:spLocks noGrp="1"/>
          </p:cNvSpPr>
          <p:nvPr>
            <p:ph type="body" sz="quarter" idx="11"/>
          </p:nvPr>
        </p:nvSpPr>
        <p:spPr/>
        <p:txBody>
          <a:bodyPr/>
          <a:lstStyle/>
          <a:p>
            <a:r>
              <a:rPr lang="en-US" dirty="0"/>
              <a:t>Global and Local Segment</a:t>
            </a:r>
          </a:p>
        </p:txBody>
      </p:sp>
    </p:spTree>
    <p:extLst>
      <p:ext uri="{BB962C8B-B14F-4D97-AF65-F5344CB8AC3E}">
        <p14:creationId xmlns:p14="http://schemas.microsoft.com/office/powerpoint/2010/main" val="7012372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Global Segments always distributed as a label range (SRGB)+Index</a:t>
            </a:r>
          </a:p>
          <a:p>
            <a:pPr lvl="1"/>
            <a:r>
              <a:rPr lang="en-US" dirty="0"/>
              <a:t>Index must be unique in Segment Routing Domain</a:t>
            </a:r>
          </a:p>
          <a:p>
            <a:r>
              <a:rPr lang="en-US" dirty="0"/>
              <a:t>Best practice: </a:t>
            </a:r>
            <a:r>
              <a:rPr lang="en-US" b="1" dirty="0">
                <a:solidFill>
                  <a:schemeClr val="tx2"/>
                </a:solidFill>
              </a:rPr>
              <a:t>same SRGB on all nodes</a:t>
            </a:r>
          </a:p>
          <a:p>
            <a:pPr lvl="1"/>
            <a:r>
              <a:rPr lang="en-US" dirty="0"/>
              <a:t>“Global model”, requested by all operators</a:t>
            </a:r>
          </a:p>
          <a:p>
            <a:pPr lvl="1"/>
            <a:r>
              <a:rPr lang="en-US" dirty="0"/>
              <a:t>Global Segments are global label values, simplifying network operations</a:t>
            </a:r>
          </a:p>
          <a:p>
            <a:r>
              <a:rPr lang="en-US" dirty="0"/>
              <a:t>Default SRGB: 16,000 – 23,999</a:t>
            </a:r>
          </a:p>
          <a:p>
            <a:pPr lvl="1"/>
            <a:r>
              <a:rPr lang="en-US" dirty="0"/>
              <a:t>Other vendors also use this label range</a:t>
            </a:r>
          </a:p>
          <a:p>
            <a:endParaRPr lang="en-US" dirty="0"/>
          </a:p>
        </p:txBody>
      </p:sp>
      <p:sp>
        <p:nvSpPr>
          <p:cNvPr id="3" name="Text Placeholder 2"/>
          <p:cNvSpPr>
            <a:spLocks noGrp="1"/>
          </p:cNvSpPr>
          <p:nvPr>
            <p:ph type="body" sz="quarter" idx="11"/>
          </p:nvPr>
        </p:nvSpPr>
        <p:spPr/>
        <p:txBody>
          <a:bodyPr/>
          <a:lstStyle/>
          <a:p>
            <a:r>
              <a:rPr lang="en-US" dirty="0"/>
              <a:t>Global Segments - Global Label Indexes</a:t>
            </a:r>
          </a:p>
        </p:txBody>
      </p:sp>
    </p:spTree>
    <p:extLst>
      <p:ext uri="{BB962C8B-B14F-4D97-AF65-F5344CB8AC3E}">
        <p14:creationId xmlns:p14="http://schemas.microsoft.com/office/powerpoint/2010/main" val="10512449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Two basic building blocks distributed by IGP</a:t>
            </a:r>
          </a:p>
          <a:p>
            <a:pPr lvl="1"/>
            <a:r>
              <a:rPr lang="en-US" dirty="0"/>
              <a:t>Prefix Segments</a:t>
            </a:r>
          </a:p>
          <a:p>
            <a:pPr lvl="1"/>
            <a:r>
              <a:rPr lang="en-US" dirty="0"/>
              <a:t>Adjacency Segments</a:t>
            </a:r>
          </a:p>
          <a:p>
            <a:endParaRPr lang="en-US" dirty="0"/>
          </a:p>
        </p:txBody>
      </p:sp>
      <p:sp>
        <p:nvSpPr>
          <p:cNvPr id="3" name="Text Placeholder 2"/>
          <p:cNvSpPr>
            <a:spLocks noGrp="1"/>
          </p:cNvSpPr>
          <p:nvPr>
            <p:ph type="body" sz="quarter" idx="11"/>
          </p:nvPr>
        </p:nvSpPr>
        <p:spPr/>
        <p:txBody>
          <a:bodyPr/>
          <a:lstStyle/>
          <a:p>
            <a:r>
              <a:rPr lang="en-US" dirty="0"/>
              <a:t>IGP Segments</a:t>
            </a:r>
          </a:p>
        </p:txBody>
      </p:sp>
    </p:spTree>
    <p:extLst>
      <p:ext uri="{BB962C8B-B14F-4D97-AF65-F5344CB8AC3E}">
        <p14:creationId xmlns:p14="http://schemas.microsoft.com/office/powerpoint/2010/main" val="42795065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Shortest-path to the IGP prefix</a:t>
            </a:r>
          </a:p>
          <a:p>
            <a:r>
              <a:rPr lang="en-US" dirty="0"/>
              <a:t>Equal Cost </a:t>
            </a:r>
            <a:r>
              <a:rPr lang="en-US" dirty="0" err="1"/>
              <a:t>MultiPath</a:t>
            </a:r>
            <a:r>
              <a:rPr lang="en-US" dirty="0"/>
              <a:t> (ECMP)-aware</a:t>
            </a:r>
          </a:p>
          <a:p>
            <a:r>
              <a:rPr lang="en-US" dirty="0"/>
              <a:t>Global Segment</a:t>
            </a:r>
          </a:p>
          <a:p>
            <a:r>
              <a:rPr lang="en-US" dirty="0"/>
              <a:t>Label = 16000 + Index</a:t>
            </a:r>
          </a:p>
          <a:p>
            <a:r>
              <a:rPr lang="en-US" dirty="0"/>
              <a:t>Advertised as index</a:t>
            </a:r>
          </a:p>
          <a:p>
            <a:r>
              <a:rPr lang="en-US" dirty="0"/>
              <a:t>Distributed by ISIS/OSPF</a:t>
            </a:r>
          </a:p>
          <a:p>
            <a:endParaRPr lang="en-US" dirty="0"/>
          </a:p>
        </p:txBody>
      </p:sp>
      <p:sp>
        <p:nvSpPr>
          <p:cNvPr id="3" name="Text Placeholder 2"/>
          <p:cNvSpPr>
            <a:spLocks noGrp="1"/>
          </p:cNvSpPr>
          <p:nvPr>
            <p:ph type="body" sz="quarter" idx="11"/>
          </p:nvPr>
        </p:nvSpPr>
        <p:spPr/>
        <p:txBody>
          <a:bodyPr/>
          <a:lstStyle/>
          <a:p>
            <a:r>
              <a:rPr lang="en-US" dirty="0"/>
              <a:t>IGP Prefix Segment – SR-MPLS</a:t>
            </a:r>
          </a:p>
        </p:txBody>
      </p:sp>
      <p:grpSp>
        <p:nvGrpSpPr>
          <p:cNvPr id="26" name="Group 25"/>
          <p:cNvGrpSpPr/>
          <p:nvPr/>
        </p:nvGrpSpPr>
        <p:grpSpPr>
          <a:xfrm>
            <a:off x="7171535" y="4052319"/>
            <a:ext cx="3685061" cy="2396009"/>
            <a:chOff x="7171535" y="4052319"/>
            <a:chExt cx="3685061" cy="2396009"/>
          </a:xfrm>
        </p:grpSpPr>
        <p:sp>
          <p:nvSpPr>
            <p:cNvPr id="4" name="TextBox 3"/>
            <p:cNvSpPr txBox="1"/>
            <p:nvPr/>
          </p:nvSpPr>
          <p:spPr>
            <a:xfrm>
              <a:off x="7186260" y="4181564"/>
              <a:ext cx="576064" cy="523220"/>
            </a:xfrm>
            <a:prstGeom prst="rect">
              <a:avLst/>
            </a:prstGeom>
            <a:solidFill>
              <a:schemeClr val="bg1"/>
            </a:solidFill>
            <a:ln w="19050" cap="rnd">
              <a:solidFill>
                <a:schemeClr val="tx2"/>
              </a:solidFill>
              <a:round/>
            </a:ln>
          </p:spPr>
          <p:txBody>
            <a:bodyPr wrap="square" rtlCol="0">
              <a:spAutoFit/>
            </a:bodyPr>
            <a:lstStyle/>
            <a:p>
              <a:pPr algn="ctr"/>
              <a:r>
                <a:rPr lang="en-US" sz="2800" b="1" dirty="0">
                  <a:latin typeface="Consolas" panose="020B0609020204030204" pitchFamily="49" charset="0"/>
                  <a:cs typeface="Consolas" panose="020B0609020204030204" pitchFamily="49" charset="0"/>
                </a:rPr>
                <a:t>1</a:t>
              </a:r>
              <a:endParaRPr lang="sk-SK" sz="2800" b="1" dirty="0">
                <a:latin typeface="Consolas" panose="020B0609020204030204" pitchFamily="49" charset="0"/>
                <a:cs typeface="Consolas" panose="020B0609020204030204" pitchFamily="49" charset="0"/>
              </a:endParaRPr>
            </a:p>
          </p:txBody>
        </p:sp>
        <p:sp>
          <p:nvSpPr>
            <p:cNvPr id="5" name="TextBox 4"/>
            <p:cNvSpPr txBox="1"/>
            <p:nvPr/>
          </p:nvSpPr>
          <p:spPr>
            <a:xfrm>
              <a:off x="8550270" y="4181564"/>
              <a:ext cx="576064" cy="523220"/>
            </a:xfrm>
            <a:prstGeom prst="rect">
              <a:avLst/>
            </a:prstGeom>
            <a:solidFill>
              <a:schemeClr val="bg1"/>
            </a:solidFill>
            <a:ln w="19050" cap="rnd">
              <a:solidFill>
                <a:schemeClr val="tx2"/>
              </a:solidFill>
              <a:round/>
            </a:ln>
          </p:spPr>
          <p:txBody>
            <a:bodyPr wrap="square" rtlCol="0">
              <a:spAutoFit/>
            </a:bodyPr>
            <a:lstStyle/>
            <a:p>
              <a:pPr algn="ctr"/>
              <a:r>
                <a:rPr lang="en-US" sz="2800" b="1" dirty="0">
                  <a:latin typeface="Consolas" panose="020B0609020204030204" pitchFamily="49" charset="0"/>
                  <a:cs typeface="Consolas" panose="020B0609020204030204" pitchFamily="49" charset="0"/>
                </a:rPr>
                <a:t>2</a:t>
              </a:r>
              <a:endParaRPr lang="sk-SK" sz="2800" b="1" dirty="0">
                <a:latin typeface="Consolas" panose="020B0609020204030204" pitchFamily="49" charset="0"/>
                <a:cs typeface="Consolas" panose="020B0609020204030204" pitchFamily="49" charset="0"/>
              </a:endParaRPr>
            </a:p>
          </p:txBody>
        </p:sp>
        <p:sp>
          <p:nvSpPr>
            <p:cNvPr id="6" name="TextBox 5"/>
            <p:cNvSpPr txBox="1"/>
            <p:nvPr/>
          </p:nvSpPr>
          <p:spPr>
            <a:xfrm>
              <a:off x="9706540" y="4790096"/>
              <a:ext cx="576064" cy="523220"/>
            </a:xfrm>
            <a:prstGeom prst="rect">
              <a:avLst/>
            </a:prstGeom>
            <a:solidFill>
              <a:schemeClr val="bg1"/>
            </a:solidFill>
            <a:ln w="19050" cap="rnd">
              <a:solidFill>
                <a:schemeClr val="tx2"/>
              </a:solidFill>
              <a:round/>
            </a:ln>
          </p:spPr>
          <p:txBody>
            <a:bodyPr wrap="square" rtlCol="0">
              <a:spAutoFit/>
            </a:bodyPr>
            <a:lstStyle/>
            <a:p>
              <a:pPr algn="ctr"/>
              <a:r>
                <a:rPr lang="en-US" sz="2800" b="1" dirty="0">
                  <a:latin typeface="Consolas" panose="020B0609020204030204" pitchFamily="49" charset="0"/>
                  <a:cs typeface="Consolas" panose="020B0609020204030204" pitchFamily="49" charset="0"/>
                </a:rPr>
                <a:t>5</a:t>
              </a:r>
              <a:endParaRPr lang="sk-SK" sz="2800" b="1" dirty="0">
                <a:latin typeface="Consolas" panose="020B0609020204030204" pitchFamily="49" charset="0"/>
                <a:cs typeface="Consolas" panose="020B0609020204030204" pitchFamily="49" charset="0"/>
              </a:endParaRPr>
            </a:p>
          </p:txBody>
        </p:sp>
        <p:cxnSp>
          <p:nvCxnSpPr>
            <p:cNvPr id="7" name="Straight Connector 6"/>
            <p:cNvCxnSpPr>
              <a:stCxn id="4" idx="3"/>
              <a:endCxn id="5" idx="1"/>
            </p:cNvCxnSpPr>
            <p:nvPr/>
          </p:nvCxnSpPr>
          <p:spPr>
            <a:xfrm>
              <a:off x="7762324" y="4443174"/>
              <a:ext cx="78794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5" idx="3"/>
              <a:endCxn id="6" idx="1"/>
            </p:cNvCxnSpPr>
            <p:nvPr/>
          </p:nvCxnSpPr>
          <p:spPr>
            <a:xfrm>
              <a:off x="9126334" y="4443174"/>
              <a:ext cx="580206" cy="608532"/>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9776476" y="4052319"/>
              <a:ext cx="1080120" cy="307777"/>
            </a:xfrm>
            <a:prstGeom prst="rect">
              <a:avLst/>
            </a:prstGeom>
            <a:noFill/>
            <a:ln>
              <a:noFill/>
            </a:ln>
          </p:spPr>
          <p:txBody>
            <a:bodyPr wrap="square" rtlCol="0">
              <a:spAutoFit/>
            </a:bodyPr>
            <a:lstStyle/>
            <a:p>
              <a:pPr algn="ctr"/>
              <a:r>
                <a:rPr lang="en-US" sz="1400" dirty="0">
                  <a:latin typeface="Calibri" panose="020F0502020204030204" pitchFamily="34" charset="0"/>
                  <a:cs typeface="Consolas" panose="020B0609020204030204" pitchFamily="49" charset="0"/>
                </a:rPr>
                <a:t>1.1.1.5/32</a:t>
              </a:r>
              <a:endParaRPr lang="sk-SK" sz="1400" dirty="0">
                <a:latin typeface="Calibri" panose="020F0502020204030204" pitchFamily="34" charset="0"/>
                <a:cs typeface="Consolas" panose="020B0609020204030204" pitchFamily="49" charset="0"/>
              </a:endParaRPr>
            </a:p>
          </p:txBody>
        </p:sp>
        <p:sp>
          <p:nvSpPr>
            <p:cNvPr id="10" name="TextBox 9"/>
            <p:cNvSpPr txBox="1"/>
            <p:nvPr/>
          </p:nvSpPr>
          <p:spPr>
            <a:xfrm>
              <a:off x="7186260" y="5385788"/>
              <a:ext cx="576064" cy="523220"/>
            </a:xfrm>
            <a:prstGeom prst="rect">
              <a:avLst/>
            </a:prstGeom>
            <a:solidFill>
              <a:schemeClr val="bg1"/>
            </a:solidFill>
            <a:ln w="19050" cap="rnd">
              <a:solidFill>
                <a:schemeClr val="tx2"/>
              </a:solidFill>
              <a:round/>
            </a:ln>
          </p:spPr>
          <p:txBody>
            <a:bodyPr wrap="square" rtlCol="0">
              <a:spAutoFit/>
            </a:bodyPr>
            <a:lstStyle/>
            <a:p>
              <a:pPr algn="ctr"/>
              <a:r>
                <a:rPr lang="en-US" sz="2800" b="1" dirty="0">
                  <a:latin typeface="Consolas" panose="020B0609020204030204" pitchFamily="49" charset="0"/>
                  <a:cs typeface="Consolas" panose="020B0609020204030204" pitchFamily="49" charset="0"/>
                </a:rPr>
                <a:t>3</a:t>
              </a:r>
              <a:endParaRPr lang="sk-SK" sz="2800" b="1" dirty="0">
                <a:latin typeface="Consolas" panose="020B0609020204030204" pitchFamily="49" charset="0"/>
                <a:cs typeface="Consolas" panose="020B0609020204030204" pitchFamily="49" charset="0"/>
              </a:endParaRPr>
            </a:p>
          </p:txBody>
        </p:sp>
        <p:sp>
          <p:nvSpPr>
            <p:cNvPr id="11" name="TextBox 10"/>
            <p:cNvSpPr txBox="1"/>
            <p:nvPr/>
          </p:nvSpPr>
          <p:spPr>
            <a:xfrm>
              <a:off x="8550270" y="5385788"/>
              <a:ext cx="576064" cy="523220"/>
            </a:xfrm>
            <a:prstGeom prst="rect">
              <a:avLst/>
            </a:prstGeom>
            <a:solidFill>
              <a:schemeClr val="bg1"/>
            </a:solidFill>
            <a:ln w="19050" cap="rnd">
              <a:solidFill>
                <a:schemeClr val="tx2"/>
              </a:solidFill>
              <a:round/>
            </a:ln>
          </p:spPr>
          <p:txBody>
            <a:bodyPr wrap="square" rtlCol="0">
              <a:spAutoFit/>
            </a:bodyPr>
            <a:lstStyle/>
            <a:p>
              <a:pPr algn="ctr"/>
              <a:r>
                <a:rPr lang="en-US" sz="2800" b="1" dirty="0">
                  <a:latin typeface="Consolas" panose="020B0609020204030204" pitchFamily="49" charset="0"/>
                  <a:cs typeface="Consolas" panose="020B0609020204030204" pitchFamily="49" charset="0"/>
                </a:rPr>
                <a:t>4</a:t>
              </a:r>
              <a:endParaRPr lang="sk-SK" sz="2800" b="1" dirty="0">
                <a:latin typeface="Consolas" panose="020B0609020204030204" pitchFamily="49" charset="0"/>
                <a:cs typeface="Consolas" panose="020B0609020204030204" pitchFamily="49" charset="0"/>
              </a:endParaRPr>
            </a:p>
          </p:txBody>
        </p:sp>
        <p:cxnSp>
          <p:nvCxnSpPr>
            <p:cNvPr id="12" name="Straight Connector 11"/>
            <p:cNvCxnSpPr>
              <a:stCxn id="10" idx="3"/>
              <a:endCxn id="11" idx="1"/>
            </p:cNvCxnSpPr>
            <p:nvPr/>
          </p:nvCxnSpPr>
          <p:spPr>
            <a:xfrm>
              <a:off x="7762324" y="5647398"/>
              <a:ext cx="78794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11" idx="3"/>
              <a:endCxn id="6" idx="1"/>
            </p:cNvCxnSpPr>
            <p:nvPr/>
          </p:nvCxnSpPr>
          <p:spPr>
            <a:xfrm flipV="1">
              <a:off x="9126334" y="5051706"/>
              <a:ext cx="580206" cy="5956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4" idx="2"/>
              <a:endCxn id="10" idx="0"/>
            </p:cNvCxnSpPr>
            <p:nvPr/>
          </p:nvCxnSpPr>
          <p:spPr>
            <a:xfrm>
              <a:off x="7474292" y="4704784"/>
              <a:ext cx="0" cy="68100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5" idx="2"/>
            </p:cNvCxnSpPr>
            <p:nvPr/>
          </p:nvCxnSpPr>
          <p:spPr>
            <a:xfrm>
              <a:off x="8838302" y="4704784"/>
              <a:ext cx="0" cy="661840"/>
            </a:xfrm>
            <a:prstGeom prst="line">
              <a:avLst/>
            </a:prstGeom>
          </p:spPr>
          <p:style>
            <a:lnRef idx="1">
              <a:schemeClr val="accent1"/>
            </a:lnRef>
            <a:fillRef idx="0">
              <a:schemeClr val="accent1"/>
            </a:fillRef>
            <a:effectRef idx="0">
              <a:schemeClr val="accent1"/>
            </a:effectRef>
            <a:fontRef idx="minor">
              <a:schemeClr val="tx1"/>
            </a:fontRef>
          </p:style>
        </p:cxnSp>
        <p:sp>
          <p:nvSpPr>
            <p:cNvPr id="16" name="Rounded Rectangular Callout 15"/>
            <p:cNvSpPr/>
            <p:nvPr/>
          </p:nvSpPr>
          <p:spPr>
            <a:xfrm>
              <a:off x="9831689" y="4360096"/>
              <a:ext cx="889165" cy="305896"/>
            </a:xfrm>
            <a:prstGeom prst="wedgeRoundRectCallout">
              <a:avLst>
                <a:gd name="adj1" fmla="val -20833"/>
                <a:gd name="adj2" fmla="val 82024"/>
                <a:gd name="adj3" fmla="val 16667"/>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16005</a:t>
              </a:r>
              <a:endParaRPr lang="sk-SK" sz="1400" dirty="0">
                <a:solidFill>
                  <a:schemeClr val="tx1"/>
                </a:solidFill>
              </a:endParaRPr>
            </a:p>
          </p:txBody>
        </p:sp>
        <p:sp>
          <p:nvSpPr>
            <p:cNvPr id="17" name="TextBox 16"/>
            <p:cNvSpPr txBox="1"/>
            <p:nvPr/>
          </p:nvSpPr>
          <p:spPr>
            <a:xfrm>
              <a:off x="7171535" y="6140551"/>
              <a:ext cx="3322712" cy="307777"/>
            </a:xfrm>
            <a:prstGeom prst="rect">
              <a:avLst/>
            </a:prstGeom>
            <a:noFill/>
            <a:ln>
              <a:noFill/>
            </a:ln>
          </p:spPr>
          <p:txBody>
            <a:bodyPr wrap="square" rtlCol="0">
              <a:spAutoFit/>
            </a:bodyPr>
            <a:lstStyle/>
            <a:p>
              <a:pPr algn="ctr"/>
              <a:r>
                <a:rPr lang="en-US" sz="1400" dirty="0">
                  <a:latin typeface="Calibri" panose="020F0502020204030204" pitchFamily="34" charset="0"/>
                  <a:cs typeface="Consolas" panose="020B0609020204030204" pitchFamily="49" charset="0"/>
                </a:rPr>
                <a:t>All nodes use default SRGB 16.000-23.999</a:t>
              </a:r>
              <a:endParaRPr lang="sk-SK" sz="1400" dirty="0">
                <a:latin typeface="Calibri" panose="020F0502020204030204" pitchFamily="34" charset="0"/>
                <a:cs typeface="Consolas" panose="020B0609020204030204" pitchFamily="49" charset="0"/>
              </a:endParaRPr>
            </a:p>
          </p:txBody>
        </p:sp>
        <p:cxnSp>
          <p:nvCxnSpPr>
            <p:cNvPr id="18" name="Straight Arrow Connector 17"/>
            <p:cNvCxnSpPr/>
            <p:nvPr/>
          </p:nvCxnSpPr>
          <p:spPr>
            <a:xfrm>
              <a:off x="7819607" y="4576120"/>
              <a:ext cx="64807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819606" y="4578168"/>
              <a:ext cx="648073" cy="307777"/>
            </a:xfrm>
            <a:prstGeom prst="rect">
              <a:avLst/>
            </a:prstGeom>
            <a:noFill/>
            <a:ln>
              <a:noFill/>
            </a:ln>
          </p:spPr>
          <p:txBody>
            <a:bodyPr wrap="square" rtlCol="0">
              <a:spAutoFit/>
            </a:bodyPr>
            <a:lstStyle/>
            <a:p>
              <a:pPr algn="ctr"/>
              <a:r>
                <a:rPr lang="en-US" sz="1400" dirty="0">
                  <a:latin typeface="Calibri" panose="020F0502020204030204" pitchFamily="34" charset="0"/>
                  <a:cs typeface="Consolas" panose="020B0609020204030204" pitchFamily="49" charset="0"/>
                </a:rPr>
                <a:t>16005</a:t>
              </a:r>
              <a:endParaRPr lang="sk-SK" sz="1400" dirty="0">
                <a:latin typeface="Calibri" panose="020F0502020204030204" pitchFamily="34" charset="0"/>
                <a:cs typeface="Consolas" panose="020B0609020204030204" pitchFamily="49" charset="0"/>
              </a:endParaRPr>
            </a:p>
          </p:txBody>
        </p:sp>
        <p:cxnSp>
          <p:nvCxnSpPr>
            <p:cNvPr id="20" name="Straight Arrow Connector 19"/>
            <p:cNvCxnSpPr/>
            <p:nvPr/>
          </p:nvCxnSpPr>
          <p:spPr>
            <a:xfrm>
              <a:off x="7819607" y="5758718"/>
              <a:ext cx="64807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7819606" y="5780511"/>
              <a:ext cx="648073" cy="307777"/>
            </a:xfrm>
            <a:prstGeom prst="rect">
              <a:avLst/>
            </a:prstGeom>
            <a:noFill/>
            <a:ln>
              <a:noFill/>
            </a:ln>
          </p:spPr>
          <p:txBody>
            <a:bodyPr wrap="square" rtlCol="0">
              <a:spAutoFit/>
            </a:bodyPr>
            <a:lstStyle/>
            <a:p>
              <a:pPr algn="ctr"/>
              <a:r>
                <a:rPr lang="en-US" sz="1400" dirty="0">
                  <a:latin typeface="Calibri" panose="020F0502020204030204" pitchFamily="34" charset="0"/>
                  <a:cs typeface="Consolas" panose="020B0609020204030204" pitchFamily="49" charset="0"/>
                </a:rPr>
                <a:t>16005</a:t>
              </a:r>
              <a:endParaRPr lang="sk-SK" sz="1400" dirty="0">
                <a:latin typeface="Calibri" panose="020F0502020204030204" pitchFamily="34" charset="0"/>
                <a:cs typeface="Consolas" panose="020B0609020204030204" pitchFamily="49" charset="0"/>
              </a:endParaRPr>
            </a:p>
          </p:txBody>
        </p:sp>
        <p:cxnSp>
          <p:nvCxnSpPr>
            <p:cNvPr id="22" name="Straight Arrow Connector 21"/>
            <p:cNvCxnSpPr/>
            <p:nvPr/>
          </p:nvCxnSpPr>
          <p:spPr>
            <a:xfrm>
              <a:off x="9190923" y="4683418"/>
              <a:ext cx="324036" cy="30982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9259767" y="5342367"/>
              <a:ext cx="306034" cy="31387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rot="2618689">
              <a:off x="8883067" y="4772828"/>
              <a:ext cx="648073" cy="307777"/>
            </a:xfrm>
            <a:prstGeom prst="rect">
              <a:avLst/>
            </a:prstGeom>
            <a:noFill/>
            <a:ln>
              <a:noFill/>
            </a:ln>
          </p:spPr>
          <p:txBody>
            <a:bodyPr wrap="square" rtlCol="0">
              <a:spAutoFit/>
            </a:bodyPr>
            <a:lstStyle/>
            <a:p>
              <a:pPr algn="ctr"/>
              <a:r>
                <a:rPr lang="en-US" sz="1400" dirty="0">
                  <a:latin typeface="Calibri" panose="020F0502020204030204" pitchFamily="34" charset="0"/>
                  <a:cs typeface="Consolas" panose="020B0609020204030204" pitchFamily="49" charset="0"/>
                </a:rPr>
                <a:t>16005</a:t>
              </a:r>
              <a:endParaRPr lang="sk-SK" sz="1400" dirty="0">
                <a:latin typeface="Calibri" panose="020F0502020204030204" pitchFamily="34" charset="0"/>
                <a:cs typeface="Consolas" panose="020B0609020204030204" pitchFamily="49" charset="0"/>
              </a:endParaRPr>
            </a:p>
          </p:txBody>
        </p:sp>
        <p:sp>
          <p:nvSpPr>
            <p:cNvPr id="25" name="TextBox 24"/>
            <p:cNvSpPr txBox="1"/>
            <p:nvPr/>
          </p:nvSpPr>
          <p:spPr>
            <a:xfrm rot="18739165">
              <a:off x="9179847" y="5485513"/>
              <a:ext cx="648073" cy="307777"/>
            </a:xfrm>
            <a:prstGeom prst="rect">
              <a:avLst/>
            </a:prstGeom>
            <a:noFill/>
            <a:ln>
              <a:noFill/>
            </a:ln>
          </p:spPr>
          <p:txBody>
            <a:bodyPr wrap="square" rtlCol="0">
              <a:spAutoFit/>
            </a:bodyPr>
            <a:lstStyle/>
            <a:p>
              <a:pPr algn="ctr"/>
              <a:r>
                <a:rPr lang="en-US" sz="1400" dirty="0">
                  <a:latin typeface="Calibri" panose="020F0502020204030204" pitchFamily="34" charset="0"/>
                  <a:cs typeface="Consolas" panose="020B0609020204030204" pitchFamily="49" charset="0"/>
                </a:rPr>
                <a:t>16005</a:t>
              </a:r>
              <a:endParaRPr lang="sk-SK" sz="1400" dirty="0">
                <a:latin typeface="Calibri" panose="020F0502020204030204" pitchFamily="34" charset="0"/>
                <a:cs typeface="Consolas" panose="020B0609020204030204" pitchFamily="49" charset="0"/>
              </a:endParaRPr>
            </a:p>
          </p:txBody>
        </p:sp>
      </p:grpSp>
    </p:spTree>
    <p:extLst>
      <p:ext uri="{BB962C8B-B14F-4D97-AF65-F5344CB8AC3E}">
        <p14:creationId xmlns:p14="http://schemas.microsoft.com/office/powerpoint/2010/main" val="1796972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Shortest-path to the IGP prefix</a:t>
            </a:r>
          </a:p>
          <a:p>
            <a:r>
              <a:rPr lang="en-US" dirty="0"/>
              <a:t>Equal Cost </a:t>
            </a:r>
            <a:r>
              <a:rPr lang="en-US" dirty="0" err="1"/>
              <a:t>MultiPath</a:t>
            </a:r>
            <a:r>
              <a:rPr lang="en-US" dirty="0"/>
              <a:t> (ECMP)-aware</a:t>
            </a:r>
          </a:p>
          <a:p>
            <a:r>
              <a:rPr lang="en-US" dirty="0"/>
              <a:t>Global Segment</a:t>
            </a:r>
          </a:p>
          <a:p>
            <a:r>
              <a:rPr lang="en-US" dirty="0"/>
              <a:t>Label = 16000 + Index</a:t>
            </a:r>
          </a:p>
          <a:p>
            <a:r>
              <a:rPr lang="en-US" dirty="0"/>
              <a:t>Advertised as index</a:t>
            </a:r>
          </a:p>
          <a:p>
            <a:r>
              <a:rPr lang="en-US" dirty="0"/>
              <a:t>Distributed by ISIS/OSPF</a:t>
            </a:r>
          </a:p>
          <a:p>
            <a:endParaRPr lang="en-US" dirty="0"/>
          </a:p>
        </p:txBody>
      </p:sp>
      <p:sp>
        <p:nvSpPr>
          <p:cNvPr id="3" name="Text Placeholder 2"/>
          <p:cNvSpPr>
            <a:spLocks noGrp="1"/>
          </p:cNvSpPr>
          <p:nvPr>
            <p:ph type="body" sz="quarter" idx="11"/>
          </p:nvPr>
        </p:nvSpPr>
        <p:spPr/>
        <p:txBody>
          <a:bodyPr/>
          <a:lstStyle/>
          <a:p>
            <a:r>
              <a:rPr lang="en-US" dirty="0"/>
              <a:t>IGP Prefix Segment – SR-MPLS</a:t>
            </a:r>
          </a:p>
        </p:txBody>
      </p:sp>
      <p:grpSp>
        <p:nvGrpSpPr>
          <p:cNvPr id="51" name="Group 50"/>
          <p:cNvGrpSpPr/>
          <p:nvPr/>
        </p:nvGrpSpPr>
        <p:grpSpPr>
          <a:xfrm>
            <a:off x="7118347" y="4192715"/>
            <a:ext cx="3586418" cy="2482788"/>
            <a:chOff x="7731663" y="4192715"/>
            <a:chExt cx="3586418" cy="2482788"/>
          </a:xfrm>
        </p:grpSpPr>
        <p:sp>
          <p:nvSpPr>
            <p:cNvPr id="27" name="TextBox 26"/>
            <p:cNvSpPr txBox="1"/>
            <p:nvPr/>
          </p:nvSpPr>
          <p:spPr>
            <a:xfrm>
              <a:off x="7746388" y="4192715"/>
              <a:ext cx="576064" cy="523220"/>
            </a:xfrm>
            <a:prstGeom prst="rect">
              <a:avLst/>
            </a:prstGeom>
            <a:solidFill>
              <a:schemeClr val="bg1"/>
            </a:solidFill>
            <a:ln w="19050" cap="rnd">
              <a:solidFill>
                <a:schemeClr val="tx2"/>
              </a:solidFill>
              <a:round/>
            </a:ln>
          </p:spPr>
          <p:txBody>
            <a:bodyPr wrap="square" rtlCol="0">
              <a:spAutoFit/>
            </a:bodyPr>
            <a:lstStyle/>
            <a:p>
              <a:pPr algn="ctr"/>
              <a:r>
                <a:rPr lang="en-US" sz="2800" b="1" dirty="0">
                  <a:latin typeface="Consolas" panose="020B0609020204030204" pitchFamily="49" charset="0"/>
                  <a:cs typeface="Consolas" panose="020B0609020204030204" pitchFamily="49" charset="0"/>
                </a:rPr>
                <a:t>1</a:t>
              </a:r>
              <a:endParaRPr lang="sk-SK" sz="2800" b="1" dirty="0">
                <a:latin typeface="Consolas" panose="020B0609020204030204" pitchFamily="49" charset="0"/>
                <a:cs typeface="Consolas" panose="020B0609020204030204" pitchFamily="49" charset="0"/>
              </a:endParaRPr>
            </a:p>
          </p:txBody>
        </p:sp>
        <p:sp>
          <p:nvSpPr>
            <p:cNvPr id="28" name="TextBox 27"/>
            <p:cNvSpPr txBox="1"/>
            <p:nvPr/>
          </p:nvSpPr>
          <p:spPr>
            <a:xfrm>
              <a:off x="9110398" y="4192715"/>
              <a:ext cx="576064" cy="523220"/>
            </a:xfrm>
            <a:prstGeom prst="rect">
              <a:avLst/>
            </a:prstGeom>
            <a:solidFill>
              <a:schemeClr val="bg1"/>
            </a:solidFill>
            <a:ln w="19050" cap="rnd">
              <a:solidFill>
                <a:schemeClr val="tx2"/>
              </a:solidFill>
              <a:round/>
            </a:ln>
          </p:spPr>
          <p:txBody>
            <a:bodyPr wrap="square" rtlCol="0">
              <a:spAutoFit/>
            </a:bodyPr>
            <a:lstStyle/>
            <a:p>
              <a:pPr algn="ctr"/>
              <a:r>
                <a:rPr lang="en-US" sz="2800" b="1" dirty="0">
                  <a:latin typeface="Consolas" panose="020B0609020204030204" pitchFamily="49" charset="0"/>
                  <a:cs typeface="Consolas" panose="020B0609020204030204" pitchFamily="49" charset="0"/>
                </a:rPr>
                <a:t>2</a:t>
              </a:r>
              <a:endParaRPr lang="sk-SK" sz="2800" b="1" dirty="0">
                <a:latin typeface="Consolas" panose="020B0609020204030204" pitchFamily="49" charset="0"/>
                <a:cs typeface="Consolas" panose="020B0609020204030204" pitchFamily="49" charset="0"/>
              </a:endParaRPr>
            </a:p>
          </p:txBody>
        </p:sp>
        <p:sp>
          <p:nvSpPr>
            <p:cNvPr id="29" name="TextBox 28"/>
            <p:cNvSpPr txBox="1"/>
            <p:nvPr/>
          </p:nvSpPr>
          <p:spPr>
            <a:xfrm>
              <a:off x="10266668" y="4801247"/>
              <a:ext cx="576064" cy="523220"/>
            </a:xfrm>
            <a:prstGeom prst="rect">
              <a:avLst/>
            </a:prstGeom>
            <a:solidFill>
              <a:schemeClr val="bg1"/>
            </a:solidFill>
            <a:ln w="19050" cap="rnd">
              <a:solidFill>
                <a:schemeClr val="tx2"/>
              </a:solidFill>
              <a:round/>
            </a:ln>
          </p:spPr>
          <p:txBody>
            <a:bodyPr wrap="square" rtlCol="0">
              <a:spAutoFit/>
            </a:bodyPr>
            <a:lstStyle/>
            <a:p>
              <a:pPr algn="ctr"/>
              <a:r>
                <a:rPr lang="en-US" sz="2800" b="1" dirty="0">
                  <a:latin typeface="Consolas" panose="020B0609020204030204" pitchFamily="49" charset="0"/>
                  <a:cs typeface="Consolas" panose="020B0609020204030204" pitchFamily="49" charset="0"/>
                </a:rPr>
                <a:t>5</a:t>
              </a:r>
              <a:endParaRPr lang="sk-SK" sz="2800" b="1" dirty="0">
                <a:latin typeface="Consolas" panose="020B0609020204030204" pitchFamily="49" charset="0"/>
                <a:cs typeface="Consolas" panose="020B0609020204030204" pitchFamily="49" charset="0"/>
              </a:endParaRPr>
            </a:p>
          </p:txBody>
        </p:sp>
        <p:cxnSp>
          <p:nvCxnSpPr>
            <p:cNvPr id="30" name="Straight Connector 29"/>
            <p:cNvCxnSpPr>
              <a:stCxn id="27" idx="3"/>
              <a:endCxn id="28" idx="1"/>
            </p:cNvCxnSpPr>
            <p:nvPr/>
          </p:nvCxnSpPr>
          <p:spPr>
            <a:xfrm>
              <a:off x="8322452" y="4454325"/>
              <a:ext cx="78794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28" idx="3"/>
              <a:endCxn id="29" idx="1"/>
            </p:cNvCxnSpPr>
            <p:nvPr/>
          </p:nvCxnSpPr>
          <p:spPr>
            <a:xfrm>
              <a:off x="9686462" y="4454325"/>
              <a:ext cx="580206" cy="608532"/>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10237961" y="6024207"/>
              <a:ext cx="1080120" cy="307777"/>
            </a:xfrm>
            <a:prstGeom prst="rect">
              <a:avLst/>
            </a:prstGeom>
            <a:noFill/>
            <a:ln>
              <a:noFill/>
            </a:ln>
          </p:spPr>
          <p:txBody>
            <a:bodyPr wrap="square" rtlCol="0">
              <a:spAutoFit/>
            </a:bodyPr>
            <a:lstStyle/>
            <a:p>
              <a:pPr algn="ctr"/>
              <a:r>
                <a:rPr lang="en-US" sz="1400" dirty="0">
                  <a:latin typeface="Calibri" panose="020F0502020204030204" pitchFamily="34" charset="0"/>
                  <a:cs typeface="Consolas" panose="020B0609020204030204" pitchFamily="49" charset="0"/>
                </a:rPr>
                <a:t>1.1.1.4/32</a:t>
              </a:r>
              <a:endParaRPr lang="sk-SK" sz="1400" dirty="0">
                <a:latin typeface="Calibri" panose="020F0502020204030204" pitchFamily="34" charset="0"/>
                <a:cs typeface="Consolas" panose="020B0609020204030204" pitchFamily="49" charset="0"/>
              </a:endParaRPr>
            </a:p>
          </p:txBody>
        </p:sp>
        <p:sp>
          <p:nvSpPr>
            <p:cNvPr id="33" name="TextBox 32"/>
            <p:cNvSpPr txBox="1"/>
            <p:nvPr/>
          </p:nvSpPr>
          <p:spPr>
            <a:xfrm>
              <a:off x="7746388" y="5396939"/>
              <a:ext cx="576064" cy="523220"/>
            </a:xfrm>
            <a:prstGeom prst="rect">
              <a:avLst/>
            </a:prstGeom>
            <a:solidFill>
              <a:schemeClr val="bg1"/>
            </a:solidFill>
            <a:ln w="19050" cap="rnd">
              <a:solidFill>
                <a:schemeClr val="tx2"/>
              </a:solidFill>
              <a:round/>
            </a:ln>
          </p:spPr>
          <p:txBody>
            <a:bodyPr wrap="square" rtlCol="0">
              <a:spAutoFit/>
            </a:bodyPr>
            <a:lstStyle/>
            <a:p>
              <a:pPr algn="ctr"/>
              <a:r>
                <a:rPr lang="en-US" sz="2800" b="1" dirty="0">
                  <a:latin typeface="Consolas" panose="020B0609020204030204" pitchFamily="49" charset="0"/>
                  <a:cs typeface="Consolas" panose="020B0609020204030204" pitchFamily="49" charset="0"/>
                </a:rPr>
                <a:t>3</a:t>
              </a:r>
              <a:endParaRPr lang="sk-SK" sz="2800" b="1" dirty="0">
                <a:latin typeface="Consolas" panose="020B0609020204030204" pitchFamily="49" charset="0"/>
                <a:cs typeface="Consolas" panose="020B0609020204030204" pitchFamily="49" charset="0"/>
              </a:endParaRPr>
            </a:p>
          </p:txBody>
        </p:sp>
        <p:sp>
          <p:nvSpPr>
            <p:cNvPr id="34" name="TextBox 33"/>
            <p:cNvSpPr txBox="1"/>
            <p:nvPr/>
          </p:nvSpPr>
          <p:spPr>
            <a:xfrm>
              <a:off x="9110398" y="5396939"/>
              <a:ext cx="576064" cy="523220"/>
            </a:xfrm>
            <a:prstGeom prst="rect">
              <a:avLst/>
            </a:prstGeom>
            <a:solidFill>
              <a:schemeClr val="bg1"/>
            </a:solidFill>
            <a:ln w="19050" cap="rnd">
              <a:solidFill>
                <a:schemeClr val="tx2"/>
              </a:solidFill>
              <a:round/>
            </a:ln>
          </p:spPr>
          <p:txBody>
            <a:bodyPr wrap="square" rtlCol="0">
              <a:spAutoFit/>
            </a:bodyPr>
            <a:lstStyle/>
            <a:p>
              <a:pPr algn="ctr"/>
              <a:r>
                <a:rPr lang="en-US" sz="2800" b="1" dirty="0">
                  <a:latin typeface="Consolas" panose="020B0609020204030204" pitchFamily="49" charset="0"/>
                  <a:cs typeface="Consolas" panose="020B0609020204030204" pitchFamily="49" charset="0"/>
                </a:rPr>
                <a:t>4</a:t>
              </a:r>
              <a:endParaRPr lang="sk-SK" sz="2800" b="1" dirty="0">
                <a:latin typeface="Consolas" panose="020B0609020204030204" pitchFamily="49" charset="0"/>
                <a:cs typeface="Consolas" panose="020B0609020204030204" pitchFamily="49" charset="0"/>
              </a:endParaRPr>
            </a:p>
          </p:txBody>
        </p:sp>
        <p:cxnSp>
          <p:nvCxnSpPr>
            <p:cNvPr id="35" name="Straight Connector 34"/>
            <p:cNvCxnSpPr>
              <a:stCxn id="33" idx="3"/>
              <a:endCxn id="34" idx="1"/>
            </p:cNvCxnSpPr>
            <p:nvPr/>
          </p:nvCxnSpPr>
          <p:spPr>
            <a:xfrm>
              <a:off x="8322452" y="5658549"/>
              <a:ext cx="78794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34" idx="3"/>
              <a:endCxn id="29" idx="1"/>
            </p:cNvCxnSpPr>
            <p:nvPr/>
          </p:nvCxnSpPr>
          <p:spPr>
            <a:xfrm flipV="1">
              <a:off x="9686462" y="5062857"/>
              <a:ext cx="580206" cy="595692"/>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27" idx="2"/>
              <a:endCxn id="33" idx="0"/>
            </p:cNvCxnSpPr>
            <p:nvPr/>
          </p:nvCxnSpPr>
          <p:spPr>
            <a:xfrm>
              <a:off x="8034420" y="4715935"/>
              <a:ext cx="0" cy="681004"/>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28" idx="2"/>
            </p:cNvCxnSpPr>
            <p:nvPr/>
          </p:nvCxnSpPr>
          <p:spPr>
            <a:xfrm>
              <a:off x="9398430" y="4715935"/>
              <a:ext cx="0" cy="661840"/>
            </a:xfrm>
            <a:prstGeom prst="line">
              <a:avLst/>
            </a:prstGeom>
          </p:spPr>
          <p:style>
            <a:lnRef idx="1">
              <a:schemeClr val="accent1"/>
            </a:lnRef>
            <a:fillRef idx="0">
              <a:schemeClr val="accent1"/>
            </a:fillRef>
            <a:effectRef idx="0">
              <a:schemeClr val="accent1"/>
            </a:effectRef>
            <a:fontRef idx="minor">
              <a:schemeClr val="tx1"/>
            </a:fontRef>
          </p:style>
        </p:cxnSp>
        <p:sp>
          <p:nvSpPr>
            <p:cNvPr id="39" name="Rounded Rectangular Callout 38"/>
            <p:cNvSpPr/>
            <p:nvPr/>
          </p:nvSpPr>
          <p:spPr>
            <a:xfrm>
              <a:off x="9468486" y="6030148"/>
              <a:ext cx="889165" cy="305896"/>
            </a:xfrm>
            <a:prstGeom prst="wedgeRoundRectCallout">
              <a:avLst>
                <a:gd name="adj1" fmla="val -53606"/>
                <a:gd name="adj2" fmla="val -88790"/>
                <a:gd name="adj3" fmla="val 16667"/>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16004</a:t>
              </a:r>
              <a:endParaRPr lang="sk-SK" sz="1400" dirty="0">
                <a:solidFill>
                  <a:schemeClr val="tx1"/>
                </a:solidFill>
              </a:endParaRPr>
            </a:p>
          </p:txBody>
        </p:sp>
        <p:sp>
          <p:nvSpPr>
            <p:cNvPr id="40" name="TextBox 39"/>
            <p:cNvSpPr txBox="1"/>
            <p:nvPr/>
          </p:nvSpPr>
          <p:spPr>
            <a:xfrm>
              <a:off x="7731663" y="6367726"/>
              <a:ext cx="3322712" cy="307777"/>
            </a:xfrm>
            <a:prstGeom prst="rect">
              <a:avLst/>
            </a:prstGeom>
            <a:noFill/>
            <a:ln>
              <a:noFill/>
            </a:ln>
          </p:spPr>
          <p:txBody>
            <a:bodyPr wrap="square" rtlCol="0">
              <a:spAutoFit/>
            </a:bodyPr>
            <a:lstStyle/>
            <a:p>
              <a:pPr algn="ctr"/>
              <a:r>
                <a:rPr lang="en-US" sz="1400" dirty="0">
                  <a:latin typeface="Calibri" panose="020F0502020204030204" pitchFamily="34" charset="0"/>
                  <a:cs typeface="Consolas" panose="020B0609020204030204" pitchFamily="49" charset="0"/>
                </a:rPr>
                <a:t>All nodes use default SRGB 16.000-23.999</a:t>
              </a:r>
              <a:endParaRPr lang="sk-SK" sz="1400" dirty="0">
                <a:latin typeface="Calibri" panose="020F0502020204030204" pitchFamily="34" charset="0"/>
                <a:cs typeface="Consolas" panose="020B0609020204030204" pitchFamily="49" charset="0"/>
              </a:endParaRPr>
            </a:p>
          </p:txBody>
        </p:sp>
        <p:sp>
          <p:nvSpPr>
            <p:cNvPr id="41" name="TextBox 40"/>
            <p:cNvSpPr txBox="1"/>
            <p:nvPr/>
          </p:nvSpPr>
          <p:spPr>
            <a:xfrm>
              <a:off x="8379734" y="4589319"/>
              <a:ext cx="648073" cy="307777"/>
            </a:xfrm>
            <a:prstGeom prst="rect">
              <a:avLst/>
            </a:prstGeom>
            <a:noFill/>
            <a:ln>
              <a:noFill/>
            </a:ln>
          </p:spPr>
          <p:txBody>
            <a:bodyPr wrap="square" rtlCol="0">
              <a:spAutoFit/>
            </a:bodyPr>
            <a:lstStyle/>
            <a:p>
              <a:pPr algn="ctr"/>
              <a:r>
                <a:rPr lang="en-US" sz="1400" dirty="0">
                  <a:latin typeface="Calibri" panose="020F0502020204030204" pitchFamily="34" charset="0"/>
                  <a:cs typeface="Consolas" panose="020B0609020204030204" pitchFamily="49" charset="0"/>
                </a:rPr>
                <a:t>16004</a:t>
              </a:r>
              <a:endParaRPr lang="sk-SK" sz="1400" dirty="0">
                <a:latin typeface="Calibri" panose="020F0502020204030204" pitchFamily="34" charset="0"/>
                <a:cs typeface="Consolas" panose="020B0609020204030204" pitchFamily="49" charset="0"/>
              </a:endParaRPr>
            </a:p>
          </p:txBody>
        </p:sp>
        <p:cxnSp>
          <p:nvCxnSpPr>
            <p:cNvPr id="42" name="Straight Arrow Connector 41"/>
            <p:cNvCxnSpPr/>
            <p:nvPr/>
          </p:nvCxnSpPr>
          <p:spPr>
            <a:xfrm>
              <a:off x="8379735" y="5769869"/>
              <a:ext cx="64807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8379734" y="5791662"/>
              <a:ext cx="648073" cy="307777"/>
            </a:xfrm>
            <a:prstGeom prst="rect">
              <a:avLst/>
            </a:prstGeom>
            <a:noFill/>
            <a:ln>
              <a:noFill/>
            </a:ln>
          </p:spPr>
          <p:txBody>
            <a:bodyPr wrap="square" rtlCol="0">
              <a:spAutoFit/>
            </a:bodyPr>
            <a:lstStyle/>
            <a:p>
              <a:pPr algn="ctr"/>
              <a:r>
                <a:rPr lang="en-US" sz="1400" dirty="0">
                  <a:latin typeface="Calibri" panose="020F0502020204030204" pitchFamily="34" charset="0"/>
                  <a:cs typeface="Consolas" panose="020B0609020204030204" pitchFamily="49" charset="0"/>
                </a:rPr>
                <a:t>16004</a:t>
              </a:r>
              <a:endParaRPr lang="sk-SK" sz="1400" dirty="0">
                <a:latin typeface="Calibri" panose="020F0502020204030204" pitchFamily="34" charset="0"/>
                <a:cs typeface="Consolas" panose="020B0609020204030204" pitchFamily="49" charset="0"/>
              </a:endParaRPr>
            </a:p>
          </p:txBody>
        </p:sp>
        <p:cxnSp>
          <p:nvCxnSpPr>
            <p:cNvPr id="44" name="Straight Arrow Connector 43"/>
            <p:cNvCxnSpPr/>
            <p:nvPr/>
          </p:nvCxnSpPr>
          <p:spPr>
            <a:xfrm flipH="1">
              <a:off x="9504981" y="4778516"/>
              <a:ext cx="18987" cy="46931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flipH="1">
              <a:off x="9777588" y="5379359"/>
              <a:ext cx="306827" cy="33157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rot="16200000">
              <a:off x="9385227" y="4846542"/>
              <a:ext cx="648073" cy="307777"/>
            </a:xfrm>
            <a:prstGeom prst="rect">
              <a:avLst/>
            </a:prstGeom>
            <a:noFill/>
            <a:ln>
              <a:noFill/>
            </a:ln>
          </p:spPr>
          <p:txBody>
            <a:bodyPr wrap="square" rtlCol="0">
              <a:spAutoFit/>
            </a:bodyPr>
            <a:lstStyle/>
            <a:p>
              <a:pPr algn="ctr"/>
              <a:r>
                <a:rPr lang="en-US" sz="1400" dirty="0">
                  <a:latin typeface="Calibri" panose="020F0502020204030204" pitchFamily="34" charset="0"/>
                  <a:cs typeface="Consolas" panose="020B0609020204030204" pitchFamily="49" charset="0"/>
                </a:rPr>
                <a:t>16004</a:t>
              </a:r>
              <a:endParaRPr lang="sk-SK" sz="1400" dirty="0">
                <a:latin typeface="Calibri" panose="020F0502020204030204" pitchFamily="34" charset="0"/>
                <a:cs typeface="Consolas" panose="020B0609020204030204" pitchFamily="49" charset="0"/>
              </a:endParaRPr>
            </a:p>
          </p:txBody>
        </p:sp>
        <p:sp>
          <p:nvSpPr>
            <p:cNvPr id="47" name="TextBox 46"/>
            <p:cNvSpPr txBox="1"/>
            <p:nvPr/>
          </p:nvSpPr>
          <p:spPr>
            <a:xfrm rot="18739165">
              <a:off x="9739975" y="5496664"/>
              <a:ext cx="648073" cy="307777"/>
            </a:xfrm>
            <a:prstGeom prst="rect">
              <a:avLst/>
            </a:prstGeom>
            <a:noFill/>
            <a:ln>
              <a:noFill/>
            </a:ln>
          </p:spPr>
          <p:txBody>
            <a:bodyPr wrap="square" rtlCol="0">
              <a:spAutoFit/>
            </a:bodyPr>
            <a:lstStyle/>
            <a:p>
              <a:pPr algn="ctr"/>
              <a:r>
                <a:rPr lang="en-US" sz="1400" dirty="0">
                  <a:latin typeface="Calibri" panose="020F0502020204030204" pitchFamily="34" charset="0"/>
                  <a:cs typeface="Consolas" panose="020B0609020204030204" pitchFamily="49" charset="0"/>
                </a:rPr>
                <a:t>16004</a:t>
              </a:r>
              <a:endParaRPr lang="sk-SK" sz="1400" dirty="0">
                <a:latin typeface="Calibri" panose="020F0502020204030204" pitchFamily="34" charset="0"/>
                <a:cs typeface="Consolas" panose="020B0609020204030204" pitchFamily="49" charset="0"/>
              </a:endParaRPr>
            </a:p>
          </p:txBody>
        </p:sp>
        <p:grpSp>
          <p:nvGrpSpPr>
            <p:cNvPr id="48" name="Group 47"/>
            <p:cNvGrpSpPr/>
            <p:nvPr/>
          </p:nvGrpSpPr>
          <p:grpSpPr>
            <a:xfrm>
              <a:off x="8379734" y="4555688"/>
              <a:ext cx="648073" cy="535639"/>
              <a:chOff x="5868143" y="3003798"/>
              <a:chExt cx="648073" cy="535639"/>
            </a:xfrm>
          </p:grpSpPr>
          <p:cxnSp>
            <p:nvCxnSpPr>
              <p:cNvPr id="49" name="Straight Arrow Connector 48"/>
              <p:cNvCxnSpPr/>
              <p:nvPr/>
            </p:nvCxnSpPr>
            <p:spPr>
              <a:xfrm flipV="1">
                <a:off x="5868143" y="3003798"/>
                <a:ext cx="648073" cy="20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flipH="1">
                <a:off x="5868144" y="3006236"/>
                <a:ext cx="8384" cy="53320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2718293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Forward on the IGP adjacency</a:t>
            </a:r>
          </a:p>
          <a:p>
            <a:r>
              <a:rPr lang="en-US" dirty="0"/>
              <a:t>Local Segment</a:t>
            </a:r>
          </a:p>
          <a:p>
            <a:r>
              <a:rPr lang="en-US" dirty="0"/>
              <a:t>Advertised as label value</a:t>
            </a:r>
          </a:p>
          <a:p>
            <a:r>
              <a:rPr lang="en-US" dirty="0"/>
              <a:t>Distributed by ISIS/OSPF</a:t>
            </a:r>
          </a:p>
          <a:p>
            <a:endParaRPr lang="en-US" dirty="0"/>
          </a:p>
        </p:txBody>
      </p:sp>
      <p:sp>
        <p:nvSpPr>
          <p:cNvPr id="3" name="Text Placeholder 2"/>
          <p:cNvSpPr>
            <a:spLocks noGrp="1"/>
          </p:cNvSpPr>
          <p:nvPr>
            <p:ph type="body" sz="quarter" idx="11"/>
          </p:nvPr>
        </p:nvSpPr>
        <p:spPr/>
        <p:txBody>
          <a:bodyPr/>
          <a:lstStyle/>
          <a:p>
            <a:r>
              <a:rPr lang="en-US" dirty="0"/>
              <a:t>IGP Adjacency Segment – SR-MPLS</a:t>
            </a:r>
          </a:p>
        </p:txBody>
      </p:sp>
      <p:grpSp>
        <p:nvGrpSpPr>
          <p:cNvPr id="22" name="Group 21"/>
          <p:cNvGrpSpPr/>
          <p:nvPr/>
        </p:nvGrpSpPr>
        <p:grpSpPr>
          <a:xfrm>
            <a:off x="7248237" y="3871501"/>
            <a:ext cx="3322712" cy="2591471"/>
            <a:chOff x="5220072" y="2232272"/>
            <a:chExt cx="3322712" cy="2591471"/>
          </a:xfrm>
        </p:grpSpPr>
        <p:sp>
          <p:nvSpPr>
            <p:cNvPr id="4" name="TextBox 3"/>
            <p:cNvSpPr txBox="1"/>
            <p:nvPr/>
          </p:nvSpPr>
          <p:spPr>
            <a:xfrm>
              <a:off x="5234797" y="2609242"/>
              <a:ext cx="576064" cy="523220"/>
            </a:xfrm>
            <a:prstGeom prst="rect">
              <a:avLst/>
            </a:prstGeom>
            <a:solidFill>
              <a:schemeClr val="bg1"/>
            </a:solidFill>
            <a:ln w="19050" cap="rnd">
              <a:solidFill>
                <a:schemeClr val="tx2"/>
              </a:solidFill>
              <a:round/>
            </a:ln>
          </p:spPr>
          <p:txBody>
            <a:bodyPr wrap="square" rtlCol="0">
              <a:spAutoFit/>
            </a:bodyPr>
            <a:lstStyle/>
            <a:p>
              <a:pPr algn="ctr"/>
              <a:r>
                <a:rPr lang="en-US" sz="2800" b="1" dirty="0">
                  <a:latin typeface="Consolas" panose="020B0609020204030204" pitchFamily="49" charset="0"/>
                  <a:cs typeface="Consolas" panose="020B0609020204030204" pitchFamily="49" charset="0"/>
                </a:rPr>
                <a:t>1</a:t>
              </a:r>
              <a:endParaRPr lang="sk-SK" sz="2800" b="1" dirty="0">
                <a:latin typeface="Consolas" panose="020B0609020204030204" pitchFamily="49" charset="0"/>
                <a:cs typeface="Consolas" panose="020B0609020204030204" pitchFamily="49" charset="0"/>
              </a:endParaRPr>
            </a:p>
          </p:txBody>
        </p:sp>
        <p:sp>
          <p:nvSpPr>
            <p:cNvPr id="5" name="TextBox 4"/>
            <p:cNvSpPr txBox="1"/>
            <p:nvPr/>
          </p:nvSpPr>
          <p:spPr>
            <a:xfrm>
              <a:off x="6598807" y="2609242"/>
              <a:ext cx="576064" cy="523220"/>
            </a:xfrm>
            <a:prstGeom prst="rect">
              <a:avLst/>
            </a:prstGeom>
            <a:solidFill>
              <a:schemeClr val="bg1"/>
            </a:solidFill>
            <a:ln w="19050" cap="rnd">
              <a:solidFill>
                <a:schemeClr val="tx2"/>
              </a:solidFill>
              <a:round/>
            </a:ln>
          </p:spPr>
          <p:txBody>
            <a:bodyPr wrap="square" rtlCol="0">
              <a:spAutoFit/>
            </a:bodyPr>
            <a:lstStyle/>
            <a:p>
              <a:pPr algn="ctr"/>
              <a:r>
                <a:rPr lang="en-US" sz="2800" b="1" dirty="0">
                  <a:latin typeface="Consolas" panose="020B0609020204030204" pitchFamily="49" charset="0"/>
                  <a:cs typeface="Consolas" panose="020B0609020204030204" pitchFamily="49" charset="0"/>
                </a:rPr>
                <a:t>2</a:t>
              </a:r>
              <a:endParaRPr lang="sk-SK" sz="2800" b="1" dirty="0">
                <a:latin typeface="Consolas" panose="020B0609020204030204" pitchFamily="49" charset="0"/>
                <a:cs typeface="Consolas" panose="020B0609020204030204" pitchFamily="49" charset="0"/>
              </a:endParaRPr>
            </a:p>
          </p:txBody>
        </p:sp>
        <p:sp>
          <p:nvSpPr>
            <p:cNvPr id="6" name="TextBox 5"/>
            <p:cNvSpPr txBox="1"/>
            <p:nvPr/>
          </p:nvSpPr>
          <p:spPr>
            <a:xfrm>
              <a:off x="7755077" y="3217774"/>
              <a:ext cx="576064" cy="523220"/>
            </a:xfrm>
            <a:prstGeom prst="rect">
              <a:avLst/>
            </a:prstGeom>
            <a:solidFill>
              <a:schemeClr val="bg1"/>
            </a:solidFill>
            <a:ln w="19050" cap="rnd">
              <a:solidFill>
                <a:schemeClr val="tx2"/>
              </a:solidFill>
              <a:round/>
            </a:ln>
          </p:spPr>
          <p:txBody>
            <a:bodyPr wrap="square" rtlCol="0">
              <a:spAutoFit/>
            </a:bodyPr>
            <a:lstStyle/>
            <a:p>
              <a:pPr algn="ctr"/>
              <a:r>
                <a:rPr lang="en-US" sz="2800" b="1" dirty="0">
                  <a:latin typeface="Consolas" panose="020B0609020204030204" pitchFamily="49" charset="0"/>
                  <a:cs typeface="Consolas" panose="020B0609020204030204" pitchFamily="49" charset="0"/>
                </a:rPr>
                <a:t>5</a:t>
              </a:r>
              <a:endParaRPr lang="sk-SK" sz="2800" b="1" dirty="0">
                <a:latin typeface="Consolas" panose="020B0609020204030204" pitchFamily="49" charset="0"/>
                <a:cs typeface="Consolas" panose="020B0609020204030204" pitchFamily="49" charset="0"/>
              </a:endParaRPr>
            </a:p>
          </p:txBody>
        </p:sp>
        <p:cxnSp>
          <p:nvCxnSpPr>
            <p:cNvPr id="7" name="Straight Connector 6"/>
            <p:cNvCxnSpPr>
              <a:stCxn id="4" idx="3"/>
              <a:endCxn id="5" idx="1"/>
            </p:cNvCxnSpPr>
            <p:nvPr/>
          </p:nvCxnSpPr>
          <p:spPr>
            <a:xfrm>
              <a:off x="5810861" y="2870852"/>
              <a:ext cx="78794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5" idx="3"/>
              <a:endCxn id="6" idx="1"/>
            </p:cNvCxnSpPr>
            <p:nvPr/>
          </p:nvCxnSpPr>
          <p:spPr>
            <a:xfrm>
              <a:off x="7174871" y="2870852"/>
              <a:ext cx="580206" cy="608532"/>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560040" y="2232272"/>
              <a:ext cx="960430" cy="307777"/>
            </a:xfrm>
            <a:prstGeom prst="rect">
              <a:avLst/>
            </a:prstGeom>
            <a:noFill/>
            <a:ln>
              <a:noFill/>
            </a:ln>
          </p:spPr>
          <p:txBody>
            <a:bodyPr wrap="square" rtlCol="0">
              <a:spAutoFit/>
            </a:bodyPr>
            <a:lstStyle/>
            <a:p>
              <a:pPr algn="ctr"/>
              <a:r>
                <a:rPr lang="en-US" sz="1400" dirty="0">
                  <a:latin typeface="Calibri" panose="020F0502020204030204" pitchFamily="34" charset="0"/>
                  <a:cs typeface="Consolas" panose="020B0609020204030204" pitchFamily="49" charset="0"/>
                </a:rPr>
                <a:t>Adj to 5</a:t>
              </a:r>
              <a:endParaRPr lang="sk-SK" sz="1400" dirty="0">
                <a:latin typeface="Calibri" panose="020F0502020204030204" pitchFamily="34" charset="0"/>
                <a:cs typeface="Consolas" panose="020B0609020204030204" pitchFamily="49" charset="0"/>
              </a:endParaRPr>
            </a:p>
          </p:txBody>
        </p:sp>
        <p:sp>
          <p:nvSpPr>
            <p:cNvPr id="10" name="TextBox 9"/>
            <p:cNvSpPr txBox="1"/>
            <p:nvPr/>
          </p:nvSpPr>
          <p:spPr>
            <a:xfrm>
              <a:off x="5234797" y="3813466"/>
              <a:ext cx="576064" cy="523220"/>
            </a:xfrm>
            <a:prstGeom prst="rect">
              <a:avLst/>
            </a:prstGeom>
            <a:solidFill>
              <a:schemeClr val="bg1"/>
            </a:solidFill>
            <a:ln w="19050" cap="rnd">
              <a:solidFill>
                <a:schemeClr val="tx2"/>
              </a:solidFill>
              <a:round/>
            </a:ln>
          </p:spPr>
          <p:txBody>
            <a:bodyPr wrap="square" rtlCol="0">
              <a:spAutoFit/>
            </a:bodyPr>
            <a:lstStyle/>
            <a:p>
              <a:pPr algn="ctr"/>
              <a:r>
                <a:rPr lang="en-US" sz="2800" b="1" dirty="0">
                  <a:latin typeface="Consolas" panose="020B0609020204030204" pitchFamily="49" charset="0"/>
                  <a:cs typeface="Consolas" panose="020B0609020204030204" pitchFamily="49" charset="0"/>
                </a:rPr>
                <a:t>3</a:t>
              </a:r>
              <a:endParaRPr lang="sk-SK" sz="2800" b="1" dirty="0">
                <a:latin typeface="Consolas" panose="020B0609020204030204" pitchFamily="49" charset="0"/>
                <a:cs typeface="Consolas" panose="020B0609020204030204" pitchFamily="49" charset="0"/>
              </a:endParaRPr>
            </a:p>
          </p:txBody>
        </p:sp>
        <p:sp>
          <p:nvSpPr>
            <p:cNvPr id="11" name="TextBox 10"/>
            <p:cNvSpPr txBox="1"/>
            <p:nvPr/>
          </p:nvSpPr>
          <p:spPr>
            <a:xfrm>
              <a:off x="6598807" y="3813466"/>
              <a:ext cx="576064" cy="523220"/>
            </a:xfrm>
            <a:prstGeom prst="rect">
              <a:avLst/>
            </a:prstGeom>
            <a:solidFill>
              <a:schemeClr val="bg1"/>
            </a:solidFill>
            <a:ln w="19050" cap="rnd">
              <a:solidFill>
                <a:schemeClr val="tx2"/>
              </a:solidFill>
              <a:round/>
            </a:ln>
          </p:spPr>
          <p:txBody>
            <a:bodyPr wrap="square" rtlCol="0">
              <a:spAutoFit/>
            </a:bodyPr>
            <a:lstStyle/>
            <a:p>
              <a:pPr algn="ctr"/>
              <a:r>
                <a:rPr lang="en-US" sz="2800" b="1" dirty="0">
                  <a:latin typeface="Consolas" panose="020B0609020204030204" pitchFamily="49" charset="0"/>
                  <a:cs typeface="Consolas" panose="020B0609020204030204" pitchFamily="49" charset="0"/>
                </a:rPr>
                <a:t>4</a:t>
              </a:r>
              <a:endParaRPr lang="sk-SK" sz="2800" b="1" dirty="0">
                <a:latin typeface="Consolas" panose="020B0609020204030204" pitchFamily="49" charset="0"/>
                <a:cs typeface="Consolas" panose="020B0609020204030204" pitchFamily="49" charset="0"/>
              </a:endParaRPr>
            </a:p>
          </p:txBody>
        </p:sp>
        <p:cxnSp>
          <p:nvCxnSpPr>
            <p:cNvPr id="12" name="Straight Connector 11"/>
            <p:cNvCxnSpPr>
              <a:stCxn id="10" idx="3"/>
              <a:endCxn id="11" idx="1"/>
            </p:cNvCxnSpPr>
            <p:nvPr/>
          </p:nvCxnSpPr>
          <p:spPr>
            <a:xfrm>
              <a:off x="5810861" y="4075076"/>
              <a:ext cx="78794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11" idx="3"/>
              <a:endCxn id="6" idx="1"/>
            </p:cNvCxnSpPr>
            <p:nvPr/>
          </p:nvCxnSpPr>
          <p:spPr>
            <a:xfrm flipV="1">
              <a:off x="7174871" y="3479384"/>
              <a:ext cx="580206" cy="5956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4" idx="2"/>
              <a:endCxn id="10" idx="0"/>
            </p:cNvCxnSpPr>
            <p:nvPr/>
          </p:nvCxnSpPr>
          <p:spPr>
            <a:xfrm>
              <a:off x="5522829" y="3132462"/>
              <a:ext cx="0" cy="68100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5" idx="2"/>
            </p:cNvCxnSpPr>
            <p:nvPr/>
          </p:nvCxnSpPr>
          <p:spPr>
            <a:xfrm>
              <a:off x="6886839" y="3132462"/>
              <a:ext cx="0" cy="661840"/>
            </a:xfrm>
            <a:prstGeom prst="line">
              <a:avLst/>
            </a:prstGeom>
          </p:spPr>
          <p:style>
            <a:lnRef idx="1">
              <a:schemeClr val="accent1"/>
            </a:lnRef>
            <a:fillRef idx="0">
              <a:schemeClr val="accent1"/>
            </a:fillRef>
            <a:effectRef idx="0">
              <a:schemeClr val="accent1"/>
            </a:effectRef>
            <a:fontRef idx="minor">
              <a:schemeClr val="tx1"/>
            </a:fontRef>
          </p:style>
        </p:cxnSp>
        <p:sp>
          <p:nvSpPr>
            <p:cNvPr id="16" name="Rounded Rectangular Callout 15"/>
            <p:cNvSpPr/>
            <p:nvPr/>
          </p:nvSpPr>
          <p:spPr>
            <a:xfrm>
              <a:off x="7464974" y="2493882"/>
              <a:ext cx="889165" cy="305896"/>
            </a:xfrm>
            <a:prstGeom prst="wedgeRoundRectCallout">
              <a:avLst>
                <a:gd name="adj1" fmla="val -81328"/>
                <a:gd name="adj2" fmla="val 67171"/>
                <a:gd name="adj3" fmla="val 16667"/>
              </a:avLst>
            </a:prstGeom>
            <a:solidFill>
              <a:schemeClr val="bg1"/>
            </a:solid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24025</a:t>
              </a:r>
              <a:endParaRPr lang="sk-SK" sz="1400" dirty="0">
                <a:solidFill>
                  <a:schemeClr val="tx1"/>
                </a:solidFill>
              </a:endParaRPr>
            </a:p>
          </p:txBody>
        </p:sp>
        <p:sp>
          <p:nvSpPr>
            <p:cNvPr id="17" name="TextBox 16"/>
            <p:cNvSpPr txBox="1"/>
            <p:nvPr/>
          </p:nvSpPr>
          <p:spPr>
            <a:xfrm>
              <a:off x="5220072" y="4515966"/>
              <a:ext cx="3322712" cy="307777"/>
            </a:xfrm>
            <a:prstGeom prst="rect">
              <a:avLst/>
            </a:prstGeom>
            <a:noFill/>
            <a:ln>
              <a:noFill/>
            </a:ln>
          </p:spPr>
          <p:txBody>
            <a:bodyPr wrap="square" rtlCol="0">
              <a:spAutoFit/>
            </a:bodyPr>
            <a:lstStyle/>
            <a:p>
              <a:pPr algn="ctr"/>
              <a:r>
                <a:rPr lang="en-US" sz="1400" dirty="0">
                  <a:latin typeface="Calibri" panose="020F0502020204030204" pitchFamily="34" charset="0"/>
                  <a:cs typeface="Consolas" panose="020B0609020204030204" pitchFamily="49" charset="0"/>
                </a:rPr>
                <a:t>All nodes use default SRGB 16.000-23.999</a:t>
              </a:r>
              <a:endParaRPr lang="sk-SK" sz="1400" dirty="0">
                <a:latin typeface="Calibri" panose="020F0502020204030204" pitchFamily="34" charset="0"/>
                <a:cs typeface="Consolas" panose="020B0609020204030204" pitchFamily="49" charset="0"/>
              </a:endParaRPr>
            </a:p>
          </p:txBody>
        </p:sp>
        <p:cxnSp>
          <p:nvCxnSpPr>
            <p:cNvPr id="18" name="Straight Arrow Connector 17"/>
            <p:cNvCxnSpPr/>
            <p:nvPr/>
          </p:nvCxnSpPr>
          <p:spPr>
            <a:xfrm flipH="1">
              <a:off x="6993391" y="3234634"/>
              <a:ext cx="2063" cy="489244"/>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7357227" y="2859782"/>
              <a:ext cx="311117" cy="320577"/>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0" name="Rounded Rectangular Callout 19"/>
            <p:cNvSpPr/>
            <p:nvPr/>
          </p:nvSpPr>
          <p:spPr>
            <a:xfrm>
              <a:off x="5653917" y="3242060"/>
              <a:ext cx="889165" cy="305896"/>
            </a:xfrm>
            <a:prstGeom prst="wedgeRoundRectCallout">
              <a:avLst>
                <a:gd name="adj1" fmla="val 85895"/>
                <a:gd name="adj2" fmla="val -75793"/>
                <a:gd name="adj3" fmla="val 16667"/>
              </a:avLst>
            </a:prstGeom>
            <a:solidFill>
              <a:schemeClr val="bg1"/>
            </a:solid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24024</a:t>
              </a:r>
              <a:endParaRPr lang="sk-SK" sz="1400" dirty="0">
                <a:solidFill>
                  <a:schemeClr val="tx1"/>
                </a:solidFill>
              </a:endParaRPr>
            </a:p>
          </p:txBody>
        </p:sp>
        <p:sp>
          <p:nvSpPr>
            <p:cNvPr id="21" name="TextBox 20"/>
            <p:cNvSpPr txBox="1"/>
            <p:nvPr/>
          </p:nvSpPr>
          <p:spPr>
            <a:xfrm>
              <a:off x="5649049" y="2955417"/>
              <a:ext cx="960430" cy="307777"/>
            </a:xfrm>
            <a:prstGeom prst="rect">
              <a:avLst/>
            </a:prstGeom>
            <a:noFill/>
            <a:ln>
              <a:noFill/>
            </a:ln>
          </p:spPr>
          <p:txBody>
            <a:bodyPr wrap="square" rtlCol="0">
              <a:spAutoFit/>
            </a:bodyPr>
            <a:lstStyle/>
            <a:p>
              <a:pPr algn="ctr"/>
              <a:r>
                <a:rPr lang="en-US" sz="1400" dirty="0">
                  <a:latin typeface="Calibri" panose="020F0502020204030204" pitchFamily="34" charset="0"/>
                  <a:cs typeface="Consolas" panose="020B0609020204030204" pitchFamily="49" charset="0"/>
                </a:rPr>
                <a:t>Adj to 4</a:t>
              </a:r>
              <a:endParaRPr lang="sk-SK" sz="1400" dirty="0">
                <a:latin typeface="Calibri" panose="020F0502020204030204" pitchFamily="34" charset="0"/>
                <a:cs typeface="Consolas" panose="020B0609020204030204" pitchFamily="49" charset="0"/>
              </a:endParaRPr>
            </a:p>
          </p:txBody>
        </p:sp>
      </p:grpSp>
    </p:spTree>
    <p:extLst>
      <p:ext uri="{BB962C8B-B14F-4D97-AF65-F5344CB8AC3E}">
        <p14:creationId xmlns:p14="http://schemas.microsoft.com/office/powerpoint/2010/main" val="40289686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Steer traffic on any path through the network</a:t>
            </a:r>
          </a:p>
          <a:p>
            <a:r>
              <a:rPr lang="en-US" dirty="0"/>
              <a:t>Path is specified by list of segments in packet header, a stack of labels</a:t>
            </a:r>
          </a:p>
          <a:p>
            <a:r>
              <a:rPr lang="en-US" dirty="0"/>
              <a:t>No path is signaled</a:t>
            </a:r>
          </a:p>
          <a:p>
            <a:r>
              <a:rPr lang="en-US" dirty="0"/>
              <a:t>No per-flow state is created</a:t>
            </a:r>
          </a:p>
          <a:p>
            <a:r>
              <a:rPr lang="en-US" dirty="0"/>
              <a:t>Single protocol: IS-IS or OSPF</a:t>
            </a:r>
          </a:p>
          <a:p>
            <a:endParaRPr lang="en-US" dirty="0"/>
          </a:p>
        </p:txBody>
      </p:sp>
      <p:sp>
        <p:nvSpPr>
          <p:cNvPr id="3" name="Text Placeholder 2"/>
          <p:cNvSpPr>
            <a:spLocks noGrp="1"/>
          </p:cNvSpPr>
          <p:nvPr>
            <p:ph type="body" sz="quarter" idx="11"/>
          </p:nvPr>
        </p:nvSpPr>
        <p:spPr/>
        <p:txBody>
          <a:bodyPr/>
          <a:lstStyle/>
          <a:p>
            <a:r>
              <a:rPr lang="en-US" dirty="0"/>
              <a:t>Combining IGP Segments – SR-MPLS</a:t>
            </a:r>
          </a:p>
        </p:txBody>
      </p:sp>
      <p:grpSp>
        <p:nvGrpSpPr>
          <p:cNvPr id="28" name="Group 27"/>
          <p:cNvGrpSpPr/>
          <p:nvPr/>
        </p:nvGrpSpPr>
        <p:grpSpPr>
          <a:xfrm>
            <a:off x="7645673" y="2875587"/>
            <a:ext cx="3672408" cy="3620145"/>
            <a:chOff x="5364088" y="1491630"/>
            <a:chExt cx="3672408" cy="3620145"/>
          </a:xfrm>
        </p:grpSpPr>
        <p:sp>
          <p:nvSpPr>
            <p:cNvPr id="4" name="TextBox 3"/>
            <p:cNvSpPr txBox="1"/>
            <p:nvPr/>
          </p:nvSpPr>
          <p:spPr>
            <a:xfrm>
              <a:off x="5940152" y="2593143"/>
              <a:ext cx="576064" cy="523220"/>
            </a:xfrm>
            <a:prstGeom prst="rect">
              <a:avLst/>
            </a:prstGeom>
            <a:solidFill>
              <a:schemeClr val="bg1"/>
            </a:solidFill>
            <a:ln w="19050" cap="rnd">
              <a:solidFill>
                <a:schemeClr val="tx2"/>
              </a:solidFill>
              <a:round/>
            </a:ln>
          </p:spPr>
          <p:txBody>
            <a:bodyPr wrap="square" rtlCol="0">
              <a:spAutoFit/>
            </a:bodyPr>
            <a:lstStyle/>
            <a:p>
              <a:pPr algn="ctr"/>
              <a:r>
                <a:rPr lang="en-US" sz="2800" b="1" dirty="0">
                  <a:latin typeface="Consolas" panose="020B0609020204030204" pitchFamily="49" charset="0"/>
                  <a:cs typeface="Consolas" panose="020B0609020204030204" pitchFamily="49" charset="0"/>
                </a:rPr>
                <a:t>1</a:t>
              </a:r>
              <a:endParaRPr lang="sk-SK" sz="2800" b="1" dirty="0">
                <a:latin typeface="Consolas" panose="020B0609020204030204" pitchFamily="49" charset="0"/>
                <a:cs typeface="Consolas" panose="020B0609020204030204" pitchFamily="49" charset="0"/>
              </a:endParaRPr>
            </a:p>
          </p:txBody>
        </p:sp>
        <p:sp>
          <p:nvSpPr>
            <p:cNvPr id="5" name="TextBox 4"/>
            <p:cNvSpPr txBox="1"/>
            <p:nvPr/>
          </p:nvSpPr>
          <p:spPr>
            <a:xfrm>
              <a:off x="7304162" y="2593143"/>
              <a:ext cx="576064" cy="523220"/>
            </a:xfrm>
            <a:prstGeom prst="rect">
              <a:avLst/>
            </a:prstGeom>
            <a:solidFill>
              <a:schemeClr val="bg1"/>
            </a:solidFill>
            <a:ln w="19050" cap="rnd">
              <a:solidFill>
                <a:schemeClr val="tx2"/>
              </a:solidFill>
              <a:round/>
            </a:ln>
          </p:spPr>
          <p:txBody>
            <a:bodyPr wrap="square" rtlCol="0">
              <a:spAutoFit/>
            </a:bodyPr>
            <a:lstStyle/>
            <a:p>
              <a:pPr algn="ctr"/>
              <a:r>
                <a:rPr lang="en-US" sz="2800" b="1" dirty="0">
                  <a:latin typeface="Consolas" panose="020B0609020204030204" pitchFamily="49" charset="0"/>
                  <a:cs typeface="Consolas" panose="020B0609020204030204" pitchFamily="49" charset="0"/>
                </a:rPr>
                <a:t>2</a:t>
              </a:r>
              <a:endParaRPr lang="sk-SK" sz="2800" b="1" dirty="0">
                <a:latin typeface="Consolas" panose="020B0609020204030204" pitchFamily="49" charset="0"/>
                <a:cs typeface="Consolas" panose="020B0609020204030204" pitchFamily="49" charset="0"/>
              </a:endParaRPr>
            </a:p>
          </p:txBody>
        </p:sp>
        <p:sp>
          <p:nvSpPr>
            <p:cNvPr id="6" name="TextBox 5"/>
            <p:cNvSpPr txBox="1"/>
            <p:nvPr/>
          </p:nvSpPr>
          <p:spPr>
            <a:xfrm>
              <a:off x="8460432" y="3201675"/>
              <a:ext cx="576064" cy="523220"/>
            </a:xfrm>
            <a:prstGeom prst="rect">
              <a:avLst/>
            </a:prstGeom>
            <a:solidFill>
              <a:schemeClr val="bg1"/>
            </a:solidFill>
            <a:ln w="19050" cap="rnd">
              <a:solidFill>
                <a:schemeClr val="tx2"/>
              </a:solidFill>
              <a:round/>
            </a:ln>
          </p:spPr>
          <p:txBody>
            <a:bodyPr wrap="square" rtlCol="0">
              <a:spAutoFit/>
            </a:bodyPr>
            <a:lstStyle/>
            <a:p>
              <a:pPr algn="ctr"/>
              <a:r>
                <a:rPr lang="en-US" sz="2800" b="1" dirty="0">
                  <a:latin typeface="Consolas" panose="020B0609020204030204" pitchFamily="49" charset="0"/>
                  <a:cs typeface="Consolas" panose="020B0609020204030204" pitchFamily="49" charset="0"/>
                </a:rPr>
                <a:t>5</a:t>
              </a:r>
              <a:endParaRPr lang="sk-SK" sz="2800" b="1" dirty="0">
                <a:latin typeface="Consolas" panose="020B0609020204030204" pitchFamily="49" charset="0"/>
                <a:cs typeface="Consolas" panose="020B0609020204030204" pitchFamily="49" charset="0"/>
              </a:endParaRPr>
            </a:p>
          </p:txBody>
        </p:sp>
        <p:cxnSp>
          <p:nvCxnSpPr>
            <p:cNvPr id="7" name="Straight Connector 6"/>
            <p:cNvCxnSpPr>
              <a:stCxn id="4" idx="3"/>
              <a:endCxn id="5" idx="1"/>
            </p:cNvCxnSpPr>
            <p:nvPr/>
          </p:nvCxnSpPr>
          <p:spPr>
            <a:xfrm>
              <a:off x="6516216" y="2854753"/>
              <a:ext cx="78794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5" idx="3"/>
              <a:endCxn id="6" idx="1"/>
            </p:cNvCxnSpPr>
            <p:nvPr/>
          </p:nvCxnSpPr>
          <p:spPr>
            <a:xfrm>
              <a:off x="7880226" y="2854753"/>
              <a:ext cx="580206" cy="608532"/>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940152" y="3797367"/>
              <a:ext cx="576064" cy="523220"/>
            </a:xfrm>
            <a:prstGeom prst="rect">
              <a:avLst/>
            </a:prstGeom>
            <a:solidFill>
              <a:schemeClr val="bg1"/>
            </a:solidFill>
            <a:ln w="19050" cap="rnd">
              <a:solidFill>
                <a:schemeClr val="tx2"/>
              </a:solidFill>
              <a:round/>
            </a:ln>
          </p:spPr>
          <p:txBody>
            <a:bodyPr wrap="square" rtlCol="0">
              <a:spAutoFit/>
            </a:bodyPr>
            <a:lstStyle/>
            <a:p>
              <a:pPr algn="ctr"/>
              <a:r>
                <a:rPr lang="en-US" sz="2800" b="1" dirty="0">
                  <a:latin typeface="Consolas" panose="020B0609020204030204" pitchFamily="49" charset="0"/>
                  <a:cs typeface="Consolas" panose="020B0609020204030204" pitchFamily="49" charset="0"/>
                </a:rPr>
                <a:t>3</a:t>
              </a:r>
              <a:endParaRPr lang="sk-SK" sz="2800" b="1" dirty="0">
                <a:latin typeface="Consolas" panose="020B0609020204030204" pitchFamily="49" charset="0"/>
                <a:cs typeface="Consolas" panose="020B0609020204030204" pitchFamily="49" charset="0"/>
              </a:endParaRPr>
            </a:p>
          </p:txBody>
        </p:sp>
        <p:sp>
          <p:nvSpPr>
            <p:cNvPr id="10" name="TextBox 9"/>
            <p:cNvSpPr txBox="1"/>
            <p:nvPr/>
          </p:nvSpPr>
          <p:spPr>
            <a:xfrm>
              <a:off x="7304162" y="3797367"/>
              <a:ext cx="576064" cy="523220"/>
            </a:xfrm>
            <a:prstGeom prst="rect">
              <a:avLst/>
            </a:prstGeom>
            <a:solidFill>
              <a:schemeClr val="bg1"/>
            </a:solidFill>
            <a:ln w="19050" cap="rnd">
              <a:solidFill>
                <a:schemeClr val="tx2"/>
              </a:solidFill>
              <a:round/>
            </a:ln>
          </p:spPr>
          <p:txBody>
            <a:bodyPr wrap="square" rtlCol="0">
              <a:spAutoFit/>
            </a:bodyPr>
            <a:lstStyle/>
            <a:p>
              <a:pPr algn="ctr"/>
              <a:r>
                <a:rPr lang="en-US" sz="2800" b="1" dirty="0">
                  <a:latin typeface="Consolas" panose="020B0609020204030204" pitchFamily="49" charset="0"/>
                  <a:cs typeface="Consolas" panose="020B0609020204030204" pitchFamily="49" charset="0"/>
                </a:rPr>
                <a:t>4</a:t>
              </a:r>
              <a:endParaRPr lang="sk-SK" sz="2800" b="1" dirty="0">
                <a:latin typeface="Consolas" panose="020B0609020204030204" pitchFamily="49" charset="0"/>
                <a:cs typeface="Consolas" panose="020B0609020204030204" pitchFamily="49" charset="0"/>
              </a:endParaRPr>
            </a:p>
          </p:txBody>
        </p:sp>
        <p:cxnSp>
          <p:nvCxnSpPr>
            <p:cNvPr id="11" name="Straight Connector 10"/>
            <p:cNvCxnSpPr>
              <a:stCxn id="9" idx="3"/>
              <a:endCxn id="10" idx="1"/>
            </p:cNvCxnSpPr>
            <p:nvPr/>
          </p:nvCxnSpPr>
          <p:spPr>
            <a:xfrm>
              <a:off x="6516216" y="4058977"/>
              <a:ext cx="78794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10" idx="3"/>
              <a:endCxn id="6" idx="1"/>
            </p:cNvCxnSpPr>
            <p:nvPr/>
          </p:nvCxnSpPr>
          <p:spPr>
            <a:xfrm flipV="1">
              <a:off x="7880226" y="3463285"/>
              <a:ext cx="580206" cy="5956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4" idx="2"/>
              <a:endCxn id="9" idx="0"/>
            </p:cNvCxnSpPr>
            <p:nvPr/>
          </p:nvCxnSpPr>
          <p:spPr>
            <a:xfrm>
              <a:off x="6228184" y="3116363"/>
              <a:ext cx="0" cy="68100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5" idx="2"/>
            </p:cNvCxnSpPr>
            <p:nvPr/>
          </p:nvCxnSpPr>
          <p:spPr>
            <a:xfrm>
              <a:off x="7592194" y="3116363"/>
              <a:ext cx="0" cy="66184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364088" y="4803998"/>
              <a:ext cx="3322712" cy="307777"/>
            </a:xfrm>
            <a:prstGeom prst="rect">
              <a:avLst/>
            </a:prstGeom>
            <a:noFill/>
            <a:ln>
              <a:noFill/>
            </a:ln>
          </p:spPr>
          <p:txBody>
            <a:bodyPr wrap="square" rtlCol="0">
              <a:spAutoFit/>
            </a:bodyPr>
            <a:lstStyle/>
            <a:p>
              <a:pPr algn="ctr"/>
              <a:r>
                <a:rPr lang="en-US" sz="1400" dirty="0">
                  <a:latin typeface="Calibri" panose="020F0502020204030204" pitchFamily="34" charset="0"/>
                  <a:cs typeface="Consolas" panose="020B0609020204030204" pitchFamily="49" charset="0"/>
                </a:rPr>
                <a:t>All nodes use default SRGB 16.000-23.999</a:t>
              </a:r>
              <a:endParaRPr lang="sk-SK" sz="1400" dirty="0">
                <a:latin typeface="Calibri" panose="020F0502020204030204" pitchFamily="34" charset="0"/>
                <a:cs typeface="Consolas" panose="020B0609020204030204" pitchFamily="49" charset="0"/>
              </a:endParaRPr>
            </a:p>
          </p:txBody>
        </p:sp>
        <p:cxnSp>
          <p:nvCxnSpPr>
            <p:cNvPr id="16" name="Straight Arrow Connector 15"/>
            <p:cNvCxnSpPr/>
            <p:nvPr/>
          </p:nvCxnSpPr>
          <p:spPr>
            <a:xfrm flipH="1">
              <a:off x="7698747" y="2404700"/>
              <a:ext cx="19247" cy="1303079"/>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8042265" y="3707779"/>
              <a:ext cx="346159" cy="305484"/>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8" name="Rounded Rectangular Callout 17"/>
            <p:cNvSpPr/>
            <p:nvPr/>
          </p:nvSpPr>
          <p:spPr>
            <a:xfrm>
              <a:off x="6516216" y="4362631"/>
              <a:ext cx="889165" cy="305896"/>
            </a:xfrm>
            <a:prstGeom prst="wedgeRoundRectCallout">
              <a:avLst>
                <a:gd name="adj1" fmla="val 71673"/>
                <a:gd name="adj2" fmla="val -63073"/>
                <a:gd name="adj3" fmla="val 16667"/>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16004</a:t>
              </a:r>
              <a:endParaRPr lang="sk-SK" sz="1400" dirty="0">
                <a:solidFill>
                  <a:schemeClr val="tx1"/>
                </a:solidFill>
              </a:endParaRPr>
            </a:p>
          </p:txBody>
        </p:sp>
        <p:sp>
          <p:nvSpPr>
            <p:cNvPr id="19" name="Rounded Rectangular Callout 18"/>
            <p:cNvSpPr/>
            <p:nvPr/>
          </p:nvSpPr>
          <p:spPr>
            <a:xfrm>
              <a:off x="8042265" y="4378963"/>
              <a:ext cx="889165" cy="305896"/>
            </a:xfrm>
            <a:prstGeom prst="wedgeRoundRectCallout">
              <a:avLst>
                <a:gd name="adj1" fmla="val -67106"/>
                <a:gd name="adj2" fmla="val -161793"/>
                <a:gd name="adj3" fmla="val 16667"/>
              </a:avLst>
            </a:prstGeom>
            <a:solidFill>
              <a:schemeClr val="bg1"/>
            </a:solid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24045</a:t>
              </a:r>
              <a:endParaRPr lang="sk-SK" sz="1400" dirty="0">
                <a:solidFill>
                  <a:schemeClr val="tx1"/>
                </a:solidFill>
              </a:endParaRPr>
            </a:p>
          </p:txBody>
        </p:sp>
        <p:cxnSp>
          <p:nvCxnSpPr>
            <p:cNvPr id="20" name="Straight Connector 19"/>
            <p:cNvCxnSpPr/>
            <p:nvPr/>
          </p:nvCxnSpPr>
          <p:spPr>
            <a:xfrm flipH="1">
              <a:off x="6228184" y="2385535"/>
              <a:ext cx="1512168" cy="19165"/>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5718319" y="4232397"/>
              <a:ext cx="1459746" cy="2074"/>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5727614" y="2854753"/>
              <a:ext cx="23063" cy="1377645"/>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6444208" y="2011182"/>
              <a:ext cx="936104" cy="276999"/>
            </a:xfrm>
            <a:prstGeom prst="rect">
              <a:avLst/>
            </a:prstGeom>
            <a:solidFill>
              <a:schemeClr val="bg1">
                <a:lumMod val="85000"/>
              </a:schemeClr>
            </a:solidFill>
            <a:ln>
              <a:solidFill>
                <a:schemeClr val="tx1"/>
              </a:solidFill>
            </a:ln>
          </p:spPr>
          <p:txBody>
            <a:bodyPr wrap="square" rtlCol="0">
              <a:spAutoFit/>
            </a:bodyPr>
            <a:lstStyle/>
            <a:p>
              <a:pPr algn="ctr"/>
              <a:r>
                <a:rPr lang="en-US" sz="1200" b="1" dirty="0">
                  <a:latin typeface="Calibri" panose="020F0502020204030204" pitchFamily="34" charset="0"/>
                  <a:cs typeface="Consolas" panose="020B0609020204030204" pitchFamily="49" charset="0"/>
                </a:rPr>
                <a:t>Packet to 5</a:t>
              </a:r>
              <a:endParaRPr lang="sk-SK" sz="1200" b="1" dirty="0">
                <a:latin typeface="Calibri" panose="020F0502020204030204" pitchFamily="34" charset="0"/>
                <a:cs typeface="Consolas" panose="020B0609020204030204" pitchFamily="49" charset="0"/>
              </a:endParaRPr>
            </a:p>
          </p:txBody>
        </p:sp>
        <p:sp>
          <p:nvSpPr>
            <p:cNvPr id="24" name="TextBox 23"/>
            <p:cNvSpPr txBox="1"/>
            <p:nvPr/>
          </p:nvSpPr>
          <p:spPr>
            <a:xfrm>
              <a:off x="6444208" y="1763800"/>
              <a:ext cx="936104" cy="276999"/>
            </a:xfrm>
            <a:prstGeom prst="rect">
              <a:avLst/>
            </a:prstGeom>
            <a:solidFill>
              <a:srgbClr val="FFC000"/>
            </a:solidFill>
            <a:ln>
              <a:solidFill>
                <a:schemeClr val="tx1"/>
              </a:solidFill>
            </a:ln>
          </p:spPr>
          <p:txBody>
            <a:bodyPr wrap="square" rtlCol="0">
              <a:spAutoFit/>
            </a:bodyPr>
            <a:lstStyle/>
            <a:p>
              <a:pPr algn="ctr"/>
              <a:r>
                <a:rPr lang="en-US" sz="1200" b="1" dirty="0">
                  <a:latin typeface="Calibri" panose="020F0502020204030204" pitchFamily="34" charset="0"/>
                  <a:cs typeface="Consolas" panose="020B0609020204030204" pitchFamily="49" charset="0"/>
                </a:rPr>
                <a:t>24045</a:t>
              </a:r>
              <a:endParaRPr lang="sk-SK" sz="1200" b="1" dirty="0">
                <a:latin typeface="Calibri" panose="020F0502020204030204" pitchFamily="34" charset="0"/>
                <a:cs typeface="Consolas" panose="020B0609020204030204" pitchFamily="49" charset="0"/>
              </a:endParaRPr>
            </a:p>
          </p:txBody>
        </p:sp>
        <p:sp>
          <p:nvSpPr>
            <p:cNvPr id="25" name="TextBox 24"/>
            <p:cNvSpPr txBox="1"/>
            <p:nvPr/>
          </p:nvSpPr>
          <p:spPr>
            <a:xfrm>
              <a:off x="6444208" y="1491630"/>
              <a:ext cx="936104" cy="276999"/>
            </a:xfrm>
            <a:prstGeom prst="rect">
              <a:avLst/>
            </a:prstGeom>
            <a:solidFill>
              <a:schemeClr val="accent1"/>
            </a:solidFill>
            <a:ln>
              <a:solidFill>
                <a:schemeClr val="tx1"/>
              </a:solidFill>
            </a:ln>
          </p:spPr>
          <p:txBody>
            <a:bodyPr wrap="square" rtlCol="0">
              <a:spAutoFit/>
            </a:bodyPr>
            <a:lstStyle/>
            <a:p>
              <a:pPr algn="ctr"/>
              <a:r>
                <a:rPr lang="en-US" sz="1200" b="1" dirty="0">
                  <a:latin typeface="Calibri" panose="020F0502020204030204" pitchFamily="34" charset="0"/>
                  <a:cs typeface="Consolas" panose="020B0609020204030204" pitchFamily="49" charset="0"/>
                </a:rPr>
                <a:t>16004</a:t>
              </a:r>
              <a:endParaRPr lang="sk-SK" sz="1200" b="1" dirty="0">
                <a:latin typeface="Calibri" panose="020F0502020204030204" pitchFamily="34" charset="0"/>
                <a:cs typeface="Consolas" panose="020B0609020204030204" pitchFamily="49" charset="0"/>
              </a:endParaRPr>
            </a:p>
          </p:txBody>
        </p:sp>
        <p:sp>
          <p:nvSpPr>
            <p:cNvPr id="26" name="TextBox 25"/>
            <p:cNvSpPr txBox="1"/>
            <p:nvPr/>
          </p:nvSpPr>
          <p:spPr>
            <a:xfrm>
              <a:off x="6444208" y="3451342"/>
              <a:ext cx="936104" cy="276999"/>
            </a:xfrm>
            <a:prstGeom prst="rect">
              <a:avLst/>
            </a:prstGeom>
            <a:solidFill>
              <a:schemeClr val="bg1">
                <a:lumMod val="85000"/>
              </a:schemeClr>
            </a:solidFill>
            <a:ln>
              <a:solidFill>
                <a:schemeClr val="tx1"/>
              </a:solidFill>
            </a:ln>
          </p:spPr>
          <p:txBody>
            <a:bodyPr wrap="square" rtlCol="0">
              <a:spAutoFit/>
            </a:bodyPr>
            <a:lstStyle/>
            <a:p>
              <a:pPr algn="ctr"/>
              <a:r>
                <a:rPr lang="en-US" sz="1200" b="1" dirty="0">
                  <a:latin typeface="Calibri" panose="020F0502020204030204" pitchFamily="34" charset="0"/>
                  <a:cs typeface="Consolas" panose="020B0609020204030204" pitchFamily="49" charset="0"/>
                </a:rPr>
                <a:t>Packet to 5</a:t>
              </a:r>
              <a:endParaRPr lang="sk-SK" sz="1200" b="1" dirty="0">
                <a:latin typeface="Calibri" panose="020F0502020204030204" pitchFamily="34" charset="0"/>
                <a:cs typeface="Consolas" panose="020B0609020204030204" pitchFamily="49" charset="0"/>
              </a:endParaRPr>
            </a:p>
          </p:txBody>
        </p:sp>
        <p:sp>
          <p:nvSpPr>
            <p:cNvPr id="27" name="TextBox 26"/>
            <p:cNvSpPr txBox="1"/>
            <p:nvPr/>
          </p:nvSpPr>
          <p:spPr>
            <a:xfrm>
              <a:off x="6444208" y="3203960"/>
              <a:ext cx="936104" cy="276999"/>
            </a:xfrm>
            <a:prstGeom prst="rect">
              <a:avLst/>
            </a:prstGeom>
            <a:solidFill>
              <a:srgbClr val="FFC000"/>
            </a:solidFill>
            <a:ln>
              <a:solidFill>
                <a:schemeClr val="tx1"/>
              </a:solidFill>
            </a:ln>
          </p:spPr>
          <p:txBody>
            <a:bodyPr wrap="square" rtlCol="0">
              <a:spAutoFit/>
            </a:bodyPr>
            <a:lstStyle/>
            <a:p>
              <a:pPr algn="ctr"/>
              <a:r>
                <a:rPr lang="en-US" sz="1200" b="1" dirty="0">
                  <a:latin typeface="Calibri" panose="020F0502020204030204" pitchFamily="34" charset="0"/>
                  <a:cs typeface="Consolas" panose="020B0609020204030204" pitchFamily="49" charset="0"/>
                </a:rPr>
                <a:t>24045</a:t>
              </a:r>
              <a:endParaRPr lang="sk-SK" sz="1200" b="1" dirty="0">
                <a:latin typeface="Calibri" panose="020F0502020204030204" pitchFamily="34" charset="0"/>
                <a:cs typeface="Consolas" panose="020B0609020204030204" pitchFamily="49" charset="0"/>
              </a:endParaRPr>
            </a:p>
          </p:txBody>
        </p:sp>
      </p:grpSp>
    </p:spTree>
    <p:extLst>
      <p:ext uri="{BB962C8B-B14F-4D97-AF65-F5344CB8AC3E}">
        <p14:creationId xmlns:p14="http://schemas.microsoft.com/office/powerpoint/2010/main" val="26135346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7DF76D3A-5E3E-4BC8-8F39-771134FF4322}"/>
              </a:ext>
            </a:extLst>
          </p:cNvPr>
          <p:cNvSpPr>
            <a:spLocks noGrp="1"/>
          </p:cNvSpPr>
          <p:nvPr>
            <p:ph type="body" idx="1"/>
          </p:nvPr>
        </p:nvSpPr>
        <p:spPr/>
        <p:txBody>
          <a:bodyPr/>
          <a:lstStyle/>
          <a:p>
            <a:r>
              <a:rPr lang="en-US" dirty="0"/>
              <a:t>IGP Control Plane</a:t>
            </a:r>
          </a:p>
        </p:txBody>
      </p:sp>
      <p:sp>
        <p:nvSpPr>
          <p:cNvPr id="2" name="Text Placeholder 1">
            <a:extLst>
              <a:ext uri="{FF2B5EF4-FFF2-40B4-BE49-F238E27FC236}">
                <a16:creationId xmlns:a16="http://schemas.microsoft.com/office/drawing/2014/main" id="{B367786B-A4DD-DB9E-9087-78A451525AAC}"/>
              </a:ext>
            </a:extLst>
          </p:cNvPr>
          <p:cNvSpPr>
            <a:spLocks noGrp="1"/>
          </p:cNvSpPr>
          <p:nvPr>
            <p:ph type="body" sz="quarter" idx="15"/>
          </p:nvPr>
        </p:nvSpPr>
        <p:spPr/>
        <p:txBody>
          <a:bodyPr/>
          <a:lstStyle/>
          <a:p>
            <a:r>
              <a:rPr lang="en-US" dirty="0">
                <a:cs typeface="Calibri" pitchFamily="34" charset="0"/>
              </a:rPr>
              <a:t>SRv6 and service migration</a:t>
            </a:r>
            <a:endParaRPr lang="cs-CZ" dirty="0"/>
          </a:p>
        </p:txBody>
      </p:sp>
      <p:sp>
        <p:nvSpPr>
          <p:cNvPr id="5" name="Zástupný text 4">
            <a:extLst>
              <a:ext uri="{FF2B5EF4-FFF2-40B4-BE49-F238E27FC236}">
                <a16:creationId xmlns:a16="http://schemas.microsoft.com/office/drawing/2014/main" id="{CA46CB7B-0002-4873-B253-4D2438CC3611}"/>
              </a:ext>
            </a:extLst>
          </p:cNvPr>
          <p:cNvSpPr>
            <a:spLocks noGrp="1"/>
          </p:cNvSpPr>
          <p:nvPr>
            <p:ph type="body" sz="quarter" idx="13"/>
          </p:nvPr>
        </p:nvSpPr>
        <p:spPr/>
        <p:txBody>
          <a:bodyPr/>
          <a:lstStyle/>
          <a:p>
            <a:r>
              <a:rPr lang="en-US" dirty="0"/>
              <a:t>Segment Routing over MPLS/IPv6 dataplane</a:t>
            </a:r>
          </a:p>
        </p:txBody>
      </p:sp>
      <p:sp>
        <p:nvSpPr>
          <p:cNvPr id="6" name="Zástupný text 5">
            <a:extLst>
              <a:ext uri="{FF2B5EF4-FFF2-40B4-BE49-F238E27FC236}">
                <a16:creationId xmlns:a16="http://schemas.microsoft.com/office/drawing/2014/main" id="{955FA430-FA92-4EB5-849C-E3D05AB9B217}"/>
              </a:ext>
            </a:extLst>
          </p:cNvPr>
          <p:cNvSpPr>
            <a:spLocks noGrp="1"/>
          </p:cNvSpPr>
          <p:nvPr>
            <p:ph type="body" sz="quarter" idx="14"/>
          </p:nvPr>
        </p:nvSpPr>
        <p:spPr/>
        <p:txBody>
          <a:bodyPr/>
          <a:lstStyle/>
          <a:p>
            <a:r>
              <a:rPr lang="en-US" dirty="0"/>
              <a:t>SRv6 “extension”</a:t>
            </a:r>
          </a:p>
        </p:txBody>
      </p:sp>
    </p:spTree>
    <p:extLst>
      <p:ext uri="{BB962C8B-B14F-4D97-AF65-F5344CB8AC3E}">
        <p14:creationId xmlns:p14="http://schemas.microsoft.com/office/powerpoint/2010/main" val="24118551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939372E-07CC-D4FA-3F02-3DEB83A515A4}"/>
              </a:ext>
            </a:extLst>
          </p:cNvPr>
          <p:cNvSpPr>
            <a:spLocks noGrp="1"/>
          </p:cNvSpPr>
          <p:nvPr>
            <p:ph type="body" sz="quarter" idx="10"/>
          </p:nvPr>
        </p:nvSpPr>
        <p:spPr>
          <a:xfrm>
            <a:off x="873918" y="1047565"/>
            <a:ext cx="6710913" cy="4835519"/>
          </a:xfrm>
        </p:spPr>
        <p:txBody>
          <a:bodyPr/>
          <a:lstStyle/>
          <a:p>
            <a:r>
              <a:rPr lang="en-US" dirty="0"/>
              <a:t>Uses TLVs</a:t>
            </a:r>
          </a:p>
          <a:p>
            <a:r>
              <a:rPr lang="en-US" dirty="0"/>
              <a:t>For SRv6:</a:t>
            </a:r>
          </a:p>
          <a:p>
            <a:pPr lvl="1"/>
            <a:r>
              <a:rPr lang="en-US" dirty="0"/>
              <a:t>Locator – for Reachability (twice for backward compatibility)</a:t>
            </a:r>
          </a:p>
          <a:p>
            <a:pPr lvl="1"/>
            <a:r>
              <a:rPr lang="en-US" dirty="0"/>
              <a:t>END function - TI-LFA and TE</a:t>
            </a:r>
          </a:p>
          <a:p>
            <a:pPr lvl="1"/>
            <a:r>
              <a:rPr lang="en-US" dirty="0"/>
              <a:t>END.X function for each interface in routing protocol TI-LFA and TE</a:t>
            </a:r>
          </a:p>
          <a:p>
            <a:r>
              <a:rPr lang="en-US" dirty="0"/>
              <a:t>Capabilities: </a:t>
            </a:r>
          </a:p>
          <a:p>
            <a:r>
              <a:rPr lang="en-US" dirty="0"/>
              <a:t>Max SID depth for different functions</a:t>
            </a:r>
          </a:p>
          <a:p>
            <a:endParaRPr lang="en-US" dirty="0"/>
          </a:p>
          <a:p>
            <a:endParaRPr lang="en-US" dirty="0"/>
          </a:p>
          <a:p>
            <a:r>
              <a:rPr lang="en-US" dirty="0"/>
              <a:t>OSPF will follow (</a:t>
            </a:r>
            <a:r>
              <a:rPr lang="en-US" dirty="0" err="1"/>
              <a:t>RFC9513</a:t>
            </a:r>
            <a:r>
              <a:rPr lang="en-US" dirty="0"/>
              <a:t>) but not (yet) supported on Cisco</a:t>
            </a:r>
          </a:p>
        </p:txBody>
      </p:sp>
      <p:sp>
        <p:nvSpPr>
          <p:cNvPr id="7" name="Text Placeholder 6">
            <a:extLst>
              <a:ext uri="{FF2B5EF4-FFF2-40B4-BE49-F238E27FC236}">
                <a16:creationId xmlns:a16="http://schemas.microsoft.com/office/drawing/2014/main" id="{93B7AB54-2093-2BBA-A0A5-24FD0F944FFD}"/>
              </a:ext>
            </a:extLst>
          </p:cNvPr>
          <p:cNvSpPr>
            <a:spLocks noGrp="1"/>
          </p:cNvSpPr>
          <p:nvPr>
            <p:ph type="body" sz="quarter" idx="11"/>
          </p:nvPr>
        </p:nvSpPr>
        <p:spPr/>
        <p:txBody>
          <a:bodyPr/>
          <a:lstStyle/>
          <a:p>
            <a:r>
              <a:rPr lang="en-US" dirty="0"/>
              <a:t>ISIS easily extensible</a:t>
            </a:r>
          </a:p>
        </p:txBody>
      </p:sp>
      <p:sp>
        <p:nvSpPr>
          <p:cNvPr id="10" name="TextBox 9">
            <a:extLst>
              <a:ext uri="{FF2B5EF4-FFF2-40B4-BE49-F238E27FC236}">
                <a16:creationId xmlns:a16="http://schemas.microsoft.com/office/drawing/2014/main" id="{C4B9D8A7-BA71-EBBE-6F37-7A3053A3A5F8}"/>
              </a:ext>
            </a:extLst>
          </p:cNvPr>
          <p:cNvSpPr txBox="1"/>
          <p:nvPr/>
        </p:nvSpPr>
        <p:spPr>
          <a:xfrm>
            <a:off x="8944708" y="2919046"/>
            <a:ext cx="914400" cy="914400"/>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endParaRPr kumimoji="0" lang="en-US" sz="2400" b="1" i="0" u="none" strike="noStrike" kern="1200" cap="none" spc="0" normalizeH="0" baseline="0" noProof="0" dirty="0" err="1">
              <a:ln>
                <a:noFill/>
              </a:ln>
              <a:solidFill>
                <a:schemeClr val="tx1"/>
              </a:solidFill>
              <a:effectLst/>
              <a:uLnTx/>
              <a:uFillTx/>
              <a:latin typeface="Arial" panose="020B0604020202020204"/>
              <a:ea typeface="+mn-ea"/>
              <a:cs typeface="+mn-cs"/>
            </a:endParaRPr>
          </a:p>
        </p:txBody>
      </p:sp>
      <p:sp>
        <p:nvSpPr>
          <p:cNvPr id="12" name="TextBox 11">
            <a:extLst>
              <a:ext uri="{FF2B5EF4-FFF2-40B4-BE49-F238E27FC236}">
                <a16:creationId xmlns:a16="http://schemas.microsoft.com/office/drawing/2014/main" id="{8CB9D970-6E72-4EA0-A228-E5D9B00DB528}"/>
              </a:ext>
            </a:extLst>
          </p:cNvPr>
          <p:cNvSpPr txBox="1"/>
          <p:nvPr/>
        </p:nvSpPr>
        <p:spPr>
          <a:xfrm>
            <a:off x="10395439" y="2069828"/>
            <a:ext cx="1793630" cy="646331"/>
          </a:xfrm>
          <a:prstGeom prst="rect">
            <a:avLst/>
          </a:prstGeom>
          <a:noFill/>
        </p:spPr>
        <p:txBody>
          <a:bodyPr wrap="square">
            <a:spAutoFit/>
          </a:bodyPr>
          <a:lstStyle/>
          <a:p>
            <a:r>
              <a:rPr lang="en-US" b="1" dirty="0">
                <a:solidFill>
                  <a:srgbClr val="00B050"/>
                </a:solidFill>
                <a:latin typeface="Consolas" panose="020B0609020204030204" pitchFamily="49" charset="0"/>
              </a:rPr>
              <a:t>END.X: </a:t>
            </a:r>
            <a:r>
              <a:rPr lang="en-US" dirty="0">
                <a:solidFill>
                  <a:srgbClr val="00B050"/>
                </a:solidFill>
                <a:latin typeface="Consolas" panose="020B0609020204030204" pitchFamily="49" charset="0"/>
              </a:rPr>
              <a:t>B::41</a:t>
            </a:r>
          </a:p>
          <a:p>
            <a:r>
              <a:rPr lang="en-US" b="1" dirty="0">
                <a:solidFill>
                  <a:srgbClr val="00B0F0"/>
                </a:solidFill>
                <a:latin typeface="Consolas" panose="020B0609020204030204" pitchFamily="49" charset="0"/>
              </a:rPr>
              <a:t>2001::12/64</a:t>
            </a:r>
          </a:p>
        </p:txBody>
      </p:sp>
      <p:sp>
        <p:nvSpPr>
          <p:cNvPr id="13" name="TextBox 12">
            <a:extLst>
              <a:ext uri="{FF2B5EF4-FFF2-40B4-BE49-F238E27FC236}">
                <a16:creationId xmlns:a16="http://schemas.microsoft.com/office/drawing/2014/main" id="{81BC4FD6-165B-58C5-9C99-08A8B9E517D2}"/>
              </a:ext>
            </a:extLst>
          </p:cNvPr>
          <p:cNvSpPr txBox="1"/>
          <p:nvPr/>
        </p:nvSpPr>
        <p:spPr>
          <a:xfrm>
            <a:off x="8420099" y="1702978"/>
            <a:ext cx="1330569" cy="369332"/>
          </a:xfrm>
          <a:prstGeom prst="rect">
            <a:avLst/>
          </a:prstGeom>
          <a:noFill/>
        </p:spPr>
        <p:txBody>
          <a:bodyPr wrap="square">
            <a:spAutoFit/>
          </a:bodyPr>
          <a:lstStyle>
            <a:defPPr>
              <a:defRPr lang="sk-SK"/>
            </a:defPPr>
            <a:lvl1pPr>
              <a:defRPr b="1">
                <a:solidFill>
                  <a:srgbClr val="00B050"/>
                </a:solidFill>
                <a:latin typeface="Consolas" panose="020B0609020204030204" pitchFamily="49" charset="0"/>
              </a:defRPr>
            </a:lvl1pPr>
          </a:lstStyle>
          <a:p>
            <a:r>
              <a:rPr lang="en-US" dirty="0"/>
              <a:t>END: </a:t>
            </a:r>
            <a:r>
              <a:rPr lang="en-US" b="0" dirty="0"/>
              <a:t>B::1</a:t>
            </a:r>
          </a:p>
        </p:txBody>
      </p:sp>
      <p:sp>
        <p:nvSpPr>
          <p:cNvPr id="14" name="TextBox 13">
            <a:extLst>
              <a:ext uri="{FF2B5EF4-FFF2-40B4-BE49-F238E27FC236}">
                <a16:creationId xmlns:a16="http://schemas.microsoft.com/office/drawing/2014/main" id="{33F83C5A-C27B-ECC6-CFF7-3DA996E21D66}"/>
              </a:ext>
            </a:extLst>
          </p:cNvPr>
          <p:cNvSpPr txBox="1"/>
          <p:nvPr/>
        </p:nvSpPr>
        <p:spPr>
          <a:xfrm>
            <a:off x="9117624" y="2431932"/>
            <a:ext cx="1330569" cy="369332"/>
          </a:xfrm>
          <a:prstGeom prst="rect">
            <a:avLst/>
          </a:prstGeom>
          <a:noFill/>
        </p:spPr>
        <p:txBody>
          <a:bodyPr wrap="square">
            <a:spAutoFit/>
          </a:bodyPr>
          <a:lstStyle>
            <a:defPPr>
              <a:defRPr lang="sk-SK"/>
            </a:defPPr>
            <a:lvl1pPr>
              <a:defRPr b="1">
                <a:solidFill>
                  <a:srgbClr val="00B050"/>
                </a:solidFill>
                <a:latin typeface="Consolas" panose="020B0609020204030204" pitchFamily="49" charset="0"/>
              </a:defRPr>
            </a:lvl1pPr>
          </a:lstStyle>
          <a:p>
            <a:r>
              <a:rPr lang="en-US" dirty="0">
                <a:solidFill>
                  <a:schemeClr val="tx1"/>
                </a:solidFill>
              </a:rPr>
              <a:t>Te0/0/0/0</a:t>
            </a:r>
          </a:p>
        </p:txBody>
      </p:sp>
      <p:sp>
        <p:nvSpPr>
          <p:cNvPr id="15" name="TextBox 14">
            <a:extLst>
              <a:ext uri="{FF2B5EF4-FFF2-40B4-BE49-F238E27FC236}">
                <a16:creationId xmlns:a16="http://schemas.microsoft.com/office/drawing/2014/main" id="{83640C8B-79CB-20E6-E8B6-F32393FB65D5}"/>
              </a:ext>
            </a:extLst>
          </p:cNvPr>
          <p:cNvSpPr txBox="1"/>
          <p:nvPr/>
        </p:nvSpPr>
        <p:spPr>
          <a:xfrm>
            <a:off x="9148398" y="3288040"/>
            <a:ext cx="1330569" cy="369332"/>
          </a:xfrm>
          <a:prstGeom prst="rect">
            <a:avLst/>
          </a:prstGeom>
          <a:noFill/>
        </p:spPr>
        <p:txBody>
          <a:bodyPr wrap="square">
            <a:spAutoFit/>
          </a:bodyPr>
          <a:lstStyle>
            <a:defPPr>
              <a:defRPr lang="sk-SK"/>
            </a:defPPr>
            <a:lvl1pPr>
              <a:defRPr b="1">
                <a:solidFill>
                  <a:srgbClr val="00B050"/>
                </a:solidFill>
                <a:latin typeface="Consolas" panose="020B0609020204030204" pitchFamily="49" charset="0"/>
              </a:defRPr>
            </a:lvl1pPr>
          </a:lstStyle>
          <a:p>
            <a:r>
              <a:rPr lang="en-US" dirty="0">
                <a:solidFill>
                  <a:schemeClr val="tx1"/>
                </a:solidFill>
              </a:rPr>
              <a:t>Te0/0/0/1</a:t>
            </a:r>
          </a:p>
        </p:txBody>
      </p:sp>
      <p:sp>
        <p:nvSpPr>
          <p:cNvPr id="16" name="TextBox 15">
            <a:extLst>
              <a:ext uri="{FF2B5EF4-FFF2-40B4-BE49-F238E27FC236}">
                <a16:creationId xmlns:a16="http://schemas.microsoft.com/office/drawing/2014/main" id="{D7ABAE62-04B6-AAB5-69F0-F67937C52137}"/>
              </a:ext>
            </a:extLst>
          </p:cNvPr>
          <p:cNvSpPr txBox="1"/>
          <p:nvPr/>
        </p:nvSpPr>
        <p:spPr>
          <a:xfrm>
            <a:off x="10395439" y="2782669"/>
            <a:ext cx="1793630" cy="646331"/>
          </a:xfrm>
          <a:prstGeom prst="rect">
            <a:avLst/>
          </a:prstGeom>
          <a:noFill/>
        </p:spPr>
        <p:txBody>
          <a:bodyPr wrap="square">
            <a:spAutoFit/>
          </a:bodyPr>
          <a:lstStyle/>
          <a:p>
            <a:r>
              <a:rPr lang="en-US" b="1" dirty="0">
                <a:solidFill>
                  <a:srgbClr val="00B050"/>
                </a:solidFill>
                <a:latin typeface="Consolas" panose="020B0609020204030204" pitchFamily="49" charset="0"/>
              </a:rPr>
              <a:t>END.X: </a:t>
            </a:r>
            <a:r>
              <a:rPr lang="en-US" dirty="0">
                <a:solidFill>
                  <a:srgbClr val="00B050"/>
                </a:solidFill>
                <a:latin typeface="Consolas" panose="020B0609020204030204" pitchFamily="49" charset="0"/>
              </a:rPr>
              <a:t>B::42</a:t>
            </a:r>
          </a:p>
          <a:p>
            <a:r>
              <a:rPr lang="en-US" b="1" dirty="0">
                <a:solidFill>
                  <a:srgbClr val="00B0F0"/>
                </a:solidFill>
                <a:latin typeface="Consolas" panose="020B0609020204030204" pitchFamily="49" charset="0"/>
              </a:rPr>
              <a:t>FE80::1/64</a:t>
            </a:r>
          </a:p>
        </p:txBody>
      </p:sp>
      <p:sp>
        <p:nvSpPr>
          <p:cNvPr id="17" name="TextBox 16">
            <a:extLst>
              <a:ext uri="{FF2B5EF4-FFF2-40B4-BE49-F238E27FC236}">
                <a16:creationId xmlns:a16="http://schemas.microsoft.com/office/drawing/2014/main" id="{53046EF6-554C-8212-3064-58C2E6BA7721}"/>
              </a:ext>
            </a:extLst>
          </p:cNvPr>
          <p:cNvSpPr txBox="1"/>
          <p:nvPr/>
        </p:nvSpPr>
        <p:spPr>
          <a:xfrm>
            <a:off x="8324849" y="3706140"/>
            <a:ext cx="2070589" cy="369332"/>
          </a:xfrm>
          <a:prstGeom prst="rect">
            <a:avLst/>
          </a:prstGeom>
          <a:noFill/>
        </p:spPr>
        <p:txBody>
          <a:bodyPr wrap="square">
            <a:spAutoFit/>
          </a:bodyPr>
          <a:lstStyle>
            <a:defPPr>
              <a:defRPr lang="sk-SK"/>
            </a:defPPr>
            <a:lvl1pPr>
              <a:defRPr b="1">
                <a:solidFill>
                  <a:srgbClr val="00B050"/>
                </a:solidFill>
                <a:latin typeface="Consolas" panose="020B0609020204030204" pitchFamily="49" charset="0"/>
              </a:defRPr>
            </a:lvl1pPr>
          </a:lstStyle>
          <a:p>
            <a:r>
              <a:rPr lang="en-US" dirty="0"/>
              <a:t>Locator: </a:t>
            </a:r>
            <a:r>
              <a:rPr lang="en-US" b="0" dirty="0"/>
              <a:t>B::/64</a:t>
            </a:r>
          </a:p>
        </p:txBody>
      </p:sp>
      <p:sp>
        <p:nvSpPr>
          <p:cNvPr id="18" name="TextBox 17">
            <a:extLst>
              <a:ext uri="{FF2B5EF4-FFF2-40B4-BE49-F238E27FC236}">
                <a16:creationId xmlns:a16="http://schemas.microsoft.com/office/drawing/2014/main" id="{125DA065-C7CB-B21A-A845-689A374684E8}"/>
              </a:ext>
            </a:extLst>
          </p:cNvPr>
          <p:cNvSpPr txBox="1"/>
          <p:nvPr/>
        </p:nvSpPr>
        <p:spPr>
          <a:xfrm>
            <a:off x="7584831" y="2568232"/>
            <a:ext cx="671146" cy="369332"/>
          </a:xfrm>
          <a:prstGeom prst="rect">
            <a:avLst/>
          </a:prstGeom>
          <a:noFill/>
        </p:spPr>
        <p:txBody>
          <a:bodyPr wrap="square">
            <a:spAutoFit/>
          </a:bodyPr>
          <a:lstStyle>
            <a:defPPr>
              <a:defRPr lang="sk-SK"/>
            </a:defPPr>
            <a:lvl1pPr>
              <a:defRPr b="1">
                <a:solidFill>
                  <a:srgbClr val="00B050"/>
                </a:solidFill>
                <a:latin typeface="Consolas" panose="020B0609020204030204" pitchFamily="49" charset="0"/>
              </a:defRPr>
            </a:lvl1pPr>
          </a:lstStyle>
          <a:p>
            <a:r>
              <a:rPr lang="en-US" dirty="0">
                <a:solidFill>
                  <a:schemeClr val="tx1"/>
                </a:solidFill>
              </a:rPr>
              <a:t>Lo0</a:t>
            </a:r>
          </a:p>
        </p:txBody>
      </p:sp>
      <p:sp>
        <p:nvSpPr>
          <p:cNvPr id="19" name="TextBox 18">
            <a:extLst>
              <a:ext uri="{FF2B5EF4-FFF2-40B4-BE49-F238E27FC236}">
                <a16:creationId xmlns:a16="http://schemas.microsoft.com/office/drawing/2014/main" id="{89CF126D-D47A-69F2-E992-4F6F22371E68}"/>
              </a:ext>
            </a:extLst>
          </p:cNvPr>
          <p:cNvSpPr txBox="1"/>
          <p:nvPr/>
        </p:nvSpPr>
        <p:spPr>
          <a:xfrm>
            <a:off x="6471138" y="2578479"/>
            <a:ext cx="1222132" cy="369332"/>
          </a:xfrm>
          <a:prstGeom prst="rect">
            <a:avLst/>
          </a:prstGeom>
          <a:noFill/>
        </p:spPr>
        <p:txBody>
          <a:bodyPr wrap="square">
            <a:spAutoFit/>
          </a:bodyPr>
          <a:lstStyle/>
          <a:p>
            <a:r>
              <a:rPr lang="en-US" b="1" dirty="0">
                <a:solidFill>
                  <a:srgbClr val="00B0F0"/>
                </a:solidFill>
                <a:latin typeface="Consolas" panose="020B0609020204030204" pitchFamily="49" charset="0"/>
              </a:rPr>
              <a:t>A::1/128</a:t>
            </a:r>
          </a:p>
        </p:txBody>
      </p:sp>
      <p:sp>
        <p:nvSpPr>
          <p:cNvPr id="20" name="TextBox 19">
            <a:extLst>
              <a:ext uri="{FF2B5EF4-FFF2-40B4-BE49-F238E27FC236}">
                <a16:creationId xmlns:a16="http://schemas.microsoft.com/office/drawing/2014/main" id="{1A69E40E-A7E5-AE53-3844-D952C9437970}"/>
              </a:ext>
            </a:extLst>
          </p:cNvPr>
          <p:cNvSpPr txBox="1"/>
          <p:nvPr/>
        </p:nvSpPr>
        <p:spPr>
          <a:xfrm>
            <a:off x="7584832" y="785446"/>
            <a:ext cx="2836984" cy="3681046"/>
          </a:xfrm>
          <a:prstGeom prst="rect">
            <a:avLst/>
          </a:prstGeom>
          <a:ln w="34925">
            <a:solidFill>
              <a:schemeClr val="bg1">
                <a:lumMod val="50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Router 1</a:t>
            </a:r>
          </a:p>
        </p:txBody>
      </p:sp>
      <p:cxnSp>
        <p:nvCxnSpPr>
          <p:cNvPr id="22" name="Straight Connector 21">
            <a:extLst>
              <a:ext uri="{FF2B5EF4-FFF2-40B4-BE49-F238E27FC236}">
                <a16:creationId xmlns:a16="http://schemas.microsoft.com/office/drawing/2014/main" id="{9EE45266-446B-71B4-A7A3-F55D1FEB5001}"/>
              </a:ext>
            </a:extLst>
          </p:cNvPr>
          <p:cNvCxnSpPr>
            <a:stCxn id="20" idx="3"/>
          </p:cNvCxnSpPr>
          <p:nvPr/>
        </p:nvCxnSpPr>
        <p:spPr>
          <a:xfrm>
            <a:off x="10421816" y="2625969"/>
            <a:ext cx="1767253"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00798EA-B6A6-0AAB-CC93-1DF3817A378C}"/>
              </a:ext>
            </a:extLst>
          </p:cNvPr>
          <p:cNvCxnSpPr/>
          <p:nvPr/>
        </p:nvCxnSpPr>
        <p:spPr>
          <a:xfrm>
            <a:off x="10408627" y="3429000"/>
            <a:ext cx="1767253"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39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7DF76D3A-5E3E-4BC8-8F39-771134FF4322}"/>
              </a:ext>
            </a:extLst>
          </p:cNvPr>
          <p:cNvSpPr>
            <a:spLocks noGrp="1"/>
          </p:cNvSpPr>
          <p:nvPr>
            <p:ph type="body" idx="1"/>
          </p:nvPr>
        </p:nvSpPr>
        <p:spPr/>
        <p:txBody>
          <a:bodyPr/>
          <a:lstStyle/>
          <a:p>
            <a:r>
              <a:rPr lang="en-US" noProof="0" dirty="0"/>
              <a:t>Segment Routing</a:t>
            </a:r>
          </a:p>
          <a:p>
            <a:r>
              <a:rPr lang="en-US" dirty="0"/>
              <a:t>SRv6</a:t>
            </a:r>
            <a:endParaRPr lang="en-US" noProof="0" dirty="0"/>
          </a:p>
        </p:txBody>
      </p:sp>
      <p:sp>
        <p:nvSpPr>
          <p:cNvPr id="2" name="Text Placeholder 1">
            <a:extLst>
              <a:ext uri="{FF2B5EF4-FFF2-40B4-BE49-F238E27FC236}">
                <a16:creationId xmlns:a16="http://schemas.microsoft.com/office/drawing/2014/main" id="{B367786B-A4DD-DB9E-9087-78A451525AAC}"/>
              </a:ext>
            </a:extLst>
          </p:cNvPr>
          <p:cNvSpPr>
            <a:spLocks noGrp="1"/>
          </p:cNvSpPr>
          <p:nvPr>
            <p:ph type="body" sz="quarter" idx="15"/>
          </p:nvPr>
        </p:nvSpPr>
        <p:spPr/>
        <p:txBody>
          <a:bodyPr/>
          <a:lstStyle/>
          <a:p>
            <a:r>
              <a:rPr lang="en-US" dirty="0">
                <a:cs typeface="Calibri" pitchFamily="34" charset="0"/>
              </a:rPr>
              <a:t>SRv6 and service migration</a:t>
            </a:r>
            <a:endParaRPr lang="cs-CZ" dirty="0"/>
          </a:p>
        </p:txBody>
      </p:sp>
      <p:sp>
        <p:nvSpPr>
          <p:cNvPr id="5" name="Zástupný text 4">
            <a:extLst>
              <a:ext uri="{FF2B5EF4-FFF2-40B4-BE49-F238E27FC236}">
                <a16:creationId xmlns:a16="http://schemas.microsoft.com/office/drawing/2014/main" id="{CA46CB7B-0002-4873-B253-4D2438CC3611}"/>
              </a:ext>
            </a:extLst>
          </p:cNvPr>
          <p:cNvSpPr>
            <a:spLocks noGrp="1"/>
          </p:cNvSpPr>
          <p:nvPr>
            <p:ph type="body" sz="quarter" idx="13"/>
          </p:nvPr>
        </p:nvSpPr>
        <p:spPr/>
        <p:txBody>
          <a:bodyPr/>
          <a:lstStyle/>
          <a:p>
            <a:r>
              <a:rPr lang="en-US" dirty="0"/>
              <a:t>Segment Routing over MPLS/IPv6 dataplane</a:t>
            </a:r>
          </a:p>
        </p:txBody>
      </p:sp>
      <p:sp>
        <p:nvSpPr>
          <p:cNvPr id="6" name="Zástupný text 5">
            <a:extLst>
              <a:ext uri="{FF2B5EF4-FFF2-40B4-BE49-F238E27FC236}">
                <a16:creationId xmlns:a16="http://schemas.microsoft.com/office/drawing/2014/main" id="{955FA430-FA92-4EB5-849C-E3D05AB9B217}"/>
              </a:ext>
            </a:extLst>
          </p:cNvPr>
          <p:cNvSpPr>
            <a:spLocks noGrp="1"/>
          </p:cNvSpPr>
          <p:nvPr>
            <p:ph type="body" sz="quarter" idx="14"/>
          </p:nvPr>
        </p:nvSpPr>
        <p:spPr/>
        <p:txBody>
          <a:bodyPr/>
          <a:lstStyle/>
          <a:p>
            <a:r>
              <a:rPr lang="en-US" dirty="0"/>
              <a:t>IPv6 Data Plane</a:t>
            </a:r>
          </a:p>
        </p:txBody>
      </p:sp>
    </p:spTree>
    <p:extLst>
      <p:ext uri="{BB962C8B-B14F-4D97-AF65-F5344CB8AC3E}">
        <p14:creationId xmlns:p14="http://schemas.microsoft.com/office/powerpoint/2010/main" val="25199644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p:txBody>
          <a:bodyPr/>
          <a:lstStyle/>
          <a:p>
            <a:r>
              <a:rPr lang="en-US" dirty="0"/>
              <a:t>SR-IPv6 allows Segment Routing to be deployed over non-MPLS networks and/or in areas of the network where MPLS is not present (e.g.: datacenters)</a:t>
            </a:r>
          </a:p>
          <a:p>
            <a:endParaRPr lang="en-US" dirty="0"/>
          </a:p>
          <a:p>
            <a:r>
              <a:rPr lang="en-US" dirty="0">
                <a:highlight>
                  <a:srgbClr val="FFFF00"/>
                </a:highlight>
              </a:rPr>
              <a:t>Difference is in the bits encoded in the packet not in the architecture</a:t>
            </a:r>
          </a:p>
          <a:p>
            <a:endParaRPr lang="en-US" dirty="0"/>
          </a:p>
          <a:p>
            <a:r>
              <a:rPr lang="en-US" dirty="0"/>
              <a:t>Enabling SR-IPv6, means that ONLY the nodes that have to process the packet header must have </a:t>
            </a:r>
            <a:r>
              <a:rPr lang="en-US" b="1" dirty="0"/>
              <a:t>SR-IPv6</a:t>
            </a:r>
            <a:r>
              <a:rPr lang="en-US" dirty="0"/>
              <a:t> </a:t>
            </a:r>
            <a:r>
              <a:rPr lang="en-US" dirty="0" err="1"/>
              <a:t>dataplane</a:t>
            </a:r>
            <a:r>
              <a:rPr lang="en-US" dirty="0"/>
              <a:t> support</a:t>
            </a:r>
          </a:p>
          <a:p>
            <a:pPr lvl="1"/>
            <a:r>
              <a:rPr lang="en-US" b="1" dirty="0">
                <a:solidFill>
                  <a:schemeClr val="tx2"/>
                </a:solidFill>
              </a:rPr>
              <a:t>All other </a:t>
            </a:r>
            <a:r>
              <a:rPr lang="en-US" dirty="0">
                <a:solidFill>
                  <a:schemeClr val="tx2"/>
                </a:solidFill>
              </a:rPr>
              <a:t>nodes in the infrastructure </a:t>
            </a:r>
            <a:r>
              <a:rPr lang="en-US" b="1" dirty="0">
                <a:solidFill>
                  <a:schemeClr val="tx2"/>
                </a:solidFill>
              </a:rPr>
              <a:t>are just plain IPv6 nodes</a:t>
            </a:r>
          </a:p>
          <a:p>
            <a:endParaRPr lang="en-US" dirty="0"/>
          </a:p>
        </p:txBody>
      </p:sp>
      <p:sp>
        <p:nvSpPr>
          <p:cNvPr id="6" name="Text Placeholder 5"/>
          <p:cNvSpPr>
            <a:spLocks noGrp="1"/>
          </p:cNvSpPr>
          <p:nvPr>
            <p:ph type="body" sz="quarter" idx="11"/>
          </p:nvPr>
        </p:nvSpPr>
        <p:spPr/>
        <p:txBody>
          <a:bodyPr/>
          <a:lstStyle/>
          <a:p>
            <a:r>
              <a:rPr lang="en-US" dirty="0"/>
              <a:t>SR for IPv6 </a:t>
            </a:r>
            <a:r>
              <a:rPr lang="en-US" dirty="0" err="1"/>
              <a:t>Dataplane</a:t>
            </a:r>
            <a:endParaRPr lang="en-US" dirty="0"/>
          </a:p>
        </p:txBody>
      </p:sp>
    </p:spTree>
    <p:extLst>
      <p:ext uri="{BB962C8B-B14F-4D97-AF65-F5344CB8AC3E}">
        <p14:creationId xmlns:p14="http://schemas.microsoft.com/office/powerpoint/2010/main" val="3686213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C3CB0C-2228-CCF1-ECF2-08325EF85E38}"/>
              </a:ext>
            </a:extLst>
          </p:cNvPr>
          <p:cNvSpPr>
            <a:spLocks noGrp="1"/>
          </p:cNvSpPr>
          <p:nvPr>
            <p:ph type="body" sz="quarter" idx="10"/>
          </p:nvPr>
        </p:nvSpPr>
        <p:spPr>
          <a:xfrm>
            <a:off x="2558143" y="1047565"/>
            <a:ext cx="8759938" cy="4835519"/>
          </a:xfrm>
        </p:spPr>
        <p:txBody>
          <a:bodyPr/>
          <a:lstStyle/>
          <a:p>
            <a:r>
              <a:rPr lang="en-US" dirty="0"/>
              <a:t>MPLS</a:t>
            </a:r>
          </a:p>
          <a:p>
            <a:pPr lvl="1"/>
            <a:r>
              <a:rPr lang="en-US" dirty="0"/>
              <a:t>leverage the mature MPLS HW with only SW upgrade</a:t>
            </a:r>
          </a:p>
          <a:p>
            <a:pPr lvl="1"/>
            <a:r>
              <a:rPr lang="en-US" dirty="0"/>
              <a:t>1 segment = 1 label</a:t>
            </a:r>
          </a:p>
          <a:p>
            <a:pPr lvl="1"/>
            <a:r>
              <a:rPr lang="en-US" dirty="0"/>
              <a:t>a segment list = a label stack</a:t>
            </a:r>
          </a:p>
          <a:p>
            <a:pPr lvl="1"/>
            <a:endParaRPr lang="en-US" dirty="0"/>
          </a:p>
          <a:p>
            <a:r>
              <a:rPr lang="en-US" dirty="0"/>
              <a:t>IPv6</a:t>
            </a:r>
          </a:p>
          <a:p>
            <a:pPr lvl="1"/>
            <a:r>
              <a:rPr lang="en-US" dirty="0"/>
              <a:t>leverages RFC8200 provision for source routing extension header</a:t>
            </a:r>
          </a:p>
          <a:p>
            <a:pPr lvl="1"/>
            <a:r>
              <a:rPr lang="en-US" dirty="0"/>
              <a:t>1 segment = 1 address</a:t>
            </a:r>
          </a:p>
          <a:p>
            <a:pPr lvl="1"/>
            <a:r>
              <a:rPr lang="en-US" dirty="0"/>
              <a:t>a segment list = an address list in the SRH</a:t>
            </a:r>
          </a:p>
        </p:txBody>
      </p:sp>
      <p:sp>
        <p:nvSpPr>
          <p:cNvPr id="3" name="Text Placeholder 2">
            <a:extLst>
              <a:ext uri="{FF2B5EF4-FFF2-40B4-BE49-F238E27FC236}">
                <a16:creationId xmlns:a16="http://schemas.microsoft.com/office/drawing/2014/main" id="{41E4C892-E264-F2DC-0EF0-64D00CF09AFC}"/>
              </a:ext>
            </a:extLst>
          </p:cNvPr>
          <p:cNvSpPr>
            <a:spLocks noGrp="1"/>
          </p:cNvSpPr>
          <p:nvPr>
            <p:ph type="body" sz="quarter" idx="11"/>
          </p:nvPr>
        </p:nvSpPr>
        <p:spPr/>
        <p:txBody>
          <a:bodyPr/>
          <a:lstStyle/>
          <a:p>
            <a:r>
              <a:rPr lang="en-US" dirty="0"/>
              <a:t>MPLS vs IPv6 Data Plane</a:t>
            </a:r>
          </a:p>
        </p:txBody>
      </p:sp>
      <p:sp>
        <p:nvSpPr>
          <p:cNvPr id="4" name="TextBox 3">
            <a:extLst>
              <a:ext uri="{FF2B5EF4-FFF2-40B4-BE49-F238E27FC236}">
                <a16:creationId xmlns:a16="http://schemas.microsoft.com/office/drawing/2014/main" id="{9280400F-C67A-4FA7-2232-D7228868AD2A}"/>
              </a:ext>
            </a:extLst>
          </p:cNvPr>
          <p:cNvSpPr txBox="1"/>
          <p:nvPr/>
        </p:nvSpPr>
        <p:spPr>
          <a:xfrm>
            <a:off x="130629" y="2303461"/>
            <a:ext cx="2623458" cy="468086"/>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Segment Routing</a:t>
            </a:r>
          </a:p>
        </p:txBody>
      </p:sp>
      <p:sp>
        <p:nvSpPr>
          <p:cNvPr id="5" name="Arrow: Bent 4">
            <a:extLst>
              <a:ext uri="{FF2B5EF4-FFF2-40B4-BE49-F238E27FC236}">
                <a16:creationId xmlns:a16="http://schemas.microsoft.com/office/drawing/2014/main" id="{EB33E30A-00D1-DEAE-D9C0-6977ACE9F745}"/>
              </a:ext>
            </a:extLst>
          </p:cNvPr>
          <p:cNvSpPr/>
          <p:nvPr/>
        </p:nvSpPr>
        <p:spPr>
          <a:xfrm>
            <a:off x="1072243" y="1100594"/>
            <a:ext cx="1382485" cy="773017"/>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Arrow: Bent 6">
            <a:extLst>
              <a:ext uri="{FF2B5EF4-FFF2-40B4-BE49-F238E27FC236}">
                <a16:creationId xmlns:a16="http://schemas.microsoft.com/office/drawing/2014/main" id="{368BE99A-5B81-EFAB-7759-944A5C51B477}"/>
              </a:ext>
            </a:extLst>
          </p:cNvPr>
          <p:cNvSpPr/>
          <p:nvPr/>
        </p:nvSpPr>
        <p:spPr>
          <a:xfrm rot="10800000" flipH="1">
            <a:off x="1072242" y="2863764"/>
            <a:ext cx="1382485" cy="773017"/>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0030358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p:txBody>
          <a:bodyPr/>
          <a:lstStyle/>
          <a:p>
            <a:r>
              <a:rPr lang="en-US" dirty="0"/>
              <a:t>Segment Routing for IPv6 </a:t>
            </a:r>
            <a:r>
              <a:rPr lang="en-US" dirty="0" err="1"/>
              <a:t>Dataplane</a:t>
            </a:r>
            <a:endParaRPr lang="en-US" dirty="0"/>
          </a:p>
          <a:p>
            <a:pPr lvl="1"/>
            <a:r>
              <a:rPr lang="en-US" dirty="0"/>
              <a:t>Defines SID as 128 bit IPv6 addresses (no label or MPLS Data Plane)</a:t>
            </a:r>
          </a:p>
          <a:p>
            <a:pPr lvl="1"/>
            <a:r>
              <a:rPr lang="en-US" dirty="0"/>
              <a:t>Much simpler from a signaling perspective: </a:t>
            </a:r>
            <a:r>
              <a:rPr lang="en-US" u="sng" dirty="0"/>
              <a:t>no need to advertise anything else than IPv6 prefixes</a:t>
            </a:r>
            <a:r>
              <a:rPr lang="en-US" dirty="0"/>
              <a:t> (the prefix is the SID)</a:t>
            </a:r>
          </a:p>
          <a:p>
            <a:endParaRPr lang="en-US" dirty="0"/>
          </a:p>
          <a:p>
            <a:r>
              <a:rPr lang="en-US" dirty="0"/>
              <a:t>Segments are coded at Header of IPv6 Packet</a:t>
            </a:r>
          </a:p>
          <a:p>
            <a:pPr lvl="1"/>
            <a:r>
              <a:rPr lang="en-US" dirty="0"/>
              <a:t>Define a new Routing Extensions Header type</a:t>
            </a:r>
          </a:p>
          <a:p>
            <a:pPr lvl="2"/>
            <a:r>
              <a:rPr lang="en-US" dirty="0"/>
              <a:t>Segment Routing Header (SRH)</a:t>
            </a:r>
          </a:p>
          <a:p>
            <a:pPr lvl="2"/>
            <a:r>
              <a:rPr lang="en-US" dirty="0"/>
              <a:t>Contains Segment List</a:t>
            </a:r>
          </a:p>
          <a:p>
            <a:pPr lvl="2"/>
            <a:r>
              <a:rPr lang="en-US" dirty="0"/>
              <a:t>VERY close to what already specified in RFC2460</a:t>
            </a:r>
          </a:p>
          <a:p>
            <a:endParaRPr lang="en-US" dirty="0"/>
          </a:p>
        </p:txBody>
      </p:sp>
      <p:sp>
        <p:nvSpPr>
          <p:cNvPr id="6" name="Text Placeholder 5"/>
          <p:cNvSpPr>
            <a:spLocks noGrp="1"/>
          </p:cNvSpPr>
          <p:nvPr>
            <p:ph type="body" sz="quarter" idx="11"/>
          </p:nvPr>
        </p:nvSpPr>
        <p:spPr/>
        <p:txBody>
          <a:bodyPr/>
          <a:lstStyle/>
          <a:p>
            <a:r>
              <a:rPr lang="en-US" dirty="0"/>
              <a:t>SR for IPv6 </a:t>
            </a:r>
            <a:r>
              <a:rPr lang="en-US" dirty="0" err="1"/>
              <a:t>Dataplane</a:t>
            </a:r>
            <a:endParaRPr lang="en-US" dirty="0"/>
          </a:p>
        </p:txBody>
      </p:sp>
      <p:sp>
        <p:nvSpPr>
          <p:cNvPr id="7" name="TextBox 6"/>
          <p:cNvSpPr txBox="1"/>
          <p:nvPr/>
        </p:nvSpPr>
        <p:spPr>
          <a:xfrm>
            <a:off x="8977104" y="4605965"/>
            <a:ext cx="1368152" cy="646331"/>
          </a:xfrm>
          <a:prstGeom prst="rect">
            <a:avLst/>
          </a:prstGeom>
          <a:solidFill>
            <a:schemeClr val="bg1">
              <a:lumMod val="85000"/>
            </a:schemeClr>
          </a:solidFill>
          <a:ln>
            <a:solidFill>
              <a:schemeClr val="tx1"/>
            </a:solidFill>
          </a:ln>
        </p:spPr>
        <p:txBody>
          <a:bodyPr wrap="square" rtlCol="0">
            <a:spAutoFit/>
          </a:bodyPr>
          <a:lstStyle/>
          <a:p>
            <a:pPr algn="ctr"/>
            <a:endParaRPr lang="en-US" sz="1200" b="1" dirty="0">
              <a:latin typeface="Consolas" panose="020B0609020204030204" pitchFamily="49" charset="0"/>
              <a:cs typeface="Consolas" panose="020B0609020204030204" pitchFamily="49" charset="0"/>
            </a:endParaRPr>
          </a:p>
          <a:p>
            <a:pPr algn="ctr"/>
            <a:r>
              <a:rPr lang="en-US" sz="1200" b="1" dirty="0">
                <a:latin typeface="Consolas" panose="020B0609020204030204" pitchFamily="49" charset="0"/>
                <a:cs typeface="Consolas" panose="020B0609020204030204" pitchFamily="49" charset="0"/>
              </a:rPr>
              <a:t>PAYLOAD</a:t>
            </a:r>
          </a:p>
          <a:p>
            <a:pPr algn="ctr"/>
            <a:endParaRPr lang="sk-SK" sz="1200" b="1" dirty="0">
              <a:latin typeface="Consolas" panose="020B0609020204030204" pitchFamily="49" charset="0"/>
              <a:cs typeface="Consolas" panose="020B0609020204030204" pitchFamily="49" charset="0"/>
            </a:endParaRPr>
          </a:p>
        </p:txBody>
      </p:sp>
      <p:sp>
        <p:nvSpPr>
          <p:cNvPr id="8" name="TextBox 7"/>
          <p:cNvSpPr txBox="1"/>
          <p:nvPr/>
        </p:nvSpPr>
        <p:spPr>
          <a:xfrm>
            <a:off x="8977104" y="3774968"/>
            <a:ext cx="1368152" cy="830997"/>
          </a:xfrm>
          <a:prstGeom prst="rect">
            <a:avLst/>
          </a:prstGeom>
          <a:solidFill>
            <a:schemeClr val="accent1"/>
          </a:solidFill>
          <a:ln>
            <a:solidFill>
              <a:schemeClr val="tx1"/>
            </a:solidFill>
          </a:ln>
        </p:spPr>
        <p:txBody>
          <a:bodyPr wrap="square" rtlCol="0">
            <a:spAutoFit/>
          </a:bodyPr>
          <a:lstStyle/>
          <a:p>
            <a:pPr algn="ctr"/>
            <a:endParaRPr lang="en-US" sz="1200" b="1" dirty="0">
              <a:latin typeface="Consolas" panose="020B0609020204030204" pitchFamily="49" charset="0"/>
              <a:cs typeface="Consolas" panose="020B0609020204030204" pitchFamily="49" charset="0"/>
            </a:endParaRPr>
          </a:p>
          <a:p>
            <a:pPr algn="ctr"/>
            <a:r>
              <a:rPr lang="en-US" sz="1200" b="1" dirty="0">
                <a:latin typeface="Consolas" panose="020B0609020204030204" pitchFamily="49" charset="0"/>
                <a:cs typeface="Consolas" panose="020B0609020204030204" pitchFamily="49" charset="0"/>
              </a:rPr>
              <a:t>SR header</a:t>
            </a:r>
          </a:p>
          <a:p>
            <a:pPr algn="ctr"/>
            <a:r>
              <a:rPr lang="en-US" sz="1200" b="1" dirty="0" err="1">
                <a:latin typeface="Consolas" panose="020B0609020204030204" pitchFamily="49" charset="0"/>
                <a:cs typeface="Consolas" panose="020B0609020204030204" pitchFamily="49" charset="0"/>
              </a:rPr>
              <a:t>Segments:C,F,H</a:t>
            </a:r>
            <a:endParaRPr lang="en-US" sz="1200" b="1" dirty="0">
              <a:latin typeface="Consolas" panose="020B0609020204030204" pitchFamily="49" charset="0"/>
              <a:cs typeface="Consolas" panose="020B0609020204030204" pitchFamily="49" charset="0"/>
            </a:endParaRPr>
          </a:p>
          <a:p>
            <a:pPr algn="ctr"/>
            <a:endParaRPr lang="sk-SK" sz="1200" b="1" dirty="0">
              <a:latin typeface="Consolas" panose="020B0609020204030204" pitchFamily="49" charset="0"/>
              <a:cs typeface="Consolas" panose="020B0609020204030204" pitchFamily="49" charset="0"/>
            </a:endParaRPr>
          </a:p>
        </p:txBody>
      </p:sp>
      <p:sp>
        <p:nvSpPr>
          <p:cNvPr id="9" name="TextBox 8"/>
          <p:cNvSpPr txBox="1"/>
          <p:nvPr/>
        </p:nvSpPr>
        <p:spPr>
          <a:xfrm>
            <a:off x="8977104" y="3312488"/>
            <a:ext cx="1368152" cy="461665"/>
          </a:xfrm>
          <a:prstGeom prst="rect">
            <a:avLst/>
          </a:prstGeom>
          <a:solidFill>
            <a:srgbClr val="FFC000"/>
          </a:solidFill>
          <a:ln>
            <a:solidFill>
              <a:schemeClr val="tx1"/>
            </a:solidFill>
          </a:ln>
        </p:spPr>
        <p:txBody>
          <a:bodyPr wrap="square" rtlCol="0">
            <a:spAutoFit/>
          </a:bodyPr>
          <a:lstStyle/>
          <a:p>
            <a:pPr algn="ctr"/>
            <a:r>
              <a:rPr lang="en-US" sz="1200" b="1" dirty="0">
                <a:latin typeface="Consolas" panose="020B0609020204030204" pitchFamily="49" charset="0"/>
                <a:cs typeface="Consolas" panose="020B0609020204030204" pitchFamily="49" charset="0"/>
              </a:rPr>
              <a:t>IPv6 </a:t>
            </a:r>
            <a:r>
              <a:rPr lang="en-US" sz="1200" b="1" dirty="0" err="1">
                <a:latin typeface="Consolas" panose="020B0609020204030204" pitchFamily="49" charset="0"/>
                <a:cs typeface="Consolas" panose="020B0609020204030204" pitchFamily="49" charset="0"/>
              </a:rPr>
              <a:t>Hdr</a:t>
            </a:r>
            <a:endParaRPr lang="en-US" sz="1200" b="1" dirty="0">
              <a:latin typeface="Consolas" panose="020B0609020204030204" pitchFamily="49" charset="0"/>
              <a:cs typeface="Consolas" panose="020B0609020204030204" pitchFamily="49" charset="0"/>
            </a:endParaRPr>
          </a:p>
          <a:p>
            <a:pPr algn="ctr"/>
            <a:endParaRPr lang="sk-SK" sz="1200" b="1" dirty="0">
              <a:latin typeface="Consolas" panose="020B0609020204030204" pitchFamily="49" charset="0"/>
              <a:cs typeface="Consolas" panose="020B0609020204030204" pitchFamily="49" charset="0"/>
            </a:endParaRPr>
          </a:p>
        </p:txBody>
      </p:sp>
      <p:sp>
        <p:nvSpPr>
          <p:cNvPr id="15" name="TextBox 14"/>
          <p:cNvSpPr txBox="1"/>
          <p:nvPr/>
        </p:nvSpPr>
        <p:spPr>
          <a:xfrm>
            <a:off x="9125942" y="5394151"/>
            <a:ext cx="1080120" cy="276999"/>
          </a:xfrm>
          <a:prstGeom prst="rect">
            <a:avLst/>
          </a:prstGeom>
          <a:noFill/>
          <a:ln>
            <a:noFill/>
          </a:ln>
        </p:spPr>
        <p:txBody>
          <a:bodyPr wrap="square" rtlCol="0">
            <a:spAutoFit/>
          </a:bodyPr>
          <a:lstStyle/>
          <a:p>
            <a:pPr algn="ctr"/>
            <a:r>
              <a:rPr lang="en-US" sz="1200" b="1" dirty="0">
                <a:latin typeface="Consolas" panose="020B0609020204030204" pitchFamily="49" charset="0"/>
                <a:cs typeface="Consolas" panose="020B0609020204030204" pitchFamily="49" charset="0"/>
              </a:rPr>
              <a:t>SR-IPv6</a:t>
            </a:r>
            <a:endParaRPr lang="sk-SK" sz="1200" b="1" dirty="0">
              <a:latin typeface="Consolas" panose="020B0609020204030204" pitchFamily="49" charset="0"/>
              <a:cs typeface="Consolas" panose="020B0609020204030204" pitchFamily="49" charset="0"/>
            </a:endParaRPr>
          </a:p>
        </p:txBody>
      </p:sp>
      <p:sp>
        <p:nvSpPr>
          <p:cNvPr id="10" name="TextBox 9"/>
          <p:cNvSpPr txBox="1"/>
          <p:nvPr/>
        </p:nvSpPr>
        <p:spPr>
          <a:xfrm>
            <a:off x="10634005" y="4605965"/>
            <a:ext cx="1368152" cy="646331"/>
          </a:xfrm>
          <a:prstGeom prst="rect">
            <a:avLst/>
          </a:prstGeom>
          <a:solidFill>
            <a:schemeClr val="bg1">
              <a:lumMod val="85000"/>
            </a:schemeClr>
          </a:solidFill>
          <a:ln>
            <a:solidFill>
              <a:schemeClr val="tx1"/>
            </a:solidFill>
          </a:ln>
        </p:spPr>
        <p:txBody>
          <a:bodyPr wrap="square" rtlCol="0">
            <a:spAutoFit/>
          </a:bodyPr>
          <a:lstStyle/>
          <a:p>
            <a:pPr algn="ctr"/>
            <a:endParaRPr lang="en-US" sz="1200" b="1" dirty="0">
              <a:latin typeface="Consolas" panose="020B0609020204030204" pitchFamily="49" charset="0"/>
              <a:cs typeface="Consolas" panose="020B0609020204030204" pitchFamily="49" charset="0"/>
            </a:endParaRPr>
          </a:p>
          <a:p>
            <a:pPr algn="ctr"/>
            <a:r>
              <a:rPr lang="en-US" sz="1200" b="1" dirty="0">
                <a:latin typeface="Consolas" panose="020B0609020204030204" pitchFamily="49" charset="0"/>
                <a:cs typeface="Consolas" panose="020B0609020204030204" pitchFamily="49" charset="0"/>
              </a:rPr>
              <a:t>PAYLOAD</a:t>
            </a:r>
          </a:p>
          <a:p>
            <a:pPr algn="ctr"/>
            <a:endParaRPr lang="sk-SK" sz="1200" b="1" dirty="0">
              <a:latin typeface="Consolas" panose="020B0609020204030204" pitchFamily="49" charset="0"/>
              <a:cs typeface="Consolas" panose="020B0609020204030204" pitchFamily="49" charset="0"/>
            </a:endParaRPr>
          </a:p>
        </p:txBody>
      </p:sp>
      <p:sp>
        <p:nvSpPr>
          <p:cNvPr id="11" name="TextBox 10"/>
          <p:cNvSpPr txBox="1"/>
          <p:nvPr/>
        </p:nvSpPr>
        <p:spPr>
          <a:xfrm>
            <a:off x="10634005" y="3867301"/>
            <a:ext cx="1368152" cy="276999"/>
          </a:xfrm>
          <a:prstGeom prst="rect">
            <a:avLst/>
          </a:prstGeom>
          <a:solidFill>
            <a:schemeClr val="accent1"/>
          </a:solidFill>
          <a:ln>
            <a:solidFill>
              <a:schemeClr val="tx1"/>
            </a:solidFill>
          </a:ln>
        </p:spPr>
        <p:txBody>
          <a:bodyPr wrap="square" rtlCol="0">
            <a:spAutoFit/>
          </a:bodyPr>
          <a:lstStyle/>
          <a:p>
            <a:pPr algn="ctr"/>
            <a:r>
              <a:rPr lang="en-US" sz="1200" b="1" dirty="0">
                <a:latin typeface="Consolas" panose="020B0609020204030204" pitchFamily="49" charset="0"/>
                <a:cs typeface="Consolas" panose="020B0609020204030204" pitchFamily="49" charset="0"/>
              </a:rPr>
              <a:t>Label H</a:t>
            </a:r>
          </a:p>
        </p:txBody>
      </p:sp>
      <p:sp>
        <p:nvSpPr>
          <p:cNvPr id="12" name="TextBox 11"/>
          <p:cNvSpPr txBox="1"/>
          <p:nvPr/>
        </p:nvSpPr>
        <p:spPr>
          <a:xfrm>
            <a:off x="10634005" y="4144300"/>
            <a:ext cx="1368152" cy="461665"/>
          </a:xfrm>
          <a:prstGeom prst="rect">
            <a:avLst/>
          </a:prstGeom>
          <a:solidFill>
            <a:srgbClr val="FFC000"/>
          </a:solidFill>
          <a:ln>
            <a:solidFill>
              <a:schemeClr val="tx1"/>
            </a:solidFill>
          </a:ln>
        </p:spPr>
        <p:txBody>
          <a:bodyPr wrap="square" rtlCol="0">
            <a:spAutoFit/>
          </a:bodyPr>
          <a:lstStyle/>
          <a:p>
            <a:pPr algn="ctr"/>
            <a:r>
              <a:rPr lang="en-US" sz="1200" b="1" dirty="0">
                <a:latin typeface="Consolas" panose="020B0609020204030204" pitchFamily="49" charset="0"/>
                <a:cs typeface="Consolas" panose="020B0609020204030204" pitchFamily="49" charset="0"/>
              </a:rPr>
              <a:t>IPv4 or IPv6 </a:t>
            </a:r>
            <a:r>
              <a:rPr lang="en-US" sz="1200" b="1" dirty="0" err="1">
                <a:latin typeface="Consolas" panose="020B0609020204030204" pitchFamily="49" charset="0"/>
                <a:cs typeface="Consolas" panose="020B0609020204030204" pitchFamily="49" charset="0"/>
              </a:rPr>
              <a:t>Hdr</a:t>
            </a:r>
            <a:endParaRPr lang="sk-SK" sz="1200" b="1" dirty="0">
              <a:latin typeface="Consolas" panose="020B0609020204030204" pitchFamily="49" charset="0"/>
              <a:cs typeface="Consolas" panose="020B0609020204030204" pitchFamily="49" charset="0"/>
            </a:endParaRPr>
          </a:p>
        </p:txBody>
      </p:sp>
      <p:sp>
        <p:nvSpPr>
          <p:cNvPr id="13" name="TextBox 12"/>
          <p:cNvSpPr txBox="1"/>
          <p:nvPr/>
        </p:nvSpPr>
        <p:spPr>
          <a:xfrm>
            <a:off x="10634005" y="3590302"/>
            <a:ext cx="1368152" cy="276999"/>
          </a:xfrm>
          <a:prstGeom prst="rect">
            <a:avLst/>
          </a:prstGeom>
          <a:solidFill>
            <a:schemeClr val="accent1"/>
          </a:solidFill>
          <a:ln>
            <a:solidFill>
              <a:schemeClr val="tx1"/>
            </a:solidFill>
          </a:ln>
        </p:spPr>
        <p:txBody>
          <a:bodyPr wrap="square" rtlCol="0">
            <a:spAutoFit/>
          </a:bodyPr>
          <a:lstStyle/>
          <a:p>
            <a:pPr algn="ctr"/>
            <a:r>
              <a:rPr lang="en-US" sz="1200" b="1" dirty="0">
                <a:latin typeface="Consolas" panose="020B0609020204030204" pitchFamily="49" charset="0"/>
                <a:cs typeface="Consolas" panose="020B0609020204030204" pitchFamily="49" charset="0"/>
              </a:rPr>
              <a:t>Label F</a:t>
            </a:r>
          </a:p>
        </p:txBody>
      </p:sp>
      <p:sp>
        <p:nvSpPr>
          <p:cNvPr id="14" name="TextBox 13"/>
          <p:cNvSpPr txBox="1"/>
          <p:nvPr/>
        </p:nvSpPr>
        <p:spPr>
          <a:xfrm>
            <a:off x="10634005" y="3320854"/>
            <a:ext cx="1368152" cy="276999"/>
          </a:xfrm>
          <a:prstGeom prst="rect">
            <a:avLst/>
          </a:prstGeom>
          <a:solidFill>
            <a:schemeClr val="accent1"/>
          </a:solidFill>
          <a:ln>
            <a:solidFill>
              <a:schemeClr val="tx1"/>
            </a:solidFill>
          </a:ln>
        </p:spPr>
        <p:txBody>
          <a:bodyPr wrap="square" rtlCol="0">
            <a:spAutoFit/>
          </a:bodyPr>
          <a:lstStyle/>
          <a:p>
            <a:pPr algn="ctr"/>
            <a:r>
              <a:rPr lang="en-US" sz="1200" b="1" dirty="0">
                <a:latin typeface="Consolas" panose="020B0609020204030204" pitchFamily="49" charset="0"/>
                <a:cs typeface="Consolas" panose="020B0609020204030204" pitchFamily="49" charset="0"/>
              </a:rPr>
              <a:t>Label C</a:t>
            </a:r>
          </a:p>
        </p:txBody>
      </p:sp>
      <p:sp>
        <p:nvSpPr>
          <p:cNvPr id="16" name="TextBox 15"/>
          <p:cNvSpPr txBox="1"/>
          <p:nvPr/>
        </p:nvSpPr>
        <p:spPr>
          <a:xfrm>
            <a:off x="10778021" y="5398053"/>
            <a:ext cx="1080120" cy="276999"/>
          </a:xfrm>
          <a:prstGeom prst="rect">
            <a:avLst/>
          </a:prstGeom>
          <a:noFill/>
          <a:ln>
            <a:noFill/>
          </a:ln>
        </p:spPr>
        <p:txBody>
          <a:bodyPr wrap="square" rtlCol="0">
            <a:spAutoFit/>
          </a:bodyPr>
          <a:lstStyle/>
          <a:p>
            <a:pPr algn="ctr"/>
            <a:r>
              <a:rPr lang="en-US" sz="1200" b="1" dirty="0">
                <a:latin typeface="Consolas" panose="020B0609020204030204" pitchFamily="49" charset="0"/>
                <a:cs typeface="Consolas" panose="020B0609020204030204" pitchFamily="49" charset="0"/>
              </a:rPr>
              <a:t>SR-MPLS</a:t>
            </a:r>
            <a:endParaRPr lang="sk-SK" sz="12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2665418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DDDFFB4-775C-0517-4EFB-107BDC9287C3}"/>
              </a:ext>
            </a:extLst>
          </p:cNvPr>
          <p:cNvSpPr>
            <a:spLocks noGrp="1"/>
          </p:cNvSpPr>
          <p:nvPr>
            <p:ph type="body" sz="quarter" idx="10"/>
          </p:nvPr>
        </p:nvSpPr>
        <p:spPr/>
        <p:txBody>
          <a:bodyPr/>
          <a:lstStyle/>
          <a:p>
            <a:r>
              <a:rPr lang="en-US" dirty="0"/>
              <a:t>Back to basic IP routing and summarization</a:t>
            </a:r>
          </a:p>
          <a:p>
            <a:r>
              <a:rPr lang="en-US" dirty="0"/>
              <a:t>1000 times less IGP routes than with MPLS</a:t>
            </a:r>
          </a:p>
          <a:p>
            <a:r>
              <a:rPr lang="en-US" dirty="0"/>
              <a:t>End-to-End Flex Algo Continuity</a:t>
            </a:r>
          </a:p>
          <a:p>
            <a:r>
              <a:rPr lang="en-US" dirty="0"/>
              <a:t>No BGP inter-AS Option A/B/C</a:t>
            </a:r>
          </a:p>
        </p:txBody>
      </p:sp>
      <p:sp>
        <p:nvSpPr>
          <p:cNvPr id="3" name="Text Placeholder 2">
            <a:extLst>
              <a:ext uri="{FF2B5EF4-FFF2-40B4-BE49-F238E27FC236}">
                <a16:creationId xmlns:a16="http://schemas.microsoft.com/office/drawing/2014/main" id="{B09BFE0C-22C6-11C9-620A-82E5DA3C4969}"/>
              </a:ext>
            </a:extLst>
          </p:cNvPr>
          <p:cNvSpPr>
            <a:spLocks noGrp="1"/>
          </p:cNvSpPr>
          <p:nvPr>
            <p:ph type="body" sz="quarter" idx="11"/>
          </p:nvPr>
        </p:nvSpPr>
        <p:spPr/>
        <p:txBody>
          <a:bodyPr/>
          <a:lstStyle/>
          <a:p>
            <a:r>
              <a:rPr lang="en-US" dirty="0"/>
              <a:t>Prefix Summarization</a:t>
            </a:r>
          </a:p>
        </p:txBody>
      </p:sp>
      <p:pic>
        <p:nvPicPr>
          <p:cNvPr id="5" name="Picture 4" descr="A diagram of a diagram&#10;&#10;Description automatically generated">
            <a:extLst>
              <a:ext uri="{FF2B5EF4-FFF2-40B4-BE49-F238E27FC236}">
                <a16:creationId xmlns:a16="http://schemas.microsoft.com/office/drawing/2014/main" id="{DFD1D3BB-1C56-E57B-C0E3-71D6300FEE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2671" y="2998939"/>
            <a:ext cx="8634208" cy="3444538"/>
          </a:xfrm>
          <a:prstGeom prst="rect">
            <a:avLst/>
          </a:prstGeom>
        </p:spPr>
      </p:pic>
      <p:sp>
        <p:nvSpPr>
          <p:cNvPr id="4" name="TextBox 3">
            <a:extLst>
              <a:ext uri="{FF2B5EF4-FFF2-40B4-BE49-F238E27FC236}">
                <a16:creationId xmlns:a16="http://schemas.microsoft.com/office/drawing/2014/main" id="{BE49388A-94FF-E6D0-5714-5ED5007BD086}"/>
              </a:ext>
            </a:extLst>
          </p:cNvPr>
          <p:cNvSpPr txBox="1"/>
          <p:nvPr/>
        </p:nvSpPr>
        <p:spPr>
          <a:xfrm>
            <a:off x="2854019" y="4371344"/>
            <a:ext cx="2814466" cy="699728"/>
          </a:xfrm>
          <a:prstGeom prst="rect">
            <a:avLst/>
          </a:prstGeom>
          <a:solidFill>
            <a:schemeClr val="bg1"/>
          </a:solidFill>
          <a:ln w="25400">
            <a:solidFill>
              <a:srgbClr val="00B0F0"/>
            </a:solidFill>
          </a:ln>
        </p:spPr>
        <p:txBody>
          <a:bodyPr vert="horz" wrap="none" lIns="91440" tIns="45720" rIns="91440" bIns="45720" rtlCol="0" anchor="ctr">
            <a:noAutofit/>
          </a:bodyPr>
          <a:lstStyle/>
          <a:p>
            <a:pPr marL="0" marR="0" indent="0"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100" b="1" dirty="0">
                <a:latin typeface="Arial" panose="020B0604020202020204"/>
              </a:rPr>
              <a:t>ISIS</a:t>
            </a:r>
          </a:p>
          <a:p>
            <a:pPr marL="0"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100" dirty="0">
                <a:latin typeface="Arial" panose="020B0604020202020204"/>
              </a:rPr>
              <a:t>Summary </a:t>
            </a:r>
            <a:r>
              <a:rPr lang="en-US" sz="1100" dirty="0" err="1">
                <a:solidFill>
                  <a:schemeClr val="accent4"/>
                </a:solidFill>
                <a:latin typeface="Arial" panose="020B0604020202020204"/>
              </a:rPr>
              <a:t>B000:0000:01</a:t>
            </a:r>
            <a:r>
              <a:rPr lang="en-US" sz="1100" dirty="0">
                <a:solidFill>
                  <a:schemeClr val="accent4"/>
                </a:solidFill>
                <a:latin typeface="Arial" panose="020B0604020202020204"/>
              </a:rPr>
              <a:t>::/40 Low-cost</a:t>
            </a:r>
          </a:p>
          <a:p>
            <a:pPr marL="0"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100" i="0" u="none" strike="noStrike" kern="1200" cap="none" spc="0" normalizeH="0" baseline="0" noProof="0" dirty="0">
                <a:ln>
                  <a:noFill/>
                </a:ln>
                <a:solidFill>
                  <a:schemeClr val="tx1"/>
                </a:solidFill>
                <a:effectLst/>
                <a:uLnTx/>
                <a:uFillTx/>
                <a:latin typeface="Arial" panose="020B0604020202020204"/>
                <a:ea typeface="+mn-ea"/>
                <a:cs typeface="+mn-cs"/>
              </a:rPr>
              <a:t>Summary </a:t>
            </a:r>
            <a:r>
              <a:rPr lang="en-US" sz="1100" dirty="0" err="1">
                <a:solidFill>
                  <a:schemeClr val="accent3"/>
                </a:solidFill>
                <a:latin typeface="Arial" panose="020B0604020202020204"/>
              </a:rPr>
              <a:t>B000:0001:01</a:t>
            </a:r>
            <a:r>
              <a:rPr lang="en-US" sz="1100" dirty="0">
                <a:solidFill>
                  <a:schemeClr val="accent3"/>
                </a:solidFill>
                <a:latin typeface="Arial" panose="020B0604020202020204"/>
              </a:rPr>
              <a:t>::/40 Low-delay</a:t>
            </a:r>
            <a:endParaRPr kumimoji="0" lang="en-US" sz="11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6" name="TextBox 5">
            <a:extLst>
              <a:ext uri="{FF2B5EF4-FFF2-40B4-BE49-F238E27FC236}">
                <a16:creationId xmlns:a16="http://schemas.microsoft.com/office/drawing/2014/main" id="{3C6042AC-7160-2191-AADF-D113EF567015}"/>
              </a:ext>
            </a:extLst>
          </p:cNvPr>
          <p:cNvSpPr txBox="1"/>
          <p:nvPr/>
        </p:nvSpPr>
        <p:spPr>
          <a:xfrm>
            <a:off x="6188857" y="4383067"/>
            <a:ext cx="2814466" cy="699728"/>
          </a:xfrm>
          <a:prstGeom prst="rect">
            <a:avLst/>
          </a:prstGeom>
          <a:solidFill>
            <a:schemeClr val="bg1"/>
          </a:solidFill>
          <a:ln w="25400">
            <a:solidFill>
              <a:srgbClr val="00B0F0"/>
            </a:solidFill>
          </a:ln>
        </p:spPr>
        <p:txBody>
          <a:bodyPr vert="horz" wrap="none" lIns="91440" tIns="45720" rIns="91440" bIns="45720" rtlCol="0" anchor="ctr">
            <a:noAutofit/>
          </a:bodyPr>
          <a:lstStyle/>
          <a:p>
            <a:pPr marL="0"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100" b="1" i="0" u="none" strike="noStrike" kern="1200" cap="none" spc="0" normalizeH="0" baseline="0" noProof="0" dirty="0">
                <a:ln>
                  <a:noFill/>
                </a:ln>
                <a:solidFill>
                  <a:schemeClr val="tx1"/>
                </a:solidFill>
                <a:effectLst/>
                <a:uLnTx/>
                <a:uFillTx/>
                <a:latin typeface="Arial" panose="020B0604020202020204"/>
                <a:ea typeface="+mn-ea"/>
                <a:cs typeface="+mn-cs"/>
              </a:rPr>
              <a:t>ISIS</a:t>
            </a:r>
          </a:p>
          <a:p>
            <a:pPr marL="0"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100" dirty="0">
                <a:latin typeface="Arial" panose="020B0604020202020204"/>
              </a:rPr>
              <a:t>Summary </a:t>
            </a:r>
            <a:r>
              <a:rPr lang="en-US" sz="1100" dirty="0" err="1">
                <a:solidFill>
                  <a:schemeClr val="accent4"/>
                </a:solidFill>
                <a:latin typeface="Arial" panose="020B0604020202020204"/>
              </a:rPr>
              <a:t>B000:0000:02</a:t>
            </a:r>
            <a:r>
              <a:rPr lang="en-US" sz="1100" dirty="0">
                <a:solidFill>
                  <a:schemeClr val="accent4"/>
                </a:solidFill>
                <a:latin typeface="Arial" panose="020B0604020202020204"/>
              </a:rPr>
              <a:t>::/40 Low-cost</a:t>
            </a:r>
          </a:p>
          <a:p>
            <a:pPr marL="0"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100" i="0" u="none" strike="noStrike" kern="1200" cap="none" spc="0" normalizeH="0" baseline="0" noProof="0" dirty="0">
                <a:ln>
                  <a:noFill/>
                </a:ln>
                <a:solidFill>
                  <a:schemeClr val="tx1"/>
                </a:solidFill>
                <a:effectLst/>
                <a:uLnTx/>
                <a:uFillTx/>
                <a:latin typeface="Arial" panose="020B0604020202020204"/>
                <a:ea typeface="+mn-ea"/>
                <a:cs typeface="+mn-cs"/>
              </a:rPr>
              <a:t>Summary </a:t>
            </a:r>
            <a:r>
              <a:rPr lang="en-US" sz="1100" dirty="0" err="1">
                <a:solidFill>
                  <a:schemeClr val="accent3"/>
                </a:solidFill>
                <a:latin typeface="Arial" panose="020B0604020202020204"/>
              </a:rPr>
              <a:t>B000:0001:02</a:t>
            </a:r>
            <a:r>
              <a:rPr lang="en-US" sz="1100" dirty="0">
                <a:solidFill>
                  <a:schemeClr val="accent3"/>
                </a:solidFill>
                <a:latin typeface="Arial" panose="020B0604020202020204"/>
              </a:rPr>
              <a:t>::/40 Low-delay</a:t>
            </a:r>
            <a:endParaRPr kumimoji="0" lang="en-US" sz="11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9892584C-34E3-67BE-0D37-1367434C6BF8}"/>
              </a:ext>
            </a:extLst>
          </p:cNvPr>
          <p:cNvSpPr txBox="1"/>
          <p:nvPr/>
        </p:nvSpPr>
        <p:spPr>
          <a:xfrm>
            <a:off x="7947782" y="1957011"/>
            <a:ext cx="2814466" cy="699728"/>
          </a:xfrm>
          <a:prstGeom prst="rect">
            <a:avLst/>
          </a:prstGeom>
          <a:solidFill>
            <a:schemeClr val="bg1"/>
          </a:solidFill>
          <a:ln w="25400">
            <a:solidFill>
              <a:srgbClr val="00B0F0"/>
            </a:solidFill>
          </a:ln>
        </p:spPr>
        <p:txBody>
          <a:bodyPr vert="horz" wrap="none" lIns="91440" tIns="45720" rIns="91440" bIns="45720" rtlCol="0" anchor="ctr">
            <a:noAutofit/>
          </a:bodyPr>
          <a:lstStyle/>
          <a:p>
            <a:pPr marL="0"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100" b="1" dirty="0">
                <a:latin typeface="Arial" panose="020B0604020202020204"/>
              </a:rPr>
              <a:t>Allocation</a:t>
            </a:r>
            <a:endParaRPr kumimoji="0" lang="en-US" sz="1100" b="1" i="0" u="none" strike="noStrike" kern="1200" cap="none" spc="0" normalizeH="0" baseline="0" noProof="0" dirty="0">
              <a:ln>
                <a:noFill/>
              </a:ln>
              <a:solidFill>
                <a:schemeClr val="tx1"/>
              </a:solidFill>
              <a:effectLst/>
              <a:uLnTx/>
              <a:uFillTx/>
              <a:latin typeface="Arial" panose="020B0604020202020204"/>
              <a:ea typeface="+mn-ea"/>
              <a:cs typeface="+mn-cs"/>
            </a:endParaRPr>
          </a:p>
          <a:p>
            <a:pPr marL="0"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100" dirty="0">
                <a:latin typeface="Arial" panose="020B0604020202020204"/>
              </a:rPr>
              <a:t> </a:t>
            </a:r>
            <a:r>
              <a:rPr lang="en-US" sz="1100" dirty="0" err="1">
                <a:solidFill>
                  <a:schemeClr val="accent4"/>
                </a:solidFill>
                <a:latin typeface="Arial" panose="020B0604020202020204"/>
              </a:rPr>
              <a:t>B000:0000</a:t>
            </a:r>
            <a:r>
              <a:rPr lang="en-US" sz="1100" dirty="0">
                <a:solidFill>
                  <a:schemeClr val="accent4"/>
                </a:solidFill>
                <a:latin typeface="Arial" panose="020B0604020202020204"/>
              </a:rPr>
              <a:t>::/32 Low-cost</a:t>
            </a:r>
          </a:p>
          <a:p>
            <a:pPr marL="0"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100" i="0" u="none" strike="noStrike" kern="1200" cap="none" spc="0" normalizeH="0" baseline="0" noProof="0" dirty="0">
                <a:ln>
                  <a:noFill/>
                </a:ln>
                <a:solidFill>
                  <a:schemeClr val="tx1"/>
                </a:solidFill>
                <a:effectLst/>
                <a:uLnTx/>
                <a:uFillTx/>
                <a:latin typeface="Arial" panose="020B0604020202020204"/>
                <a:ea typeface="+mn-ea"/>
                <a:cs typeface="+mn-cs"/>
              </a:rPr>
              <a:t> </a:t>
            </a:r>
            <a:r>
              <a:rPr lang="en-US" sz="1100" dirty="0">
                <a:solidFill>
                  <a:schemeClr val="accent3"/>
                </a:solidFill>
                <a:latin typeface="Arial" panose="020B0604020202020204"/>
              </a:rPr>
              <a:t>B000:0001::/32 Low-delay</a:t>
            </a:r>
            <a:endParaRPr kumimoji="0" lang="en-US" sz="11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Tree>
    <p:extLst>
      <p:ext uri="{BB962C8B-B14F-4D97-AF65-F5344CB8AC3E}">
        <p14:creationId xmlns:p14="http://schemas.microsoft.com/office/powerpoint/2010/main" val="2331608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IPv6 header</a:t>
            </a:r>
          </a:p>
          <a:p>
            <a:pPr lvl="1"/>
            <a:r>
              <a:rPr lang="en-US" b="1" dirty="0">
                <a:solidFill>
                  <a:schemeClr val="accent6"/>
                </a:solidFill>
              </a:rPr>
              <a:t>Next header </a:t>
            </a:r>
            <a:r>
              <a:rPr lang="en-US" dirty="0"/>
              <a:t>field: Indicates what comes next</a:t>
            </a:r>
          </a:p>
          <a:p>
            <a:pPr lvl="1"/>
            <a:r>
              <a:rPr lang="en-US" dirty="0">
                <a:solidFill>
                  <a:srgbClr val="00B050"/>
                </a:solidFill>
              </a:rPr>
              <a:t>Destination address</a:t>
            </a:r>
            <a:endParaRPr lang="cs-CZ" dirty="0">
              <a:solidFill>
                <a:srgbClr val="00B050"/>
              </a:solidFill>
            </a:endParaRPr>
          </a:p>
        </p:txBody>
      </p:sp>
      <p:sp>
        <p:nvSpPr>
          <p:cNvPr id="3" name="Text Placeholder 2"/>
          <p:cNvSpPr>
            <a:spLocks noGrp="1"/>
          </p:cNvSpPr>
          <p:nvPr>
            <p:ph type="body" sz="quarter" idx="11"/>
          </p:nvPr>
        </p:nvSpPr>
        <p:spPr/>
        <p:txBody>
          <a:bodyPr/>
          <a:lstStyle/>
          <a:p>
            <a:r>
              <a:rPr lang="cs-CZ" dirty="0"/>
              <a:t>IPv6 SR </a:t>
            </a:r>
            <a:r>
              <a:rPr lang="cs-CZ" dirty="0" err="1"/>
              <a:t>Header</a:t>
            </a:r>
            <a:endParaRPr lang="cs-CZ" dirty="0"/>
          </a:p>
        </p:txBody>
      </p:sp>
      <p:sp>
        <p:nvSpPr>
          <p:cNvPr id="4" name="Text Placeholder 3"/>
          <p:cNvSpPr>
            <a:spLocks noGrp="1"/>
          </p:cNvSpPr>
          <p:nvPr>
            <p:ph type="body" sz="quarter" idx="12"/>
          </p:nvPr>
        </p:nvSpPr>
        <p:spPr/>
        <p:txBody>
          <a:bodyPr/>
          <a:lstStyle/>
          <a:p>
            <a:pPr marL="0" indent="0">
              <a:spcBef>
                <a:spcPts val="0"/>
              </a:spcBef>
              <a:buNone/>
            </a:pPr>
            <a:r>
              <a:rPr lang="en-US" sz="1200" dirty="0">
                <a:latin typeface="Consolas" panose="020B0609020204030204" pitchFamily="49" charset="0"/>
              </a:rPr>
              <a:t> </a:t>
            </a:r>
          </a:p>
          <a:p>
            <a:pPr marL="0" indent="0">
              <a:spcBef>
                <a:spcPts val="0"/>
              </a:spcBef>
              <a:buNone/>
            </a:pPr>
            <a:endParaRPr lang="en-US" sz="1200" dirty="0">
              <a:latin typeface="Consolas" panose="020B0609020204030204" pitchFamily="49" charset="0"/>
            </a:endParaRPr>
          </a:p>
          <a:p>
            <a:pPr marL="0" indent="0">
              <a:spcBef>
                <a:spcPts val="0"/>
              </a:spcBef>
              <a:buNone/>
            </a:pPr>
            <a:endParaRPr lang="en-US" sz="1200" dirty="0">
              <a:latin typeface="Consolas" panose="020B0609020204030204" pitchFamily="49" charset="0"/>
            </a:endParaRPr>
          </a:p>
          <a:p>
            <a:pPr marL="0" indent="0">
              <a:spcBef>
                <a:spcPts val="0"/>
              </a:spcBef>
              <a:buNone/>
            </a:pPr>
            <a:endParaRPr lang="en-US" sz="1200" dirty="0">
              <a:latin typeface="Consolas" panose="020B0609020204030204" pitchFamily="49" charset="0"/>
            </a:endParaRPr>
          </a:p>
          <a:p>
            <a:pPr marL="0" indent="0">
              <a:spcBef>
                <a:spcPts val="0"/>
              </a:spcBef>
              <a:buNone/>
            </a:pPr>
            <a:endParaRPr lang="en-US" sz="1200" dirty="0">
              <a:latin typeface="Consolas" panose="020B0609020204030204" pitchFamily="49" charset="0"/>
            </a:endParaRPr>
          </a:p>
          <a:p>
            <a:pPr marL="0" indent="0">
              <a:spcBef>
                <a:spcPts val="0"/>
              </a:spcBef>
              <a:buNone/>
            </a:pPr>
            <a:endParaRPr lang="en-US" sz="1200" dirty="0">
              <a:latin typeface="Consolas" panose="020B0609020204030204" pitchFamily="49" charset="0"/>
            </a:endParaRPr>
          </a:p>
          <a:p>
            <a:pPr marL="0" indent="0">
              <a:spcBef>
                <a:spcPts val="0"/>
              </a:spcBef>
              <a:buNone/>
            </a:pPr>
            <a:endParaRPr lang="en-US" sz="1200" dirty="0">
              <a:latin typeface="Consolas" panose="020B0609020204030204" pitchFamily="49" charset="0"/>
            </a:endParaRPr>
          </a:p>
          <a:p>
            <a:pPr marL="0" indent="0">
              <a:spcBef>
                <a:spcPts val="0"/>
              </a:spcBef>
              <a:buNone/>
            </a:pPr>
            <a:endParaRPr lang="en-US" sz="1200" dirty="0">
              <a:latin typeface="Consolas" panose="020B0609020204030204" pitchFamily="49" charset="0"/>
            </a:endParaRPr>
          </a:p>
          <a:p>
            <a:pPr marL="0" indent="0">
              <a:spcBef>
                <a:spcPts val="0"/>
              </a:spcBef>
              <a:buNone/>
            </a:pPr>
            <a:r>
              <a:rPr lang="en-US" sz="1200" dirty="0">
                <a:latin typeface="Consolas" panose="020B0609020204030204" pitchFamily="49" charset="0"/>
              </a:rPr>
              <a:t> </a:t>
            </a:r>
            <a:r>
              <a:rPr lang="cs-CZ" sz="1200" dirty="0">
                <a:latin typeface="Consolas" panose="020B0609020204030204" pitchFamily="49" charset="0"/>
              </a:rPr>
              <a:t>0 </a:t>
            </a:r>
            <a:r>
              <a:rPr lang="en-US" sz="1200" dirty="0">
                <a:latin typeface="Consolas" panose="020B0609020204030204" pitchFamily="49" charset="0"/>
              </a:rPr>
              <a:t>                  </a:t>
            </a:r>
            <a:r>
              <a:rPr lang="cs-CZ" sz="1200" dirty="0">
                <a:latin typeface="Consolas" panose="020B0609020204030204" pitchFamily="49" charset="0"/>
              </a:rPr>
              <a:t>1 </a:t>
            </a:r>
            <a:r>
              <a:rPr lang="en-US" sz="1200" dirty="0">
                <a:latin typeface="Consolas" panose="020B0609020204030204" pitchFamily="49" charset="0"/>
              </a:rPr>
              <a:t>                  </a:t>
            </a:r>
            <a:r>
              <a:rPr lang="cs-CZ" sz="1200" dirty="0">
                <a:latin typeface="Consolas" panose="020B0609020204030204" pitchFamily="49" charset="0"/>
              </a:rPr>
              <a:t>2 </a:t>
            </a:r>
            <a:r>
              <a:rPr lang="en-US" sz="1200" dirty="0">
                <a:latin typeface="Consolas" panose="020B0609020204030204" pitchFamily="49" charset="0"/>
              </a:rPr>
              <a:t>                  </a:t>
            </a:r>
            <a:r>
              <a:rPr lang="cs-CZ" sz="1200" dirty="0">
                <a:latin typeface="Consolas" panose="020B0609020204030204" pitchFamily="49" charset="0"/>
              </a:rPr>
              <a:t>3</a:t>
            </a:r>
            <a:endParaRPr lang="en-US" sz="1200" dirty="0">
              <a:latin typeface="Consolas" panose="020B0609020204030204" pitchFamily="49" charset="0"/>
            </a:endParaRPr>
          </a:p>
          <a:p>
            <a:pPr marL="0" indent="0">
              <a:spcBef>
                <a:spcPts val="0"/>
              </a:spcBef>
              <a:buNone/>
            </a:pPr>
            <a:r>
              <a:rPr lang="en-US" sz="1200" dirty="0">
                <a:latin typeface="Consolas" panose="020B0609020204030204" pitchFamily="49" charset="0"/>
              </a:rPr>
              <a:t> </a:t>
            </a:r>
            <a:r>
              <a:rPr lang="cs-CZ" sz="1200" dirty="0">
                <a:latin typeface="Consolas" panose="020B0609020204030204" pitchFamily="49" charset="0"/>
              </a:rPr>
              <a:t>0 1 2 3 4 5 6 7 8 9 0 1 2 3 4 5 6 7 8 9 0 1 2 3 4 5 6 7 8 9 0 1</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cs-CZ" sz="1200" dirty="0" err="1">
                <a:latin typeface="Consolas" panose="020B0609020204030204" pitchFamily="49" charset="0"/>
              </a:rPr>
              <a:t>Version</a:t>
            </a:r>
            <a:r>
              <a:rPr lang="cs-CZ" sz="1200" dirty="0">
                <a:latin typeface="Consolas" panose="020B0609020204030204" pitchFamily="49" charset="0"/>
              </a:rPr>
              <a:t>| </a:t>
            </a:r>
            <a:r>
              <a:rPr lang="cs-CZ" sz="1200" dirty="0" err="1">
                <a:latin typeface="Consolas" panose="020B0609020204030204" pitchFamily="49" charset="0"/>
              </a:rPr>
              <a:t>Traffic</a:t>
            </a:r>
            <a:r>
              <a:rPr lang="cs-CZ" sz="1200" dirty="0">
                <a:latin typeface="Consolas" panose="020B0609020204030204" pitchFamily="49" charset="0"/>
              </a:rPr>
              <a:t> </a:t>
            </a:r>
            <a:r>
              <a:rPr lang="cs-CZ" sz="1200" dirty="0" err="1">
                <a:latin typeface="Consolas" panose="020B0609020204030204" pitchFamily="49" charset="0"/>
              </a:rPr>
              <a:t>Class</a:t>
            </a:r>
            <a:r>
              <a:rPr lang="cs-CZ" sz="1200" dirty="0">
                <a:latin typeface="Consolas" panose="020B0609020204030204" pitchFamily="49" charset="0"/>
              </a:rPr>
              <a:t> | </a:t>
            </a:r>
            <a:r>
              <a:rPr lang="en-US" sz="1200" dirty="0">
                <a:latin typeface="Consolas" panose="020B0609020204030204" pitchFamily="49" charset="0"/>
              </a:rPr>
              <a:t>           </a:t>
            </a:r>
            <a:r>
              <a:rPr lang="cs-CZ" sz="1200" dirty="0" err="1">
                <a:latin typeface="Consolas" panose="020B0609020204030204" pitchFamily="49" charset="0"/>
              </a:rPr>
              <a:t>Flow</a:t>
            </a:r>
            <a:r>
              <a:rPr lang="cs-CZ" sz="1200" dirty="0">
                <a:latin typeface="Consolas" panose="020B0609020204030204" pitchFamily="49" charset="0"/>
              </a:rPr>
              <a:t> Label</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err="1">
                <a:latin typeface="Consolas" panose="020B0609020204030204" pitchFamily="49" charset="0"/>
              </a:rPr>
              <a:t>Payload</a:t>
            </a:r>
            <a:r>
              <a:rPr lang="cs-CZ" sz="1200" dirty="0">
                <a:latin typeface="Consolas" panose="020B0609020204030204" pitchFamily="49" charset="0"/>
              </a:rPr>
              <a:t> </a:t>
            </a:r>
            <a:r>
              <a:rPr lang="cs-CZ" sz="1200" dirty="0" err="1">
                <a:latin typeface="Consolas" panose="020B0609020204030204" pitchFamily="49" charset="0"/>
              </a:rPr>
              <a:t>Length</a:t>
            </a:r>
            <a:r>
              <a:rPr lang="en-US" sz="1200" dirty="0">
                <a:latin typeface="Consolas" panose="020B0609020204030204" pitchFamily="49" charset="0"/>
              </a:rPr>
              <a:t>         </a:t>
            </a:r>
            <a:r>
              <a:rPr lang="cs-CZ" sz="1200" dirty="0">
                <a:latin typeface="Consolas" panose="020B0609020204030204" pitchFamily="49" charset="0"/>
              </a:rPr>
              <a:t>|</a:t>
            </a:r>
            <a:r>
              <a:rPr lang="en-US" sz="1200" dirty="0">
                <a:latin typeface="Consolas" panose="020B0609020204030204" pitchFamily="49" charset="0"/>
              </a:rPr>
              <a:t>  </a:t>
            </a:r>
            <a:r>
              <a:rPr lang="cs-CZ" sz="1200" b="1" dirty="0" err="1">
                <a:solidFill>
                  <a:schemeClr val="accent6"/>
                </a:solidFill>
                <a:latin typeface="Consolas" panose="020B0609020204030204" pitchFamily="49" charset="0"/>
              </a:rPr>
              <a:t>Next</a:t>
            </a:r>
            <a:r>
              <a:rPr lang="cs-CZ" sz="1200" b="1" dirty="0">
                <a:solidFill>
                  <a:schemeClr val="accent6"/>
                </a:solidFill>
                <a:latin typeface="Consolas" panose="020B0609020204030204" pitchFamily="49" charset="0"/>
              </a:rPr>
              <a:t> </a:t>
            </a:r>
            <a:r>
              <a:rPr lang="cs-CZ" sz="1200" b="1" dirty="0" err="1">
                <a:solidFill>
                  <a:schemeClr val="accent6"/>
                </a:solidFill>
                <a:latin typeface="Consolas" panose="020B0609020204030204" pitchFamily="49" charset="0"/>
              </a:rPr>
              <a:t>Header</a:t>
            </a:r>
            <a:r>
              <a:rPr lang="en-US" sz="1200" b="1" dirty="0">
                <a:solidFill>
                  <a:schemeClr val="accent6"/>
                </a:solidFill>
                <a:latin typeface="Consolas" panose="020B0609020204030204" pitchFamily="49" charset="0"/>
              </a:rPr>
              <a:t>  </a:t>
            </a: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Hop Limit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Source </a:t>
            </a:r>
            <a:r>
              <a:rPr lang="cs-CZ" sz="1200" dirty="0" err="1">
                <a:latin typeface="Consolas" panose="020B0609020204030204" pitchFamily="49" charset="0"/>
              </a:rPr>
              <a:t>Address</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r>
              <a:rPr lang="cs-CZ" sz="1200" b="1" dirty="0" err="1">
                <a:solidFill>
                  <a:srgbClr val="00B050"/>
                </a:solidFill>
                <a:latin typeface="Consolas" panose="020B0609020204030204" pitchFamily="49" charset="0"/>
              </a:rPr>
              <a:t>Destination</a:t>
            </a:r>
            <a:r>
              <a:rPr lang="cs-CZ" sz="1200" b="1" dirty="0">
                <a:solidFill>
                  <a:srgbClr val="00B050"/>
                </a:solidFill>
                <a:latin typeface="Consolas" panose="020B0609020204030204" pitchFamily="49" charset="0"/>
              </a:rPr>
              <a:t> </a:t>
            </a:r>
            <a:r>
              <a:rPr lang="cs-CZ" sz="1200" b="1" dirty="0" err="1">
                <a:solidFill>
                  <a:srgbClr val="00B050"/>
                </a:solidFill>
                <a:latin typeface="Consolas" panose="020B0609020204030204" pitchFamily="49" charset="0"/>
              </a:rPr>
              <a:t>Address</a:t>
            </a:r>
            <a:r>
              <a:rPr lang="en-US" sz="1200" b="1" dirty="0">
                <a:solidFill>
                  <a:srgbClr val="00B050"/>
                </a:solidFill>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r>
              <a:rPr lang="cs-CZ" sz="1200" dirty="0">
                <a:latin typeface="Consolas" panose="020B0609020204030204" pitchFamily="49" charset="0"/>
              </a:rPr>
              <a:t> |</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p>
        </p:txBody>
      </p:sp>
      <p:sp>
        <p:nvSpPr>
          <p:cNvPr id="6" name="Rounded Rectangle 5"/>
          <p:cNvSpPr/>
          <p:nvPr/>
        </p:nvSpPr>
        <p:spPr>
          <a:xfrm>
            <a:off x="8894833" y="3244193"/>
            <a:ext cx="1349737" cy="367687"/>
          </a:xfrm>
          <a:prstGeom prst="roundRect">
            <a:avLst/>
          </a:prstGeom>
          <a:noFill/>
          <a:ln w="50800">
            <a:solidFill>
              <a:schemeClr val="accent5"/>
            </a:solidFill>
            <a:prstDash val="solid"/>
          </a:ln>
        </p:spPr>
        <p:style>
          <a:lnRef idx="2">
            <a:schemeClr val="accent5"/>
          </a:lnRef>
          <a:fillRef idx="1">
            <a:schemeClr val="lt1"/>
          </a:fillRef>
          <a:effectRef idx="0">
            <a:schemeClr val="accent5"/>
          </a:effectRef>
          <a:fontRef idx="minor">
            <a:schemeClr val="dk1"/>
          </a:fontRef>
        </p:style>
        <p:txBody>
          <a:bodyPr rtlCol="0" anchor="ctr"/>
          <a:lstStyle/>
          <a:p>
            <a:pPr algn="ctr"/>
            <a:endParaRPr lang="sk-SK"/>
          </a:p>
        </p:txBody>
      </p:sp>
    </p:spTree>
    <p:extLst>
      <p:ext uri="{BB962C8B-B14F-4D97-AF65-F5344CB8AC3E}">
        <p14:creationId xmlns:p14="http://schemas.microsoft.com/office/powerpoint/2010/main" val="1246825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IPv6 header</a:t>
            </a:r>
          </a:p>
          <a:p>
            <a:pPr lvl="1"/>
            <a:r>
              <a:rPr lang="en-US" b="1" dirty="0">
                <a:solidFill>
                  <a:schemeClr val="accent6"/>
                </a:solidFill>
              </a:rPr>
              <a:t>Next header</a:t>
            </a:r>
            <a:r>
              <a:rPr lang="en-US" dirty="0"/>
              <a:t>: 17 -&gt; UDP</a:t>
            </a:r>
            <a:endParaRPr lang="cs-CZ" dirty="0"/>
          </a:p>
        </p:txBody>
      </p:sp>
      <p:sp>
        <p:nvSpPr>
          <p:cNvPr id="3" name="Text Placeholder 2"/>
          <p:cNvSpPr>
            <a:spLocks noGrp="1"/>
          </p:cNvSpPr>
          <p:nvPr>
            <p:ph type="body" sz="quarter" idx="11"/>
          </p:nvPr>
        </p:nvSpPr>
        <p:spPr/>
        <p:txBody>
          <a:bodyPr/>
          <a:lstStyle/>
          <a:p>
            <a:r>
              <a:rPr lang="cs-CZ" dirty="0"/>
              <a:t>IPv6 SR </a:t>
            </a:r>
            <a:r>
              <a:rPr lang="cs-CZ" dirty="0" err="1"/>
              <a:t>Header</a:t>
            </a:r>
            <a:endParaRPr lang="cs-CZ" dirty="0"/>
          </a:p>
        </p:txBody>
      </p:sp>
      <p:sp>
        <p:nvSpPr>
          <p:cNvPr id="4" name="Text Placeholder 3"/>
          <p:cNvSpPr>
            <a:spLocks noGrp="1"/>
          </p:cNvSpPr>
          <p:nvPr>
            <p:ph type="body" sz="quarter" idx="12"/>
          </p:nvPr>
        </p:nvSpPr>
        <p:spPr/>
        <p:txBody>
          <a:bodyPr/>
          <a:lstStyle/>
          <a:p>
            <a:pPr marL="0" indent="0">
              <a:spcBef>
                <a:spcPts val="0"/>
              </a:spcBef>
              <a:buNone/>
            </a:pPr>
            <a:r>
              <a:rPr lang="en-US" sz="1200" dirty="0">
                <a:latin typeface="Consolas" panose="020B0609020204030204" pitchFamily="49" charset="0"/>
              </a:rPr>
              <a:t> </a:t>
            </a:r>
            <a:r>
              <a:rPr lang="cs-CZ" sz="1200" dirty="0">
                <a:latin typeface="Consolas" panose="020B0609020204030204" pitchFamily="49" charset="0"/>
              </a:rPr>
              <a:t>0 </a:t>
            </a:r>
            <a:r>
              <a:rPr lang="en-US" sz="1200" dirty="0">
                <a:latin typeface="Consolas" panose="020B0609020204030204" pitchFamily="49" charset="0"/>
              </a:rPr>
              <a:t>                  </a:t>
            </a:r>
            <a:r>
              <a:rPr lang="cs-CZ" sz="1200" dirty="0">
                <a:latin typeface="Consolas" panose="020B0609020204030204" pitchFamily="49" charset="0"/>
              </a:rPr>
              <a:t>1 </a:t>
            </a:r>
            <a:r>
              <a:rPr lang="en-US" sz="1200" dirty="0">
                <a:latin typeface="Consolas" panose="020B0609020204030204" pitchFamily="49" charset="0"/>
              </a:rPr>
              <a:t>                  </a:t>
            </a:r>
            <a:r>
              <a:rPr lang="cs-CZ" sz="1200" dirty="0">
                <a:latin typeface="Consolas" panose="020B0609020204030204" pitchFamily="49" charset="0"/>
              </a:rPr>
              <a:t>2 </a:t>
            </a:r>
            <a:r>
              <a:rPr lang="en-US" sz="1200" dirty="0">
                <a:latin typeface="Consolas" panose="020B0609020204030204" pitchFamily="49" charset="0"/>
              </a:rPr>
              <a:t>                  </a:t>
            </a:r>
            <a:r>
              <a:rPr lang="cs-CZ" sz="1200" dirty="0">
                <a:latin typeface="Consolas" panose="020B0609020204030204" pitchFamily="49" charset="0"/>
              </a:rPr>
              <a:t>3</a:t>
            </a:r>
            <a:endParaRPr lang="en-US" sz="1200" dirty="0">
              <a:latin typeface="Consolas" panose="020B0609020204030204" pitchFamily="49" charset="0"/>
            </a:endParaRPr>
          </a:p>
          <a:p>
            <a:pPr marL="0" indent="0">
              <a:spcBef>
                <a:spcPts val="0"/>
              </a:spcBef>
              <a:buNone/>
            </a:pPr>
            <a:r>
              <a:rPr lang="en-US" sz="1200" dirty="0">
                <a:latin typeface="Consolas" panose="020B0609020204030204" pitchFamily="49" charset="0"/>
              </a:rPr>
              <a:t> </a:t>
            </a:r>
            <a:r>
              <a:rPr lang="cs-CZ" sz="1200" dirty="0">
                <a:latin typeface="Consolas" panose="020B0609020204030204" pitchFamily="49" charset="0"/>
              </a:rPr>
              <a:t>0 1 2 3 4 5 6 7 8 9 0 1 2 3 4 5 6 7 8 9 0 1 2 3 4 5 6 7 8 9 0 1</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cs-CZ" sz="1200" dirty="0" err="1">
                <a:latin typeface="Consolas" panose="020B0609020204030204" pitchFamily="49" charset="0"/>
              </a:rPr>
              <a:t>Version</a:t>
            </a:r>
            <a:r>
              <a:rPr lang="cs-CZ" sz="1200" dirty="0">
                <a:latin typeface="Consolas" panose="020B0609020204030204" pitchFamily="49" charset="0"/>
              </a:rPr>
              <a:t>| </a:t>
            </a:r>
            <a:r>
              <a:rPr lang="cs-CZ" sz="1200" dirty="0" err="1">
                <a:latin typeface="Consolas" panose="020B0609020204030204" pitchFamily="49" charset="0"/>
              </a:rPr>
              <a:t>Traffic</a:t>
            </a:r>
            <a:r>
              <a:rPr lang="cs-CZ" sz="1200" dirty="0">
                <a:latin typeface="Consolas" panose="020B0609020204030204" pitchFamily="49" charset="0"/>
              </a:rPr>
              <a:t> </a:t>
            </a:r>
            <a:r>
              <a:rPr lang="cs-CZ" sz="1200" dirty="0" err="1">
                <a:latin typeface="Consolas" panose="020B0609020204030204" pitchFamily="49" charset="0"/>
              </a:rPr>
              <a:t>Class</a:t>
            </a:r>
            <a:r>
              <a:rPr lang="cs-CZ" sz="1200" dirty="0">
                <a:latin typeface="Consolas" panose="020B0609020204030204" pitchFamily="49" charset="0"/>
              </a:rPr>
              <a:t> | </a:t>
            </a:r>
            <a:r>
              <a:rPr lang="en-US" sz="1200" dirty="0">
                <a:latin typeface="Consolas" panose="020B0609020204030204" pitchFamily="49" charset="0"/>
              </a:rPr>
              <a:t>           </a:t>
            </a:r>
            <a:r>
              <a:rPr lang="cs-CZ" sz="1200" dirty="0" err="1">
                <a:latin typeface="Consolas" panose="020B0609020204030204" pitchFamily="49" charset="0"/>
              </a:rPr>
              <a:t>Flow</a:t>
            </a:r>
            <a:r>
              <a:rPr lang="cs-CZ" sz="1200" dirty="0">
                <a:latin typeface="Consolas" panose="020B0609020204030204" pitchFamily="49" charset="0"/>
              </a:rPr>
              <a:t> Label</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err="1">
                <a:latin typeface="Consolas" panose="020B0609020204030204" pitchFamily="49" charset="0"/>
              </a:rPr>
              <a:t>Payload</a:t>
            </a:r>
            <a:r>
              <a:rPr lang="cs-CZ" sz="1200" dirty="0">
                <a:latin typeface="Consolas" panose="020B0609020204030204" pitchFamily="49" charset="0"/>
              </a:rPr>
              <a:t> </a:t>
            </a:r>
            <a:r>
              <a:rPr lang="cs-CZ" sz="1200" dirty="0" err="1">
                <a:latin typeface="Consolas" panose="020B0609020204030204" pitchFamily="49" charset="0"/>
              </a:rPr>
              <a:t>Length</a:t>
            </a:r>
            <a:r>
              <a:rPr lang="en-US" sz="1200" dirty="0">
                <a:latin typeface="Consolas" panose="020B0609020204030204" pitchFamily="49" charset="0"/>
              </a:rPr>
              <a:t>         </a:t>
            </a:r>
            <a:r>
              <a:rPr lang="cs-CZ" sz="1200" dirty="0">
                <a:latin typeface="Consolas" panose="020B0609020204030204" pitchFamily="49" charset="0"/>
              </a:rPr>
              <a:t>|</a:t>
            </a:r>
            <a:r>
              <a:rPr lang="en-US" sz="1200" dirty="0">
                <a:latin typeface="Consolas" panose="020B0609020204030204" pitchFamily="49" charset="0"/>
              </a:rPr>
              <a:t>       </a:t>
            </a:r>
            <a:r>
              <a:rPr lang="en-US" sz="1200" b="1" dirty="0">
                <a:solidFill>
                  <a:schemeClr val="accent6"/>
                </a:solidFill>
                <a:latin typeface="Consolas" panose="020B0609020204030204" pitchFamily="49" charset="0"/>
              </a:rPr>
              <a:t>17      </a:t>
            </a: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Hop Limit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Source </a:t>
            </a:r>
            <a:r>
              <a:rPr lang="cs-CZ" sz="1200" dirty="0" err="1">
                <a:latin typeface="Consolas" panose="020B0609020204030204" pitchFamily="49" charset="0"/>
              </a:rPr>
              <a:t>Address</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r>
              <a:rPr lang="cs-CZ" sz="1200" dirty="0" err="1">
                <a:latin typeface="Consolas" panose="020B0609020204030204" pitchFamily="49" charset="0"/>
              </a:rPr>
              <a:t>Destination</a:t>
            </a:r>
            <a:r>
              <a:rPr lang="cs-CZ" sz="1200" dirty="0">
                <a:latin typeface="Consolas" panose="020B0609020204030204" pitchFamily="49" charset="0"/>
              </a:rPr>
              <a:t> </a:t>
            </a:r>
            <a:r>
              <a:rPr lang="cs-CZ" sz="1200" dirty="0" err="1">
                <a:latin typeface="Consolas" panose="020B0609020204030204" pitchFamily="49" charset="0"/>
              </a:rPr>
              <a:t>Address</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r>
              <a:rPr lang="cs-CZ" sz="1200" dirty="0">
                <a:latin typeface="Consolas" panose="020B0609020204030204" pitchFamily="49" charset="0"/>
              </a:rPr>
              <a:t> |</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r>
              <a:rPr lang="cs-CZ" sz="1200" dirty="0">
                <a:latin typeface="Consolas" panose="020B0609020204030204" pitchFamily="49" charset="0"/>
              </a:rPr>
              <a:t>Source Port</a:t>
            </a:r>
            <a:r>
              <a:rPr lang="en-US" sz="1200" dirty="0">
                <a:latin typeface="Consolas" panose="020B0609020204030204" pitchFamily="49" charset="0"/>
              </a:rPr>
              <a:t>         </a:t>
            </a:r>
            <a:r>
              <a:rPr lang="cs-CZ" sz="1200" dirty="0">
                <a:latin typeface="Consolas" panose="020B0609020204030204" pitchFamily="49" charset="0"/>
              </a:rPr>
              <a:t>| </a:t>
            </a:r>
            <a:r>
              <a:rPr lang="en-US" sz="1200" dirty="0">
                <a:latin typeface="Consolas" panose="020B0609020204030204" pitchFamily="49" charset="0"/>
              </a:rPr>
              <a:t>       </a:t>
            </a:r>
            <a:r>
              <a:rPr lang="cs-CZ" sz="1200" dirty="0" err="1">
                <a:latin typeface="Consolas" panose="020B0609020204030204" pitchFamily="49" charset="0"/>
              </a:rPr>
              <a:t>Destination</a:t>
            </a:r>
            <a:r>
              <a:rPr lang="cs-CZ" sz="1200" dirty="0">
                <a:latin typeface="Consolas" panose="020B0609020204030204" pitchFamily="49" charset="0"/>
              </a:rPr>
              <a:t> Port</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err="1">
                <a:latin typeface="Consolas" panose="020B0609020204030204" pitchFamily="49" charset="0"/>
              </a:rPr>
              <a:t>Length</a:t>
            </a: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 </a:t>
            </a:r>
            <a:r>
              <a:rPr lang="en-US" sz="1200" dirty="0">
                <a:latin typeface="Consolas" panose="020B0609020204030204" pitchFamily="49" charset="0"/>
              </a:rPr>
              <a:t>           </a:t>
            </a:r>
            <a:r>
              <a:rPr lang="cs-CZ" sz="1200" dirty="0" err="1">
                <a:latin typeface="Consolas" panose="020B0609020204030204" pitchFamily="49" charset="0"/>
              </a:rPr>
              <a:t>Checksum</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data</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p>
        </p:txBody>
      </p:sp>
      <p:sp>
        <p:nvSpPr>
          <p:cNvPr id="6" name="Rounded Rectangle 5"/>
          <p:cNvSpPr/>
          <p:nvPr/>
        </p:nvSpPr>
        <p:spPr>
          <a:xfrm>
            <a:off x="8909705" y="1784264"/>
            <a:ext cx="1349737" cy="367687"/>
          </a:xfrm>
          <a:prstGeom prst="roundRect">
            <a:avLst/>
          </a:prstGeom>
          <a:noFill/>
          <a:ln w="50800">
            <a:solidFill>
              <a:schemeClr val="accent5"/>
            </a:solidFill>
            <a:prstDash val="solid"/>
          </a:ln>
        </p:spPr>
        <p:style>
          <a:lnRef idx="2">
            <a:schemeClr val="accent5"/>
          </a:lnRef>
          <a:fillRef idx="1">
            <a:schemeClr val="lt1"/>
          </a:fillRef>
          <a:effectRef idx="0">
            <a:schemeClr val="accent5"/>
          </a:effectRef>
          <a:fontRef idx="minor">
            <a:schemeClr val="dk1"/>
          </a:fontRef>
        </p:style>
        <p:txBody>
          <a:bodyPr rtlCol="0" anchor="ctr"/>
          <a:lstStyle/>
          <a:p>
            <a:pPr algn="ctr"/>
            <a:endParaRPr lang="sk-SK"/>
          </a:p>
        </p:txBody>
      </p:sp>
      <p:sp>
        <p:nvSpPr>
          <p:cNvPr id="7" name="Rounded Rectangle 6"/>
          <p:cNvSpPr/>
          <p:nvPr/>
        </p:nvSpPr>
        <p:spPr>
          <a:xfrm>
            <a:off x="6214996" y="4181100"/>
            <a:ext cx="5353700" cy="1069172"/>
          </a:xfrm>
          <a:prstGeom prst="roundRect">
            <a:avLst/>
          </a:prstGeom>
          <a:noFill/>
          <a:ln w="50800">
            <a:solidFill>
              <a:schemeClr val="accent5"/>
            </a:solidFill>
            <a:prstDash val="solid"/>
          </a:ln>
        </p:spPr>
        <p:style>
          <a:lnRef idx="2">
            <a:schemeClr val="accent5"/>
          </a:lnRef>
          <a:fillRef idx="1">
            <a:schemeClr val="lt1"/>
          </a:fillRef>
          <a:effectRef idx="0">
            <a:schemeClr val="accent5"/>
          </a:effectRef>
          <a:fontRef idx="minor">
            <a:schemeClr val="dk1"/>
          </a:fontRef>
        </p:style>
        <p:txBody>
          <a:bodyPr rtlCol="0" anchor="ctr"/>
          <a:lstStyle/>
          <a:p>
            <a:pPr algn="ctr"/>
            <a:endParaRPr lang="sk-SK"/>
          </a:p>
        </p:txBody>
      </p:sp>
      <p:cxnSp>
        <p:nvCxnSpPr>
          <p:cNvPr id="8" name="Straight Arrow Connector 7"/>
          <p:cNvCxnSpPr>
            <a:stCxn id="6" idx="2"/>
          </p:cNvCxnSpPr>
          <p:nvPr/>
        </p:nvCxnSpPr>
        <p:spPr>
          <a:xfrm flipH="1">
            <a:off x="6214996" y="2151951"/>
            <a:ext cx="3369578" cy="20291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4584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IPv6 header</a:t>
            </a:r>
          </a:p>
          <a:p>
            <a:pPr lvl="1"/>
            <a:r>
              <a:rPr lang="en-US" b="1" dirty="0">
                <a:solidFill>
                  <a:schemeClr val="accent6"/>
                </a:solidFill>
              </a:rPr>
              <a:t>Next header</a:t>
            </a:r>
            <a:r>
              <a:rPr lang="en-US" dirty="0"/>
              <a:t>: 6 -&gt; TCP</a:t>
            </a:r>
            <a:endParaRPr lang="cs-CZ" dirty="0"/>
          </a:p>
        </p:txBody>
      </p:sp>
      <p:sp>
        <p:nvSpPr>
          <p:cNvPr id="3" name="Text Placeholder 2"/>
          <p:cNvSpPr>
            <a:spLocks noGrp="1"/>
          </p:cNvSpPr>
          <p:nvPr>
            <p:ph type="body" sz="quarter" idx="11"/>
          </p:nvPr>
        </p:nvSpPr>
        <p:spPr/>
        <p:txBody>
          <a:bodyPr/>
          <a:lstStyle/>
          <a:p>
            <a:r>
              <a:rPr lang="cs-CZ" dirty="0"/>
              <a:t>IPv6 SR </a:t>
            </a:r>
            <a:r>
              <a:rPr lang="cs-CZ" dirty="0" err="1"/>
              <a:t>Header</a:t>
            </a:r>
            <a:endParaRPr lang="cs-CZ" dirty="0"/>
          </a:p>
        </p:txBody>
      </p:sp>
      <p:sp>
        <p:nvSpPr>
          <p:cNvPr id="4" name="Text Placeholder 3"/>
          <p:cNvSpPr>
            <a:spLocks noGrp="1"/>
          </p:cNvSpPr>
          <p:nvPr>
            <p:ph type="body" sz="quarter" idx="12"/>
          </p:nvPr>
        </p:nvSpPr>
        <p:spPr>
          <a:xfrm>
            <a:off x="6095999" y="158816"/>
            <a:ext cx="5773188" cy="5394959"/>
          </a:xfrm>
        </p:spPr>
        <p:txBody>
          <a:bodyPr/>
          <a:lstStyle/>
          <a:p>
            <a:pPr marL="0" indent="0">
              <a:spcBef>
                <a:spcPts val="0"/>
              </a:spcBef>
              <a:buNone/>
            </a:pPr>
            <a:r>
              <a:rPr lang="en-US" sz="1200" dirty="0">
                <a:latin typeface="Consolas" panose="020B0609020204030204" pitchFamily="49" charset="0"/>
              </a:rPr>
              <a:t> </a:t>
            </a:r>
            <a:r>
              <a:rPr lang="cs-CZ" sz="1200" dirty="0">
                <a:latin typeface="Consolas" panose="020B0609020204030204" pitchFamily="49" charset="0"/>
              </a:rPr>
              <a:t>0 </a:t>
            </a:r>
            <a:r>
              <a:rPr lang="en-US" sz="1200" dirty="0">
                <a:latin typeface="Consolas" panose="020B0609020204030204" pitchFamily="49" charset="0"/>
              </a:rPr>
              <a:t>                  </a:t>
            </a:r>
            <a:r>
              <a:rPr lang="cs-CZ" sz="1200" dirty="0">
                <a:latin typeface="Consolas" panose="020B0609020204030204" pitchFamily="49" charset="0"/>
              </a:rPr>
              <a:t>1 </a:t>
            </a:r>
            <a:r>
              <a:rPr lang="en-US" sz="1200" dirty="0">
                <a:latin typeface="Consolas" panose="020B0609020204030204" pitchFamily="49" charset="0"/>
              </a:rPr>
              <a:t>                  </a:t>
            </a:r>
            <a:r>
              <a:rPr lang="cs-CZ" sz="1200" dirty="0">
                <a:latin typeface="Consolas" panose="020B0609020204030204" pitchFamily="49" charset="0"/>
              </a:rPr>
              <a:t>2 </a:t>
            </a:r>
            <a:r>
              <a:rPr lang="en-US" sz="1200" dirty="0">
                <a:latin typeface="Consolas" panose="020B0609020204030204" pitchFamily="49" charset="0"/>
              </a:rPr>
              <a:t>                  </a:t>
            </a:r>
            <a:r>
              <a:rPr lang="cs-CZ" sz="1200" dirty="0">
                <a:latin typeface="Consolas" panose="020B0609020204030204" pitchFamily="49" charset="0"/>
              </a:rPr>
              <a:t>3</a:t>
            </a:r>
            <a:endParaRPr lang="en-US" sz="1200" dirty="0">
              <a:latin typeface="Consolas" panose="020B0609020204030204" pitchFamily="49" charset="0"/>
            </a:endParaRPr>
          </a:p>
          <a:p>
            <a:pPr marL="0" indent="0">
              <a:spcBef>
                <a:spcPts val="0"/>
              </a:spcBef>
              <a:buNone/>
            </a:pPr>
            <a:r>
              <a:rPr lang="en-US" sz="1200" dirty="0">
                <a:latin typeface="Consolas" panose="020B0609020204030204" pitchFamily="49" charset="0"/>
              </a:rPr>
              <a:t> </a:t>
            </a:r>
            <a:r>
              <a:rPr lang="cs-CZ" sz="1200" dirty="0">
                <a:latin typeface="Consolas" panose="020B0609020204030204" pitchFamily="49" charset="0"/>
              </a:rPr>
              <a:t>0 1 2 3 4 5 6 7 8 9 0 1 2 3 4 5 6 7 8 9 0 1 2 3 4 5 6 7 8 9 0 1</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cs-CZ" sz="1200" dirty="0" err="1">
                <a:latin typeface="Consolas" panose="020B0609020204030204" pitchFamily="49" charset="0"/>
              </a:rPr>
              <a:t>Version</a:t>
            </a:r>
            <a:r>
              <a:rPr lang="cs-CZ" sz="1200" dirty="0">
                <a:latin typeface="Consolas" panose="020B0609020204030204" pitchFamily="49" charset="0"/>
              </a:rPr>
              <a:t>| </a:t>
            </a:r>
            <a:r>
              <a:rPr lang="cs-CZ" sz="1200" dirty="0" err="1">
                <a:latin typeface="Consolas" panose="020B0609020204030204" pitchFamily="49" charset="0"/>
              </a:rPr>
              <a:t>Traffic</a:t>
            </a:r>
            <a:r>
              <a:rPr lang="cs-CZ" sz="1200" dirty="0">
                <a:latin typeface="Consolas" panose="020B0609020204030204" pitchFamily="49" charset="0"/>
              </a:rPr>
              <a:t> </a:t>
            </a:r>
            <a:r>
              <a:rPr lang="cs-CZ" sz="1200" dirty="0" err="1">
                <a:latin typeface="Consolas" panose="020B0609020204030204" pitchFamily="49" charset="0"/>
              </a:rPr>
              <a:t>Class</a:t>
            </a:r>
            <a:r>
              <a:rPr lang="cs-CZ" sz="1200" dirty="0">
                <a:latin typeface="Consolas" panose="020B0609020204030204" pitchFamily="49" charset="0"/>
              </a:rPr>
              <a:t> | </a:t>
            </a:r>
            <a:r>
              <a:rPr lang="en-US" sz="1200" dirty="0">
                <a:latin typeface="Consolas" panose="020B0609020204030204" pitchFamily="49" charset="0"/>
              </a:rPr>
              <a:t>           </a:t>
            </a:r>
            <a:r>
              <a:rPr lang="cs-CZ" sz="1200" dirty="0" err="1">
                <a:latin typeface="Consolas" panose="020B0609020204030204" pitchFamily="49" charset="0"/>
              </a:rPr>
              <a:t>Flow</a:t>
            </a:r>
            <a:r>
              <a:rPr lang="cs-CZ" sz="1200" dirty="0">
                <a:latin typeface="Consolas" panose="020B0609020204030204" pitchFamily="49" charset="0"/>
              </a:rPr>
              <a:t> Label</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err="1">
                <a:latin typeface="Consolas" panose="020B0609020204030204" pitchFamily="49" charset="0"/>
              </a:rPr>
              <a:t>Payload</a:t>
            </a:r>
            <a:r>
              <a:rPr lang="cs-CZ" sz="1200" dirty="0">
                <a:latin typeface="Consolas" panose="020B0609020204030204" pitchFamily="49" charset="0"/>
              </a:rPr>
              <a:t> </a:t>
            </a:r>
            <a:r>
              <a:rPr lang="cs-CZ" sz="1200" dirty="0" err="1">
                <a:latin typeface="Consolas" panose="020B0609020204030204" pitchFamily="49" charset="0"/>
              </a:rPr>
              <a:t>Length</a:t>
            </a:r>
            <a:r>
              <a:rPr lang="en-US" sz="1200" dirty="0">
                <a:latin typeface="Consolas" panose="020B0609020204030204" pitchFamily="49" charset="0"/>
              </a:rPr>
              <a:t>         </a:t>
            </a:r>
            <a:r>
              <a:rPr lang="cs-CZ" sz="1200" dirty="0">
                <a:latin typeface="Consolas" panose="020B0609020204030204" pitchFamily="49" charset="0"/>
              </a:rPr>
              <a:t>|</a:t>
            </a:r>
            <a:r>
              <a:rPr lang="en-US" sz="1200" dirty="0">
                <a:latin typeface="Consolas" panose="020B0609020204030204" pitchFamily="49" charset="0"/>
              </a:rPr>
              <a:t>       </a:t>
            </a:r>
            <a:r>
              <a:rPr lang="en-US" sz="1200" b="1" dirty="0">
                <a:solidFill>
                  <a:schemeClr val="accent6"/>
                </a:solidFill>
                <a:latin typeface="Consolas" panose="020B0609020204030204" pitchFamily="49" charset="0"/>
              </a:rPr>
              <a:t>6       </a:t>
            </a: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Hop Limit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Source </a:t>
            </a:r>
            <a:r>
              <a:rPr lang="cs-CZ" sz="1200" dirty="0" err="1">
                <a:latin typeface="Consolas" panose="020B0609020204030204" pitchFamily="49" charset="0"/>
              </a:rPr>
              <a:t>Address</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r>
              <a:rPr lang="cs-CZ" sz="1200" dirty="0" err="1">
                <a:latin typeface="Consolas" panose="020B0609020204030204" pitchFamily="49" charset="0"/>
              </a:rPr>
              <a:t>Destination</a:t>
            </a:r>
            <a:r>
              <a:rPr lang="cs-CZ" sz="1200" dirty="0">
                <a:latin typeface="Consolas" panose="020B0609020204030204" pitchFamily="49" charset="0"/>
              </a:rPr>
              <a:t> </a:t>
            </a:r>
            <a:r>
              <a:rPr lang="cs-CZ" sz="1200" dirty="0" err="1">
                <a:latin typeface="Consolas" panose="020B0609020204030204" pitchFamily="49" charset="0"/>
              </a:rPr>
              <a:t>Address</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r>
              <a:rPr lang="cs-CZ" sz="1200" dirty="0">
                <a:latin typeface="Consolas" panose="020B0609020204030204" pitchFamily="49" charset="0"/>
              </a:rPr>
              <a:t> |</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en-US" sz="1200" dirty="0">
                <a:latin typeface="Consolas" panose="020B0609020204030204" pitchFamily="49" charset="0"/>
              </a:rPr>
              <a:t>+-+-+-+-+-+-+-+-+-+-+-+-+-+-+-+-+-+-+-+-+-+-+-+-+-+-+-+-+-+-+-+-+</a:t>
            </a:r>
          </a:p>
          <a:p>
            <a:pPr marL="0" indent="0">
              <a:spcBef>
                <a:spcPts val="0"/>
              </a:spcBef>
              <a:buNone/>
            </a:pPr>
            <a:r>
              <a:rPr lang="en-US" sz="1200" dirty="0">
                <a:latin typeface="Consolas" panose="020B0609020204030204" pitchFamily="49" charset="0"/>
              </a:rPr>
              <a:t>|          Source Port          |       Destination Port        |</a:t>
            </a:r>
          </a:p>
          <a:p>
            <a:pPr marL="0" indent="0">
              <a:spcBef>
                <a:spcPts val="0"/>
              </a:spcBef>
              <a:buNone/>
            </a:pPr>
            <a:r>
              <a:rPr lang="en-US" sz="1200" dirty="0">
                <a:latin typeface="Consolas" panose="020B0609020204030204" pitchFamily="49" charset="0"/>
              </a:rPr>
              <a:t>+-+-+-+-+-+-+-+-+-+-+-+-+-+-+-+-+-+-+-+-+-+-+-+-+-+-+-+-+-+-+-+-+</a:t>
            </a:r>
          </a:p>
          <a:p>
            <a:pPr marL="0" indent="0">
              <a:spcBef>
                <a:spcPts val="0"/>
              </a:spcBef>
              <a:buNone/>
            </a:pPr>
            <a:r>
              <a:rPr lang="en-US" sz="1200" dirty="0">
                <a:latin typeface="Consolas" panose="020B0609020204030204" pitchFamily="49" charset="0"/>
              </a:rPr>
              <a:t>|                        Sequence Number                        |</a:t>
            </a:r>
          </a:p>
          <a:p>
            <a:pPr marL="0" indent="0">
              <a:spcBef>
                <a:spcPts val="0"/>
              </a:spcBef>
              <a:buNone/>
            </a:pPr>
            <a:r>
              <a:rPr lang="en-US" sz="1200" dirty="0">
                <a:latin typeface="Consolas" panose="020B0609020204030204" pitchFamily="49" charset="0"/>
              </a:rPr>
              <a:t>+-+-+-+-+-+-+-+-+-+-+-+-+-+-+-+-+-+-+-+-+-+-+-+-+-+-+-+-+-+-+-+-+</a:t>
            </a:r>
          </a:p>
          <a:p>
            <a:pPr marL="0" indent="0">
              <a:spcBef>
                <a:spcPts val="0"/>
              </a:spcBef>
              <a:buNone/>
            </a:pPr>
            <a:r>
              <a:rPr lang="en-US" sz="1200" dirty="0">
                <a:latin typeface="Consolas" panose="020B0609020204030204" pitchFamily="49" charset="0"/>
              </a:rPr>
              <a:t>|                    Acknowledgment Number                      |</a:t>
            </a:r>
          </a:p>
          <a:p>
            <a:pPr marL="0" indent="0">
              <a:spcBef>
                <a:spcPts val="0"/>
              </a:spcBef>
              <a:buNone/>
            </a:pPr>
            <a:r>
              <a:rPr lang="en-US" sz="1200" dirty="0">
                <a:latin typeface="Consolas" panose="020B0609020204030204" pitchFamily="49" charset="0"/>
              </a:rPr>
              <a:t>+-+-+-+-+-+-+-+-+-+-+-+-+-+-+-+-+-+-+-+-+-+-+-+-+-+-+-+-+-+-+-+-+</a:t>
            </a:r>
          </a:p>
          <a:p>
            <a:pPr marL="0" indent="0">
              <a:spcBef>
                <a:spcPts val="0"/>
              </a:spcBef>
              <a:buNone/>
            </a:pPr>
            <a:r>
              <a:rPr lang="en-US" sz="1200" dirty="0">
                <a:latin typeface="Consolas" panose="020B0609020204030204" pitchFamily="49" charset="0"/>
              </a:rPr>
              <a:t>|  Data |           |U|A|P|R|S|F|                               |</a:t>
            </a:r>
          </a:p>
          <a:p>
            <a:pPr marL="0" indent="0">
              <a:spcBef>
                <a:spcPts val="0"/>
              </a:spcBef>
              <a:buNone/>
            </a:pPr>
            <a:r>
              <a:rPr lang="en-US" sz="1200" dirty="0">
                <a:latin typeface="Consolas" panose="020B0609020204030204" pitchFamily="49" charset="0"/>
              </a:rPr>
              <a:t>| Offset| Reserved  |R|C|S|S|Y|I|            Window             |</a:t>
            </a:r>
          </a:p>
          <a:p>
            <a:pPr marL="0" indent="0">
              <a:spcBef>
                <a:spcPts val="0"/>
              </a:spcBef>
              <a:buNone/>
            </a:pPr>
            <a:r>
              <a:rPr lang="en-US" sz="1200" dirty="0">
                <a:latin typeface="Consolas" panose="020B0609020204030204" pitchFamily="49" charset="0"/>
              </a:rPr>
              <a:t>|       |           |G|K|H|T|N|N|                               |</a:t>
            </a:r>
          </a:p>
          <a:p>
            <a:pPr marL="0" indent="0">
              <a:spcBef>
                <a:spcPts val="0"/>
              </a:spcBef>
              <a:buNone/>
            </a:pPr>
            <a:r>
              <a:rPr lang="en-US" sz="1200" dirty="0">
                <a:latin typeface="Consolas" panose="020B0609020204030204" pitchFamily="49" charset="0"/>
              </a:rPr>
              <a:t>+-+-+-+-+-+-+-+-+-+-+-+-+-+-+-+-+-+-+-+-+-+-+-+-+-+-+-+-+-+-+-+-+</a:t>
            </a:r>
          </a:p>
          <a:p>
            <a:pPr marL="0" indent="0">
              <a:spcBef>
                <a:spcPts val="0"/>
              </a:spcBef>
              <a:buNone/>
            </a:pPr>
            <a:r>
              <a:rPr lang="en-US" sz="1200" dirty="0">
                <a:latin typeface="Consolas" panose="020B0609020204030204" pitchFamily="49" charset="0"/>
              </a:rPr>
              <a:t>|           Checksum            |         Urgent Pointer        |</a:t>
            </a:r>
          </a:p>
          <a:p>
            <a:pPr marL="0" indent="0">
              <a:spcBef>
                <a:spcPts val="0"/>
              </a:spcBef>
              <a:buNone/>
            </a:pPr>
            <a:r>
              <a:rPr lang="en-US" sz="1200" dirty="0">
                <a:latin typeface="Consolas" panose="020B0609020204030204" pitchFamily="49" charset="0"/>
              </a:rPr>
              <a:t>+-+-+-+-+-+-+-+-+-+-+-+-+-+-+-+-+-+-+-+-+-+-+-+-+-+-+-+-+-+-+-+-+</a:t>
            </a:r>
          </a:p>
          <a:p>
            <a:pPr marL="0" indent="0">
              <a:spcBef>
                <a:spcPts val="0"/>
              </a:spcBef>
              <a:buNone/>
            </a:pPr>
            <a:r>
              <a:rPr lang="en-US" sz="1200" dirty="0">
                <a:latin typeface="Consolas" panose="020B0609020204030204" pitchFamily="49" charset="0"/>
              </a:rPr>
              <a:t>|                    Options                    |    Padding    |</a:t>
            </a:r>
          </a:p>
          <a:p>
            <a:pPr marL="0" indent="0">
              <a:spcBef>
                <a:spcPts val="0"/>
              </a:spcBef>
              <a:buNone/>
            </a:pPr>
            <a:r>
              <a:rPr lang="en-US" sz="1200" dirty="0">
                <a:latin typeface="Consolas" panose="020B0609020204030204" pitchFamily="49" charset="0"/>
              </a:rPr>
              <a:t>+-+-+-+-+-+-+-+-+-+-+-+-+-+-+-+-+-+-+-+-+-+-+-+-+-+-+-+-+-+-+-+-+</a:t>
            </a:r>
          </a:p>
          <a:p>
            <a:pPr marL="0" indent="0">
              <a:spcBef>
                <a:spcPts val="0"/>
              </a:spcBef>
              <a:buNone/>
            </a:pPr>
            <a:r>
              <a:rPr lang="en-US" sz="1200" dirty="0">
                <a:latin typeface="Consolas" panose="020B0609020204030204" pitchFamily="49" charset="0"/>
              </a:rPr>
              <a:t>|                             data                              |</a:t>
            </a:r>
          </a:p>
          <a:p>
            <a:pPr marL="0" indent="0">
              <a:spcBef>
                <a:spcPts val="0"/>
              </a:spcBef>
              <a:buNone/>
            </a:pPr>
            <a:r>
              <a:rPr lang="en-US" sz="1200" dirty="0">
                <a:latin typeface="Consolas" panose="020B0609020204030204" pitchFamily="49" charset="0"/>
              </a:rPr>
              <a:t>+-+-+-+-+-+-+-+-+-+-+-+-+-+-+-+-+-+-+-+-+-+-+-+-+-+-+-+-+-+-+-+-+</a:t>
            </a:r>
          </a:p>
          <a:p>
            <a:pPr marL="0" indent="0">
              <a:spcBef>
                <a:spcPts val="0"/>
              </a:spcBef>
              <a:buNone/>
            </a:pPr>
            <a:endParaRPr lang="cs-CZ" sz="1200" dirty="0">
              <a:latin typeface="Consolas" panose="020B0609020204030204" pitchFamily="49" charset="0"/>
            </a:endParaRPr>
          </a:p>
        </p:txBody>
      </p:sp>
      <p:sp>
        <p:nvSpPr>
          <p:cNvPr id="6" name="Rounded Rectangle 5"/>
          <p:cNvSpPr/>
          <p:nvPr/>
        </p:nvSpPr>
        <p:spPr>
          <a:xfrm>
            <a:off x="8909705" y="1022264"/>
            <a:ext cx="1349737" cy="367687"/>
          </a:xfrm>
          <a:prstGeom prst="roundRect">
            <a:avLst/>
          </a:prstGeom>
          <a:noFill/>
          <a:ln w="50800">
            <a:solidFill>
              <a:schemeClr val="accent5"/>
            </a:solidFill>
            <a:prstDash val="solid"/>
          </a:ln>
        </p:spPr>
        <p:style>
          <a:lnRef idx="2">
            <a:schemeClr val="accent5"/>
          </a:lnRef>
          <a:fillRef idx="1">
            <a:schemeClr val="lt1"/>
          </a:fillRef>
          <a:effectRef idx="0">
            <a:schemeClr val="accent5"/>
          </a:effectRef>
          <a:fontRef idx="minor">
            <a:schemeClr val="dk1"/>
          </a:fontRef>
        </p:style>
        <p:txBody>
          <a:bodyPr rtlCol="0" anchor="ctr"/>
          <a:lstStyle/>
          <a:p>
            <a:pPr algn="ctr"/>
            <a:endParaRPr lang="sk-SK"/>
          </a:p>
        </p:txBody>
      </p:sp>
      <p:sp>
        <p:nvSpPr>
          <p:cNvPr id="7" name="Rounded Rectangle 6"/>
          <p:cNvSpPr/>
          <p:nvPr/>
        </p:nvSpPr>
        <p:spPr>
          <a:xfrm>
            <a:off x="6095999" y="3252201"/>
            <a:ext cx="5621080" cy="3375530"/>
          </a:xfrm>
          <a:prstGeom prst="roundRect">
            <a:avLst/>
          </a:prstGeom>
          <a:noFill/>
          <a:ln w="50800">
            <a:solidFill>
              <a:schemeClr val="accent5"/>
            </a:solidFill>
            <a:prstDash val="solid"/>
          </a:ln>
        </p:spPr>
        <p:style>
          <a:lnRef idx="2">
            <a:schemeClr val="accent5"/>
          </a:lnRef>
          <a:fillRef idx="1">
            <a:schemeClr val="lt1"/>
          </a:fillRef>
          <a:effectRef idx="0">
            <a:schemeClr val="accent5"/>
          </a:effectRef>
          <a:fontRef idx="minor">
            <a:schemeClr val="dk1"/>
          </a:fontRef>
        </p:style>
        <p:txBody>
          <a:bodyPr rtlCol="0" anchor="ctr"/>
          <a:lstStyle/>
          <a:p>
            <a:pPr algn="ctr"/>
            <a:endParaRPr lang="sk-SK"/>
          </a:p>
        </p:txBody>
      </p:sp>
      <p:cxnSp>
        <p:nvCxnSpPr>
          <p:cNvPr id="8" name="Straight Arrow Connector 7"/>
          <p:cNvCxnSpPr>
            <a:stCxn id="6" idx="2"/>
          </p:cNvCxnSpPr>
          <p:nvPr/>
        </p:nvCxnSpPr>
        <p:spPr>
          <a:xfrm flipH="1">
            <a:off x="6214996" y="1389951"/>
            <a:ext cx="3369578" cy="20291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9791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IPv6 header</a:t>
            </a:r>
          </a:p>
          <a:p>
            <a:pPr lvl="1"/>
            <a:r>
              <a:rPr lang="en-US" b="1" dirty="0">
                <a:solidFill>
                  <a:schemeClr val="accent6"/>
                </a:solidFill>
              </a:rPr>
              <a:t>Next header</a:t>
            </a:r>
            <a:r>
              <a:rPr lang="en-US" dirty="0"/>
              <a:t>: 4 -&gt; IPv4</a:t>
            </a:r>
          </a:p>
          <a:p>
            <a:pPr lvl="1"/>
            <a:endParaRPr lang="en-US" dirty="0"/>
          </a:p>
          <a:p>
            <a:pPr lvl="1"/>
            <a:endParaRPr lang="en-US" dirty="0"/>
          </a:p>
          <a:p>
            <a:pPr lvl="1"/>
            <a:r>
              <a:rPr lang="en-US" dirty="0"/>
              <a:t>~~ “L3 VPN”</a:t>
            </a:r>
            <a:endParaRPr lang="cs-CZ" dirty="0"/>
          </a:p>
        </p:txBody>
      </p:sp>
      <p:sp>
        <p:nvSpPr>
          <p:cNvPr id="3" name="Text Placeholder 2"/>
          <p:cNvSpPr>
            <a:spLocks noGrp="1"/>
          </p:cNvSpPr>
          <p:nvPr>
            <p:ph type="body" sz="quarter" idx="11"/>
          </p:nvPr>
        </p:nvSpPr>
        <p:spPr/>
        <p:txBody>
          <a:bodyPr/>
          <a:lstStyle/>
          <a:p>
            <a:r>
              <a:rPr lang="cs-CZ" dirty="0"/>
              <a:t>IPv6 SR </a:t>
            </a:r>
            <a:r>
              <a:rPr lang="cs-CZ" dirty="0" err="1"/>
              <a:t>Header</a:t>
            </a:r>
            <a:endParaRPr lang="cs-CZ" dirty="0"/>
          </a:p>
        </p:txBody>
      </p:sp>
      <p:sp>
        <p:nvSpPr>
          <p:cNvPr id="4" name="Text Placeholder 3"/>
          <p:cNvSpPr>
            <a:spLocks noGrp="1"/>
          </p:cNvSpPr>
          <p:nvPr>
            <p:ph type="body" sz="quarter" idx="12"/>
          </p:nvPr>
        </p:nvSpPr>
        <p:spPr>
          <a:xfrm>
            <a:off x="6252210" y="695326"/>
            <a:ext cx="5773188" cy="5686424"/>
          </a:xfrm>
        </p:spPr>
        <p:txBody>
          <a:bodyPr/>
          <a:lstStyle/>
          <a:p>
            <a:pPr marL="0" indent="0">
              <a:spcBef>
                <a:spcPts val="0"/>
              </a:spcBef>
              <a:buNone/>
            </a:pPr>
            <a:r>
              <a:rPr lang="en-US" sz="1200" dirty="0">
                <a:latin typeface="Consolas" panose="020B0609020204030204" pitchFamily="49" charset="0"/>
              </a:rPr>
              <a:t> </a:t>
            </a:r>
            <a:r>
              <a:rPr lang="cs-CZ" sz="1200" dirty="0">
                <a:latin typeface="Consolas" panose="020B0609020204030204" pitchFamily="49" charset="0"/>
              </a:rPr>
              <a:t>0 </a:t>
            </a:r>
            <a:r>
              <a:rPr lang="en-US" sz="1200" dirty="0">
                <a:latin typeface="Consolas" panose="020B0609020204030204" pitchFamily="49" charset="0"/>
              </a:rPr>
              <a:t>                  </a:t>
            </a:r>
            <a:r>
              <a:rPr lang="cs-CZ" sz="1200" dirty="0">
                <a:latin typeface="Consolas" panose="020B0609020204030204" pitchFamily="49" charset="0"/>
              </a:rPr>
              <a:t>1 </a:t>
            </a:r>
            <a:r>
              <a:rPr lang="en-US" sz="1200" dirty="0">
                <a:latin typeface="Consolas" panose="020B0609020204030204" pitchFamily="49" charset="0"/>
              </a:rPr>
              <a:t>                  </a:t>
            </a:r>
            <a:r>
              <a:rPr lang="cs-CZ" sz="1200" dirty="0">
                <a:latin typeface="Consolas" panose="020B0609020204030204" pitchFamily="49" charset="0"/>
              </a:rPr>
              <a:t>2 </a:t>
            </a:r>
            <a:r>
              <a:rPr lang="en-US" sz="1200" dirty="0">
                <a:latin typeface="Consolas" panose="020B0609020204030204" pitchFamily="49" charset="0"/>
              </a:rPr>
              <a:t>                  </a:t>
            </a:r>
            <a:r>
              <a:rPr lang="cs-CZ" sz="1200" dirty="0">
                <a:latin typeface="Consolas" panose="020B0609020204030204" pitchFamily="49" charset="0"/>
              </a:rPr>
              <a:t>3</a:t>
            </a:r>
            <a:endParaRPr lang="en-US" sz="1200" dirty="0">
              <a:latin typeface="Consolas" panose="020B0609020204030204" pitchFamily="49" charset="0"/>
            </a:endParaRPr>
          </a:p>
          <a:p>
            <a:pPr marL="0" indent="0">
              <a:spcBef>
                <a:spcPts val="0"/>
              </a:spcBef>
              <a:buNone/>
            </a:pPr>
            <a:r>
              <a:rPr lang="en-US" sz="1200" dirty="0">
                <a:latin typeface="Consolas" panose="020B0609020204030204" pitchFamily="49" charset="0"/>
              </a:rPr>
              <a:t> </a:t>
            </a:r>
            <a:r>
              <a:rPr lang="cs-CZ" sz="1200" dirty="0">
                <a:latin typeface="Consolas" panose="020B0609020204030204" pitchFamily="49" charset="0"/>
              </a:rPr>
              <a:t>0 1 2 3 4 5 6 7 8 9 0 1 2 3 4 5 6 7 8 9 0 1 2 3 4 5 6 7 8 9 0 1</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cs-CZ" sz="1200" dirty="0" err="1">
                <a:latin typeface="Consolas" panose="020B0609020204030204" pitchFamily="49" charset="0"/>
              </a:rPr>
              <a:t>Version</a:t>
            </a:r>
            <a:r>
              <a:rPr lang="cs-CZ" sz="1200" dirty="0">
                <a:latin typeface="Consolas" panose="020B0609020204030204" pitchFamily="49" charset="0"/>
              </a:rPr>
              <a:t>| </a:t>
            </a:r>
            <a:r>
              <a:rPr lang="cs-CZ" sz="1200" dirty="0" err="1">
                <a:latin typeface="Consolas" panose="020B0609020204030204" pitchFamily="49" charset="0"/>
              </a:rPr>
              <a:t>Traffic</a:t>
            </a:r>
            <a:r>
              <a:rPr lang="cs-CZ" sz="1200" dirty="0">
                <a:latin typeface="Consolas" panose="020B0609020204030204" pitchFamily="49" charset="0"/>
              </a:rPr>
              <a:t> </a:t>
            </a:r>
            <a:r>
              <a:rPr lang="cs-CZ" sz="1200" dirty="0" err="1">
                <a:latin typeface="Consolas" panose="020B0609020204030204" pitchFamily="49" charset="0"/>
              </a:rPr>
              <a:t>Class</a:t>
            </a:r>
            <a:r>
              <a:rPr lang="cs-CZ" sz="1200" dirty="0">
                <a:latin typeface="Consolas" panose="020B0609020204030204" pitchFamily="49" charset="0"/>
              </a:rPr>
              <a:t> | </a:t>
            </a:r>
            <a:r>
              <a:rPr lang="en-US" sz="1200" dirty="0">
                <a:latin typeface="Consolas" panose="020B0609020204030204" pitchFamily="49" charset="0"/>
              </a:rPr>
              <a:t>           </a:t>
            </a:r>
            <a:r>
              <a:rPr lang="cs-CZ" sz="1200" dirty="0" err="1">
                <a:latin typeface="Consolas" panose="020B0609020204030204" pitchFamily="49" charset="0"/>
              </a:rPr>
              <a:t>Flow</a:t>
            </a:r>
            <a:r>
              <a:rPr lang="cs-CZ" sz="1200" dirty="0">
                <a:latin typeface="Consolas" panose="020B0609020204030204" pitchFamily="49" charset="0"/>
              </a:rPr>
              <a:t> Label</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err="1">
                <a:latin typeface="Consolas" panose="020B0609020204030204" pitchFamily="49" charset="0"/>
              </a:rPr>
              <a:t>Payload</a:t>
            </a:r>
            <a:r>
              <a:rPr lang="cs-CZ" sz="1200" dirty="0">
                <a:latin typeface="Consolas" panose="020B0609020204030204" pitchFamily="49" charset="0"/>
              </a:rPr>
              <a:t> </a:t>
            </a:r>
            <a:r>
              <a:rPr lang="cs-CZ" sz="1200" dirty="0" err="1">
                <a:latin typeface="Consolas" panose="020B0609020204030204" pitchFamily="49" charset="0"/>
              </a:rPr>
              <a:t>Length</a:t>
            </a:r>
            <a:r>
              <a:rPr lang="en-US" sz="1200" dirty="0">
                <a:latin typeface="Consolas" panose="020B0609020204030204" pitchFamily="49" charset="0"/>
              </a:rPr>
              <a:t>         </a:t>
            </a:r>
            <a:r>
              <a:rPr lang="cs-CZ" sz="1200" dirty="0">
                <a:latin typeface="Consolas" panose="020B0609020204030204" pitchFamily="49" charset="0"/>
              </a:rPr>
              <a:t>|</a:t>
            </a:r>
            <a:r>
              <a:rPr lang="en-US" sz="1200" dirty="0">
                <a:latin typeface="Consolas" panose="020B0609020204030204" pitchFamily="49" charset="0"/>
              </a:rPr>
              <a:t>       </a:t>
            </a:r>
            <a:r>
              <a:rPr lang="en-US" sz="1200" b="1" dirty="0">
                <a:solidFill>
                  <a:schemeClr val="accent6"/>
                </a:solidFill>
                <a:latin typeface="Consolas" panose="020B0609020204030204" pitchFamily="49" charset="0"/>
              </a:rPr>
              <a:t>4       </a:t>
            </a: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Hop Limit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Source </a:t>
            </a:r>
            <a:r>
              <a:rPr lang="cs-CZ" sz="1200" dirty="0" err="1">
                <a:latin typeface="Consolas" panose="020B0609020204030204" pitchFamily="49" charset="0"/>
              </a:rPr>
              <a:t>Address</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r>
              <a:rPr lang="cs-CZ" sz="1200" dirty="0" err="1">
                <a:latin typeface="Consolas" panose="020B0609020204030204" pitchFamily="49" charset="0"/>
              </a:rPr>
              <a:t>Destination</a:t>
            </a:r>
            <a:r>
              <a:rPr lang="cs-CZ" sz="1200" dirty="0">
                <a:latin typeface="Consolas" panose="020B0609020204030204" pitchFamily="49" charset="0"/>
              </a:rPr>
              <a:t> </a:t>
            </a:r>
            <a:r>
              <a:rPr lang="cs-CZ" sz="1200" dirty="0" err="1">
                <a:latin typeface="Consolas" panose="020B0609020204030204" pitchFamily="49" charset="0"/>
              </a:rPr>
              <a:t>Address</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r>
              <a:rPr lang="cs-CZ" sz="1200" dirty="0">
                <a:latin typeface="Consolas" panose="020B0609020204030204" pitchFamily="49" charset="0"/>
              </a:rPr>
              <a:t> |</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en-US" sz="1200" dirty="0">
                <a:latin typeface="Consolas" panose="020B0609020204030204" pitchFamily="49" charset="0"/>
              </a:rPr>
              <a:t>|</a:t>
            </a:r>
            <a:r>
              <a:rPr lang="cs-CZ" sz="1200" dirty="0" err="1">
                <a:latin typeface="Consolas" panose="020B0609020204030204" pitchFamily="49" charset="0"/>
              </a:rPr>
              <a:t>Version</a:t>
            </a:r>
            <a:r>
              <a:rPr lang="cs-CZ" sz="1200" dirty="0">
                <a:latin typeface="Consolas" panose="020B0609020204030204" pitchFamily="49" charset="0"/>
              </a:rPr>
              <a:t>|</a:t>
            </a:r>
            <a:r>
              <a:rPr lang="en-US" sz="1200" dirty="0">
                <a:latin typeface="Consolas" panose="020B0609020204030204" pitchFamily="49" charset="0"/>
              </a:rPr>
              <a:t>  </a:t>
            </a:r>
            <a:r>
              <a:rPr lang="cs-CZ" sz="1200" dirty="0">
                <a:latin typeface="Consolas" panose="020B0609020204030204" pitchFamily="49" charset="0"/>
              </a:rPr>
              <a:t>IHL</a:t>
            </a:r>
            <a:r>
              <a:rPr lang="en-US" sz="1200" dirty="0">
                <a:latin typeface="Consolas" panose="020B0609020204030204" pitchFamily="49" charset="0"/>
              </a:rPr>
              <a:t>  </a:t>
            </a:r>
            <a:r>
              <a:rPr lang="cs-CZ" sz="1200" dirty="0">
                <a:latin typeface="Consolas" panose="020B0609020204030204" pitchFamily="49" charset="0"/>
              </a:rPr>
              <a:t>|Type</a:t>
            </a:r>
            <a:r>
              <a:rPr lang="en-US" sz="1200" dirty="0">
                <a:latin typeface="Consolas" panose="020B0609020204030204" pitchFamily="49" charset="0"/>
              </a:rPr>
              <a:t> </a:t>
            </a:r>
            <a:r>
              <a:rPr lang="cs-CZ" sz="1200" dirty="0" err="1">
                <a:latin typeface="Consolas" panose="020B0609020204030204" pitchFamily="49" charset="0"/>
              </a:rPr>
              <a:t>of</a:t>
            </a:r>
            <a:r>
              <a:rPr lang="cs-CZ" sz="1200" dirty="0">
                <a:latin typeface="Consolas" panose="020B0609020204030204" pitchFamily="49" charset="0"/>
              </a:rPr>
              <a:t> </a:t>
            </a:r>
            <a:r>
              <a:rPr lang="cs-CZ" sz="1200" dirty="0" err="1">
                <a:latin typeface="Consolas" panose="020B0609020204030204" pitchFamily="49" charset="0"/>
              </a:rPr>
              <a:t>Service</a:t>
            </a:r>
            <a:r>
              <a:rPr lang="cs-CZ" sz="1200" dirty="0">
                <a:latin typeface="Consolas" panose="020B0609020204030204" pitchFamily="49" charset="0"/>
              </a:rPr>
              <a:t>|</a:t>
            </a:r>
            <a:r>
              <a:rPr lang="en-US" sz="1200" dirty="0">
                <a:latin typeface="Consolas" panose="020B0609020204030204" pitchFamily="49" charset="0"/>
              </a:rPr>
              <a:t>       </a:t>
            </a:r>
            <a:r>
              <a:rPr lang="cs-CZ" sz="1200" dirty="0" err="1">
                <a:latin typeface="Consolas" panose="020B0609020204030204" pitchFamily="49" charset="0"/>
              </a:rPr>
              <a:t>Total</a:t>
            </a:r>
            <a:r>
              <a:rPr lang="en-US" sz="1200" dirty="0">
                <a:latin typeface="Consolas" panose="020B0609020204030204" pitchFamily="49" charset="0"/>
              </a:rPr>
              <a:t> </a:t>
            </a:r>
            <a:r>
              <a:rPr lang="cs-CZ" sz="1200" dirty="0" err="1">
                <a:latin typeface="Consolas" panose="020B0609020204030204" pitchFamily="49" charset="0"/>
              </a:rPr>
              <a:t>Length</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err="1">
                <a:latin typeface="Consolas" panose="020B0609020204030204" pitchFamily="49" charset="0"/>
              </a:rPr>
              <a:t>Identification</a:t>
            </a:r>
            <a:r>
              <a:rPr lang="en-US" sz="1200" dirty="0">
                <a:latin typeface="Consolas" panose="020B0609020204030204" pitchFamily="49" charset="0"/>
              </a:rPr>
              <a:t>        </a:t>
            </a:r>
            <a:r>
              <a:rPr lang="cs-CZ" sz="1200" dirty="0">
                <a:latin typeface="Consolas" panose="020B0609020204030204" pitchFamily="49" charset="0"/>
              </a:rPr>
              <a:t>|</a:t>
            </a:r>
            <a:r>
              <a:rPr lang="cs-CZ" sz="1200" dirty="0" err="1">
                <a:latin typeface="Consolas" panose="020B0609020204030204" pitchFamily="49" charset="0"/>
              </a:rPr>
              <a:t>Flags</a:t>
            </a:r>
            <a:r>
              <a:rPr lang="cs-CZ" sz="1200" dirty="0">
                <a:latin typeface="Consolas" panose="020B0609020204030204" pitchFamily="49" charset="0"/>
              </a:rPr>
              <a:t>|</a:t>
            </a:r>
            <a:r>
              <a:rPr lang="en-US" sz="1200" dirty="0">
                <a:latin typeface="Consolas" panose="020B0609020204030204" pitchFamily="49" charset="0"/>
              </a:rPr>
              <a:t>      </a:t>
            </a:r>
            <a:r>
              <a:rPr lang="cs-CZ" sz="1200" dirty="0" err="1">
                <a:latin typeface="Consolas" panose="020B0609020204030204" pitchFamily="49" charset="0"/>
              </a:rPr>
              <a:t>FragmentOffset</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r>
              <a:rPr lang="cs-CZ" sz="1200" dirty="0" err="1">
                <a:latin typeface="Consolas" panose="020B0609020204030204" pitchFamily="49" charset="0"/>
              </a:rPr>
              <a:t>Time</a:t>
            </a:r>
            <a:r>
              <a:rPr lang="cs-CZ" sz="1200" dirty="0">
                <a:latin typeface="Consolas" panose="020B0609020204030204" pitchFamily="49" charset="0"/>
              </a:rPr>
              <a:t> to Live |</a:t>
            </a:r>
            <a:r>
              <a:rPr lang="en-US" sz="1200" dirty="0">
                <a:latin typeface="Consolas" panose="020B0609020204030204" pitchFamily="49" charset="0"/>
              </a:rPr>
              <a:t>    </a:t>
            </a:r>
            <a:r>
              <a:rPr lang="cs-CZ" sz="1200" dirty="0" err="1">
                <a:latin typeface="Consolas" panose="020B0609020204030204" pitchFamily="49" charset="0"/>
              </a:rPr>
              <a:t>Protocol</a:t>
            </a:r>
            <a:r>
              <a:rPr lang="en-US" sz="1200" dirty="0">
                <a:latin typeface="Consolas" panose="020B0609020204030204" pitchFamily="49" charset="0"/>
              </a:rPr>
              <a:t>   </a:t>
            </a:r>
            <a:r>
              <a:rPr lang="cs-CZ" sz="1200" dirty="0">
                <a:latin typeface="Consolas" panose="020B0609020204030204" pitchFamily="49" charset="0"/>
              </a:rPr>
              <a:t>| </a:t>
            </a:r>
            <a:r>
              <a:rPr lang="en-US" sz="1200" dirty="0">
                <a:latin typeface="Consolas" panose="020B0609020204030204" pitchFamily="49" charset="0"/>
              </a:rPr>
              <a:t>       </a:t>
            </a:r>
            <a:r>
              <a:rPr lang="cs-CZ" sz="1200" dirty="0" err="1">
                <a:latin typeface="Consolas" panose="020B0609020204030204" pitchFamily="49" charset="0"/>
              </a:rPr>
              <a:t>HeaderChecksum</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Source</a:t>
            </a:r>
            <a:r>
              <a:rPr lang="en-US" sz="1200" dirty="0">
                <a:latin typeface="Consolas" panose="020B0609020204030204" pitchFamily="49" charset="0"/>
              </a:rPr>
              <a:t> </a:t>
            </a:r>
            <a:r>
              <a:rPr lang="cs-CZ" sz="1200" dirty="0" err="1">
                <a:latin typeface="Consolas" panose="020B0609020204030204" pitchFamily="49" charset="0"/>
              </a:rPr>
              <a:t>Address</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r>
              <a:rPr lang="cs-CZ" sz="1200" dirty="0" err="1">
                <a:latin typeface="Consolas" panose="020B0609020204030204" pitchFamily="49" charset="0"/>
              </a:rPr>
              <a:t>Destination</a:t>
            </a:r>
            <a:r>
              <a:rPr lang="en-US" sz="1200" dirty="0">
                <a:latin typeface="Consolas" panose="020B0609020204030204" pitchFamily="49" charset="0"/>
              </a:rPr>
              <a:t> </a:t>
            </a:r>
            <a:r>
              <a:rPr lang="cs-CZ" sz="1200" dirty="0" err="1">
                <a:latin typeface="Consolas" panose="020B0609020204030204" pitchFamily="49" charset="0"/>
              </a:rPr>
              <a:t>Address</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r>
              <a:rPr lang="cs-CZ" sz="1200" dirty="0" err="1">
                <a:latin typeface="Consolas" panose="020B0609020204030204" pitchFamily="49" charset="0"/>
              </a:rPr>
              <a:t>Options</a:t>
            </a:r>
            <a:r>
              <a:rPr lang="en-US" sz="1200" dirty="0">
                <a:latin typeface="Consolas" panose="020B0609020204030204" pitchFamily="49" charset="0"/>
              </a:rPr>
              <a:t>                        </a:t>
            </a:r>
            <a:r>
              <a:rPr lang="cs-CZ" sz="1200" dirty="0">
                <a:latin typeface="Consolas" panose="020B0609020204030204" pitchFamily="49" charset="0"/>
              </a:rPr>
              <a:t>|</a:t>
            </a:r>
            <a:r>
              <a:rPr lang="en-US" sz="1200" dirty="0">
                <a:latin typeface="Consolas" panose="020B0609020204030204" pitchFamily="49" charset="0"/>
              </a:rPr>
              <a:t>    </a:t>
            </a:r>
            <a:r>
              <a:rPr lang="cs-CZ" sz="1200" dirty="0" err="1">
                <a:latin typeface="Consolas" panose="020B0609020204030204" pitchFamily="49" charset="0"/>
              </a:rPr>
              <a:t>Padding</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p:txBody>
      </p:sp>
      <p:sp>
        <p:nvSpPr>
          <p:cNvPr id="6" name="Rounded Rectangle 5"/>
          <p:cNvSpPr/>
          <p:nvPr/>
        </p:nvSpPr>
        <p:spPr>
          <a:xfrm>
            <a:off x="9089335" y="1566554"/>
            <a:ext cx="1349737" cy="367687"/>
          </a:xfrm>
          <a:prstGeom prst="roundRect">
            <a:avLst/>
          </a:prstGeom>
          <a:noFill/>
          <a:ln w="50800">
            <a:solidFill>
              <a:schemeClr val="accent5"/>
            </a:solidFill>
            <a:prstDash val="solid"/>
          </a:ln>
        </p:spPr>
        <p:style>
          <a:lnRef idx="2">
            <a:schemeClr val="accent5"/>
          </a:lnRef>
          <a:fillRef idx="1">
            <a:schemeClr val="lt1"/>
          </a:fillRef>
          <a:effectRef idx="0">
            <a:schemeClr val="accent5"/>
          </a:effectRef>
          <a:fontRef idx="minor">
            <a:schemeClr val="dk1"/>
          </a:fontRef>
        </p:style>
        <p:txBody>
          <a:bodyPr rtlCol="0" anchor="ctr"/>
          <a:lstStyle/>
          <a:p>
            <a:pPr algn="ctr"/>
            <a:endParaRPr lang="sk-SK"/>
          </a:p>
        </p:txBody>
      </p:sp>
      <p:sp>
        <p:nvSpPr>
          <p:cNvPr id="7" name="Rounded Rectangle 6"/>
          <p:cNvSpPr/>
          <p:nvPr/>
        </p:nvSpPr>
        <p:spPr>
          <a:xfrm>
            <a:off x="5107361" y="3875394"/>
            <a:ext cx="6688326" cy="2452254"/>
          </a:xfrm>
          <a:prstGeom prst="roundRect">
            <a:avLst/>
          </a:prstGeom>
          <a:noFill/>
          <a:ln w="50800">
            <a:solidFill>
              <a:schemeClr val="accent5"/>
            </a:solidFill>
            <a:prstDash val="solid"/>
          </a:ln>
        </p:spPr>
        <p:style>
          <a:lnRef idx="2">
            <a:schemeClr val="accent5"/>
          </a:lnRef>
          <a:fillRef idx="1">
            <a:schemeClr val="lt1"/>
          </a:fillRef>
          <a:effectRef idx="0">
            <a:schemeClr val="accent5"/>
          </a:effectRef>
          <a:fontRef idx="minor">
            <a:schemeClr val="dk1"/>
          </a:fontRef>
        </p:style>
        <p:txBody>
          <a:bodyPr rtlCol="0" anchor="ctr"/>
          <a:lstStyle/>
          <a:p>
            <a:pPr algn="ctr"/>
            <a:endParaRPr lang="sk-SK"/>
          </a:p>
        </p:txBody>
      </p:sp>
      <p:cxnSp>
        <p:nvCxnSpPr>
          <p:cNvPr id="8" name="Straight Arrow Connector 7"/>
          <p:cNvCxnSpPr>
            <a:cxnSpLocks/>
          </p:cNvCxnSpPr>
          <p:nvPr/>
        </p:nvCxnSpPr>
        <p:spPr>
          <a:xfrm flipH="1">
            <a:off x="6382291" y="1932922"/>
            <a:ext cx="2729114" cy="2022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Left Brace 9">
            <a:extLst>
              <a:ext uri="{FF2B5EF4-FFF2-40B4-BE49-F238E27FC236}">
                <a16:creationId xmlns:a16="http://schemas.microsoft.com/office/drawing/2014/main" id="{F3177DC7-50D3-8385-AD2B-D97509FFA16F}"/>
              </a:ext>
            </a:extLst>
          </p:cNvPr>
          <p:cNvSpPr/>
          <p:nvPr/>
        </p:nvSpPr>
        <p:spPr>
          <a:xfrm>
            <a:off x="5564340" y="3918073"/>
            <a:ext cx="360972" cy="22815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16BF6D1D-EAFC-AA5B-B26B-B8AFA4B76A41}"/>
              </a:ext>
            </a:extLst>
          </p:cNvPr>
          <p:cNvSpPr txBox="1"/>
          <p:nvPr/>
        </p:nvSpPr>
        <p:spPr>
          <a:xfrm rot="16200000">
            <a:off x="4424673" y="4638057"/>
            <a:ext cx="1988230" cy="62285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2"/>
                </a:solidFill>
                <a:effectLst/>
                <a:uLnTx/>
                <a:uFillTx/>
                <a:latin typeface="Arial" panose="020B0604020202020204"/>
                <a:ea typeface="+mn-ea"/>
                <a:cs typeface="+mn-cs"/>
              </a:rPr>
              <a:t>IPv4 packet</a:t>
            </a:r>
          </a:p>
        </p:txBody>
      </p:sp>
      <p:sp>
        <p:nvSpPr>
          <p:cNvPr id="12" name="Left Brace 11">
            <a:extLst>
              <a:ext uri="{FF2B5EF4-FFF2-40B4-BE49-F238E27FC236}">
                <a16:creationId xmlns:a16="http://schemas.microsoft.com/office/drawing/2014/main" id="{31EBA294-9637-5CE9-010A-5C0D1B9E2240}"/>
              </a:ext>
            </a:extLst>
          </p:cNvPr>
          <p:cNvSpPr/>
          <p:nvPr/>
        </p:nvSpPr>
        <p:spPr>
          <a:xfrm>
            <a:off x="5833890" y="723440"/>
            <a:ext cx="360972" cy="308490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AE6935BC-2EF9-49AD-E4DC-729F0AACEF78}"/>
              </a:ext>
            </a:extLst>
          </p:cNvPr>
          <p:cNvSpPr txBox="1"/>
          <p:nvPr/>
        </p:nvSpPr>
        <p:spPr>
          <a:xfrm rot="16200000">
            <a:off x="4750711" y="1818660"/>
            <a:ext cx="1988230" cy="62285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IPv6 Header</a:t>
            </a:r>
          </a:p>
        </p:txBody>
      </p:sp>
    </p:spTree>
    <p:extLst>
      <p:ext uri="{BB962C8B-B14F-4D97-AF65-F5344CB8AC3E}">
        <p14:creationId xmlns:p14="http://schemas.microsoft.com/office/powerpoint/2010/main" val="2982318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873919" y="1542361"/>
            <a:ext cx="4959971" cy="4340723"/>
          </a:xfrm>
        </p:spPr>
        <p:txBody>
          <a:bodyPr/>
          <a:lstStyle/>
          <a:p>
            <a:r>
              <a:rPr lang="en-US" dirty="0"/>
              <a:t>IPv6 header</a:t>
            </a:r>
          </a:p>
          <a:p>
            <a:pPr lvl="1"/>
            <a:r>
              <a:rPr lang="en-US" b="1" dirty="0">
                <a:solidFill>
                  <a:schemeClr val="accent6"/>
                </a:solidFill>
              </a:rPr>
              <a:t>Next header</a:t>
            </a:r>
            <a:r>
              <a:rPr lang="en-US" dirty="0"/>
              <a:t>: 143 -&gt; Ethernet</a:t>
            </a:r>
          </a:p>
          <a:p>
            <a:pPr lvl="1"/>
            <a:endParaRPr lang="en-US" dirty="0"/>
          </a:p>
          <a:p>
            <a:pPr lvl="1"/>
            <a:endParaRPr lang="en-US" dirty="0"/>
          </a:p>
          <a:p>
            <a:pPr lvl="1"/>
            <a:r>
              <a:rPr lang="en-US" dirty="0"/>
              <a:t>~~ “L2VPN”</a:t>
            </a:r>
          </a:p>
          <a:p>
            <a:pPr lvl="1"/>
            <a:endParaRPr lang="en-US" dirty="0"/>
          </a:p>
          <a:p>
            <a:pPr lvl="1"/>
            <a:r>
              <a:rPr lang="en-US" dirty="0"/>
              <a:t>Next header field:</a:t>
            </a:r>
          </a:p>
          <a:p>
            <a:pPr lvl="2"/>
            <a:r>
              <a:rPr lang="en-US" dirty="0"/>
              <a:t>TCP, UDP, ICMP....</a:t>
            </a:r>
          </a:p>
          <a:p>
            <a:pPr lvl="2"/>
            <a:r>
              <a:rPr lang="en-US" dirty="0"/>
              <a:t>IPv4, IPv6</a:t>
            </a:r>
          </a:p>
          <a:p>
            <a:pPr lvl="1"/>
            <a:endParaRPr lang="cs-CZ" dirty="0"/>
          </a:p>
        </p:txBody>
      </p:sp>
      <p:sp>
        <p:nvSpPr>
          <p:cNvPr id="3" name="Text Placeholder 2"/>
          <p:cNvSpPr>
            <a:spLocks noGrp="1"/>
          </p:cNvSpPr>
          <p:nvPr>
            <p:ph type="body" sz="quarter" idx="11"/>
          </p:nvPr>
        </p:nvSpPr>
        <p:spPr/>
        <p:txBody>
          <a:bodyPr/>
          <a:lstStyle/>
          <a:p>
            <a:r>
              <a:rPr lang="cs-CZ" dirty="0"/>
              <a:t>IPv6 SR </a:t>
            </a:r>
            <a:r>
              <a:rPr lang="cs-CZ" dirty="0" err="1"/>
              <a:t>Header</a:t>
            </a:r>
            <a:endParaRPr lang="cs-CZ" dirty="0"/>
          </a:p>
        </p:txBody>
      </p:sp>
      <p:sp>
        <p:nvSpPr>
          <p:cNvPr id="4" name="Text Placeholder 3"/>
          <p:cNvSpPr>
            <a:spLocks noGrp="1"/>
          </p:cNvSpPr>
          <p:nvPr>
            <p:ph type="body" sz="quarter" idx="12"/>
          </p:nvPr>
        </p:nvSpPr>
        <p:spPr>
          <a:xfrm>
            <a:off x="6080760" y="655320"/>
            <a:ext cx="5773188" cy="5394959"/>
          </a:xfrm>
        </p:spPr>
        <p:txBody>
          <a:bodyPr/>
          <a:lstStyle/>
          <a:p>
            <a:pPr marL="0" indent="0">
              <a:spcBef>
                <a:spcPts val="0"/>
              </a:spcBef>
              <a:buNone/>
            </a:pPr>
            <a:r>
              <a:rPr lang="en-US" sz="1200" dirty="0">
                <a:latin typeface="Consolas" panose="020B0609020204030204" pitchFamily="49" charset="0"/>
              </a:rPr>
              <a:t> </a:t>
            </a:r>
            <a:r>
              <a:rPr lang="cs-CZ" sz="1200" dirty="0">
                <a:latin typeface="Consolas" panose="020B0609020204030204" pitchFamily="49" charset="0"/>
              </a:rPr>
              <a:t>0 </a:t>
            </a:r>
            <a:r>
              <a:rPr lang="en-US" sz="1200" dirty="0">
                <a:latin typeface="Consolas" panose="020B0609020204030204" pitchFamily="49" charset="0"/>
              </a:rPr>
              <a:t>                  </a:t>
            </a:r>
            <a:r>
              <a:rPr lang="cs-CZ" sz="1200" dirty="0">
                <a:latin typeface="Consolas" panose="020B0609020204030204" pitchFamily="49" charset="0"/>
              </a:rPr>
              <a:t>1 </a:t>
            </a:r>
            <a:r>
              <a:rPr lang="en-US" sz="1200" dirty="0">
                <a:latin typeface="Consolas" panose="020B0609020204030204" pitchFamily="49" charset="0"/>
              </a:rPr>
              <a:t>                  </a:t>
            </a:r>
            <a:r>
              <a:rPr lang="cs-CZ" sz="1200" dirty="0">
                <a:latin typeface="Consolas" panose="020B0609020204030204" pitchFamily="49" charset="0"/>
              </a:rPr>
              <a:t>2 </a:t>
            </a:r>
            <a:r>
              <a:rPr lang="en-US" sz="1200" dirty="0">
                <a:latin typeface="Consolas" panose="020B0609020204030204" pitchFamily="49" charset="0"/>
              </a:rPr>
              <a:t>                  </a:t>
            </a:r>
            <a:r>
              <a:rPr lang="cs-CZ" sz="1200" dirty="0">
                <a:latin typeface="Consolas" panose="020B0609020204030204" pitchFamily="49" charset="0"/>
              </a:rPr>
              <a:t>3</a:t>
            </a:r>
            <a:endParaRPr lang="en-US" sz="1200" dirty="0">
              <a:latin typeface="Consolas" panose="020B0609020204030204" pitchFamily="49" charset="0"/>
            </a:endParaRPr>
          </a:p>
          <a:p>
            <a:pPr marL="0" indent="0">
              <a:spcBef>
                <a:spcPts val="0"/>
              </a:spcBef>
              <a:buNone/>
            </a:pPr>
            <a:r>
              <a:rPr lang="en-US" sz="1200" dirty="0">
                <a:latin typeface="Consolas" panose="020B0609020204030204" pitchFamily="49" charset="0"/>
              </a:rPr>
              <a:t> </a:t>
            </a:r>
            <a:r>
              <a:rPr lang="cs-CZ" sz="1200" dirty="0">
                <a:latin typeface="Consolas" panose="020B0609020204030204" pitchFamily="49" charset="0"/>
              </a:rPr>
              <a:t>0 1 2 3 4 5 6 7 8 9 0 1 2 3 4 5 6 7 8 9 0 1 2 3 4 5 6 7 8 9 0 1</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cs-CZ" sz="1200" dirty="0" err="1">
                <a:latin typeface="Consolas" panose="020B0609020204030204" pitchFamily="49" charset="0"/>
              </a:rPr>
              <a:t>Version</a:t>
            </a:r>
            <a:r>
              <a:rPr lang="cs-CZ" sz="1200" dirty="0">
                <a:latin typeface="Consolas" panose="020B0609020204030204" pitchFamily="49" charset="0"/>
              </a:rPr>
              <a:t>| </a:t>
            </a:r>
            <a:r>
              <a:rPr lang="cs-CZ" sz="1200" dirty="0" err="1">
                <a:latin typeface="Consolas" panose="020B0609020204030204" pitchFamily="49" charset="0"/>
              </a:rPr>
              <a:t>Traffic</a:t>
            </a:r>
            <a:r>
              <a:rPr lang="cs-CZ" sz="1200" dirty="0">
                <a:latin typeface="Consolas" panose="020B0609020204030204" pitchFamily="49" charset="0"/>
              </a:rPr>
              <a:t> </a:t>
            </a:r>
            <a:r>
              <a:rPr lang="cs-CZ" sz="1200" dirty="0" err="1">
                <a:latin typeface="Consolas" panose="020B0609020204030204" pitchFamily="49" charset="0"/>
              </a:rPr>
              <a:t>Class</a:t>
            </a:r>
            <a:r>
              <a:rPr lang="cs-CZ" sz="1200" dirty="0">
                <a:latin typeface="Consolas" panose="020B0609020204030204" pitchFamily="49" charset="0"/>
              </a:rPr>
              <a:t> | </a:t>
            </a:r>
            <a:r>
              <a:rPr lang="en-US" sz="1200" dirty="0">
                <a:latin typeface="Consolas" panose="020B0609020204030204" pitchFamily="49" charset="0"/>
              </a:rPr>
              <a:t>           </a:t>
            </a:r>
            <a:r>
              <a:rPr lang="cs-CZ" sz="1200" dirty="0" err="1">
                <a:latin typeface="Consolas" panose="020B0609020204030204" pitchFamily="49" charset="0"/>
              </a:rPr>
              <a:t>Flow</a:t>
            </a:r>
            <a:r>
              <a:rPr lang="cs-CZ" sz="1200" dirty="0">
                <a:latin typeface="Consolas" panose="020B0609020204030204" pitchFamily="49" charset="0"/>
              </a:rPr>
              <a:t> Label</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err="1">
                <a:latin typeface="Consolas" panose="020B0609020204030204" pitchFamily="49" charset="0"/>
              </a:rPr>
              <a:t>Payload</a:t>
            </a:r>
            <a:r>
              <a:rPr lang="cs-CZ" sz="1200" dirty="0">
                <a:latin typeface="Consolas" panose="020B0609020204030204" pitchFamily="49" charset="0"/>
              </a:rPr>
              <a:t> </a:t>
            </a:r>
            <a:r>
              <a:rPr lang="cs-CZ" sz="1200" dirty="0" err="1">
                <a:latin typeface="Consolas" panose="020B0609020204030204" pitchFamily="49" charset="0"/>
              </a:rPr>
              <a:t>Length</a:t>
            </a:r>
            <a:r>
              <a:rPr lang="en-US" sz="1200" dirty="0">
                <a:latin typeface="Consolas" panose="020B0609020204030204" pitchFamily="49" charset="0"/>
              </a:rPr>
              <a:t>         </a:t>
            </a:r>
            <a:r>
              <a:rPr lang="cs-CZ" sz="1200" dirty="0">
                <a:latin typeface="Consolas" panose="020B0609020204030204" pitchFamily="49" charset="0"/>
              </a:rPr>
              <a:t>|</a:t>
            </a:r>
            <a:r>
              <a:rPr lang="en-US" sz="1200" dirty="0">
                <a:latin typeface="Consolas" panose="020B0609020204030204" pitchFamily="49" charset="0"/>
              </a:rPr>
              <a:t>     </a:t>
            </a:r>
            <a:r>
              <a:rPr lang="en-US" sz="1200" dirty="0">
                <a:solidFill>
                  <a:schemeClr val="accent6"/>
                </a:solidFill>
                <a:latin typeface="Consolas" panose="020B0609020204030204" pitchFamily="49" charset="0"/>
              </a:rPr>
              <a:t> 143      </a:t>
            </a: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Hop Limit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Source </a:t>
            </a:r>
            <a:r>
              <a:rPr lang="cs-CZ" sz="1200" dirty="0" err="1">
                <a:latin typeface="Consolas" panose="020B0609020204030204" pitchFamily="49" charset="0"/>
              </a:rPr>
              <a:t>Address</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r>
              <a:rPr lang="cs-CZ" sz="1200" dirty="0" err="1">
                <a:latin typeface="Consolas" panose="020B0609020204030204" pitchFamily="49" charset="0"/>
              </a:rPr>
              <a:t>Destination</a:t>
            </a:r>
            <a:r>
              <a:rPr lang="cs-CZ" sz="1200" dirty="0">
                <a:latin typeface="Consolas" panose="020B0609020204030204" pitchFamily="49" charset="0"/>
              </a:rPr>
              <a:t> </a:t>
            </a:r>
            <a:r>
              <a:rPr lang="cs-CZ" sz="1200" dirty="0" err="1">
                <a:latin typeface="Consolas" panose="020B0609020204030204" pitchFamily="49" charset="0"/>
              </a:rPr>
              <a:t>Address</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r>
              <a:rPr lang="cs-CZ" sz="1200" dirty="0">
                <a:latin typeface="Consolas" panose="020B0609020204030204" pitchFamily="49" charset="0"/>
              </a:rPr>
              <a:t> |</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en-US" sz="1200" dirty="0">
                <a:latin typeface="Consolas" panose="020B0609020204030204" pitchFamily="49" charset="0"/>
              </a:rPr>
              <a:t>|                        Destination MAC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Destination MAC       </a:t>
            </a:r>
            <a:r>
              <a:rPr lang="cs-CZ" sz="1200" dirty="0">
                <a:latin typeface="Consolas" panose="020B0609020204030204" pitchFamily="49" charset="0"/>
              </a:rPr>
              <a:t>|</a:t>
            </a:r>
            <a:r>
              <a:rPr lang="en-US" sz="1200" dirty="0">
                <a:latin typeface="Consolas" panose="020B0609020204030204" pitchFamily="49" charset="0"/>
              </a:rPr>
              <a:t>           Source MAC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Source MAC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r>
              <a:rPr lang="en-US" sz="1200" dirty="0" err="1">
                <a:latin typeface="Consolas" panose="020B0609020204030204" pitchFamily="49" charset="0"/>
              </a:rPr>
              <a:t>Ethertype</a:t>
            </a:r>
            <a:r>
              <a:rPr lang="en-US" sz="1200" dirty="0">
                <a:latin typeface="Consolas" panose="020B0609020204030204" pitchFamily="49" charset="0"/>
              </a:rPr>
              <a:t>                    </a:t>
            </a:r>
            <a:r>
              <a:rPr lang="cs-CZ" sz="1200" dirty="0">
                <a:latin typeface="Consolas" panose="020B0609020204030204" pitchFamily="49" charset="0"/>
              </a:rPr>
              <a:t>|</a:t>
            </a:r>
            <a:r>
              <a:rPr lang="en-US" sz="1200" dirty="0">
                <a:latin typeface="Consolas" panose="020B0609020204030204" pitchFamily="49" charset="0"/>
              </a:rPr>
              <a:t>                               |</a:t>
            </a: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en-US" sz="1200" dirty="0">
                <a:latin typeface="Consolas" panose="020B0609020204030204" pitchFamily="49" charset="0"/>
              </a:rPr>
              <a:t>|    Payload                                                    |</a:t>
            </a:r>
          </a:p>
          <a:p>
            <a:pPr marL="0" indent="0">
              <a:spcBef>
                <a:spcPts val="0"/>
              </a:spcBef>
              <a:buNone/>
            </a:pPr>
            <a:r>
              <a:rPr lang="en-US" sz="1200" dirty="0">
                <a:latin typeface="Consolas" panose="020B0609020204030204" pitchFamily="49" charset="0"/>
              </a:rPr>
              <a:t>|                                                               |</a:t>
            </a:r>
          </a:p>
          <a:p>
            <a:pPr marL="0" indent="0">
              <a:spcBef>
                <a:spcPts val="0"/>
              </a:spcBef>
              <a:buNone/>
            </a:pPr>
            <a:r>
              <a:rPr lang="en-US" sz="1200" dirty="0">
                <a:latin typeface="Consolas" panose="020B0609020204030204" pitchFamily="49" charset="0"/>
              </a:rPr>
              <a:t>|                                                               |</a:t>
            </a:r>
          </a:p>
          <a:p>
            <a:pPr marL="0" indent="0">
              <a:spcBef>
                <a:spcPts val="0"/>
              </a:spcBef>
              <a:buNone/>
            </a:pPr>
            <a:r>
              <a:rPr lang="en-US" sz="1200" dirty="0">
                <a:latin typeface="Consolas" panose="020B0609020204030204" pitchFamily="49" charset="0"/>
              </a:rPr>
              <a:t>|                                                               |</a:t>
            </a: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p:txBody>
      </p:sp>
      <p:sp>
        <p:nvSpPr>
          <p:cNvPr id="6" name="Rounded Rectangle 5"/>
          <p:cNvSpPr/>
          <p:nvPr/>
        </p:nvSpPr>
        <p:spPr>
          <a:xfrm>
            <a:off x="8929887" y="1542361"/>
            <a:ext cx="1349737" cy="367687"/>
          </a:xfrm>
          <a:prstGeom prst="roundRect">
            <a:avLst/>
          </a:prstGeom>
          <a:noFill/>
          <a:ln w="50800">
            <a:solidFill>
              <a:schemeClr val="accent5"/>
            </a:solidFill>
            <a:prstDash val="solid"/>
          </a:ln>
        </p:spPr>
        <p:style>
          <a:lnRef idx="2">
            <a:schemeClr val="accent5"/>
          </a:lnRef>
          <a:fillRef idx="1">
            <a:schemeClr val="lt1"/>
          </a:fillRef>
          <a:effectRef idx="0">
            <a:schemeClr val="accent5"/>
          </a:effectRef>
          <a:fontRef idx="minor">
            <a:schemeClr val="dk1"/>
          </a:fontRef>
        </p:style>
        <p:txBody>
          <a:bodyPr rtlCol="0" anchor="ctr"/>
          <a:lstStyle/>
          <a:p>
            <a:pPr algn="ctr"/>
            <a:endParaRPr lang="sk-SK"/>
          </a:p>
        </p:txBody>
      </p:sp>
      <p:sp>
        <p:nvSpPr>
          <p:cNvPr id="7" name="Rounded Rectangle 6"/>
          <p:cNvSpPr/>
          <p:nvPr/>
        </p:nvSpPr>
        <p:spPr>
          <a:xfrm>
            <a:off x="4969048" y="3817159"/>
            <a:ext cx="6820892" cy="2863590"/>
          </a:xfrm>
          <a:prstGeom prst="roundRect">
            <a:avLst/>
          </a:prstGeom>
          <a:noFill/>
          <a:ln w="50800">
            <a:solidFill>
              <a:schemeClr val="accent5"/>
            </a:solidFill>
            <a:prstDash val="solid"/>
          </a:ln>
        </p:spPr>
        <p:style>
          <a:lnRef idx="2">
            <a:schemeClr val="accent5"/>
          </a:lnRef>
          <a:fillRef idx="1">
            <a:schemeClr val="lt1"/>
          </a:fillRef>
          <a:effectRef idx="0">
            <a:schemeClr val="accent5"/>
          </a:effectRef>
          <a:fontRef idx="minor">
            <a:schemeClr val="dk1"/>
          </a:fontRef>
        </p:style>
        <p:txBody>
          <a:bodyPr rtlCol="0" anchor="ctr"/>
          <a:lstStyle/>
          <a:p>
            <a:pPr algn="ctr"/>
            <a:endParaRPr lang="sk-SK"/>
          </a:p>
        </p:txBody>
      </p:sp>
      <p:cxnSp>
        <p:nvCxnSpPr>
          <p:cNvPr id="8" name="Straight Arrow Connector 7"/>
          <p:cNvCxnSpPr/>
          <p:nvPr/>
        </p:nvCxnSpPr>
        <p:spPr>
          <a:xfrm flipH="1">
            <a:off x="6248399" y="1910048"/>
            <a:ext cx="3369578" cy="20291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Left Brace 4">
            <a:extLst>
              <a:ext uri="{FF2B5EF4-FFF2-40B4-BE49-F238E27FC236}">
                <a16:creationId xmlns:a16="http://schemas.microsoft.com/office/drawing/2014/main" id="{37C7CD8A-1A39-8E79-1F3A-4379262FF4EA}"/>
              </a:ext>
            </a:extLst>
          </p:cNvPr>
          <p:cNvSpPr/>
          <p:nvPr/>
        </p:nvSpPr>
        <p:spPr>
          <a:xfrm>
            <a:off x="5625546" y="3879699"/>
            <a:ext cx="360972" cy="257186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F821B354-B454-9D0F-1B86-51EF30E6712F}"/>
              </a:ext>
            </a:extLst>
          </p:cNvPr>
          <p:cNvSpPr txBox="1"/>
          <p:nvPr/>
        </p:nvSpPr>
        <p:spPr>
          <a:xfrm rot="16200000">
            <a:off x="4528349" y="4577542"/>
            <a:ext cx="1988230" cy="62285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2"/>
                </a:solidFill>
                <a:effectLst/>
                <a:uLnTx/>
                <a:uFillTx/>
                <a:latin typeface="Arial" panose="020B0604020202020204"/>
                <a:ea typeface="+mn-ea"/>
                <a:cs typeface="+mn-cs"/>
              </a:rPr>
              <a:t>L2 frame</a:t>
            </a:r>
          </a:p>
        </p:txBody>
      </p:sp>
      <p:sp>
        <p:nvSpPr>
          <p:cNvPr id="10" name="Left Brace 9">
            <a:extLst>
              <a:ext uri="{FF2B5EF4-FFF2-40B4-BE49-F238E27FC236}">
                <a16:creationId xmlns:a16="http://schemas.microsoft.com/office/drawing/2014/main" id="{A0666779-6096-031E-B537-019F556D893A}"/>
              </a:ext>
            </a:extLst>
          </p:cNvPr>
          <p:cNvSpPr/>
          <p:nvPr/>
        </p:nvSpPr>
        <p:spPr>
          <a:xfrm>
            <a:off x="5833890" y="723440"/>
            <a:ext cx="360972" cy="302559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9FD271AD-EB5E-408A-766B-A2F3F75670E8}"/>
              </a:ext>
            </a:extLst>
          </p:cNvPr>
          <p:cNvSpPr txBox="1"/>
          <p:nvPr/>
        </p:nvSpPr>
        <p:spPr>
          <a:xfrm rot="16200000">
            <a:off x="4942858" y="1692065"/>
            <a:ext cx="1988230" cy="62285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IPv6 Header</a:t>
            </a:r>
          </a:p>
        </p:txBody>
      </p:sp>
    </p:spTree>
    <p:extLst>
      <p:ext uri="{BB962C8B-B14F-4D97-AF65-F5344CB8AC3E}">
        <p14:creationId xmlns:p14="http://schemas.microsoft.com/office/powerpoint/2010/main" val="214659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IPv6 header</a:t>
            </a:r>
          </a:p>
          <a:p>
            <a:pPr lvl="1"/>
            <a:r>
              <a:rPr lang="en-US" b="1" dirty="0">
                <a:solidFill>
                  <a:schemeClr val="accent6"/>
                </a:solidFill>
              </a:rPr>
              <a:t>Next header</a:t>
            </a:r>
            <a:r>
              <a:rPr lang="en-US" dirty="0"/>
              <a:t>: 51 -&gt; AH</a:t>
            </a:r>
          </a:p>
          <a:p>
            <a:pPr lvl="1"/>
            <a:r>
              <a:rPr lang="en-US" b="1" dirty="0">
                <a:solidFill>
                  <a:schemeClr val="accent6"/>
                </a:solidFill>
              </a:rPr>
              <a:t>Next header</a:t>
            </a:r>
            <a:r>
              <a:rPr lang="en-US" dirty="0"/>
              <a:t>: 6 -&gt; TCP</a:t>
            </a:r>
          </a:p>
          <a:p>
            <a:pPr lvl="1"/>
            <a:endParaRPr lang="en-US" dirty="0"/>
          </a:p>
          <a:p>
            <a:pPr lvl="1"/>
            <a:endParaRPr lang="en-US" dirty="0"/>
          </a:p>
          <a:p>
            <a:pPr lvl="1"/>
            <a:endParaRPr lang="en-US" dirty="0"/>
          </a:p>
        </p:txBody>
      </p:sp>
      <p:sp>
        <p:nvSpPr>
          <p:cNvPr id="3" name="Text Placeholder 2"/>
          <p:cNvSpPr>
            <a:spLocks noGrp="1"/>
          </p:cNvSpPr>
          <p:nvPr>
            <p:ph type="body" sz="quarter" idx="11"/>
          </p:nvPr>
        </p:nvSpPr>
        <p:spPr/>
        <p:txBody>
          <a:bodyPr/>
          <a:lstStyle/>
          <a:p>
            <a:r>
              <a:rPr lang="cs-CZ" dirty="0"/>
              <a:t>IPv6 SR </a:t>
            </a:r>
            <a:r>
              <a:rPr lang="cs-CZ" dirty="0" err="1"/>
              <a:t>Header</a:t>
            </a:r>
            <a:endParaRPr lang="cs-CZ" dirty="0"/>
          </a:p>
        </p:txBody>
      </p:sp>
      <p:sp>
        <p:nvSpPr>
          <p:cNvPr id="4" name="Text Placeholder 3"/>
          <p:cNvSpPr>
            <a:spLocks noGrp="1"/>
          </p:cNvSpPr>
          <p:nvPr>
            <p:ph type="body" sz="quarter" idx="12"/>
          </p:nvPr>
        </p:nvSpPr>
        <p:spPr>
          <a:xfrm>
            <a:off x="6080760" y="449094"/>
            <a:ext cx="5256544" cy="5860267"/>
          </a:xfrm>
        </p:spPr>
        <p:txBody>
          <a:bodyPr/>
          <a:lstStyle/>
          <a:p>
            <a:pPr marL="0" indent="0">
              <a:spcBef>
                <a:spcPts val="0"/>
              </a:spcBef>
              <a:buNone/>
            </a:pPr>
            <a:r>
              <a:rPr lang="en-US" sz="900" dirty="0">
                <a:latin typeface="Consolas" panose="020B0609020204030204" pitchFamily="49" charset="0"/>
              </a:rPr>
              <a:t> </a:t>
            </a:r>
            <a:r>
              <a:rPr lang="cs-CZ" sz="900" dirty="0">
                <a:latin typeface="Consolas" panose="020B0609020204030204" pitchFamily="49" charset="0"/>
              </a:rPr>
              <a:t>0 </a:t>
            </a:r>
            <a:r>
              <a:rPr lang="en-US" sz="900" dirty="0">
                <a:latin typeface="Consolas" panose="020B0609020204030204" pitchFamily="49" charset="0"/>
              </a:rPr>
              <a:t>                  </a:t>
            </a:r>
            <a:r>
              <a:rPr lang="cs-CZ" sz="900" dirty="0">
                <a:latin typeface="Consolas" panose="020B0609020204030204" pitchFamily="49" charset="0"/>
              </a:rPr>
              <a:t>1 </a:t>
            </a:r>
            <a:r>
              <a:rPr lang="en-US" sz="900" dirty="0">
                <a:latin typeface="Consolas" panose="020B0609020204030204" pitchFamily="49" charset="0"/>
              </a:rPr>
              <a:t>                  </a:t>
            </a:r>
            <a:r>
              <a:rPr lang="cs-CZ" sz="900" dirty="0">
                <a:latin typeface="Consolas" panose="020B0609020204030204" pitchFamily="49" charset="0"/>
              </a:rPr>
              <a:t>2 </a:t>
            </a:r>
            <a:r>
              <a:rPr lang="en-US" sz="900" dirty="0">
                <a:latin typeface="Consolas" panose="020B0609020204030204" pitchFamily="49" charset="0"/>
              </a:rPr>
              <a:t>                  </a:t>
            </a:r>
            <a:r>
              <a:rPr lang="cs-CZ" sz="900" dirty="0">
                <a:latin typeface="Consolas" panose="020B0609020204030204" pitchFamily="49" charset="0"/>
              </a:rPr>
              <a:t>3</a:t>
            </a:r>
            <a:endParaRPr lang="en-US" sz="900" dirty="0">
              <a:latin typeface="Consolas" panose="020B0609020204030204" pitchFamily="49" charset="0"/>
            </a:endParaRPr>
          </a:p>
          <a:p>
            <a:pPr marL="0" indent="0">
              <a:spcBef>
                <a:spcPts val="0"/>
              </a:spcBef>
              <a:buNone/>
            </a:pPr>
            <a:r>
              <a:rPr lang="en-US" sz="900" dirty="0">
                <a:latin typeface="Consolas" panose="020B0609020204030204" pitchFamily="49" charset="0"/>
              </a:rPr>
              <a:t> </a:t>
            </a:r>
            <a:r>
              <a:rPr lang="cs-CZ" sz="900" dirty="0">
                <a:latin typeface="Consolas" panose="020B0609020204030204" pitchFamily="49" charset="0"/>
              </a:rPr>
              <a:t>0 1 2 3 4 5 6 7 8 9 0 1 2 3 4 5 6 7 8 9 0 1 2 3 4 5 6 7 8 9 0 1</a:t>
            </a:r>
            <a:endParaRPr lang="en-US" sz="900" dirty="0">
              <a:latin typeface="Consolas" panose="020B0609020204030204" pitchFamily="49" charset="0"/>
            </a:endParaRPr>
          </a:p>
          <a:p>
            <a:pPr marL="0" indent="0">
              <a:spcBef>
                <a:spcPts val="0"/>
              </a:spcBef>
              <a:buNone/>
            </a:pPr>
            <a:r>
              <a:rPr lang="cs-CZ" sz="900" dirty="0">
                <a:latin typeface="Consolas" panose="020B0609020204030204" pitchFamily="49" charset="0"/>
              </a:rPr>
              <a:t>+-+-+-+-+-+-+-+-+-+-+-+-+-+-+-+-+-+-+-+-+-+-+-+-+-+-+-+-+-+-+-+-+</a:t>
            </a:r>
            <a:endParaRPr lang="en-US" sz="900" dirty="0">
              <a:latin typeface="Consolas" panose="020B0609020204030204" pitchFamily="49" charset="0"/>
            </a:endParaRPr>
          </a:p>
          <a:p>
            <a:pPr marL="0" indent="0">
              <a:spcBef>
                <a:spcPts val="0"/>
              </a:spcBef>
              <a:buNone/>
            </a:pPr>
            <a:r>
              <a:rPr lang="cs-CZ" sz="900" dirty="0">
                <a:latin typeface="Consolas" panose="020B0609020204030204" pitchFamily="49" charset="0"/>
              </a:rPr>
              <a:t>|</a:t>
            </a:r>
            <a:r>
              <a:rPr lang="cs-CZ" sz="900" dirty="0" err="1">
                <a:latin typeface="Consolas" panose="020B0609020204030204" pitchFamily="49" charset="0"/>
              </a:rPr>
              <a:t>Version</a:t>
            </a:r>
            <a:r>
              <a:rPr lang="cs-CZ" sz="900" dirty="0">
                <a:latin typeface="Consolas" panose="020B0609020204030204" pitchFamily="49" charset="0"/>
              </a:rPr>
              <a:t>| </a:t>
            </a:r>
            <a:r>
              <a:rPr lang="cs-CZ" sz="900" dirty="0" err="1">
                <a:latin typeface="Consolas" panose="020B0609020204030204" pitchFamily="49" charset="0"/>
              </a:rPr>
              <a:t>Traffic</a:t>
            </a:r>
            <a:r>
              <a:rPr lang="cs-CZ" sz="900" dirty="0">
                <a:latin typeface="Consolas" panose="020B0609020204030204" pitchFamily="49" charset="0"/>
              </a:rPr>
              <a:t> </a:t>
            </a:r>
            <a:r>
              <a:rPr lang="cs-CZ" sz="900" dirty="0" err="1">
                <a:latin typeface="Consolas" panose="020B0609020204030204" pitchFamily="49" charset="0"/>
              </a:rPr>
              <a:t>Class</a:t>
            </a:r>
            <a:r>
              <a:rPr lang="cs-CZ" sz="900" dirty="0">
                <a:latin typeface="Consolas" panose="020B0609020204030204" pitchFamily="49" charset="0"/>
              </a:rPr>
              <a:t> | </a:t>
            </a:r>
            <a:r>
              <a:rPr lang="en-US" sz="900" dirty="0">
                <a:latin typeface="Consolas" panose="020B0609020204030204" pitchFamily="49" charset="0"/>
              </a:rPr>
              <a:t>           </a:t>
            </a:r>
            <a:r>
              <a:rPr lang="cs-CZ" sz="900" dirty="0" err="1">
                <a:latin typeface="Consolas" panose="020B0609020204030204" pitchFamily="49" charset="0"/>
              </a:rPr>
              <a:t>Flow</a:t>
            </a:r>
            <a:r>
              <a:rPr lang="cs-CZ" sz="900" dirty="0">
                <a:latin typeface="Consolas" panose="020B0609020204030204" pitchFamily="49" charset="0"/>
              </a:rPr>
              <a:t> Label</a:t>
            </a:r>
            <a:r>
              <a:rPr lang="en-US" sz="900" dirty="0">
                <a:latin typeface="Consolas" panose="020B0609020204030204" pitchFamily="49" charset="0"/>
              </a:rPr>
              <a:t>                 </a:t>
            </a:r>
            <a:r>
              <a:rPr lang="cs-CZ" sz="900" dirty="0">
                <a:latin typeface="Consolas" panose="020B0609020204030204" pitchFamily="49" charset="0"/>
              </a:rPr>
              <a:t>|</a:t>
            </a:r>
            <a:endParaRPr lang="en-US" sz="900" dirty="0">
              <a:latin typeface="Consolas" panose="020B0609020204030204" pitchFamily="49" charset="0"/>
            </a:endParaRPr>
          </a:p>
          <a:p>
            <a:pPr marL="0" indent="0">
              <a:spcBef>
                <a:spcPts val="0"/>
              </a:spcBef>
              <a:buNone/>
            </a:pPr>
            <a:r>
              <a:rPr lang="cs-CZ" sz="900" dirty="0">
                <a:latin typeface="Consolas" panose="020B0609020204030204" pitchFamily="49" charset="0"/>
              </a:rPr>
              <a:t>+-+-+-+-+-+-+-+-+-+-+-+-+-+-+-+-+-+-+-+-+-+-+-+-+-+-+-+-+-+-+-+-+</a:t>
            </a:r>
            <a:endParaRPr lang="en-US" sz="900" dirty="0">
              <a:latin typeface="Consolas" panose="020B0609020204030204" pitchFamily="49" charset="0"/>
            </a:endParaRPr>
          </a:p>
          <a:p>
            <a:pPr marL="0" indent="0">
              <a:spcBef>
                <a:spcPts val="0"/>
              </a:spcBef>
              <a:buNone/>
            </a:pPr>
            <a:r>
              <a:rPr lang="cs-CZ" sz="900" dirty="0">
                <a:latin typeface="Consolas" panose="020B0609020204030204" pitchFamily="49" charset="0"/>
              </a:rPr>
              <a:t>| </a:t>
            </a:r>
            <a:r>
              <a:rPr lang="en-US" sz="900" dirty="0">
                <a:latin typeface="Consolas" panose="020B0609020204030204" pitchFamily="49" charset="0"/>
              </a:rPr>
              <a:t>       </a:t>
            </a:r>
            <a:r>
              <a:rPr lang="cs-CZ" sz="900" dirty="0" err="1">
                <a:latin typeface="Consolas" panose="020B0609020204030204" pitchFamily="49" charset="0"/>
              </a:rPr>
              <a:t>Payload</a:t>
            </a:r>
            <a:r>
              <a:rPr lang="cs-CZ" sz="900" dirty="0">
                <a:latin typeface="Consolas" panose="020B0609020204030204" pitchFamily="49" charset="0"/>
              </a:rPr>
              <a:t> </a:t>
            </a:r>
            <a:r>
              <a:rPr lang="cs-CZ" sz="900" dirty="0" err="1">
                <a:latin typeface="Consolas" panose="020B0609020204030204" pitchFamily="49" charset="0"/>
              </a:rPr>
              <a:t>Length</a:t>
            </a:r>
            <a:r>
              <a:rPr lang="en-US" sz="900" dirty="0">
                <a:latin typeface="Consolas" panose="020B0609020204030204" pitchFamily="49" charset="0"/>
              </a:rPr>
              <a:t>         </a:t>
            </a:r>
            <a:r>
              <a:rPr lang="cs-CZ" sz="900" dirty="0">
                <a:latin typeface="Consolas" panose="020B0609020204030204" pitchFamily="49" charset="0"/>
              </a:rPr>
              <a:t>|</a:t>
            </a:r>
            <a:r>
              <a:rPr lang="en-US" sz="900" dirty="0">
                <a:latin typeface="Consolas" panose="020B0609020204030204" pitchFamily="49" charset="0"/>
              </a:rPr>
              <a:t>      51       </a:t>
            </a:r>
            <a:r>
              <a:rPr lang="cs-CZ" sz="900" dirty="0">
                <a:latin typeface="Consolas" panose="020B0609020204030204" pitchFamily="49" charset="0"/>
              </a:rPr>
              <a:t>| </a:t>
            </a:r>
            <a:r>
              <a:rPr lang="en-US" sz="900" dirty="0">
                <a:latin typeface="Consolas" panose="020B0609020204030204" pitchFamily="49" charset="0"/>
              </a:rPr>
              <a:t>  </a:t>
            </a:r>
            <a:r>
              <a:rPr lang="cs-CZ" sz="900" dirty="0">
                <a:latin typeface="Consolas" panose="020B0609020204030204" pitchFamily="49" charset="0"/>
              </a:rPr>
              <a:t>Hop Limit </a:t>
            </a:r>
            <a:r>
              <a:rPr lang="en-US" sz="900" dirty="0">
                <a:latin typeface="Consolas" panose="020B0609020204030204" pitchFamily="49" charset="0"/>
              </a:rPr>
              <a:t>  </a:t>
            </a:r>
            <a:r>
              <a:rPr lang="cs-CZ" sz="900" dirty="0">
                <a:latin typeface="Consolas" panose="020B0609020204030204" pitchFamily="49" charset="0"/>
              </a:rPr>
              <a:t>|</a:t>
            </a:r>
            <a:endParaRPr lang="en-US" sz="900" dirty="0">
              <a:latin typeface="Consolas" panose="020B0609020204030204" pitchFamily="49" charset="0"/>
            </a:endParaRPr>
          </a:p>
          <a:p>
            <a:pPr marL="0" indent="0">
              <a:spcBef>
                <a:spcPts val="0"/>
              </a:spcBef>
              <a:buNone/>
            </a:pPr>
            <a:r>
              <a:rPr lang="cs-CZ" sz="900" dirty="0">
                <a:latin typeface="Consolas" panose="020B0609020204030204" pitchFamily="49" charset="0"/>
              </a:rPr>
              <a:t>+-+-+-+-+-+-+-+-+-+-+-+-+-+-+-+-+-+-+-+-+-+-+-+-+-+-+-+-+-+-+-+-+</a:t>
            </a:r>
            <a:endParaRPr lang="en-US" sz="900" dirty="0">
              <a:latin typeface="Consolas" panose="020B0609020204030204" pitchFamily="49" charset="0"/>
            </a:endParaRPr>
          </a:p>
          <a:p>
            <a:pPr marL="0" indent="0">
              <a:spcBef>
                <a:spcPts val="0"/>
              </a:spcBef>
              <a:buNone/>
            </a:pPr>
            <a:r>
              <a:rPr lang="cs-CZ" sz="900" dirty="0">
                <a:latin typeface="Consolas" panose="020B0609020204030204" pitchFamily="49" charset="0"/>
              </a:rPr>
              <a:t>|</a:t>
            </a:r>
            <a:r>
              <a:rPr lang="en-US" sz="900" dirty="0">
                <a:latin typeface="Consolas" panose="020B0609020204030204" pitchFamily="49" charset="0"/>
              </a:rPr>
              <a:t>                                                               </a:t>
            </a:r>
            <a:r>
              <a:rPr lang="cs-CZ" sz="900" dirty="0">
                <a:latin typeface="Consolas" panose="020B0609020204030204" pitchFamily="49" charset="0"/>
              </a:rPr>
              <a:t>|</a:t>
            </a:r>
            <a:endParaRPr lang="en-US" sz="900" dirty="0">
              <a:latin typeface="Consolas" panose="020B0609020204030204" pitchFamily="49" charset="0"/>
            </a:endParaRPr>
          </a:p>
          <a:p>
            <a:pPr marL="0" indent="0">
              <a:spcBef>
                <a:spcPts val="0"/>
              </a:spcBef>
              <a:buNone/>
            </a:pPr>
            <a:r>
              <a:rPr lang="cs-CZ" sz="900" dirty="0">
                <a:latin typeface="Consolas" panose="020B0609020204030204" pitchFamily="49" charset="0"/>
              </a:rPr>
              <a:t>| </a:t>
            </a:r>
            <a:r>
              <a:rPr lang="en-US" sz="900" dirty="0">
                <a:latin typeface="Consolas" panose="020B0609020204030204" pitchFamily="49" charset="0"/>
              </a:rPr>
              <a:t>                        </a:t>
            </a:r>
            <a:r>
              <a:rPr lang="cs-CZ" sz="900" dirty="0">
                <a:latin typeface="Consolas" panose="020B0609020204030204" pitchFamily="49" charset="0"/>
              </a:rPr>
              <a:t>Source </a:t>
            </a:r>
            <a:r>
              <a:rPr lang="cs-CZ" sz="900" dirty="0" err="1">
                <a:latin typeface="Consolas" panose="020B0609020204030204" pitchFamily="49" charset="0"/>
              </a:rPr>
              <a:t>Address</a:t>
            </a:r>
            <a:r>
              <a:rPr lang="en-US" sz="900" dirty="0">
                <a:latin typeface="Consolas" panose="020B0609020204030204" pitchFamily="49" charset="0"/>
              </a:rPr>
              <a:t>                        </a:t>
            </a:r>
            <a:r>
              <a:rPr lang="cs-CZ" sz="900" dirty="0">
                <a:latin typeface="Consolas" panose="020B0609020204030204" pitchFamily="49" charset="0"/>
              </a:rPr>
              <a:t>|</a:t>
            </a:r>
            <a:endParaRPr lang="en-US" sz="900" dirty="0">
              <a:latin typeface="Consolas" panose="020B0609020204030204" pitchFamily="49" charset="0"/>
            </a:endParaRPr>
          </a:p>
          <a:p>
            <a:pPr marL="0" indent="0">
              <a:spcBef>
                <a:spcPts val="0"/>
              </a:spcBef>
              <a:buNone/>
            </a:pPr>
            <a:r>
              <a:rPr lang="cs-CZ" sz="900" dirty="0">
                <a:latin typeface="Consolas" panose="020B0609020204030204" pitchFamily="49" charset="0"/>
              </a:rPr>
              <a:t>| </a:t>
            </a:r>
            <a:r>
              <a:rPr lang="en-US" sz="900" dirty="0">
                <a:latin typeface="Consolas" panose="020B0609020204030204" pitchFamily="49" charset="0"/>
              </a:rPr>
              <a:t>                                                              </a:t>
            </a:r>
            <a:r>
              <a:rPr lang="cs-CZ" sz="900" dirty="0">
                <a:latin typeface="Consolas" panose="020B0609020204030204" pitchFamily="49" charset="0"/>
              </a:rPr>
              <a:t>|</a:t>
            </a:r>
            <a:endParaRPr lang="en-US" sz="900" dirty="0">
              <a:latin typeface="Consolas" panose="020B0609020204030204" pitchFamily="49" charset="0"/>
            </a:endParaRPr>
          </a:p>
          <a:p>
            <a:pPr marL="0" indent="0">
              <a:spcBef>
                <a:spcPts val="0"/>
              </a:spcBef>
              <a:buNone/>
            </a:pPr>
            <a:r>
              <a:rPr lang="cs-CZ" sz="900" dirty="0">
                <a:latin typeface="Consolas" panose="020B0609020204030204" pitchFamily="49" charset="0"/>
              </a:rPr>
              <a:t>| </a:t>
            </a:r>
            <a:r>
              <a:rPr lang="en-US" sz="900" dirty="0">
                <a:latin typeface="Consolas" panose="020B0609020204030204" pitchFamily="49" charset="0"/>
              </a:rPr>
              <a:t>                                                              </a:t>
            </a:r>
            <a:r>
              <a:rPr lang="cs-CZ" sz="900" dirty="0">
                <a:latin typeface="Consolas" panose="020B0609020204030204" pitchFamily="49" charset="0"/>
              </a:rPr>
              <a:t>|</a:t>
            </a:r>
            <a:endParaRPr lang="en-US" sz="900" dirty="0">
              <a:latin typeface="Consolas" panose="020B0609020204030204" pitchFamily="49" charset="0"/>
            </a:endParaRPr>
          </a:p>
          <a:p>
            <a:pPr marL="0" indent="0">
              <a:spcBef>
                <a:spcPts val="0"/>
              </a:spcBef>
              <a:buNone/>
            </a:pPr>
            <a:r>
              <a:rPr lang="cs-CZ" sz="900" dirty="0">
                <a:latin typeface="Consolas" panose="020B0609020204030204" pitchFamily="49" charset="0"/>
              </a:rPr>
              <a:t>+-+-+-+-+-+-+-+-+-+-+-+-+-+-+-+-+-+-+-+-+-+-+-+-+-+-+-+-+-+-+-+-+</a:t>
            </a:r>
            <a:endParaRPr lang="en-US" sz="900" dirty="0">
              <a:latin typeface="Consolas" panose="020B0609020204030204" pitchFamily="49" charset="0"/>
            </a:endParaRPr>
          </a:p>
          <a:p>
            <a:pPr marL="0" indent="0">
              <a:spcBef>
                <a:spcPts val="0"/>
              </a:spcBef>
              <a:buNone/>
            </a:pPr>
            <a:r>
              <a:rPr lang="cs-CZ" sz="900" dirty="0">
                <a:latin typeface="Consolas" panose="020B0609020204030204" pitchFamily="49" charset="0"/>
              </a:rPr>
              <a:t>| </a:t>
            </a:r>
            <a:r>
              <a:rPr lang="en-US" sz="900" dirty="0">
                <a:latin typeface="Consolas" panose="020B0609020204030204" pitchFamily="49" charset="0"/>
              </a:rPr>
              <a:t>                                                              </a:t>
            </a:r>
            <a:r>
              <a:rPr lang="cs-CZ" sz="900" dirty="0">
                <a:latin typeface="Consolas" panose="020B0609020204030204" pitchFamily="49" charset="0"/>
              </a:rPr>
              <a:t>|</a:t>
            </a:r>
            <a:endParaRPr lang="en-US" sz="900" dirty="0">
              <a:latin typeface="Consolas" panose="020B0609020204030204" pitchFamily="49" charset="0"/>
            </a:endParaRPr>
          </a:p>
          <a:p>
            <a:pPr marL="0" indent="0">
              <a:spcBef>
                <a:spcPts val="0"/>
              </a:spcBef>
              <a:buNone/>
            </a:pPr>
            <a:r>
              <a:rPr lang="cs-CZ" sz="900" dirty="0">
                <a:latin typeface="Consolas" panose="020B0609020204030204" pitchFamily="49" charset="0"/>
              </a:rPr>
              <a:t>|</a:t>
            </a:r>
            <a:r>
              <a:rPr lang="en-US" sz="900" dirty="0">
                <a:latin typeface="Consolas" panose="020B0609020204030204" pitchFamily="49" charset="0"/>
              </a:rPr>
              <a:t>                       </a:t>
            </a:r>
            <a:r>
              <a:rPr lang="cs-CZ" sz="900" dirty="0" err="1">
                <a:latin typeface="Consolas" panose="020B0609020204030204" pitchFamily="49" charset="0"/>
              </a:rPr>
              <a:t>Destination</a:t>
            </a:r>
            <a:r>
              <a:rPr lang="cs-CZ" sz="900" dirty="0">
                <a:latin typeface="Consolas" panose="020B0609020204030204" pitchFamily="49" charset="0"/>
              </a:rPr>
              <a:t> </a:t>
            </a:r>
            <a:r>
              <a:rPr lang="cs-CZ" sz="900" dirty="0" err="1">
                <a:latin typeface="Consolas" panose="020B0609020204030204" pitchFamily="49" charset="0"/>
              </a:rPr>
              <a:t>Address</a:t>
            </a:r>
            <a:r>
              <a:rPr lang="en-US" sz="900" dirty="0">
                <a:latin typeface="Consolas" panose="020B0609020204030204" pitchFamily="49" charset="0"/>
              </a:rPr>
              <a:t>                     </a:t>
            </a:r>
            <a:r>
              <a:rPr lang="cs-CZ" sz="900" dirty="0">
                <a:latin typeface="Consolas" panose="020B0609020204030204" pitchFamily="49" charset="0"/>
              </a:rPr>
              <a:t>|</a:t>
            </a:r>
            <a:endParaRPr lang="en-US" sz="900" dirty="0">
              <a:latin typeface="Consolas" panose="020B0609020204030204" pitchFamily="49" charset="0"/>
            </a:endParaRPr>
          </a:p>
          <a:p>
            <a:pPr marL="0" indent="0">
              <a:spcBef>
                <a:spcPts val="0"/>
              </a:spcBef>
              <a:buNone/>
            </a:pPr>
            <a:r>
              <a:rPr lang="cs-CZ" sz="900" dirty="0">
                <a:latin typeface="Consolas" panose="020B0609020204030204" pitchFamily="49" charset="0"/>
              </a:rPr>
              <a:t>| </a:t>
            </a:r>
            <a:r>
              <a:rPr lang="en-US" sz="900" dirty="0">
                <a:latin typeface="Consolas" panose="020B0609020204030204" pitchFamily="49" charset="0"/>
              </a:rPr>
              <a:t>                                                              </a:t>
            </a:r>
            <a:r>
              <a:rPr lang="cs-CZ" sz="900" dirty="0">
                <a:latin typeface="Consolas" panose="020B0609020204030204" pitchFamily="49" charset="0"/>
              </a:rPr>
              <a:t>|</a:t>
            </a:r>
            <a:endParaRPr lang="en-US" sz="900" dirty="0">
              <a:latin typeface="Consolas" panose="020B0609020204030204" pitchFamily="49" charset="0"/>
            </a:endParaRPr>
          </a:p>
          <a:p>
            <a:pPr marL="0" indent="0">
              <a:spcBef>
                <a:spcPts val="0"/>
              </a:spcBef>
              <a:buNone/>
            </a:pPr>
            <a:r>
              <a:rPr lang="cs-CZ" sz="900" dirty="0">
                <a:latin typeface="Consolas" panose="020B0609020204030204" pitchFamily="49" charset="0"/>
              </a:rPr>
              <a:t>|</a:t>
            </a:r>
            <a:r>
              <a:rPr lang="en-US" sz="900" dirty="0">
                <a:latin typeface="Consolas" panose="020B0609020204030204" pitchFamily="49" charset="0"/>
              </a:rPr>
              <a:t>                                                              </a:t>
            </a:r>
            <a:r>
              <a:rPr lang="cs-CZ" sz="900" dirty="0">
                <a:latin typeface="Consolas" panose="020B0609020204030204" pitchFamily="49" charset="0"/>
              </a:rPr>
              <a:t> |</a:t>
            </a:r>
            <a:endParaRPr lang="en-US" sz="900" dirty="0">
              <a:latin typeface="Consolas" panose="020B0609020204030204" pitchFamily="49" charset="0"/>
            </a:endParaRPr>
          </a:p>
          <a:p>
            <a:pPr marL="0" indent="0">
              <a:spcBef>
                <a:spcPts val="0"/>
              </a:spcBef>
              <a:buNone/>
            </a:pPr>
            <a:r>
              <a:rPr lang="cs-CZ" sz="900" dirty="0">
                <a:latin typeface="Consolas" panose="020B0609020204030204" pitchFamily="49" charset="0"/>
              </a:rPr>
              <a:t>+-+-+-+-+-+-+-+-+-+-+-+-+-+-+-+-+-+-+-+-+-+-+-+-+-+-+-+-+-+-+-+-+</a:t>
            </a:r>
            <a:endParaRPr lang="en-US" sz="900" dirty="0">
              <a:latin typeface="Consolas" panose="020B0609020204030204" pitchFamily="49" charset="0"/>
            </a:endParaRPr>
          </a:p>
          <a:p>
            <a:pPr marL="0" indent="0">
              <a:spcBef>
                <a:spcPts val="0"/>
              </a:spcBef>
              <a:buNone/>
            </a:pPr>
            <a:r>
              <a:rPr lang="en-US" sz="900" dirty="0">
                <a:latin typeface="Consolas" panose="020B0609020204030204" pitchFamily="49" charset="0"/>
              </a:rPr>
              <a:t>+-+-+-+-+-+-+-+-+-+-+-+-+-+-+-+-+-+-+-+-+-+-+-+-+-+-+-+-+-+-+-+-+ </a:t>
            </a:r>
          </a:p>
          <a:p>
            <a:pPr marL="0" indent="0">
              <a:spcBef>
                <a:spcPts val="0"/>
              </a:spcBef>
              <a:buNone/>
            </a:pPr>
            <a:r>
              <a:rPr lang="en-US" sz="900" dirty="0">
                <a:latin typeface="Consolas" panose="020B0609020204030204" pitchFamily="49" charset="0"/>
              </a:rPr>
              <a:t>| Next Header   |  Payload Len  |          RESERVED             |  </a:t>
            </a:r>
          </a:p>
          <a:p>
            <a:pPr marL="0" indent="0">
              <a:spcBef>
                <a:spcPts val="0"/>
              </a:spcBef>
              <a:buNone/>
            </a:pPr>
            <a:r>
              <a:rPr lang="en-US" sz="900" dirty="0">
                <a:latin typeface="Consolas" panose="020B0609020204030204" pitchFamily="49" charset="0"/>
              </a:rPr>
              <a:t>+-+-+-+-+-+-+-+-+-+-+-+-+-+-+-+-+-+-+-+-+-+-+-+-+-+-+-+-+-+-+-+-+</a:t>
            </a:r>
          </a:p>
          <a:p>
            <a:pPr marL="0" indent="0">
              <a:spcBef>
                <a:spcPts val="0"/>
              </a:spcBef>
              <a:buNone/>
            </a:pPr>
            <a:r>
              <a:rPr lang="en-US" sz="900" dirty="0">
                <a:latin typeface="Consolas" panose="020B0609020204030204" pitchFamily="49" charset="0"/>
              </a:rPr>
              <a:t>|                 Security Parameters Index (SPI)               |</a:t>
            </a:r>
          </a:p>
          <a:p>
            <a:pPr marL="0" indent="0">
              <a:spcBef>
                <a:spcPts val="0"/>
              </a:spcBef>
              <a:buNone/>
            </a:pPr>
            <a:r>
              <a:rPr lang="en-US" sz="900" dirty="0">
                <a:latin typeface="Consolas" panose="020B0609020204030204" pitchFamily="49" charset="0"/>
              </a:rPr>
              <a:t>+-+-+-+-+-+-+-+-+-+-+-+-+-+-+-+-+-+-+-+-+-+-+-+-+-+-+-+-+-+-+-+-+</a:t>
            </a:r>
          </a:p>
          <a:p>
            <a:pPr marL="0" indent="0">
              <a:spcBef>
                <a:spcPts val="0"/>
              </a:spcBef>
              <a:buNone/>
            </a:pPr>
            <a:r>
              <a:rPr lang="en-US" sz="900" dirty="0">
                <a:latin typeface="Consolas" panose="020B0609020204030204" pitchFamily="49" charset="0"/>
              </a:rPr>
              <a:t>|                    Sequence Number Field                      |</a:t>
            </a:r>
          </a:p>
          <a:p>
            <a:pPr marL="0" indent="0">
              <a:spcBef>
                <a:spcPts val="0"/>
              </a:spcBef>
              <a:buNone/>
            </a:pPr>
            <a:r>
              <a:rPr lang="en-US" sz="900" dirty="0">
                <a:latin typeface="Consolas" panose="020B0609020204030204" pitchFamily="49" charset="0"/>
              </a:rPr>
              <a:t>+-+-+-+-+-+-+-+-+-+-+-+-+-+-+-+-+-+-+-+-+-+-+-+-+-+-+-+-+-+-+-+-+</a:t>
            </a:r>
          </a:p>
          <a:p>
            <a:pPr marL="0" indent="0">
              <a:spcBef>
                <a:spcPts val="0"/>
              </a:spcBef>
              <a:buNone/>
            </a:pPr>
            <a:r>
              <a:rPr lang="en-US" sz="900" dirty="0">
                <a:latin typeface="Consolas" panose="020B0609020204030204" pitchFamily="49" charset="0"/>
              </a:rPr>
              <a:t>|                                                               |</a:t>
            </a:r>
          </a:p>
          <a:p>
            <a:pPr marL="0" indent="0">
              <a:spcBef>
                <a:spcPts val="0"/>
              </a:spcBef>
              <a:buNone/>
            </a:pPr>
            <a:r>
              <a:rPr lang="en-US" sz="900" dirty="0">
                <a:latin typeface="Consolas" panose="020B0609020204030204" pitchFamily="49" charset="0"/>
              </a:rPr>
              <a:t>+                Integrity Check Value-ICV (variable)           |</a:t>
            </a:r>
          </a:p>
          <a:p>
            <a:pPr marL="0" indent="0">
              <a:spcBef>
                <a:spcPts val="0"/>
              </a:spcBef>
              <a:buNone/>
            </a:pPr>
            <a:r>
              <a:rPr lang="en-US" sz="900" dirty="0">
                <a:latin typeface="Consolas" panose="020B0609020204030204" pitchFamily="49" charset="0"/>
              </a:rPr>
              <a:t>|                                                               |</a:t>
            </a:r>
          </a:p>
          <a:p>
            <a:pPr marL="0" indent="0">
              <a:spcBef>
                <a:spcPts val="0"/>
              </a:spcBef>
              <a:buNone/>
            </a:pPr>
            <a:r>
              <a:rPr lang="en-US" sz="900" dirty="0">
                <a:latin typeface="Consolas" panose="020B0609020204030204" pitchFamily="49" charset="0"/>
              </a:rPr>
              <a:t>+-+-+-+-+-+-+-+-+-+-+-+-+-+-+-+-+-+-+-+-+-+-+-+-+-+-+-+-+-+-+-+-+</a:t>
            </a:r>
          </a:p>
          <a:p>
            <a:pPr marL="0" indent="0">
              <a:spcBef>
                <a:spcPts val="0"/>
              </a:spcBef>
              <a:buNone/>
            </a:pPr>
            <a:r>
              <a:rPr lang="en-US" sz="900" dirty="0">
                <a:latin typeface="Consolas" panose="020B0609020204030204" pitchFamily="49" charset="0"/>
              </a:rPr>
              <a:t>+-+-+-+-+-+-+-+-+-+-+-+-+-+-+-+-+-+-+-+-+-+-+-+-+-+-+-+-+-+-+-+-+</a:t>
            </a:r>
          </a:p>
          <a:p>
            <a:pPr marL="0" indent="0">
              <a:spcBef>
                <a:spcPts val="0"/>
              </a:spcBef>
              <a:buNone/>
            </a:pPr>
            <a:r>
              <a:rPr lang="en-US" sz="900" dirty="0">
                <a:latin typeface="Consolas" panose="020B0609020204030204" pitchFamily="49" charset="0"/>
              </a:rPr>
              <a:t>|          Source Port          |       Destination Port        |</a:t>
            </a:r>
          </a:p>
          <a:p>
            <a:pPr marL="0" indent="0">
              <a:spcBef>
                <a:spcPts val="0"/>
              </a:spcBef>
              <a:buNone/>
            </a:pPr>
            <a:r>
              <a:rPr lang="en-US" sz="900" dirty="0">
                <a:latin typeface="Consolas" panose="020B0609020204030204" pitchFamily="49" charset="0"/>
              </a:rPr>
              <a:t>+-+-+-+-+-+-+-+-+-+-+-+-+-+-+-+-+-+-+-+-+-+-+-+-+-+-+-+-+-+-+-+-+</a:t>
            </a:r>
          </a:p>
          <a:p>
            <a:pPr marL="0" indent="0">
              <a:spcBef>
                <a:spcPts val="0"/>
              </a:spcBef>
              <a:buNone/>
            </a:pPr>
            <a:r>
              <a:rPr lang="en-US" sz="900" dirty="0">
                <a:latin typeface="Consolas" panose="020B0609020204030204" pitchFamily="49" charset="0"/>
              </a:rPr>
              <a:t>|                        Sequence Number                        |</a:t>
            </a:r>
          </a:p>
          <a:p>
            <a:pPr marL="0" indent="0">
              <a:spcBef>
                <a:spcPts val="0"/>
              </a:spcBef>
              <a:buNone/>
            </a:pPr>
            <a:r>
              <a:rPr lang="en-US" sz="900" dirty="0">
                <a:latin typeface="Consolas" panose="020B0609020204030204" pitchFamily="49" charset="0"/>
              </a:rPr>
              <a:t>+-+-+-+-+-+-+-+-+-+-+-+-+-+-+-+-+-+-+-+-+-+-+-+-+-+-+-+-+-+-+-+-+</a:t>
            </a:r>
          </a:p>
          <a:p>
            <a:pPr marL="0" indent="0">
              <a:spcBef>
                <a:spcPts val="0"/>
              </a:spcBef>
              <a:buNone/>
            </a:pPr>
            <a:r>
              <a:rPr lang="en-US" sz="900" dirty="0">
                <a:latin typeface="Consolas" panose="020B0609020204030204" pitchFamily="49" charset="0"/>
              </a:rPr>
              <a:t>|                    Acknowledgment Number                      |</a:t>
            </a:r>
          </a:p>
          <a:p>
            <a:pPr marL="0" indent="0">
              <a:spcBef>
                <a:spcPts val="0"/>
              </a:spcBef>
              <a:buNone/>
            </a:pPr>
            <a:r>
              <a:rPr lang="en-US" sz="900" dirty="0">
                <a:latin typeface="Consolas" panose="020B0609020204030204" pitchFamily="49" charset="0"/>
              </a:rPr>
              <a:t>+-+-+-+-+-+-+-+-+-+-+-+-+-+-+-+-+-+-+-+-+-+-+-+-+-+-+-+-+-+-+-+-+</a:t>
            </a:r>
          </a:p>
          <a:p>
            <a:pPr marL="0" indent="0">
              <a:spcBef>
                <a:spcPts val="0"/>
              </a:spcBef>
              <a:buNone/>
            </a:pPr>
            <a:r>
              <a:rPr lang="en-US" sz="900" dirty="0">
                <a:latin typeface="Consolas" panose="020B0609020204030204" pitchFamily="49" charset="0"/>
              </a:rPr>
              <a:t>|  Data |           |U|A|P|R|S|F|                               |</a:t>
            </a:r>
          </a:p>
          <a:p>
            <a:pPr marL="0" indent="0">
              <a:spcBef>
                <a:spcPts val="0"/>
              </a:spcBef>
              <a:buNone/>
            </a:pPr>
            <a:r>
              <a:rPr lang="en-US" sz="900" dirty="0">
                <a:latin typeface="Consolas" panose="020B0609020204030204" pitchFamily="49" charset="0"/>
              </a:rPr>
              <a:t>| Offset| Reserved  |R|C|S|S|Y|I|            Window             |</a:t>
            </a:r>
          </a:p>
          <a:p>
            <a:pPr marL="0" indent="0">
              <a:spcBef>
                <a:spcPts val="0"/>
              </a:spcBef>
              <a:buNone/>
            </a:pPr>
            <a:r>
              <a:rPr lang="en-US" sz="900" dirty="0">
                <a:latin typeface="Consolas" panose="020B0609020204030204" pitchFamily="49" charset="0"/>
              </a:rPr>
              <a:t>|       |           |G|K|H|T|N|N|                               |</a:t>
            </a:r>
          </a:p>
          <a:p>
            <a:pPr marL="0" indent="0">
              <a:spcBef>
                <a:spcPts val="0"/>
              </a:spcBef>
              <a:buNone/>
            </a:pPr>
            <a:r>
              <a:rPr lang="en-US" sz="900" dirty="0">
                <a:latin typeface="Consolas" panose="020B0609020204030204" pitchFamily="49" charset="0"/>
              </a:rPr>
              <a:t>+-+-+-+-+-+-+-+-+-+-+-+-+-+-+-+-+-+-+-+-+-+-+-+-+-+-+-+-+-+-+-+-+</a:t>
            </a:r>
          </a:p>
          <a:p>
            <a:pPr marL="0" indent="0">
              <a:spcBef>
                <a:spcPts val="0"/>
              </a:spcBef>
              <a:buNone/>
            </a:pPr>
            <a:r>
              <a:rPr lang="en-US" sz="900" dirty="0">
                <a:latin typeface="Consolas" panose="020B0609020204030204" pitchFamily="49" charset="0"/>
              </a:rPr>
              <a:t>|           Checksum            |         Urgent Pointer        |</a:t>
            </a:r>
          </a:p>
          <a:p>
            <a:pPr marL="0" indent="0">
              <a:spcBef>
                <a:spcPts val="0"/>
              </a:spcBef>
              <a:buNone/>
            </a:pPr>
            <a:r>
              <a:rPr lang="en-US" sz="900" dirty="0">
                <a:latin typeface="Consolas" panose="020B0609020204030204" pitchFamily="49" charset="0"/>
              </a:rPr>
              <a:t>+-+-+-+-+-+-+-+-+-+-+-+-+-+-+-+-+-+-+-+-+-+-+-+-+-+-+-+-+-+-+-+-+</a:t>
            </a:r>
          </a:p>
          <a:p>
            <a:pPr marL="0" indent="0">
              <a:spcBef>
                <a:spcPts val="0"/>
              </a:spcBef>
              <a:buNone/>
            </a:pPr>
            <a:r>
              <a:rPr lang="en-US" sz="900" dirty="0">
                <a:latin typeface="Consolas" panose="020B0609020204030204" pitchFamily="49" charset="0"/>
              </a:rPr>
              <a:t>|                    Options                    |    Padding    |</a:t>
            </a:r>
          </a:p>
          <a:p>
            <a:pPr marL="0" indent="0">
              <a:spcBef>
                <a:spcPts val="0"/>
              </a:spcBef>
              <a:buNone/>
            </a:pPr>
            <a:r>
              <a:rPr lang="en-US" sz="900" dirty="0">
                <a:latin typeface="Consolas" panose="020B0609020204030204" pitchFamily="49" charset="0"/>
              </a:rPr>
              <a:t>+-+-+-+-+-+-+-+-+-+-+-+-+-+-+-+-+-+-+-+-+-+-+-+-+-+-+-+-+-+-+-+-+</a:t>
            </a:r>
          </a:p>
          <a:p>
            <a:pPr marL="0" indent="0">
              <a:spcBef>
                <a:spcPts val="0"/>
              </a:spcBef>
              <a:buNone/>
            </a:pPr>
            <a:r>
              <a:rPr lang="en-US" sz="900" dirty="0">
                <a:latin typeface="Consolas" panose="020B0609020204030204" pitchFamily="49" charset="0"/>
              </a:rPr>
              <a:t>|                             data                              |</a:t>
            </a:r>
          </a:p>
          <a:p>
            <a:pPr marL="0" indent="0">
              <a:spcBef>
                <a:spcPts val="0"/>
              </a:spcBef>
              <a:buNone/>
            </a:pPr>
            <a:r>
              <a:rPr lang="en-US" sz="900" dirty="0">
                <a:latin typeface="Consolas" panose="020B0609020204030204" pitchFamily="49" charset="0"/>
              </a:rPr>
              <a:t>+-+-+-+-+-+-+-+-+-+-+-+-+-+-+-+-+-+-+-+-+-+-+-+-+-+-+-+-+-+-+-+-+</a:t>
            </a:r>
          </a:p>
          <a:p>
            <a:pPr marL="0" indent="0">
              <a:spcBef>
                <a:spcPts val="0"/>
              </a:spcBef>
              <a:buNone/>
            </a:pPr>
            <a:endParaRPr lang="en-US" sz="900" dirty="0">
              <a:latin typeface="Consolas" panose="020B0609020204030204" pitchFamily="49" charset="0"/>
            </a:endParaRPr>
          </a:p>
        </p:txBody>
      </p:sp>
      <p:sp>
        <p:nvSpPr>
          <p:cNvPr id="10" name="Left Brace 9">
            <a:extLst>
              <a:ext uri="{FF2B5EF4-FFF2-40B4-BE49-F238E27FC236}">
                <a16:creationId xmlns:a16="http://schemas.microsoft.com/office/drawing/2014/main" id="{F3177DC7-50D3-8385-AD2B-D97509FFA16F}"/>
              </a:ext>
            </a:extLst>
          </p:cNvPr>
          <p:cNvSpPr/>
          <p:nvPr/>
        </p:nvSpPr>
        <p:spPr>
          <a:xfrm>
            <a:off x="5718144" y="2890846"/>
            <a:ext cx="360972" cy="138142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16BF6D1D-EAFC-AA5B-B26B-B8AFA4B76A41}"/>
              </a:ext>
            </a:extLst>
          </p:cNvPr>
          <p:cNvSpPr txBox="1"/>
          <p:nvPr/>
        </p:nvSpPr>
        <p:spPr>
          <a:xfrm rot="16200000">
            <a:off x="4741895" y="3248513"/>
            <a:ext cx="1578432" cy="360974"/>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000" i="0" u="none" strike="noStrike" kern="1200" cap="none" spc="0" normalizeH="0" baseline="0" noProof="0" dirty="0">
                <a:ln>
                  <a:noFill/>
                </a:ln>
                <a:solidFill>
                  <a:schemeClr val="tx2"/>
                </a:solidFill>
                <a:effectLst/>
                <a:uLnTx/>
                <a:uFillTx/>
                <a:latin typeface="Arial" panose="020B0604020202020204"/>
                <a:ea typeface="+mn-ea"/>
                <a:cs typeface="+mn-cs"/>
              </a:rPr>
              <a:t>AH packet</a:t>
            </a:r>
          </a:p>
        </p:txBody>
      </p:sp>
      <p:sp>
        <p:nvSpPr>
          <p:cNvPr id="12" name="Left Brace 11">
            <a:extLst>
              <a:ext uri="{FF2B5EF4-FFF2-40B4-BE49-F238E27FC236}">
                <a16:creationId xmlns:a16="http://schemas.microsoft.com/office/drawing/2014/main" id="{31EBA294-9637-5CE9-010A-5C0D1B9E2240}"/>
              </a:ext>
            </a:extLst>
          </p:cNvPr>
          <p:cNvSpPr/>
          <p:nvPr/>
        </p:nvSpPr>
        <p:spPr>
          <a:xfrm>
            <a:off x="5754694" y="454192"/>
            <a:ext cx="360972" cy="198823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AE6935BC-2EF9-49AD-E4DC-729F0AACEF78}"/>
              </a:ext>
            </a:extLst>
          </p:cNvPr>
          <p:cNvSpPr txBox="1"/>
          <p:nvPr/>
        </p:nvSpPr>
        <p:spPr>
          <a:xfrm rot="16200000">
            <a:off x="4655248" y="1131783"/>
            <a:ext cx="1988230" cy="62285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IPv6 Header</a:t>
            </a:r>
          </a:p>
        </p:txBody>
      </p:sp>
      <p:sp>
        <p:nvSpPr>
          <p:cNvPr id="15" name="TextBox 14">
            <a:extLst>
              <a:ext uri="{FF2B5EF4-FFF2-40B4-BE49-F238E27FC236}">
                <a16:creationId xmlns:a16="http://schemas.microsoft.com/office/drawing/2014/main" id="{B7EE7426-C1AB-1A3F-4B92-7C6D3D632C38}"/>
              </a:ext>
            </a:extLst>
          </p:cNvPr>
          <p:cNvSpPr txBox="1"/>
          <p:nvPr/>
        </p:nvSpPr>
        <p:spPr>
          <a:xfrm>
            <a:off x="6210263" y="2844700"/>
            <a:ext cx="997933" cy="365157"/>
          </a:xfrm>
          <a:prstGeom prst="rect">
            <a:avLst/>
          </a:prstGeom>
          <a:solidFill>
            <a:schemeClr val="bg1">
              <a:alpha val="70000"/>
            </a:schemeClr>
          </a:solidFill>
        </p:spPr>
        <p:txBody>
          <a:bodyPr vert="horz" wrap="none" lIns="91440" tIns="45720" rIns="91440" bIns="45720" rtlCol="0">
            <a:noAutofit/>
          </a:bodyPr>
          <a:lstStyle/>
          <a:p>
            <a:pPr marL="0" marR="0" indent="0" algn="l" defTabSz="914400" rtl="0" eaLnBrk="1" fontAlgn="auto" latinLnBrk="0" hangingPunct="1">
              <a:lnSpc>
                <a:spcPct val="90000"/>
              </a:lnSpc>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accent6"/>
                </a:solidFill>
                <a:effectLst/>
                <a:uLnTx/>
                <a:uFillTx/>
                <a:latin typeface="Arial" panose="020B0604020202020204"/>
                <a:ea typeface="+mn-ea"/>
                <a:cs typeface="+mn-cs"/>
              </a:rPr>
              <a:t>  6</a:t>
            </a:r>
          </a:p>
        </p:txBody>
      </p:sp>
      <p:sp>
        <p:nvSpPr>
          <p:cNvPr id="16" name="Left Brace 15">
            <a:extLst>
              <a:ext uri="{FF2B5EF4-FFF2-40B4-BE49-F238E27FC236}">
                <a16:creationId xmlns:a16="http://schemas.microsoft.com/office/drawing/2014/main" id="{3A8809AE-F7E8-6E80-988E-C68B780084B0}"/>
              </a:ext>
            </a:extLst>
          </p:cNvPr>
          <p:cNvSpPr/>
          <p:nvPr/>
        </p:nvSpPr>
        <p:spPr>
          <a:xfrm>
            <a:off x="5718176" y="4443941"/>
            <a:ext cx="360972" cy="189424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90727EBB-A09D-E59F-E85C-96A0E9C1A9E0}"/>
              </a:ext>
            </a:extLst>
          </p:cNvPr>
          <p:cNvSpPr txBox="1"/>
          <p:nvPr/>
        </p:nvSpPr>
        <p:spPr>
          <a:xfrm rot="16200000">
            <a:off x="4644071" y="5032646"/>
            <a:ext cx="1988230" cy="62285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400" dirty="0">
                <a:solidFill>
                  <a:schemeClr val="tx2"/>
                </a:solidFill>
                <a:latin typeface="Arial" panose="020B0604020202020204"/>
              </a:rPr>
              <a:t>T</a:t>
            </a:r>
            <a:r>
              <a:rPr kumimoji="0" lang="en-US" sz="2400" i="0" u="none" strike="noStrike" kern="1200" cap="none" spc="0" normalizeH="0" baseline="0" noProof="0" dirty="0">
                <a:ln>
                  <a:noFill/>
                </a:ln>
                <a:solidFill>
                  <a:schemeClr val="tx2"/>
                </a:solidFill>
                <a:effectLst/>
                <a:uLnTx/>
                <a:uFillTx/>
                <a:latin typeface="Arial" panose="020B0604020202020204"/>
                <a:ea typeface="+mn-ea"/>
                <a:cs typeface="+mn-cs"/>
              </a:rPr>
              <a:t>CP Header</a:t>
            </a:r>
          </a:p>
        </p:txBody>
      </p:sp>
      <p:sp>
        <p:nvSpPr>
          <p:cNvPr id="21" name="Rounded Rectangle 6">
            <a:extLst>
              <a:ext uri="{FF2B5EF4-FFF2-40B4-BE49-F238E27FC236}">
                <a16:creationId xmlns:a16="http://schemas.microsoft.com/office/drawing/2014/main" id="{6689E169-B896-6597-281B-BA785E7E29B5}"/>
              </a:ext>
            </a:extLst>
          </p:cNvPr>
          <p:cNvSpPr/>
          <p:nvPr/>
        </p:nvSpPr>
        <p:spPr>
          <a:xfrm>
            <a:off x="4991904" y="4407409"/>
            <a:ext cx="5538936" cy="2233460"/>
          </a:xfrm>
          <a:prstGeom prst="roundRect">
            <a:avLst/>
          </a:prstGeom>
          <a:noFill/>
          <a:ln w="50800">
            <a:solidFill>
              <a:schemeClr val="accent5"/>
            </a:solidFill>
            <a:prstDash val="solid"/>
          </a:ln>
        </p:spPr>
        <p:style>
          <a:lnRef idx="2">
            <a:schemeClr val="accent5"/>
          </a:lnRef>
          <a:fillRef idx="1">
            <a:schemeClr val="lt1"/>
          </a:fillRef>
          <a:effectRef idx="0">
            <a:schemeClr val="accent5"/>
          </a:effectRef>
          <a:fontRef idx="minor">
            <a:schemeClr val="dk1"/>
          </a:fontRef>
        </p:style>
        <p:txBody>
          <a:bodyPr rtlCol="0" anchor="ctr"/>
          <a:lstStyle/>
          <a:p>
            <a:pPr algn="ctr"/>
            <a:endParaRPr lang="sk-SK"/>
          </a:p>
        </p:txBody>
      </p:sp>
      <p:sp>
        <p:nvSpPr>
          <p:cNvPr id="7" name="Rounded Rectangle 6"/>
          <p:cNvSpPr/>
          <p:nvPr/>
        </p:nvSpPr>
        <p:spPr>
          <a:xfrm>
            <a:off x="4991904" y="2845180"/>
            <a:ext cx="5538936" cy="1426614"/>
          </a:xfrm>
          <a:prstGeom prst="roundRect">
            <a:avLst/>
          </a:prstGeom>
          <a:noFill/>
          <a:ln w="50800">
            <a:solidFill>
              <a:schemeClr val="accent5"/>
            </a:solidFill>
            <a:prstDash val="solid"/>
          </a:ln>
        </p:spPr>
        <p:style>
          <a:lnRef idx="2">
            <a:schemeClr val="accent5"/>
          </a:lnRef>
          <a:fillRef idx="1">
            <a:schemeClr val="lt1"/>
          </a:fillRef>
          <a:effectRef idx="0">
            <a:schemeClr val="accent5"/>
          </a:effectRef>
          <a:fontRef idx="minor">
            <a:schemeClr val="dk1"/>
          </a:fontRef>
        </p:style>
        <p:txBody>
          <a:bodyPr rtlCol="0" anchor="ctr"/>
          <a:lstStyle/>
          <a:p>
            <a:pPr algn="ctr"/>
            <a:endParaRPr lang="sk-SK"/>
          </a:p>
        </p:txBody>
      </p:sp>
      <p:sp>
        <p:nvSpPr>
          <p:cNvPr id="14" name="TextBox 13">
            <a:extLst>
              <a:ext uri="{FF2B5EF4-FFF2-40B4-BE49-F238E27FC236}">
                <a16:creationId xmlns:a16="http://schemas.microsoft.com/office/drawing/2014/main" id="{AA74839E-30FC-8B17-492C-F4B9B75A624A}"/>
              </a:ext>
            </a:extLst>
          </p:cNvPr>
          <p:cNvSpPr txBox="1"/>
          <p:nvPr/>
        </p:nvSpPr>
        <p:spPr>
          <a:xfrm>
            <a:off x="8211311" y="1106675"/>
            <a:ext cx="1069849" cy="341632"/>
          </a:xfrm>
          <a:prstGeom prst="rect">
            <a:avLst/>
          </a:prstGeom>
          <a:solidFill>
            <a:schemeClr val="bg1">
              <a:alpha val="70000"/>
            </a:schemeClr>
          </a:solidFill>
        </p:spPr>
        <p:txBody>
          <a:bodyPr wrap="square">
            <a:sp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800" b="1" i="0" u="none" strike="noStrike" kern="1200" cap="none" spc="0" normalizeH="0" baseline="0" noProof="0" dirty="0">
                <a:ln>
                  <a:noFill/>
                </a:ln>
                <a:solidFill>
                  <a:schemeClr val="accent6"/>
                </a:solidFill>
                <a:effectLst/>
                <a:uLnTx/>
                <a:uFillTx/>
                <a:latin typeface="Arial" panose="020B0604020202020204"/>
                <a:ea typeface="+mn-ea"/>
                <a:cs typeface="+mn-cs"/>
              </a:rPr>
              <a:t>     51</a:t>
            </a:r>
          </a:p>
        </p:txBody>
      </p:sp>
      <p:sp>
        <p:nvSpPr>
          <p:cNvPr id="6" name="Rounded Rectangle 5"/>
          <p:cNvSpPr/>
          <p:nvPr/>
        </p:nvSpPr>
        <p:spPr>
          <a:xfrm>
            <a:off x="8211311" y="1102138"/>
            <a:ext cx="1069849" cy="326737"/>
          </a:xfrm>
          <a:prstGeom prst="roundRect">
            <a:avLst/>
          </a:prstGeom>
          <a:noFill/>
          <a:ln w="50800">
            <a:solidFill>
              <a:schemeClr val="accent5"/>
            </a:solidFill>
            <a:prstDash val="solid"/>
          </a:ln>
        </p:spPr>
        <p:style>
          <a:lnRef idx="2">
            <a:schemeClr val="accent5"/>
          </a:lnRef>
          <a:fillRef idx="1">
            <a:schemeClr val="lt1"/>
          </a:fillRef>
          <a:effectRef idx="0">
            <a:schemeClr val="accent5"/>
          </a:effectRef>
          <a:fontRef idx="minor">
            <a:schemeClr val="dk1"/>
          </a:fontRef>
        </p:style>
        <p:txBody>
          <a:bodyPr rtlCol="0" anchor="ctr"/>
          <a:lstStyle/>
          <a:p>
            <a:pPr algn="ctr"/>
            <a:endParaRPr lang="sk-SK"/>
          </a:p>
        </p:txBody>
      </p:sp>
      <p:cxnSp>
        <p:nvCxnSpPr>
          <p:cNvPr id="9" name="Straight Arrow Connector 8">
            <a:extLst>
              <a:ext uri="{FF2B5EF4-FFF2-40B4-BE49-F238E27FC236}">
                <a16:creationId xmlns:a16="http://schemas.microsoft.com/office/drawing/2014/main" id="{74649318-14AF-5E9F-2597-1A624286B145}"/>
              </a:ext>
            </a:extLst>
          </p:cNvPr>
          <p:cNvCxnSpPr>
            <a:cxnSpLocks/>
          </p:cNvCxnSpPr>
          <p:nvPr/>
        </p:nvCxnSpPr>
        <p:spPr>
          <a:xfrm flipH="1">
            <a:off x="6248261" y="3210337"/>
            <a:ext cx="419937" cy="11970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cxnSpLocks/>
          </p:cNvCxnSpPr>
          <p:nvPr/>
        </p:nvCxnSpPr>
        <p:spPr>
          <a:xfrm flipH="1">
            <a:off x="6210263" y="1494975"/>
            <a:ext cx="2454097" cy="1349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7511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7" grpId="0" animBg="1"/>
      <p:bldP spid="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1600" dirty="0"/>
              <a:t>IPv6 header</a:t>
            </a:r>
          </a:p>
          <a:p>
            <a:pPr lvl="1"/>
            <a:r>
              <a:rPr lang="en-US" sz="1600" b="1" dirty="0">
                <a:solidFill>
                  <a:schemeClr val="accent6"/>
                </a:solidFill>
              </a:rPr>
              <a:t>Next header</a:t>
            </a:r>
            <a:r>
              <a:rPr lang="en-US" sz="1600" dirty="0"/>
              <a:t>: 43 -&gt; Routing</a:t>
            </a:r>
          </a:p>
          <a:p>
            <a:r>
              <a:rPr lang="cs-CZ" sz="1600" dirty="0"/>
              <a:t>IPv6 </a:t>
            </a:r>
            <a:r>
              <a:rPr lang="cs-CZ" sz="1600" dirty="0" err="1"/>
              <a:t>Routing</a:t>
            </a:r>
            <a:r>
              <a:rPr lang="cs-CZ" sz="1600" dirty="0"/>
              <a:t> </a:t>
            </a:r>
            <a:r>
              <a:rPr lang="cs-CZ" sz="1600" dirty="0" err="1"/>
              <a:t>extension</a:t>
            </a:r>
            <a:r>
              <a:rPr lang="cs-CZ" sz="1600" dirty="0"/>
              <a:t> </a:t>
            </a:r>
            <a:r>
              <a:rPr lang="cs-CZ" sz="1600" dirty="0" err="1"/>
              <a:t>header</a:t>
            </a:r>
            <a:endParaRPr lang="en-US" sz="1600" dirty="0"/>
          </a:p>
          <a:p>
            <a:pPr lvl="1"/>
            <a:r>
              <a:rPr lang="cs-CZ" sz="1600" dirty="0" err="1"/>
              <a:t>Generic</a:t>
            </a:r>
            <a:r>
              <a:rPr lang="cs-CZ" sz="1600" dirty="0"/>
              <a:t> </a:t>
            </a:r>
            <a:r>
              <a:rPr lang="cs-CZ" sz="1600" dirty="0" err="1"/>
              <a:t>header</a:t>
            </a:r>
            <a:r>
              <a:rPr lang="cs-CZ" sz="1600" dirty="0"/>
              <a:t> </a:t>
            </a:r>
            <a:r>
              <a:rPr lang="cs-CZ" sz="1600" dirty="0" err="1"/>
              <a:t>format</a:t>
            </a:r>
            <a:r>
              <a:rPr lang="cs-CZ" sz="1600" dirty="0"/>
              <a:t> </a:t>
            </a:r>
            <a:r>
              <a:rPr lang="cs-CZ" sz="1600" dirty="0" err="1"/>
              <a:t>defined</a:t>
            </a:r>
            <a:r>
              <a:rPr lang="cs-CZ" sz="1600" dirty="0"/>
              <a:t> in RFC 2460</a:t>
            </a:r>
            <a:endParaRPr lang="en-US" sz="1600" dirty="0"/>
          </a:p>
          <a:p>
            <a:pPr lvl="2"/>
            <a:r>
              <a:rPr lang="cs-CZ" sz="1600" dirty="0" err="1">
                <a:solidFill>
                  <a:schemeClr val="tx2"/>
                </a:solidFill>
              </a:rPr>
              <a:t>Next</a:t>
            </a:r>
            <a:r>
              <a:rPr lang="cs-CZ" sz="1600" dirty="0">
                <a:solidFill>
                  <a:schemeClr val="tx2"/>
                </a:solidFill>
              </a:rPr>
              <a:t> </a:t>
            </a:r>
            <a:r>
              <a:rPr lang="cs-CZ" sz="1600" dirty="0" err="1">
                <a:solidFill>
                  <a:schemeClr val="tx2"/>
                </a:solidFill>
              </a:rPr>
              <a:t>Header</a:t>
            </a:r>
            <a:r>
              <a:rPr lang="cs-CZ" sz="1600" dirty="0"/>
              <a:t>: IPv4, TCP, UDP, ...</a:t>
            </a:r>
            <a:endParaRPr lang="en-US" sz="1600" dirty="0"/>
          </a:p>
          <a:p>
            <a:pPr lvl="2"/>
            <a:r>
              <a:rPr lang="cs-CZ" sz="1600" dirty="0" err="1">
                <a:solidFill>
                  <a:schemeClr val="accent2"/>
                </a:solidFill>
              </a:rPr>
              <a:t>Hdr</a:t>
            </a:r>
            <a:r>
              <a:rPr lang="en-US" sz="1600" dirty="0">
                <a:solidFill>
                  <a:schemeClr val="accent2"/>
                </a:solidFill>
              </a:rPr>
              <a:t> </a:t>
            </a:r>
            <a:r>
              <a:rPr lang="cs-CZ" sz="1600" dirty="0" err="1">
                <a:solidFill>
                  <a:schemeClr val="accent2"/>
                </a:solidFill>
              </a:rPr>
              <a:t>Ext</a:t>
            </a:r>
            <a:r>
              <a:rPr lang="cs-CZ" sz="1600" dirty="0">
                <a:solidFill>
                  <a:schemeClr val="accent2"/>
                </a:solidFill>
              </a:rPr>
              <a:t> Len</a:t>
            </a:r>
            <a:r>
              <a:rPr lang="cs-CZ" sz="1600" dirty="0"/>
              <a:t>: </a:t>
            </a:r>
            <a:r>
              <a:rPr lang="cs-CZ" sz="1600" dirty="0" err="1"/>
              <a:t>Any</a:t>
            </a:r>
            <a:r>
              <a:rPr lang="cs-CZ" sz="1600" dirty="0"/>
              <a:t> IPv6 </a:t>
            </a:r>
            <a:r>
              <a:rPr lang="cs-CZ" sz="1600" dirty="0" err="1"/>
              <a:t>device</a:t>
            </a:r>
            <a:r>
              <a:rPr lang="cs-CZ" sz="1600" dirty="0"/>
              <a:t> </a:t>
            </a:r>
            <a:r>
              <a:rPr lang="cs-CZ" sz="1600" dirty="0" err="1"/>
              <a:t>can</a:t>
            </a:r>
            <a:r>
              <a:rPr lang="cs-CZ" sz="1600" dirty="0"/>
              <a:t> skip </a:t>
            </a:r>
            <a:r>
              <a:rPr lang="cs-CZ" sz="1600" dirty="0" err="1"/>
              <a:t>this</a:t>
            </a:r>
            <a:r>
              <a:rPr lang="cs-CZ" sz="1600" dirty="0"/>
              <a:t> </a:t>
            </a:r>
            <a:r>
              <a:rPr lang="cs-CZ" sz="1600" dirty="0" err="1"/>
              <a:t>header</a:t>
            </a:r>
            <a:endParaRPr lang="en-US" sz="1600" dirty="0"/>
          </a:p>
          <a:p>
            <a:pPr lvl="2"/>
            <a:r>
              <a:rPr lang="cs-CZ" sz="1600" dirty="0" err="1">
                <a:solidFill>
                  <a:schemeClr val="accent5"/>
                </a:solidFill>
              </a:rPr>
              <a:t>Segments</a:t>
            </a:r>
            <a:r>
              <a:rPr lang="cs-CZ" sz="1600" dirty="0">
                <a:solidFill>
                  <a:schemeClr val="accent5"/>
                </a:solidFill>
              </a:rPr>
              <a:t> </a:t>
            </a:r>
            <a:r>
              <a:rPr lang="cs-CZ" sz="1600" dirty="0" err="1">
                <a:solidFill>
                  <a:schemeClr val="accent5"/>
                </a:solidFill>
              </a:rPr>
              <a:t>Left</a:t>
            </a:r>
            <a:r>
              <a:rPr lang="cs-CZ" sz="1600" dirty="0"/>
              <a:t>: </a:t>
            </a:r>
            <a:r>
              <a:rPr lang="cs-CZ" sz="1600" dirty="0" err="1"/>
              <a:t>Ignore</a:t>
            </a:r>
            <a:r>
              <a:rPr lang="cs-CZ" sz="1600" dirty="0"/>
              <a:t> </a:t>
            </a:r>
            <a:r>
              <a:rPr lang="cs-CZ" sz="1600" dirty="0" err="1"/>
              <a:t>extension</a:t>
            </a:r>
            <a:r>
              <a:rPr lang="cs-CZ" sz="1600" dirty="0"/>
              <a:t>  </a:t>
            </a:r>
            <a:r>
              <a:rPr lang="cs-CZ" sz="1600" dirty="0" err="1"/>
              <a:t>header</a:t>
            </a:r>
            <a:r>
              <a:rPr lang="cs-CZ" sz="1600" dirty="0"/>
              <a:t> </a:t>
            </a:r>
            <a:r>
              <a:rPr lang="cs-CZ" sz="1600" dirty="0" err="1"/>
              <a:t>if</a:t>
            </a:r>
            <a:r>
              <a:rPr lang="cs-CZ" sz="1600" dirty="0"/>
              <a:t> </a:t>
            </a:r>
            <a:r>
              <a:rPr lang="cs-CZ" sz="1600" dirty="0" err="1"/>
              <a:t>equal</a:t>
            </a:r>
            <a:r>
              <a:rPr lang="cs-CZ" sz="1600" dirty="0"/>
              <a:t> to 0</a:t>
            </a:r>
            <a:endParaRPr lang="en-US" sz="1600" dirty="0"/>
          </a:p>
          <a:p>
            <a:pPr lvl="1"/>
            <a:r>
              <a:rPr lang="cs-CZ" sz="1600" dirty="0" err="1"/>
              <a:t>Specific</a:t>
            </a:r>
            <a:r>
              <a:rPr lang="cs-CZ" sz="1600" dirty="0"/>
              <a:t> data </a:t>
            </a:r>
            <a:r>
              <a:rPr lang="cs-CZ" sz="1600" dirty="0" err="1"/>
              <a:t>depends</a:t>
            </a:r>
            <a:r>
              <a:rPr lang="cs-CZ" sz="1600" dirty="0"/>
              <a:t> on </a:t>
            </a:r>
            <a:r>
              <a:rPr lang="cs-CZ" sz="1600" b="1" dirty="0" err="1">
                <a:solidFill>
                  <a:schemeClr val="accent4"/>
                </a:solidFill>
              </a:rPr>
              <a:t>Routing</a:t>
            </a:r>
            <a:r>
              <a:rPr lang="cs-CZ" sz="1600" b="1" dirty="0">
                <a:solidFill>
                  <a:schemeClr val="accent4"/>
                </a:solidFill>
              </a:rPr>
              <a:t> Type </a:t>
            </a:r>
            <a:r>
              <a:rPr lang="cs-CZ" sz="1600" dirty="0" err="1"/>
              <a:t>field</a:t>
            </a:r>
            <a:r>
              <a:rPr lang="cs-CZ" sz="1600" dirty="0"/>
              <a:t>:</a:t>
            </a:r>
            <a:endParaRPr lang="en-US" sz="1600" dirty="0"/>
          </a:p>
          <a:p>
            <a:pPr lvl="2"/>
            <a:r>
              <a:rPr lang="cs-CZ" sz="1600" dirty="0"/>
              <a:t>0</a:t>
            </a:r>
            <a:r>
              <a:rPr lang="en-US" sz="1600" dirty="0"/>
              <a:t> - </a:t>
            </a:r>
            <a:r>
              <a:rPr lang="cs-CZ" sz="1600" dirty="0"/>
              <a:t>Source Route</a:t>
            </a:r>
            <a:r>
              <a:rPr lang="en-US" sz="1600" dirty="0"/>
              <a:t> </a:t>
            </a:r>
            <a:r>
              <a:rPr lang="cs-CZ" sz="1600" dirty="0"/>
              <a:t>(</a:t>
            </a:r>
            <a:r>
              <a:rPr lang="cs-CZ" sz="1600" dirty="0" err="1"/>
              <a:t>deprecated</a:t>
            </a:r>
            <a:r>
              <a:rPr lang="cs-CZ" sz="1600" dirty="0"/>
              <a:t> </a:t>
            </a:r>
            <a:r>
              <a:rPr lang="cs-CZ" sz="1600" dirty="0" err="1"/>
              <a:t>since</a:t>
            </a:r>
            <a:r>
              <a:rPr lang="cs-CZ" sz="1600" dirty="0"/>
              <a:t> 2007)</a:t>
            </a:r>
            <a:endParaRPr lang="en-US" sz="1600" dirty="0"/>
          </a:p>
          <a:p>
            <a:pPr lvl="2"/>
            <a:r>
              <a:rPr lang="cs-CZ" sz="1600" dirty="0"/>
              <a:t>1</a:t>
            </a:r>
            <a:r>
              <a:rPr lang="en-US" sz="1600" dirty="0"/>
              <a:t> – </a:t>
            </a:r>
            <a:r>
              <a:rPr lang="cs-CZ" sz="1600" dirty="0"/>
              <a:t>Nimrod</a:t>
            </a:r>
            <a:r>
              <a:rPr lang="en-US" sz="1600" dirty="0"/>
              <a:t> </a:t>
            </a:r>
            <a:r>
              <a:rPr lang="cs-CZ" sz="1600" dirty="0"/>
              <a:t>(</a:t>
            </a:r>
            <a:r>
              <a:rPr lang="cs-CZ" sz="1600" dirty="0" err="1"/>
              <a:t>deprecated</a:t>
            </a:r>
            <a:r>
              <a:rPr lang="cs-CZ" sz="1600" dirty="0"/>
              <a:t> </a:t>
            </a:r>
            <a:r>
              <a:rPr lang="cs-CZ" sz="1600" dirty="0" err="1"/>
              <a:t>since</a:t>
            </a:r>
            <a:r>
              <a:rPr lang="cs-CZ" sz="1600" dirty="0"/>
              <a:t> 2009)</a:t>
            </a:r>
            <a:endParaRPr lang="en-US" sz="1600" dirty="0"/>
          </a:p>
          <a:p>
            <a:pPr lvl="2"/>
            <a:r>
              <a:rPr lang="cs-CZ" sz="1600" dirty="0"/>
              <a:t>2</a:t>
            </a:r>
            <a:r>
              <a:rPr lang="en-US" sz="1600" dirty="0"/>
              <a:t> - </a:t>
            </a:r>
            <a:r>
              <a:rPr lang="cs-CZ" sz="1600" dirty="0"/>
              <a:t>Mobility (RFC 6275)</a:t>
            </a:r>
            <a:endParaRPr lang="en-US" sz="1600" dirty="0"/>
          </a:p>
          <a:p>
            <a:pPr lvl="2"/>
            <a:r>
              <a:rPr lang="en-US" sz="1600" dirty="0"/>
              <a:t>3 - </a:t>
            </a:r>
            <a:r>
              <a:rPr lang="cs-CZ" sz="1600" dirty="0"/>
              <a:t>RPL Source  Route (RFC 6554)</a:t>
            </a:r>
            <a:endParaRPr lang="en-US" sz="1600" dirty="0"/>
          </a:p>
          <a:p>
            <a:pPr lvl="2"/>
            <a:r>
              <a:rPr lang="en-US" sz="1600" b="1" dirty="0"/>
              <a:t>4 – Segment Routing</a:t>
            </a:r>
            <a:endParaRPr lang="cs-CZ" sz="1600" b="1" dirty="0"/>
          </a:p>
        </p:txBody>
      </p:sp>
      <p:sp>
        <p:nvSpPr>
          <p:cNvPr id="3" name="Text Placeholder 2"/>
          <p:cNvSpPr>
            <a:spLocks noGrp="1"/>
          </p:cNvSpPr>
          <p:nvPr>
            <p:ph type="body" sz="quarter" idx="11"/>
          </p:nvPr>
        </p:nvSpPr>
        <p:spPr/>
        <p:txBody>
          <a:bodyPr/>
          <a:lstStyle/>
          <a:p>
            <a:r>
              <a:rPr lang="cs-CZ" dirty="0"/>
              <a:t>IPv6 SR </a:t>
            </a:r>
            <a:r>
              <a:rPr lang="cs-CZ" dirty="0" err="1"/>
              <a:t>Header</a:t>
            </a:r>
            <a:endParaRPr lang="cs-CZ" dirty="0"/>
          </a:p>
        </p:txBody>
      </p:sp>
      <p:sp>
        <p:nvSpPr>
          <p:cNvPr id="4" name="Text Placeholder 3"/>
          <p:cNvSpPr>
            <a:spLocks noGrp="1"/>
          </p:cNvSpPr>
          <p:nvPr>
            <p:ph type="body" sz="quarter" idx="12"/>
          </p:nvPr>
        </p:nvSpPr>
        <p:spPr/>
        <p:txBody>
          <a:bodyPr/>
          <a:lstStyle/>
          <a:p>
            <a:pPr marL="0" indent="0">
              <a:spcBef>
                <a:spcPts val="0"/>
              </a:spcBef>
              <a:buNone/>
            </a:pPr>
            <a:r>
              <a:rPr lang="en-US" sz="1200" dirty="0">
                <a:latin typeface="Consolas" panose="020B0609020204030204" pitchFamily="49" charset="0"/>
              </a:rPr>
              <a:t> </a:t>
            </a:r>
            <a:r>
              <a:rPr lang="cs-CZ" sz="1200" dirty="0">
                <a:latin typeface="Consolas" panose="020B0609020204030204" pitchFamily="49" charset="0"/>
              </a:rPr>
              <a:t>0 </a:t>
            </a:r>
            <a:r>
              <a:rPr lang="en-US" sz="1200" dirty="0">
                <a:latin typeface="Consolas" panose="020B0609020204030204" pitchFamily="49" charset="0"/>
              </a:rPr>
              <a:t>                  </a:t>
            </a:r>
            <a:r>
              <a:rPr lang="cs-CZ" sz="1200" dirty="0">
                <a:latin typeface="Consolas" panose="020B0609020204030204" pitchFamily="49" charset="0"/>
              </a:rPr>
              <a:t>1 </a:t>
            </a:r>
            <a:r>
              <a:rPr lang="en-US" sz="1200" dirty="0">
                <a:latin typeface="Consolas" panose="020B0609020204030204" pitchFamily="49" charset="0"/>
              </a:rPr>
              <a:t>                  </a:t>
            </a:r>
            <a:r>
              <a:rPr lang="cs-CZ" sz="1200" dirty="0">
                <a:latin typeface="Consolas" panose="020B0609020204030204" pitchFamily="49" charset="0"/>
              </a:rPr>
              <a:t>2 </a:t>
            </a:r>
            <a:r>
              <a:rPr lang="en-US" sz="1200" dirty="0">
                <a:latin typeface="Consolas" panose="020B0609020204030204" pitchFamily="49" charset="0"/>
              </a:rPr>
              <a:t>                  </a:t>
            </a:r>
            <a:r>
              <a:rPr lang="cs-CZ" sz="1200" dirty="0">
                <a:latin typeface="Consolas" panose="020B0609020204030204" pitchFamily="49" charset="0"/>
              </a:rPr>
              <a:t>3</a:t>
            </a:r>
            <a:endParaRPr lang="en-US" sz="1200" dirty="0">
              <a:latin typeface="Consolas" panose="020B0609020204030204" pitchFamily="49" charset="0"/>
            </a:endParaRPr>
          </a:p>
          <a:p>
            <a:pPr marL="0" indent="0">
              <a:spcBef>
                <a:spcPts val="0"/>
              </a:spcBef>
              <a:buNone/>
            </a:pPr>
            <a:r>
              <a:rPr lang="en-US" sz="1200" dirty="0">
                <a:latin typeface="Consolas" panose="020B0609020204030204" pitchFamily="49" charset="0"/>
              </a:rPr>
              <a:t> </a:t>
            </a:r>
            <a:r>
              <a:rPr lang="cs-CZ" sz="1200" dirty="0">
                <a:latin typeface="Consolas" panose="020B0609020204030204" pitchFamily="49" charset="0"/>
              </a:rPr>
              <a:t>0 1 2 3 4 5 6 7 8 9 0 1 2 3 4 5 6 7 8 9 0 1 2 3 4 5 6 7 8 9 0 1</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cs-CZ" sz="1200" dirty="0" err="1">
                <a:latin typeface="Consolas" panose="020B0609020204030204" pitchFamily="49" charset="0"/>
              </a:rPr>
              <a:t>Version</a:t>
            </a:r>
            <a:r>
              <a:rPr lang="cs-CZ" sz="1200" dirty="0">
                <a:latin typeface="Consolas" panose="020B0609020204030204" pitchFamily="49" charset="0"/>
              </a:rPr>
              <a:t>| </a:t>
            </a:r>
            <a:r>
              <a:rPr lang="cs-CZ" sz="1200" dirty="0" err="1">
                <a:latin typeface="Consolas" panose="020B0609020204030204" pitchFamily="49" charset="0"/>
              </a:rPr>
              <a:t>Traffic</a:t>
            </a:r>
            <a:r>
              <a:rPr lang="cs-CZ" sz="1200" dirty="0">
                <a:latin typeface="Consolas" panose="020B0609020204030204" pitchFamily="49" charset="0"/>
              </a:rPr>
              <a:t> </a:t>
            </a:r>
            <a:r>
              <a:rPr lang="cs-CZ" sz="1200" dirty="0" err="1">
                <a:latin typeface="Consolas" panose="020B0609020204030204" pitchFamily="49" charset="0"/>
              </a:rPr>
              <a:t>Class</a:t>
            </a:r>
            <a:r>
              <a:rPr lang="cs-CZ" sz="1200" dirty="0">
                <a:latin typeface="Consolas" panose="020B0609020204030204" pitchFamily="49" charset="0"/>
              </a:rPr>
              <a:t> | </a:t>
            </a:r>
            <a:r>
              <a:rPr lang="en-US" sz="1200" dirty="0">
                <a:latin typeface="Consolas" panose="020B0609020204030204" pitchFamily="49" charset="0"/>
              </a:rPr>
              <a:t>           </a:t>
            </a:r>
            <a:r>
              <a:rPr lang="cs-CZ" sz="1200" dirty="0" err="1">
                <a:latin typeface="Consolas" panose="020B0609020204030204" pitchFamily="49" charset="0"/>
              </a:rPr>
              <a:t>Flow</a:t>
            </a:r>
            <a:r>
              <a:rPr lang="cs-CZ" sz="1200" dirty="0">
                <a:latin typeface="Consolas" panose="020B0609020204030204" pitchFamily="49" charset="0"/>
              </a:rPr>
              <a:t> Label</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err="1">
                <a:latin typeface="Consolas" panose="020B0609020204030204" pitchFamily="49" charset="0"/>
              </a:rPr>
              <a:t>Payload</a:t>
            </a:r>
            <a:r>
              <a:rPr lang="cs-CZ" sz="1200" dirty="0">
                <a:latin typeface="Consolas" panose="020B0609020204030204" pitchFamily="49" charset="0"/>
              </a:rPr>
              <a:t> </a:t>
            </a:r>
            <a:r>
              <a:rPr lang="cs-CZ" sz="1200" dirty="0" err="1">
                <a:latin typeface="Consolas" panose="020B0609020204030204" pitchFamily="49" charset="0"/>
              </a:rPr>
              <a:t>Length</a:t>
            </a:r>
            <a:r>
              <a:rPr lang="en-US" sz="1200" dirty="0">
                <a:latin typeface="Consolas" panose="020B0609020204030204" pitchFamily="49" charset="0"/>
              </a:rPr>
              <a:t>         </a:t>
            </a:r>
            <a:r>
              <a:rPr lang="cs-CZ" sz="1200" dirty="0">
                <a:latin typeface="Consolas" panose="020B0609020204030204" pitchFamily="49" charset="0"/>
              </a:rPr>
              <a:t>|</a:t>
            </a:r>
            <a:r>
              <a:rPr lang="en-US" sz="1200" dirty="0">
                <a:latin typeface="Consolas" panose="020B0609020204030204" pitchFamily="49" charset="0"/>
              </a:rPr>
              <a:t>      </a:t>
            </a:r>
            <a:r>
              <a:rPr lang="en-US" sz="1200" b="1" dirty="0">
                <a:solidFill>
                  <a:schemeClr val="accent6"/>
                </a:solidFill>
                <a:latin typeface="Consolas" panose="020B0609020204030204" pitchFamily="49" charset="0"/>
              </a:rPr>
              <a:t>43       </a:t>
            </a: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Hop Limit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Source </a:t>
            </a:r>
            <a:r>
              <a:rPr lang="cs-CZ" sz="1200" dirty="0" err="1">
                <a:latin typeface="Consolas" panose="020B0609020204030204" pitchFamily="49" charset="0"/>
              </a:rPr>
              <a:t>Address</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r>
              <a:rPr lang="cs-CZ" sz="1200" dirty="0" err="1">
                <a:latin typeface="Consolas" panose="020B0609020204030204" pitchFamily="49" charset="0"/>
              </a:rPr>
              <a:t>Destination</a:t>
            </a:r>
            <a:r>
              <a:rPr lang="cs-CZ" sz="1200" dirty="0">
                <a:latin typeface="Consolas" panose="020B0609020204030204" pitchFamily="49" charset="0"/>
              </a:rPr>
              <a:t> </a:t>
            </a:r>
            <a:r>
              <a:rPr lang="cs-CZ" sz="1200" dirty="0" err="1">
                <a:latin typeface="Consolas" panose="020B0609020204030204" pitchFamily="49" charset="0"/>
              </a:rPr>
              <a:t>Address</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r>
              <a:rPr lang="cs-CZ" sz="1200" dirty="0">
                <a:latin typeface="Consolas" panose="020B0609020204030204" pitchFamily="49" charset="0"/>
              </a:rPr>
              <a:t> |</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r>
              <a:rPr lang="en-US" sz="1200" dirty="0">
                <a:latin typeface="Consolas" panose="020B0609020204030204" pitchFamily="49" charset="0"/>
              </a:rPr>
              <a:t>  </a:t>
            </a:r>
            <a:r>
              <a:rPr lang="en-US" sz="1200" b="1" dirty="0">
                <a:solidFill>
                  <a:schemeClr val="tx2"/>
                </a:solidFill>
                <a:latin typeface="Consolas" panose="020B0609020204030204" pitchFamily="49" charset="0"/>
              </a:rPr>
              <a:t>Next Header  </a:t>
            </a:r>
            <a:r>
              <a:rPr lang="en-US" sz="1200" dirty="0">
                <a:latin typeface="Consolas" panose="020B0609020204030204" pitchFamily="49" charset="0"/>
              </a:rPr>
              <a:t>| </a:t>
            </a:r>
            <a:r>
              <a:rPr lang="en-US" sz="1200" b="1" dirty="0" err="1">
                <a:solidFill>
                  <a:schemeClr val="accent2"/>
                </a:solidFill>
                <a:latin typeface="Consolas" panose="020B0609020204030204" pitchFamily="49" charset="0"/>
              </a:rPr>
              <a:t>Hdr</a:t>
            </a:r>
            <a:r>
              <a:rPr lang="en-US" sz="1200" b="1" dirty="0">
                <a:solidFill>
                  <a:schemeClr val="accent2"/>
                </a:solidFill>
                <a:latin typeface="Consolas" panose="020B0609020204030204" pitchFamily="49" charset="0"/>
              </a:rPr>
              <a:t> Ext Len   </a:t>
            </a:r>
            <a:r>
              <a:rPr lang="en-US" sz="1200" dirty="0">
                <a:latin typeface="Consolas" panose="020B0609020204030204" pitchFamily="49" charset="0"/>
              </a:rPr>
              <a:t>| </a:t>
            </a:r>
            <a:r>
              <a:rPr lang="en-US" sz="1200" b="1" dirty="0">
                <a:solidFill>
                  <a:schemeClr val="accent4"/>
                </a:solidFill>
                <a:latin typeface="Consolas" panose="020B0609020204030204" pitchFamily="49" charset="0"/>
              </a:rPr>
              <a:t>Routing Type  </a:t>
            </a:r>
            <a:r>
              <a:rPr lang="en-US" sz="1200" dirty="0">
                <a:latin typeface="Consolas" panose="020B0609020204030204" pitchFamily="49" charset="0"/>
              </a:rPr>
              <a:t>| </a:t>
            </a:r>
            <a:r>
              <a:rPr lang="en-US" sz="1200" b="1" dirty="0">
                <a:solidFill>
                  <a:schemeClr val="accent5"/>
                </a:solidFill>
                <a:latin typeface="Consolas" panose="020B0609020204030204" pitchFamily="49" charset="0"/>
              </a:rPr>
              <a:t>Segments Left</a:t>
            </a:r>
            <a:r>
              <a:rPr lang="en-US" sz="1200" dirty="0">
                <a:solidFill>
                  <a:schemeClr val="accent5"/>
                </a:solidFill>
                <a:latin typeface="Consolas" panose="020B0609020204030204" pitchFamily="49" charset="0"/>
              </a:rPr>
              <a:t> </a:t>
            </a:r>
            <a:r>
              <a:rPr lang="cs-CZ" sz="1200" dirty="0">
                <a:latin typeface="Consolas" panose="020B0609020204030204" pitchFamily="49" charset="0"/>
              </a:rPr>
              <a:t>| </a:t>
            </a:r>
            <a:r>
              <a:rPr lang="en-US" sz="1200" dirty="0">
                <a:latin typeface="Consolas" panose="020B0609020204030204" pitchFamily="49" charset="0"/>
              </a:rPr>
              <a:t>      </a:t>
            </a: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en-US" sz="1200" dirty="0">
                <a:latin typeface="Consolas" panose="020B0609020204030204" pitchFamily="49" charset="0"/>
              </a:rPr>
              <a:t>.                                                               .</a:t>
            </a:r>
          </a:p>
          <a:p>
            <a:pPr marL="0" indent="0">
              <a:spcBef>
                <a:spcPts val="0"/>
              </a:spcBef>
              <a:buNone/>
            </a:pPr>
            <a:r>
              <a:rPr lang="en-US" sz="1200" dirty="0">
                <a:latin typeface="Consolas" panose="020B0609020204030204" pitchFamily="49" charset="0"/>
              </a:rPr>
              <a:t>.                      Type-specific data                       .</a:t>
            </a:r>
          </a:p>
          <a:p>
            <a:pPr marL="0" indent="0">
              <a:spcBef>
                <a:spcPts val="0"/>
              </a:spcBef>
              <a:buNone/>
            </a:pPr>
            <a:r>
              <a:rPr lang="en-US" sz="1200" dirty="0">
                <a:latin typeface="Consolas" panose="020B0609020204030204" pitchFamily="49" charset="0"/>
              </a:rPr>
              <a:t>.                                                               .</a:t>
            </a:r>
          </a:p>
          <a:p>
            <a:pPr marL="0" indent="0">
              <a:spcBef>
                <a:spcPts val="0"/>
              </a:spcBef>
              <a:buNone/>
            </a:pPr>
            <a:r>
              <a:rPr lang="cs-CZ" sz="1200" dirty="0">
                <a:latin typeface="Consolas" panose="020B0609020204030204" pitchFamily="49" charset="0"/>
              </a:rPr>
              <a:t>| </a:t>
            </a:r>
            <a:r>
              <a:rPr lang="en-US" sz="1200" dirty="0">
                <a:latin typeface="Consolas" panose="020B0609020204030204" pitchFamily="49" charset="0"/>
              </a:rPr>
              <a:t>                                                              </a:t>
            </a:r>
            <a:r>
              <a:rPr lang="cs-CZ" sz="1200" dirty="0">
                <a:latin typeface="Consolas" panose="020B0609020204030204" pitchFamily="49" charset="0"/>
              </a:rPr>
              <a:t>|</a:t>
            </a:r>
            <a:endParaRPr lang="en-US" sz="1200" dirty="0">
              <a:latin typeface="Consolas" panose="020B0609020204030204" pitchFamily="49" charset="0"/>
            </a:endParaRPr>
          </a:p>
          <a:p>
            <a:pPr marL="0" indent="0">
              <a:spcBef>
                <a:spcPts val="0"/>
              </a:spcBef>
              <a:buNone/>
            </a:pPr>
            <a:r>
              <a:rPr lang="cs-CZ" sz="1200" dirty="0">
                <a:latin typeface="Consolas" panose="020B0609020204030204" pitchFamily="49" charset="0"/>
              </a:rPr>
              <a:t>+-+-+-+-+-+-+-+-+-+-+-+-+-+-+-+-+-+-+-+-+-+-+-+-+-+-+-+-+-+-+-+-+</a:t>
            </a:r>
            <a:endParaRPr lang="en-US" sz="1200" dirty="0">
              <a:latin typeface="Consolas" panose="020B0609020204030204" pitchFamily="49" charset="0"/>
            </a:endParaRPr>
          </a:p>
        </p:txBody>
      </p:sp>
      <p:sp>
        <p:nvSpPr>
          <p:cNvPr id="6" name="Rounded Rectangle 5"/>
          <p:cNvSpPr/>
          <p:nvPr/>
        </p:nvSpPr>
        <p:spPr>
          <a:xfrm>
            <a:off x="8905551" y="1798797"/>
            <a:ext cx="1349737" cy="367687"/>
          </a:xfrm>
          <a:prstGeom prst="roundRect">
            <a:avLst/>
          </a:prstGeom>
          <a:noFill/>
          <a:ln w="50800">
            <a:solidFill>
              <a:schemeClr val="accent5"/>
            </a:solidFill>
            <a:prstDash val="solid"/>
          </a:ln>
        </p:spPr>
        <p:style>
          <a:lnRef idx="2">
            <a:schemeClr val="accent5"/>
          </a:lnRef>
          <a:fillRef idx="1">
            <a:schemeClr val="lt1"/>
          </a:fillRef>
          <a:effectRef idx="0">
            <a:schemeClr val="accent5"/>
          </a:effectRef>
          <a:fontRef idx="minor">
            <a:schemeClr val="dk1"/>
          </a:fontRef>
        </p:style>
        <p:txBody>
          <a:bodyPr rtlCol="0" anchor="ctr"/>
          <a:lstStyle/>
          <a:p>
            <a:pPr algn="ctr"/>
            <a:endParaRPr lang="sk-SK"/>
          </a:p>
        </p:txBody>
      </p:sp>
      <p:cxnSp>
        <p:nvCxnSpPr>
          <p:cNvPr id="8" name="Straight Arrow Connector 7"/>
          <p:cNvCxnSpPr/>
          <p:nvPr/>
        </p:nvCxnSpPr>
        <p:spPr>
          <a:xfrm flipH="1">
            <a:off x="6157969" y="2135311"/>
            <a:ext cx="3369578" cy="20291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ounded Rectangle 8"/>
          <p:cNvSpPr/>
          <p:nvPr/>
        </p:nvSpPr>
        <p:spPr>
          <a:xfrm>
            <a:off x="8905551" y="4186283"/>
            <a:ext cx="1349737" cy="367687"/>
          </a:xfrm>
          <a:prstGeom prst="roundRect">
            <a:avLst/>
          </a:prstGeom>
          <a:noFill/>
          <a:ln w="50800">
            <a:solidFill>
              <a:schemeClr val="accent4"/>
            </a:solidFill>
            <a:prstDash val="solid"/>
          </a:ln>
        </p:spPr>
        <p:style>
          <a:lnRef idx="2">
            <a:schemeClr val="accent5"/>
          </a:lnRef>
          <a:fillRef idx="1">
            <a:schemeClr val="lt1"/>
          </a:fillRef>
          <a:effectRef idx="0">
            <a:schemeClr val="accent5"/>
          </a:effectRef>
          <a:fontRef idx="minor">
            <a:schemeClr val="dk1"/>
          </a:fontRef>
        </p:style>
        <p:txBody>
          <a:bodyPr rtlCol="0" anchor="ctr"/>
          <a:lstStyle/>
          <a:p>
            <a:pPr algn="ctr"/>
            <a:endParaRPr lang="sk-SK"/>
          </a:p>
        </p:txBody>
      </p:sp>
      <p:sp>
        <p:nvSpPr>
          <p:cNvPr id="10" name="Rounded Rectangle 9"/>
          <p:cNvSpPr/>
          <p:nvPr/>
        </p:nvSpPr>
        <p:spPr>
          <a:xfrm>
            <a:off x="6095999" y="4519795"/>
            <a:ext cx="5618481" cy="1116973"/>
          </a:xfrm>
          <a:prstGeom prst="roundRect">
            <a:avLst/>
          </a:prstGeom>
          <a:noFill/>
          <a:ln w="25400">
            <a:solidFill>
              <a:schemeClr val="accent4"/>
            </a:solidFill>
            <a:prstDash val="solid"/>
          </a:ln>
        </p:spPr>
        <p:style>
          <a:lnRef idx="2">
            <a:schemeClr val="accent5"/>
          </a:lnRef>
          <a:fillRef idx="1">
            <a:schemeClr val="lt1"/>
          </a:fillRef>
          <a:effectRef idx="0">
            <a:schemeClr val="accent5"/>
          </a:effectRef>
          <a:fontRef idx="minor">
            <a:schemeClr val="dk1"/>
          </a:fontRef>
        </p:style>
        <p:txBody>
          <a:bodyPr rtlCol="0" anchor="ctr"/>
          <a:lstStyle/>
          <a:p>
            <a:pPr algn="ctr"/>
            <a:endParaRPr lang="sk-SK"/>
          </a:p>
        </p:txBody>
      </p:sp>
    </p:spTree>
    <p:extLst>
      <p:ext uri="{BB962C8B-B14F-4D97-AF65-F5344CB8AC3E}">
        <p14:creationId xmlns:p14="http://schemas.microsoft.com/office/powerpoint/2010/main" val="3662213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1600" dirty="0"/>
              <a:t>IPv6 header</a:t>
            </a:r>
          </a:p>
          <a:p>
            <a:pPr lvl="1"/>
            <a:r>
              <a:rPr lang="en-US" sz="1600" b="1" dirty="0">
                <a:solidFill>
                  <a:schemeClr val="accent6"/>
                </a:solidFill>
              </a:rPr>
              <a:t>Next header</a:t>
            </a:r>
            <a:r>
              <a:rPr lang="en-US" sz="1600" dirty="0"/>
              <a:t>: 43 -&gt; Routing</a:t>
            </a:r>
          </a:p>
          <a:p>
            <a:r>
              <a:rPr lang="cs-CZ" sz="1600" dirty="0"/>
              <a:t>IPv6 </a:t>
            </a:r>
            <a:r>
              <a:rPr lang="cs-CZ" sz="1600" dirty="0" err="1"/>
              <a:t>Routing</a:t>
            </a:r>
            <a:r>
              <a:rPr lang="cs-CZ" sz="1600" dirty="0"/>
              <a:t> </a:t>
            </a:r>
            <a:r>
              <a:rPr lang="cs-CZ" sz="1600" dirty="0" err="1"/>
              <a:t>extension</a:t>
            </a:r>
            <a:r>
              <a:rPr lang="cs-CZ" sz="1600" dirty="0"/>
              <a:t> </a:t>
            </a:r>
            <a:r>
              <a:rPr lang="cs-CZ" sz="1600" dirty="0" err="1"/>
              <a:t>header</a:t>
            </a:r>
            <a:endParaRPr lang="en-US" sz="1600" dirty="0"/>
          </a:p>
          <a:p>
            <a:pPr lvl="1"/>
            <a:r>
              <a:rPr lang="cs-CZ" sz="1600" dirty="0" err="1"/>
              <a:t>Generic</a:t>
            </a:r>
            <a:r>
              <a:rPr lang="cs-CZ" sz="1600" dirty="0"/>
              <a:t> </a:t>
            </a:r>
            <a:r>
              <a:rPr lang="cs-CZ" sz="1600" dirty="0" err="1"/>
              <a:t>header</a:t>
            </a:r>
            <a:r>
              <a:rPr lang="cs-CZ" sz="1600" dirty="0"/>
              <a:t> </a:t>
            </a:r>
            <a:r>
              <a:rPr lang="cs-CZ" sz="1600" dirty="0" err="1"/>
              <a:t>format</a:t>
            </a:r>
            <a:r>
              <a:rPr lang="cs-CZ" sz="1600" dirty="0"/>
              <a:t> </a:t>
            </a:r>
            <a:r>
              <a:rPr lang="cs-CZ" sz="1600" dirty="0" err="1"/>
              <a:t>defined</a:t>
            </a:r>
            <a:r>
              <a:rPr lang="cs-CZ" sz="1600" dirty="0"/>
              <a:t> in RFC 2460</a:t>
            </a:r>
            <a:endParaRPr lang="en-US" sz="1600" dirty="0"/>
          </a:p>
          <a:p>
            <a:pPr lvl="2"/>
            <a:r>
              <a:rPr lang="cs-CZ" sz="1600" dirty="0" err="1">
                <a:solidFill>
                  <a:schemeClr val="tx2"/>
                </a:solidFill>
              </a:rPr>
              <a:t>Next</a:t>
            </a:r>
            <a:r>
              <a:rPr lang="cs-CZ" sz="1600" dirty="0">
                <a:solidFill>
                  <a:schemeClr val="tx2"/>
                </a:solidFill>
              </a:rPr>
              <a:t> </a:t>
            </a:r>
            <a:r>
              <a:rPr lang="cs-CZ" sz="1600" dirty="0" err="1">
                <a:solidFill>
                  <a:schemeClr val="tx2"/>
                </a:solidFill>
              </a:rPr>
              <a:t>Header</a:t>
            </a:r>
            <a:r>
              <a:rPr lang="cs-CZ" sz="1600" dirty="0"/>
              <a:t>: IPv4, TCP, UDP, ...</a:t>
            </a:r>
            <a:endParaRPr lang="en-US" sz="1600" dirty="0"/>
          </a:p>
          <a:p>
            <a:pPr lvl="2"/>
            <a:r>
              <a:rPr lang="cs-CZ" sz="1600" dirty="0" err="1">
                <a:solidFill>
                  <a:schemeClr val="accent2"/>
                </a:solidFill>
              </a:rPr>
              <a:t>Hdr</a:t>
            </a:r>
            <a:r>
              <a:rPr lang="en-US" sz="1600" dirty="0">
                <a:solidFill>
                  <a:schemeClr val="accent2"/>
                </a:solidFill>
              </a:rPr>
              <a:t> </a:t>
            </a:r>
            <a:r>
              <a:rPr lang="cs-CZ" sz="1600" dirty="0" err="1">
                <a:solidFill>
                  <a:schemeClr val="accent2"/>
                </a:solidFill>
              </a:rPr>
              <a:t>Ext</a:t>
            </a:r>
            <a:r>
              <a:rPr lang="cs-CZ" sz="1600" dirty="0">
                <a:solidFill>
                  <a:schemeClr val="accent2"/>
                </a:solidFill>
              </a:rPr>
              <a:t> Len</a:t>
            </a:r>
            <a:r>
              <a:rPr lang="cs-CZ" sz="1600" dirty="0"/>
              <a:t>: </a:t>
            </a:r>
            <a:r>
              <a:rPr lang="cs-CZ" sz="1600" dirty="0" err="1"/>
              <a:t>Any</a:t>
            </a:r>
            <a:r>
              <a:rPr lang="cs-CZ" sz="1600" dirty="0"/>
              <a:t> IPv6 </a:t>
            </a:r>
            <a:r>
              <a:rPr lang="cs-CZ" sz="1600" dirty="0" err="1"/>
              <a:t>device</a:t>
            </a:r>
            <a:r>
              <a:rPr lang="cs-CZ" sz="1600" dirty="0"/>
              <a:t> </a:t>
            </a:r>
            <a:r>
              <a:rPr lang="cs-CZ" sz="1600" dirty="0" err="1"/>
              <a:t>can</a:t>
            </a:r>
            <a:r>
              <a:rPr lang="cs-CZ" sz="1600" dirty="0"/>
              <a:t> skip </a:t>
            </a:r>
            <a:r>
              <a:rPr lang="cs-CZ" sz="1600" dirty="0" err="1"/>
              <a:t>this</a:t>
            </a:r>
            <a:r>
              <a:rPr lang="cs-CZ" sz="1600" dirty="0"/>
              <a:t> </a:t>
            </a:r>
            <a:r>
              <a:rPr lang="cs-CZ" sz="1600" dirty="0" err="1"/>
              <a:t>header</a:t>
            </a:r>
            <a:endParaRPr lang="en-US" sz="1600" dirty="0"/>
          </a:p>
          <a:p>
            <a:pPr lvl="2"/>
            <a:r>
              <a:rPr lang="cs-CZ" sz="1600" dirty="0" err="1">
                <a:solidFill>
                  <a:schemeClr val="accent5"/>
                </a:solidFill>
              </a:rPr>
              <a:t>Segments</a:t>
            </a:r>
            <a:r>
              <a:rPr lang="cs-CZ" sz="1600" dirty="0">
                <a:solidFill>
                  <a:schemeClr val="accent5"/>
                </a:solidFill>
              </a:rPr>
              <a:t> </a:t>
            </a:r>
            <a:r>
              <a:rPr lang="cs-CZ" sz="1600" dirty="0" err="1">
                <a:solidFill>
                  <a:schemeClr val="accent5"/>
                </a:solidFill>
              </a:rPr>
              <a:t>Left</a:t>
            </a:r>
            <a:r>
              <a:rPr lang="cs-CZ" sz="1600" dirty="0"/>
              <a:t>: </a:t>
            </a:r>
            <a:r>
              <a:rPr lang="cs-CZ" sz="1600" dirty="0" err="1"/>
              <a:t>Ignore</a:t>
            </a:r>
            <a:r>
              <a:rPr lang="cs-CZ" sz="1600" dirty="0"/>
              <a:t> </a:t>
            </a:r>
            <a:r>
              <a:rPr lang="cs-CZ" sz="1600" dirty="0" err="1"/>
              <a:t>extension</a:t>
            </a:r>
            <a:r>
              <a:rPr lang="cs-CZ" sz="1600" dirty="0"/>
              <a:t>  </a:t>
            </a:r>
            <a:r>
              <a:rPr lang="cs-CZ" sz="1600" dirty="0" err="1"/>
              <a:t>header</a:t>
            </a:r>
            <a:r>
              <a:rPr lang="cs-CZ" sz="1600" dirty="0"/>
              <a:t> </a:t>
            </a:r>
            <a:r>
              <a:rPr lang="cs-CZ" sz="1600" dirty="0" err="1"/>
              <a:t>if</a:t>
            </a:r>
            <a:r>
              <a:rPr lang="cs-CZ" sz="1600" dirty="0"/>
              <a:t> </a:t>
            </a:r>
            <a:r>
              <a:rPr lang="cs-CZ" sz="1600" dirty="0" err="1"/>
              <a:t>equal</a:t>
            </a:r>
            <a:r>
              <a:rPr lang="cs-CZ" sz="1600" dirty="0"/>
              <a:t> to 0</a:t>
            </a:r>
            <a:endParaRPr lang="en-US" sz="1600" dirty="0"/>
          </a:p>
          <a:p>
            <a:pPr lvl="1"/>
            <a:r>
              <a:rPr lang="cs-CZ" sz="1600" dirty="0" err="1"/>
              <a:t>Specific</a:t>
            </a:r>
            <a:r>
              <a:rPr lang="cs-CZ" sz="1600" dirty="0"/>
              <a:t> data </a:t>
            </a:r>
            <a:r>
              <a:rPr lang="cs-CZ" sz="1600" dirty="0" err="1"/>
              <a:t>depends</a:t>
            </a:r>
            <a:r>
              <a:rPr lang="cs-CZ" sz="1600" dirty="0"/>
              <a:t> on </a:t>
            </a:r>
            <a:r>
              <a:rPr lang="cs-CZ" sz="1600" b="1" dirty="0" err="1">
                <a:solidFill>
                  <a:schemeClr val="accent4"/>
                </a:solidFill>
              </a:rPr>
              <a:t>Routing</a:t>
            </a:r>
            <a:r>
              <a:rPr lang="cs-CZ" sz="1600" b="1" dirty="0">
                <a:solidFill>
                  <a:schemeClr val="accent4"/>
                </a:solidFill>
              </a:rPr>
              <a:t> Type </a:t>
            </a:r>
            <a:r>
              <a:rPr lang="cs-CZ" sz="1600" dirty="0" err="1"/>
              <a:t>field</a:t>
            </a:r>
            <a:r>
              <a:rPr lang="cs-CZ" sz="1600" dirty="0"/>
              <a:t>:</a:t>
            </a:r>
            <a:endParaRPr lang="en-US" sz="1600" dirty="0"/>
          </a:p>
          <a:p>
            <a:pPr lvl="2"/>
            <a:r>
              <a:rPr lang="cs-CZ" sz="1600" dirty="0"/>
              <a:t>0</a:t>
            </a:r>
            <a:r>
              <a:rPr lang="en-US" sz="1600" dirty="0"/>
              <a:t> - </a:t>
            </a:r>
            <a:r>
              <a:rPr lang="cs-CZ" sz="1600" dirty="0"/>
              <a:t>Source Route</a:t>
            </a:r>
            <a:r>
              <a:rPr lang="en-US" sz="1600" dirty="0"/>
              <a:t> </a:t>
            </a:r>
            <a:r>
              <a:rPr lang="cs-CZ" sz="1600" dirty="0"/>
              <a:t>(</a:t>
            </a:r>
            <a:r>
              <a:rPr lang="cs-CZ" sz="1600" dirty="0" err="1"/>
              <a:t>deprecated</a:t>
            </a:r>
            <a:r>
              <a:rPr lang="cs-CZ" sz="1600" dirty="0"/>
              <a:t> </a:t>
            </a:r>
            <a:r>
              <a:rPr lang="cs-CZ" sz="1600" dirty="0" err="1"/>
              <a:t>since</a:t>
            </a:r>
            <a:r>
              <a:rPr lang="cs-CZ" sz="1600" dirty="0"/>
              <a:t> 2007)</a:t>
            </a:r>
            <a:endParaRPr lang="en-US" sz="1600" dirty="0"/>
          </a:p>
          <a:p>
            <a:pPr lvl="2"/>
            <a:r>
              <a:rPr lang="cs-CZ" sz="1600" dirty="0"/>
              <a:t>1</a:t>
            </a:r>
            <a:r>
              <a:rPr lang="en-US" sz="1600" dirty="0"/>
              <a:t> – </a:t>
            </a:r>
            <a:r>
              <a:rPr lang="cs-CZ" sz="1600" dirty="0"/>
              <a:t>Nimrod</a:t>
            </a:r>
            <a:r>
              <a:rPr lang="en-US" sz="1600" dirty="0"/>
              <a:t> </a:t>
            </a:r>
            <a:r>
              <a:rPr lang="cs-CZ" sz="1600" dirty="0"/>
              <a:t>(</a:t>
            </a:r>
            <a:r>
              <a:rPr lang="cs-CZ" sz="1600" dirty="0" err="1"/>
              <a:t>deprecated</a:t>
            </a:r>
            <a:r>
              <a:rPr lang="cs-CZ" sz="1600" dirty="0"/>
              <a:t> </a:t>
            </a:r>
            <a:r>
              <a:rPr lang="cs-CZ" sz="1600" dirty="0" err="1"/>
              <a:t>since</a:t>
            </a:r>
            <a:r>
              <a:rPr lang="cs-CZ" sz="1600" dirty="0"/>
              <a:t> 2009)</a:t>
            </a:r>
            <a:endParaRPr lang="en-US" sz="1600" dirty="0"/>
          </a:p>
          <a:p>
            <a:pPr lvl="2"/>
            <a:r>
              <a:rPr lang="cs-CZ" sz="1600" dirty="0"/>
              <a:t>2</a:t>
            </a:r>
            <a:r>
              <a:rPr lang="en-US" sz="1600" dirty="0"/>
              <a:t> - </a:t>
            </a:r>
            <a:r>
              <a:rPr lang="cs-CZ" sz="1600" dirty="0"/>
              <a:t>Mobility (RFC 6275)</a:t>
            </a:r>
            <a:endParaRPr lang="en-US" sz="1600" dirty="0"/>
          </a:p>
          <a:p>
            <a:pPr lvl="2"/>
            <a:r>
              <a:rPr lang="en-US" sz="1600" dirty="0"/>
              <a:t>3 - </a:t>
            </a:r>
            <a:r>
              <a:rPr lang="cs-CZ" sz="1600" dirty="0"/>
              <a:t>RPL Source  Route (RFC 6554)</a:t>
            </a:r>
            <a:endParaRPr lang="en-US" sz="1600" dirty="0"/>
          </a:p>
          <a:p>
            <a:pPr lvl="2"/>
            <a:r>
              <a:rPr lang="en-US" sz="1600" b="1" dirty="0"/>
              <a:t>4 – Segment Routing</a:t>
            </a:r>
            <a:endParaRPr lang="cs-CZ" sz="1600" b="1" dirty="0"/>
          </a:p>
        </p:txBody>
      </p:sp>
      <p:sp>
        <p:nvSpPr>
          <p:cNvPr id="3" name="Text Placeholder 2"/>
          <p:cNvSpPr>
            <a:spLocks noGrp="1"/>
          </p:cNvSpPr>
          <p:nvPr>
            <p:ph type="body" sz="quarter" idx="11"/>
          </p:nvPr>
        </p:nvSpPr>
        <p:spPr/>
        <p:txBody>
          <a:bodyPr/>
          <a:lstStyle/>
          <a:p>
            <a:r>
              <a:rPr lang="cs-CZ" dirty="0"/>
              <a:t>IPv6 SR </a:t>
            </a:r>
            <a:r>
              <a:rPr lang="cs-CZ" dirty="0" err="1"/>
              <a:t>Header</a:t>
            </a:r>
            <a:endParaRPr lang="cs-CZ" dirty="0"/>
          </a:p>
        </p:txBody>
      </p:sp>
      <p:sp>
        <p:nvSpPr>
          <p:cNvPr id="4" name="Text Placeholder 3"/>
          <p:cNvSpPr>
            <a:spLocks noGrp="1"/>
          </p:cNvSpPr>
          <p:nvPr>
            <p:ph type="body" sz="quarter" idx="12"/>
          </p:nvPr>
        </p:nvSpPr>
        <p:spPr>
          <a:xfrm>
            <a:off x="6080760" y="54865"/>
            <a:ext cx="5773188" cy="6797366"/>
          </a:xfrm>
        </p:spPr>
        <p:txBody>
          <a:bodyPr/>
          <a:lstStyle/>
          <a:p>
            <a:pPr marL="0" indent="0">
              <a:spcBef>
                <a:spcPts val="0"/>
              </a:spcBef>
              <a:buNone/>
            </a:pPr>
            <a:r>
              <a:rPr lang="en-US" sz="1050" dirty="0">
                <a:latin typeface="Consolas" panose="020B0609020204030204" pitchFamily="49" charset="0"/>
              </a:rPr>
              <a:t> </a:t>
            </a:r>
            <a:r>
              <a:rPr lang="cs-CZ" sz="1050" dirty="0">
                <a:latin typeface="Consolas" panose="020B0609020204030204" pitchFamily="49" charset="0"/>
              </a:rPr>
              <a:t>0 </a:t>
            </a:r>
            <a:r>
              <a:rPr lang="en-US" sz="1050" dirty="0">
                <a:latin typeface="Consolas" panose="020B0609020204030204" pitchFamily="49" charset="0"/>
              </a:rPr>
              <a:t>                  </a:t>
            </a:r>
            <a:r>
              <a:rPr lang="cs-CZ" sz="1050" dirty="0">
                <a:latin typeface="Consolas" panose="020B0609020204030204" pitchFamily="49" charset="0"/>
              </a:rPr>
              <a:t>1 </a:t>
            </a:r>
            <a:r>
              <a:rPr lang="en-US" sz="1050" dirty="0">
                <a:latin typeface="Consolas" panose="020B0609020204030204" pitchFamily="49" charset="0"/>
              </a:rPr>
              <a:t>                  </a:t>
            </a:r>
            <a:r>
              <a:rPr lang="cs-CZ" sz="1050" dirty="0">
                <a:latin typeface="Consolas" panose="020B0609020204030204" pitchFamily="49" charset="0"/>
              </a:rPr>
              <a:t>2 </a:t>
            </a:r>
            <a:r>
              <a:rPr lang="en-US" sz="1050" dirty="0">
                <a:latin typeface="Consolas" panose="020B0609020204030204" pitchFamily="49" charset="0"/>
              </a:rPr>
              <a:t>                  </a:t>
            </a:r>
            <a:r>
              <a:rPr lang="cs-CZ" sz="1050" dirty="0">
                <a:latin typeface="Consolas" panose="020B0609020204030204" pitchFamily="49" charset="0"/>
              </a:rPr>
              <a:t>3</a:t>
            </a:r>
            <a:endParaRPr lang="en-US" sz="1050" dirty="0">
              <a:latin typeface="Consolas" panose="020B0609020204030204" pitchFamily="49" charset="0"/>
            </a:endParaRPr>
          </a:p>
          <a:p>
            <a:pPr marL="0" indent="0">
              <a:spcBef>
                <a:spcPts val="0"/>
              </a:spcBef>
              <a:buNone/>
            </a:pPr>
            <a:r>
              <a:rPr lang="en-US" sz="1050" dirty="0">
                <a:latin typeface="Consolas" panose="020B0609020204030204" pitchFamily="49" charset="0"/>
              </a:rPr>
              <a:t> </a:t>
            </a:r>
            <a:r>
              <a:rPr lang="cs-CZ" sz="1050" dirty="0">
                <a:latin typeface="Consolas" panose="020B0609020204030204" pitchFamily="49" charset="0"/>
              </a:rPr>
              <a:t>0 1 2 3 4 5 6 7 8 9 0 1 2 3 4 5 6 7 8 9 0 1 2 3 4 5 6 7 8 9 0 1</a:t>
            </a:r>
            <a:endParaRPr lang="en-US" sz="1050" dirty="0">
              <a:latin typeface="Consolas" panose="020B0609020204030204" pitchFamily="49" charset="0"/>
            </a:endParaRPr>
          </a:p>
          <a:p>
            <a:pPr marL="0" indent="0">
              <a:spcBef>
                <a:spcPts val="0"/>
              </a:spcBef>
              <a:buNone/>
            </a:pPr>
            <a:r>
              <a:rPr lang="cs-CZ" sz="1050" dirty="0">
                <a:latin typeface="Consolas" panose="020B0609020204030204" pitchFamily="49" charset="0"/>
              </a:rPr>
              <a:t>+-+-+-+-+-+-+-+-+-+-+-+-+-+-+-+-+-+-+-+-+-+-+-+-+-+-+-+-+-+-+-+-+</a:t>
            </a:r>
            <a:endParaRPr lang="en-US" sz="1050" dirty="0">
              <a:latin typeface="Consolas" panose="020B0609020204030204" pitchFamily="49" charset="0"/>
            </a:endParaRPr>
          </a:p>
          <a:p>
            <a:pPr marL="0" indent="0">
              <a:spcBef>
                <a:spcPts val="0"/>
              </a:spcBef>
              <a:buNone/>
            </a:pPr>
            <a:r>
              <a:rPr lang="en-US" sz="1050" dirty="0">
                <a:latin typeface="Consolas" panose="020B0609020204030204" pitchFamily="49" charset="0"/>
              </a:rPr>
              <a:t>|Version| Traffic Class |              Flow Label               |</a:t>
            </a:r>
          </a:p>
          <a:p>
            <a:pPr marL="0" indent="0">
              <a:spcBef>
                <a:spcPts val="0"/>
              </a:spcBef>
              <a:buNone/>
            </a:pPr>
            <a:r>
              <a:rPr lang="en-US" sz="1050" dirty="0">
                <a:latin typeface="Consolas" panose="020B0609020204030204" pitchFamily="49" charset="0"/>
              </a:rPr>
              <a:t>+-+-+-+-+-+-+-+-+-+-+-+-+-+-+-+-+-+-+-+-+-+-+-+-+-+-+-+-+-+-+-+-+</a:t>
            </a:r>
          </a:p>
          <a:p>
            <a:pPr marL="0" indent="0">
              <a:spcBef>
                <a:spcPts val="0"/>
              </a:spcBef>
              <a:buNone/>
            </a:pPr>
            <a:r>
              <a:rPr lang="en-US" sz="1050" dirty="0">
                <a:latin typeface="Consolas" panose="020B0609020204030204" pitchFamily="49" charset="0"/>
              </a:rPr>
              <a:t>|    Payload Length             |  Next Header  |   Hop Limit   |</a:t>
            </a:r>
          </a:p>
          <a:p>
            <a:pPr marL="0" indent="0">
              <a:spcBef>
                <a:spcPts val="0"/>
              </a:spcBef>
              <a:buNone/>
            </a:pPr>
            <a:r>
              <a:rPr lang="en-US" sz="1050" dirty="0">
                <a:latin typeface="Consolas" panose="020B0609020204030204" pitchFamily="49" charset="0"/>
              </a:rPr>
              <a:t>+-+-+-+-+-+-+-+-+-+-+-+-+-+-+-+-+-+-+-+-+-+-+-+-+-+-+-+-+-+-+-+-+</a:t>
            </a:r>
          </a:p>
          <a:p>
            <a:pPr marL="0" indent="0">
              <a:spcBef>
                <a:spcPts val="0"/>
              </a:spcBef>
              <a:buNone/>
            </a:pPr>
            <a:r>
              <a:rPr lang="en-US" sz="1050" dirty="0">
                <a:latin typeface="Consolas" panose="020B0609020204030204" pitchFamily="49" charset="0"/>
              </a:rPr>
              <a:t>|                                                               |</a:t>
            </a:r>
          </a:p>
          <a:p>
            <a:pPr marL="0" indent="0">
              <a:spcBef>
                <a:spcPts val="0"/>
              </a:spcBef>
              <a:buNone/>
            </a:pPr>
            <a:r>
              <a:rPr lang="en-US" sz="1050" dirty="0">
                <a:latin typeface="Consolas" panose="020B0609020204030204" pitchFamily="49" charset="0"/>
              </a:rPr>
              <a:t>|                         Source Address                        |</a:t>
            </a:r>
          </a:p>
          <a:p>
            <a:pPr marL="0" indent="0">
              <a:spcBef>
                <a:spcPts val="0"/>
              </a:spcBef>
              <a:buNone/>
            </a:pPr>
            <a:r>
              <a:rPr lang="en-US" sz="1050" dirty="0">
                <a:latin typeface="Consolas" panose="020B0609020204030204" pitchFamily="49" charset="0"/>
              </a:rPr>
              <a:t>|                            (128 bit)                          |</a:t>
            </a:r>
          </a:p>
          <a:p>
            <a:pPr marL="0" indent="0">
              <a:spcBef>
                <a:spcPts val="0"/>
              </a:spcBef>
              <a:buNone/>
            </a:pPr>
            <a:r>
              <a:rPr lang="en-US" sz="1050" dirty="0">
                <a:latin typeface="Consolas" panose="020B0609020204030204" pitchFamily="49" charset="0"/>
              </a:rPr>
              <a:t>|                                                               |</a:t>
            </a:r>
          </a:p>
          <a:p>
            <a:pPr marL="0" indent="0">
              <a:spcBef>
                <a:spcPts val="0"/>
              </a:spcBef>
              <a:buNone/>
            </a:pPr>
            <a:r>
              <a:rPr lang="en-US" sz="1050" dirty="0">
                <a:latin typeface="Consolas" panose="020B0609020204030204" pitchFamily="49" charset="0"/>
              </a:rPr>
              <a:t>+-+-+-+-+-+-+-+-+-+-+-+-+-+-+-+-+-+-+-+-+-+-+-+-+-+-+-+-+-+-+-+-+</a:t>
            </a:r>
          </a:p>
          <a:p>
            <a:pPr marL="0" indent="0">
              <a:spcBef>
                <a:spcPts val="0"/>
              </a:spcBef>
              <a:buNone/>
            </a:pPr>
            <a:r>
              <a:rPr lang="en-US" sz="1050" dirty="0">
                <a:latin typeface="Consolas" panose="020B0609020204030204" pitchFamily="49" charset="0"/>
              </a:rPr>
              <a:t>|                                                               |</a:t>
            </a:r>
          </a:p>
          <a:p>
            <a:pPr marL="0" indent="0">
              <a:spcBef>
                <a:spcPts val="0"/>
              </a:spcBef>
              <a:buNone/>
            </a:pPr>
            <a:r>
              <a:rPr lang="en-US" sz="1050" dirty="0">
                <a:latin typeface="Consolas" panose="020B0609020204030204" pitchFamily="49" charset="0"/>
              </a:rPr>
              <a:t>|                      Destination Address                      |</a:t>
            </a:r>
          </a:p>
          <a:p>
            <a:pPr marL="0" indent="0">
              <a:spcBef>
                <a:spcPts val="0"/>
              </a:spcBef>
              <a:buNone/>
            </a:pPr>
            <a:r>
              <a:rPr lang="en-US" sz="1050" dirty="0">
                <a:latin typeface="Consolas" panose="020B0609020204030204" pitchFamily="49" charset="0"/>
              </a:rPr>
              <a:t>|                            (128 bit)                          |</a:t>
            </a:r>
          </a:p>
          <a:p>
            <a:pPr marL="0" indent="0">
              <a:spcBef>
                <a:spcPts val="0"/>
              </a:spcBef>
              <a:buNone/>
            </a:pPr>
            <a:r>
              <a:rPr lang="en-US" sz="1050" dirty="0">
                <a:latin typeface="Consolas" panose="020B0609020204030204" pitchFamily="49" charset="0"/>
              </a:rPr>
              <a:t>|                                                               |</a:t>
            </a:r>
          </a:p>
          <a:p>
            <a:pPr marL="0" indent="0">
              <a:spcBef>
                <a:spcPts val="0"/>
              </a:spcBef>
              <a:buNone/>
            </a:pPr>
            <a:r>
              <a:rPr lang="en-US" sz="1050" dirty="0">
                <a:latin typeface="Consolas" panose="020B0609020204030204" pitchFamily="49" charset="0"/>
              </a:rPr>
              <a:t>+-+-+-+-+-+-+-+-+-+-+-+-+-+-+-+-+-+-+-+-+-+-+-+-+-+-+-+-+-+-+-+-+</a:t>
            </a:r>
          </a:p>
          <a:p>
            <a:pPr marL="0" indent="0">
              <a:spcBef>
                <a:spcPts val="0"/>
              </a:spcBef>
              <a:buNone/>
            </a:pPr>
            <a:r>
              <a:rPr lang="en-US" sz="1050" dirty="0">
                <a:latin typeface="Consolas" panose="020B0609020204030204" pitchFamily="49" charset="0"/>
              </a:rPr>
              <a:t>+-+-+-+-+-+-+-+-+-+-+-+-+-+-+-+-+-+-+-+-+-+-+-+-+-+-+-+-+-+-+-+-+</a:t>
            </a:r>
          </a:p>
          <a:p>
            <a:pPr marL="0" indent="0">
              <a:spcBef>
                <a:spcPts val="0"/>
              </a:spcBef>
              <a:buNone/>
            </a:pPr>
            <a:r>
              <a:rPr lang="cs-CZ" sz="1050" dirty="0">
                <a:latin typeface="Consolas" panose="020B0609020204030204" pitchFamily="49" charset="0"/>
              </a:rPr>
              <a:t>|</a:t>
            </a:r>
            <a:r>
              <a:rPr lang="en-US" sz="1050" dirty="0">
                <a:latin typeface="Consolas" panose="020B0609020204030204" pitchFamily="49" charset="0"/>
              </a:rPr>
              <a:t>  </a:t>
            </a:r>
            <a:r>
              <a:rPr lang="en-US" sz="1050" b="1" dirty="0">
                <a:solidFill>
                  <a:schemeClr val="tx2"/>
                </a:solidFill>
                <a:latin typeface="Consolas" panose="020B0609020204030204" pitchFamily="49" charset="0"/>
              </a:rPr>
              <a:t>Next Header  </a:t>
            </a:r>
            <a:r>
              <a:rPr lang="en-US" sz="1050" dirty="0">
                <a:latin typeface="Consolas" panose="020B0609020204030204" pitchFamily="49" charset="0"/>
              </a:rPr>
              <a:t>| </a:t>
            </a:r>
            <a:r>
              <a:rPr lang="en-US" sz="1050" b="1" dirty="0" err="1">
                <a:solidFill>
                  <a:schemeClr val="accent2"/>
                </a:solidFill>
                <a:latin typeface="Consolas" panose="020B0609020204030204" pitchFamily="49" charset="0"/>
              </a:rPr>
              <a:t>Hdr</a:t>
            </a:r>
            <a:r>
              <a:rPr lang="en-US" sz="1050" b="1" dirty="0">
                <a:solidFill>
                  <a:schemeClr val="accent2"/>
                </a:solidFill>
                <a:latin typeface="Consolas" panose="020B0609020204030204" pitchFamily="49" charset="0"/>
              </a:rPr>
              <a:t> Ext Len   </a:t>
            </a:r>
            <a:r>
              <a:rPr lang="en-US" sz="1050" dirty="0">
                <a:latin typeface="Consolas" panose="020B0609020204030204" pitchFamily="49" charset="0"/>
              </a:rPr>
              <a:t>| </a:t>
            </a:r>
            <a:r>
              <a:rPr lang="en-US" sz="1050" b="1" dirty="0">
                <a:solidFill>
                  <a:schemeClr val="accent4"/>
                </a:solidFill>
                <a:latin typeface="Consolas" panose="020B0609020204030204" pitchFamily="49" charset="0"/>
              </a:rPr>
              <a:t>Routing Type  </a:t>
            </a:r>
            <a:r>
              <a:rPr lang="en-US" sz="1050" dirty="0">
                <a:latin typeface="Consolas" panose="020B0609020204030204" pitchFamily="49" charset="0"/>
              </a:rPr>
              <a:t>| </a:t>
            </a:r>
            <a:r>
              <a:rPr lang="en-US" sz="1050" b="1" dirty="0">
                <a:solidFill>
                  <a:schemeClr val="accent5"/>
                </a:solidFill>
                <a:latin typeface="Consolas" panose="020B0609020204030204" pitchFamily="49" charset="0"/>
              </a:rPr>
              <a:t>Segments Left</a:t>
            </a:r>
            <a:r>
              <a:rPr lang="en-US" sz="1050" dirty="0">
                <a:solidFill>
                  <a:schemeClr val="accent5"/>
                </a:solidFill>
                <a:latin typeface="Consolas" panose="020B0609020204030204" pitchFamily="49" charset="0"/>
              </a:rPr>
              <a:t> </a:t>
            </a:r>
            <a:r>
              <a:rPr lang="cs-CZ" sz="1050" dirty="0">
                <a:latin typeface="Consolas" panose="020B0609020204030204" pitchFamily="49" charset="0"/>
              </a:rPr>
              <a:t>| </a:t>
            </a:r>
            <a:r>
              <a:rPr lang="en-US" sz="1050" dirty="0">
                <a:latin typeface="Consolas" panose="020B0609020204030204" pitchFamily="49" charset="0"/>
              </a:rPr>
              <a:t>      </a:t>
            </a:r>
          </a:p>
          <a:p>
            <a:pPr marL="0" indent="0">
              <a:spcBef>
                <a:spcPts val="0"/>
              </a:spcBef>
              <a:buNone/>
            </a:pPr>
            <a:r>
              <a:rPr lang="cs-CZ" sz="1050" dirty="0">
                <a:latin typeface="Consolas" panose="020B0609020204030204" pitchFamily="49" charset="0"/>
              </a:rPr>
              <a:t>+-+-+-+-+-+-+-+-+-+-+-+-+-+-+-+-+-+-+-+-+-+-+-+-+-+-+-+-+-+-+-+-+</a:t>
            </a:r>
            <a:endParaRPr lang="en-US" sz="1050" dirty="0">
              <a:latin typeface="Consolas" panose="020B0609020204030204" pitchFamily="49" charset="0"/>
            </a:endParaRPr>
          </a:p>
          <a:p>
            <a:pPr marL="0" indent="0">
              <a:spcBef>
                <a:spcPts val="0"/>
              </a:spcBef>
              <a:buNone/>
            </a:pPr>
            <a:r>
              <a:rPr lang="en-US" sz="1050" dirty="0">
                <a:solidFill>
                  <a:schemeClr val="accent3"/>
                </a:solidFill>
                <a:latin typeface="Consolas" panose="020B0609020204030204" pitchFamily="49" charset="0"/>
              </a:rPr>
              <a:t>| First Segment |    Flags      |             Tag               |</a:t>
            </a:r>
          </a:p>
          <a:p>
            <a:pPr marL="0" indent="0">
              <a:spcBef>
                <a:spcPts val="0"/>
              </a:spcBef>
              <a:buNone/>
            </a:pPr>
            <a:r>
              <a:rPr lang="en-US" sz="1050" dirty="0">
                <a:solidFill>
                  <a:schemeClr val="accent3"/>
                </a:solidFill>
                <a:latin typeface="Consolas" panose="020B0609020204030204" pitchFamily="49" charset="0"/>
              </a:rPr>
              <a:t>+-+-+-+-+-+-+-+-+-+-+-+-+-+-+-+-+-+-+-+-+-+-+-+-+-+-+-+-+-+-+-+-+</a:t>
            </a:r>
          </a:p>
          <a:p>
            <a:pPr marL="0" indent="0">
              <a:spcBef>
                <a:spcPts val="0"/>
              </a:spcBef>
              <a:buNone/>
            </a:pPr>
            <a:r>
              <a:rPr lang="en-US" sz="1050" dirty="0">
                <a:solidFill>
                  <a:schemeClr val="accent3"/>
                </a:solidFill>
                <a:latin typeface="Consolas" panose="020B0609020204030204" pitchFamily="49" charset="0"/>
              </a:rPr>
              <a:t>|                                                               |</a:t>
            </a:r>
          </a:p>
          <a:p>
            <a:pPr marL="0" indent="0">
              <a:spcBef>
                <a:spcPts val="0"/>
              </a:spcBef>
              <a:buNone/>
            </a:pPr>
            <a:r>
              <a:rPr lang="en-US" sz="1050" dirty="0">
                <a:solidFill>
                  <a:schemeClr val="accent3"/>
                </a:solidFill>
                <a:latin typeface="Consolas" panose="020B0609020204030204" pitchFamily="49" charset="0"/>
              </a:rPr>
              <a:t>|             Segment List[0] (128 bits IPv6 address)           |</a:t>
            </a:r>
          </a:p>
          <a:p>
            <a:pPr marL="0" indent="0">
              <a:spcBef>
                <a:spcPts val="0"/>
              </a:spcBef>
              <a:buNone/>
            </a:pPr>
            <a:r>
              <a:rPr lang="en-US" sz="1050" dirty="0">
                <a:solidFill>
                  <a:schemeClr val="accent3"/>
                </a:solidFill>
                <a:latin typeface="Consolas" panose="020B0609020204030204" pitchFamily="49" charset="0"/>
              </a:rPr>
              <a:t>|                                                               |</a:t>
            </a:r>
          </a:p>
          <a:p>
            <a:pPr marL="0" indent="0">
              <a:spcBef>
                <a:spcPts val="0"/>
              </a:spcBef>
              <a:buNone/>
            </a:pPr>
            <a:r>
              <a:rPr lang="en-US" sz="1050" dirty="0">
                <a:solidFill>
                  <a:schemeClr val="accent3"/>
                </a:solidFill>
                <a:latin typeface="Consolas" panose="020B0609020204030204" pitchFamily="49" charset="0"/>
              </a:rPr>
              <a:t>|                                                               |</a:t>
            </a:r>
          </a:p>
          <a:p>
            <a:pPr marL="0" indent="0">
              <a:spcBef>
                <a:spcPts val="0"/>
              </a:spcBef>
              <a:buNone/>
            </a:pPr>
            <a:r>
              <a:rPr lang="en-US" sz="1050" dirty="0">
                <a:solidFill>
                  <a:schemeClr val="accent3"/>
                </a:solidFill>
                <a:latin typeface="Consolas" panose="020B0609020204030204" pitchFamily="49" charset="0"/>
              </a:rPr>
              <a:t>+-+-+-+-+-+-+-+-+-+-+-+-+-+-+-+-+-+-+-+-+-+-+-+-+-+-+-+-+-+-+-+-+</a:t>
            </a:r>
          </a:p>
          <a:p>
            <a:pPr marL="0" indent="0">
              <a:spcBef>
                <a:spcPts val="0"/>
              </a:spcBef>
              <a:buNone/>
            </a:pPr>
            <a:r>
              <a:rPr lang="en-US" sz="1050" dirty="0">
                <a:solidFill>
                  <a:schemeClr val="accent3"/>
                </a:solidFill>
                <a:latin typeface="Consolas" panose="020B0609020204030204" pitchFamily="49" charset="0"/>
              </a:rPr>
              <a:t>|                                                               |</a:t>
            </a:r>
          </a:p>
          <a:p>
            <a:pPr marL="0" indent="0">
              <a:spcBef>
                <a:spcPts val="0"/>
              </a:spcBef>
              <a:buNone/>
            </a:pPr>
            <a:r>
              <a:rPr lang="en-US" sz="1050" dirty="0">
                <a:solidFill>
                  <a:schemeClr val="accent3"/>
                </a:solidFill>
                <a:latin typeface="Consolas" panose="020B0609020204030204" pitchFamily="49" charset="0"/>
              </a:rPr>
              <a:t>.                                                               .</a:t>
            </a:r>
          </a:p>
          <a:p>
            <a:pPr marL="0" indent="0">
              <a:spcBef>
                <a:spcPts val="0"/>
              </a:spcBef>
              <a:buNone/>
            </a:pPr>
            <a:r>
              <a:rPr lang="en-US" sz="1050" dirty="0">
                <a:solidFill>
                  <a:schemeClr val="accent3"/>
                </a:solidFill>
                <a:latin typeface="Consolas" panose="020B0609020204030204" pitchFamily="49" charset="0"/>
              </a:rPr>
              <a:t>.                                                               .</a:t>
            </a:r>
          </a:p>
          <a:p>
            <a:pPr marL="0" indent="0">
              <a:spcBef>
                <a:spcPts val="0"/>
              </a:spcBef>
              <a:buNone/>
            </a:pPr>
            <a:r>
              <a:rPr lang="en-US" sz="1050" dirty="0">
                <a:solidFill>
                  <a:schemeClr val="accent3"/>
                </a:solidFill>
                <a:latin typeface="Consolas" panose="020B0609020204030204" pitchFamily="49" charset="0"/>
              </a:rPr>
              <a:t>.                             ...                               .</a:t>
            </a:r>
          </a:p>
          <a:p>
            <a:pPr marL="0" indent="0">
              <a:spcBef>
                <a:spcPts val="0"/>
              </a:spcBef>
              <a:buNone/>
            </a:pPr>
            <a:r>
              <a:rPr lang="en-US" sz="1050" dirty="0">
                <a:solidFill>
                  <a:schemeClr val="accent3"/>
                </a:solidFill>
                <a:latin typeface="Consolas" panose="020B0609020204030204" pitchFamily="49" charset="0"/>
              </a:rPr>
              <a:t>|                                                               |</a:t>
            </a:r>
          </a:p>
          <a:p>
            <a:pPr marL="0" indent="0">
              <a:spcBef>
                <a:spcPts val="0"/>
              </a:spcBef>
              <a:buNone/>
            </a:pPr>
            <a:r>
              <a:rPr lang="en-US" sz="1050" dirty="0">
                <a:solidFill>
                  <a:schemeClr val="accent3"/>
                </a:solidFill>
                <a:latin typeface="Consolas" panose="020B0609020204030204" pitchFamily="49" charset="0"/>
              </a:rPr>
              <a:t>+-+-+-+-+-+-+-+-+-+-+-+-+-+-+-+-+-+-+-+-+-+-+-+-+-+-+-+-+-+-+-+-+</a:t>
            </a:r>
          </a:p>
          <a:p>
            <a:pPr marL="0" indent="0">
              <a:spcBef>
                <a:spcPts val="0"/>
              </a:spcBef>
              <a:buNone/>
            </a:pPr>
            <a:r>
              <a:rPr lang="en-US" sz="1050" dirty="0">
                <a:solidFill>
                  <a:schemeClr val="accent3"/>
                </a:solidFill>
                <a:latin typeface="Consolas" panose="020B0609020204030204" pitchFamily="49" charset="0"/>
              </a:rPr>
              <a:t>|                                                               |</a:t>
            </a:r>
          </a:p>
          <a:p>
            <a:pPr marL="0" indent="0">
              <a:spcBef>
                <a:spcPts val="0"/>
              </a:spcBef>
              <a:buNone/>
            </a:pPr>
            <a:r>
              <a:rPr lang="en-US" sz="1050" dirty="0">
                <a:solidFill>
                  <a:schemeClr val="accent3"/>
                </a:solidFill>
                <a:latin typeface="Consolas" panose="020B0609020204030204" pitchFamily="49" charset="0"/>
              </a:rPr>
              <a:t>|              Segment List[n-1] (128 bits IPv6 address)        |</a:t>
            </a:r>
          </a:p>
          <a:p>
            <a:pPr marL="0" indent="0">
              <a:spcBef>
                <a:spcPts val="0"/>
              </a:spcBef>
              <a:buNone/>
            </a:pPr>
            <a:r>
              <a:rPr lang="en-US" sz="1050" dirty="0">
                <a:solidFill>
                  <a:schemeClr val="accent3"/>
                </a:solidFill>
                <a:latin typeface="Consolas" panose="020B0609020204030204" pitchFamily="49" charset="0"/>
              </a:rPr>
              <a:t>|                                                               |</a:t>
            </a:r>
          </a:p>
          <a:p>
            <a:pPr marL="0" indent="0">
              <a:spcBef>
                <a:spcPts val="0"/>
              </a:spcBef>
              <a:buNone/>
            </a:pPr>
            <a:r>
              <a:rPr lang="en-US" sz="1050" dirty="0">
                <a:solidFill>
                  <a:schemeClr val="accent3"/>
                </a:solidFill>
                <a:latin typeface="Consolas" panose="020B0609020204030204" pitchFamily="49" charset="0"/>
              </a:rPr>
              <a:t>|                                                               |</a:t>
            </a:r>
          </a:p>
          <a:p>
            <a:pPr marL="0" indent="0">
              <a:spcBef>
                <a:spcPts val="0"/>
              </a:spcBef>
              <a:buNone/>
            </a:pPr>
            <a:r>
              <a:rPr lang="en-US" sz="1050" dirty="0">
                <a:solidFill>
                  <a:schemeClr val="accent3"/>
                </a:solidFill>
                <a:latin typeface="Consolas" panose="020B0609020204030204" pitchFamily="49" charset="0"/>
              </a:rPr>
              <a:t>+-+-+-+-+-+-+-+-+-+-+-+-+-+-+-+-+-+-+-+-+-+-+-+-+-+-+-+-+-+-+-+-+</a:t>
            </a:r>
          </a:p>
          <a:p>
            <a:pPr marL="0" indent="0">
              <a:spcBef>
                <a:spcPts val="0"/>
              </a:spcBef>
              <a:buNone/>
            </a:pPr>
            <a:r>
              <a:rPr lang="en-US" sz="1050" dirty="0">
                <a:solidFill>
                  <a:schemeClr val="accent3"/>
                </a:solidFill>
                <a:latin typeface="Consolas" panose="020B0609020204030204" pitchFamily="49" charset="0"/>
              </a:rPr>
              <a:t>//                                                             //</a:t>
            </a:r>
          </a:p>
          <a:p>
            <a:pPr marL="0" indent="0">
              <a:spcBef>
                <a:spcPts val="0"/>
              </a:spcBef>
              <a:buNone/>
            </a:pPr>
            <a:r>
              <a:rPr lang="en-US" sz="1050" dirty="0">
                <a:solidFill>
                  <a:schemeClr val="accent3"/>
                </a:solidFill>
                <a:latin typeface="Consolas" panose="020B0609020204030204" pitchFamily="49" charset="0"/>
              </a:rPr>
              <a:t>//          Optional Type Length Value objects (variable)      //</a:t>
            </a:r>
          </a:p>
          <a:p>
            <a:pPr marL="0" indent="0">
              <a:spcBef>
                <a:spcPts val="0"/>
              </a:spcBef>
              <a:buNone/>
            </a:pPr>
            <a:r>
              <a:rPr lang="en-US" sz="1050" dirty="0">
                <a:solidFill>
                  <a:schemeClr val="accent3"/>
                </a:solidFill>
                <a:latin typeface="Consolas" panose="020B0609020204030204" pitchFamily="49" charset="0"/>
              </a:rPr>
              <a:t>//                                                             //</a:t>
            </a:r>
          </a:p>
          <a:p>
            <a:pPr marL="0" indent="0">
              <a:spcBef>
                <a:spcPts val="0"/>
              </a:spcBef>
              <a:buNone/>
            </a:pPr>
            <a:r>
              <a:rPr lang="en-US" sz="1050" dirty="0">
                <a:solidFill>
                  <a:schemeClr val="accent3"/>
                </a:solidFill>
                <a:latin typeface="Consolas" panose="020B0609020204030204" pitchFamily="49" charset="0"/>
              </a:rPr>
              <a:t>+-+-+-+-+-+-+-+-+-+-+-+-+-+-+-+-+-+-+-+-+-+-+-+-+-+-+-+-+-+-+-+-+</a:t>
            </a:r>
          </a:p>
        </p:txBody>
      </p:sp>
      <p:sp>
        <p:nvSpPr>
          <p:cNvPr id="5" name="TextBox 4"/>
          <p:cNvSpPr txBox="1"/>
          <p:nvPr/>
        </p:nvSpPr>
        <p:spPr>
          <a:xfrm>
            <a:off x="8544560" y="836058"/>
            <a:ext cx="1198880" cy="304800"/>
          </a:xfrm>
          <a:prstGeom prst="rect">
            <a:avLst/>
          </a:prstGeom>
          <a:solidFill>
            <a:schemeClr val="bg1">
              <a:alpha val="75000"/>
            </a:schemeClr>
          </a:solidFill>
          <a:ln w="25400">
            <a:solidFill>
              <a:schemeClr val="accent6"/>
            </a:solidFill>
          </a:ln>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000" b="1" i="0" u="none" strike="noStrike" kern="1200" cap="none" spc="0" normalizeH="0" baseline="0" noProof="0" dirty="0">
                <a:ln>
                  <a:noFill/>
                </a:ln>
                <a:solidFill>
                  <a:schemeClr val="accent6"/>
                </a:solidFill>
                <a:effectLst/>
                <a:uLnTx/>
                <a:uFillTx/>
                <a:latin typeface="Arial" panose="020B0604020202020204"/>
                <a:ea typeface="+mn-ea"/>
                <a:cs typeface="+mn-cs"/>
              </a:rPr>
              <a:t>      43   </a:t>
            </a:r>
            <a:endParaRPr kumimoji="0" lang="cs-CZ" sz="2000" b="1" i="0" u="none" strike="noStrike" kern="1200" cap="none" spc="0" normalizeH="0" baseline="0" noProof="0" dirty="0" err="1">
              <a:ln>
                <a:noFill/>
              </a:ln>
              <a:solidFill>
                <a:schemeClr val="accent6"/>
              </a:solidFill>
              <a:effectLst/>
              <a:uLnTx/>
              <a:uFillTx/>
              <a:latin typeface="Arial" panose="020B0604020202020204"/>
              <a:ea typeface="+mn-ea"/>
              <a:cs typeface="+mn-cs"/>
            </a:endParaRPr>
          </a:p>
        </p:txBody>
      </p:sp>
      <p:sp>
        <p:nvSpPr>
          <p:cNvPr id="6" name="TextBox 5"/>
          <p:cNvSpPr txBox="1"/>
          <p:nvPr/>
        </p:nvSpPr>
        <p:spPr>
          <a:xfrm>
            <a:off x="8534400" y="2922468"/>
            <a:ext cx="1198880" cy="304800"/>
          </a:xfrm>
          <a:prstGeom prst="rect">
            <a:avLst/>
          </a:prstGeom>
          <a:solidFill>
            <a:schemeClr val="bg1">
              <a:alpha val="75000"/>
            </a:schemeClr>
          </a:solidFill>
          <a:ln w="25400">
            <a:solidFill>
              <a:schemeClr val="accent4"/>
            </a:solidFill>
          </a:ln>
        </p:spPr>
        <p:txBody>
          <a:bodyPr vert="horz" wrap="none" lIns="91440" tIns="45720" rIns="91440" bIns="45720" rtlCol="0">
            <a:noAutofit/>
          </a:bodyPr>
          <a:lstStyle>
            <a:defPPr>
              <a:defRPr lang="sk-SK"/>
            </a:defPPr>
            <a:lvl1pPr marR="0" indent="0" fontAlgn="auto">
              <a:lnSpc>
                <a:spcPct val="90000"/>
              </a:lnSpc>
              <a:spcBef>
                <a:spcPts val="1000"/>
              </a:spcBef>
              <a:spcAft>
                <a:spcPts val="0"/>
              </a:spcAft>
              <a:buClrTx/>
              <a:buSzTx/>
              <a:buFont typeface="Arial" panose="020B0604020202020204" pitchFamily="34" charset="0"/>
              <a:buNone/>
              <a:tabLst/>
              <a:defRPr kumimoji="0" sz="2000" b="1" i="0" u="none" strike="noStrike" cap="none" spc="0" normalizeH="0" baseline="0">
                <a:ln>
                  <a:noFill/>
                </a:ln>
                <a:solidFill>
                  <a:schemeClr val="accent6"/>
                </a:solidFill>
                <a:effectLst/>
                <a:uLnTx/>
                <a:uFillTx/>
                <a:latin typeface="Arial" panose="020B0604020202020204"/>
              </a:defRPr>
            </a:lvl1pPr>
          </a:lstStyle>
          <a:p>
            <a:r>
              <a:rPr lang="en-US" dirty="0">
                <a:solidFill>
                  <a:srgbClr val="92D050"/>
                </a:solidFill>
              </a:rPr>
              <a:t>      </a:t>
            </a:r>
            <a:r>
              <a:rPr lang="en-US" dirty="0">
                <a:solidFill>
                  <a:schemeClr val="tx1"/>
                </a:solidFill>
              </a:rPr>
              <a:t>4</a:t>
            </a:r>
            <a:r>
              <a:rPr lang="en-US" dirty="0">
                <a:solidFill>
                  <a:srgbClr val="92D050"/>
                </a:solidFill>
              </a:rPr>
              <a:t>   </a:t>
            </a:r>
            <a:endParaRPr lang="cs-CZ" dirty="0" err="1">
              <a:solidFill>
                <a:srgbClr val="92D050"/>
              </a:solidFill>
            </a:endParaRPr>
          </a:p>
        </p:txBody>
      </p:sp>
      <p:sp>
        <p:nvSpPr>
          <p:cNvPr id="7" name="Left Brace 6"/>
          <p:cNvSpPr/>
          <p:nvPr/>
        </p:nvSpPr>
        <p:spPr>
          <a:xfrm flipH="1">
            <a:off x="11015469" y="533338"/>
            <a:ext cx="302610" cy="2693930"/>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cs-CZ"/>
          </a:p>
        </p:txBody>
      </p:sp>
      <p:sp>
        <p:nvSpPr>
          <p:cNvPr id="8" name="Left Brace 7"/>
          <p:cNvSpPr/>
          <p:nvPr/>
        </p:nvSpPr>
        <p:spPr>
          <a:xfrm flipH="1">
            <a:off x="11015469" y="3264971"/>
            <a:ext cx="302611" cy="3455931"/>
          </a:xfrm>
          <a:prstGeom prst="leftBrace">
            <a:avLst>
              <a:gd name="adj1" fmla="val 8333"/>
              <a:gd name="adj2" fmla="val 50529"/>
            </a:avLst>
          </a:prstGeom>
          <a:ln w="190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cs-CZ"/>
          </a:p>
        </p:txBody>
      </p:sp>
      <p:sp>
        <p:nvSpPr>
          <p:cNvPr id="9" name="TextBox 8"/>
          <p:cNvSpPr txBox="1"/>
          <p:nvPr/>
        </p:nvSpPr>
        <p:spPr>
          <a:xfrm rot="16200000">
            <a:off x="10840269" y="1677103"/>
            <a:ext cx="1468120" cy="406400"/>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RFC 2460</a:t>
            </a:r>
            <a:endParaRPr kumimoji="0" lang="cs-CZ" sz="2400" i="0" u="none" strike="noStrike" kern="1200" cap="none" spc="0" normalizeH="0" baseline="0" noProof="0" dirty="0" err="1">
              <a:ln>
                <a:noFill/>
              </a:ln>
              <a:solidFill>
                <a:schemeClr val="tx1"/>
              </a:solidFill>
              <a:effectLst/>
              <a:uLnTx/>
              <a:uFillTx/>
              <a:latin typeface="Arial" panose="020B0604020202020204"/>
              <a:ea typeface="+mn-ea"/>
              <a:cs typeface="+mn-cs"/>
            </a:endParaRPr>
          </a:p>
        </p:txBody>
      </p:sp>
      <p:sp>
        <p:nvSpPr>
          <p:cNvPr id="10" name="TextBox 9"/>
          <p:cNvSpPr txBox="1"/>
          <p:nvPr/>
        </p:nvSpPr>
        <p:spPr>
          <a:xfrm rot="16200000">
            <a:off x="10719140" y="4813010"/>
            <a:ext cx="1733748" cy="406400"/>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accent3"/>
                </a:solidFill>
                <a:effectLst/>
                <a:uLnTx/>
                <a:uFillTx/>
                <a:latin typeface="Arial" panose="020B0604020202020204"/>
                <a:ea typeface="+mn-ea"/>
                <a:cs typeface="+mn-cs"/>
              </a:rPr>
              <a:t>SR specific</a:t>
            </a:r>
            <a:endParaRPr kumimoji="0" lang="cs-CZ" sz="2400" i="0" u="none" strike="noStrike" kern="1200" cap="none" spc="0" normalizeH="0" baseline="0" noProof="0" dirty="0" err="1">
              <a:ln>
                <a:noFill/>
              </a:ln>
              <a:solidFill>
                <a:schemeClr val="accent3"/>
              </a:solidFill>
              <a:effectLst/>
              <a:uLnTx/>
              <a:uFillTx/>
              <a:latin typeface="Arial" panose="020B0604020202020204"/>
              <a:ea typeface="+mn-ea"/>
              <a:cs typeface="+mn-cs"/>
            </a:endParaRPr>
          </a:p>
        </p:txBody>
      </p:sp>
      <p:sp>
        <p:nvSpPr>
          <p:cNvPr id="11" name="Arrow: Bent-Up 10">
            <a:extLst>
              <a:ext uri="{FF2B5EF4-FFF2-40B4-BE49-F238E27FC236}">
                <a16:creationId xmlns:a16="http://schemas.microsoft.com/office/drawing/2014/main" id="{B6C4D3B1-A4CF-6E3A-FFEF-645BF22BAA4E}"/>
              </a:ext>
            </a:extLst>
          </p:cNvPr>
          <p:cNvSpPr/>
          <p:nvPr/>
        </p:nvSpPr>
        <p:spPr>
          <a:xfrm rot="10800000">
            <a:off x="5990045" y="3048000"/>
            <a:ext cx="197393" cy="3809998"/>
          </a:xfrm>
          <a:prstGeom prst="bentUpArrow">
            <a:avLst>
              <a:gd name="adj1" fmla="val 25000"/>
              <a:gd name="adj2" fmla="val 29366"/>
              <a:gd name="adj3"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69971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873919" y="914401"/>
            <a:ext cx="4393025" cy="5394958"/>
          </a:xfrm>
        </p:spPr>
        <p:txBody>
          <a:bodyPr/>
          <a:lstStyle/>
          <a:p>
            <a:r>
              <a:rPr lang="en-US" sz="2000" dirty="0"/>
              <a:t>IPv6 header</a:t>
            </a:r>
          </a:p>
          <a:p>
            <a:pPr lvl="1"/>
            <a:r>
              <a:rPr lang="en-US" sz="2000" b="1" dirty="0">
                <a:solidFill>
                  <a:schemeClr val="accent6"/>
                </a:solidFill>
              </a:rPr>
              <a:t>Next header</a:t>
            </a:r>
            <a:r>
              <a:rPr lang="en-US" sz="2000" dirty="0"/>
              <a:t>: 43 -&gt; Routing</a:t>
            </a:r>
          </a:p>
          <a:p>
            <a:pPr lvl="1"/>
            <a:endParaRPr lang="en-US" sz="2000" dirty="0"/>
          </a:p>
          <a:p>
            <a:pPr lvl="1"/>
            <a:r>
              <a:rPr lang="en-US" sz="2000" dirty="0"/>
              <a:t>First Segment</a:t>
            </a:r>
          </a:p>
          <a:p>
            <a:pPr lvl="2"/>
            <a:r>
              <a:rPr lang="en-US" sz="2000" dirty="0"/>
              <a:t>Pointer to very first SID</a:t>
            </a:r>
            <a:endParaRPr lang="cs-CZ" sz="2000" dirty="0"/>
          </a:p>
        </p:txBody>
      </p:sp>
      <p:sp>
        <p:nvSpPr>
          <p:cNvPr id="3" name="Text Placeholder 2"/>
          <p:cNvSpPr>
            <a:spLocks noGrp="1"/>
          </p:cNvSpPr>
          <p:nvPr>
            <p:ph type="body" sz="quarter" idx="11"/>
          </p:nvPr>
        </p:nvSpPr>
        <p:spPr/>
        <p:txBody>
          <a:bodyPr/>
          <a:lstStyle/>
          <a:p>
            <a:r>
              <a:rPr lang="cs-CZ" dirty="0"/>
              <a:t>IPv6 SR </a:t>
            </a:r>
            <a:r>
              <a:rPr lang="cs-CZ" dirty="0" err="1"/>
              <a:t>Header</a:t>
            </a:r>
            <a:endParaRPr lang="cs-CZ" dirty="0"/>
          </a:p>
        </p:txBody>
      </p:sp>
      <p:sp>
        <p:nvSpPr>
          <p:cNvPr id="4" name="Text Placeholder 3"/>
          <p:cNvSpPr>
            <a:spLocks noGrp="1"/>
          </p:cNvSpPr>
          <p:nvPr>
            <p:ph type="body" sz="quarter" idx="12"/>
          </p:nvPr>
        </p:nvSpPr>
        <p:spPr>
          <a:xfrm>
            <a:off x="6080760" y="-9144"/>
            <a:ext cx="5773188" cy="6793991"/>
          </a:xfrm>
          <a:solidFill>
            <a:schemeClr val="bg1"/>
          </a:solidFill>
        </p:spPr>
        <p:txBody>
          <a:bodyPr/>
          <a:lstStyle/>
          <a:p>
            <a:pPr marL="0" indent="0">
              <a:spcBef>
                <a:spcPts val="0"/>
              </a:spcBef>
              <a:buNone/>
            </a:pPr>
            <a:r>
              <a:rPr lang="en-US" sz="1050" dirty="0">
                <a:latin typeface="Consolas" panose="020B0609020204030204" pitchFamily="49" charset="0"/>
              </a:rPr>
              <a:t> </a:t>
            </a:r>
            <a:r>
              <a:rPr lang="cs-CZ" sz="1050" dirty="0">
                <a:latin typeface="Consolas" panose="020B0609020204030204" pitchFamily="49" charset="0"/>
              </a:rPr>
              <a:t>0 </a:t>
            </a:r>
            <a:r>
              <a:rPr lang="en-US" sz="1050" dirty="0">
                <a:latin typeface="Consolas" panose="020B0609020204030204" pitchFamily="49" charset="0"/>
              </a:rPr>
              <a:t>                  </a:t>
            </a:r>
            <a:r>
              <a:rPr lang="cs-CZ" sz="1050" dirty="0">
                <a:latin typeface="Consolas" panose="020B0609020204030204" pitchFamily="49" charset="0"/>
              </a:rPr>
              <a:t>1 </a:t>
            </a:r>
            <a:r>
              <a:rPr lang="en-US" sz="1050" dirty="0">
                <a:latin typeface="Consolas" panose="020B0609020204030204" pitchFamily="49" charset="0"/>
              </a:rPr>
              <a:t>                  </a:t>
            </a:r>
            <a:r>
              <a:rPr lang="cs-CZ" sz="1050" dirty="0">
                <a:latin typeface="Consolas" panose="020B0609020204030204" pitchFamily="49" charset="0"/>
              </a:rPr>
              <a:t>2 </a:t>
            </a:r>
            <a:r>
              <a:rPr lang="en-US" sz="1050" dirty="0">
                <a:latin typeface="Consolas" panose="020B0609020204030204" pitchFamily="49" charset="0"/>
              </a:rPr>
              <a:t>                  </a:t>
            </a:r>
            <a:r>
              <a:rPr lang="cs-CZ" sz="1050" dirty="0">
                <a:latin typeface="Consolas" panose="020B0609020204030204" pitchFamily="49" charset="0"/>
              </a:rPr>
              <a:t>3</a:t>
            </a:r>
            <a:endParaRPr lang="en-US" sz="1050" dirty="0">
              <a:latin typeface="Consolas" panose="020B0609020204030204" pitchFamily="49" charset="0"/>
            </a:endParaRPr>
          </a:p>
          <a:p>
            <a:pPr marL="0" indent="0">
              <a:spcBef>
                <a:spcPts val="0"/>
              </a:spcBef>
              <a:buNone/>
            </a:pPr>
            <a:r>
              <a:rPr lang="en-US" sz="1050" dirty="0">
                <a:latin typeface="Consolas" panose="020B0609020204030204" pitchFamily="49" charset="0"/>
              </a:rPr>
              <a:t> </a:t>
            </a:r>
            <a:r>
              <a:rPr lang="cs-CZ" sz="1050" dirty="0">
                <a:latin typeface="Consolas" panose="020B0609020204030204" pitchFamily="49" charset="0"/>
              </a:rPr>
              <a:t>0 1 2 3 4 5 6 7 8 9 0 1 2 3 4 5 6 7 8 9 0 1 2 3 4 5 6 7 8 9 0 1</a:t>
            </a:r>
            <a:endParaRPr lang="en-US" sz="1050" dirty="0">
              <a:latin typeface="Consolas" panose="020B0609020204030204" pitchFamily="49" charset="0"/>
            </a:endParaRPr>
          </a:p>
          <a:p>
            <a:pPr marL="0" indent="0">
              <a:spcBef>
                <a:spcPts val="0"/>
              </a:spcBef>
              <a:buNone/>
            </a:pPr>
            <a:r>
              <a:rPr lang="cs-CZ" sz="1050" dirty="0">
                <a:latin typeface="Consolas" panose="020B0609020204030204" pitchFamily="49" charset="0"/>
              </a:rPr>
              <a:t>+-+-+-+-+-+-+-+-+-+-+-+-+-+-+-+-+-+-+-+-+-+-+-+-+-+-+-+-+-+-+-+-+</a:t>
            </a:r>
            <a:endParaRPr lang="en-US" sz="1050" dirty="0">
              <a:latin typeface="Consolas" panose="020B0609020204030204" pitchFamily="49" charset="0"/>
            </a:endParaRPr>
          </a:p>
          <a:p>
            <a:pPr marL="0" indent="0">
              <a:spcBef>
                <a:spcPts val="0"/>
              </a:spcBef>
              <a:buNone/>
            </a:pPr>
            <a:r>
              <a:rPr lang="en-US" sz="1050" dirty="0">
                <a:latin typeface="Consolas" panose="020B0609020204030204" pitchFamily="49" charset="0"/>
              </a:rPr>
              <a:t>|Version| Traffic Class |              Flow Label               |</a:t>
            </a:r>
          </a:p>
          <a:p>
            <a:pPr marL="0" indent="0">
              <a:spcBef>
                <a:spcPts val="0"/>
              </a:spcBef>
              <a:buNone/>
            </a:pPr>
            <a:r>
              <a:rPr lang="en-US" sz="1050" dirty="0">
                <a:latin typeface="Consolas" panose="020B0609020204030204" pitchFamily="49" charset="0"/>
              </a:rPr>
              <a:t>+-+-+-+-+-+-+-+-+-+-+-+-+-+-+-+-+-+-+-+-+-+-+-+-+-+-+-+-+-+-+-+-+</a:t>
            </a:r>
          </a:p>
          <a:p>
            <a:pPr marL="0" indent="0">
              <a:spcBef>
                <a:spcPts val="0"/>
              </a:spcBef>
              <a:buNone/>
            </a:pPr>
            <a:r>
              <a:rPr lang="en-US" sz="1050" dirty="0">
                <a:latin typeface="Consolas" panose="020B0609020204030204" pitchFamily="49" charset="0"/>
              </a:rPr>
              <a:t>|    Payload Length             |  Next Header  |   Hop Limit   |</a:t>
            </a:r>
          </a:p>
          <a:p>
            <a:pPr marL="0" indent="0">
              <a:spcBef>
                <a:spcPts val="0"/>
              </a:spcBef>
              <a:buNone/>
            </a:pPr>
            <a:r>
              <a:rPr lang="en-US" sz="1050" dirty="0">
                <a:latin typeface="Consolas" panose="020B0609020204030204" pitchFamily="49" charset="0"/>
              </a:rPr>
              <a:t>+-+-+-+-+-+-+-+-+-+-+-+-+-+-+-+-+-+-+-+-+-+-+-+-+-+-+-+-+-+-+-+-+</a:t>
            </a:r>
          </a:p>
          <a:p>
            <a:pPr marL="0" indent="0">
              <a:spcBef>
                <a:spcPts val="0"/>
              </a:spcBef>
              <a:buNone/>
            </a:pPr>
            <a:r>
              <a:rPr lang="en-US" sz="1050" dirty="0">
                <a:latin typeface="Consolas" panose="020B0609020204030204" pitchFamily="49" charset="0"/>
              </a:rPr>
              <a:t>|                                                               |</a:t>
            </a:r>
          </a:p>
          <a:p>
            <a:pPr marL="0" indent="0">
              <a:spcBef>
                <a:spcPts val="0"/>
              </a:spcBef>
              <a:buNone/>
            </a:pPr>
            <a:r>
              <a:rPr lang="en-US" sz="1050" dirty="0">
                <a:latin typeface="Consolas" panose="020B0609020204030204" pitchFamily="49" charset="0"/>
              </a:rPr>
              <a:t>|                         Source Address                        |</a:t>
            </a:r>
          </a:p>
          <a:p>
            <a:pPr marL="0" indent="0">
              <a:spcBef>
                <a:spcPts val="0"/>
              </a:spcBef>
              <a:buNone/>
            </a:pPr>
            <a:r>
              <a:rPr lang="en-US" sz="1050" dirty="0">
                <a:latin typeface="Consolas" panose="020B0609020204030204" pitchFamily="49" charset="0"/>
              </a:rPr>
              <a:t>|                            (128 bit)                          |</a:t>
            </a:r>
          </a:p>
          <a:p>
            <a:pPr marL="0" indent="0">
              <a:spcBef>
                <a:spcPts val="0"/>
              </a:spcBef>
              <a:buNone/>
            </a:pPr>
            <a:r>
              <a:rPr lang="en-US" sz="1050" dirty="0">
                <a:latin typeface="Consolas" panose="020B0609020204030204" pitchFamily="49" charset="0"/>
              </a:rPr>
              <a:t>|                                                               |</a:t>
            </a:r>
          </a:p>
          <a:p>
            <a:pPr marL="0" indent="0">
              <a:spcBef>
                <a:spcPts val="0"/>
              </a:spcBef>
              <a:buNone/>
            </a:pPr>
            <a:r>
              <a:rPr lang="en-US" sz="1050" dirty="0">
                <a:latin typeface="Consolas" panose="020B0609020204030204" pitchFamily="49" charset="0"/>
              </a:rPr>
              <a:t>+-+-+-+-+-+-+-+-+-+-+-+-+-+-+-+-+-+-+-+-+-+-+-+-+-+-+-+-+-+-+-+-+</a:t>
            </a:r>
          </a:p>
          <a:p>
            <a:pPr marL="0" indent="0">
              <a:spcBef>
                <a:spcPts val="0"/>
              </a:spcBef>
              <a:buNone/>
            </a:pPr>
            <a:r>
              <a:rPr lang="en-US" sz="1050" dirty="0">
                <a:latin typeface="Consolas" panose="020B0609020204030204" pitchFamily="49" charset="0"/>
              </a:rPr>
              <a:t>| </a:t>
            </a:r>
            <a:r>
              <a:rPr lang="en-US" sz="1050" i="1" dirty="0">
                <a:solidFill>
                  <a:srgbClr val="92D050"/>
                </a:solidFill>
                <a:latin typeface="Consolas" panose="020B0609020204030204" pitchFamily="49" charset="0"/>
              </a:rPr>
              <a:t>“Active segment”                                              </a:t>
            </a:r>
            <a:r>
              <a:rPr lang="en-US" sz="1050" dirty="0">
                <a:latin typeface="Consolas" panose="020B0609020204030204" pitchFamily="49" charset="0"/>
              </a:rPr>
              <a:t>|</a:t>
            </a:r>
          </a:p>
          <a:p>
            <a:pPr marL="0" indent="0">
              <a:spcBef>
                <a:spcPts val="0"/>
              </a:spcBef>
              <a:buNone/>
            </a:pPr>
            <a:r>
              <a:rPr lang="en-US" sz="1050" dirty="0">
                <a:latin typeface="Consolas" panose="020B0609020204030204" pitchFamily="49" charset="0"/>
              </a:rPr>
              <a:t>|                      Destination Address                      |</a:t>
            </a:r>
          </a:p>
          <a:p>
            <a:pPr marL="0" indent="0">
              <a:spcBef>
                <a:spcPts val="0"/>
              </a:spcBef>
              <a:buNone/>
            </a:pPr>
            <a:r>
              <a:rPr lang="en-US" sz="1050" dirty="0">
                <a:latin typeface="Consolas" panose="020B0609020204030204" pitchFamily="49" charset="0"/>
              </a:rPr>
              <a:t>|                            (128 bit)                          |</a:t>
            </a:r>
          </a:p>
          <a:p>
            <a:pPr marL="0" indent="0">
              <a:spcBef>
                <a:spcPts val="0"/>
              </a:spcBef>
              <a:buNone/>
            </a:pPr>
            <a:r>
              <a:rPr lang="en-US" sz="1050" dirty="0">
                <a:latin typeface="Consolas" panose="020B0609020204030204" pitchFamily="49" charset="0"/>
              </a:rPr>
              <a:t>|                                                               |</a:t>
            </a:r>
          </a:p>
          <a:p>
            <a:pPr marL="0" indent="0">
              <a:spcBef>
                <a:spcPts val="0"/>
              </a:spcBef>
              <a:buNone/>
            </a:pPr>
            <a:r>
              <a:rPr lang="en-US" sz="1050" dirty="0">
                <a:latin typeface="Consolas" panose="020B0609020204030204" pitchFamily="49" charset="0"/>
              </a:rPr>
              <a:t>+-+-+-+-+-+-+-+-+-+-+-+-+-+-+-+-+-+-+-+-+-+-+-+-+-+-+-+-+-+-+-+-+</a:t>
            </a:r>
          </a:p>
          <a:p>
            <a:pPr marL="0" indent="0">
              <a:spcBef>
                <a:spcPts val="0"/>
              </a:spcBef>
              <a:buNone/>
            </a:pPr>
            <a:r>
              <a:rPr lang="cs-CZ" sz="1050" dirty="0">
                <a:latin typeface="Consolas" panose="020B0609020204030204" pitchFamily="49" charset="0"/>
              </a:rPr>
              <a:t>|</a:t>
            </a:r>
            <a:r>
              <a:rPr lang="en-US" sz="1050" dirty="0">
                <a:latin typeface="Consolas" panose="020B0609020204030204" pitchFamily="49" charset="0"/>
              </a:rPr>
              <a:t>  </a:t>
            </a:r>
            <a:r>
              <a:rPr lang="en-US" sz="1050" b="1" dirty="0">
                <a:solidFill>
                  <a:schemeClr val="tx2"/>
                </a:solidFill>
                <a:latin typeface="Consolas" panose="020B0609020204030204" pitchFamily="49" charset="0"/>
              </a:rPr>
              <a:t>Next Header  </a:t>
            </a:r>
            <a:r>
              <a:rPr lang="en-US" sz="1050" dirty="0">
                <a:latin typeface="Consolas" panose="020B0609020204030204" pitchFamily="49" charset="0"/>
              </a:rPr>
              <a:t>| </a:t>
            </a:r>
            <a:r>
              <a:rPr lang="en-US" sz="1050" b="1" dirty="0" err="1">
                <a:solidFill>
                  <a:schemeClr val="accent2"/>
                </a:solidFill>
                <a:latin typeface="Consolas" panose="020B0609020204030204" pitchFamily="49" charset="0"/>
              </a:rPr>
              <a:t>Hdr</a:t>
            </a:r>
            <a:r>
              <a:rPr lang="en-US" sz="1050" b="1" dirty="0">
                <a:solidFill>
                  <a:schemeClr val="accent2"/>
                </a:solidFill>
                <a:latin typeface="Consolas" panose="020B0609020204030204" pitchFamily="49" charset="0"/>
              </a:rPr>
              <a:t> Ext Len   </a:t>
            </a:r>
            <a:r>
              <a:rPr lang="en-US" sz="1050" dirty="0">
                <a:latin typeface="Consolas" panose="020B0609020204030204" pitchFamily="49" charset="0"/>
              </a:rPr>
              <a:t>| </a:t>
            </a:r>
            <a:r>
              <a:rPr lang="en-US" sz="1050" b="1" dirty="0">
                <a:solidFill>
                  <a:schemeClr val="accent4"/>
                </a:solidFill>
                <a:latin typeface="Consolas" panose="020B0609020204030204" pitchFamily="49" charset="0"/>
              </a:rPr>
              <a:t>Routing Type  </a:t>
            </a:r>
            <a:r>
              <a:rPr lang="en-US" sz="1050" dirty="0">
                <a:latin typeface="Consolas" panose="020B0609020204030204" pitchFamily="49" charset="0"/>
              </a:rPr>
              <a:t>| </a:t>
            </a:r>
            <a:r>
              <a:rPr lang="en-US" sz="1050" b="1" dirty="0">
                <a:solidFill>
                  <a:srgbClr val="FFC000"/>
                </a:solidFill>
                <a:latin typeface="Consolas" panose="020B0609020204030204" pitchFamily="49" charset="0"/>
              </a:rPr>
              <a:t>Segments Left</a:t>
            </a:r>
            <a:r>
              <a:rPr lang="en-US" sz="1050" dirty="0">
                <a:solidFill>
                  <a:srgbClr val="FFC000"/>
                </a:solidFill>
                <a:latin typeface="Consolas" panose="020B0609020204030204" pitchFamily="49" charset="0"/>
              </a:rPr>
              <a:t> </a:t>
            </a:r>
            <a:r>
              <a:rPr lang="cs-CZ" sz="1050" dirty="0">
                <a:latin typeface="Consolas" panose="020B0609020204030204" pitchFamily="49" charset="0"/>
              </a:rPr>
              <a:t>| </a:t>
            </a:r>
            <a:r>
              <a:rPr lang="en-US" sz="1050" dirty="0">
                <a:latin typeface="Consolas" panose="020B0609020204030204" pitchFamily="49" charset="0"/>
              </a:rPr>
              <a:t>      </a:t>
            </a:r>
          </a:p>
          <a:p>
            <a:pPr marL="0" indent="0">
              <a:spcBef>
                <a:spcPts val="0"/>
              </a:spcBef>
              <a:buNone/>
            </a:pPr>
            <a:r>
              <a:rPr lang="cs-CZ" sz="1050" dirty="0">
                <a:latin typeface="Consolas" panose="020B0609020204030204" pitchFamily="49" charset="0"/>
              </a:rPr>
              <a:t>+-+-+-+-+-+-+-+-+-+-+-+-+-+-+-+-+-+-+-+-+-+-+-+-+-+-+-+-+-+-+-+-+</a:t>
            </a:r>
            <a:endParaRPr lang="en-US" sz="1050" dirty="0">
              <a:latin typeface="Consolas" panose="020B0609020204030204" pitchFamily="49" charset="0"/>
            </a:endParaRPr>
          </a:p>
          <a:p>
            <a:pPr marL="0" indent="0">
              <a:spcBef>
                <a:spcPts val="0"/>
              </a:spcBef>
              <a:buNone/>
            </a:pPr>
            <a:r>
              <a:rPr lang="en-US" sz="1050" dirty="0">
                <a:latin typeface="Consolas" panose="020B0609020204030204" pitchFamily="49" charset="0"/>
              </a:rPr>
              <a:t>| First Segment |    Flags      |             Tag               |</a:t>
            </a:r>
          </a:p>
          <a:p>
            <a:pPr marL="0" indent="0">
              <a:spcBef>
                <a:spcPts val="0"/>
              </a:spcBef>
              <a:buNone/>
            </a:pPr>
            <a:r>
              <a:rPr lang="en-US" sz="1050" dirty="0">
                <a:latin typeface="Consolas" panose="020B0609020204030204" pitchFamily="49" charset="0"/>
              </a:rPr>
              <a:t>+-+-+-+-+-+-+-+-+-+-+-+-+-+-+-+-+-+-+-+-+-+-+-+-+-+-+-+-+-+-+-+-+</a:t>
            </a:r>
          </a:p>
          <a:p>
            <a:pPr marL="0" indent="0">
              <a:spcBef>
                <a:spcPts val="0"/>
              </a:spcBef>
              <a:buNone/>
            </a:pPr>
            <a:r>
              <a:rPr lang="en-US" sz="1050" dirty="0">
                <a:latin typeface="Consolas" panose="020B0609020204030204" pitchFamily="49" charset="0"/>
              </a:rPr>
              <a:t>| </a:t>
            </a:r>
            <a:r>
              <a:rPr lang="en-US" sz="1050" i="1" dirty="0">
                <a:solidFill>
                  <a:schemeClr val="bg1"/>
                </a:solidFill>
                <a:highlight>
                  <a:srgbClr val="000080"/>
                </a:highlight>
                <a:latin typeface="Consolas" panose="020B0609020204030204" pitchFamily="49" charset="0"/>
              </a:rPr>
              <a:t>“Last Segment” = Final Destination</a:t>
            </a:r>
            <a:r>
              <a:rPr lang="en-US" sz="1050" dirty="0">
                <a:latin typeface="Consolas" panose="020B0609020204030204" pitchFamily="49" charset="0"/>
              </a:rPr>
              <a:t>                                               |</a:t>
            </a:r>
          </a:p>
          <a:p>
            <a:pPr marL="0" indent="0">
              <a:spcBef>
                <a:spcPts val="0"/>
              </a:spcBef>
              <a:buNone/>
            </a:pPr>
            <a:r>
              <a:rPr lang="en-US" sz="1050" dirty="0">
                <a:latin typeface="Consolas" panose="020B0609020204030204" pitchFamily="49" charset="0"/>
              </a:rPr>
              <a:t>|             Segment List[0] (128 bits IPv6 address)           |</a:t>
            </a:r>
          </a:p>
          <a:p>
            <a:pPr marL="0" indent="0">
              <a:spcBef>
                <a:spcPts val="0"/>
              </a:spcBef>
              <a:buNone/>
            </a:pPr>
            <a:r>
              <a:rPr lang="en-US" sz="1050" dirty="0">
                <a:latin typeface="Consolas" panose="020B0609020204030204" pitchFamily="49" charset="0"/>
              </a:rPr>
              <a:t>|                                                               |</a:t>
            </a:r>
          </a:p>
          <a:p>
            <a:pPr marL="0" indent="0">
              <a:spcBef>
                <a:spcPts val="0"/>
              </a:spcBef>
              <a:buNone/>
            </a:pPr>
            <a:r>
              <a:rPr lang="en-US" sz="1050" dirty="0">
                <a:latin typeface="Consolas" panose="020B0609020204030204" pitchFamily="49" charset="0"/>
              </a:rPr>
              <a:t>+-+-+-+-+-+-+-+-+-+-+-+-+-+-+-+-+-+-+-+-+-+-+-+-+-+-+-+-+-+-+-+-+</a:t>
            </a:r>
          </a:p>
          <a:p>
            <a:pPr marL="0" indent="0">
              <a:spcBef>
                <a:spcPts val="0"/>
              </a:spcBef>
              <a:buNone/>
            </a:pPr>
            <a:r>
              <a:rPr lang="en-US" sz="1050" dirty="0">
                <a:latin typeface="Consolas" panose="020B0609020204030204" pitchFamily="49" charset="0"/>
              </a:rPr>
              <a:t>|                                                               |</a:t>
            </a:r>
          </a:p>
          <a:p>
            <a:pPr marL="0" indent="0">
              <a:spcBef>
                <a:spcPts val="0"/>
              </a:spcBef>
              <a:buNone/>
            </a:pPr>
            <a:r>
              <a:rPr lang="en-US" sz="1050" dirty="0">
                <a:latin typeface="Consolas" panose="020B0609020204030204" pitchFamily="49" charset="0"/>
              </a:rPr>
              <a:t>. </a:t>
            </a:r>
            <a:r>
              <a:rPr lang="en-US" sz="1050" i="1" dirty="0">
                <a:solidFill>
                  <a:srgbClr val="FFC000"/>
                </a:solidFill>
                <a:highlight>
                  <a:srgbClr val="008000"/>
                </a:highlight>
                <a:latin typeface="Consolas" panose="020B0609020204030204" pitchFamily="49" charset="0"/>
              </a:rPr>
              <a:t>“Active Segment”</a:t>
            </a:r>
            <a:r>
              <a:rPr lang="en-US" sz="1050" i="1" dirty="0">
                <a:solidFill>
                  <a:srgbClr val="FFC000"/>
                </a:solidFill>
                <a:latin typeface="Consolas" panose="020B0609020204030204" pitchFamily="49" charset="0"/>
              </a:rPr>
              <a:t>                                                              </a:t>
            </a:r>
            <a:endParaRPr lang="en-US" sz="1050" dirty="0">
              <a:solidFill>
                <a:srgbClr val="FFC000"/>
              </a:solidFill>
              <a:latin typeface="Consolas" panose="020B0609020204030204" pitchFamily="49" charset="0"/>
            </a:endParaRPr>
          </a:p>
          <a:p>
            <a:pPr marL="0" indent="0">
              <a:spcBef>
                <a:spcPts val="0"/>
              </a:spcBef>
              <a:buNone/>
            </a:pPr>
            <a:r>
              <a:rPr lang="en-US" sz="1050" dirty="0">
                <a:latin typeface="Consolas" panose="020B0609020204030204" pitchFamily="49" charset="0"/>
              </a:rPr>
              <a:t>.            Segment list [</a:t>
            </a:r>
            <a:r>
              <a:rPr lang="en-US" sz="1050" dirty="0">
                <a:solidFill>
                  <a:srgbClr val="FFC000"/>
                </a:solidFill>
                <a:latin typeface="Consolas" panose="020B0609020204030204" pitchFamily="49" charset="0"/>
              </a:rPr>
              <a:t>Segments Left</a:t>
            </a:r>
            <a:r>
              <a:rPr lang="en-US" sz="1050" dirty="0">
                <a:latin typeface="Consolas" panose="020B0609020204030204" pitchFamily="49" charset="0"/>
              </a:rPr>
              <a:t>] (128 bits IPv6 </a:t>
            </a:r>
            <a:r>
              <a:rPr lang="en-US" sz="1050" dirty="0" err="1">
                <a:latin typeface="Consolas" panose="020B0609020204030204" pitchFamily="49" charset="0"/>
              </a:rPr>
              <a:t>addr</a:t>
            </a:r>
            <a:r>
              <a:rPr lang="en-US" sz="1050" dirty="0">
                <a:latin typeface="Consolas" panose="020B0609020204030204" pitchFamily="49" charset="0"/>
              </a:rPr>
              <a:t>)                                             .</a:t>
            </a:r>
          </a:p>
          <a:p>
            <a:pPr marL="0" indent="0">
              <a:spcBef>
                <a:spcPts val="0"/>
              </a:spcBef>
              <a:buNone/>
            </a:pPr>
            <a:r>
              <a:rPr lang="en-US" sz="1050" dirty="0">
                <a:latin typeface="Consolas" panose="020B0609020204030204" pitchFamily="49" charset="0"/>
              </a:rPr>
              <a:t>.                             ...                               .</a:t>
            </a:r>
          </a:p>
          <a:p>
            <a:pPr marL="0" indent="0">
              <a:spcBef>
                <a:spcPts val="0"/>
              </a:spcBef>
              <a:buNone/>
            </a:pPr>
            <a:r>
              <a:rPr lang="en-US" sz="1050" dirty="0">
                <a:latin typeface="Consolas" panose="020B0609020204030204" pitchFamily="49" charset="0"/>
              </a:rPr>
              <a:t>|                                                               |</a:t>
            </a:r>
          </a:p>
          <a:p>
            <a:pPr marL="0" indent="0">
              <a:spcBef>
                <a:spcPts val="0"/>
              </a:spcBef>
              <a:buNone/>
            </a:pPr>
            <a:r>
              <a:rPr lang="en-US" sz="1050" dirty="0">
                <a:latin typeface="Consolas" panose="020B0609020204030204" pitchFamily="49" charset="0"/>
              </a:rPr>
              <a:t>+-+-+-+-+-+-+-+-+-+-+-+-+-+-+-+-+-+-+-+-+-+-+-+-+-+-+-+-+-+-+-+-+</a:t>
            </a:r>
          </a:p>
          <a:p>
            <a:pPr marL="0" indent="0">
              <a:spcBef>
                <a:spcPts val="0"/>
              </a:spcBef>
              <a:buNone/>
            </a:pPr>
            <a:r>
              <a:rPr lang="en-US" sz="1050" dirty="0">
                <a:latin typeface="Consolas" panose="020B0609020204030204" pitchFamily="49" charset="0"/>
              </a:rPr>
              <a:t>|  </a:t>
            </a:r>
            <a:r>
              <a:rPr lang="en-US" sz="1050" i="1" dirty="0">
                <a:solidFill>
                  <a:schemeClr val="bg1"/>
                </a:solidFill>
                <a:highlight>
                  <a:srgbClr val="7030A0"/>
                </a:highlight>
                <a:latin typeface="Consolas" panose="020B0609020204030204" pitchFamily="49" charset="0"/>
              </a:rPr>
              <a:t>“First Segment”</a:t>
            </a:r>
            <a:r>
              <a:rPr lang="en-US" sz="1050" dirty="0">
                <a:latin typeface="Consolas" panose="020B0609020204030204" pitchFamily="49" charset="0"/>
              </a:rPr>
              <a:t>                                              |                |                                                               |</a:t>
            </a:r>
          </a:p>
          <a:p>
            <a:pPr marL="0" indent="0">
              <a:spcBef>
                <a:spcPts val="0"/>
              </a:spcBef>
              <a:buNone/>
            </a:pPr>
            <a:r>
              <a:rPr lang="en-US" sz="1050" dirty="0">
                <a:latin typeface="Consolas" panose="020B0609020204030204" pitchFamily="49" charset="0"/>
              </a:rPr>
              <a:t>|              Segment List[n-1] (128 bits IPv6 address)        |</a:t>
            </a:r>
          </a:p>
          <a:p>
            <a:pPr marL="0" indent="0">
              <a:spcBef>
                <a:spcPts val="0"/>
              </a:spcBef>
              <a:buNone/>
            </a:pPr>
            <a:r>
              <a:rPr lang="en-US" sz="1050" dirty="0">
                <a:latin typeface="Consolas" panose="020B0609020204030204" pitchFamily="49" charset="0"/>
              </a:rPr>
              <a:t>|                                                               |</a:t>
            </a:r>
          </a:p>
          <a:p>
            <a:pPr marL="0" indent="0">
              <a:spcBef>
                <a:spcPts val="0"/>
              </a:spcBef>
              <a:buNone/>
            </a:pPr>
            <a:r>
              <a:rPr lang="en-US" sz="1050" dirty="0">
                <a:latin typeface="Consolas" panose="020B0609020204030204" pitchFamily="49" charset="0"/>
              </a:rPr>
              <a:t>+-+-+-+-+-+-+-+-+-+-+-+-+-+-+-+-+-+-+-+-+-+-+-+-+-+-+-+-+-+-+-+-+</a:t>
            </a:r>
          </a:p>
          <a:p>
            <a:pPr marL="0" indent="0">
              <a:spcBef>
                <a:spcPts val="0"/>
              </a:spcBef>
              <a:buNone/>
            </a:pPr>
            <a:r>
              <a:rPr lang="en-US" sz="1050" dirty="0">
                <a:latin typeface="Consolas" panose="020B0609020204030204" pitchFamily="49" charset="0"/>
              </a:rPr>
              <a:t>//                                                             //</a:t>
            </a:r>
          </a:p>
          <a:p>
            <a:pPr marL="0" indent="0">
              <a:spcBef>
                <a:spcPts val="0"/>
              </a:spcBef>
              <a:buNone/>
            </a:pPr>
            <a:r>
              <a:rPr lang="en-US" sz="1050" dirty="0">
                <a:latin typeface="Consolas" panose="020B0609020204030204" pitchFamily="49" charset="0"/>
              </a:rPr>
              <a:t>//          Optional Type Length Value objects (variable)      //</a:t>
            </a:r>
          </a:p>
          <a:p>
            <a:pPr marL="0" indent="0">
              <a:spcBef>
                <a:spcPts val="0"/>
              </a:spcBef>
              <a:buNone/>
            </a:pPr>
            <a:r>
              <a:rPr lang="en-US" sz="1050" dirty="0">
                <a:latin typeface="Consolas" panose="020B0609020204030204" pitchFamily="49" charset="0"/>
              </a:rPr>
              <a:t>//                                                             //</a:t>
            </a:r>
          </a:p>
          <a:p>
            <a:pPr marL="0" indent="0">
              <a:spcBef>
                <a:spcPts val="0"/>
              </a:spcBef>
              <a:buNone/>
            </a:pPr>
            <a:r>
              <a:rPr lang="en-US" sz="1050" dirty="0">
                <a:latin typeface="Consolas" panose="020B0609020204030204" pitchFamily="49" charset="0"/>
              </a:rPr>
              <a:t>+-+-+-+-+-+-+-+-+-+-+-+-+-+-+-+-+-+-+-+-+-+-+-+-+-+-+-+-+-+-+-+-+</a:t>
            </a:r>
          </a:p>
        </p:txBody>
      </p:sp>
      <p:sp>
        <p:nvSpPr>
          <p:cNvPr id="5" name="TextBox 4">
            <a:extLst>
              <a:ext uri="{FF2B5EF4-FFF2-40B4-BE49-F238E27FC236}">
                <a16:creationId xmlns:a16="http://schemas.microsoft.com/office/drawing/2014/main" id="{923AF6C9-5A8E-BD34-B83F-0CB2BC641749}"/>
              </a:ext>
            </a:extLst>
          </p:cNvPr>
          <p:cNvSpPr txBox="1"/>
          <p:nvPr/>
        </p:nvSpPr>
        <p:spPr>
          <a:xfrm>
            <a:off x="6227064" y="3020568"/>
            <a:ext cx="1198880" cy="304800"/>
          </a:xfrm>
          <a:prstGeom prst="rect">
            <a:avLst/>
          </a:prstGeom>
          <a:noFill/>
          <a:ln w="25400">
            <a:solidFill>
              <a:srgbClr val="7030A0"/>
            </a:solidFill>
          </a:ln>
        </p:spPr>
        <p:txBody>
          <a:bodyPr vert="horz" wrap="none" lIns="91440" tIns="45720" rIns="91440" bIns="45720" rtlCol="0">
            <a:noAutofit/>
          </a:bodyPr>
          <a:lstStyle>
            <a:defPPr>
              <a:defRPr lang="sk-SK"/>
            </a:defPPr>
            <a:lvl1pPr marR="0" indent="0" fontAlgn="auto">
              <a:lnSpc>
                <a:spcPct val="90000"/>
              </a:lnSpc>
              <a:spcBef>
                <a:spcPts val="1000"/>
              </a:spcBef>
              <a:spcAft>
                <a:spcPts val="0"/>
              </a:spcAft>
              <a:buClrTx/>
              <a:buSzTx/>
              <a:buFont typeface="Arial" panose="020B0604020202020204" pitchFamily="34" charset="0"/>
              <a:buNone/>
              <a:tabLst/>
              <a:defRPr kumimoji="0" sz="2000" b="1" i="0" u="none" strike="noStrike" cap="none" spc="0" normalizeH="0" baseline="0">
                <a:ln>
                  <a:noFill/>
                </a:ln>
                <a:solidFill>
                  <a:schemeClr val="accent6"/>
                </a:solidFill>
                <a:effectLst/>
                <a:uLnTx/>
                <a:uFillTx/>
                <a:latin typeface="Arial" panose="020B0604020202020204"/>
              </a:defRPr>
            </a:lvl1pPr>
          </a:lstStyle>
          <a:p>
            <a:r>
              <a:rPr lang="en-US" dirty="0">
                <a:solidFill>
                  <a:srgbClr val="92D050"/>
                </a:solidFill>
              </a:rPr>
              <a:t>        </a:t>
            </a:r>
            <a:endParaRPr lang="cs-CZ" dirty="0" err="1">
              <a:solidFill>
                <a:srgbClr val="92D050"/>
              </a:solidFill>
            </a:endParaRPr>
          </a:p>
        </p:txBody>
      </p:sp>
      <p:sp>
        <p:nvSpPr>
          <p:cNvPr id="7" name="TextBox 6">
            <a:extLst>
              <a:ext uri="{FF2B5EF4-FFF2-40B4-BE49-F238E27FC236}">
                <a16:creationId xmlns:a16="http://schemas.microsoft.com/office/drawing/2014/main" id="{41959C62-0936-70A0-23E1-A9635B82E820}"/>
              </a:ext>
            </a:extLst>
          </p:cNvPr>
          <p:cNvSpPr txBox="1"/>
          <p:nvPr/>
        </p:nvSpPr>
        <p:spPr>
          <a:xfrm>
            <a:off x="6125596" y="5192863"/>
            <a:ext cx="4838060" cy="897835"/>
          </a:xfrm>
          <a:prstGeom prst="rect">
            <a:avLst/>
          </a:prstGeom>
          <a:noFill/>
          <a:ln w="25400">
            <a:solidFill>
              <a:srgbClr val="7030A0"/>
            </a:solidFill>
          </a:ln>
        </p:spPr>
        <p:txBody>
          <a:bodyPr vert="horz" wrap="none" lIns="91440" tIns="45720" rIns="91440" bIns="45720" rtlCol="0">
            <a:noAutofit/>
          </a:bodyPr>
          <a:lstStyle>
            <a:defPPr>
              <a:defRPr lang="sk-SK"/>
            </a:defPPr>
            <a:lvl1pPr marR="0" indent="0" fontAlgn="auto">
              <a:lnSpc>
                <a:spcPct val="90000"/>
              </a:lnSpc>
              <a:spcBef>
                <a:spcPts val="1000"/>
              </a:spcBef>
              <a:spcAft>
                <a:spcPts val="0"/>
              </a:spcAft>
              <a:buClrTx/>
              <a:buSzTx/>
              <a:buFont typeface="Arial" panose="020B0604020202020204" pitchFamily="34" charset="0"/>
              <a:buNone/>
              <a:tabLst/>
              <a:defRPr kumimoji="0" sz="2000" b="1" i="0" u="none" strike="noStrike" cap="none" spc="0" normalizeH="0" baseline="0">
                <a:ln>
                  <a:noFill/>
                </a:ln>
                <a:solidFill>
                  <a:schemeClr val="accent6"/>
                </a:solidFill>
                <a:effectLst/>
                <a:uLnTx/>
                <a:uFillTx/>
                <a:latin typeface="Arial" panose="020B0604020202020204"/>
              </a:defRPr>
            </a:lvl1pPr>
          </a:lstStyle>
          <a:p>
            <a:r>
              <a:rPr lang="en-US" dirty="0">
                <a:solidFill>
                  <a:srgbClr val="92D050"/>
                </a:solidFill>
              </a:rPr>
              <a:t>        </a:t>
            </a:r>
            <a:endParaRPr lang="cs-CZ" dirty="0" err="1">
              <a:solidFill>
                <a:srgbClr val="92D050"/>
              </a:solidFill>
            </a:endParaRPr>
          </a:p>
        </p:txBody>
      </p:sp>
      <p:sp>
        <p:nvSpPr>
          <p:cNvPr id="9" name="Freeform: Shape 8">
            <a:extLst>
              <a:ext uri="{FF2B5EF4-FFF2-40B4-BE49-F238E27FC236}">
                <a16:creationId xmlns:a16="http://schemas.microsoft.com/office/drawing/2014/main" id="{54085651-E970-8E21-310F-4740DC2AE0BD}"/>
              </a:ext>
            </a:extLst>
          </p:cNvPr>
          <p:cNvSpPr/>
          <p:nvPr/>
        </p:nvSpPr>
        <p:spPr>
          <a:xfrm>
            <a:off x="5102082" y="3145536"/>
            <a:ext cx="1088406" cy="2395728"/>
          </a:xfrm>
          <a:custGeom>
            <a:avLst/>
            <a:gdLst>
              <a:gd name="connsiteX0" fmla="*/ 1088406 w 1088406"/>
              <a:gd name="connsiteY0" fmla="*/ 0 h 2395728"/>
              <a:gd name="connsiteX1" fmla="*/ 270 w 1088406"/>
              <a:gd name="connsiteY1" fmla="*/ 1024128 h 2395728"/>
              <a:gd name="connsiteX2" fmla="*/ 1006110 w 1088406"/>
              <a:gd name="connsiteY2" fmla="*/ 2395728 h 2395728"/>
            </a:gdLst>
            <a:ahLst/>
            <a:cxnLst>
              <a:cxn ang="0">
                <a:pos x="connsiteX0" y="connsiteY0"/>
              </a:cxn>
              <a:cxn ang="0">
                <a:pos x="connsiteX1" y="connsiteY1"/>
              </a:cxn>
              <a:cxn ang="0">
                <a:pos x="connsiteX2" y="connsiteY2"/>
              </a:cxn>
            </a:cxnLst>
            <a:rect l="l" t="t" r="r" b="b"/>
            <a:pathLst>
              <a:path w="1088406" h="2395728">
                <a:moveTo>
                  <a:pt x="1088406" y="0"/>
                </a:moveTo>
                <a:cubicBezTo>
                  <a:pt x="551196" y="312420"/>
                  <a:pt x="13986" y="624840"/>
                  <a:pt x="270" y="1024128"/>
                </a:cubicBezTo>
                <a:cubicBezTo>
                  <a:pt x="-13446" y="1423416"/>
                  <a:pt x="496332" y="1909572"/>
                  <a:pt x="1006110" y="2395728"/>
                </a:cubicBezTo>
              </a:path>
            </a:pathLst>
          </a:custGeom>
          <a:noFill/>
          <a:ln w="25400">
            <a:solidFill>
              <a:srgbClr val="7030A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CEB9A8B-291F-93EA-5BBA-EDBF6E639369}"/>
              </a:ext>
            </a:extLst>
          </p:cNvPr>
          <p:cNvSpPr txBox="1"/>
          <p:nvPr/>
        </p:nvSpPr>
        <p:spPr>
          <a:xfrm>
            <a:off x="9764776" y="2715768"/>
            <a:ext cx="1198880" cy="304800"/>
          </a:xfrm>
          <a:prstGeom prst="rect">
            <a:avLst/>
          </a:prstGeom>
          <a:noFill/>
          <a:ln w="25400">
            <a:solidFill>
              <a:srgbClr val="FFC000"/>
            </a:solidFill>
          </a:ln>
        </p:spPr>
        <p:txBody>
          <a:bodyPr vert="horz" wrap="none" lIns="91440" tIns="45720" rIns="91440" bIns="45720" rtlCol="0">
            <a:noAutofit/>
          </a:bodyPr>
          <a:lstStyle>
            <a:defPPr>
              <a:defRPr lang="sk-SK"/>
            </a:defPPr>
            <a:lvl1pPr marR="0" indent="0" fontAlgn="auto">
              <a:lnSpc>
                <a:spcPct val="90000"/>
              </a:lnSpc>
              <a:spcBef>
                <a:spcPts val="1000"/>
              </a:spcBef>
              <a:spcAft>
                <a:spcPts val="0"/>
              </a:spcAft>
              <a:buClrTx/>
              <a:buSzTx/>
              <a:buFont typeface="Arial" panose="020B0604020202020204" pitchFamily="34" charset="0"/>
              <a:buNone/>
              <a:tabLst/>
              <a:defRPr kumimoji="0" sz="2000" b="1" i="0" u="none" strike="noStrike" cap="none" spc="0" normalizeH="0" baseline="0">
                <a:ln>
                  <a:noFill/>
                </a:ln>
                <a:solidFill>
                  <a:schemeClr val="accent6"/>
                </a:solidFill>
                <a:effectLst/>
                <a:uLnTx/>
                <a:uFillTx/>
                <a:latin typeface="Arial" panose="020B0604020202020204"/>
              </a:defRPr>
            </a:lvl1pPr>
          </a:lstStyle>
          <a:p>
            <a:r>
              <a:rPr lang="en-US" dirty="0">
                <a:solidFill>
                  <a:srgbClr val="92D050"/>
                </a:solidFill>
              </a:rPr>
              <a:t>        </a:t>
            </a:r>
            <a:endParaRPr lang="cs-CZ" dirty="0" err="1">
              <a:solidFill>
                <a:srgbClr val="92D050"/>
              </a:solidFill>
            </a:endParaRPr>
          </a:p>
        </p:txBody>
      </p:sp>
      <p:sp>
        <p:nvSpPr>
          <p:cNvPr id="11" name="TextBox 10">
            <a:extLst>
              <a:ext uri="{FF2B5EF4-FFF2-40B4-BE49-F238E27FC236}">
                <a16:creationId xmlns:a16="http://schemas.microsoft.com/office/drawing/2014/main" id="{D4FF8F7F-1010-86EB-1CCE-355FB5C8EFAF}"/>
              </a:ext>
            </a:extLst>
          </p:cNvPr>
          <p:cNvSpPr txBox="1"/>
          <p:nvPr/>
        </p:nvSpPr>
        <p:spPr>
          <a:xfrm>
            <a:off x="7570089" y="2021524"/>
            <a:ext cx="1802511" cy="479845"/>
          </a:xfrm>
          <a:prstGeom prst="rect">
            <a:avLst/>
          </a:prstGeom>
          <a:noFill/>
          <a:ln w="25400">
            <a:solidFill>
              <a:srgbClr val="92D050"/>
            </a:solidFill>
          </a:ln>
        </p:spPr>
        <p:txBody>
          <a:bodyPr vert="horz" wrap="none" lIns="91440" tIns="45720" rIns="91440" bIns="45720" rtlCol="0">
            <a:noAutofit/>
          </a:bodyPr>
          <a:lstStyle>
            <a:defPPr>
              <a:defRPr lang="sk-SK"/>
            </a:defPPr>
            <a:lvl1pPr marR="0" indent="0" fontAlgn="auto">
              <a:lnSpc>
                <a:spcPct val="90000"/>
              </a:lnSpc>
              <a:spcBef>
                <a:spcPts val="1000"/>
              </a:spcBef>
              <a:spcAft>
                <a:spcPts val="0"/>
              </a:spcAft>
              <a:buClrTx/>
              <a:buSzTx/>
              <a:buFont typeface="Arial" panose="020B0604020202020204" pitchFamily="34" charset="0"/>
              <a:buNone/>
              <a:tabLst/>
              <a:defRPr kumimoji="0" sz="2000" b="1" i="0" u="none" strike="noStrike" cap="none" spc="0" normalizeH="0" baseline="0">
                <a:ln>
                  <a:noFill/>
                </a:ln>
                <a:solidFill>
                  <a:schemeClr val="accent6"/>
                </a:solidFill>
                <a:effectLst/>
                <a:uLnTx/>
                <a:uFillTx/>
                <a:latin typeface="Arial" panose="020B0604020202020204"/>
              </a:defRPr>
            </a:lvl1pPr>
          </a:lstStyle>
          <a:p>
            <a:r>
              <a:rPr lang="en-US" dirty="0">
                <a:solidFill>
                  <a:srgbClr val="92D050"/>
                </a:solidFill>
              </a:rPr>
              <a:t>        </a:t>
            </a:r>
            <a:endParaRPr lang="cs-CZ" dirty="0" err="1">
              <a:solidFill>
                <a:srgbClr val="92D050"/>
              </a:solidFill>
            </a:endParaRPr>
          </a:p>
        </p:txBody>
      </p:sp>
      <p:sp>
        <p:nvSpPr>
          <p:cNvPr id="12" name="TextBox 11">
            <a:extLst>
              <a:ext uri="{FF2B5EF4-FFF2-40B4-BE49-F238E27FC236}">
                <a16:creationId xmlns:a16="http://schemas.microsoft.com/office/drawing/2014/main" id="{D69BF635-1605-EA11-93AB-0B81299754CC}"/>
              </a:ext>
            </a:extLst>
          </p:cNvPr>
          <p:cNvSpPr txBox="1"/>
          <p:nvPr/>
        </p:nvSpPr>
        <p:spPr>
          <a:xfrm>
            <a:off x="6379463" y="4520779"/>
            <a:ext cx="4621911" cy="354817"/>
          </a:xfrm>
          <a:prstGeom prst="rect">
            <a:avLst/>
          </a:prstGeom>
          <a:noFill/>
          <a:ln w="25400">
            <a:solidFill>
              <a:srgbClr val="92D050"/>
            </a:solidFill>
          </a:ln>
        </p:spPr>
        <p:txBody>
          <a:bodyPr vert="horz" wrap="none" lIns="91440" tIns="45720" rIns="91440" bIns="45720" rtlCol="0">
            <a:noAutofit/>
          </a:bodyPr>
          <a:lstStyle>
            <a:defPPr>
              <a:defRPr lang="sk-SK"/>
            </a:defPPr>
            <a:lvl1pPr marR="0" indent="0" fontAlgn="auto">
              <a:lnSpc>
                <a:spcPct val="90000"/>
              </a:lnSpc>
              <a:spcBef>
                <a:spcPts val="1000"/>
              </a:spcBef>
              <a:spcAft>
                <a:spcPts val="0"/>
              </a:spcAft>
              <a:buClrTx/>
              <a:buSzTx/>
              <a:buFont typeface="Arial" panose="020B0604020202020204" pitchFamily="34" charset="0"/>
              <a:buNone/>
              <a:tabLst/>
              <a:defRPr kumimoji="0" sz="2000" b="1" i="0" u="none" strike="noStrike" cap="none" spc="0" normalizeH="0" baseline="0">
                <a:ln>
                  <a:noFill/>
                </a:ln>
                <a:solidFill>
                  <a:schemeClr val="accent6"/>
                </a:solidFill>
                <a:effectLst/>
                <a:uLnTx/>
                <a:uFillTx/>
                <a:latin typeface="Arial" panose="020B0604020202020204"/>
              </a:defRPr>
            </a:lvl1pPr>
          </a:lstStyle>
          <a:p>
            <a:r>
              <a:rPr lang="en-US" dirty="0">
                <a:solidFill>
                  <a:srgbClr val="92D050"/>
                </a:solidFill>
              </a:rPr>
              <a:t>        </a:t>
            </a:r>
            <a:endParaRPr lang="cs-CZ" dirty="0" err="1">
              <a:solidFill>
                <a:srgbClr val="92D050"/>
              </a:solidFill>
            </a:endParaRPr>
          </a:p>
        </p:txBody>
      </p:sp>
      <p:sp>
        <p:nvSpPr>
          <p:cNvPr id="14" name="Freeform: Shape 13">
            <a:extLst>
              <a:ext uri="{FF2B5EF4-FFF2-40B4-BE49-F238E27FC236}">
                <a16:creationId xmlns:a16="http://schemas.microsoft.com/office/drawing/2014/main" id="{6EA75C33-93F9-B16A-69B9-1A49E80B070A}"/>
              </a:ext>
            </a:extLst>
          </p:cNvPr>
          <p:cNvSpPr/>
          <p:nvPr/>
        </p:nvSpPr>
        <p:spPr>
          <a:xfrm>
            <a:off x="4934099" y="2266950"/>
            <a:ext cx="2581126" cy="2419350"/>
          </a:xfrm>
          <a:custGeom>
            <a:avLst/>
            <a:gdLst>
              <a:gd name="connsiteX0" fmla="*/ 1438126 w 2581126"/>
              <a:gd name="connsiteY0" fmla="*/ 2419350 h 2419350"/>
              <a:gd name="connsiteX1" fmla="*/ 28426 w 2581126"/>
              <a:gd name="connsiteY1" fmla="*/ 619125 h 2419350"/>
              <a:gd name="connsiteX2" fmla="*/ 2581126 w 2581126"/>
              <a:gd name="connsiteY2" fmla="*/ 0 h 2419350"/>
            </a:gdLst>
            <a:ahLst/>
            <a:cxnLst>
              <a:cxn ang="0">
                <a:pos x="connsiteX0" y="connsiteY0"/>
              </a:cxn>
              <a:cxn ang="0">
                <a:pos x="connsiteX1" y="connsiteY1"/>
              </a:cxn>
              <a:cxn ang="0">
                <a:pos x="connsiteX2" y="connsiteY2"/>
              </a:cxn>
            </a:cxnLst>
            <a:rect l="l" t="t" r="r" b="b"/>
            <a:pathLst>
              <a:path w="2581126" h="2419350">
                <a:moveTo>
                  <a:pt x="1438126" y="2419350"/>
                </a:moveTo>
                <a:cubicBezTo>
                  <a:pt x="638026" y="1720850"/>
                  <a:pt x="-162074" y="1022350"/>
                  <a:pt x="28426" y="619125"/>
                </a:cubicBezTo>
                <a:cubicBezTo>
                  <a:pt x="218926" y="215900"/>
                  <a:pt x="1400026" y="107950"/>
                  <a:pt x="2581126" y="0"/>
                </a:cubicBezTo>
              </a:path>
            </a:pathLst>
          </a:custGeom>
          <a:noFill/>
          <a:ln w="25400">
            <a:solidFill>
              <a:srgbClr val="92D05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66A9447-48EE-36B6-9D4F-DA5C3ABD3CE5}"/>
              </a:ext>
            </a:extLst>
          </p:cNvPr>
          <p:cNvSpPr txBox="1"/>
          <p:nvPr/>
        </p:nvSpPr>
        <p:spPr>
          <a:xfrm>
            <a:off x="8544626" y="2691869"/>
            <a:ext cx="1198880" cy="304800"/>
          </a:xfrm>
          <a:prstGeom prst="rect">
            <a:avLst/>
          </a:prstGeom>
          <a:solidFill>
            <a:schemeClr val="bg1">
              <a:alpha val="19000"/>
            </a:schemeClr>
          </a:solidFill>
          <a:ln w="25400">
            <a:solidFill>
              <a:schemeClr val="tx1"/>
            </a:solidFill>
          </a:ln>
        </p:spPr>
        <p:txBody>
          <a:bodyPr vert="horz" wrap="none" lIns="91440" tIns="45720" rIns="91440" bIns="45720" rtlCol="0">
            <a:noAutofit/>
          </a:bodyPr>
          <a:lstStyle>
            <a:defPPr>
              <a:defRPr lang="sk-SK"/>
            </a:defPPr>
            <a:lvl1pPr marR="0" indent="0" fontAlgn="auto">
              <a:lnSpc>
                <a:spcPct val="90000"/>
              </a:lnSpc>
              <a:spcBef>
                <a:spcPts val="1000"/>
              </a:spcBef>
              <a:spcAft>
                <a:spcPts val="0"/>
              </a:spcAft>
              <a:buClrTx/>
              <a:buSzTx/>
              <a:buFont typeface="Arial" panose="020B0604020202020204" pitchFamily="34" charset="0"/>
              <a:buNone/>
              <a:tabLst/>
              <a:defRPr kumimoji="0" sz="2000" b="1" i="0" u="none" strike="noStrike" cap="none" spc="0" normalizeH="0" baseline="0">
                <a:ln>
                  <a:noFill/>
                </a:ln>
                <a:solidFill>
                  <a:schemeClr val="accent6"/>
                </a:solidFill>
                <a:effectLst/>
                <a:uLnTx/>
                <a:uFillTx/>
                <a:latin typeface="Arial" panose="020B0604020202020204"/>
              </a:defRPr>
            </a:lvl1pPr>
          </a:lstStyle>
          <a:p>
            <a:r>
              <a:rPr lang="en-US" dirty="0">
                <a:solidFill>
                  <a:srgbClr val="92D050"/>
                </a:solidFill>
              </a:rPr>
              <a:t>      </a:t>
            </a:r>
            <a:r>
              <a:rPr lang="en-US" dirty="0">
                <a:solidFill>
                  <a:schemeClr val="tx1"/>
                </a:solidFill>
              </a:rPr>
              <a:t>4</a:t>
            </a:r>
            <a:r>
              <a:rPr lang="en-US" dirty="0">
                <a:solidFill>
                  <a:srgbClr val="92D050"/>
                </a:solidFill>
              </a:rPr>
              <a:t>   </a:t>
            </a:r>
            <a:endParaRPr lang="cs-CZ" dirty="0" err="1">
              <a:solidFill>
                <a:srgbClr val="92D050"/>
              </a:solidFill>
            </a:endParaRPr>
          </a:p>
        </p:txBody>
      </p:sp>
      <p:sp>
        <p:nvSpPr>
          <p:cNvPr id="18" name="TextBox 17">
            <a:extLst>
              <a:ext uri="{FF2B5EF4-FFF2-40B4-BE49-F238E27FC236}">
                <a16:creationId xmlns:a16="http://schemas.microsoft.com/office/drawing/2014/main" id="{EE6DAF30-64F8-EA26-DEA5-56B52170BC0A}"/>
              </a:ext>
            </a:extLst>
          </p:cNvPr>
          <p:cNvSpPr txBox="1"/>
          <p:nvPr/>
        </p:nvSpPr>
        <p:spPr>
          <a:xfrm>
            <a:off x="6190488" y="2687737"/>
            <a:ext cx="4773168" cy="4008338"/>
          </a:xfrm>
          <a:prstGeom prst="rect">
            <a:avLst/>
          </a:prstGeom>
          <a:noFill/>
          <a:ln w="25400">
            <a:solidFill>
              <a:schemeClr val="accent6"/>
            </a:solidFill>
          </a:ln>
        </p:spPr>
        <p:txBody>
          <a:bodyPr vert="horz" wrap="none" lIns="91440" tIns="45720" rIns="91440" bIns="45720" rtlCol="0">
            <a:noAutofit/>
          </a:bodyPr>
          <a:lstStyle>
            <a:defPPr>
              <a:defRPr lang="sk-SK"/>
            </a:defPPr>
            <a:lvl1pPr marR="0" indent="0" fontAlgn="auto">
              <a:lnSpc>
                <a:spcPct val="90000"/>
              </a:lnSpc>
              <a:spcBef>
                <a:spcPts val="1000"/>
              </a:spcBef>
              <a:spcAft>
                <a:spcPts val="0"/>
              </a:spcAft>
              <a:buClrTx/>
              <a:buSzTx/>
              <a:buFont typeface="Arial" panose="020B0604020202020204" pitchFamily="34" charset="0"/>
              <a:buNone/>
              <a:tabLst/>
              <a:defRPr kumimoji="0" sz="2000" b="1" i="0" u="none" strike="noStrike" cap="none" spc="0" normalizeH="0" baseline="0">
                <a:ln>
                  <a:noFill/>
                </a:ln>
                <a:solidFill>
                  <a:schemeClr val="accent6"/>
                </a:solidFill>
                <a:effectLst/>
                <a:uLnTx/>
                <a:uFillTx/>
                <a:latin typeface="Arial" panose="020B0604020202020204"/>
              </a:defRPr>
            </a:lvl1pPr>
          </a:lstStyle>
          <a:p>
            <a:r>
              <a:rPr lang="en-US" dirty="0">
                <a:solidFill>
                  <a:srgbClr val="92D050"/>
                </a:solidFill>
              </a:rPr>
              <a:t>        </a:t>
            </a:r>
            <a:endParaRPr lang="cs-CZ" dirty="0" err="1">
              <a:solidFill>
                <a:srgbClr val="92D050"/>
              </a:solidFill>
            </a:endParaRPr>
          </a:p>
        </p:txBody>
      </p:sp>
      <p:sp>
        <p:nvSpPr>
          <p:cNvPr id="17" name="TextBox 16">
            <a:extLst>
              <a:ext uri="{FF2B5EF4-FFF2-40B4-BE49-F238E27FC236}">
                <a16:creationId xmlns:a16="http://schemas.microsoft.com/office/drawing/2014/main" id="{87AF9C0A-C7E4-9D87-76BB-0F0527DD85F5}"/>
              </a:ext>
            </a:extLst>
          </p:cNvPr>
          <p:cNvSpPr txBox="1"/>
          <p:nvPr/>
        </p:nvSpPr>
        <p:spPr>
          <a:xfrm>
            <a:off x="8528558" y="776459"/>
            <a:ext cx="1198880" cy="304800"/>
          </a:xfrm>
          <a:prstGeom prst="rect">
            <a:avLst/>
          </a:prstGeom>
          <a:solidFill>
            <a:schemeClr val="bg1">
              <a:alpha val="64000"/>
            </a:schemeClr>
          </a:solidFill>
          <a:ln w="25400">
            <a:solidFill>
              <a:schemeClr val="tx1"/>
            </a:solidFill>
          </a:ln>
        </p:spPr>
        <p:txBody>
          <a:bodyPr vert="horz" wrap="none" lIns="91440" tIns="45720" rIns="91440" bIns="45720" rtlCol="0">
            <a:noAutofit/>
          </a:bodyPr>
          <a:lstStyle>
            <a:defPPr>
              <a:defRPr lang="sk-SK"/>
            </a:defPPr>
            <a:lvl1pPr marR="0" indent="0" fontAlgn="auto">
              <a:lnSpc>
                <a:spcPct val="90000"/>
              </a:lnSpc>
              <a:spcBef>
                <a:spcPts val="1000"/>
              </a:spcBef>
              <a:spcAft>
                <a:spcPts val="0"/>
              </a:spcAft>
              <a:buClrTx/>
              <a:buSzTx/>
              <a:buFont typeface="Arial" panose="020B0604020202020204" pitchFamily="34" charset="0"/>
              <a:buNone/>
              <a:tabLst/>
              <a:defRPr kumimoji="0" sz="2000" b="1" i="0" u="none" strike="noStrike" cap="none" spc="0" normalizeH="0" baseline="0">
                <a:ln>
                  <a:noFill/>
                </a:ln>
                <a:solidFill>
                  <a:schemeClr val="accent6"/>
                </a:solidFill>
                <a:effectLst/>
                <a:uLnTx/>
                <a:uFillTx/>
                <a:latin typeface="Arial" panose="020B0604020202020204"/>
              </a:defRPr>
            </a:lvl1pPr>
          </a:lstStyle>
          <a:p>
            <a:r>
              <a:rPr lang="en-US" dirty="0">
                <a:solidFill>
                  <a:srgbClr val="92D050"/>
                </a:solidFill>
              </a:rPr>
              <a:t>      </a:t>
            </a:r>
            <a:r>
              <a:rPr lang="en-US" dirty="0"/>
              <a:t>43</a:t>
            </a:r>
            <a:r>
              <a:rPr lang="en-US" dirty="0">
                <a:solidFill>
                  <a:srgbClr val="92D050"/>
                </a:solidFill>
              </a:rPr>
              <a:t>  </a:t>
            </a:r>
            <a:endParaRPr lang="cs-CZ" dirty="0" err="1">
              <a:solidFill>
                <a:srgbClr val="92D050"/>
              </a:solidFill>
            </a:endParaRPr>
          </a:p>
        </p:txBody>
      </p:sp>
      <p:sp>
        <p:nvSpPr>
          <p:cNvPr id="19" name="TextBox 18">
            <a:extLst>
              <a:ext uri="{FF2B5EF4-FFF2-40B4-BE49-F238E27FC236}">
                <a16:creationId xmlns:a16="http://schemas.microsoft.com/office/drawing/2014/main" id="{5F4D61BC-CE0C-473B-1D57-2EBE968E6559}"/>
              </a:ext>
            </a:extLst>
          </p:cNvPr>
          <p:cNvSpPr txBox="1"/>
          <p:nvPr/>
        </p:nvSpPr>
        <p:spPr>
          <a:xfrm>
            <a:off x="5638800" y="2964180"/>
            <a:ext cx="914400" cy="914400"/>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endParaRPr kumimoji="0" lang="en-US" sz="2400" b="1" i="0" u="none" strike="noStrike" kern="1200" cap="none" spc="0" normalizeH="0" baseline="0" noProof="0" dirty="0" err="1">
              <a:ln>
                <a:noFill/>
              </a:ln>
              <a:solidFill>
                <a:schemeClr val="tx1"/>
              </a:solidFill>
              <a:effectLst/>
              <a:uLnTx/>
              <a:uFillTx/>
              <a:latin typeface="Arial" panose="020B0604020202020204"/>
              <a:ea typeface="+mn-ea"/>
              <a:cs typeface="+mn-cs"/>
            </a:endParaRPr>
          </a:p>
        </p:txBody>
      </p:sp>
      <p:sp>
        <p:nvSpPr>
          <p:cNvPr id="20" name="TextBox 19">
            <a:extLst>
              <a:ext uri="{FF2B5EF4-FFF2-40B4-BE49-F238E27FC236}">
                <a16:creationId xmlns:a16="http://schemas.microsoft.com/office/drawing/2014/main" id="{0042711B-3121-BCF4-307B-E4FABEC704D5}"/>
              </a:ext>
            </a:extLst>
          </p:cNvPr>
          <p:cNvSpPr txBox="1"/>
          <p:nvPr/>
        </p:nvSpPr>
        <p:spPr>
          <a:xfrm>
            <a:off x="4130863" y="2634996"/>
            <a:ext cx="914400" cy="466344"/>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rgbClr val="92D050"/>
                </a:solidFill>
                <a:effectLst/>
                <a:uLnTx/>
                <a:uFillTx/>
                <a:latin typeface="Arial" panose="020B0604020202020204"/>
                <a:ea typeface="+mn-ea"/>
                <a:cs typeface="+mn-cs"/>
              </a:rPr>
              <a:t>copy</a:t>
            </a:r>
          </a:p>
        </p:txBody>
      </p:sp>
      <p:cxnSp>
        <p:nvCxnSpPr>
          <p:cNvPr id="22" name="Straight Arrow Connector 21">
            <a:extLst>
              <a:ext uri="{FF2B5EF4-FFF2-40B4-BE49-F238E27FC236}">
                <a16:creationId xmlns:a16="http://schemas.microsoft.com/office/drawing/2014/main" id="{4D7146A9-00F8-115D-841B-32EB3CF7F3C2}"/>
              </a:ext>
            </a:extLst>
          </p:cNvPr>
          <p:cNvCxnSpPr/>
          <p:nvPr/>
        </p:nvCxnSpPr>
        <p:spPr>
          <a:xfrm flipH="1">
            <a:off x="8755380" y="2964180"/>
            <a:ext cx="1394460" cy="1556599"/>
          </a:xfrm>
          <a:prstGeom prst="straightConnector1">
            <a:avLst/>
          </a:prstGeom>
          <a:ln w="254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795629D-29A4-101C-A216-E1F970F35243}"/>
              </a:ext>
            </a:extLst>
          </p:cNvPr>
          <p:cNvSpPr txBox="1"/>
          <p:nvPr/>
        </p:nvSpPr>
        <p:spPr>
          <a:xfrm>
            <a:off x="3473544" y="5192863"/>
            <a:ext cx="2391720" cy="63613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400" i="0" u="none" strike="noStrike" kern="1200" cap="none" spc="0" normalizeH="0" baseline="0" noProof="0" dirty="0">
                <a:ln>
                  <a:noFill/>
                </a:ln>
                <a:solidFill>
                  <a:srgbClr val="7030A0"/>
                </a:solidFill>
                <a:effectLst/>
                <a:uLnTx/>
                <a:uFillTx/>
                <a:latin typeface="Arial" panose="020B0604020202020204"/>
                <a:ea typeface="+mn-ea"/>
                <a:cs typeface="+mn-cs"/>
              </a:rPr>
              <a:t>Pointer to the </a:t>
            </a:r>
            <a:r>
              <a:rPr kumimoji="0" lang="en-US" sz="1400" b="1" i="0" u="none" strike="noStrike" kern="1200" cap="none" spc="0" normalizeH="0" baseline="0" noProof="0" dirty="0">
                <a:ln>
                  <a:noFill/>
                </a:ln>
                <a:solidFill>
                  <a:srgbClr val="7030A0"/>
                </a:solidFill>
                <a:effectLst/>
                <a:uLnTx/>
                <a:uFillTx/>
                <a:latin typeface="Arial" panose="020B0604020202020204"/>
                <a:ea typeface="+mn-ea"/>
                <a:cs typeface="+mn-cs"/>
              </a:rPr>
              <a:t>First segment </a:t>
            </a:r>
          </a:p>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400" i="0" u="none" strike="noStrike" kern="1200" cap="none" spc="0" normalizeH="0" baseline="0" noProof="0" dirty="0">
                <a:ln>
                  <a:noFill/>
                </a:ln>
                <a:solidFill>
                  <a:srgbClr val="7030A0"/>
                </a:solidFill>
                <a:effectLst/>
                <a:uLnTx/>
                <a:uFillTx/>
                <a:latin typeface="Arial" panose="020B0604020202020204"/>
                <a:ea typeface="+mn-ea"/>
                <a:cs typeface="+mn-cs"/>
              </a:rPr>
              <a:t>(= last record in the SRH) </a:t>
            </a:r>
          </a:p>
        </p:txBody>
      </p:sp>
    </p:spTree>
    <p:extLst>
      <p:ext uri="{BB962C8B-B14F-4D97-AF65-F5344CB8AC3E}">
        <p14:creationId xmlns:p14="http://schemas.microsoft.com/office/powerpoint/2010/main" val="5182912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6724891" y="1542361"/>
            <a:ext cx="4593190" cy="4340723"/>
          </a:xfrm>
        </p:spPr>
        <p:txBody>
          <a:bodyPr/>
          <a:lstStyle/>
          <a:p>
            <a:r>
              <a:rPr lang="en-US" dirty="0"/>
              <a:t>Segment Left - pointer to active Segment from Segment List</a:t>
            </a:r>
          </a:p>
          <a:p>
            <a:r>
              <a:rPr lang="en-US" dirty="0"/>
              <a:t>Only value of Pointer is changed - </a:t>
            </a:r>
            <a:r>
              <a:rPr lang="en-US" u="sng" dirty="0"/>
              <a:t>Segments List [xxx] is not removed like MPLS label</a:t>
            </a:r>
          </a:p>
          <a:p>
            <a:r>
              <a:rPr lang="en-US" dirty="0"/>
              <a:t>Last Segment of SR Policy (index = 0)</a:t>
            </a:r>
          </a:p>
          <a:p>
            <a:r>
              <a:rPr lang="en-US" dirty="0"/>
              <a:t>First Segment of SR Policy (index = </a:t>
            </a:r>
            <a:r>
              <a:rPr lang="en-US" i="1" dirty="0"/>
              <a:t>n</a:t>
            </a:r>
            <a:r>
              <a:rPr lang="en-US" dirty="0"/>
              <a:t>)</a:t>
            </a:r>
          </a:p>
          <a:p>
            <a:endParaRPr lang="en-US" dirty="0"/>
          </a:p>
        </p:txBody>
      </p:sp>
      <p:sp>
        <p:nvSpPr>
          <p:cNvPr id="3" name="Text Placeholder 2"/>
          <p:cNvSpPr>
            <a:spLocks noGrp="1"/>
          </p:cNvSpPr>
          <p:nvPr>
            <p:ph type="body" sz="quarter" idx="11"/>
          </p:nvPr>
        </p:nvSpPr>
        <p:spPr/>
        <p:txBody>
          <a:bodyPr/>
          <a:lstStyle/>
          <a:p>
            <a:r>
              <a:rPr lang="en-US" dirty="0"/>
              <a:t>SRv6 Dataplane # n</a:t>
            </a:r>
          </a:p>
        </p:txBody>
      </p:sp>
      <p:pic>
        <p:nvPicPr>
          <p:cNvPr id="4" name="Picture 3"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918" y="1542361"/>
            <a:ext cx="5685862" cy="4414632"/>
          </a:xfrm>
          <a:prstGeom prst="rect">
            <a:avLst/>
          </a:prstGeom>
        </p:spPr>
      </p:pic>
      <p:sp>
        <p:nvSpPr>
          <p:cNvPr id="5" name="TextBox 4">
            <a:extLst>
              <a:ext uri="{FF2B5EF4-FFF2-40B4-BE49-F238E27FC236}">
                <a16:creationId xmlns:a16="http://schemas.microsoft.com/office/drawing/2014/main" id="{3AAE01B5-6685-10A0-E22F-AE7FA97E6FC9}"/>
              </a:ext>
            </a:extLst>
          </p:cNvPr>
          <p:cNvSpPr txBox="1"/>
          <p:nvPr/>
        </p:nvSpPr>
        <p:spPr>
          <a:xfrm>
            <a:off x="980661" y="2329068"/>
            <a:ext cx="1384852" cy="344557"/>
          </a:xfrm>
          <a:prstGeom prst="rect">
            <a:avLst/>
          </a:prstGeom>
          <a:noFill/>
          <a:ln w="25400">
            <a:solidFill>
              <a:srgbClr val="7030A0"/>
            </a:solidFill>
          </a:ln>
        </p:spPr>
        <p:txBody>
          <a:bodyPr vert="horz" wrap="none" lIns="91440" tIns="45720" rIns="91440" bIns="45720" rtlCol="0">
            <a:noAutofit/>
          </a:bodyPr>
          <a:lstStyle>
            <a:defPPr>
              <a:defRPr lang="sk-SK"/>
            </a:defPPr>
            <a:lvl1pPr marR="0" indent="0" fontAlgn="auto">
              <a:lnSpc>
                <a:spcPct val="90000"/>
              </a:lnSpc>
              <a:spcBef>
                <a:spcPts val="1000"/>
              </a:spcBef>
              <a:spcAft>
                <a:spcPts val="0"/>
              </a:spcAft>
              <a:buClrTx/>
              <a:buSzTx/>
              <a:buFont typeface="Arial" panose="020B0604020202020204" pitchFamily="34" charset="0"/>
              <a:buNone/>
              <a:tabLst/>
              <a:defRPr kumimoji="0" sz="2000" b="1" i="0" u="none" strike="noStrike" cap="none" spc="0" normalizeH="0" baseline="0">
                <a:ln>
                  <a:noFill/>
                </a:ln>
                <a:solidFill>
                  <a:schemeClr val="accent6"/>
                </a:solidFill>
                <a:effectLst/>
                <a:uLnTx/>
                <a:uFillTx/>
                <a:latin typeface="Arial" panose="020B0604020202020204"/>
              </a:defRPr>
            </a:lvl1pPr>
          </a:lstStyle>
          <a:p>
            <a:r>
              <a:rPr lang="en-US" dirty="0">
                <a:solidFill>
                  <a:srgbClr val="92D050"/>
                </a:solidFill>
              </a:rPr>
              <a:t>        </a:t>
            </a:r>
            <a:endParaRPr lang="cs-CZ" dirty="0" err="1">
              <a:solidFill>
                <a:srgbClr val="92D050"/>
              </a:solidFill>
            </a:endParaRPr>
          </a:p>
        </p:txBody>
      </p:sp>
      <p:cxnSp>
        <p:nvCxnSpPr>
          <p:cNvPr id="7" name="Straight Arrow Connector 6">
            <a:extLst>
              <a:ext uri="{FF2B5EF4-FFF2-40B4-BE49-F238E27FC236}">
                <a16:creationId xmlns:a16="http://schemas.microsoft.com/office/drawing/2014/main" id="{85400EA0-8C95-40AB-1DB2-185656564097}"/>
              </a:ext>
            </a:extLst>
          </p:cNvPr>
          <p:cNvCxnSpPr>
            <a:cxnSpLocks/>
          </p:cNvCxnSpPr>
          <p:nvPr/>
        </p:nvCxnSpPr>
        <p:spPr>
          <a:xfrm flipH="1" flipV="1">
            <a:off x="2166730" y="2564296"/>
            <a:ext cx="4558161" cy="4728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EF9B398-3574-87AD-E852-442544B0E414}"/>
              </a:ext>
            </a:extLst>
          </p:cNvPr>
          <p:cNvCxnSpPr>
            <a:cxnSpLocks/>
          </p:cNvCxnSpPr>
          <p:nvPr/>
        </p:nvCxnSpPr>
        <p:spPr>
          <a:xfrm flipH="1" flipV="1">
            <a:off x="4724400" y="3170583"/>
            <a:ext cx="2000491" cy="1346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D37BA6E-49E6-C865-0F55-A4C7A73852C7}"/>
              </a:ext>
            </a:extLst>
          </p:cNvPr>
          <p:cNvCxnSpPr>
            <a:cxnSpLocks/>
          </p:cNvCxnSpPr>
          <p:nvPr/>
        </p:nvCxnSpPr>
        <p:spPr>
          <a:xfrm flipH="1" flipV="1">
            <a:off x="5889171" y="5072743"/>
            <a:ext cx="835720" cy="261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Arrow: Right 13">
            <a:extLst>
              <a:ext uri="{FF2B5EF4-FFF2-40B4-BE49-F238E27FC236}">
                <a16:creationId xmlns:a16="http://schemas.microsoft.com/office/drawing/2014/main" id="{291A518E-9D6D-D7B3-4AEC-DEC7FCE72D2B}"/>
              </a:ext>
            </a:extLst>
          </p:cNvPr>
          <p:cNvSpPr/>
          <p:nvPr/>
        </p:nvSpPr>
        <p:spPr>
          <a:xfrm rot="16200000">
            <a:off x="10365239" y="4898230"/>
            <a:ext cx="1556658" cy="3490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A2CADC50-E4AE-3766-90DD-3945605FB836}"/>
              </a:ext>
            </a:extLst>
          </p:cNvPr>
          <p:cNvSpPr/>
          <p:nvPr/>
        </p:nvSpPr>
        <p:spPr>
          <a:xfrm>
            <a:off x="435429" y="4800599"/>
            <a:ext cx="438489" cy="130629"/>
          </a:xfrm>
          <a:prstGeom prst="right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76A5153E-4F67-E8EB-5D82-B5EBF8AD3984}"/>
              </a:ext>
            </a:extLst>
          </p:cNvPr>
          <p:cNvCxnSpPr>
            <a:stCxn id="5" idx="1"/>
          </p:cNvCxnSpPr>
          <p:nvPr/>
        </p:nvCxnSpPr>
        <p:spPr>
          <a:xfrm flipH="1">
            <a:off x="609600" y="2501347"/>
            <a:ext cx="371061" cy="2299252"/>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027722B-C5A7-AB4C-4475-599524D081F9}"/>
              </a:ext>
            </a:extLst>
          </p:cNvPr>
          <p:cNvSpPr txBox="1"/>
          <p:nvPr/>
        </p:nvSpPr>
        <p:spPr>
          <a:xfrm>
            <a:off x="980660" y="4452443"/>
            <a:ext cx="5440017" cy="765600"/>
          </a:xfrm>
          <a:prstGeom prst="rect">
            <a:avLst/>
          </a:prstGeom>
          <a:noFill/>
          <a:ln w="25400">
            <a:solidFill>
              <a:srgbClr val="7030A0"/>
            </a:solidFill>
          </a:ln>
        </p:spPr>
        <p:txBody>
          <a:bodyPr vert="horz" wrap="none" lIns="91440" tIns="45720" rIns="91440" bIns="45720" rtlCol="0">
            <a:noAutofit/>
          </a:bodyPr>
          <a:lstStyle>
            <a:defPPr>
              <a:defRPr lang="sk-SK"/>
            </a:defPPr>
            <a:lvl1pPr marR="0" indent="0" fontAlgn="auto">
              <a:lnSpc>
                <a:spcPct val="90000"/>
              </a:lnSpc>
              <a:spcBef>
                <a:spcPts val="1000"/>
              </a:spcBef>
              <a:spcAft>
                <a:spcPts val="0"/>
              </a:spcAft>
              <a:buClrTx/>
              <a:buSzTx/>
              <a:buFont typeface="Arial" panose="020B0604020202020204" pitchFamily="34" charset="0"/>
              <a:buNone/>
              <a:tabLst/>
              <a:defRPr kumimoji="0" sz="2000" b="1" i="0" u="none" strike="noStrike" cap="none" spc="0" normalizeH="0" baseline="0">
                <a:ln>
                  <a:noFill/>
                </a:ln>
                <a:solidFill>
                  <a:schemeClr val="accent6"/>
                </a:solidFill>
                <a:effectLst/>
                <a:uLnTx/>
                <a:uFillTx/>
                <a:latin typeface="Arial" panose="020B0604020202020204"/>
              </a:defRPr>
            </a:lvl1pPr>
          </a:lstStyle>
          <a:p>
            <a:r>
              <a:rPr lang="en-US" dirty="0">
                <a:solidFill>
                  <a:srgbClr val="92D050"/>
                </a:solidFill>
              </a:rPr>
              <a:t>        </a:t>
            </a:r>
            <a:endParaRPr lang="cs-CZ" dirty="0" err="1">
              <a:solidFill>
                <a:srgbClr val="92D050"/>
              </a:solidFill>
            </a:endParaRPr>
          </a:p>
        </p:txBody>
      </p:sp>
    </p:spTree>
    <p:extLst>
      <p:ext uri="{BB962C8B-B14F-4D97-AF65-F5344CB8AC3E}">
        <p14:creationId xmlns:p14="http://schemas.microsoft.com/office/powerpoint/2010/main" val="17828982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6724891" y="1542361"/>
            <a:ext cx="4593190" cy="4340723"/>
          </a:xfrm>
        </p:spPr>
        <p:txBody>
          <a:bodyPr/>
          <a:lstStyle/>
          <a:p>
            <a:r>
              <a:rPr lang="en-US" dirty="0"/>
              <a:t>Segment Left - pointer to active Segment from Segment List</a:t>
            </a:r>
          </a:p>
          <a:p>
            <a:r>
              <a:rPr lang="en-US" dirty="0"/>
              <a:t>Only value of Pointer is changed - </a:t>
            </a:r>
            <a:r>
              <a:rPr lang="en-US" u="sng" dirty="0"/>
              <a:t>Segments List [xxx] is not removed like MPLS label</a:t>
            </a:r>
          </a:p>
          <a:p>
            <a:r>
              <a:rPr lang="en-US" dirty="0"/>
              <a:t>Last Segment of SR Policy (index = 0)</a:t>
            </a:r>
          </a:p>
          <a:p>
            <a:r>
              <a:rPr lang="en-US" dirty="0"/>
              <a:t>First Segment of SR Policy (index = </a:t>
            </a:r>
            <a:r>
              <a:rPr lang="en-US" i="1" dirty="0"/>
              <a:t>n</a:t>
            </a:r>
            <a:r>
              <a:rPr lang="en-US" dirty="0"/>
              <a:t>)</a:t>
            </a:r>
          </a:p>
          <a:p>
            <a:endParaRPr lang="en-US" dirty="0"/>
          </a:p>
        </p:txBody>
      </p:sp>
      <p:sp>
        <p:nvSpPr>
          <p:cNvPr id="3" name="Text Placeholder 2"/>
          <p:cNvSpPr>
            <a:spLocks noGrp="1"/>
          </p:cNvSpPr>
          <p:nvPr>
            <p:ph type="body" sz="quarter" idx="11"/>
          </p:nvPr>
        </p:nvSpPr>
        <p:spPr/>
        <p:txBody>
          <a:bodyPr/>
          <a:lstStyle/>
          <a:p>
            <a:r>
              <a:rPr lang="en-US" dirty="0"/>
              <a:t>SRv6 Dataplane # n-1</a:t>
            </a:r>
          </a:p>
        </p:txBody>
      </p:sp>
      <p:pic>
        <p:nvPicPr>
          <p:cNvPr id="4" name="Picture 3"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918" y="1542361"/>
            <a:ext cx="5685862" cy="4414632"/>
          </a:xfrm>
          <a:prstGeom prst="rect">
            <a:avLst/>
          </a:prstGeom>
        </p:spPr>
      </p:pic>
      <p:cxnSp>
        <p:nvCxnSpPr>
          <p:cNvPr id="7" name="Straight Arrow Connector 6">
            <a:extLst>
              <a:ext uri="{FF2B5EF4-FFF2-40B4-BE49-F238E27FC236}">
                <a16:creationId xmlns:a16="http://schemas.microsoft.com/office/drawing/2014/main" id="{85400EA0-8C95-40AB-1DB2-185656564097}"/>
              </a:ext>
            </a:extLst>
          </p:cNvPr>
          <p:cNvCxnSpPr>
            <a:cxnSpLocks/>
          </p:cNvCxnSpPr>
          <p:nvPr/>
        </p:nvCxnSpPr>
        <p:spPr>
          <a:xfrm flipH="1" flipV="1">
            <a:off x="2166730" y="2564296"/>
            <a:ext cx="4558161" cy="4728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EF9B398-3574-87AD-E852-442544B0E414}"/>
              </a:ext>
            </a:extLst>
          </p:cNvPr>
          <p:cNvCxnSpPr>
            <a:cxnSpLocks/>
          </p:cNvCxnSpPr>
          <p:nvPr/>
        </p:nvCxnSpPr>
        <p:spPr>
          <a:xfrm flipH="1" flipV="1">
            <a:off x="4724400" y="3170583"/>
            <a:ext cx="2000491" cy="1346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D37BA6E-49E6-C865-0F55-A4C7A73852C7}"/>
              </a:ext>
            </a:extLst>
          </p:cNvPr>
          <p:cNvCxnSpPr>
            <a:cxnSpLocks/>
          </p:cNvCxnSpPr>
          <p:nvPr/>
        </p:nvCxnSpPr>
        <p:spPr>
          <a:xfrm flipH="1" flipV="1">
            <a:off x="5889171" y="5072743"/>
            <a:ext cx="835720" cy="261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Arrow: Right 13">
            <a:extLst>
              <a:ext uri="{FF2B5EF4-FFF2-40B4-BE49-F238E27FC236}">
                <a16:creationId xmlns:a16="http://schemas.microsoft.com/office/drawing/2014/main" id="{291A518E-9D6D-D7B3-4AEC-DEC7FCE72D2B}"/>
              </a:ext>
            </a:extLst>
          </p:cNvPr>
          <p:cNvSpPr/>
          <p:nvPr/>
        </p:nvSpPr>
        <p:spPr>
          <a:xfrm rot="16200000">
            <a:off x="10365239" y="4898230"/>
            <a:ext cx="1556658" cy="3490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A2CADC50-E4AE-3766-90DD-3945605FB836}"/>
              </a:ext>
            </a:extLst>
          </p:cNvPr>
          <p:cNvSpPr/>
          <p:nvPr/>
        </p:nvSpPr>
        <p:spPr>
          <a:xfrm>
            <a:off x="435429" y="4163784"/>
            <a:ext cx="438489" cy="1306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D392A57C-9952-65C1-7785-73E5FF084F52}"/>
              </a:ext>
            </a:extLst>
          </p:cNvPr>
          <p:cNvCxnSpPr>
            <a:cxnSpLocks/>
          </p:cNvCxnSpPr>
          <p:nvPr/>
        </p:nvCxnSpPr>
        <p:spPr>
          <a:xfrm flipH="1">
            <a:off x="631371" y="2194560"/>
            <a:ext cx="4546419" cy="1969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7496534-5BF2-79D9-CBA2-FA916FD08811}"/>
              </a:ext>
            </a:extLst>
          </p:cNvPr>
          <p:cNvSpPr txBox="1"/>
          <p:nvPr/>
        </p:nvSpPr>
        <p:spPr>
          <a:xfrm>
            <a:off x="5062699" y="2001046"/>
            <a:ext cx="1384852" cy="344557"/>
          </a:xfrm>
          <a:prstGeom prst="rect">
            <a:avLst/>
          </a:prstGeom>
          <a:noFill/>
          <a:ln w="25400">
            <a:solidFill>
              <a:schemeClr val="accent6">
                <a:lumMod val="75000"/>
              </a:schemeClr>
            </a:solidFill>
          </a:ln>
        </p:spPr>
        <p:txBody>
          <a:bodyPr vert="horz" wrap="none" lIns="91440" tIns="45720" rIns="91440" bIns="45720" rtlCol="0">
            <a:noAutofit/>
          </a:bodyPr>
          <a:lstStyle>
            <a:defPPr>
              <a:defRPr lang="sk-SK"/>
            </a:defPPr>
            <a:lvl1pPr marR="0" indent="0" fontAlgn="auto">
              <a:lnSpc>
                <a:spcPct val="90000"/>
              </a:lnSpc>
              <a:spcBef>
                <a:spcPts val="1000"/>
              </a:spcBef>
              <a:spcAft>
                <a:spcPts val="0"/>
              </a:spcAft>
              <a:buClrTx/>
              <a:buSzTx/>
              <a:buFont typeface="Arial" panose="020B0604020202020204" pitchFamily="34" charset="0"/>
              <a:buNone/>
              <a:tabLst/>
              <a:defRPr kumimoji="0" sz="2000" b="1" i="0" u="none" strike="noStrike" cap="none" spc="0" normalizeH="0" baseline="0">
                <a:ln>
                  <a:noFill/>
                </a:ln>
                <a:solidFill>
                  <a:schemeClr val="accent6"/>
                </a:solidFill>
                <a:effectLst/>
                <a:uLnTx/>
                <a:uFillTx/>
                <a:latin typeface="Arial" panose="020B0604020202020204"/>
              </a:defRPr>
            </a:lvl1pPr>
          </a:lstStyle>
          <a:p>
            <a:r>
              <a:rPr lang="en-US" dirty="0">
                <a:solidFill>
                  <a:srgbClr val="92D050"/>
                </a:solidFill>
                <a:highlight>
                  <a:srgbClr val="FF00FF"/>
                </a:highlight>
              </a:rPr>
              <a:t>        </a:t>
            </a:r>
            <a:endParaRPr lang="cs-CZ" dirty="0" err="1">
              <a:solidFill>
                <a:srgbClr val="92D050"/>
              </a:solidFill>
              <a:highlight>
                <a:srgbClr val="FF00FF"/>
              </a:highlight>
            </a:endParaRPr>
          </a:p>
        </p:txBody>
      </p:sp>
      <p:sp>
        <p:nvSpPr>
          <p:cNvPr id="5" name="TextBox 4">
            <a:extLst>
              <a:ext uri="{FF2B5EF4-FFF2-40B4-BE49-F238E27FC236}">
                <a16:creationId xmlns:a16="http://schemas.microsoft.com/office/drawing/2014/main" id="{03F59333-6E97-C890-B825-6A8607DBED53}"/>
              </a:ext>
            </a:extLst>
          </p:cNvPr>
          <p:cNvSpPr txBox="1"/>
          <p:nvPr/>
        </p:nvSpPr>
        <p:spPr>
          <a:xfrm>
            <a:off x="980660" y="4124421"/>
            <a:ext cx="5440017" cy="232877"/>
          </a:xfrm>
          <a:prstGeom prst="rect">
            <a:avLst/>
          </a:prstGeom>
          <a:noFill/>
          <a:ln w="25400">
            <a:solidFill>
              <a:schemeClr val="tx2"/>
            </a:solidFill>
          </a:ln>
        </p:spPr>
        <p:txBody>
          <a:bodyPr vert="horz" wrap="none" lIns="91440" tIns="45720" rIns="91440" bIns="45720" rtlCol="0">
            <a:noAutofit/>
          </a:bodyPr>
          <a:lstStyle>
            <a:defPPr>
              <a:defRPr lang="sk-SK"/>
            </a:defPPr>
            <a:lvl1pPr marR="0" indent="0" fontAlgn="auto">
              <a:lnSpc>
                <a:spcPct val="90000"/>
              </a:lnSpc>
              <a:spcBef>
                <a:spcPts val="1000"/>
              </a:spcBef>
              <a:spcAft>
                <a:spcPts val="0"/>
              </a:spcAft>
              <a:buClrTx/>
              <a:buSzTx/>
              <a:buFont typeface="Arial" panose="020B0604020202020204" pitchFamily="34" charset="0"/>
              <a:buNone/>
              <a:tabLst/>
              <a:defRPr kumimoji="0" sz="2000" b="1" i="0" u="none" strike="noStrike" cap="none" spc="0" normalizeH="0" baseline="0">
                <a:ln>
                  <a:noFill/>
                </a:ln>
                <a:solidFill>
                  <a:schemeClr val="accent6"/>
                </a:solidFill>
                <a:effectLst/>
                <a:uLnTx/>
                <a:uFillTx/>
                <a:latin typeface="Arial" panose="020B0604020202020204"/>
              </a:defRPr>
            </a:lvl1pPr>
          </a:lstStyle>
          <a:p>
            <a:r>
              <a:rPr lang="en-US" dirty="0">
                <a:solidFill>
                  <a:srgbClr val="92D050"/>
                </a:solidFill>
              </a:rPr>
              <a:t>        </a:t>
            </a:r>
            <a:endParaRPr lang="cs-CZ" dirty="0" err="1">
              <a:solidFill>
                <a:srgbClr val="92D050"/>
              </a:solidFill>
            </a:endParaRPr>
          </a:p>
        </p:txBody>
      </p:sp>
    </p:spTree>
    <p:extLst>
      <p:ext uri="{BB962C8B-B14F-4D97-AF65-F5344CB8AC3E}">
        <p14:creationId xmlns:p14="http://schemas.microsoft.com/office/powerpoint/2010/main" val="29958465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6724891" y="1542361"/>
            <a:ext cx="4593190" cy="4340723"/>
          </a:xfrm>
        </p:spPr>
        <p:txBody>
          <a:bodyPr/>
          <a:lstStyle/>
          <a:p>
            <a:r>
              <a:rPr lang="en-US" dirty="0"/>
              <a:t>Segment Left - pointer to active Segment from Segment List</a:t>
            </a:r>
          </a:p>
          <a:p>
            <a:r>
              <a:rPr lang="en-US" dirty="0"/>
              <a:t>Only value of Pointer is changed - </a:t>
            </a:r>
            <a:r>
              <a:rPr lang="en-US" u="sng" dirty="0"/>
              <a:t>Segments List [xxx] is not removed like MPLS label</a:t>
            </a:r>
          </a:p>
          <a:p>
            <a:r>
              <a:rPr lang="en-US" dirty="0"/>
              <a:t>Last Segment of SR Policy (index = 0)</a:t>
            </a:r>
          </a:p>
          <a:p>
            <a:r>
              <a:rPr lang="en-US" dirty="0"/>
              <a:t>First Segment of SR Policy (index = </a:t>
            </a:r>
            <a:r>
              <a:rPr lang="en-US" i="1" dirty="0"/>
              <a:t>n</a:t>
            </a:r>
            <a:r>
              <a:rPr lang="en-US" dirty="0"/>
              <a:t>)</a:t>
            </a:r>
          </a:p>
          <a:p>
            <a:endParaRPr lang="en-US" dirty="0"/>
          </a:p>
        </p:txBody>
      </p:sp>
      <p:sp>
        <p:nvSpPr>
          <p:cNvPr id="3" name="Text Placeholder 2"/>
          <p:cNvSpPr>
            <a:spLocks noGrp="1"/>
          </p:cNvSpPr>
          <p:nvPr>
            <p:ph type="body" sz="quarter" idx="11"/>
          </p:nvPr>
        </p:nvSpPr>
        <p:spPr/>
        <p:txBody>
          <a:bodyPr/>
          <a:lstStyle/>
          <a:p>
            <a:r>
              <a:rPr lang="en-US" dirty="0"/>
              <a:t>SRv6 Dataplane # n-2 ….</a:t>
            </a:r>
          </a:p>
        </p:txBody>
      </p:sp>
      <p:pic>
        <p:nvPicPr>
          <p:cNvPr id="4" name="Picture 3"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918" y="1542361"/>
            <a:ext cx="5685862" cy="4414632"/>
          </a:xfrm>
          <a:prstGeom prst="rect">
            <a:avLst/>
          </a:prstGeom>
        </p:spPr>
      </p:pic>
      <p:cxnSp>
        <p:nvCxnSpPr>
          <p:cNvPr id="7" name="Straight Arrow Connector 6">
            <a:extLst>
              <a:ext uri="{FF2B5EF4-FFF2-40B4-BE49-F238E27FC236}">
                <a16:creationId xmlns:a16="http://schemas.microsoft.com/office/drawing/2014/main" id="{85400EA0-8C95-40AB-1DB2-185656564097}"/>
              </a:ext>
            </a:extLst>
          </p:cNvPr>
          <p:cNvCxnSpPr>
            <a:cxnSpLocks/>
          </p:cNvCxnSpPr>
          <p:nvPr/>
        </p:nvCxnSpPr>
        <p:spPr>
          <a:xfrm flipH="1" flipV="1">
            <a:off x="2166730" y="2564296"/>
            <a:ext cx="4558161" cy="4728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EF9B398-3574-87AD-E852-442544B0E414}"/>
              </a:ext>
            </a:extLst>
          </p:cNvPr>
          <p:cNvCxnSpPr>
            <a:cxnSpLocks/>
          </p:cNvCxnSpPr>
          <p:nvPr/>
        </p:nvCxnSpPr>
        <p:spPr>
          <a:xfrm flipH="1" flipV="1">
            <a:off x="4724400" y="3170583"/>
            <a:ext cx="2000491" cy="1346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D37BA6E-49E6-C865-0F55-A4C7A73852C7}"/>
              </a:ext>
            </a:extLst>
          </p:cNvPr>
          <p:cNvCxnSpPr>
            <a:cxnSpLocks/>
          </p:cNvCxnSpPr>
          <p:nvPr/>
        </p:nvCxnSpPr>
        <p:spPr>
          <a:xfrm flipH="1" flipV="1">
            <a:off x="5889171" y="5072743"/>
            <a:ext cx="835720" cy="261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Arrow: Right 13">
            <a:extLst>
              <a:ext uri="{FF2B5EF4-FFF2-40B4-BE49-F238E27FC236}">
                <a16:creationId xmlns:a16="http://schemas.microsoft.com/office/drawing/2014/main" id="{291A518E-9D6D-D7B3-4AEC-DEC7FCE72D2B}"/>
              </a:ext>
            </a:extLst>
          </p:cNvPr>
          <p:cNvSpPr/>
          <p:nvPr/>
        </p:nvSpPr>
        <p:spPr>
          <a:xfrm rot="16200000">
            <a:off x="10365239" y="4898230"/>
            <a:ext cx="1556658" cy="3490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A2CADC50-E4AE-3766-90DD-3945605FB836}"/>
              </a:ext>
            </a:extLst>
          </p:cNvPr>
          <p:cNvSpPr/>
          <p:nvPr/>
        </p:nvSpPr>
        <p:spPr>
          <a:xfrm>
            <a:off x="435429" y="3989613"/>
            <a:ext cx="438489" cy="1306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10F58E2C-4756-EE20-4F0A-6EF4E54131CC}"/>
              </a:ext>
            </a:extLst>
          </p:cNvPr>
          <p:cNvCxnSpPr>
            <a:cxnSpLocks/>
          </p:cNvCxnSpPr>
          <p:nvPr/>
        </p:nvCxnSpPr>
        <p:spPr>
          <a:xfrm flipH="1">
            <a:off x="631371" y="2183130"/>
            <a:ext cx="4523559" cy="18064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C1EE818-16BB-B4D9-86B3-A24073A93E49}"/>
              </a:ext>
            </a:extLst>
          </p:cNvPr>
          <p:cNvSpPr txBox="1"/>
          <p:nvPr/>
        </p:nvSpPr>
        <p:spPr>
          <a:xfrm>
            <a:off x="5062699" y="2001046"/>
            <a:ext cx="1384852" cy="344557"/>
          </a:xfrm>
          <a:prstGeom prst="rect">
            <a:avLst/>
          </a:prstGeom>
          <a:noFill/>
          <a:ln w="25400">
            <a:solidFill>
              <a:schemeClr val="accent6">
                <a:lumMod val="75000"/>
              </a:schemeClr>
            </a:solidFill>
          </a:ln>
        </p:spPr>
        <p:txBody>
          <a:bodyPr vert="horz" wrap="none" lIns="91440" tIns="45720" rIns="91440" bIns="45720" rtlCol="0">
            <a:noAutofit/>
          </a:bodyPr>
          <a:lstStyle>
            <a:defPPr>
              <a:defRPr lang="sk-SK"/>
            </a:defPPr>
            <a:lvl1pPr marR="0" indent="0" fontAlgn="auto">
              <a:lnSpc>
                <a:spcPct val="90000"/>
              </a:lnSpc>
              <a:spcBef>
                <a:spcPts val="1000"/>
              </a:spcBef>
              <a:spcAft>
                <a:spcPts val="0"/>
              </a:spcAft>
              <a:buClrTx/>
              <a:buSzTx/>
              <a:buFont typeface="Arial" panose="020B0604020202020204" pitchFamily="34" charset="0"/>
              <a:buNone/>
              <a:tabLst/>
              <a:defRPr kumimoji="0" sz="2000" b="1" i="0" u="none" strike="noStrike" cap="none" spc="0" normalizeH="0" baseline="0">
                <a:ln>
                  <a:noFill/>
                </a:ln>
                <a:solidFill>
                  <a:schemeClr val="accent6"/>
                </a:solidFill>
                <a:effectLst/>
                <a:uLnTx/>
                <a:uFillTx/>
                <a:latin typeface="Arial" panose="020B0604020202020204"/>
              </a:defRPr>
            </a:lvl1pPr>
          </a:lstStyle>
          <a:p>
            <a:r>
              <a:rPr lang="en-US" dirty="0">
                <a:solidFill>
                  <a:srgbClr val="92D050"/>
                </a:solidFill>
                <a:highlight>
                  <a:srgbClr val="FF00FF"/>
                </a:highlight>
              </a:rPr>
              <a:t>        </a:t>
            </a:r>
            <a:endParaRPr lang="cs-CZ" dirty="0" err="1">
              <a:solidFill>
                <a:srgbClr val="92D050"/>
              </a:solidFill>
              <a:highlight>
                <a:srgbClr val="FF00FF"/>
              </a:highlight>
            </a:endParaRPr>
          </a:p>
        </p:txBody>
      </p:sp>
      <p:sp>
        <p:nvSpPr>
          <p:cNvPr id="5" name="TextBox 4">
            <a:extLst>
              <a:ext uri="{FF2B5EF4-FFF2-40B4-BE49-F238E27FC236}">
                <a16:creationId xmlns:a16="http://schemas.microsoft.com/office/drawing/2014/main" id="{8B327699-E836-28DD-744C-DFCD3DED0B3E}"/>
              </a:ext>
            </a:extLst>
          </p:cNvPr>
          <p:cNvSpPr txBox="1"/>
          <p:nvPr/>
        </p:nvSpPr>
        <p:spPr>
          <a:xfrm>
            <a:off x="996840" y="3970932"/>
            <a:ext cx="5440017" cy="232877"/>
          </a:xfrm>
          <a:prstGeom prst="rect">
            <a:avLst/>
          </a:prstGeom>
          <a:noFill/>
          <a:ln w="25400">
            <a:solidFill>
              <a:schemeClr val="tx2"/>
            </a:solidFill>
          </a:ln>
        </p:spPr>
        <p:txBody>
          <a:bodyPr vert="horz" wrap="none" lIns="91440" tIns="45720" rIns="91440" bIns="45720" rtlCol="0">
            <a:noAutofit/>
          </a:bodyPr>
          <a:lstStyle>
            <a:defPPr>
              <a:defRPr lang="sk-SK"/>
            </a:defPPr>
            <a:lvl1pPr marR="0" indent="0" fontAlgn="auto">
              <a:lnSpc>
                <a:spcPct val="90000"/>
              </a:lnSpc>
              <a:spcBef>
                <a:spcPts val="1000"/>
              </a:spcBef>
              <a:spcAft>
                <a:spcPts val="0"/>
              </a:spcAft>
              <a:buClrTx/>
              <a:buSzTx/>
              <a:buFont typeface="Arial" panose="020B0604020202020204" pitchFamily="34" charset="0"/>
              <a:buNone/>
              <a:tabLst/>
              <a:defRPr kumimoji="0" sz="2000" b="1" i="0" u="none" strike="noStrike" cap="none" spc="0" normalizeH="0" baseline="0">
                <a:ln>
                  <a:noFill/>
                </a:ln>
                <a:solidFill>
                  <a:schemeClr val="accent6"/>
                </a:solidFill>
                <a:effectLst/>
                <a:uLnTx/>
                <a:uFillTx/>
                <a:latin typeface="Arial" panose="020B0604020202020204"/>
              </a:defRPr>
            </a:lvl1pPr>
          </a:lstStyle>
          <a:p>
            <a:r>
              <a:rPr lang="en-US" dirty="0">
                <a:solidFill>
                  <a:srgbClr val="92D050"/>
                </a:solidFill>
              </a:rPr>
              <a:t>        </a:t>
            </a:r>
            <a:endParaRPr lang="cs-CZ" dirty="0" err="1">
              <a:solidFill>
                <a:srgbClr val="92D050"/>
              </a:solidFill>
            </a:endParaRPr>
          </a:p>
        </p:txBody>
      </p:sp>
    </p:spTree>
    <p:extLst>
      <p:ext uri="{BB962C8B-B14F-4D97-AF65-F5344CB8AC3E}">
        <p14:creationId xmlns:p14="http://schemas.microsoft.com/office/powerpoint/2010/main" val="10724455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6724891" y="1542361"/>
            <a:ext cx="4593190" cy="4340723"/>
          </a:xfrm>
        </p:spPr>
        <p:txBody>
          <a:bodyPr/>
          <a:lstStyle/>
          <a:p>
            <a:r>
              <a:rPr lang="en-US" dirty="0"/>
              <a:t>Segment Left - pointer to active Segment from Segment List</a:t>
            </a:r>
          </a:p>
          <a:p>
            <a:r>
              <a:rPr lang="en-US" dirty="0"/>
              <a:t>Only value of Pointer is changed - </a:t>
            </a:r>
            <a:r>
              <a:rPr lang="en-US" u="sng" dirty="0"/>
              <a:t>Segments List [xxx] is not removed like MPLS label</a:t>
            </a:r>
          </a:p>
          <a:p>
            <a:r>
              <a:rPr lang="en-US" dirty="0"/>
              <a:t>Last Segment of SR Policy (index = 0)</a:t>
            </a:r>
          </a:p>
          <a:p>
            <a:r>
              <a:rPr lang="en-US" dirty="0"/>
              <a:t>First Segment of SR Policy (index = </a:t>
            </a:r>
            <a:r>
              <a:rPr lang="en-US" i="1" dirty="0"/>
              <a:t>n</a:t>
            </a:r>
            <a:r>
              <a:rPr lang="en-US" dirty="0"/>
              <a:t>)</a:t>
            </a:r>
          </a:p>
          <a:p>
            <a:endParaRPr lang="en-US" dirty="0"/>
          </a:p>
        </p:txBody>
      </p:sp>
      <p:sp>
        <p:nvSpPr>
          <p:cNvPr id="3" name="Text Placeholder 2"/>
          <p:cNvSpPr>
            <a:spLocks noGrp="1"/>
          </p:cNvSpPr>
          <p:nvPr>
            <p:ph type="body" sz="quarter" idx="11"/>
          </p:nvPr>
        </p:nvSpPr>
        <p:spPr/>
        <p:txBody>
          <a:bodyPr/>
          <a:lstStyle/>
          <a:p>
            <a:r>
              <a:rPr lang="en-US" dirty="0"/>
              <a:t>SRv6 Dataplane # 3</a:t>
            </a:r>
          </a:p>
        </p:txBody>
      </p:sp>
      <p:pic>
        <p:nvPicPr>
          <p:cNvPr id="4" name="Picture 3"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918" y="1542361"/>
            <a:ext cx="5685862" cy="4414632"/>
          </a:xfrm>
          <a:prstGeom prst="rect">
            <a:avLst/>
          </a:prstGeom>
        </p:spPr>
      </p:pic>
      <p:cxnSp>
        <p:nvCxnSpPr>
          <p:cNvPr id="7" name="Straight Arrow Connector 6">
            <a:extLst>
              <a:ext uri="{FF2B5EF4-FFF2-40B4-BE49-F238E27FC236}">
                <a16:creationId xmlns:a16="http://schemas.microsoft.com/office/drawing/2014/main" id="{85400EA0-8C95-40AB-1DB2-185656564097}"/>
              </a:ext>
            </a:extLst>
          </p:cNvPr>
          <p:cNvCxnSpPr>
            <a:cxnSpLocks/>
          </p:cNvCxnSpPr>
          <p:nvPr/>
        </p:nvCxnSpPr>
        <p:spPr>
          <a:xfrm flipH="1" flipV="1">
            <a:off x="2166730" y="2564296"/>
            <a:ext cx="4558161" cy="4728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EF9B398-3574-87AD-E852-442544B0E414}"/>
              </a:ext>
            </a:extLst>
          </p:cNvPr>
          <p:cNvCxnSpPr>
            <a:cxnSpLocks/>
          </p:cNvCxnSpPr>
          <p:nvPr/>
        </p:nvCxnSpPr>
        <p:spPr>
          <a:xfrm flipH="1" flipV="1">
            <a:off x="4724400" y="3170583"/>
            <a:ext cx="2000491" cy="1346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D37BA6E-49E6-C865-0F55-A4C7A73852C7}"/>
              </a:ext>
            </a:extLst>
          </p:cNvPr>
          <p:cNvCxnSpPr>
            <a:cxnSpLocks/>
          </p:cNvCxnSpPr>
          <p:nvPr/>
        </p:nvCxnSpPr>
        <p:spPr>
          <a:xfrm flipH="1" flipV="1">
            <a:off x="5889171" y="5072743"/>
            <a:ext cx="835720" cy="261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Arrow: Right 13">
            <a:extLst>
              <a:ext uri="{FF2B5EF4-FFF2-40B4-BE49-F238E27FC236}">
                <a16:creationId xmlns:a16="http://schemas.microsoft.com/office/drawing/2014/main" id="{291A518E-9D6D-D7B3-4AEC-DEC7FCE72D2B}"/>
              </a:ext>
            </a:extLst>
          </p:cNvPr>
          <p:cNvSpPr/>
          <p:nvPr/>
        </p:nvSpPr>
        <p:spPr>
          <a:xfrm rot="16200000">
            <a:off x="10365239" y="4898230"/>
            <a:ext cx="1556658" cy="3490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A2CADC50-E4AE-3766-90DD-3945605FB836}"/>
              </a:ext>
            </a:extLst>
          </p:cNvPr>
          <p:cNvSpPr/>
          <p:nvPr/>
        </p:nvSpPr>
        <p:spPr>
          <a:xfrm>
            <a:off x="480236" y="3844077"/>
            <a:ext cx="438489" cy="1306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94382990-62E1-056F-6C07-988D9FFFE182}"/>
              </a:ext>
            </a:extLst>
          </p:cNvPr>
          <p:cNvCxnSpPr>
            <a:cxnSpLocks/>
          </p:cNvCxnSpPr>
          <p:nvPr/>
        </p:nvCxnSpPr>
        <p:spPr>
          <a:xfrm flipH="1">
            <a:off x="685800" y="2205990"/>
            <a:ext cx="4480560" cy="16380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5818482-C725-0E1C-FC48-990D6DC61BB8}"/>
              </a:ext>
            </a:extLst>
          </p:cNvPr>
          <p:cNvSpPr txBox="1"/>
          <p:nvPr/>
        </p:nvSpPr>
        <p:spPr>
          <a:xfrm>
            <a:off x="5062699" y="2001046"/>
            <a:ext cx="1384852" cy="344557"/>
          </a:xfrm>
          <a:prstGeom prst="rect">
            <a:avLst/>
          </a:prstGeom>
          <a:noFill/>
          <a:ln w="25400">
            <a:solidFill>
              <a:schemeClr val="accent6">
                <a:lumMod val="75000"/>
              </a:schemeClr>
            </a:solidFill>
          </a:ln>
        </p:spPr>
        <p:txBody>
          <a:bodyPr vert="horz" wrap="none" lIns="91440" tIns="45720" rIns="91440" bIns="45720" rtlCol="0">
            <a:noAutofit/>
          </a:bodyPr>
          <a:lstStyle>
            <a:defPPr>
              <a:defRPr lang="sk-SK"/>
            </a:defPPr>
            <a:lvl1pPr marR="0" indent="0" fontAlgn="auto">
              <a:lnSpc>
                <a:spcPct val="90000"/>
              </a:lnSpc>
              <a:spcBef>
                <a:spcPts val="1000"/>
              </a:spcBef>
              <a:spcAft>
                <a:spcPts val="0"/>
              </a:spcAft>
              <a:buClrTx/>
              <a:buSzTx/>
              <a:buFont typeface="Arial" panose="020B0604020202020204" pitchFamily="34" charset="0"/>
              <a:buNone/>
              <a:tabLst/>
              <a:defRPr kumimoji="0" sz="2000" b="1" i="0" u="none" strike="noStrike" cap="none" spc="0" normalizeH="0" baseline="0">
                <a:ln>
                  <a:noFill/>
                </a:ln>
                <a:solidFill>
                  <a:schemeClr val="accent6"/>
                </a:solidFill>
                <a:effectLst/>
                <a:uLnTx/>
                <a:uFillTx/>
                <a:latin typeface="Arial" panose="020B0604020202020204"/>
              </a:defRPr>
            </a:lvl1pPr>
          </a:lstStyle>
          <a:p>
            <a:r>
              <a:rPr lang="en-US" dirty="0">
                <a:solidFill>
                  <a:srgbClr val="92D050"/>
                </a:solidFill>
                <a:highlight>
                  <a:srgbClr val="FF00FF"/>
                </a:highlight>
              </a:rPr>
              <a:t>        </a:t>
            </a:r>
            <a:endParaRPr lang="cs-CZ" dirty="0" err="1">
              <a:solidFill>
                <a:srgbClr val="92D050"/>
              </a:solidFill>
              <a:highlight>
                <a:srgbClr val="FF00FF"/>
              </a:highlight>
            </a:endParaRPr>
          </a:p>
        </p:txBody>
      </p:sp>
      <p:sp>
        <p:nvSpPr>
          <p:cNvPr id="5" name="TextBox 4">
            <a:extLst>
              <a:ext uri="{FF2B5EF4-FFF2-40B4-BE49-F238E27FC236}">
                <a16:creationId xmlns:a16="http://schemas.microsoft.com/office/drawing/2014/main" id="{6F5408A4-72B0-B0E1-24CA-6F792F57922C}"/>
              </a:ext>
            </a:extLst>
          </p:cNvPr>
          <p:cNvSpPr txBox="1"/>
          <p:nvPr/>
        </p:nvSpPr>
        <p:spPr>
          <a:xfrm>
            <a:off x="1007534" y="3792953"/>
            <a:ext cx="5440017" cy="232877"/>
          </a:xfrm>
          <a:prstGeom prst="rect">
            <a:avLst/>
          </a:prstGeom>
          <a:noFill/>
          <a:ln w="25400">
            <a:solidFill>
              <a:schemeClr val="tx2"/>
            </a:solidFill>
          </a:ln>
        </p:spPr>
        <p:txBody>
          <a:bodyPr vert="horz" wrap="none" lIns="91440" tIns="45720" rIns="91440" bIns="45720" rtlCol="0">
            <a:noAutofit/>
          </a:bodyPr>
          <a:lstStyle>
            <a:defPPr>
              <a:defRPr lang="sk-SK"/>
            </a:defPPr>
            <a:lvl1pPr marR="0" indent="0" fontAlgn="auto">
              <a:lnSpc>
                <a:spcPct val="90000"/>
              </a:lnSpc>
              <a:spcBef>
                <a:spcPts val="1000"/>
              </a:spcBef>
              <a:spcAft>
                <a:spcPts val="0"/>
              </a:spcAft>
              <a:buClrTx/>
              <a:buSzTx/>
              <a:buFont typeface="Arial" panose="020B0604020202020204" pitchFamily="34" charset="0"/>
              <a:buNone/>
              <a:tabLst/>
              <a:defRPr kumimoji="0" sz="2000" b="1" i="0" u="none" strike="noStrike" cap="none" spc="0" normalizeH="0" baseline="0">
                <a:ln>
                  <a:noFill/>
                </a:ln>
                <a:solidFill>
                  <a:schemeClr val="accent6"/>
                </a:solidFill>
                <a:effectLst/>
                <a:uLnTx/>
                <a:uFillTx/>
                <a:latin typeface="Arial" panose="020B0604020202020204"/>
              </a:defRPr>
            </a:lvl1pPr>
          </a:lstStyle>
          <a:p>
            <a:r>
              <a:rPr lang="en-US" dirty="0">
                <a:solidFill>
                  <a:srgbClr val="92D050"/>
                </a:solidFill>
              </a:rPr>
              <a:t>        </a:t>
            </a:r>
            <a:endParaRPr lang="cs-CZ" dirty="0" err="1">
              <a:solidFill>
                <a:srgbClr val="92D050"/>
              </a:solidFill>
            </a:endParaRPr>
          </a:p>
        </p:txBody>
      </p:sp>
    </p:spTree>
    <p:extLst>
      <p:ext uri="{BB962C8B-B14F-4D97-AF65-F5344CB8AC3E}">
        <p14:creationId xmlns:p14="http://schemas.microsoft.com/office/powerpoint/2010/main" val="8664913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6724891" y="1542361"/>
            <a:ext cx="4593190" cy="4340723"/>
          </a:xfrm>
        </p:spPr>
        <p:txBody>
          <a:bodyPr/>
          <a:lstStyle/>
          <a:p>
            <a:r>
              <a:rPr lang="en-US" dirty="0"/>
              <a:t>Segment Left - pointer to active Segment from Segment List</a:t>
            </a:r>
          </a:p>
          <a:p>
            <a:r>
              <a:rPr lang="en-US" dirty="0"/>
              <a:t>Only value of Pointer is changed - </a:t>
            </a:r>
            <a:r>
              <a:rPr lang="en-US" u="sng" dirty="0"/>
              <a:t>Segments List [xxx] is not removed like MPLS label</a:t>
            </a:r>
          </a:p>
          <a:p>
            <a:r>
              <a:rPr lang="en-US" dirty="0"/>
              <a:t>Last Segment of SR Policy (index = 0)</a:t>
            </a:r>
          </a:p>
          <a:p>
            <a:r>
              <a:rPr lang="en-US" dirty="0"/>
              <a:t>First Segment of SR Policy (index = </a:t>
            </a:r>
            <a:r>
              <a:rPr lang="en-US" i="1" dirty="0"/>
              <a:t>n</a:t>
            </a:r>
            <a:r>
              <a:rPr lang="en-US" dirty="0"/>
              <a:t>)</a:t>
            </a:r>
          </a:p>
          <a:p>
            <a:endParaRPr lang="en-US" dirty="0"/>
          </a:p>
        </p:txBody>
      </p:sp>
      <p:sp>
        <p:nvSpPr>
          <p:cNvPr id="3" name="Text Placeholder 2"/>
          <p:cNvSpPr>
            <a:spLocks noGrp="1"/>
          </p:cNvSpPr>
          <p:nvPr>
            <p:ph type="body" sz="quarter" idx="11"/>
          </p:nvPr>
        </p:nvSpPr>
        <p:spPr/>
        <p:txBody>
          <a:bodyPr/>
          <a:lstStyle/>
          <a:p>
            <a:r>
              <a:rPr lang="en-US" dirty="0"/>
              <a:t>SRv6 Dataplane # 2</a:t>
            </a:r>
          </a:p>
        </p:txBody>
      </p:sp>
      <p:pic>
        <p:nvPicPr>
          <p:cNvPr id="4" name="Picture 3"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918" y="1542361"/>
            <a:ext cx="5685862" cy="4414632"/>
          </a:xfrm>
          <a:prstGeom prst="rect">
            <a:avLst/>
          </a:prstGeom>
        </p:spPr>
      </p:pic>
      <p:cxnSp>
        <p:nvCxnSpPr>
          <p:cNvPr id="7" name="Straight Arrow Connector 6">
            <a:extLst>
              <a:ext uri="{FF2B5EF4-FFF2-40B4-BE49-F238E27FC236}">
                <a16:creationId xmlns:a16="http://schemas.microsoft.com/office/drawing/2014/main" id="{85400EA0-8C95-40AB-1DB2-185656564097}"/>
              </a:ext>
            </a:extLst>
          </p:cNvPr>
          <p:cNvCxnSpPr>
            <a:cxnSpLocks/>
          </p:cNvCxnSpPr>
          <p:nvPr/>
        </p:nvCxnSpPr>
        <p:spPr>
          <a:xfrm flipH="1" flipV="1">
            <a:off x="2166730" y="2564296"/>
            <a:ext cx="4558161" cy="4728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EF9B398-3574-87AD-E852-442544B0E414}"/>
              </a:ext>
            </a:extLst>
          </p:cNvPr>
          <p:cNvCxnSpPr>
            <a:cxnSpLocks/>
          </p:cNvCxnSpPr>
          <p:nvPr/>
        </p:nvCxnSpPr>
        <p:spPr>
          <a:xfrm flipH="1" flipV="1">
            <a:off x="4724400" y="3170583"/>
            <a:ext cx="2000491" cy="1346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D37BA6E-49E6-C865-0F55-A4C7A73852C7}"/>
              </a:ext>
            </a:extLst>
          </p:cNvPr>
          <p:cNvCxnSpPr>
            <a:cxnSpLocks/>
          </p:cNvCxnSpPr>
          <p:nvPr/>
        </p:nvCxnSpPr>
        <p:spPr>
          <a:xfrm flipH="1" flipV="1">
            <a:off x="5889171" y="5072743"/>
            <a:ext cx="835720" cy="261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Arrow: Right 13">
            <a:extLst>
              <a:ext uri="{FF2B5EF4-FFF2-40B4-BE49-F238E27FC236}">
                <a16:creationId xmlns:a16="http://schemas.microsoft.com/office/drawing/2014/main" id="{291A518E-9D6D-D7B3-4AEC-DEC7FCE72D2B}"/>
              </a:ext>
            </a:extLst>
          </p:cNvPr>
          <p:cNvSpPr/>
          <p:nvPr/>
        </p:nvSpPr>
        <p:spPr>
          <a:xfrm rot="16200000">
            <a:off x="10365239" y="4898230"/>
            <a:ext cx="1556658" cy="3490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A2CADC50-E4AE-3766-90DD-3945605FB836}"/>
              </a:ext>
            </a:extLst>
          </p:cNvPr>
          <p:cNvSpPr/>
          <p:nvPr/>
        </p:nvSpPr>
        <p:spPr>
          <a:xfrm>
            <a:off x="435429" y="3684362"/>
            <a:ext cx="438489" cy="1306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2F8F8563-5D9C-9956-35C2-F9583808D720}"/>
              </a:ext>
            </a:extLst>
          </p:cNvPr>
          <p:cNvCxnSpPr>
            <a:cxnSpLocks/>
          </p:cNvCxnSpPr>
          <p:nvPr/>
        </p:nvCxnSpPr>
        <p:spPr>
          <a:xfrm flipH="1">
            <a:off x="642257" y="2194560"/>
            <a:ext cx="4535533" cy="14898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9A53D01-B98F-8531-1F53-D24455D2215F}"/>
              </a:ext>
            </a:extLst>
          </p:cNvPr>
          <p:cNvSpPr txBox="1"/>
          <p:nvPr/>
        </p:nvSpPr>
        <p:spPr>
          <a:xfrm>
            <a:off x="5062699" y="2001046"/>
            <a:ext cx="1384852" cy="344557"/>
          </a:xfrm>
          <a:prstGeom prst="rect">
            <a:avLst/>
          </a:prstGeom>
          <a:noFill/>
          <a:ln w="25400">
            <a:solidFill>
              <a:schemeClr val="accent6">
                <a:lumMod val="75000"/>
              </a:schemeClr>
            </a:solidFill>
          </a:ln>
        </p:spPr>
        <p:txBody>
          <a:bodyPr vert="horz" wrap="none" lIns="91440" tIns="45720" rIns="91440" bIns="45720" rtlCol="0">
            <a:noAutofit/>
          </a:bodyPr>
          <a:lstStyle>
            <a:defPPr>
              <a:defRPr lang="sk-SK"/>
            </a:defPPr>
            <a:lvl1pPr marR="0" indent="0" fontAlgn="auto">
              <a:lnSpc>
                <a:spcPct val="90000"/>
              </a:lnSpc>
              <a:spcBef>
                <a:spcPts val="1000"/>
              </a:spcBef>
              <a:spcAft>
                <a:spcPts val="0"/>
              </a:spcAft>
              <a:buClrTx/>
              <a:buSzTx/>
              <a:buFont typeface="Arial" panose="020B0604020202020204" pitchFamily="34" charset="0"/>
              <a:buNone/>
              <a:tabLst/>
              <a:defRPr kumimoji="0" sz="2000" b="1" i="0" u="none" strike="noStrike" cap="none" spc="0" normalizeH="0" baseline="0">
                <a:ln>
                  <a:noFill/>
                </a:ln>
                <a:solidFill>
                  <a:schemeClr val="accent6"/>
                </a:solidFill>
                <a:effectLst/>
                <a:uLnTx/>
                <a:uFillTx/>
                <a:latin typeface="Arial" panose="020B0604020202020204"/>
              </a:defRPr>
            </a:lvl1pPr>
          </a:lstStyle>
          <a:p>
            <a:r>
              <a:rPr lang="en-US" dirty="0">
                <a:solidFill>
                  <a:srgbClr val="92D050"/>
                </a:solidFill>
                <a:highlight>
                  <a:srgbClr val="FF00FF"/>
                </a:highlight>
              </a:rPr>
              <a:t>        </a:t>
            </a:r>
            <a:endParaRPr lang="cs-CZ" dirty="0" err="1">
              <a:solidFill>
                <a:srgbClr val="92D050"/>
              </a:solidFill>
              <a:highlight>
                <a:srgbClr val="FF00FF"/>
              </a:highlight>
            </a:endParaRPr>
          </a:p>
        </p:txBody>
      </p:sp>
      <p:sp>
        <p:nvSpPr>
          <p:cNvPr id="5" name="TextBox 4">
            <a:extLst>
              <a:ext uri="{FF2B5EF4-FFF2-40B4-BE49-F238E27FC236}">
                <a16:creationId xmlns:a16="http://schemas.microsoft.com/office/drawing/2014/main" id="{5A2BB497-B0C6-4426-6D7E-31BF40554E2A}"/>
              </a:ext>
            </a:extLst>
          </p:cNvPr>
          <p:cNvSpPr txBox="1"/>
          <p:nvPr/>
        </p:nvSpPr>
        <p:spPr>
          <a:xfrm>
            <a:off x="996840" y="3640386"/>
            <a:ext cx="5440017" cy="232877"/>
          </a:xfrm>
          <a:prstGeom prst="rect">
            <a:avLst/>
          </a:prstGeom>
          <a:noFill/>
          <a:ln w="25400">
            <a:solidFill>
              <a:schemeClr val="tx2"/>
            </a:solidFill>
          </a:ln>
        </p:spPr>
        <p:txBody>
          <a:bodyPr vert="horz" wrap="none" lIns="91440" tIns="45720" rIns="91440" bIns="45720" rtlCol="0">
            <a:noAutofit/>
          </a:bodyPr>
          <a:lstStyle>
            <a:defPPr>
              <a:defRPr lang="sk-SK"/>
            </a:defPPr>
            <a:lvl1pPr marR="0" indent="0" fontAlgn="auto">
              <a:lnSpc>
                <a:spcPct val="90000"/>
              </a:lnSpc>
              <a:spcBef>
                <a:spcPts val="1000"/>
              </a:spcBef>
              <a:spcAft>
                <a:spcPts val="0"/>
              </a:spcAft>
              <a:buClrTx/>
              <a:buSzTx/>
              <a:buFont typeface="Arial" panose="020B0604020202020204" pitchFamily="34" charset="0"/>
              <a:buNone/>
              <a:tabLst/>
              <a:defRPr kumimoji="0" sz="2000" b="1" i="0" u="none" strike="noStrike" cap="none" spc="0" normalizeH="0" baseline="0">
                <a:ln>
                  <a:noFill/>
                </a:ln>
                <a:solidFill>
                  <a:schemeClr val="accent6"/>
                </a:solidFill>
                <a:effectLst/>
                <a:uLnTx/>
                <a:uFillTx/>
                <a:latin typeface="Arial" panose="020B0604020202020204"/>
              </a:defRPr>
            </a:lvl1pPr>
          </a:lstStyle>
          <a:p>
            <a:r>
              <a:rPr lang="en-US" dirty="0">
                <a:solidFill>
                  <a:srgbClr val="92D050"/>
                </a:solidFill>
              </a:rPr>
              <a:t>        </a:t>
            </a:r>
            <a:endParaRPr lang="cs-CZ" dirty="0" err="1">
              <a:solidFill>
                <a:srgbClr val="92D050"/>
              </a:solidFill>
            </a:endParaRPr>
          </a:p>
        </p:txBody>
      </p:sp>
    </p:spTree>
    <p:extLst>
      <p:ext uri="{BB962C8B-B14F-4D97-AF65-F5344CB8AC3E}">
        <p14:creationId xmlns:p14="http://schemas.microsoft.com/office/powerpoint/2010/main" val="9948721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6724891" y="1542361"/>
            <a:ext cx="4593190" cy="4340723"/>
          </a:xfrm>
        </p:spPr>
        <p:txBody>
          <a:bodyPr/>
          <a:lstStyle/>
          <a:p>
            <a:r>
              <a:rPr lang="en-US" dirty="0"/>
              <a:t>Segment Left - pointer to active Segment from Segment List</a:t>
            </a:r>
          </a:p>
          <a:p>
            <a:r>
              <a:rPr lang="en-US" dirty="0"/>
              <a:t>Only value of Pointer is changed - </a:t>
            </a:r>
            <a:r>
              <a:rPr lang="en-US" u="sng" dirty="0"/>
              <a:t>Segments List [xxx] is not removed like MPLS label</a:t>
            </a:r>
          </a:p>
          <a:p>
            <a:r>
              <a:rPr lang="en-US" dirty="0"/>
              <a:t>Last Segment of SR Policy (index = 0)</a:t>
            </a:r>
          </a:p>
          <a:p>
            <a:r>
              <a:rPr lang="en-US" dirty="0"/>
              <a:t>First Segment of SR Policy (index = </a:t>
            </a:r>
            <a:r>
              <a:rPr lang="en-US" i="1" dirty="0"/>
              <a:t>n</a:t>
            </a:r>
            <a:r>
              <a:rPr lang="en-US" dirty="0"/>
              <a:t>)</a:t>
            </a:r>
          </a:p>
          <a:p>
            <a:endParaRPr lang="en-US" dirty="0"/>
          </a:p>
        </p:txBody>
      </p:sp>
      <p:sp>
        <p:nvSpPr>
          <p:cNvPr id="3" name="Text Placeholder 2"/>
          <p:cNvSpPr>
            <a:spLocks noGrp="1"/>
          </p:cNvSpPr>
          <p:nvPr>
            <p:ph type="body" sz="quarter" idx="11"/>
          </p:nvPr>
        </p:nvSpPr>
        <p:spPr/>
        <p:txBody>
          <a:bodyPr/>
          <a:lstStyle/>
          <a:p>
            <a:r>
              <a:rPr lang="en-US" dirty="0"/>
              <a:t>SRv6 Dataplane # 1</a:t>
            </a:r>
          </a:p>
        </p:txBody>
      </p:sp>
      <p:pic>
        <p:nvPicPr>
          <p:cNvPr id="4" name="Picture 3"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918" y="1542361"/>
            <a:ext cx="5685862" cy="4414632"/>
          </a:xfrm>
          <a:prstGeom prst="rect">
            <a:avLst/>
          </a:prstGeom>
        </p:spPr>
      </p:pic>
      <p:cxnSp>
        <p:nvCxnSpPr>
          <p:cNvPr id="7" name="Straight Arrow Connector 6">
            <a:extLst>
              <a:ext uri="{FF2B5EF4-FFF2-40B4-BE49-F238E27FC236}">
                <a16:creationId xmlns:a16="http://schemas.microsoft.com/office/drawing/2014/main" id="{85400EA0-8C95-40AB-1DB2-185656564097}"/>
              </a:ext>
            </a:extLst>
          </p:cNvPr>
          <p:cNvCxnSpPr>
            <a:cxnSpLocks/>
          </p:cNvCxnSpPr>
          <p:nvPr/>
        </p:nvCxnSpPr>
        <p:spPr>
          <a:xfrm flipH="1" flipV="1">
            <a:off x="2166730" y="2564296"/>
            <a:ext cx="4558161" cy="4728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EF9B398-3574-87AD-E852-442544B0E414}"/>
              </a:ext>
            </a:extLst>
          </p:cNvPr>
          <p:cNvCxnSpPr>
            <a:cxnSpLocks/>
          </p:cNvCxnSpPr>
          <p:nvPr/>
        </p:nvCxnSpPr>
        <p:spPr>
          <a:xfrm flipH="1" flipV="1">
            <a:off x="4724400" y="3170583"/>
            <a:ext cx="2000491" cy="1346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D37BA6E-49E6-C865-0F55-A4C7A73852C7}"/>
              </a:ext>
            </a:extLst>
          </p:cNvPr>
          <p:cNvCxnSpPr>
            <a:cxnSpLocks/>
          </p:cNvCxnSpPr>
          <p:nvPr/>
        </p:nvCxnSpPr>
        <p:spPr>
          <a:xfrm flipH="1" flipV="1">
            <a:off x="5889171" y="5072743"/>
            <a:ext cx="835720" cy="261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Arrow: Right 13">
            <a:extLst>
              <a:ext uri="{FF2B5EF4-FFF2-40B4-BE49-F238E27FC236}">
                <a16:creationId xmlns:a16="http://schemas.microsoft.com/office/drawing/2014/main" id="{291A518E-9D6D-D7B3-4AEC-DEC7FCE72D2B}"/>
              </a:ext>
            </a:extLst>
          </p:cNvPr>
          <p:cNvSpPr/>
          <p:nvPr/>
        </p:nvSpPr>
        <p:spPr>
          <a:xfrm rot="16200000">
            <a:off x="10365239" y="4898230"/>
            <a:ext cx="1556658" cy="3490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A2CADC50-E4AE-3766-90DD-3945605FB836}"/>
              </a:ext>
            </a:extLst>
          </p:cNvPr>
          <p:cNvSpPr/>
          <p:nvPr/>
        </p:nvSpPr>
        <p:spPr>
          <a:xfrm>
            <a:off x="435429" y="3553733"/>
            <a:ext cx="438489" cy="1306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2F8F8563-5D9C-9956-35C2-F9583808D720}"/>
              </a:ext>
            </a:extLst>
          </p:cNvPr>
          <p:cNvCxnSpPr>
            <a:cxnSpLocks/>
          </p:cNvCxnSpPr>
          <p:nvPr/>
        </p:nvCxnSpPr>
        <p:spPr>
          <a:xfrm flipH="1">
            <a:off x="622161" y="2194560"/>
            <a:ext cx="4498479" cy="13591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DE5313B-1E15-A492-EEF1-7AEC5F5F50D0}"/>
              </a:ext>
            </a:extLst>
          </p:cNvPr>
          <p:cNvSpPr txBox="1"/>
          <p:nvPr/>
        </p:nvSpPr>
        <p:spPr>
          <a:xfrm>
            <a:off x="5062699" y="2001046"/>
            <a:ext cx="1384852" cy="344557"/>
          </a:xfrm>
          <a:prstGeom prst="rect">
            <a:avLst/>
          </a:prstGeom>
          <a:noFill/>
          <a:ln w="25400">
            <a:solidFill>
              <a:schemeClr val="accent6">
                <a:lumMod val="75000"/>
              </a:schemeClr>
            </a:solidFill>
          </a:ln>
        </p:spPr>
        <p:txBody>
          <a:bodyPr vert="horz" wrap="none" lIns="91440" tIns="45720" rIns="91440" bIns="45720" rtlCol="0">
            <a:noAutofit/>
          </a:bodyPr>
          <a:lstStyle>
            <a:defPPr>
              <a:defRPr lang="sk-SK"/>
            </a:defPPr>
            <a:lvl1pPr marR="0" indent="0" fontAlgn="auto">
              <a:lnSpc>
                <a:spcPct val="90000"/>
              </a:lnSpc>
              <a:spcBef>
                <a:spcPts val="1000"/>
              </a:spcBef>
              <a:spcAft>
                <a:spcPts val="0"/>
              </a:spcAft>
              <a:buClrTx/>
              <a:buSzTx/>
              <a:buFont typeface="Arial" panose="020B0604020202020204" pitchFamily="34" charset="0"/>
              <a:buNone/>
              <a:tabLst/>
              <a:defRPr kumimoji="0" sz="2000" b="1" i="0" u="none" strike="noStrike" cap="none" spc="0" normalizeH="0" baseline="0">
                <a:ln>
                  <a:noFill/>
                </a:ln>
                <a:solidFill>
                  <a:schemeClr val="accent6"/>
                </a:solidFill>
                <a:effectLst/>
                <a:uLnTx/>
                <a:uFillTx/>
                <a:latin typeface="Arial" panose="020B0604020202020204"/>
              </a:defRPr>
            </a:lvl1pPr>
          </a:lstStyle>
          <a:p>
            <a:r>
              <a:rPr lang="en-US" dirty="0">
                <a:solidFill>
                  <a:srgbClr val="92D050"/>
                </a:solidFill>
                <a:highlight>
                  <a:srgbClr val="FF00FF"/>
                </a:highlight>
              </a:rPr>
              <a:t>        </a:t>
            </a:r>
            <a:endParaRPr lang="cs-CZ" dirty="0" err="1">
              <a:solidFill>
                <a:srgbClr val="92D050"/>
              </a:solidFill>
              <a:highlight>
                <a:srgbClr val="FF00FF"/>
              </a:highlight>
            </a:endParaRPr>
          </a:p>
        </p:txBody>
      </p:sp>
      <p:sp>
        <p:nvSpPr>
          <p:cNvPr id="5" name="TextBox 4">
            <a:extLst>
              <a:ext uri="{FF2B5EF4-FFF2-40B4-BE49-F238E27FC236}">
                <a16:creationId xmlns:a16="http://schemas.microsoft.com/office/drawing/2014/main" id="{3312DD10-4080-2608-79B3-6EDCD077AE89}"/>
              </a:ext>
            </a:extLst>
          </p:cNvPr>
          <p:cNvSpPr txBox="1"/>
          <p:nvPr/>
        </p:nvSpPr>
        <p:spPr>
          <a:xfrm>
            <a:off x="996840" y="3462727"/>
            <a:ext cx="5440017" cy="232877"/>
          </a:xfrm>
          <a:prstGeom prst="rect">
            <a:avLst/>
          </a:prstGeom>
          <a:noFill/>
          <a:ln w="25400">
            <a:solidFill>
              <a:schemeClr val="tx2"/>
            </a:solidFill>
          </a:ln>
        </p:spPr>
        <p:txBody>
          <a:bodyPr vert="horz" wrap="none" lIns="91440" tIns="45720" rIns="91440" bIns="45720" rtlCol="0">
            <a:noAutofit/>
          </a:bodyPr>
          <a:lstStyle>
            <a:defPPr>
              <a:defRPr lang="sk-SK"/>
            </a:defPPr>
            <a:lvl1pPr marR="0" indent="0" fontAlgn="auto">
              <a:lnSpc>
                <a:spcPct val="90000"/>
              </a:lnSpc>
              <a:spcBef>
                <a:spcPts val="1000"/>
              </a:spcBef>
              <a:spcAft>
                <a:spcPts val="0"/>
              </a:spcAft>
              <a:buClrTx/>
              <a:buSzTx/>
              <a:buFont typeface="Arial" panose="020B0604020202020204" pitchFamily="34" charset="0"/>
              <a:buNone/>
              <a:tabLst/>
              <a:defRPr kumimoji="0" sz="2000" b="1" i="0" u="none" strike="noStrike" cap="none" spc="0" normalizeH="0" baseline="0">
                <a:ln>
                  <a:noFill/>
                </a:ln>
                <a:solidFill>
                  <a:schemeClr val="accent6"/>
                </a:solidFill>
                <a:effectLst/>
                <a:uLnTx/>
                <a:uFillTx/>
                <a:latin typeface="Arial" panose="020B0604020202020204"/>
              </a:defRPr>
            </a:lvl1pPr>
          </a:lstStyle>
          <a:p>
            <a:r>
              <a:rPr lang="en-US" dirty="0">
                <a:solidFill>
                  <a:srgbClr val="92D050"/>
                </a:solidFill>
              </a:rPr>
              <a:t>        </a:t>
            </a:r>
            <a:endParaRPr lang="cs-CZ" dirty="0" err="1">
              <a:solidFill>
                <a:srgbClr val="92D050"/>
              </a:solidFill>
            </a:endParaRPr>
          </a:p>
        </p:txBody>
      </p:sp>
    </p:spTree>
    <p:extLst>
      <p:ext uri="{BB962C8B-B14F-4D97-AF65-F5344CB8AC3E}">
        <p14:creationId xmlns:p14="http://schemas.microsoft.com/office/powerpoint/2010/main" val="13219672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6724891" y="1542361"/>
            <a:ext cx="4593190" cy="4340723"/>
          </a:xfrm>
        </p:spPr>
        <p:txBody>
          <a:bodyPr/>
          <a:lstStyle/>
          <a:p>
            <a:r>
              <a:rPr lang="en-US" dirty="0"/>
              <a:t>Segment Left - pointer to active Segment from Segment List</a:t>
            </a:r>
          </a:p>
          <a:p>
            <a:r>
              <a:rPr lang="en-US" dirty="0"/>
              <a:t>Only value of Pointer is changed - </a:t>
            </a:r>
            <a:r>
              <a:rPr lang="en-US" u="sng" dirty="0"/>
              <a:t>Segments List [xxx] is not removed like MPLS label</a:t>
            </a:r>
          </a:p>
          <a:p>
            <a:r>
              <a:rPr lang="en-US" dirty="0"/>
              <a:t>Last Segment of SR Policy (index = 0)</a:t>
            </a:r>
          </a:p>
          <a:p>
            <a:r>
              <a:rPr lang="en-US" dirty="0"/>
              <a:t>First Segment of SR Policy (index = </a:t>
            </a:r>
            <a:r>
              <a:rPr lang="en-US" i="1" dirty="0"/>
              <a:t>n</a:t>
            </a:r>
            <a:r>
              <a:rPr lang="en-US" dirty="0"/>
              <a:t>)</a:t>
            </a:r>
          </a:p>
          <a:p>
            <a:endParaRPr lang="en-US" dirty="0"/>
          </a:p>
        </p:txBody>
      </p:sp>
      <p:sp>
        <p:nvSpPr>
          <p:cNvPr id="3" name="Text Placeholder 2"/>
          <p:cNvSpPr>
            <a:spLocks noGrp="1"/>
          </p:cNvSpPr>
          <p:nvPr>
            <p:ph type="body" sz="quarter" idx="11"/>
          </p:nvPr>
        </p:nvSpPr>
        <p:spPr/>
        <p:txBody>
          <a:bodyPr/>
          <a:lstStyle/>
          <a:p>
            <a:r>
              <a:rPr lang="en-US" dirty="0"/>
              <a:t>SRv6 Dataplane # 0 (last)</a:t>
            </a:r>
          </a:p>
        </p:txBody>
      </p:sp>
      <p:pic>
        <p:nvPicPr>
          <p:cNvPr id="4" name="Picture 3"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918" y="1542361"/>
            <a:ext cx="5685862" cy="4414632"/>
          </a:xfrm>
          <a:prstGeom prst="rect">
            <a:avLst/>
          </a:prstGeom>
        </p:spPr>
      </p:pic>
      <p:cxnSp>
        <p:nvCxnSpPr>
          <p:cNvPr id="7" name="Straight Arrow Connector 6">
            <a:extLst>
              <a:ext uri="{FF2B5EF4-FFF2-40B4-BE49-F238E27FC236}">
                <a16:creationId xmlns:a16="http://schemas.microsoft.com/office/drawing/2014/main" id="{85400EA0-8C95-40AB-1DB2-185656564097}"/>
              </a:ext>
            </a:extLst>
          </p:cNvPr>
          <p:cNvCxnSpPr>
            <a:cxnSpLocks/>
          </p:cNvCxnSpPr>
          <p:nvPr/>
        </p:nvCxnSpPr>
        <p:spPr>
          <a:xfrm flipH="1" flipV="1">
            <a:off x="2166730" y="2564296"/>
            <a:ext cx="4558161" cy="4728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EF9B398-3574-87AD-E852-442544B0E414}"/>
              </a:ext>
            </a:extLst>
          </p:cNvPr>
          <p:cNvCxnSpPr>
            <a:cxnSpLocks/>
          </p:cNvCxnSpPr>
          <p:nvPr/>
        </p:nvCxnSpPr>
        <p:spPr>
          <a:xfrm flipH="1" flipV="1">
            <a:off x="4724400" y="3170583"/>
            <a:ext cx="2000491" cy="1346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D37BA6E-49E6-C865-0F55-A4C7A73852C7}"/>
              </a:ext>
            </a:extLst>
          </p:cNvPr>
          <p:cNvCxnSpPr>
            <a:cxnSpLocks/>
          </p:cNvCxnSpPr>
          <p:nvPr/>
        </p:nvCxnSpPr>
        <p:spPr>
          <a:xfrm flipH="1" flipV="1">
            <a:off x="5889171" y="5072743"/>
            <a:ext cx="835720" cy="261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Arrow: Right 13">
            <a:extLst>
              <a:ext uri="{FF2B5EF4-FFF2-40B4-BE49-F238E27FC236}">
                <a16:creationId xmlns:a16="http://schemas.microsoft.com/office/drawing/2014/main" id="{291A518E-9D6D-D7B3-4AEC-DEC7FCE72D2B}"/>
              </a:ext>
            </a:extLst>
          </p:cNvPr>
          <p:cNvSpPr/>
          <p:nvPr/>
        </p:nvSpPr>
        <p:spPr>
          <a:xfrm rot="16200000">
            <a:off x="10365239" y="4898230"/>
            <a:ext cx="1556658" cy="3490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A2CADC50-E4AE-3766-90DD-3945605FB836}"/>
              </a:ext>
            </a:extLst>
          </p:cNvPr>
          <p:cNvSpPr/>
          <p:nvPr/>
        </p:nvSpPr>
        <p:spPr>
          <a:xfrm>
            <a:off x="435429" y="2971799"/>
            <a:ext cx="438489" cy="130629"/>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578E6C2B-5C35-A2EB-605F-BC83600116B7}"/>
              </a:ext>
            </a:extLst>
          </p:cNvPr>
          <p:cNvCxnSpPr>
            <a:cxnSpLocks/>
          </p:cNvCxnSpPr>
          <p:nvPr/>
        </p:nvCxnSpPr>
        <p:spPr>
          <a:xfrm flipH="1">
            <a:off x="664029" y="2205990"/>
            <a:ext cx="4490901" cy="7658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EB877C1-849F-8A09-C52F-2732D5AEED93}"/>
              </a:ext>
            </a:extLst>
          </p:cNvPr>
          <p:cNvSpPr txBox="1"/>
          <p:nvPr/>
        </p:nvSpPr>
        <p:spPr>
          <a:xfrm>
            <a:off x="5062699" y="2001046"/>
            <a:ext cx="1384852" cy="344557"/>
          </a:xfrm>
          <a:prstGeom prst="rect">
            <a:avLst/>
          </a:prstGeom>
          <a:noFill/>
          <a:ln w="25400">
            <a:solidFill>
              <a:schemeClr val="accent6">
                <a:lumMod val="75000"/>
              </a:schemeClr>
            </a:solidFill>
          </a:ln>
        </p:spPr>
        <p:txBody>
          <a:bodyPr vert="horz" wrap="none" lIns="91440" tIns="45720" rIns="91440" bIns="45720" rtlCol="0">
            <a:noAutofit/>
          </a:bodyPr>
          <a:lstStyle>
            <a:defPPr>
              <a:defRPr lang="sk-SK"/>
            </a:defPPr>
            <a:lvl1pPr marR="0" indent="0" fontAlgn="auto">
              <a:lnSpc>
                <a:spcPct val="90000"/>
              </a:lnSpc>
              <a:spcBef>
                <a:spcPts val="1000"/>
              </a:spcBef>
              <a:spcAft>
                <a:spcPts val="0"/>
              </a:spcAft>
              <a:buClrTx/>
              <a:buSzTx/>
              <a:buFont typeface="Arial" panose="020B0604020202020204" pitchFamily="34" charset="0"/>
              <a:buNone/>
              <a:tabLst/>
              <a:defRPr kumimoji="0" sz="2000" b="1" i="0" u="none" strike="noStrike" cap="none" spc="0" normalizeH="0" baseline="0">
                <a:ln>
                  <a:noFill/>
                </a:ln>
                <a:solidFill>
                  <a:schemeClr val="accent6"/>
                </a:solidFill>
                <a:effectLst/>
                <a:uLnTx/>
                <a:uFillTx/>
                <a:latin typeface="Arial" panose="020B0604020202020204"/>
              </a:defRPr>
            </a:lvl1pPr>
          </a:lstStyle>
          <a:p>
            <a:r>
              <a:rPr lang="en-US" dirty="0">
                <a:solidFill>
                  <a:srgbClr val="92D050"/>
                </a:solidFill>
                <a:highlight>
                  <a:srgbClr val="FF00FF"/>
                </a:highlight>
              </a:rPr>
              <a:t>        </a:t>
            </a:r>
            <a:endParaRPr lang="cs-CZ" dirty="0" err="1">
              <a:solidFill>
                <a:srgbClr val="92D050"/>
              </a:solidFill>
              <a:highlight>
                <a:srgbClr val="FF00FF"/>
              </a:highlight>
            </a:endParaRPr>
          </a:p>
        </p:txBody>
      </p:sp>
      <p:sp>
        <p:nvSpPr>
          <p:cNvPr id="5" name="TextBox 4">
            <a:extLst>
              <a:ext uri="{FF2B5EF4-FFF2-40B4-BE49-F238E27FC236}">
                <a16:creationId xmlns:a16="http://schemas.microsoft.com/office/drawing/2014/main" id="{FD219360-F513-F594-7315-575E7D82100B}"/>
              </a:ext>
            </a:extLst>
          </p:cNvPr>
          <p:cNvSpPr txBox="1"/>
          <p:nvPr/>
        </p:nvSpPr>
        <p:spPr>
          <a:xfrm>
            <a:off x="996840" y="2669607"/>
            <a:ext cx="5440017" cy="765809"/>
          </a:xfrm>
          <a:prstGeom prst="rect">
            <a:avLst/>
          </a:prstGeom>
          <a:noFill/>
          <a:ln w="25400">
            <a:solidFill>
              <a:schemeClr val="tx2"/>
            </a:solidFill>
          </a:ln>
        </p:spPr>
        <p:txBody>
          <a:bodyPr vert="horz" wrap="none" lIns="91440" tIns="45720" rIns="91440" bIns="45720" rtlCol="0">
            <a:noAutofit/>
          </a:bodyPr>
          <a:lstStyle>
            <a:defPPr>
              <a:defRPr lang="sk-SK"/>
            </a:defPPr>
            <a:lvl1pPr marR="0" indent="0" fontAlgn="auto">
              <a:lnSpc>
                <a:spcPct val="90000"/>
              </a:lnSpc>
              <a:spcBef>
                <a:spcPts val="1000"/>
              </a:spcBef>
              <a:spcAft>
                <a:spcPts val="0"/>
              </a:spcAft>
              <a:buClrTx/>
              <a:buSzTx/>
              <a:buFont typeface="Arial" panose="020B0604020202020204" pitchFamily="34" charset="0"/>
              <a:buNone/>
              <a:tabLst/>
              <a:defRPr kumimoji="0" sz="2000" b="1" i="0" u="none" strike="noStrike" cap="none" spc="0" normalizeH="0" baseline="0">
                <a:ln>
                  <a:noFill/>
                </a:ln>
                <a:solidFill>
                  <a:schemeClr val="accent6"/>
                </a:solidFill>
                <a:effectLst/>
                <a:uLnTx/>
                <a:uFillTx/>
                <a:latin typeface="Arial" panose="020B0604020202020204"/>
              </a:defRPr>
            </a:lvl1pPr>
          </a:lstStyle>
          <a:p>
            <a:r>
              <a:rPr lang="en-US" dirty="0">
                <a:solidFill>
                  <a:srgbClr val="92D050"/>
                </a:solidFill>
              </a:rPr>
              <a:t>        </a:t>
            </a:r>
            <a:endParaRPr lang="cs-CZ" dirty="0" err="1">
              <a:solidFill>
                <a:srgbClr val="92D050"/>
              </a:solidFill>
            </a:endParaRPr>
          </a:p>
        </p:txBody>
      </p:sp>
      <p:sp>
        <p:nvSpPr>
          <p:cNvPr id="9" name="TextBox 8">
            <a:extLst>
              <a:ext uri="{FF2B5EF4-FFF2-40B4-BE49-F238E27FC236}">
                <a16:creationId xmlns:a16="http://schemas.microsoft.com/office/drawing/2014/main" id="{03A26C94-AD8E-27D2-FA84-3E2EC8037362}"/>
              </a:ext>
            </a:extLst>
          </p:cNvPr>
          <p:cNvSpPr txBox="1"/>
          <p:nvPr/>
        </p:nvSpPr>
        <p:spPr>
          <a:xfrm>
            <a:off x="5621959" y="1965656"/>
            <a:ext cx="347869" cy="440398"/>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rgbClr val="FF0000"/>
                </a:solidFill>
                <a:effectLst/>
                <a:uLnTx/>
                <a:uFillTx/>
                <a:latin typeface="Arial" panose="020B0604020202020204"/>
                <a:ea typeface="+mn-ea"/>
                <a:cs typeface="+mn-cs"/>
              </a:rPr>
              <a:t>0</a:t>
            </a:r>
          </a:p>
        </p:txBody>
      </p:sp>
      <p:sp>
        <p:nvSpPr>
          <p:cNvPr id="12" name="TextBox 11">
            <a:extLst>
              <a:ext uri="{FF2B5EF4-FFF2-40B4-BE49-F238E27FC236}">
                <a16:creationId xmlns:a16="http://schemas.microsoft.com/office/drawing/2014/main" id="{34C134B0-08B6-6A87-A860-4FDB88B0DA57}"/>
              </a:ext>
            </a:extLst>
          </p:cNvPr>
          <p:cNvSpPr txBox="1"/>
          <p:nvPr/>
        </p:nvSpPr>
        <p:spPr>
          <a:xfrm>
            <a:off x="3066473" y="2837145"/>
            <a:ext cx="287495" cy="333469"/>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600" b="1" i="0" u="none" strike="noStrike" kern="1200" cap="none" spc="0" normalizeH="0" baseline="0" noProof="0" dirty="0">
                <a:ln>
                  <a:noFill/>
                </a:ln>
                <a:solidFill>
                  <a:srgbClr val="FF0000"/>
                </a:solidFill>
                <a:effectLst/>
                <a:uLnTx/>
                <a:uFillTx/>
                <a:latin typeface="Arial" panose="020B0604020202020204"/>
                <a:ea typeface="+mn-ea"/>
                <a:cs typeface="+mn-cs"/>
              </a:rPr>
              <a:t>0</a:t>
            </a:r>
          </a:p>
        </p:txBody>
      </p:sp>
    </p:spTree>
    <p:extLst>
      <p:ext uri="{BB962C8B-B14F-4D97-AF65-F5344CB8AC3E}">
        <p14:creationId xmlns:p14="http://schemas.microsoft.com/office/powerpoint/2010/main" val="25908061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p:txBody>
          <a:bodyPr/>
          <a:lstStyle/>
          <a:p>
            <a:r>
              <a:rPr lang="en-US" dirty="0"/>
              <a:t>Segment Routing Segments </a:t>
            </a:r>
            <a:r>
              <a:rPr lang="en-US" dirty="0">
                <a:solidFill>
                  <a:schemeClr val="accent5"/>
                </a:solidFill>
              </a:rPr>
              <a:t>- MPLS </a:t>
            </a:r>
          </a:p>
        </p:txBody>
      </p:sp>
      <p:pic>
        <p:nvPicPr>
          <p:cNvPr id="5" name="Picture 4"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9987" y="1542361"/>
            <a:ext cx="11812024" cy="4846740"/>
          </a:xfrm>
          <a:prstGeom prst="rect">
            <a:avLst/>
          </a:prstGeom>
        </p:spPr>
      </p:pic>
    </p:spTree>
    <p:extLst>
      <p:ext uri="{BB962C8B-B14F-4D97-AF65-F5344CB8AC3E}">
        <p14:creationId xmlns:p14="http://schemas.microsoft.com/office/powerpoint/2010/main" val="12585610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p:txBody>
          <a:bodyPr/>
          <a:lstStyle/>
          <a:p>
            <a:r>
              <a:rPr lang="en-US" dirty="0"/>
              <a:t>Segment Routing Segments </a:t>
            </a:r>
            <a:r>
              <a:rPr lang="en-US" dirty="0">
                <a:solidFill>
                  <a:schemeClr val="accent5"/>
                </a:solidFill>
              </a:rPr>
              <a:t>- IPv6 </a:t>
            </a:r>
          </a:p>
        </p:txBody>
      </p:sp>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177" y="1344058"/>
            <a:ext cx="11819644" cy="5082980"/>
          </a:xfrm>
          <a:prstGeom prst="rect">
            <a:avLst/>
          </a:prstGeom>
        </p:spPr>
      </p:pic>
      <p:cxnSp>
        <p:nvCxnSpPr>
          <p:cNvPr id="7" name="Straight Arrow Connector 6">
            <a:extLst>
              <a:ext uri="{FF2B5EF4-FFF2-40B4-BE49-F238E27FC236}">
                <a16:creationId xmlns:a16="http://schemas.microsoft.com/office/drawing/2014/main" id="{204D42C7-1BD0-6CB3-54E7-50E9642EB39E}"/>
              </a:ext>
            </a:extLst>
          </p:cNvPr>
          <p:cNvCxnSpPr/>
          <p:nvPr/>
        </p:nvCxnSpPr>
        <p:spPr>
          <a:xfrm flipV="1">
            <a:off x="2604052" y="1997765"/>
            <a:ext cx="327991" cy="218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BF6CE1BD-6EF0-BB6A-D94F-6A89FE636D71}"/>
              </a:ext>
            </a:extLst>
          </p:cNvPr>
          <p:cNvCxnSpPr/>
          <p:nvPr/>
        </p:nvCxnSpPr>
        <p:spPr>
          <a:xfrm flipV="1">
            <a:off x="6543261" y="1997765"/>
            <a:ext cx="327991" cy="218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8B1B4F8-038D-857B-1FB7-2F41A63C30D2}"/>
              </a:ext>
            </a:extLst>
          </p:cNvPr>
          <p:cNvCxnSpPr/>
          <p:nvPr/>
        </p:nvCxnSpPr>
        <p:spPr>
          <a:xfrm flipV="1">
            <a:off x="10664362" y="1987826"/>
            <a:ext cx="327991" cy="218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F5ED3DD7-A71C-72C9-11C6-11C51EC627CD}"/>
              </a:ext>
            </a:extLst>
          </p:cNvPr>
          <p:cNvGrpSpPr/>
          <p:nvPr/>
        </p:nvGrpSpPr>
        <p:grpSpPr>
          <a:xfrm>
            <a:off x="5198165" y="891971"/>
            <a:ext cx="1948070" cy="250468"/>
            <a:chOff x="8259417" y="1001862"/>
            <a:chExt cx="1948070" cy="250468"/>
          </a:xfrm>
        </p:grpSpPr>
        <p:sp>
          <p:nvSpPr>
            <p:cNvPr id="5" name="TextBox 4">
              <a:extLst>
                <a:ext uri="{FF2B5EF4-FFF2-40B4-BE49-F238E27FC236}">
                  <a16:creationId xmlns:a16="http://schemas.microsoft.com/office/drawing/2014/main" id="{6D8AB3F1-4F1D-D53D-ABC1-A7B7DFC8DE5F}"/>
                </a:ext>
              </a:extLst>
            </p:cNvPr>
            <p:cNvSpPr txBox="1"/>
            <p:nvPr/>
          </p:nvSpPr>
          <p:spPr>
            <a:xfrm>
              <a:off x="8259417" y="1001863"/>
              <a:ext cx="934279" cy="250467"/>
            </a:xfrm>
            <a:prstGeom prst="rect">
              <a:avLst/>
            </a:prstGeom>
            <a:solidFill>
              <a:srgbClr val="00B0F0"/>
            </a:solidFill>
            <a:ln>
              <a:solidFill>
                <a:schemeClr val="bg1"/>
              </a:solidFill>
            </a:ln>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400" b="1" dirty="0">
                  <a:solidFill>
                    <a:schemeClr val="bg1"/>
                  </a:solidFill>
                  <a:latin typeface="Arial" panose="020B0604020202020204"/>
                </a:rPr>
                <a:t>L</a:t>
              </a:r>
              <a:r>
                <a:rPr kumimoji="0" lang="en-US" sz="1400" b="1" i="0" u="none" strike="noStrike" kern="1200" cap="none" spc="0" normalizeH="0" baseline="0" noProof="0" dirty="0">
                  <a:ln>
                    <a:noFill/>
                  </a:ln>
                  <a:solidFill>
                    <a:schemeClr val="bg1"/>
                  </a:solidFill>
                  <a:effectLst/>
                  <a:uLnTx/>
                  <a:uFillTx/>
                  <a:latin typeface="Arial" panose="020B0604020202020204"/>
                  <a:ea typeface="+mn-ea"/>
                  <a:cs typeface="+mn-cs"/>
                </a:rPr>
                <a:t>ocator1</a:t>
              </a:r>
            </a:p>
          </p:txBody>
        </p:sp>
        <p:sp>
          <p:nvSpPr>
            <p:cNvPr id="10" name="TextBox 9">
              <a:extLst>
                <a:ext uri="{FF2B5EF4-FFF2-40B4-BE49-F238E27FC236}">
                  <a16:creationId xmlns:a16="http://schemas.microsoft.com/office/drawing/2014/main" id="{96241576-938C-69E4-3A44-BB6108862BEE}"/>
                </a:ext>
              </a:extLst>
            </p:cNvPr>
            <p:cNvSpPr txBox="1"/>
            <p:nvPr/>
          </p:nvSpPr>
          <p:spPr>
            <a:xfrm>
              <a:off x="9193696" y="1001862"/>
              <a:ext cx="1013791" cy="250467"/>
            </a:xfrm>
            <a:prstGeom prst="rect">
              <a:avLst/>
            </a:prstGeom>
            <a:solidFill>
              <a:srgbClr val="71BF4B"/>
            </a:solidFill>
            <a:ln>
              <a:solidFill>
                <a:schemeClr val="bg1"/>
              </a:solidFill>
            </a:ln>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400" b="1" dirty="0">
                  <a:solidFill>
                    <a:schemeClr val="bg1"/>
                  </a:solidFill>
                  <a:latin typeface="Arial" panose="020B0604020202020204"/>
                </a:rPr>
                <a:t>Function1</a:t>
              </a:r>
            </a:p>
          </p:txBody>
        </p:sp>
      </p:grpSp>
      <p:grpSp>
        <p:nvGrpSpPr>
          <p:cNvPr id="12" name="Group 11">
            <a:extLst>
              <a:ext uri="{FF2B5EF4-FFF2-40B4-BE49-F238E27FC236}">
                <a16:creationId xmlns:a16="http://schemas.microsoft.com/office/drawing/2014/main" id="{5A1DB314-F4E5-C210-6050-8AE28FD5FDEC}"/>
              </a:ext>
            </a:extLst>
          </p:cNvPr>
          <p:cNvGrpSpPr/>
          <p:nvPr/>
        </p:nvGrpSpPr>
        <p:grpSpPr>
          <a:xfrm>
            <a:off x="9117496" y="814300"/>
            <a:ext cx="1948070" cy="250468"/>
            <a:chOff x="8259417" y="1001862"/>
            <a:chExt cx="1948070" cy="250468"/>
          </a:xfrm>
        </p:grpSpPr>
        <p:sp>
          <p:nvSpPr>
            <p:cNvPr id="13" name="TextBox 12">
              <a:extLst>
                <a:ext uri="{FF2B5EF4-FFF2-40B4-BE49-F238E27FC236}">
                  <a16:creationId xmlns:a16="http://schemas.microsoft.com/office/drawing/2014/main" id="{9DE79120-EBE9-574E-13CF-18EF85EA00E2}"/>
                </a:ext>
              </a:extLst>
            </p:cNvPr>
            <p:cNvSpPr txBox="1"/>
            <p:nvPr/>
          </p:nvSpPr>
          <p:spPr>
            <a:xfrm>
              <a:off x="8259417" y="1001863"/>
              <a:ext cx="934279" cy="250467"/>
            </a:xfrm>
            <a:prstGeom prst="rect">
              <a:avLst/>
            </a:prstGeom>
            <a:solidFill>
              <a:srgbClr val="00B0F0"/>
            </a:solidFill>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400" b="1" dirty="0">
                  <a:solidFill>
                    <a:schemeClr val="bg1"/>
                  </a:solidFill>
                  <a:latin typeface="Arial" panose="020B0604020202020204"/>
                </a:rPr>
                <a:t>L</a:t>
              </a:r>
              <a:r>
                <a:rPr kumimoji="0" lang="en-US" sz="1400" b="1" i="0" u="none" strike="noStrike" kern="1200" cap="none" spc="0" normalizeH="0" baseline="0" noProof="0" dirty="0">
                  <a:ln>
                    <a:noFill/>
                  </a:ln>
                  <a:solidFill>
                    <a:schemeClr val="bg1"/>
                  </a:solidFill>
                  <a:effectLst/>
                  <a:uLnTx/>
                  <a:uFillTx/>
                  <a:latin typeface="Arial" panose="020B0604020202020204"/>
                  <a:ea typeface="+mn-ea"/>
                  <a:cs typeface="+mn-cs"/>
                </a:rPr>
                <a:t>ocator2</a:t>
              </a:r>
            </a:p>
          </p:txBody>
        </p:sp>
        <p:sp>
          <p:nvSpPr>
            <p:cNvPr id="14" name="TextBox 13">
              <a:extLst>
                <a:ext uri="{FF2B5EF4-FFF2-40B4-BE49-F238E27FC236}">
                  <a16:creationId xmlns:a16="http://schemas.microsoft.com/office/drawing/2014/main" id="{75285B0F-C4B5-CDE7-668C-B394FF36A875}"/>
                </a:ext>
              </a:extLst>
            </p:cNvPr>
            <p:cNvSpPr txBox="1"/>
            <p:nvPr/>
          </p:nvSpPr>
          <p:spPr>
            <a:xfrm>
              <a:off x="9193696" y="1001862"/>
              <a:ext cx="1013791" cy="250467"/>
            </a:xfrm>
            <a:prstGeom prst="rect">
              <a:avLst/>
            </a:prstGeom>
            <a:solidFill>
              <a:srgbClr val="71BF4B"/>
            </a:solidFill>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400" b="1" dirty="0">
                  <a:solidFill>
                    <a:schemeClr val="bg1"/>
                  </a:solidFill>
                  <a:latin typeface="Arial" panose="020B0604020202020204"/>
                </a:rPr>
                <a:t>Function2</a:t>
              </a:r>
            </a:p>
          </p:txBody>
        </p:sp>
      </p:grpSp>
      <p:grpSp>
        <p:nvGrpSpPr>
          <p:cNvPr id="26" name="Group 25">
            <a:extLst>
              <a:ext uri="{FF2B5EF4-FFF2-40B4-BE49-F238E27FC236}">
                <a16:creationId xmlns:a16="http://schemas.microsoft.com/office/drawing/2014/main" id="{EB732783-7294-68C7-239A-09F22679A11A}"/>
              </a:ext>
            </a:extLst>
          </p:cNvPr>
          <p:cNvGrpSpPr/>
          <p:nvPr/>
        </p:nvGrpSpPr>
        <p:grpSpPr>
          <a:xfrm>
            <a:off x="5869009" y="3730408"/>
            <a:ext cx="1820281" cy="1172706"/>
            <a:chOff x="8674494" y="6679457"/>
            <a:chExt cx="1820281" cy="1172706"/>
          </a:xfrm>
        </p:grpSpPr>
        <p:grpSp>
          <p:nvGrpSpPr>
            <p:cNvPr id="27" name="Group 26">
              <a:extLst>
                <a:ext uri="{FF2B5EF4-FFF2-40B4-BE49-F238E27FC236}">
                  <a16:creationId xmlns:a16="http://schemas.microsoft.com/office/drawing/2014/main" id="{88CBACB2-E664-1B14-05EF-DFCC9D8B7B48}"/>
                </a:ext>
              </a:extLst>
            </p:cNvPr>
            <p:cNvGrpSpPr/>
            <p:nvPr/>
          </p:nvGrpSpPr>
          <p:grpSpPr>
            <a:xfrm>
              <a:off x="8684032" y="6679457"/>
              <a:ext cx="1810741" cy="371441"/>
              <a:chOff x="8259417" y="1001862"/>
              <a:chExt cx="1948070" cy="250468"/>
            </a:xfrm>
          </p:grpSpPr>
          <p:sp>
            <p:nvSpPr>
              <p:cNvPr id="34" name="TextBox 33">
                <a:extLst>
                  <a:ext uri="{FF2B5EF4-FFF2-40B4-BE49-F238E27FC236}">
                    <a16:creationId xmlns:a16="http://schemas.microsoft.com/office/drawing/2014/main" id="{91941A35-DFF2-8980-C9D2-5D475528AE1D}"/>
                  </a:ext>
                </a:extLst>
              </p:cNvPr>
              <p:cNvSpPr txBox="1"/>
              <p:nvPr/>
            </p:nvSpPr>
            <p:spPr>
              <a:xfrm>
                <a:off x="8259417" y="1001863"/>
                <a:ext cx="934279" cy="250467"/>
              </a:xfrm>
              <a:prstGeom prst="rect">
                <a:avLst/>
              </a:prstGeom>
              <a:solidFill>
                <a:srgbClr val="00B0F0"/>
              </a:solidFill>
              <a:ln w="31750">
                <a:solidFill>
                  <a:schemeClr val="bg1"/>
                </a:solidFill>
              </a:ln>
            </p:spPr>
            <p:txBody>
              <a:bodyPr vert="horz" wrap="none" lIns="91440" tIns="45720" rIns="91440" bIns="45720" rtlCol="0" anchor="ctr">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200" b="1" dirty="0">
                    <a:solidFill>
                      <a:schemeClr val="bg1"/>
                    </a:solidFill>
                    <a:latin typeface="Arial" panose="020B0604020202020204"/>
                  </a:rPr>
                  <a:t>L</a:t>
                </a:r>
                <a:r>
                  <a:rPr kumimoji="0" lang="en-US" sz="1200" b="1" i="0" u="none" strike="noStrike" kern="1200" cap="none" spc="0" normalizeH="0" baseline="0" noProof="0" dirty="0">
                    <a:ln>
                      <a:noFill/>
                    </a:ln>
                    <a:solidFill>
                      <a:schemeClr val="bg1"/>
                    </a:solidFill>
                    <a:effectLst/>
                    <a:uLnTx/>
                    <a:uFillTx/>
                    <a:latin typeface="Arial" panose="020B0604020202020204"/>
                    <a:ea typeface="+mn-ea"/>
                    <a:cs typeface="+mn-cs"/>
                  </a:rPr>
                  <a:t>ocator3</a:t>
                </a:r>
              </a:p>
            </p:txBody>
          </p:sp>
          <p:sp>
            <p:nvSpPr>
              <p:cNvPr id="35" name="TextBox 34">
                <a:extLst>
                  <a:ext uri="{FF2B5EF4-FFF2-40B4-BE49-F238E27FC236}">
                    <a16:creationId xmlns:a16="http://schemas.microsoft.com/office/drawing/2014/main" id="{78D6A828-D635-D725-998D-5F425E84A572}"/>
                  </a:ext>
                </a:extLst>
              </p:cNvPr>
              <p:cNvSpPr txBox="1"/>
              <p:nvPr/>
            </p:nvSpPr>
            <p:spPr>
              <a:xfrm>
                <a:off x="9193696" y="1001862"/>
                <a:ext cx="1013791" cy="250467"/>
              </a:xfrm>
              <a:prstGeom prst="rect">
                <a:avLst/>
              </a:prstGeom>
              <a:solidFill>
                <a:srgbClr val="71BF4B"/>
              </a:solidFill>
              <a:ln w="31750">
                <a:solidFill>
                  <a:schemeClr val="bg1"/>
                </a:solidFill>
              </a:ln>
            </p:spPr>
            <p:txBody>
              <a:bodyPr vert="horz" wrap="none" lIns="91440" tIns="45720" rIns="91440" bIns="45720" rtlCol="0" anchor="ctr">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200" b="1" dirty="0">
                    <a:solidFill>
                      <a:schemeClr val="bg1"/>
                    </a:solidFill>
                    <a:latin typeface="Arial" panose="020B0604020202020204"/>
                  </a:rPr>
                  <a:t>Function3</a:t>
                </a:r>
              </a:p>
            </p:txBody>
          </p:sp>
        </p:grpSp>
        <p:grpSp>
          <p:nvGrpSpPr>
            <p:cNvPr id="28" name="Group 27">
              <a:extLst>
                <a:ext uri="{FF2B5EF4-FFF2-40B4-BE49-F238E27FC236}">
                  <a16:creationId xmlns:a16="http://schemas.microsoft.com/office/drawing/2014/main" id="{C25022FF-3557-4D36-FEFA-90A7A399A442}"/>
                </a:ext>
              </a:extLst>
            </p:cNvPr>
            <p:cNvGrpSpPr/>
            <p:nvPr/>
          </p:nvGrpSpPr>
          <p:grpSpPr>
            <a:xfrm>
              <a:off x="8684032" y="7480722"/>
              <a:ext cx="1810741" cy="371441"/>
              <a:chOff x="8259417" y="1001862"/>
              <a:chExt cx="1948070" cy="250468"/>
            </a:xfrm>
          </p:grpSpPr>
          <p:sp>
            <p:nvSpPr>
              <p:cNvPr id="32" name="TextBox 31">
                <a:extLst>
                  <a:ext uri="{FF2B5EF4-FFF2-40B4-BE49-F238E27FC236}">
                    <a16:creationId xmlns:a16="http://schemas.microsoft.com/office/drawing/2014/main" id="{0D9E8DED-33EE-DB0B-BFCD-DABFB733E727}"/>
                  </a:ext>
                </a:extLst>
              </p:cNvPr>
              <p:cNvSpPr txBox="1"/>
              <p:nvPr/>
            </p:nvSpPr>
            <p:spPr>
              <a:xfrm>
                <a:off x="8259417" y="1001863"/>
                <a:ext cx="934279" cy="250467"/>
              </a:xfrm>
              <a:prstGeom prst="rect">
                <a:avLst/>
              </a:prstGeom>
              <a:solidFill>
                <a:srgbClr val="00B0F0"/>
              </a:solidFill>
              <a:ln w="31750">
                <a:solidFill>
                  <a:schemeClr val="bg1"/>
                </a:solidFill>
              </a:ln>
            </p:spPr>
            <p:txBody>
              <a:bodyPr vert="horz" wrap="none" lIns="91440" tIns="45720" rIns="91440" bIns="45720" rtlCol="0" anchor="ctr">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200" b="1" dirty="0">
                    <a:solidFill>
                      <a:schemeClr val="bg1"/>
                    </a:solidFill>
                    <a:latin typeface="Arial" panose="020B0604020202020204"/>
                  </a:rPr>
                  <a:t>L</a:t>
                </a:r>
                <a:r>
                  <a:rPr kumimoji="0" lang="en-US" sz="1200" b="1" i="0" u="none" strike="noStrike" kern="1200" cap="none" spc="0" normalizeH="0" baseline="0" noProof="0" dirty="0">
                    <a:ln>
                      <a:noFill/>
                    </a:ln>
                    <a:solidFill>
                      <a:schemeClr val="bg1"/>
                    </a:solidFill>
                    <a:effectLst/>
                    <a:uLnTx/>
                    <a:uFillTx/>
                    <a:latin typeface="Arial" panose="020B0604020202020204"/>
                    <a:ea typeface="+mn-ea"/>
                    <a:cs typeface="+mn-cs"/>
                  </a:rPr>
                  <a:t>ocator1</a:t>
                </a:r>
              </a:p>
            </p:txBody>
          </p:sp>
          <p:sp>
            <p:nvSpPr>
              <p:cNvPr id="33" name="TextBox 32">
                <a:extLst>
                  <a:ext uri="{FF2B5EF4-FFF2-40B4-BE49-F238E27FC236}">
                    <a16:creationId xmlns:a16="http://schemas.microsoft.com/office/drawing/2014/main" id="{4B4DEAA6-8714-6903-B7C6-1C7B28128D7F}"/>
                  </a:ext>
                </a:extLst>
              </p:cNvPr>
              <p:cNvSpPr txBox="1"/>
              <p:nvPr/>
            </p:nvSpPr>
            <p:spPr>
              <a:xfrm>
                <a:off x="9193696" y="1001862"/>
                <a:ext cx="1013791" cy="250467"/>
              </a:xfrm>
              <a:prstGeom prst="rect">
                <a:avLst/>
              </a:prstGeom>
              <a:solidFill>
                <a:srgbClr val="71BF4B"/>
              </a:solidFill>
              <a:ln w="31750">
                <a:solidFill>
                  <a:schemeClr val="bg1"/>
                </a:solidFill>
              </a:ln>
            </p:spPr>
            <p:txBody>
              <a:bodyPr vert="horz" wrap="none" lIns="91440" tIns="45720" rIns="91440" bIns="45720" rtlCol="0" anchor="ctr">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200" b="1" dirty="0">
                    <a:solidFill>
                      <a:schemeClr val="bg1"/>
                    </a:solidFill>
                    <a:latin typeface="Arial" panose="020B0604020202020204"/>
                  </a:rPr>
                  <a:t>Function1</a:t>
                </a:r>
              </a:p>
            </p:txBody>
          </p:sp>
        </p:grpSp>
        <p:grpSp>
          <p:nvGrpSpPr>
            <p:cNvPr id="29" name="Group 28">
              <a:extLst>
                <a:ext uri="{FF2B5EF4-FFF2-40B4-BE49-F238E27FC236}">
                  <a16:creationId xmlns:a16="http://schemas.microsoft.com/office/drawing/2014/main" id="{6080E300-44D7-34FA-CD5B-EDFB870557B7}"/>
                </a:ext>
              </a:extLst>
            </p:cNvPr>
            <p:cNvGrpSpPr/>
            <p:nvPr/>
          </p:nvGrpSpPr>
          <p:grpSpPr>
            <a:xfrm>
              <a:off x="8674494" y="7082627"/>
              <a:ext cx="1820281" cy="371442"/>
              <a:chOff x="8259417" y="1001861"/>
              <a:chExt cx="1958333" cy="250469"/>
            </a:xfrm>
          </p:grpSpPr>
          <p:sp>
            <p:nvSpPr>
              <p:cNvPr id="30" name="TextBox 29">
                <a:extLst>
                  <a:ext uri="{FF2B5EF4-FFF2-40B4-BE49-F238E27FC236}">
                    <a16:creationId xmlns:a16="http://schemas.microsoft.com/office/drawing/2014/main" id="{FADFF1A6-6D4D-0DA0-5706-8D9BE5D655F4}"/>
                  </a:ext>
                </a:extLst>
              </p:cNvPr>
              <p:cNvSpPr txBox="1"/>
              <p:nvPr/>
            </p:nvSpPr>
            <p:spPr>
              <a:xfrm>
                <a:off x="8259417" y="1001863"/>
                <a:ext cx="934279" cy="250467"/>
              </a:xfrm>
              <a:prstGeom prst="rect">
                <a:avLst/>
              </a:prstGeom>
              <a:solidFill>
                <a:srgbClr val="00B0F0"/>
              </a:solidFill>
              <a:ln w="31750">
                <a:solidFill>
                  <a:schemeClr val="bg1"/>
                </a:solidFill>
              </a:ln>
            </p:spPr>
            <p:txBody>
              <a:bodyPr vert="horz" wrap="none" lIns="91440" tIns="45720" rIns="91440" bIns="45720" rtlCol="0" anchor="ctr">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200" b="1" dirty="0">
                    <a:solidFill>
                      <a:schemeClr val="bg1"/>
                    </a:solidFill>
                    <a:latin typeface="Arial" panose="020B0604020202020204"/>
                  </a:rPr>
                  <a:t>L</a:t>
                </a:r>
                <a:r>
                  <a:rPr kumimoji="0" lang="en-US" sz="1200" b="1" i="0" u="none" strike="noStrike" kern="1200" cap="none" spc="0" normalizeH="0" baseline="0" noProof="0" dirty="0">
                    <a:ln>
                      <a:noFill/>
                    </a:ln>
                    <a:solidFill>
                      <a:schemeClr val="bg1"/>
                    </a:solidFill>
                    <a:effectLst/>
                    <a:uLnTx/>
                    <a:uFillTx/>
                    <a:latin typeface="Arial" panose="020B0604020202020204"/>
                    <a:ea typeface="+mn-ea"/>
                    <a:cs typeface="+mn-cs"/>
                  </a:rPr>
                  <a:t>ocator2</a:t>
                </a:r>
              </a:p>
            </p:txBody>
          </p:sp>
          <p:sp>
            <p:nvSpPr>
              <p:cNvPr id="31" name="TextBox 30">
                <a:extLst>
                  <a:ext uri="{FF2B5EF4-FFF2-40B4-BE49-F238E27FC236}">
                    <a16:creationId xmlns:a16="http://schemas.microsoft.com/office/drawing/2014/main" id="{580D6A4E-722A-AA93-D803-BDA24F72F6C2}"/>
                  </a:ext>
                </a:extLst>
              </p:cNvPr>
              <p:cNvSpPr txBox="1"/>
              <p:nvPr/>
            </p:nvSpPr>
            <p:spPr>
              <a:xfrm>
                <a:off x="9203959" y="1001861"/>
                <a:ext cx="1013791" cy="250467"/>
              </a:xfrm>
              <a:prstGeom prst="rect">
                <a:avLst/>
              </a:prstGeom>
              <a:solidFill>
                <a:srgbClr val="71BF4B"/>
              </a:solidFill>
              <a:ln w="31750">
                <a:solidFill>
                  <a:schemeClr val="bg1"/>
                </a:solidFill>
              </a:ln>
            </p:spPr>
            <p:txBody>
              <a:bodyPr vert="horz" wrap="none" lIns="91440" tIns="45720" rIns="91440" bIns="45720" rtlCol="0" anchor="ctr">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200" b="1" dirty="0">
                    <a:solidFill>
                      <a:schemeClr val="bg1"/>
                    </a:solidFill>
                    <a:latin typeface="Arial" panose="020B0604020202020204"/>
                  </a:rPr>
                  <a:t>Function2</a:t>
                </a:r>
              </a:p>
            </p:txBody>
          </p:sp>
        </p:grpSp>
      </p:grpSp>
      <p:sp>
        <p:nvSpPr>
          <p:cNvPr id="49" name="Rectangle 48">
            <a:extLst>
              <a:ext uri="{FF2B5EF4-FFF2-40B4-BE49-F238E27FC236}">
                <a16:creationId xmlns:a16="http://schemas.microsoft.com/office/drawing/2014/main" id="{C5BD7507-2DC4-4E49-792D-6AB6195A65BB}"/>
              </a:ext>
            </a:extLst>
          </p:cNvPr>
          <p:cNvSpPr/>
          <p:nvPr/>
        </p:nvSpPr>
        <p:spPr>
          <a:xfrm>
            <a:off x="610152" y="3730408"/>
            <a:ext cx="3159208" cy="11727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CFBF4153-DE1C-503B-DD86-AE0F89C3B291}"/>
              </a:ext>
            </a:extLst>
          </p:cNvPr>
          <p:cNvSpPr/>
          <p:nvPr/>
        </p:nvSpPr>
        <p:spPr>
          <a:xfrm>
            <a:off x="4530080" y="3728307"/>
            <a:ext cx="3159208" cy="11727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17FEBFD4-83C5-65E8-CD96-0882D0430C78}"/>
              </a:ext>
            </a:extLst>
          </p:cNvPr>
          <p:cNvSpPr/>
          <p:nvPr/>
        </p:nvSpPr>
        <p:spPr>
          <a:xfrm>
            <a:off x="8321603" y="3728307"/>
            <a:ext cx="3159208" cy="11727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 name="Group 51">
            <a:extLst>
              <a:ext uri="{FF2B5EF4-FFF2-40B4-BE49-F238E27FC236}">
                <a16:creationId xmlns:a16="http://schemas.microsoft.com/office/drawing/2014/main" id="{575BCADE-7144-846C-1ECD-D487274A5F2A}"/>
              </a:ext>
            </a:extLst>
          </p:cNvPr>
          <p:cNvGrpSpPr/>
          <p:nvPr/>
        </p:nvGrpSpPr>
        <p:grpSpPr>
          <a:xfrm>
            <a:off x="5794846" y="3777001"/>
            <a:ext cx="1820281" cy="1172706"/>
            <a:chOff x="8674494" y="6679457"/>
            <a:chExt cx="1820281" cy="1172706"/>
          </a:xfrm>
        </p:grpSpPr>
        <p:grpSp>
          <p:nvGrpSpPr>
            <p:cNvPr id="53" name="Group 52">
              <a:extLst>
                <a:ext uri="{FF2B5EF4-FFF2-40B4-BE49-F238E27FC236}">
                  <a16:creationId xmlns:a16="http://schemas.microsoft.com/office/drawing/2014/main" id="{9418C126-C4BF-D8A3-F12A-554A2B20B74A}"/>
                </a:ext>
              </a:extLst>
            </p:cNvPr>
            <p:cNvGrpSpPr/>
            <p:nvPr/>
          </p:nvGrpSpPr>
          <p:grpSpPr>
            <a:xfrm>
              <a:off x="8684032" y="6679457"/>
              <a:ext cx="1810741" cy="371441"/>
              <a:chOff x="8259417" y="1001862"/>
              <a:chExt cx="1948070" cy="250468"/>
            </a:xfrm>
          </p:grpSpPr>
          <p:sp>
            <p:nvSpPr>
              <p:cNvPr id="60" name="TextBox 59">
                <a:extLst>
                  <a:ext uri="{FF2B5EF4-FFF2-40B4-BE49-F238E27FC236}">
                    <a16:creationId xmlns:a16="http://schemas.microsoft.com/office/drawing/2014/main" id="{CB1DCF0F-36CF-D139-BFD5-788BC079803F}"/>
                  </a:ext>
                </a:extLst>
              </p:cNvPr>
              <p:cNvSpPr txBox="1"/>
              <p:nvPr/>
            </p:nvSpPr>
            <p:spPr>
              <a:xfrm>
                <a:off x="8259417" y="1001863"/>
                <a:ext cx="934279" cy="250467"/>
              </a:xfrm>
              <a:prstGeom prst="rect">
                <a:avLst/>
              </a:prstGeom>
              <a:solidFill>
                <a:srgbClr val="00B0F0"/>
              </a:solidFill>
              <a:ln w="31750">
                <a:solidFill>
                  <a:schemeClr val="bg1"/>
                </a:solidFill>
              </a:ln>
            </p:spPr>
            <p:txBody>
              <a:bodyPr vert="horz" wrap="none" lIns="91440" tIns="45720" rIns="91440" bIns="45720" rtlCol="0" anchor="ctr">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200" b="1" dirty="0">
                    <a:solidFill>
                      <a:schemeClr val="bg1"/>
                    </a:solidFill>
                    <a:latin typeface="Arial" panose="020B0604020202020204"/>
                  </a:rPr>
                  <a:t>L</a:t>
                </a:r>
                <a:r>
                  <a:rPr kumimoji="0" lang="en-US" sz="1200" b="1" i="0" u="none" strike="noStrike" kern="1200" cap="none" spc="0" normalizeH="0" baseline="0" noProof="0" dirty="0">
                    <a:ln>
                      <a:noFill/>
                    </a:ln>
                    <a:solidFill>
                      <a:schemeClr val="bg1"/>
                    </a:solidFill>
                    <a:effectLst/>
                    <a:uLnTx/>
                    <a:uFillTx/>
                    <a:latin typeface="Arial" panose="020B0604020202020204"/>
                    <a:ea typeface="+mn-ea"/>
                    <a:cs typeface="+mn-cs"/>
                  </a:rPr>
                  <a:t>ocator3</a:t>
                </a:r>
              </a:p>
            </p:txBody>
          </p:sp>
          <p:sp>
            <p:nvSpPr>
              <p:cNvPr id="61" name="TextBox 60">
                <a:extLst>
                  <a:ext uri="{FF2B5EF4-FFF2-40B4-BE49-F238E27FC236}">
                    <a16:creationId xmlns:a16="http://schemas.microsoft.com/office/drawing/2014/main" id="{C60A936F-F706-82C4-E957-2E9E2F61FB8E}"/>
                  </a:ext>
                </a:extLst>
              </p:cNvPr>
              <p:cNvSpPr txBox="1"/>
              <p:nvPr/>
            </p:nvSpPr>
            <p:spPr>
              <a:xfrm>
                <a:off x="9193696" y="1001862"/>
                <a:ext cx="1013791" cy="250467"/>
              </a:xfrm>
              <a:prstGeom prst="rect">
                <a:avLst/>
              </a:prstGeom>
              <a:solidFill>
                <a:srgbClr val="71BF4B"/>
              </a:solidFill>
              <a:ln w="31750">
                <a:solidFill>
                  <a:schemeClr val="bg1"/>
                </a:solidFill>
              </a:ln>
            </p:spPr>
            <p:txBody>
              <a:bodyPr vert="horz" wrap="none" lIns="91440" tIns="45720" rIns="91440" bIns="45720" rtlCol="0" anchor="ctr">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200" b="1" dirty="0">
                    <a:solidFill>
                      <a:schemeClr val="bg1"/>
                    </a:solidFill>
                    <a:latin typeface="Arial" panose="020B0604020202020204"/>
                  </a:rPr>
                  <a:t>Function3</a:t>
                </a:r>
              </a:p>
            </p:txBody>
          </p:sp>
        </p:grpSp>
        <p:grpSp>
          <p:nvGrpSpPr>
            <p:cNvPr id="54" name="Group 53">
              <a:extLst>
                <a:ext uri="{FF2B5EF4-FFF2-40B4-BE49-F238E27FC236}">
                  <a16:creationId xmlns:a16="http://schemas.microsoft.com/office/drawing/2014/main" id="{1412187D-6699-E863-6EDA-50D078B58C38}"/>
                </a:ext>
              </a:extLst>
            </p:cNvPr>
            <p:cNvGrpSpPr/>
            <p:nvPr/>
          </p:nvGrpSpPr>
          <p:grpSpPr>
            <a:xfrm>
              <a:off x="8684032" y="7480722"/>
              <a:ext cx="1810741" cy="371441"/>
              <a:chOff x="8259417" y="1001862"/>
              <a:chExt cx="1948070" cy="250468"/>
            </a:xfrm>
          </p:grpSpPr>
          <p:sp>
            <p:nvSpPr>
              <p:cNvPr id="58" name="TextBox 57">
                <a:extLst>
                  <a:ext uri="{FF2B5EF4-FFF2-40B4-BE49-F238E27FC236}">
                    <a16:creationId xmlns:a16="http://schemas.microsoft.com/office/drawing/2014/main" id="{4777EF0B-0D39-BC55-D497-23E12F56BB34}"/>
                  </a:ext>
                </a:extLst>
              </p:cNvPr>
              <p:cNvSpPr txBox="1"/>
              <p:nvPr/>
            </p:nvSpPr>
            <p:spPr>
              <a:xfrm>
                <a:off x="8259417" y="1001863"/>
                <a:ext cx="934279" cy="250467"/>
              </a:xfrm>
              <a:prstGeom prst="rect">
                <a:avLst/>
              </a:prstGeom>
              <a:solidFill>
                <a:srgbClr val="00B0F0"/>
              </a:solidFill>
              <a:ln w="31750">
                <a:solidFill>
                  <a:schemeClr val="bg1"/>
                </a:solidFill>
              </a:ln>
            </p:spPr>
            <p:txBody>
              <a:bodyPr vert="horz" wrap="none" lIns="91440" tIns="45720" rIns="91440" bIns="45720" rtlCol="0" anchor="ctr">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200" b="1" dirty="0">
                    <a:solidFill>
                      <a:schemeClr val="bg1"/>
                    </a:solidFill>
                    <a:latin typeface="Arial" panose="020B0604020202020204"/>
                  </a:rPr>
                  <a:t>L</a:t>
                </a:r>
                <a:r>
                  <a:rPr kumimoji="0" lang="en-US" sz="1200" b="1" i="0" u="none" strike="noStrike" kern="1200" cap="none" spc="0" normalizeH="0" baseline="0" noProof="0" dirty="0">
                    <a:ln>
                      <a:noFill/>
                    </a:ln>
                    <a:solidFill>
                      <a:schemeClr val="bg1"/>
                    </a:solidFill>
                    <a:effectLst/>
                    <a:uLnTx/>
                    <a:uFillTx/>
                    <a:latin typeface="Arial" panose="020B0604020202020204"/>
                    <a:ea typeface="+mn-ea"/>
                    <a:cs typeface="+mn-cs"/>
                  </a:rPr>
                  <a:t>ocator1</a:t>
                </a:r>
              </a:p>
            </p:txBody>
          </p:sp>
          <p:sp>
            <p:nvSpPr>
              <p:cNvPr id="59" name="TextBox 58">
                <a:extLst>
                  <a:ext uri="{FF2B5EF4-FFF2-40B4-BE49-F238E27FC236}">
                    <a16:creationId xmlns:a16="http://schemas.microsoft.com/office/drawing/2014/main" id="{C946692A-AAF2-565E-453C-D7910C4CA5FE}"/>
                  </a:ext>
                </a:extLst>
              </p:cNvPr>
              <p:cNvSpPr txBox="1"/>
              <p:nvPr/>
            </p:nvSpPr>
            <p:spPr>
              <a:xfrm>
                <a:off x="9193696" y="1001862"/>
                <a:ext cx="1013791" cy="250467"/>
              </a:xfrm>
              <a:prstGeom prst="rect">
                <a:avLst/>
              </a:prstGeom>
              <a:solidFill>
                <a:srgbClr val="71BF4B"/>
              </a:solidFill>
              <a:ln w="31750">
                <a:solidFill>
                  <a:schemeClr val="bg1"/>
                </a:solidFill>
              </a:ln>
            </p:spPr>
            <p:txBody>
              <a:bodyPr vert="horz" wrap="none" lIns="91440" tIns="45720" rIns="91440" bIns="45720" rtlCol="0" anchor="ctr">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200" b="1" dirty="0">
                    <a:solidFill>
                      <a:schemeClr val="bg1"/>
                    </a:solidFill>
                    <a:latin typeface="Arial" panose="020B0604020202020204"/>
                  </a:rPr>
                  <a:t>Function1</a:t>
                </a:r>
              </a:p>
            </p:txBody>
          </p:sp>
        </p:grpSp>
        <p:grpSp>
          <p:nvGrpSpPr>
            <p:cNvPr id="55" name="Group 54">
              <a:extLst>
                <a:ext uri="{FF2B5EF4-FFF2-40B4-BE49-F238E27FC236}">
                  <a16:creationId xmlns:a16="http://schemas.microsoft.com/office/drawing/2014/main" id="{7F15ADFF-349E-C6DC-FB5A-FC02045D7E22}"/>
                </a:ext>
              </a:extLst>
            </p:cNvPr>
            <p:cNvGrpSpPr/>
            <p:nvPr/>
          </p:nvGrpSpPr>
          <p:grpSpPr>
            <a:xfrm>
              <a:off x="8674494" y="7082627"/>
              <a:ext cx="1820281" cy="371442"/>
              <a:chOff x="8259417" y="1001861"/>
              <a:chExt cx="1958333" cy="250469"/>
            </a:xfrm>
          </p:grpSpPr>
          <p:sp>
            <p:nvSpPr>
              <p:cNvPr id="56" name="TextBox 55">
                <a:extLst>
                  <a:ext uri="{FF2B5EF4-FFF2-40B4-BE49-F238E27FC236}">
                    <a16:creationId xmlns:a16="http://schemas.microsoft.com/office/drawing/2014/main" id="{F80E05E2-FC27-09F8-6B84-F5E7E3B73494}"/>
                  </a:ext>
                </a:extLst>
              </p:cNvPr>
              <p:cNvSpPr txBox="1"/>
              <p:nvPr/>
            </p:nvSpPr>
            <p:spPr>
              <a:xfrm>
                <a:off x="8259417" y="1001863"/>
                <a:ext cx="934279" cy="250467"/>
              </a:xfrm>
              <a:prstGeom prst="rect">
                <a:avLst/>
              </a:prstGeom>
              <a:solidFill>
                <a:srgbClr val="00B0F0"/>
              </a:solidFill>
              <a:ln w="31750">
                <a:solidFill>
                  <a:schemeClr val="bg1"/>
                </a:solidFill>
              </a:ln>
            </p:spPr>
            <p:txBody>
              <a:bodyPr vert="horz" wrap="none" lIns="91440" tIns="45720" rIns="91440" bIns="45720" rtlCol="0" anchor="ctr">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200" b="1" dirty="0">
                    <a:solidFill>
                      <a:schemeClr val="bg1"/>
                    </a:solidFill>
                    <a:latin typeface="Arial" panose="020B0604020202020204"/>
                  </a:rPr>
                  <a:t>L</a:t>
                </a:r>
                <a:r>
                  <a:rPr kumimoji="0" lang="en-US" sz="1200" b="1" i="0" u="none" strike="noStrike" kern="1200" cap="none" spc="0" normalizeH="0" baseline="0" noProof="0" dirty="0">
                    <a:ln>
                      <a:noFill/>
                    </a:ln>
                    <a:solidFill>
                      <a:schemeClr val="bg1"/>
                    </a:solidFill>
                    <a:effectLst/>
                    <a:uLnTx/>
                    <a:uFillTx/>
                    <a:latin typeface="Arial" panose="020B0604020202020204"/>
                    <a:ea typeface="+mn-ea"/>
                    <a:cs typeface="+mn-cs"/>
                  </a:rPr>
                  <a:t>ocator2</a:t>
                </a:r>
              </a:p>
            </p:txBody>
          </p:sp>
          <p:sp>
            <p:nvSpPr>
              <p:cNvPr id="57" name="TextBox 56">
                <a:extLst>
                  <a:ext uri="{FF2B5EF4-FFF2-40B4-BE49-F238E27FC236}">
                    <a16:creationId xmlns:a16="http://schemas.microsoft.com/office/drawing/2014/main" id="{715E6B90-F9B9-46F9-FD92-0091DB8E84B4}"/>
                  </a:ext>
                </a:extLst>
              </p:cNvPr>
              <p:cNvSpPr txBox="1"/>
              <p:nvPr/>
            </p:nvSpPr>
            <p:spPr>
              <a:xfrm>
                <a:off x="9203959" y="1001861"/>
                <a:ext cx="1013791" cy="250467"/>
              </a:xfrm>
              <a:prstGeom prst="rect">
                <a:avLst/>
              </a:prstGeom>
              <a:solidFill>
                <a:srgbClr val="71BF4B"/>
              </a:solidFill>
              <a:ln w="31750">
                <a:solidFill>
                  <a:schemeClr val="bg1"/>
                </a:solidFill>
              </a:ln>
            </p:spPr>
            <p:txBody>
              <a:bodyPr vert="horz" wrap="none" lIns="91440" tIns="45720" rIns="91440" bIns="45720" rtlCol="0" anchor="ctr">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200" b="1" dirty="0">
                    <a:solidFill>
                      <a:schemeClr val="bg1"/>
                    </a:solidFill>
                    <a:latin typeface="Arial" panose="020B0604020202020204"/>
                  </a:rPr>
                  <a:t>Function2</a:t>
                </a:r>
              </a:p>
            </p:txBody>
          </p:sp>
        </p:grpSp>
      </p:grpSp>
      <p:grpSp>
        <p:nvGrpSpPr>
          <p:cNvPr id="62" name="Group 61">
            <a:extLst>
              <a:ext uri="{FF2B5EF4-FFF2-40B4-BE49-F238E27FC236}">
                <a16:creationId xmlns:a16="http://schemas.microsoft.com/office/drawing/2014/main" id="{91318CA8-830C-3FD2-59BD-1A231C0FD296}"/>
              </a:ext>
            </a:extLst>
          </p:cNvPr>
          <p:cNvGrpSpPr/>
          <p:nvPr/>
        </p:nvGrpSpPr>
        <p:grpSpPr>
          <a:xfrm>
            <a:off x="9602643" y="3779537"/>
            <a:ext cx="1820281" cy="1172706"/>
            <a:chOff x="8674494" y="6679457"/>
            <a:chExt cx="1820281" cy="1172706"/>
          </a:xfrm>
        </p:grpSpPr>
        <p:grpSp>
          <p:nvGrpSpPr>
            <p:cNvPr id="63" name="Group 62">
              <a:extLst>
                <a:ext uri="{FF2B5EF4-FFF2-40B4-BE49-F238E27FC236}">
                  <a16:creationId xmlns:a16="http://schemas.microsoft.com/office/drawing/2014/main" id="{042E408C-696E-3519-A79F-0A04C8E87128}"/>
                </a:ext>
              </a:extLst>
            </p:cNvPr>
            <p:cNvGrpSpPr/>
            <p:nvPr/>
          </p:nvGrpSpPr>
          <p:grpSpPr>
            <a:xfrm>
              <a:off x="8684032" y="6679457"/>
              <a:ext cx="1810741" cy="371441"/>
              <a:chOff x="8259417" y="1001862"/>
              <a:chExt cx="1948070" cy="250468"/>
            </a:xfrm>
          </p:grpSpPr>
          <p:sp>
            <p:nvSpPr>
              <p:cNvPr id="70" name="TextBox 69">
                <a:extLst>
                  <a:ext uri="{FF2B5EF4-FFF2-40B4-BE49-F238E27FC236}">
                    <a16:creationId xmlns:a16="http://schemas.microsoft.com/office/drawing/2014/main" id="{B0501DA8-F501-7A09-4E81-A59594BEA5F2}"/>
                  </a:ext>
                </a:extLst>
              </p:cNvPr>
              <p:cNvSpPr txBox="1"/>
              <p:nvPr/>
            </p:nvSpPr>
            <p:spPr>
              <a:xfrm>
                <a:off x="8259417" y="1001863"/>
                <a:ext cx="934279" cy="250467"/>
              </a:xfrm>
              <a:prstGeom prst="rect">
                <a:avLst/>
              </a:prstGeom>
              <a:solidFill>
                <a:srgbClr val="00B0F0"/>
              </a:solidFill>
              <a:ln w="31750">
                <a:solidFill>
                  <a:schemeClr val="bg1"/>
                </a:solidFill>
              </a:ln>
            </p:spPr>
            <p:txBody>
              <a:bodyPr vert="horz" wrap="none" lIns="91440" tIns="45720" rIns="91440" bIns="45720" rtlCol="0" anchor="ctr">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200" b="1" dirty="0">
                    <a:solidFill>
                      <a:schemeClr val="bg1"/>
                    </a:solidFill>
                    <a:latin typeface="Arial" panose="020B0604020202020204"/>
                  </a:rPr>
                  <a:t>L</a:t>
                </a:r>
                <a:r>
                  <a:rPr kumimoji="0" lang="en-US" sz="1200" b="1" i="0" u="none" strike="noStrike" kern="1200" cap="none" spc="0" normalizeH="0" baseline="0" noProof="0" dirty="0">
                    <a:ln>
                      <a:noFill/>
                    </a:ln>
                    <a:solidFill>
                      <a:schemeClr val="bg1"/>
                    </a:solidFill>
                    <a:effectLst/>
                    <a:uLnTx/>
                    <a:uFillTx/>
                    <a:latin typeface="Arial" panose="020B0604020202020204"/>
                    <a:ea typeface="+mn-ea"/>
                    <a:cs typeface="+mn-cs"/>
                  </a:rPr>
                  <a:t>ocator3</a:t>
                </a:r>
              </a:p>
            </p:txBody>
          </p:sp>
          <p:sp>
            <p:nvSpPr>
              <p:cNvPr id="71" name="TextBox 70">
                <a:extLst>
                  <a:ext uri="{FF2B5EF4-FFF2-40B4-BE49-F238E27FC236}">
                    <a16:creationId xmlns:a16="http://schemas.microsoft.com/office/drawing/2014/main" id="{9234AC5F-83B4-8E63-49FD-61880BA22A8D}"/>
                  </a:ext>
                </a:extLst>
              </p:cNvPr>
              <p:cNvSpPr txBox="1"/>
              <p:nvPr/>
            </p:nvSpPr>
            <p:spPr>
              <a:xfrm>
                <a:off x="9193696" y="1001862"/>
                <a:ext cx="1013791" cy="250467"/>
              </a:xfrm>
              <a:prstGeom prst="rect">
                <a:avLst/>
              </a:prstGeom>
              <a:solidFill>
                <a:srgbClr val="71BF4B"/>
              </a:solidFill>
              <a:ln w="31750">
                <a:solidFill>
                  <a:schemeClr val="bg1"/>
                </a:solidFill>
              </a:ln>
            </p:spPr>
            <p:txBody>
              <a:bodyPr vert="horz" wrap="none" lIns="91440" tIns="45720" rIns="91440" bIns="45720" rtlCol="0" anchor="ctr">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200" b="1" dirty="0">
                    <a:solidFill>
                      <a:schemeClr val="bg1"/>
                    </a:solidFill>
                    <a:latin typeface="Arial" panose="020B0604020202020204"/>
                  </a:rPr>
                  <a:t>Function3</a:t>
                </a:r>
              </a:p>
            </p:txBody>
          </p:sp>
        </p:grpSp>
        <p:grpSp>
          <p:nvGrpSpPr>
            <p:cNvPr id="64" name="Group 63">
              <a:extLst>
                <a:ext uri="{FF2B5EF4-FFF2-40B4-BE49-F238E27FC236}">
                  <a16:creationId xmlns:a16="http://schemas.microsoft.com/office/drawing/2014/main" id="{4C2AFA24-C8D9-4C5A-E6FD-0B5E9556DE07}"/>
                </a:ext>
              </a:extLst>
            </p:cNvPr>
            <p:cNvGrpSpPr/>
            <p:nvPr/>
          </p:nvGrpSpPr>
          <p:grpSpPr>
            <a:xfrm>
              <a:off x="8684032" y="7480722"/>
              <a:ext cx="1810741" cy="371441"/>
              <a:chOff x="8259417" y="1001862"/>
              <a:chExt cx="1948070" cy="250468"/>
            </a:xfrm>
          </p:grpSpPr>
          <p:sp>
            <p:nvSpPr>
              <p:cNvPr id="68" name="TextBox 67">
                <a:extLst>
                  <a:ext uri="{FF2B5EF4-FFF2-40B4-BE49-F238E27FC236}">
                    <a16:creationId xmlns:a16="http://schemas.microsoft.com/office/drawing/2014/main" id="{7CBD8179-05B5-1B81-DD4A-4720095298CB}"/>
                  </a:ext>
                </a:extLst>
              </p:cNvPr>
              <p:cNvSpPr txBox="1"/>
              <p:nvPr/>
            </p:nvSpPr>
            <p:spPr>
              <a:xfrm>
                <a:off x="8259417" y="1001863"/>
                <a:ext cx="934279" cy="250467"/>
              </a:xfrm>
              <a:prstGeom prst="rect">
                <a:avLst/>
              </a:prstGeom>
              <a:solidFill>
                <a:srgbClr val="00B0F0"/>
              </a:solidFill>
              <a:ln w="31750">
                <a:solidFill>
                  <a:schemeClr val="bg1"/>
                </a:solidFill>
              </a:ln>
            </p:spPr>
            <p:txBody>
              <a:bodyPr vert="horz" wrap="none" lIns="91440" tIns="45720" rIns="91440" bIns="45720" rtlCol="0" anchor="ctr">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200" b="1" dirty="0">
                    <a:solidFill>
                      <a:schemeClr val="bg1"/>
                    </a:solidFill>
                    <a:latin typeface="Arial" panose="020B0604020202020204"/>
                  </a:rPr>
                  <a:t>L</a:t>
                </a:r>
                <a:r>
                  <a:rPr kumimoji="0" lang="en-US" sz="1200" b="1" i="0" u="none" strike="noStrike" kern="1200" cap="none" spc="0" normalizeH="0" baseline="0" noProof="0" dirty="0">
                    <a:ln>
                      <a:noFill/>
                    </a:ln>
                    <a:solidFill>
                      <a:schemeClr val="bg1"/>
                    </a:solidFill>
                    <a:effectLst/>
                    <a:uLnTx/>
                    <a:uFillTx/>
                    <a:latin typeface="Arial" panose="020B0604020202020204"/>
                    <a:ea typeface="+mn-ea"/>
                    <a:cs typeface="+mn-cs"/>
                  </a:rPr>
                  <a:t>ocator1</a:t>
                </a:r>
              </a:p>
            </p:txBody>
          </p:sp>
          <p:sp>
            <p:nvSpPr>
              <p:cNvPr id="69" name="TextBox 68">
                <a:extLst>
                  <a:ext uri="{FF2B5EF4-FFF2-40B4-BE49-F238E27FC236}">
                    <a16:creationId xmlns:a16="http://schemas.microsoft.com/office/drawing/2014/main" id="{7C849271-6E49-C9E4-A186-33DCC1155ADC}"/>
                  </a:ext>
                </a:extLst>
              </p:cNvPr>
              <p:cNvSpPr txBox="1"/>
              <p:nvPr/>
            </p:nvSpPr>
            <p:spPr>
              <a:xfrm>
                <a:off x="9193696" y="1001862"/>
                <a:ext cx="1013791" cy="250467"/>
              </a:xfrm>
              <a:prstGeom prst="rect">
                <a:avLst/>
              </a:prstGeom>
              <a:solidFill>
                <a:srgbClr val="71BF4B"/>
              </a:solidFill>
              <a:ln w="31750">
                <a:solidFill>
                  <a:schemeClr val="bg1"/>
                </a:solidFill>
              </a:ln>
            </p:spPr>
            <p:txBody>
              <a:bodyPr vert="horz" wrap="none" lIns="91440" tIns="45720" rIns="91440" bIns="45720" rtlCol="0" anchor="ctr">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200" b="1" dirty="0">
                    <a:solidFill>
                      <a:schemeClr val="bg1"/>
                    </a:solidFill>
                    <a:latin typeface="Arial" panose="020B0604020202020204"/>
                  </a:rPr>
                  <a:t>Function1</a:t>
                </a:r>
              </a:p>
            </p:txBody>
          </p:sp>
        </p:grpSp>
        <p:grpSp>
          <p:nvGrpSpPr>
            <p:cNvPr id="65" name="Group 64">
              <a:extLst>
                <a:ext uri="{FF2B5EF4-FFF2-40B4-BE49-F238E27FC236}">
                  <a16:creationId xmlns:a16="http://schemas.microsoft.com/office/drawing/2014/main" id="{E55D927C-6853-BDDA-A652-4A1C5EA0F2F3}"/>
                </a:ext>
              </a:extLst>
            </p:cNvPr>
            <p:cNvGrpSpPr/>
            <p:nvPr/>
          </p:nvGrpSpPr>
          <p:grpSpPr>
            <a:xfrm>
              <a:off x="8674494" y="7082627"/>
              <a:ext cx="1820281" cy="371442"/>
              <a:chOff x="8259417" y="1001861"/>
              <a:chExt cx="1958333" cy="250469"/>
            </a:xfrm>
          </p:grpSpPr>
          <p:sp>
            <p:nvSpPr>
              <p:cNvPr id="66" name="TextBox 65">
                <a:extLst>
                  <a:ext uri="{FF2B5EF4-FFF2-40B4-BE49-F238E27FC236}">
                    <a16:creationId xmlns:a16="http://schemas.microsoft.com/office/drawing/2014/main" id="{E311C289-0AA6-D3FA-08CA-D016F4802D6C}"/>
                  </a:ext>
                </a:extLst>
              </p:cNvPr>
              <p:cNvSpPr txBox="1"/>
              <p:nvPr/>
            </p:nvSpPr>
            <p:spPr>
              <a:xfrm>
                <a:off x="8259417" y="1001863"/>
                <a:ext cx="934279" cy="250467"/>
              </a:xfrm>
              <a:prstGeom prst="rect">
                <a:avLst/>
              </a:prstGeom>
              <a:solidFill>
                <a:srgbClr val="00B0F0"/>
              </a:solidFill>
              <a:ln w="31750">
                <a:solidFill>
                  <a:schemeClr val="bg1"/>
                </a:solidFill>
              </a:ln>
            </p:spPr>
            <p:txBody>
              <a:bodyPr vert="horz" wrap="none" lIns="91440" tIns="45720" rIns="91440" bIns="45720" rtlCol="0" anchor="ctr">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200" b="1" dirty="0">
                    <a:solidFill>
                      <a:schemeClr val="bg1"/>
                    </a:solidFill>
                    <a:latin typeface="Arial" panose="020B0604020202020204"/>
                  </a:rPr>
                  <a:t>L</a:t>
                </a:r>
                <a:r>
                  <a:rPr kumimoji="0" lang="en-US" sz="1200" b="1" i="0" u="none" strike="noStrike" kern="1200" cap="none" spc="0" normalizeH="0" baseline="0" noProof="0" dirty="0">
                    <a:ln>
                      <a:noFill/>
                    </a:ln>
                    <a:solidFill>
                      <a:schemeClr val="bg1"/>
                    </a:solidFill>
                    <a:effectLst/>
                    <a:uLnTx/>
                    <a:uFillTx/>
                    <a:latin typeface="Arial" panose="020B0604020202020204"/>
                    <a:ea typeface="+mn-ea"/>
                    <a:cs typeface="+mn-cs"/>
                  </a:rPr>
                  <a:t>ocator2</a:t>
                </a:r>
              </a:p>
            </p:txBody>
          </p:sp>
          <p:sp>
            <p:nvSpPr>
              <p:cNvPr id="67" name="TextBox 66">
                <a:extLst>
                  <a:ext uri="{FF2B5EF4-FFF2-40B4-BE49-F238E27FC236}">
                    <a16:creationId xmlns:a16="http://schemas.microsoft.com/office/drawing/2014/main" id="{13F7B9DE-9582-ACEF-96D7-C78B1C4D3EDA}"/>
                  </a:ext>
                </a:extLst>
              </p:cNvPr>
              <p:cNvSpPr txBox="1"/>
              <p:nvPr/>
            </p:nvSpPr>
            <p:spPr>
              <a:xfrm>
                <a:off x="9203959" y="1001861"/>
                <a:ext cx="1013791" cy="250467"/>
              </a:xfrm>
              <a:prstGeom prst="rect">
                <a:avLst/>
              </a:prstGeom>
              <a:solidFill>
                <a:srgbClr val="71BF4B"/>
              </a:solidFill>
              <a:ln w="31750">
                <a:solidFill>
                  <a:schemeClr val="bg1"/>
                </a:solidFill>
              </a:ln>
            </p:spPr>
            <p:txBody>
              <a:bodyPr vert="horz" wrap="none" lIns="91440" tIns="45720" rIns="91440" bIns="45720" rtlCol="0" anchor="ctr">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200" b="1" dirty="0">
                    <a:solidFill>
                      <a:schemeClr val="bg1"/>
                    </a:solidFill>
                    <a:latin typeface="Arial" panose="020B0604020202020204"/>
                  </a:rPr>
                  <a:t>Function2</a:t>
                </a:r>
              </a:p>
            </p:txBody>
          </p:sp>
        </p:grpSp>
      </p:grpSp>
      <p:grpSp>
        <p:nvGrpSpPr>
          <p:cNvPr id="36" name="Group 35">
            <a:extLst>
              <a:ext uri="{FF2B5EF4-FFF2-40B4-BE49-F238E27FC236}">
                <a16:creationId xmlns:a16="http://schemas.microsoft.com/office/drawing/2014/main" id="{2A6949A6-1378-0945-448F-2EE3486B2BE6}"/>
              </a:ext>
            </a:extLst>
          </p:cNvPr>
          <p:cNvGrpSpPr/>
          <p:nvPr/>
        </p:nvGrpSpPr>
        <p:grpSpPr>
          <a:xfrm>
            <a:off x="1857906" y="3779537"/>
            <a:ext cx="1820281" cy="1172706"/>
            <a:chOff x="8674494" y="6679457"/>
            <a:chExt cx="1820281" cy="1172706"/>
          </a:xfrm>
        </p:grpSpPr>
        <p:grpSp>
          <p:nvGrpSpPr>
            <p:cNvPr id="37" name="Group 36">
              <a:extLst>
                <a:ext uri="{FF2B5EF4-FFF2-40B4-BE49-F238E27FC236}">
                  <a16:creationId xmlns:a16="http://schemas.microsoft.com/office/drawing/2014/main" id="{293DD87E-8D6D-2452-BDE8-45DC5A5E3562}"/>
                </a:ext>
              </a:extLst>
            </p:cNvPr>
            <p:cNvGrpSpPr/>
            <p:nvPr/>
          </p:nvGrpSpPr>
          <p:grpSpPr>
            <a:xfrm>
              <a:off x="8684032" y="6679457"/>
              <a:ext cx="1810741" cy="371441"/>
              <a:chOff x="8259417" y="1001862"/>
              <a:chExt cx="1948070" cy="250468"/>
            </a:xfrm>
          </p:grpSpPr>
          <p:sp>
            <p:nvSpPr>
              <p:cNvPr id="44" name="TextBox 43">
                <a:extLst>
                  <a:ext uri="{FF2B5EF4-FFF2-40B4-BE49-F238E27FC236}">
                    <a16:creationId xmlns:a16="http://schemas.microsoft.com/office/drawing/2014/main" id="{DB122B3C-64E9-7D82-D187-7AE7F1A74462}"/>
                  </a:ext>
                </a:extLst>
              </p:cNvPr>
              <p:cNvSpPr txBox="1"/>
              <p:nvPr/>
            </p:nvSpPr>
            <p:spPr>
              <a:xfrm>
                <a:off x="8259417" y="1001863"/>
                <a:ext cx="934279" cy="250467"/>
              </a:xfrm>
              <a:prstGeom prst="rect">
                <a:avLst/>
              </a:prstGeom>
              <a:solidFill>
                <a:srgbClr val="00B0F0"/>
              </a:solidFill>
              <a:ln w="31750">
                <a:solidFill>
                  <a:schemeClr val="bg1"/>
                </a:solidFill>
              </a:ln>
            </p:spPr>
            <p:txBody>
              <a:bodyPr vert="horz" wrap="none" lIns="91440" tIns="45720" rIns="91440" bIns="45720" rtlCol="0" anchor="ctr">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200" b="1" dirty="0">
                    <a:solidFill>
                      <a:schemeClr val="bg1"/>
                    </a:solidFill>
                    <a:latin typeface="Arial" panose="020B0604020202020204"/>
                  </a:rPr>
                  <a:t>L</a:t>
                </a:r>
                <a:r>
                  <a:rPr kumimoji="0" lang="en-US" sz="1200" b="1" i="0" u="none" strike="noStrike" kern="1200" cap="none" spc="0" normalizeH="0" baseline="0" noProof="0" dirty="0">
                    <a:ln>
                      <a:noFill/>
                    </a:ln>
                    <a:solidFill>
                      <a:schemeClr val="bg1"/>
                    </a:solidFill>
                    <a:effectLst/>
                    <a:uLnTx/>
                    <a:uFillTx/>
                    <a:latin typeface="Arial" panose="020B0604020202020204"/>
                    <a:ea typeface="+mn-ea"/>
                    <a:cs typeface="+mn-cs"/>
                  </a:rPr>
                  <a:t>ocator3</a:t>
                </a:r>
              </a:p>
            </p:txBody>
          </p:sp>
          <p:sp>
            <p:nvSpPr>
              <p:cNvPr id="45" name="TextBox 44">
                <a:extLst>
                  <a:ext uri="{FF2B5EF4-FFF2-40B4-BE49-F238E27FC236}">
                    <a16:creationId xmlns:a16="http://schemas.microsoft.com/office/drawing/2014/main" id="{82438BC7-7ADC-0102-E860-4849AEA09F99}"/>
                  </a:ext>
                </a:extLst>
              </p:cNvPr>
              <p:cNvSpPr txBox="1"/>
              <p:nvPr/>
            </p:nvSpPr>
            <p:spPr>
              <a:xfrm>
                <a:off x="9193696" y="1001862"/>
                <a:ext cx="1013791" cy="250467"/>
              </a:xfrm>
              <a:prstGeom prst="rect">
                <a:avLst/>
              </a:prstGeom>
              <a:solidFill>
                <a:srgbClr val="71BF4B"/>
              </a:solidFill>
              <a:ln w="31750">
                <a:solidFill>
                  <a:schemeClr val="bg1"/>
                </a:solidFill>
              </a:ln>
            </p:spPr>
            <p:txBody>
              <a:bodyPr vert="horz" wrap="none" lIns="91440" tIns="45720" rIns="91440" bIns="45720" rtlCol="0" anchor="ctr">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200" b="1" dirty="0">
                    <a:solidFill>
                      <a:schemeClr val="bg1"/>
                    </a:solidFill>
                    <a:latin typeface="Arial" panose="020B0604020202020204"/>
                  </a:rPr>
                  <a:t>Function3</a:t>
                </a:r>
              </a:p>
            </p:txBody>
          </p:sp>
        </p:grpSp>
        <p:grpSp>
          <p:nvGrpSpPr>
            <p:cNvPr id="38" name="Group 37">
              <a:extLst>
                <a:ext uri="{FF2B5EF4-FFF2-40B4-BE49-F238E27FC236}">
                  <a16:creationId xmlns:a16="http://schemas.microsoft.com/office/drawing/2014/main" id="{8EFB03D9-681F-64AB-1392-42E5F7DD4951}"/>
                </a:ext>
              </a:extLst>
            </p:cNvPr>
            <p:cNvGrpSpPr/>
            <p:nvPr/>
          </p:nvGrpSpPr>
          <p:grpSpPr>
            <a:xfrm>
              <a:off x="8684032" y="7480722"/>
              <a:ext cx="1810741" cy="371441"/>
              <a:chOff x="8259417" y="1001862"/>
              <a:chExt cx="1948070" cy="250468"/>
            </a:xfrm>
          </p:grpSpPr>
          <p:sp>
            <p:nvSpPr>
              <p:cNvPr id="42" name="TextBox 41">
                <a:extLst>
                  <a:ext uri="{FF2B5EF4-FFF2-40B4-BE49-F238E27FC236}">
                    <a16:creationId xmlns:a16="http://schemas.microsoft.com/office/drawing/2014/main" id="{A07E2D68-1656-61A0-0874-9580B8D862DF}"/>
                  </a:ext>
                </a:extLst>
              </p:cNvPr>
              <p:cNvSpPr txBox="1"/>
              <p:nvPr/>
            </p:nvSpPr>
            <p:spPr>
              <a:xfrm>
                <a:off x="8259417" y="1001863"/>
                <a:ext cx="934279" cy="250467"/>
              </a:xfrm>
              <a:prstGeom prst="rect">
                <a:avLst/>
              </a:prstGeom>
              <a:solidFill>
                <a:srgbClr val="00B0F0"/>
              </a:solidFill>
              <a:ln w="31750">
                <a:solidFill>
                  <a:schemeClr val="bg1"/>
                </a:solidFill>
              </a:ln>
            </p:spPr>
            <p:txBody>
              <a:bodyPr vert="horz" wrap="none" lIns="91440" tIns="45720" rIns="91440" bIns="45720" rtlCol="0" anchor="ctr">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200" b="1" dirty="0">
                    <a:solidFill>
                      <a:schemeClr val="bg1"/>
                    </a:solidFill>
                    <a:latin typeface="Arial" panose="020B0604020202020204"/>
                  </a:rPr>
                  <a:t>L</a:t>
                </a:r>
                <a:r>
                  <a:rPr kumimoji="0" lang="en-US" sz="1200" b="1" i="0" u="none" strike="noStrike" kern="1200" cap="none" spc="0" normalizeH="0" baseline="0" noProof="0" dirty="0">
                    <a:ln>
                      <a:noFill/>
                    </a:ln>
                    <a:solidFill>
                      <a:schemeClr val="bg1"/>
                    </a:solidFill>
                    <a:effectLst/>
                    <a:uLnTx/>
                    <a:uFillTx/>
                    <a:latin typeface="Arial" panose="020B0604020202020204"/>
                    <a:ea typeface="+mn-ea"/>
                    <a:cs typeface="+mn-cs"/>
                  </a:rPr>
                  <a:t>ocator1</a:t>
                </a:r>
              </a:p>
            </p:txBody>
          </p:sp>
          <p:sp>
            <p:nvSpPr>
              <p:cNvPr id="43" name="TextBox 42">
                <a:extLst>
                  <a:ext uri="{FF2B5EF4-FFF2-40B4-BE49-F238E27FC236}">
                    <a16:creationId xmlns:a16="http://schemas.microsoft.com/office/drawing/2014/main" id="{D4C55305-D880-9AAE-9D1B-A6ECB5FC7692}"/>
                  </a:ext>
                </a:extLst>
              </p:cNvPr>
              <p:cNvSpPr txBox="1"/>
              <p:nvPr/>
            </p:nvSpPr>
            <p:spPr>
              <a:xfrm>
                <a:off x="9193696" y="1001862"/>
                <a:ext cx="1013791" cy="250467"/>
              </a:xfrm>
              <a:prstGeom prst="rect">
                <a:avLst/>
              </a:prstGeom>
              <a:solidFill>
                <a:srgbClr val="71BF4B"/>
              </a:solidFill>
              <a:ln w="31750">
                <a:solidFill>
                  <a:schemeClr val="bg1"/>
                </a:solidFill>
              </a:ln>
            </p:spPr>
            <p:txBody>
              <a:bodyPr vert="horz" wrap="none" lIns="91440" tIns="45720" rIns="91440" bIns="45720" rtlCol="0" anchor="ctr">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200" b="1" dirty="0">
                    <a:solidFill>
                      <a:schemeClr val="bg1"/>
                    </a:solidFill>
                    <a:latin typeface="Arial" panose="020B0604020202020204"/>
                  </a:rPr>
                  <a:t>Function1</a:t>
                </a:r>
              </a:p>
            </p:txBody>
          </p:sp>
        </p:grpSp>
        <p:grpSp>
          <p:nvGrpSpPr>
            <p:cNvPr id="39" name="Group 38">
              <a:extLst>
                <a:ext uri="{FF2B5EF4-FFF2-40B4-BE49-F238E27FC236}">
                  <a16:creationId xmlns:a16="http://schemas.microsoft.com/office/drawing/2014/main" id="{AE4A01EE-55AE-ABD7-35AA-E3D4DC873F56}"/>
                </a:ext>
              </a:extLst>
            </p:cNvPr>
            <p:cNvGrpSpPr/>
            <p:nvPr/>
          </p:nvGrpSpPr>
          <p:grpSpPr>
            <a:xfrm>
              <a:off x="8674494" y="7082627"/>
              <a:ext cx="1820281" cy="371442"/>
              <a:chOff x="8259417" y="1001861"/>
              <a:chExt cx="1958333" cy="250469"/>
            </a:xfrm>
          </p:grpSpPr>
          <p:sp>
            <p:nvSpPr>
              <p:cNvPr id="40" name="TextBox 39">
                <a:extLst>
                  <a:ext uri="{FF2B5EF4-FFF2-40B4-BE49-F238E27FC236}">
                    <a16:creationId xmlns:a16="http://schemas.microsoft.com/office/drawing/2014/main" id="{197F3143-162C-C5A4-378C-1EA7FE67E180}"/>
                  </a:ext>
                </a:extLst>
              </p:cNvPr>
              <p:cNvSpPr txBox="1"/>
              <p:nvPr/>
            </p:nvSpPr>
            <p:spPr>
              <a:xfrm>
                <a:off x="8259417" y="1001863"/>
                <a:ext cx="934279" cy="250467"/>
              </a:xfrm>
              <a:prstGeom prst="rect">
                <a:avLst/>
              </a:prstGeom>
              <a:solidFill>
                <a:srgbClr val="00B0F0"/>
              </a:solidFill>
              <a:ln w="31750">
                <a:solidFill>
                  <a:schemeClr val="bg1"/>
                </a:solidFill>
              </a:ln>
            </p:spPr>
            <p:txBody>
              <a:bodyPr vert="horz" wrap="none" lIns="91440" tIns="45720" rIns="91440" bIns="45720" rtlCol="0" anchor="ctr">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200" b="1" dirty="0">
                    <a:solidFill>
                      <a:schemeClr val="bg1"/>
                    </a:solidFill>
                    <a:latin typeface="Arial" panose="020B0604020202020204"/>
                  </a:rPr>
                  <a:t>L</a:t>
                </a:r>
                <a:r>
                  <a:rPr kumimoji="0" lang="en-US" sz="1200" b="1" i="0" u="none" strike="noStrike" kern="1200" cap="none" spc="0" normalizeH="0" baseline="0" noProof="0" dirty="0">
                    <a:ln>
                      <a:noFill/>
                    </a:ln>
                    <a:solidFill>
                      <a:schemeClr val="bg1"/>
                    </a:solidFill>
                    <a:effectLst/>
                    <a:uLnTx/>
                    <a:uFillTx/>
                    <a:latin typeface="Arial" panose="020B0604020202020204"/>
                    <a:ea typeface="+mn-ea"/>
                    <a:cs typeface="+mn-cs"/>
                  </a:rPr>
                  <a:t>ocator2</a:t>
                </a:r>
              </a:p>
            </p:txBody>
          </p:sp>
          <p:sp>
            <p:nvSpPr>
              <p:cNvPr id="41" name="TextBox 40">
                <a:extLst>
                  <a:ext uri="{FF2B5EF4-FFF2-40B4-BE49-F238E27FC236}">
                    <a16:creationId xmlns:a16="http://schemas.microsoft.com/office/drawing/2014/main" id="{A8EEDB1D-CCD6-3334-E0C4-5F09CFBA8ACE}"/>
                  </a:ext>
                </a:extLst>
              </p:cNvPr>
              <p:cNvSpPr txBox="1"/>
              <p:nvPr/>
            </p:nvSpPr>
            <p:spPr>
              <a:xfrm>
                <a:off x="9203959" y="1001861"/>
                <a:ext cx="1013791" cy="250467"/>
              </a:xfrm>
              <a:prstGeom prst="rect">
                <a:avLst/>
              </a:prstGeom>
              <a:solidFill>
                <a:srgbClr val="71BF4B"/>
              </a:solidFill>
              <a:ln w="31750">
                <a:solidFill>
                  <a:schemeClr val="bg1"/>
                </a:solidFill>
              </a:ln>
            </p:spPr>
            <p:txBody>
              <a:bodyPr vert="horz" wrap="none" lIns="91440" tIns="45720" rIns="91440" bIns="45720" rtlCol="0" anchor="ctr">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200" b="1" dirty="0">
                    <a:solidFill>
                      <a:schemeClr val="bg1"/>
                    </a:solidFill>
                    <a:latin typeface="Arial" panose="020B0604020202020204"/>
                  </a:rPr>
                  <a:t>Function2</a:t>
                </a:r>
              </a:p>
            </p:txBody>
          </p:sp>
        </p:grpSp>
      </p:grpSp>
      <p:grpSp>
        <p:nvGrpSpPr>
          <p:cNvPr id="72" name="Group 71">
            <a:extLst>
              <a:ext uri="{FF2B5EF4-FFF2-40B4-BE49-F238E27FC236}">
                <a16:creationId xmlns:a16="http://schemas.microsoft.com/office/drawing/2014/main" id="{E37E9A7F-E71C-4AFD-F075-6A9B22B14DB7}"/>
              </a:ext>
            </a:extLst>
          </p:cNvPr>
          <p:cNvGrpSpPr/>
          <p:nvPr/>
        </p:nvGrpSpPr>
        <p:grpSpPr>
          <a:xfrm>
            <a:off x="8517972" y="3849945"/>
            <a:ext cx="1036320" cy="225552"/>
            <a:chOff x="3974592" y="6486145"/>
            <a:chExt cx="1036320" cy="225552"/>
          </a:xfrm>
        </p:grpSpPr>
        <p:sp>
          <p:nvSpPr>
            <p:cNvPr id="73" name="Arrow: Right 72">
              <a:extLst>
                <a:ext uri="{FF2B5EF4-FFF2-40B4-BE49-F238E27FC236}">
                  <a16:creationId xmlns:a16="http://schemas.microsoft.com/office/drawing/2014/main" id="{A8F6FF45-7794-2E10-1A4B-98A5E26FACA4}"/>
                </a:ext>
              </a:extLst>
            </p:cNvPr>
            <p:cNvSpPr/>
            <p:nvPr/>
          </p:nvSpPr>
          <p:spPr>
            <a:xfrm>
              <a:off x="4584192" y="6534912"/>
              <a:ext cx="426720" cy="171416"/>
            </a:xfrm>
            <a:prstGeom prst="rightArrow">
              <a:avLst>
                <a:gd name="adj1" fmla="val 50000"/>
                <a:gd name="adj2" fmla="val 53556"/>
              </a:avLst>
            </a:prstGeom>
            <a:solidFill>
              <a:srgbClr val="71BF4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5FF82838-911F-051E-4181-6C398A769D71}"/>
                </a:ext>
              </a:extLst>
            </p:cNvPr>
            <p:cNvSpPr txBox="1"/>
            <p:nvPr/>
          </p:nvSpPr>
          <p:spPr>
            <a:xfrm>
              <a:off x="3974592" y="6486145"/>
              <a:ext cx="914400" cy="225552"/>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200" b="1" i="0" u="none" strike="noStrike" kern="1200" cap="none" spc="0" normalizeH="0" baseline="0" noProof="0" dirty="0">
                  <a:ln>
                    <a:noFill/>
                  </a:ln>
                  <a:solidFill>
                    <a:srgbClr val="71BF4B"/>
                  </a:solidFill>
                  <a:effectLst/>
                  <a:uLnTx/>
                  <a:uFillTx/>
                  <a:latin typeface="Arial" panose="020B0604020202020204"/>
                  <a:ea typeface="+mn-ea"/>
                  <a:cs typeface="+mn-cs"/>
                </a:rPr>
                <a:t>Active</a:t>
              </a:r>
            </a:p>
          </p:txBody>
        </p:sp>
      </p:grpSp>
      <p:grpSp>
        <p:nvGrpSpPr>
          <p:cNvPr id="75" name="Group 74">
            <a:extLst>
              <a:ext uri="{FF2B5EF4-FFF2-40B4-BE49-F238E27FC236}">
                <a16:creationId xmlns:a16="http://schemas.microsoft.com/office/drawing/2014/main" id="{F231ED70-7F6A-70AC-3278-BBB96BD7EEB3}"/>
              </a:ext>
            </a:extLst>
          </p:cNvPr>
          <p:cNvGrpSpPr/>
          <p:nvPr/>
        </p:nvGrpSpPr>
        <p:grpSpPr>
          <a:xfrm>
            <a:off x="756961" y="4604617"/>
            <a:ext cx="1036320" cy="225552"/>
            <a:chOff x="3974592" y="6486145"/>
            <a:chExt cx="1036320" cy="225552"/>
          </a:xfrm>
        </p:grpSpPr>
        <p:sp>
          <p:nvSpPr>
            <p:cNvPr id="76" name="Arrow: Right 75">
              <a:extLst>
                <a:ext uri="{FF2B5EF4-FFF2-40B4-BE49-F238E27FC236}">
                  <a16:creationId xmlns:a16="http://schemas.microsoft.com/office/drawing/2014/main" id="{108308D9-7A79-5FD8-706A-7E99B5627987}"/>
                </a:ext>
              </a:extLst>
            </p:cNvPr>
            <p:cNvSpPr/>
            <p:nvPr/>
          </p:nvSpPr>
          <p:spPr>
            <a:xfrm>
              <a:off x="4584192" y="6534912"/>
              <a:ext cx="426720" cy="171416"/>
            </a:xfrm>
            <a:prstGeom prst="rightArrow">
              <a:avLst>
                <a:gd name="adj1" fmla="val 50000"/>
                <a:gd name="adj2" fmla="val 53556"/>
              </a:avLst>
            </a:prstGeom>
            <a:solidFill>
              <a:srgbClr val="71BF4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F3C96B54-9B2B-D271-3EE2-BB7E80219C46}"/>
                </a:ext>
              </a:extLst>
            </p:cNvPr>
            <p:cNvSpPr txBox="1"/>
            <p:nvPr/>
          </p:nvSpPr>
          <p:spPr>
            <a:xfrm>
              <a:off x="3974592" y="6486145"/>
              <a:ext cx="914400" cy="225552"/>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200" b="1" i="0" u="none" strike="noStrike" kern="1200" cap="none" spc="0" normalizeH="0" baseline="0" noProof="0" dirty="0">
                  <a:ln>
                    <a:noFill/>
                  </a:ln>
                  <a:solidFill>
                    <a:srgbClr val="71BF4B"/>
                  </a:solidFill>
                  <a:effectLst/>
                  <a:uLnTx/>
                  <a:uFillTx/>
                  <a:latin typeface="Arial" panose="020B0604020202020204"/>
                  <a:ea typeface="+mn-ea"/>
                  <a:cs typeface="+mn-cs"/>
                </a:rPr>
                <a:t>Active</a:t>
              </a:r>
            </a:p>
          </p:txBody>
        </p:sp>
      </p:grpSp>
      <p:grpSp>
        <p:nvGrpSpPr>
          <p:cNvPr id="48" name="Group 47">
            <a:extLst>
              <a:ext uri="{FF2B5EF4-FFF2-40B4-BE49-F238E27FC236}">
                <a16:creationId xmlns:a16="http://schemas.microsoft.com/office/drawing/2014/main" id="{D2FF9CC0-E7BC-CC2C-C0A9-4DC61225D555}"/>
              </a:ext>
            </a:extLst>
          </p:cNvPr>
          <p:cNvGrpSpPr/>
          <p:nvPr/>
        </p:nvGrpSpPr>
        <p:grpSpPr>
          <a:xfrm>
            <a:off x="4610039" y="4253114"/>
            <a:ext cx="1036320" cy="225552"/>
            <a:chOff x="3974592" y="6486145"/>
            <a:chExt cx="1036320" cy="225552"/>
          </a:xfrm>
        </p:grpSpPr>
        <p:sp>
          <p:nvSpPr>
            <p:cNvPr id="46" name="Arrow: Right 45">
              <a:extLst>
                <a:ext uri="{FF2B5EF4-FFF2-40B4-BE49-F238E27FC236}">
                  <a16:creationId xmlns:a16="http://schemas.microsoft.com/office/drawing/2014/main" id="{3BE12802-6B92-4033-DBC3-5F07378B13CD}"/>
                </a:ext>
              </a:extLst>
            </p:cNvPr>
            <p:cNvSpPr/>
            <p:nvPr/>
          </p:nvSpPr>
          <p:spPr>
            <a:xfrm>
              <a:off x="4584192" y="6534912"/>
              <a:ext cx="426720" cy="171416"/>
            </a:xfrm>
            <a:prstGeom prst="rightArrow">
              <a:avLst>
                <a:gd name="adj1" fmla="val 50000"/>
                <a:gd name="adj2" fmla="val 53556"/>
              </a:avLst>
            </a:prstGeom>
            <a:solidFill>
              <a:srgbClr val="71BF4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ADA8356F-7ED5-3540-E737-61BEFC0AF997}"/>
                </a:ext>
              </a:extLst>
            </p:cNvPr>
            <p:cNvSpPr txBox="1"/>
            <p:nvPr/>
          </p:nvSpPr>
          <p:spPr>
            <a:xfrm>
              <a:off x="3974592" y="6486145"/>
              <a:ext cx="914400" cy="225552"/>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200" b="1" i="0" u="none" strike="noStrike" kern="1200" cap="none" spc="0" normalizeH="0" baseline="0" noProof="0" dirty="0">
                  <a:ln>
                    <a:noFill/>
                  </a:ln>
                  <a:solidFill>
                    <a:srgbClr val="71BF4B"/>
                  </a:solidFill>
                  <a:effectLst/>
                  <a:uLnTx/>
                  <a:uFillTx/>
                  <a:latin typeface="Arial" panose="020B0604020202020204"/>
                  <a:ea typeface="+mn-ea"/>
                  <a:cs typeface="+mn-cs"/>
                </a:rPr>
                <a:t>Active</a:t>
              </a:r>
            </a:p>
          </p:txBody>
        </p:sp>
      </p:grpSp>
    </p:spTree>
    <p:extLst>
      <p:ext uri="{BB962C8B-B14F-4D97-AF65-F5344CB8AC3E}">
        <p14:creationId xmlns:p14="http://schemas.microsoft.com/office/powerpoint/2010/main" val="25195727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endParaRPr lang="en-US" dirty="0"/>
          </a:p>
          <a:p>
            <a:endParaRPr lang="en-US" dirty="0"/>
          </a:p>
          <a:p>
            <a:endParaRPr lang="en-US" dirty="0"/>
          </a:p>
          <a:p>
            <a:r>
              <a:rPr lang="en-US" dirty="0"/>
              <a:t>128-bit SRv6 SID</a:t>
            </a:r>
          </a:p>
          <a:p>
            <a:pPr lvl="1"/>
            <a:r>
              <a:rPr lang="en-US" dirty="0"/>
              <a:t>Locator: routed to the node performing the function</a:t>
            </a:r>
          </a:p>
          <a:p>
            <a:pPr lvl="1"/>
            <a:r>
              <a:rPr lang="en-US" dirty="0"/>
              <a:t>Function: any possible function (optional argument)</a:t>
            </a:r>
          </a:p>
          <a:p>
            <a:pPr lvl="2"/>
            <a:r>
              <a:rPr lang="en-US" dirty="0"/>
              <a:t>either local to NPU or app in VM/Container</a:t>
            </a:r>
          </a:p>
          <a:p>
            <a:r>
              <a:rPr lang="en-US" dirty="0"/>
              <a:t>Flexible bit-length selection</a:t>
            </a:r>
          </a:p>
          <a:p>
            <a:endParaRPr lang="cs-CZ" dirty="0"/>
          </a:p>
        </p:txBody>
      </p:sp>
      <p:sp>
        <p:nvSpPr>
          <p:cNvPr id="3" name="Text Placeholder 2"/>
          <p:cNvSpPr>
            <a:spLocks noGrp="1"/>
          </p:cNvSpPr>
          <p:nvPr>
            <p:ph type="body" sz="quarter" idx="11"/>
          </p:nvPr>
        </p:nvSpPr>
        <p:spPr/>
        <p:txBody>
          <a:bodyPr/>
          <a:lstStyle/>
          <a:p>
            <a:r>
              <a:rPr lang="cs-CZ" dirty="0"/>
              <a:t>Network </a:t>
            </a:r>
            <a:r>
              <a:rPr lang="cs-CZ" dirty="0" err="1"/>
              <a:t>instruction</a:t>
            </a:r>
            <a:endParaRPr lang="cs-CZ" dirty="0"/>
          </a:p>
        </p:txBody>
      </p:sp>
      <p:grpSp>
        <p:nvGrpSpPr>
          <p:cNvPr id="7" name="Group 6">
            <a:extLst>
              <a:ext uri="{FF2B5EF4-FFF2-40B4-BE49-F238E27FC236}">
                <a16:creationId xmlns:a16="http://schemas.microsoft.com/office/drawing/2014/main" id="{E1B6AA48-2F69-E22B-6C6B-E285A66EA8C2}"/>
              </a:ext>
            </a:extLst>
          </p:cNvPr>
          <p:cNvGrpSpPr/>
          <p:nvPr/>
        </p:nvGrpSpPr>
        <p:grpSpPr>
          <a:xfrm>
            <a:off x="3124201" y="1556657"/>
            <a:ext cx="4365169" cy="413657"/>
            <a:chOff x="1959430" y="2177143"/>
            <a:chExt cx="3243940" cy="413657"/>
          </a:xfrm>
        </p:grpSpPr>
        <p:sp>
          <p:nvSpPr>
            <p:cNvPr id="8" name="TextBox 7">
              <a:extLst>
                <a:ext uri="{FF2B5EF4-FFF2-40B4-BE49-F238E27FC236}">
                  <a16:creationId xmlns:a16="http://schemas.microsoft.com/office/drawing/2014/main" id="{0E5B87FA-D3C6-77C6-9443-EF9B36D4346B}"/>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a:t>
              </a:r>
            </a:p>
          </p:txBody>
        </p:sp>
        <p:sp>
          <p:nvSpPr>
            <p:cNvPr id="9" name="TextBox 8">
              <a:extLst>
                <a:ext uri="{FF2B5EF4-FFF2-40B4-BE49-F238E27FC236}">
                  <a16:creationId xmlns:a16="http://schemas.microsoft.com/office/drawing/2014/main" id="{89F3B137-C558-8B64-7AFA-F1264A55F0E2}"/>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a:t>
              </a:r>
              <a:r>
                <a:rPr lang="en-US" dirty="0" err="1"/>
                <a:t>arg</a:t>
              </a:r>
              <a:r>
                <a:rPr lang="en-US" dirty="0"/>
                <a:t>)</a:t>
              </a:r>
            </a:p>
          </p:txBody>
        </p:sp>
      </p:grpSp>
    </p:spTree>
    <p:extLst>
      <p:ext uri="{BB962C8B-B14F-4D97-AF65-F5344CB8AC3E}">
        <p14:creationId xmlns:p14="http://schemas.microsoft.com/office/powerpoint/2010/main" val="3109560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EC0ED6-027B-6992-F3F3-D17CCEA976B9}"/>
              </a:ext>
            </a:extLst>
          </p:cNvPr>
          <p:cNvSpPr>
            <a:spLocks noGrp="1"/>
          </p:cNvSpPr>
          <p:nvPr>
            <p:ph type="body" sz="quarter" idx="11"/>
          </p:nvPr>
        </p:nvSpPr>
        <p:spPr/>
        <p:txBody>
          <a:bodyPr/>
          <a:lstStyle/>
          <a:p>
            <a:r>
              <a:rPr lang="en-US" dirty="0"/>
              <a:t>Network Program #1</a:t>
            </a:r>
          </a:p>
        </p:txBody>
      </p:sp>
      <p:grpSp>
        <p:nvGrpSpPr>
          <p:cNvPr id="6" name="Group 5">
            <a:extLst>
              <a:ext uri="{FF2B5EF4-FFF2-40B4-BE49-F238E27FC236}">
                <a16:creationId xmlns:a16="http://schemas.microsoft.com/office/drawing/2014/main" id="{80CD64DE-41CD-C4AC-FD52-8B1F12C9057E}"/>
              </a:ext>
            </a:extLst>
          </p:cNvPr>
          <p:cNvGrpSpPr/>
          <p:nvPr/>
        </p:nvGrpSpPr>
        <p:grpSpPr>
          <a:xfrm>
            <a:off x="1899556" y="4185955"/>
            <a:ext cx="3243940" cy="413657"/>
            <a:chOff x="1959430" y="2177143"/>
            <a:chExt cx="3243940" cy="413657"/>
          </a:xfrm>
        </p:grpSpPr>
        <p:sp>
          <p:nvSpPr>
            <p:cNvPr id="4" name="TextBox 3">
              <a:extLst>
                <a:ext uri="{FF2B5EF4-FFF2-40B4-BE49-F238E27FC236}">
                  <a16:creationId xmlns:a16="http://schemas.microsoft.com/office/drawing/2014/main" id="{25AE1756-73E4-48C0-9B1C-5D98FE4AF2C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0</a:t>
              </a:r>
            </a:p>
          </p:txBody>
        </p:sp>
        <p:sp>
          <p:nvSpPr>
            <p:cNvPr id="5" name="TextBox 4">
              <a:extLst>
                <a:ext uri="{FF2B5EF4-FFF2-40B4-BE49-F238E27FC236}">
                  <a16:creationId xmlns:a16="http://schemas.microsoft.com/office/drawing/2014/main" id="{204FCDD0-144C-9FF3-A2F1-0254B1ADE461}"/>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0</a:t>
              </a:r>
            </a:p>
          </p:txBody>
        </p:sp>
      </p:grpSp>
      <p:grpSp>
        <p:nvGrpSpPr>
          <p:cNvPr id="2" name="Group 1">
            <a:extLst>
              <a:ext uri="{FF2B5EF4-FFF2-40B4-BE49-F238E27FC236}">
                <a16:creationId xmlns:a16="http://schemas.microsoft.com/office/drawing/2014/main" id="{94646B92-7599-5248-F0C7-DAD434BBB055}"/>
              </a:ext>
            </a:extLst>
          </p:cNvPr>
          <p:cNvGrpSpPr/>
          <p:nvPr/>
        </p:nvGrpSpPr>
        <p:grpSpPr>
          <a:xfrm>
            <a:off x="1899556" y="4599612"/>
            <a:ext cx="3243940" cy="413657"/>
            <a:chOff x="1959430" y="2177143"/>
            <a:chExt cx="3243940" cy="413657"/>
          </a:xfrm>
        </p:grpSpPr>
        <p:sp>
          <p:nvSpPr>
            <p:cNvPr id="7" name="TextBox 6">
              <a:extLst>
                <a:ext uri="{FF2B5EF4-FFF2-40B4-BE49-F238E27FC236}">
                  <a16:creationId xmlns:a16="http://schemas.microsoft.com/office/drawing/2014/main" id="{46FC5A35-87CA-0B78-2F35-B357679754A4}"/>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1</a:t>
              </a:r>
            </a:p>
          </p:txBody>
        </p:sp>
        <p:sp>
          <p:nvSpPr>
            <p:cNvPr id="8" name="TextBox 7">
              <a:extLst>
                <a:ext uri="{FF2B5EF4-FFF2-40B4-BE49-F238E27FC236}">
                  <a16:creationId xmlns:a16="http://schemas.microsoft.com/office/drawing/2014/main" id="{77A1110F-4020-1703-C171-FBD4708A7E02}"/>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1</a:t>
              </a:r>
            </a:p>
          </p:txBody>
        </p:sp>
      </p:grpSp>
      <p:grpSp>
        <p:nvGrpSpPr>
          <p:cNvPr id="9" name="Group 8">
            <a:extLst>
              <a:ext uri="{FF2B5EF4-FFF2-40B4-BE49-F238E27FC236}">
                <a16:creationId xmlns:a16="http://schemas.microsoft.com/office/drawing/2014/main" id="{2DF7574D-47E3-56BD-5C19-89F177CDAF04}"/>
              </a:ext>
            </a:extLst>
          </p:cNvPr>
          <p:cNvGrpSpPr/>
          <p:nvPr/>
        </p:nvGrpSpPr>
        <p:grpSpPr>
          <a:xfrm>
            <a:off x="1899556" y="5013269"/>
            <a:ext cx="3243940" cy="413657"/>
            <a:chOff x="1959430" y="2177143"/>
            <a:chExt cx="3243940" cy="413657"/>
          </a:xfrm>
        </p:grpSpPr>
        <p:sp>
          <p:nvSpPr>
            <p:cNvPr id="10" name="TextBox 9">
              <a:extLst>
                <a:ext uri="{FF2B5EF4-FFF2-40B4-BE49-F238E27FC236}">
                  <a16:creationId xmlns:a16="http://schemas.microsoft.com/office/drawing/2014/main" id="{5E555E47-BF49-44AA-F995-328066035C60}"/>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2</a:t>
              </a:r>
            </a:p>
          </p:txBody>
        </p:sp>
        <p:sp>
          <p:nvSpPr>
            <p:cNvPr id="11" name="TextBox 10">
              <a:extLst>
                <a:ext uri="{FF2B5EF4-FFF2-40B4-BE49-F238E27FC236}">
                  <a16:creationId xmlns:a16="http://schemas.microsoft.com/office/drawing/2014/main" id="{A1DCA384-00C5-FD07-D576-003139161DE6}"/>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2</a:t>
              </a:r>
            </a:p>
          </p:txBody>
        </p:sp>
      </p:grpSp>
      <p:grpSp>
        <p:nvGrpSpPr>
          <p:cNvPr id="12" name="Group 11">
            <a:extLst>
              <a:ext uri="{FF2B5EF4-FFF2-40B4-BE49-F238E27FC236}">
                <a16:creationId xmlns:a16="http://schemas.microsoft.com/office/drawing/2014/main" id="{D4E367CF-558E-EA65-EBC7-E744244EB572}"/>
              </a:ext>
            </a:extLst>
          </p:cNvPr>
          <p:cNvGrpSpPr/>
          <p:nvPr/>
        </p:nvGrpSpPr>
        <p:grpSpPr>
          <a:xfrm>
            <a:off x="1899556" y="5426926"/>
            <a:ext cx="3243940" cy="413657"/>
            <a:chOff x="1959430" y="2177143"/>
            <a:chExt cx="3243940" cy="413657"/>
          </a:xfrm>
        </p:grpSpPr>
        <p:sp>
          <p:nvSpPr>
            <p:cNvPr id="13" name="TextBox 12">
              <a:extLst>
                <a:ext uri="{FF2B5EF4-FFF2-40B4-BE49-F238E27FC236}">
                  <a16:creationId xmlns:a16="http://schemas.microsoft.com/office/drawing/2014/main" id="{AA887D77-DA8D-E172-4E7A-A763A9490D92}"/>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3</a:t>
              </a:r>
            </a:p>
          </p:txBody>
        </p:sp>
        <p:sp>
          <p:nvSpPr>
            <p:cNvPr id="14" name="TextBox 13">
              <a:extLst>
                <a:ext uri="{FF2B5EF4-FFF2-40B4-BE49-F238E27FC236}">
                  <a16:creationId xmlns:a16="http://schemas.microsoft.com/office/drawing/2014/main" id="{5C696D45-5E9E-FC82-5C1F-87577AA2892A}"/>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3</a:t>
              </a:r>
            </a:p>
          </p:txBody>
        </p:sp>
      </p:grpSp>
      <p:grpSp>
        <p:nvGrpSpPr>
          <p:cNvPr id="15" name="Group 14">
            <a:extLst>
              <a:ext uri="{FF2B5EF4-FFF2-40B4-BE49-F238E27FC236}">
                <a16:creationId xmlns:a16="http://schemas.microsoft.com/office/drawing/2014/main" id="{67D678DA-73EB-6290-3193-4E70C9EE4F99}"/>
              </a:ext>
            </a:extLst>
          </p:cNvPr>
          <p:cNvGrpSpPr/>
          <p:nvPr/>
        </p:nvGrpSpPr>
        <p:grpSpPr>
          <a:xfrm>
            <a:off x="1899556" y="5840583"/>
            <a:ext cx="3243940" cy="413657"/>
            <a:chOff x="1959430" y="2177143"/>
            <a:chExt cx="3243940" cy="413657"/>
          </a:xfrm>
        </p:grpSpPr>
        <p:sp>
          <p:nvSpPr>
            <p:cNvPr id="16" name="TextBox 15">
              <a:extLst>
                <a:ext uri="{FF2B5EF4-FFF2-40B4-BE49-F238E27FC236}">
                  <a16:creationId xmlns:a16="http://schemas.microsoft.com/office/drawing/2014/main" id="{7C4DCDF5-65A8-F573-1955-BE31D841657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4</a:t>
              </a:r>
            </a:p>
          </p:txBody>
        </p:sp>
        <p:sp>
          <p:nvSpPr>
            <p:cNvPr id="17" name="TextBox 16">
              <a:extLst>
                <a:ext uri="{FF2B5EF4-FFF2-40B4-BE49-F238E27FC236}">
                  <a16:creationId xmlns:a16="http://schemas.microsoft.com/office/drawing/2014/main" id="{34D6F2B3-48E4-77DC-7C9A-26FF0FF94F9D}"/>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4</a:t>
              </a:r>
            </a:p>
          </p:txBody>
        </p:sp>
      </p:grpSp>
      <p:sp>
        <p:nvSpPr>
          <p:cNvPr id="19" name="TextBox 18">
            <a:extLst>
              <a:ext uri="{FF2B5EF4-FFF2-40B4-BE49-F238E27FC236}">
                <a16:creationId xmlns:a16="http://schemas.microsoft.com/office/drawing/2014/main" id="{5DC54D9D-8772-F9A8-2EC7-5B0B4C4AF739}"/>
              </a:ext>
            </a:extLst>
          </p:cNvPr>
          <p:cNvSpPr txBox="1"/>
          <p:nvPr/>
        </p:nvSpPr>
        <p:spPr>
          <a:xfrm>
            <a:off x="522515" y="1301469"/>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A</a:t>
            </a:r>
          </a:p>
        </p:txBody>
      </p:sp>
      <p:sp>
        <p:nvSpPr>
          <p:cNvPr id="20" name="TextBox 19">
            <a:extLst>
              <a:ext uri="{FF2B5EF4-FFF2-40B4-BE49-F238E27FC236}">
                <a16:creationId xmlns:a16="http://schemas.microsoft.com/office/drawing/2014/main" id="{86ECD626-09B3-2D24-6746-8AF89F7EEE22}"/>
              </a:ext>
            </a:extLst>
          </p:cNvPr>
          <p:cNvSpPr txBox="1"/>
          <p:nvPr/>
        </p:nvSpPr>
        <p:spPr>
          <a:xfrm>
            <a:off x="2068284"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B</a:t>
            </a:r>
          </a:p>
        </p:txBody>
      </p:sp>
      <p:sp>
        <p:nvSpPr>
          <p:cNvPr id="21" name="TextBox 20">
            <a:extLst>
              <a:ext uri="{FF2B5EF4-FFF2-40B4-BE49-F238E27FC236}">
                <a16:creationId xmlns:a16="http://schemas.microsoft.com/office/drawing/2014/main" id="{220DFCA0-79E9-1920-D83A-890C99DBE3DE}"/>
              </a:ext>
            </a:extLst>
          </p:cNvPr>
          <p:cNvSpPr txBox="1"/>
          <p:nvPr/>
        </p:nvSpPr>
        <p:spPr>
          <a:xfrm>
            <a:off x="3614053"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C</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Loc4</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2" name="TextBox 21">
            <a:extLst>
              <a:ext uri="{FF2B5EF4-FFF2-40B4-BE49-F238E27FC236}">
                <a16:creationId xmlns:a16="http://schemas.microsoft.com/office/drawing/2014/main" id="{7EF262A1-8154-CA84-C05E-BCF259BCF7B2}"/>
              </a:ext>
            </a:extLst>
          </p:cNvPr>
          <p:cNvSpPr txBox="1"/>
          <p:nvPr/>
        </p:nvSpPr>
        <p:spPr>
          <a:xfrm>
            <a:off x="5159822"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D</a:t>
            </a:r>
          </a:p>
        </p:txBody>
      </p:sp>
      <p:sp>
        <p:nvSpPr>
          <p:cNvPr id="23" name="TextBox 22">
            <a:extLst>
              <a:ext uri="{FF2B5EF4-FFF2-40B4-BE49-F238E27FC236}">
                <a16:creationId xmlns:a16="http://schemas.microsoft.com/office/drawing/2014/main" id="{6B9212D0-0982-8D69-A27D-EDC0A39BF318}"/>
              </a:ext>
            </a:extLst>
          </p:cNvPr>
          <p:cNvSpPr txBox="1"/>
          <p:nvPr/>
        </p:nvSpPr>
        <p:spPr>
          <a:xfrm>
            <a:off x="8251360"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F</a:t>
            </a:r>
          </a:p>
        </p:txBody>
      </p:sp>
      <p:sp>
        <p:nvSpPr>
          <p:cNvPr id="24" name="TextBox 23">
            <a:extLst>
              <a:ext uri="{FF2B5EF4-FFF2-40B4-BE49-F238E27FC236}">
                <a16:creationId xmlns:a16="http://schemas.microsoft.com/office/drawing/2014/main" id="{9D9DAB8E-4DC2-CB98-03A2-0D5276E46941}"/>
              </a:ext>
            </a:extLst>
          </p:cNvPr>
          <p:cNvSpPr txBox="1"/>
          <p:nvPr/>
        </p:nvSpPr>
        <p:spPr>
          <a:xfrm>
            <a:off x="9797129" y="129114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G</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Loc2</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5" name="TextBox 24">
            <a:extLst>
              <a:ext uri="{FF2B5EF4-FFF2-40B4-BE49-F238E27FC236}">
                <a16:creationId xmlns:a16="http://schemas.microsoft.com/office/drawing/2014/main" id="{BAB2446F-E979-5C6C-7D10-083E4D19EE79}"/>
              </a:ext>
            </a:extLst>
          </p:cNvPr>
          <p:cNvSpPr txBox="1"/>
          <p:nvPr/>
        </p:nvSpPr>
        <p:spPr>
          <a:xfrm>
            <a:off x="6705591"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E</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Loc3</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6" name="TextBox 25">
            <a:extLst>
              <a:ext uri="{FF2B5EF4-FFF2-40B4-BE49-F238E27FC236}">
                <a16:creationId xmlns:a16="http://schemas.microsoft.com/office/drawing/2014/main" id="{D0FA2F50-DC52-7C1A-E947-AC7A00232017}"/>
              </a:ext>
            </a:extLst>
          </p:cNvPr>
          <p:cNvSpPr txBox="1"/>
          <p:nvPr/>
        </p:nvSpPr>
        <p:spPr>
          <a:xfrm>
            <a:off x="9797129" y="242850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H</a:t>
            </a:r>
          </a:p>
        </p:txBody>
      </p:sp>
      <p:sp>
        <p:nvSpPr>
          <p:cNvPr id="27" name="TextBox 26">
            <a:extLst>
              <a:ext uri="{FF2B5EF4-FFF2-40B4-BE49-F238E27FC236}">
                <a16:creationId xmlns:a16="http://schemas.microsoft.com/office/drawing/2014/main" id="{84162B9B-4BAA-3304-33B5-AA47648245C4}"/>
              </a:ext>
            </a:extLst>
          </p:cNvPr>
          <p:cNvSpPr txBox="1"/>
          <p:nvPr/>
        </p:nvSpPr>
        <p:spPr>
          <a:xfrm>
            <a:off x="9797129" y="356586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I</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Loc1</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8" name="TextBox 27">
            <a:extLst>
              <a:ext uri="{FF2B5EF4-FFF2-40B4-BE49-F238E27FC236}">
                <a16:creationId xmlns:a16="http://schemas.microsoft.com/office/drawing/2014/main" id="{83FC4A08-F069-4DE4-93D0-B3A79C0B3695}"/>
              </a:ext>
            </a:extLst>
          </p:cNvPr>
          <p:cNvSpPr txBox="1"/>
          <p:nvPr/>
        </p:nvSpPr>
        <p:spPr>
          <a:xfrm>
            <a:off x="9797129" y="470322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J</a:t>
            </a:r>
          </a:p>
        </p:txBody>
      </p:sp>
      <p:sp>
        <p:nvSpPr>
          <p:cNvPr id="29" name="TextBox 28">
            <a:extLst>
              <a:ext uri="{FF2B5EF4-FFF2-40B4-BE49-F238E27FC236}">
                <a16:creationId xmlns:a16="http://schemas.microsoft.com/office/drawing/2014/main" id="{E8499C2E-A984-CE09-E9FC-869E5F2DF5E7}"/>
              </a:ext>
            </a:extLst>
          </p:cNvPr>
          <p:cNvSpPr txBox="1"/>
          <p:nvPr/>
        </p:nvSpPr>
        <p:spPr>
          <a:xfrm>
            <a:off x="9797129" y="584058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K</a:t>
            </a:r>
          </a:p>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rPr>
              <a:t>Loc0</a:t>
            </a:r>
          </a:p>
        </p:txBody>
      </p:sp>
      <p:grpSp>
        <p:nvGrpSpPr>
          <p:cNvPr id="30" name="Group 29">
            <a:extLst>
              <a:ext uri="{FF2B5EF4-FFF2-40B4-BE49-F238E27FC236}">
                <a16:creationId xmlns:a16="http://schemas.microsoft.com/office/drawing/2014/main" id="{3688AF0D-03E0-2C28-3596-C1F8066A7300}"/>
              </a:ext>
            </a:extLst>
          </p:cNvPr>
          <p:cNvGrpSpPr/>
          <p:nvPr/>
        </p:nvGrpSpPr>
        <p:grpSpPr>
          <a:xfrm>
            <a:off x="1915882" y="3436914"/>
            <a:ext cx="3243940" cy="413657"/>
            <a:chOff x="1959430" y="2177143"/>
            <a:chExt cx="3243940" cy="413657"/>
          </a:xfrm>
        </p:grpSpPr>
        <p:sp>
          <p:nvSpPr>
            <p:cNvPr id="31" name="TextBox 30">
              <a:extLst>
                <a:ext uri="{FF2B5EF4-FFF2-40B4-BE49-F238E27FC236}">
                  <a16:creationId xmlns:a16="http://schemas.microsoft.com/office/drawing/2014/main" id="{78BA7CFA-94F2-09B5-2D11-3CD3A0F6AAB6}"/>
                </a:ext>
              </a:extLst>
            </p:cNvPr>
            <p:cNvSpPr txBox="1"/>
            <p:nvPr/>
          </p:nvSpPr>
          <p:spPr>
            <a:xfrm>
              <a:off x="1959430" y="2177143"/>
              <a:ext cx="1621970" cy="413657"/>
            </a:xfrm>
            <a:prstGeom prst="rect">
              <a:avLst/>
            </a:prstGeom>
            <a:solidFill>
              <a:schemeClr val="accent3">
                <a:lumMod val="40000"/>
                <a:lumOff val="60000"/>
              </a:schemeClr>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a:t>
              </a:r>
              <a:r>
                <a:rPr lang="en-US" sz="2400" dirty="0">
                  <a:latin typeface="Arial" panose="020B0604020202020204"/>
                </a:rPr>
                <a:t>4</a:t>
              </a:r>
              <a:endPar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endParaRPr>
            </a:p>
          </p:txBody>
        </p:sp>
        <p:sp>
          <p:nvSpPr>
            <p:cNvPr id="32" name="TextBox 31">
              <a:extLst>
                <a:ext uri="{FF2B5EF4-FFF2-40B4-BE49-F238E27FC236}">
                  <a16:creationId xmlns:a16="http://schemas.microsoft.com/office/drawing/2014/main" id="{B62BB785-CEEA-27B4-5F00-AE094D6144CE}"/>
                </a:ext>
              </a:extLst>
            </p:cNvPr>
            <p:cNvSpPr txBox="1"/>
            <p:nvPr/>
          </p:nvSpPr>
          <p:spPr>
            <a:xfrm>
              <a:off x="3581400" y="2177143"/>
              <a:ext cx="1621970" cy="413657"/>
            </a:xfrm>
            <a:prstGeom prst="rect">
              <a:avLst/>
            </a:prstGeom>
            <a:solidFill>
              <a:schemeClr val="accent4">
                <a:lumMod val="40000"/>
                <a:lumOff val="60000"/>
              </a:schemeClr>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4</a:t>
              </a:r>
            </a:p>
          </p:txBody>
        </p:sp>
      </p:grpSp>
      <p:sp>
        <p:nvSpPr>
          <p:cNvPr id="33" name="TextBox 32">
            <a:extLst>
              <a:ext uri="{FF2B5EF4-FFF2-40B4-BE49-F238E27FC236}">
                <a16:creationId xmlns:a16="http://schemas.microsoft.com/office/drawing/2014/main" id="{1634C2CB-6B6B-81AA-FE36-906444213B14}"/>
              </a:ext>
            </a:extLst>
          </p:cNvPr>
          <p:cNvSpPr txBox="1"/>
          <p:nvPr/>
        </p:nvSpPr>
        <p:spPr>
          <a:xfrm>
            <a:off x="5236030" y="3436914"/>
            <a:ext cx="2547256"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IPv6 DST Addr.</a:t>
            </a:r>
          </a:p>
        </p:txBody>
      </p:sp>
      <p:sp>
        <p:nvSpPr>
          <p:cNvPr id="34" name="TextBox 33">
            <a:extLst>
              <a:ext uri="{FF2B5EF4-FFF2-40B4-BE49-F238E27FC236}">
                <a16:creationId xmlns:a16="http://schemas.microsoft.com/office/drawing/2014/main" id="{3B257FCD-30EA-3E5C-61FD-96CAF1A93136}"/>
              </a:ext>
            </a:extLst>
          </p:cNvPr>
          <p:cNvSpPr txBox="1"/>
          <p:nvPr/>
        </p:nvSpPr>
        <p:spPr>
          <a:xfrm>
            <a:off x="5486393" y="4995057"/>
            <a:ext cx="914400"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SHR</a:t>
            </a:r>
          </a:p>
        </p:txBody>
      </p:sp>
      <p:cxnSp>
        <p:nvCxnSpPr>
          <p:cNvPr id="36" name="Straight Arrow Connector 35">
            <a:extLst>
              <a:ext uri="{FF2B5EF4-FFF2-40B4-BE49-F238E27FC236}">
                <a16:creationId xmlns:a16="http://schemas.microsoft.com/office/drawing/2014/main" id="{3508B799-ED0E-3852-567F-4ED8BC37722C}"/>
              </a:ext>
            </a:extLst>
          </p:cNvPr>
          <p:cNvCxnSpPr>
            <a:cxnSpLocks/>
          </p:cNvCxnSpPr>
          <p:nvPr/>
        </p:nvCxnSpPr>
        <p:spPr>
          <a:xfrm flipH="1" flipV="1">
            <a:off x="261265" y="1700712"/>
            <a:ext cx="2579906" cy="164120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8DAE735-1CD6-2310-BB62-83985D69EA59}"/>
              </a:ext>
            </a:extLst>
          </p:cNvPr>
          <p:cNvCxnSpPr>
            <a:stCxn id="19" idx="3"/>
            <a:endCxn id="20" idx="1"/>
          </p:cNvCxnSpPr>
          <p:nvPr/>
        </p:nvCxnSpPr>
        <p:spPr>
          <a:xfrm flipV="1">
            <a:off x="1763486" y="1683160"/>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5A98E94-CBFE-69D9-5AC5-81A0C0B90AC0}"/>
              </a:ext>
            </a:extLst>
          </p:cNvPr>
          <p:cNvCxnSpPr/>
          <p:nvPr/>
        </p:nvCxnSpPr>
        <p:spPr>
          <a:xfrm flipV="1">
            <a:off x="3309255" y="167042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65A6F1C-F30D-685A-66F6-E196573FECBE}"/>
              </a:ext>
            </a:extLst>
          </p:cNvPr>
          <p:cNvCxnSpPr/>
          <p:nvPr/>
        </p:nvCxnSpPr>
        <p:spPr>
          <a:xfrm flipV="1">
            <a:off x="4855024" y="1665608"/>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1DA76F5-2D6A-7918-AB15-B8C5D6C39988}"/>
              </a:ext>
            </a:extLst>
          </p:cNvPr>
          <p:cNvCxnSpPr/>
          <p:nvPr/>
        </p:nvCxnSpPr>
        <p:spPr>
          <a:xfrm flipV="1">
            <a:off x="6389906" y="1672274"/>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5DE1137-A253-5BAE-A8BB-AE7EDD4B1E3A}"/>
              </a:ext>
            </a:extLst>
          </p:cNvPr>
          <p:cNvCxnSpPr/>
          <p:nvPr/>
        </p:nvCxnSpPr>
        <p:spPr>
          <a:xfrm flipV="1">
            <a:off x="7924788" y="1683160"/>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C182581-03B6-CCEA-84F6-9BFB8D5F1855}"/>
              </a:ext>
            </a:extLst>
          </p:cNvPr>
          <p:cNvCxnSpPr/>
          <p:nvPr/>
        </p:nvCxnSpPr>
        <p:spPr>
          <a:xfrm flipV="1">
            <a:off x="9448783" y="169404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5E90EF5-2A32-4E52-D0D2-EDACDD1DA825}"/>
              </a:ext>
            </a:extLst>
          </p:cNvPr>
          <p:cNvCxnSpPr>
            <a:cxnSpLocks/>
            <a:stCxn id="26" idx="0"/>
            <a:endCxn id="24" idx="2"/>
          </p:cNvCxnSpPr>
          <p:nvPr/>
        </p:nvCxnSpPr>
        <p:spPr>
          <a:xfrm flipV="1">
            <a:off x="10417615" y="206415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EE98E7B-E641-9B00-C116-9AEA1F834853}"/>
              </a:ext>
            </a:extLst>
          </p:cNvPr>
          <p:cNvCxnSpPr>
            <a:cxnSpLocks/>
          </p:cNvCxnSpPr>
          <p:nvPr/>
        </p:nvCxnSpPr>
        <p:spPr>
          <a:xfrm flipV="1">
            <a:off x="10417614" y="320151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492A3E1-13BC-741D-79A4-285D00FD981D}"/>
              </a:ext>
            </a:extLst>
          </p:cNvPr>
          <p:cNvCxnSpPr>
            <a:cxnSpLocks/>
          </p:cNvCxnSpPr>
          <p:nvPr/>
        </p:nvCxnSpPr>
        <p:spPr>
          <a:xfrm flipV="1">
            <a:off x="10406715" y="433887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8B5994E-CEED-5C83-8335-EAF11F8A89CF}"/>
              </a:ext>
            </a:extLst>
          </p:cNvPr>
          <p:cNvCxnSpPr>
            <a:cxnSpLocks/>
          </p:cNvCxnSpPr>
          <p:nvPr/>
        </p:nvCxnSpPr>
        <p:spPr>
          <a:xfrm flipV="1">
            <a:off x="10406715" y="547623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Arrow: Right 50">
            <a:extLst>
              <a:ext uri="{FF2B5EF4-FFF2-40B4-BE49-F238E27FC236}">
                <a16:creationId xmlns:a16="http://schemas.microsoft.com/office/drawing/2014/main" id="{12318449-AD0D-1D05-E36B-4E96DF432073}"/>
              </a:ext>
            </a:extLst>
          </p:cNvPr>
          <p:cNvSpPr/>
          <p:nvPr/>
        </p:nvSpPr>
        <p:spPr>
          <a:xfrm>
            <a:off x="119755" y="5835537"/>
            <a:ext cx="1763486" cy="484632"/>
          </a:xfrm>
          <a:prstGeom prst="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Active segment</a:t>
            </a:r>
          </a:p>
        </p:txBody>
      </p:sp>
      <p:sp>
        <p:nvSpPr>
          <p:cNvPr id="52" name="Arrow: Circular 51">
            <a:extLst>
              <a:ext uri="{FF2B5EF4-FFF2-40B4-BE49-F238E27FC236}">
                <a16:creationId xmlns:a16="http://schemas.microsoft.com/office/drawing/2014/main" id="{4DAB1F5C-7676-1827-8218-48DF8D5D948E}"/>
              </a:ext>
            </a:extLst>
          </p:cNvPr>
          <p:cNvSpPr/>
          <p:nvPr/>
        </p:nvSpPr>
        <p:spPr>
          <a:xfrm rot="16200000">
            <a:off x="593496" y="3415449"/>
            <a:ext cx="2633982" cy="2702383"/>
          </a:xfrm>
          <a:prstGeom prst="circularArrow">
            <a:avLst>
              <a:gd name="adj1" fmla="val 3259"/>
              <a:gd name="adj2" fmla="val 1142319"/>
              <a:gd name="adj3" fmla="val 20529188"/>
              <a:gd name="adj4" fmla="val 10905829"/>
              <a:gd name="adj5" fmla="val 5405"/>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0847975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EC0ED6-027B-6992-F3F3-D17CCEA976B9}"/>
              </a:ext>
            </a:extLst>
          </p:cNvPr>
          <p:cNvSpPr>
            <a:spLocks noGrp="1"/>
          </p:cNvSpPr>
          <p:nvPr>
            <p:ph type="body" sz="quarter" idx="11"/>
          </p:nvPr>
        </p:nvSpPr>
        <p:spPr/>
        <p:txBody>
          <a:bodyPr/>
          <a:lstStyle/>
          <a:p>
            <a:r>
              <a:rPr lang="en-US" dirty="0"/>
              <a:t>Network Program #2</a:t>
            </a:r>
          </a:p>
        </p:txBody>
      </p:sp>
      <p:grpSp>
        <p:nvGrpSpPr>
          <p:cNvPr id="6" name="Group 5">
            <a:extLst>
              <a:ext uri="{FF2B5EF4-FFF2-40B4-BE49-F238E27FC236}">
                <a16:creationId xmlns:a16="http://schemas.microsoft.com/office/drawing/2014/main" id="{80CD64DE-41CD-C4AC-FD52-8B1F12C9057E}"/>
              </a:ext>
            </a:extLst>
          </p:cNvPr>
          <p:cNvGrpSpPr/>
          <p:nvPr/>
        </p:nvGrpSpPr>
        <p:grpSpPr>
          <a:xfrm>
            <a:off x="1899556" y="4185955"/>
            <a:ext cx="3243940" cy="413657"/>
            <a:chOff x="1959430" y="2177143"/>
            <a:chExt cx="3243940" cy="413657"/>
          </a:xfrm>
        </p:grpSpPr>
        <p:sp>
          <p:nvSpPr>
            <p:cNvPr id="4" name="TextBox 3">
              <a:extLst>
                <a:ext uri="{FF2B5EF4-FFF2-40B4-BE49-F238E27FC236}">
                  <a16:creationId xmlns:a16="http://schemas.microsoft.com/office/drawing/2014/main" id="{25AE1756-73E4-48C0-9B1C-5D98FE4AF2C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0</a:t>
              </a:r>
            </a:p>
          </p:txBody>
        </p:sp>
        <p:sp>
          <p:nvSpPr>
            <p:cNvPr id="5" name="TextBox 4">
              <a:extLst>
                <a:ext uri="{FF2B5EF4-FFF2-40B4-BE49-F238E27FC236}">
                  <a16:creationId xmlns:a16="http://schemas.microsoft.com/office/drawing/2014/main" id="{204FCDD0-144C-9FF3-A2F1-0254B1ADE461}"/>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0</a:t>
              </a:r>
            </a:p>
          </p:txBody>
        </p:sp>
      </p:grpSp>
      <p:grpSp>
        <p:nvGrpSpPr>
          <p:cNvPr id="2" name="Group 1">
            <a:extLst>
              <a:ext uri="{FF2B5EF4-FFF2-40B4-BE49-F238E27FC236}">
                <a16:creationId xmlns:a16="http://schemas.microsoft.com/office/drawing/2014/main" id="{94646B92-7599-5248-F0C7-DAD434BBB055}"/>
              </a:ext>
            </a:extLst>
          </p:cNvPr>
          <p:cNvGrpSpPr/>
          <p:nvPr/>
        </p:nvGrpSpPr>
        <p:grpSpPr>
          <a:xfrm>
            <a:off x="1899556" y="4599612"/>
            <a:ext cx="3243940" cy="413657"/>
            <a:chOff x="1959430" y="2177143"/>
            <a:chExt cx="3243940" cy="413657"/>
          </a:xfrm>
        </p:grpSpPr>
        <p:sp>
          <p:nvSpPr>
            <p:cNvPr id="7" name="TextBox 6">
              <a:extLst>
                <a:ext uri="{FF2B5EF4-FFF2-40B4-BE49-F238E27FC236}">
                  <a16:creationId xmlns:a16="http://schemas.microsoft.com/office/drawing/2014/main" id="{46FC5A35-87CA-0B78-2F35-B357679754A4}"/>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1</a:t>
              </a:r>
            </a:p>
          </p:txBody>
        </p:sp>
        <p:sp>
          <p:nvSpPr>
            <p:cNvPr id="8" name="TextBox 7">
              <a:extLst>
                <a:ext uri="{FF2B5EF4-FFF2-40B4-BE49-F238E27FC236}">
                  <a16:creationId xmlns:a16="http://schemas.microsoft.com/office/drawing/2014/main" id="{77A1110F-4020-1703-C171-FBD4708A7E02}"/>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1</a:t>
              </a:r>
            </a:p>
          </p:txBody>
        </p:sp>
      </p:grpSp>
      <p:grpSp>
        <p:nvGrpSpPr>
          <p:cNvPr id="9" name="Group 8">
            <a:extLst>
              <a:ext uri="{FF2B5EF4-FFF2-40B4-BE49-F238E27FC236}">
                <a16:creationId xmlns:a16="http://schemas.microsoft.com/office/drawing/2014/main" id="{2DF7574D-47E3-56BD-5C19-89F177CDAF04}"/>
              </a:ext>
            </a:extLst>
          </p:cNvPr>
          <p:cNvGrpSpPr/>
          <p:nvPr/>
        </p:nvGrpSpPr>
        <p:grpSpPr>
          <a:xfrm>
            <a:off x="1899556" y="5013269"/>
            <a:ext cx="3243940" cy="413657"/>
            <a:chOff x="1959430" y="2177143"/>
            <a:chExt cx="3243940" cy="413657"/>
          </a:xfrm>
        </p:grpSpPr>
        <p:sp>
          <p:nvSpPr>
            <p:cNvPr id="10" name="TextBox 9">
              <a:extLst>
                <a:ext uri="{FF2B5EF4-FFF2-40B4-BE49-F238E27FC236}">
                  <a16:creationId xmlns:a16="http://schemas.microsoft.com/office/drawing/2014/main" id="{5E555E47-BF49-44AA-F995-328066035C60}"/>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2</a:t>
              </a:r>
            </a:p>
          </p:txBody>
        </p:sp>
        <p:sp>
          <p:nvSpPr>
            <p:cNvPr id="11" name="TextBox 10">
              <a:extLst>
                <a:ext uri="{FF2B5EF4-FFF2-40B4-BE49-F238E27FC236}">
                  <a16:creationId xmlns:a16="http://schemas.microsoft.com/office/drawing/2014/main" id="{A1DCA384-00C5-FD07-D576-003139161DE6}"/>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2</a:t>
              </a:r>
            </a:p>
          </p:txBody>
        </p:sp>
      </p:grpSp>
      <p:grpSp>
        <p:nvGrpSpPr>
          <p:cNvPr id="12" name="Group 11">
            <a:extLst>
              <a:ext uri="{FF2B5EF4-FFF2-40B4-BE49-F238E27FC236}">
                <a16:creationId xmlns:a16="http://schemas.microsoft.com/office/drawing/2014/main" id="{D4E367CF-558E-EA65-EBC7-E744244EB572}"/>
              </a:ext>
            </a:extLst>
          </p:cNvPr>
          <p:cNvGrpSpPr/>
          <p:nvPr/>
        </p:nvGrpSpPr>
        <p:grpSpPr>
          <a:xfrm>
            <a:off x="1899556" y="5426926"/>
            <a:ext cx="3243940" cy="413657"/>
            <a:chOff x="1959430" y="2177143"/>
            <a:chExt cx="3243940" cy="413657"/>
          </a:xfrm>
        </p:grpSpPr>
        <p:sp>
          <p:nvSpPr>
            <p:cNvPr id="13" name="TextBox 12">
              <a:extLst>
                <a:ext uri="{FF2B5EF4-FFF2-40B4-BE49-F238E27FC236}">
                  <a16:creationId xmlns:a16="http://schemas.microsoft.com/office/drawing/2014/main" id="{AA887D77-DA8D-E172-4E7A-A763A9490D92}"/>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3</a:t>
              </a:r>
            </a:p>
          </p:txBody>
        </p:sp>
        <p:sp>
          <p:nvSpPr>
            <p:cNvPr id="14" name="TextBox 13">
              <a:extLst>
                <a:ext uri="{FF2B5EF4-FFF2-40B4-BE49-F238E27FC236}">
                  <a16:creationId xmlns:a16="http://schemas.microsoft.com/office/drawing/2014/main" id="{5C696D45-5E9E-FC82-5C1F-87577AA2892A}"/>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3</a:t>
              </a:r>
            </a:p>
          </p:txBody>
        </p:sp>
      </p:grpSp>
      <p:grpSp>
        <p:nvGrpSpPr>
          <p:cNvPr id="15" name="Group 14">
            <a:extLst>
              <a:ext uri="{FF2B5EF4-FFF2-40B4-BE49-F238E27FC236}">
                <a16:creationId xmlns:a16="http://schemas.microsoft.com/office/drawing/2014/main" id="{67D678DA-73EB-6290-3193-4E70C9EE4F99}"/>
              </a:ext>
            </a:extLst>
          </p:cNvPr>
          <p:cNvGrpSpPr/>
          <p:nvPr/>
        </p:nvGrpSpPr>
        <p:grpSpPr>
          <a:xfrm>
            <a:off x="1899556" y="5840583"/>
            <a:ext cx="3243940" cy="413657"/>
            <a:chOff x="1959430" y="2177143"/>
            <a:chExt cx="3243940" cy="413657"/>
          </a:xfrm>
        </p:grpSpPr>
        <p:sp>
          <p:nvSpPr>
            <p:cNvPr id="16" name="TextBox 15">
              <a:extLst>
                <a:ext uri="{FF2B5EF4-FFF2-40B4-BE49-F238E27FC236}">
                  <a16:creationId xmlns:a16="http://schemas.microsoft.com/office/drawing/2014/main" id="{7C4DCDF5-65A8-F573-1955-BE31D841657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4</a:t>
              </a:r>
            </a:p>
          </p:txBody>
        </p:sp>
        <p:sp>
          <p:nvSpPr>
            <p:cNvPr id="17" name="TextBox 16">
              <a:extLst>
                <a:ext uri="{FF2B5EF4-FFF2-40B4-BE49-F238E27FC236}">
                  <a16:creationId xmlns:a16="http://schemas.microsoft.com/office/drawing/2014/main" id="{34D6F2B3-48E4-77DC-7C9A-26FF0FF94F9D}"/>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4</a:t>
              </a:r>
            </a:p>
          </p:txBody>
        </p:sp>
      </p:grpSp>
      <p:sp>
        <p:nvSpPr>
          <p:cNvPr id="19" name="TextBox 18">
            <a:extLst>
              <a:ext uri="{FF2B5EF4-FFF2-40B4-BE49-F238E27FC236}">
                <a16:creationId xmlns:a16="http://schemas.microsoft.com/office/drawing/2014/main" id="{5DC54D9D-8772-F9A8-2EC7-5B0B4C4AF739}"/>
              </a:ext>
            </a:extLst>
          </p:cNvPr>
          <p:cNvSpPr txBox="1"/>
          <p:nvPr/>
        </p:nvSpPr>
        <p:spPr>
          <a:xfrm>
            <a:off x="522515" y="1301469"/>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A</a:t>
            </a:r>
          </a:p>
        </p:txBody>
      </p:sp>
      <p:sp>
        <p:nvSpPr>
          <p:cNvPr id="20" name="TextBox 19">
            <a:extLst>
              <a:ext uri="{FF2B5EF4-FFF2-40B4-BE49-F238E27FC236}">
                <a16:creationId xmlns:a16="http://schemas.microsoft.com/office/drawing/2014/main" id="{86ECD626-09B3-2D24-6746-8AF89F7EEE22}"/>
              </a:ext>
            </a:extLst>
          </p:cNvPr>
          <p:cNvSpPr txBox="1"/>
          <p:nvPr/>
        </p:nvSpPr>
        <p:spPr>
          <a:xfrm>
            <a:off x="2068284"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B</a:t>
            </a:r>
          </a:p>
        </p:txBody>
      </p:sp>
      <p:sp>
        <p:nvSpPr>
          <p:cNvPr id="21" name="TextBox 20">
            <a:extLst>
              <a:ext uri="{FF2B5EF4-FFF2-40B4-BE49-F238E27FC236}">
                <a16:creationId xmlns:a16="http://schemas.microsoft.com/office/drawing/2014/main" id="{220DFCA0-79E9-1920-D83A-890C99DBE3DE}"/>
              </a:ext>
            </a:extLst>
          </p:cNvPr>
          <p:cNvSpPr txBox="1"/>
          <p:nvPr/>
        </p:nvSpPr>
        <p:spPr>
          <a:xfrm>
            <a:off x="3614053"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C</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Loc4</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2" name="TextBox 21">
            <a:extLst>
              <a:ext uri="{FF2B5EF4-FFF2-40B4-BE49-F238E27FC236}">
                <a16:creationId xmlns:a16="http://schemas.microsoft.com/office/drawing/2014/main" id="{7EF262A1-8154-CA84-C05E-BCF259BCF7B2}"/>
              </a:ext>
            </a:extLst>
          </p:cNvPr>
          <p:cNvSpPr txBox="1"/>
          <p:nvPr/>
        </p:nvSpPr>
        <p:spPr>
          <a:xfrm>
            <a:off x="5159822"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D</a:t>
            </a:r>
          </a:p>
        </p:txBody>
      </p:sp>
      <p:sp>
        <p:nvSpPr>
          <p:cNvPr id="23" name="TextBox 22">
            <a:extLst>
              <a:ext uri="{FF2B5EF4-FFF2-40B4-BE49-F238E27FC236}">
                <a16:creationId xmlns:a16="http://schemas.microsoft.com/office/drawing/2014/main" id="{6B9212D0-0982-8D69-A27D-EDC0A39BF318}"/>
              </a:ext>
            </a:extLst>
          </p:cNvPr>
          <p:cNvSpPr txBox="1"/>
          <p:nvPr/>
        </p:nvSpPr>
        <p:spPr>
          <a:xfrm>
            <a:off x="8251360"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F</a:t>
            </a:r>
          </a:p>
        </p:txBody>
      </p:sp>
      <p:sp>
        <p:nvSpPr>
          <p:cNvPr id="24" name="TextBox 23">
            <a:extLst>
              <a:ext uri="{FF2B5EF4-FFF2-40B4-BE49-F238E27FC236}">
                <a16:creationId xmlns:a16="http://schemas.microsoft.com/office/drawing/2014/main" id="{9D9DAB8E-4DC2-CB98-03A2-0D5276E46941}"/>
              </a:ext>
            </a:extLst>
          </p:cNvPr>
          <p:cNvSpPr txBox="1"/>
          <p:nvPr/>
        </p:nvSpPr>
        <p:spPr>
          <a:xfrm>
            <a:off x="9797129" y="129114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G</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Loc2</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5" name="TextBox 24">
            <a:extLst>
              <a:ext uri="{FF2B5EF4-FFF2-40B4-BE49-F238E27FC236}">
                <a16:creationId xmlns:a16="http://schemas.microsoft.com/office/drawing/2014/main" id="{BAB2446F-E979-5C6C-7D10-083E4D19EE79}"/>
              </a:ext>
            </a:extLst>
          </p:cNvPr>
          <p:cNvSpPr txBox="1"/>
          <p:nvPr/>
        </p:nvSpPr>
        <p:spPr>
          <a:xfrm>
            <a:off x="6705591"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E</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Loc3</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6" name="TextBox 25">
            <a:extLst>
              <a:ext uri="{FF2B5EF4-FFF2-40B4-BE49-F238E27FC236}">
                <a16:creationId xmlns:a16="http://schemas.microsoft.com/office/drawing/2014/main" id="{D0FA2F50-DC52-7C1A-E947-AC7A00232017}"/>
              </a:ext>
            </a:extLst>
          </p:cNvPr>
          <p:cNvSpPr txBox="1"/>
          <p:nvPr/>
        </p:nvSpPr>
        <p:spPr>
          <a:xfrm>
            <a:off x="9797129" y="242850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H</a:t>
            </a:r>
          </a:p>
        </p:txBody>
      </p:sp>
      <p:sp>
        <p:nvSpPr>
          <p:cNvPr id="27" name="TextBox 26">
            <a:extLst>
              <a:ext uri="{FF2B5EF4-FFF2-40B4-BE49-F238E27FC236}">
                <a16:creationId xmlns:a16="http://schemas.microsoft.com/office/drawing/2014/main" id="{84162B9B-4BAA-3304-33B5-AA47648245C4}"/>
              </a:ext>
            </a:extLst>
          </p:cNvPr>
          <p:cNvSpPr txBox="1"/>
          <p:nvPr/>
        </p:nvSpPr>
        <p:spPr>
          <a:xfrm>
            <a:off x="9797129" y="356586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I</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Loc1</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8" name="TextBox 27">
            <a:extLst>
              <a:ext uri="{FF2B5EF4-FFF2-40B4-BE49-F238E27FC236}">
                <a16:creationId xmlns:a16="http://schemas.microsoft.com/office/drawing/2014/main" id="{83FC4A08-F069-4DE4-93D0-B3A79C0B3695}"/>
              </a:ext>
            </a:extLst>
          </p:cNvPr>
          <p:cNvSpPr txBox="1"/>
          <p:nvPr/>
        </p:nvSpPr>
        <p:spPr>
          <a:xfrm>
            <a:off x="9797129" y="470322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J</a:t>
            </a:r>
          </a:p>
        </p:txBody>
      </p:sp>
      <p:sp>
        <p:nvSpPr>
          <p:cNvPr id="29" name="TextBox 28">
            <a:extLst>
              <a:ext uri="{FF2B5EF4-FFF2-40B4-BE49-F238E27FC236}">
                <a16:creationId xmlns:a16="http://schemas.microsoft.com/office/drawing/2014/main" id="{E8499C2E-A984-CE09-E9FC-869E5F2DF5E7}"/>
              </a:ext>
            </a:extLst>
          </p:cNvPr>
          <p:cNvSpPr txBox="1"/>
          <p:nvPr/>
        </p:nvSpPr>
        <p:spPr>
          <a:xfrm>
            <a:off x="9797129" y="584058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K</a:t>
            </a:r>
          </a:p>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rPr>
              <a:t>Loc0</a:t>
            </a:r>
          </a:p>
        </p:txBody>
      </p:sp>
      <p:grpSp>
        <p:nvGrpSpPr>
          <p:cNvPr id="30" name="Group 29">
            <a:extLst>
              <a:ext uri="{FF2B5EF4-FFF2-40B4-BE49-F238E27FC236}">
                <a16:creationId xmlns:a16="http://schemas.microsoft.com/office/drawing/2014/main" id="{3688AF0D-03E0-2C28-3596-C1F8066A7300}"/>
              </a:ext>
            </a:extLst>
          </p:cNvPr>
          <p:cNvGrpSpPr/>
          <p:nvPr/>
        </p:nvGrpSpPr>
        <p:grpSpPr>
          <a:xfrm>
            <a:off x="1915882" y="3436914"/>
            <a:ext cx="3243940" cy="413657"/>
            <a:chOff x="1959430" y="2177143"/>
            <a:chExt cx="3243940" cy="413657"/>
          </a:xfrm>
        </p:grpSpPr>
        <p:sp>
          <p:nvSpPr>
            <p:cNvPr id="31" name="TextBox 30">
              <a:extLst>
                <a:ext uri="{FF2B5EF4-FFF2-40B4-BE49-F238E27FC236}">
                  <a16:creationId xmlns:a16="http://schemas.microsoft.com/office/drawing/2014/main" id="{78BA7CFA-94F2-09B5-2D11-3CD3A0F6AAB6}"/>
                </a:ext>
              </a:extLst>
            </p:cNvPr>
            <p:cNvSpPr txBox="1"/>
            <p:nvPr/>
          </p:nvSpPr>
          <p:spPr>
            <a:xfrm>
              <a:off x="1959430" y="2177143"/>
              <a:ext cx="1621970" cy="413657"/>
            </a:xfrm>
            <a:prstGeom prst="rect">
              <a:avLst/>
            </a:prstGeom>
            <a:solidFill>
              <a:schemeClr val="accent3">
                <a:lumMod val="40000"/>
                <a:lumOff val="60000"/>
              </a:schemeClr>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a:t>
              </a:r>
              <a:r>
                <a:rPr lang="en-US" sz="2400" dirty="0">
                  <a:latin typeface="Arial" panose="020B0604020202020204"/>
                </a:rPr>
                <a:t>4</a:t>
              </a:r>
              <a:endPar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endParaRPr>
            </a:p>
          </p:txBody>
        </p:sp>
        <p:sp>
          <p:nvSpPr>
            <p:cNvPr id="32" name="TextBox 31">
              <a:extLst>
                <a:ext uri="{FF2B5EF4-FFF2-40B4-BE49-F238E27FC236}">
                  <a16:creationId xmlns:a16="http://schemas.microsoft.com/office/drawing/2014/main" id="{B62BB785-CEEA-27B4-5F00-AE094D6144CE}"/>
                </a:ext>
              </a:extLst>
            </p:cNvPr>
            <p:cNvSpPr txBox="1"/>
            <p:nvPr/>
          </p:nvSpPr>
          <p:spPr>
            <a:xfrm>
              <a:off x="3581400" y="2177143"/>
              <a:ext cx="1621970" cy="413657"/>
            </a:xfrm>
            <a:prstGeom prst="rect">
              <a:avLst/>
            </a:prstGeom>
            <a:solidFill>
              <a:schemeClr val="accent4">
                <a:lumMod val="40000"/>
                <a:lumOff val="60000"/>
              </a:schemeClr>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4</a:t>
              </a:r>
            </a:p>
          </p:txBody>
        </p:sp>
      </p:grpSp>
      <p:sp>
        <p:nvSpPr>
          <p:cNvPr id="33" name="TextBox 32">
            <a:extLst>
              <a:ext uri="{FF2B5EF4-FFF2-40B4-BE49-F238E27FC236}">
                <a16:creationId xmlns:a16="http://schemas.microsoft.com/office/drawing/2014/main" id="{1634C2CB-6B6B-81AA-FE36-906444213B14}"/>
              </a:ext>
            </a:extLst>
          </p:cNvPr>
          <p:cNvSpPr txBox="1"/>
          <p:nvPr/>
        </p:nvSpPr>
        <p:spPr>
          <a:xfrm>
            <a:off x="5236030" y="3436914"/>
            <a:ext cx="2547256"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IPv6 DST Addr.</a:t>
            </a:r>
          </a:p>
        </p:txBody>
      </p:sp>
      <p:sp>
        <p:nvSpPr>
          <p:cNvPr id="34" name="TextBox 33">
            <a:extLst>
              <a:ext uri="{FF2B5EF4-FFF2-40B4-BE49-F238E27FC236}">
                <a16:creationId xmlns:a16="http://schemas.microsoft.com/office/drawing/2014/main" id="{3B257FCD-30EA-3E5C-61FD-96CAF1A93136}"/>
              </a:ext>
            </a:extLst>
          </p:cNvPr>
          <p:cNvSpPr txBox="1"/>
          <p:nvPr/>
        </p:nvSpPr>
        <p:spPr>
          <a:xfrm>
            <a:off x="5486393" y="4995057"/>
            <a:ext cx="914400"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SHR</a:t>
            </a:r>
          </a:p>
        </p:txBody>
      </p:sp>
      <p:cxnSp>
        <p:nvCxnSpPr>
          <p:cNvPr id="36" name="Straight Arrow Connector 35">
            <a:extLst>
              <a:ext uri="{FF2B5EF4-FFF2-40B4-BE49-F238E27FC236}">
                <a16:creationId xmlns:a16="http://schemas.microsoft.com/office/drawing/2014/main" id="{3508B799-ED0E-3852-567F-4ED8BC37722C}"/>
              </a:ext>
            </a:extLst>
          </p:cNvPr>
          <p:cNvCxnSpPr>
            <a:cxnSpLocks/>
          </p:cNvCxnSpPr>
          <p:nvPr/>
        </p:nvCxnSpPr>
        <p:spPr>
          <a:xfrm flipH="1" flipV="1">
            <a:off x="1915882" y="1768844"/>
            <a:ext cx="979713" cy="165224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8DAE735-1CD6-2310-BB62-83985D69EA59}"/>
              </a:ext>
            </a:extLst>
          </p:cNvPr>
          <p:cNvCxnSpPr>
            <a:stCxn id="19" idx="3"/>
            <a:endCxn id="20" idx="1"/>
          </p:cNvCxnSpPr>
          <p:nvPr/>
        </p:nvCxnSpPr>
        <p:spPr>
          <a:xfrm flipV="1">
            <a:off x="1763486" y="1683160"/>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5A98E94-CBFE-69D9-5AC5-81A0C0B90AC0}"/>
              </a:ext>
            </a:extLst>
          </p:cNvPr>
          <p:cNvCxnSpPr/>
          <p:nvPr/>
        </p:nvCxnSpPr>
        <p:spPr>
          <a:xfrm flipV="1">
            <a:off x="3309255" y="167042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65A6F1C-F30D-685A-66F6-E196573FECBE}"/>
              </a:ext>
            </a:extLst>
          </p:cNvPr>
          <p:cNvCxnSpPr/>
          <p:nvPr/>
        </p:nvCxnSpPr>
        <p:spPr>
          <a:xfrm flipV="1">
            <a:off x="4855024" y="1665608"/>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1DA76F5-2D6A-7918-AB15-B8C5D6C39988}"/>
              </a:ext>
            </a:extLst>
          </p:cNvPr>
          <p:cNvCxnSpPr/>
          <p:nvPr/>
        </p:nvCxnSpPr>
        <p:spPr>
          <a:xfrm flipV="1">
            <a:off x="6389906" y="1672274"/>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5DE1137-A253-5BAE-A8BB-AE7EDD4B1E3A}"/>
              </a:ext>
            </a:extLst>
          </p:cNvPr>
          <p:cNvCxnSpPr/>
          <p:nvPr/>
        </p:nvCxnSpPr>
        <p:spPr>
          <a:xfrm flipV="1">
            <a:off x="7924788" y="1683160"/>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C182581-03B6-CCEA-84F6-9BFB8D5F1855}"/>
              </a:ext>
            </a:extLst>
          </p:cNvPr>
          <p:cNvCxnSpPr/>
          <p:nvPr/>
        </p:nvCxnSpPr>
        <p:spPr>
          <a:xfrm flipV="1">
            <a:off x="9448783" y="169404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5E90EF5-2A32-4E52-D0D2-EDACDD1DA825}"/>
              </a:ext>
            </a:extLst>
          </p:cNvPr>
          <p:cNvCxnSpPr>
            <a:cxnSpLocks/>
            <a:stCxn id="26" idx="0"/>
            <a:endCxn id="24" idx="2"/>
          </p:cNvCxnSpPr>
          <p:nvPr/>
        </p:nvCxnSpPr>
        <p:spPr>
          <a:xfrm flipV="1">
            <a:off x="10417615" y="206415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EE98E7B-E641-9B00-C116-9AEA1F834853}"/>
              </a:ext>
            </a:extLst>
          </p:cNvPr>
          <p:cNvCxnSpPr>
            <a:cxnSpLocks/>
          </p:cNvCxnSpPr>
          <p:nvPr/>
        </p:nvCxnSpPr>
        <p:spPr>
          <a:xfrm flipV="1">
            <a:off x="10417614" y="320151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492A3E1-13BC-741D-79A4-285D00FD981D}"/>
              </a:ext>
            </a:extLst>
          </p:cNvPr>
          <p:cNvCxnSpPr>
            <a:cxnSpLocks/>
          </p:cNvCxnSpPr>
          <p:nvPr/>
        </p:nvCxnSpPr>
        <p:spPr>
          <a:xfrm flipV="1">
            <a:off x="10406715" y="433887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8B5994E-CEED-5C83-8335-EAF11F8A89CF}"/>
              </a:ext>
            </a:extLst>
          </p:cNvPr>
          <p:cNvCxnSpPr>
            <a:cxnSpLocks/>
          </p:cNvCxnSpPr>
          <p:nvPr/>
        </p:nvCxnSpPr>
        <p:spPr>
          <a:xfrm flipV="1">
            <a:off x="10406715" y="547623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Arrow: Right 50">
            <a:extLst>
              <a:ext uri="{FF2B5EF4-FFF2-40B4-BE49-F238E27FC236}">
                <a16:creationId xmlns:a16="http://schemas.microsoft.com/office/drawing/2014/main" id="{12318449-AD0D-1D05-E36B-4E96DF432073}"/>
              </a:ext>
            </a:extLst>
          </p:cNvPr>
          <p:cNvSpPr/>
          <p:nvPr/>
        </p:nvSpPr>
        <p:spPr>
          <a:xfrm>
            <a:off x="119755" y="5835537"/>
            <a:ext cx="1763486" cy="484632"/>
          </a:xfrm>
          <a:prstGeom prst="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Active segment</a:t>
            </a:r>
          </a:p>
        </p:txBody>
      </p:sp>
    </p:spTree>
    <p:extLst>
      <p:ext uri="{BB962C8B-B14F-4D97-AF65-F5344CB8AC3E}">
        <p14:creationId xmlns:p14="http://schemas.microsoft.com/office/powerpoint/2010/main" val="34557356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EC0ED6-027B-6992-F3F3-D17CCEA976B9}"/>
              </a:ext>
            </a:extLst>
          </p:cNvPr>
          <p:cNvSpPr>
            <a:spLocks noGrp="1"/>
          </p:cNvSpPr>
          <p:nvPr>
            <p:ph type="body" sz="quarter" idx="11"/>
          </p:nvPr>
        </p:nvSpPr>
        <p:spPr/>
        <p:txBody>
          <a:bodyPr/>
          <a:lstStyle/>
          <a:p>
            <a:r>
              <a:rPr lang="en-US" dirty="0"/>
              <a:t>Network Program #3</a:t>
            </a:r>
          </a:p>
        </p:txBody>
      </p:sp>
      <p:grpSp>
        <p:nvGrpSpPr>
          <p:cNvPr id="6" name="Group 5">
            <a:extLst>
              <a:ext uri="{FF2B5EF4-FFF2-40B4-BE49-F238E27FC236}">
                <a16:creationId xmlns:a16="http://schemas.microsoft.com/office/drawing/2014/main" id="{80CD64DE-41CD-C4AC-FD52-8B1F12C9057E}"/>
              </a:ext>
            </a:extLst>
          </p:cNvPr>
          <p:cNvGrpSpPr/>
          <p:nvPr/>
        </p:nvGrpSpPr>
        <p:grpSpPr>
          <a:xfrm>
            <a:off x="1899556" y="4185955"/>
            <a:ext cx="3243940" cy="413657"/>
            <a:chOff x="1959430" y="2177143"/>
            <a:chExt cx="3243940" cy="413657"/>
          </a:xfrm>
        </p:grpSpPr>
        <p:sp>
          <p:nvSpPr>
            <p:cNvPr id="4" name="TextBox 3">
              <a:extLst>
                <a:ext uri="{FF2B5EF4-FFF2-40B4-BE49-F238E27FC236}">
                  <a16:creationId xmlns:a16="http://schemas.microsoft.com/office/drawing/2014/main" id="{25AE1756-73E4-48C0-9B1C-5D98FE4AF2C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0</a:t>
              </a:r>
            </a:p>
          </p:txBody>
        </p:sp>
        <p:sp>
          <p:nvSpPr>
            <p:cNvPr id="5" name="TextBox 4">
              <a:extLst>
                <a:ext uri="{FF2B5EF4-FFF2-40B4-BE49-F238E27FC236}">
                  <a16:creationId xmlns:a16="http://schemas.microsoft.com/office/drawing/2014/main" id="{204FCDD0-144C-9FF3-A2F1-0254B1ADE461}"/>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0</a:t>
              </a:r>
            </a:p>
          </p:txBody>
        </p:sp>
      </p:grpSp>
      <p:grpSp>
        <p:nvGrpSpPr>
          <p:cNvPr id="2" name="Group 1">
            <a:extLst>
              <a:ext uri="{FF2B5EF4-FFF2-40B4-BE49-F238E27FC236}">
                <a16:creationId xmlns:a16="http://schemas.microsoft.com/office/drawing/2014/main" id="{94646B92-7599-5248-F0C7-DAD434BBB055}"/>
              </a:ext>
            </a:extLst>
          </p:cNvPr>
          <p:cNvGrpSpPr/>
          <p:nvPr/>
        </p:nvGrpSpPr>
        <p:grpSpPr>
          <a:xfrm>
            <a:off x="1899556" y="4599612"/>
            <a:ext cx="3243940" cy="413657"/>
            <a:chOff x="1959430" y="2177143"/>
            <a:chExt cx="3243940" cy="413657"/>
          </a:xfrm>
        </p:grpSpPr>
        <p:sp>
          <p:nvSpPr>
            <p:cNvPr id="7" name="TextBox 6">
              <a:extLst>
                <a:ext uri="{FF2B5EF4-FFF2-40B4-BE49-F238E27FC236}">
                  <a16:creationId xmlns:a16="http://schemas.microsoft.com/office/drawing/2014/main" id="{46FC5A35-87CA-0B78-2F35-B357679754A4}"/>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1</a:t>
              </a:r>
            </a:p>
          </p:txBody>
        </p:sp>
        <p:sp>
          <p:nvSpPr>
            <p:cNvPr id="8" name="TextBox 7">
              <a:extLst>
                <a:ext uri="{FF2B5EF4-FFF2-40B4-BE49-F238E27FC236}">
                  <a16:creationId xmlns:a16="http://schemas.microsoft.com/office/drawing/2014/main" id="{77A1110F-4020-1703-C171-FBD4708A7E02}"/>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1</a:t>
              </a:r>
            </a:p>
          </p:txBody>
        </p:sp>
      </p:grpSp>
      <p:grpSp>
        <p:nvGrpSpPr>
          <p:cNvPr id="9" name="Group 8">
            <a:extLst>
              <a:ext uri="{FF2B5EF4-FFF2-40B4-BE49-F238E27FC236}">
                <a16:creationId xmlns:a16="http://schemas.microsoft.com/office/drawing/2014/main" id="{2DF7574D-47E3-56BD-5C19-89F177CDAF04}"/>
              </a:ext>
            </a:extLst>
          </p:cNvPr>
          <p:cNvGrpSpPr/>
          <p:nvPr/>
        </p:nvGrpSpPr>
        <p:grpSpPr>
          <a:xfrm>
            <a:off x="1899556" y="5013269"/>
            <a:ext cx="3243940" cy="413657"/>
            <a:chOff x="1959430" y="2177143"/>
            <a:chExt cx="3243940" cy="413657"/>
          </a:xfrm>
        </p:grpSpPr>
        <p:sp>
          <p:nvSpPr>
            <p:cNvPr id="10" name="TextBox 9">
              <a:extLst>
                <a:ext uri="{FF2B5EF4-FFF2-40B4-BE49-F238E27FC236}">
                  <a16:creationId xmlns:a16="http://schemas.microsoft.com/office/drawing/2014/main" id="{5E555E47-BF49-44AA-F995-328066035C60}"/>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2</a:t>
              </a:r>
            </a:p>
          </p:txBody>
        </p:sp>
        <p:sp>
          <p:nvSpPr>
            <p:cNvPr id="11" name="TextBox 10">
              <a:extLst>
                <a:ext uri="{FF2B5EF4-FFF2-40B4-BE49-F238E27FC236}">
                  <a16:creationId xmlns:a16="http://schemas.microsoft.com/office/drawing/2014/main" id="{A1DCA384-00C5-FD07-D576-003139161DE6}"/>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2</a:t>
              </a:r>
            </a:p>
          </p:txBody>
        </p:sp>
      </p:grpSp>
      <p:grpSp>
        <p:nvGrpSpPr>
          <p:cNvPr id="12" name="Group 11">
            <a:extLst>
              <a:ext uri="{FF2B5EF4-FFF2-40B4-BE49-F238E27FC236}">
                <a16:creationId xmlns:a16="http://schemas.microsoft.com/office/drawing/2014/main" id="{D4E367CF-558E-EA65-EBC7-E744244EB572}"/>
              </a:ext>
            </a:extLst>
          </p:cNvPr>
          <p:cNvGrpSpPr/>
          <p:nvPr/>
        </p:nvGrpSpPr>
        <p:grpSpPr>
          <a:xfrm>
            <a:off x="1899556" y="5426926"/>
            <a:ext cx="3243940" cy="413657"/>
            <a:chOff x="1959430" y="2177143"/>
            <a:chExt cx="3243940" cy="413657"/>
          </a:xfrm>
        </p:grpSpPr>
        <p:sp>
          <p:nvSpPr>
            <p:cNvPr id="13" name="TextBox 12">
              <a:extLst>
                <a:ext uri="{FF2B5EF4-FFF2-40B4-BE49-F238E27FC236}">
                  <a16:creationId xmlns:a16="http://schemas.microsoft.com/office/drawing/2014/main" id="{AA887D77-DA8D-E172-4E7A-A763A9490D92}"/>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3</a:t>
              </a:r>
            </a:p>
          </p:txBody>
        </p:sp>
        <p:sp>
          <p:nvSpPr>
            <p:cNvPr id="14" name="TextBox 13">
              <a:extLst>
                <a:ext uri="{FF2B5EF4-FFF2-40B4-BE49-F238E27FC236}">
                  <a16:creationId xmlns:a16="http://schemas.microsoft.com/office/drawing/2014/main" id="{5C696D45-5E9E-FC82-5C1F-87577AA2892A}"/>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3</a:t>
              </a:r>
            </a:p>
          </p:txBody>
        </p:sp>
      </p:grpSp>
      <p:grpSp>
        <p:nvGrpSpPr>
          <p:cNvPr id="15" name="Group 14">
            <a:extLst>
              <a:ext uri="{FF2B5EF4-FFF2-40B4-BE49-F238E27FC236}">
                <a16:creationId xmlns:a16="http://schemas.microsoft.com/office/drawing/2014/main" id="{67D678DA-73EB-6290-3193-4E70C9EE4F99}"/>
              </a:ext>
            </a:extLst>
          </p:cNvPr>
          <p:cNvGrpSpPr/>
          <p:nvPr/>
        </p:nvGrpSpPr>
        <p:grpSpPr>
          <a:xfrm>
            <a:off x="1899556" y="5840583"/>
            <a:ext cx="3243940" cy="413657"/>
            <a:chOff x="1959430" y="2177143"/>
            <a:chExt cx="3243940" cy="413657"/>
          </a:xfrm>
        </p:grpSpPr>
        <p:sp>
          <p:nvSpPr>
            <p:cNvPr id="16" name="TextBox 15">
              <a:extLst>
                <a:ext uri="{FF2B5EF4-FFF2-40B4-BE49-F238E27FC236}">
                  <a16:creationId xmlns:a16="http://schemas.microsoft.com/office/drawing/2014/main" id="{7C4DCDF5-65A8-F573-1955-BE31D841657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4</a:t>
              </a:r>
            </a:p>
          </p:txBody>
        </p:sp>
        <p:sp>
          <p:nvSpPr>
            <p:cNvPr id="17" name="TextBox 16">
              <a:extLst>
                <a:ext uri="{FF2B5EF4-FFF2-40B4-BE49-F238E27FC236}">
                  <a16:creationId xmlns:a16="http://schemas.microsoft.com/office/drawing/2014/main" id="{34D6F2B3-48E4-77DC-7C9A-26FF0FF94F9D}"/>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4</a:t>
              </a:r>
            </a:p>
          </p:txBody>
        </p:sp>
      </p:grpSp>
      <p:sp>
        <p:nvSpPr>
          <p:cNvPr id="19" name="TextBox 18">
            <a:extLst>
              <a:ext uri="{FF2B5EF4-FFF2-40B4-BE49-F238E27FC236}">
                <a16:creationId xmlns:a16="http://schemas.microsoft.com/office/drawing/2014/main" id="{5DC54D9D-8772-F9A8-2EC7-5B0B4C4AF739}"/>
              </a:ext>
            </a:extLst>
          </p:cNvPr>
          <p:cNvSpPr txBox="1"/>
          <p:nvPr/>
        </p:nvSpPr>
        <p:spPr>
          <a:xfrm>
            <a:off x="522515" y="1301469"/>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A</a:t>
            </a:r>
          </a:p>
        </p:txBody>
      </p:sp>
      <p:sp>
        <p:nvSpPr>
          <p:cNvPr id="20" name="TextBox 19">
            <a:extLst>
              <a:ext uri="{FF2B5EF4-FFF2-40B4-BE49-F238E27FC236}">
                <a16:creationId xmlns:a16="http://schemas.microsoft.com/office/drawing/2014/main" id="{86ECD626-09B3-2D24-6746-8AF89F7EEE22}"/>
              </a:ext>
            </a:extLst>
          </p:cNvPr>
          <p:cNvSpPr txBox="1"/>
          <p:nvPr/>
        </p:nvSpPr>
        <p:spPr>
          <a:xfrm>
            <a:off x="2068284"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B</a:t>
            </a:r>
          </a:p>
        </p:txBody>
      </p:sp>
      <p:sp>
        <p:nvSpPr>
          <p:cNvPr id="21" name="TextBox 20">
            <a:extLst>
              <a:ext uri="{FF2B5EF4-FFF2-40B4-BE49-F238E27FC236}">
                <a16:creationId xmlns:a16="http://schemas.microsoft.com/office/drawing/2014/main" id="{220DFCA0-79E9-1920-D83A-890C99DBE3DE}"/>
              </a:ext>
            </a:extLst>
          </p:cNvPr>
          <p:cNvSpPr txBox="1"/>
          <p:nvPr/>
        </p:nvSpPr>
        <p:spPr>
          <a:xfrm>
            <a:off x="3614053"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C</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Loc4</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2" name="TextBox 21">
            <a:extLst>
              <a:ext uri="{FF2B5EF4-FFF2-40B4-BE49-F238E27FC236}">
                <a16:creationId xmlns:a16="http://schemas.microsoft.com/office/drawing/2014/main" id="{7EF262A1-8154-CA84-C05E-BCF259BCF7B2}"/>
              </a:ext>
            </a:extLst>
          </p:cNvPr>
          <p:cNvSpPr txBox="1"/>
          <p:nvPr/>
        </p:nvSpPr>
        <p:spPr>
          <a:xfrm>
            <a:off x="5159822"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D</a:t>
            </a:r>
          </a:p>
        </p:txBody>
      </p:sp>
      <p:sp>
        <p:nvSpPr>
          <p:cNvPr id="23" name="TextBox 22">
            <a:extLst>
              <a:ext uri="{FF2B5EF4-FFF2-40B4-BE49-F238E27FC236}">
                <a16:creationId xmlns:a16="http://schemas.microsoft.com/office/drawing/2014/main" id="{6B9212D0-0982-8D69-A27D-EDC0A39BF318}"/>
              </a:ext>
            </a:extLst>
          </p:cNvPr>
          <p:cNvSpPr txBox="1"/>
          <p:nvPr/>
        </p:nvSpPr>
        <p:spPr>
          <a:xfrm>
            <a:off x="8251360"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F</a:t>
            </a:r>
          </a:p>
        </p:txBody>
      </p:sp>
      <p:sp>
        <p:nvSpPr>
          <p:cNvPr id="24" name="TextBox 23">
            <a:extLst>
              <a:ext uri="{FF2B5EF4-FFF2-40B4-BE49-F238E27FC236}">
                <a16:creationId xmlns:a16="http://schemas.microsoft.com/office/drawing/2014/main" id="{9D9DAB8E-4DC2-CB98-03A2-0D5276E46941}"/>
              </a:ext>
            </a:extLst>
          </p:cNvPr>
          <p:cNvSpPr txBox="1"/>
          <p:nvPr/>
        </p:nvSpPr>
        <p:spPr>
          <a:xfrm>
            <a:off x="9797129" y="129114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G</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Loc2</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5" name="TextBox 24">
            <a:extLst>
              <a:ext uri="{FF2B5EF4-FFF2-40B4-BE49-F238E27FC236}">
                <a16:creationId xmlns:a16="http://schemas.microsoft.com/office/drawing/2014/main" id="{BAB2446F-E979-5C6C-7D10-083E4D19EE79}"/>
              </a:ext>
            </a:extLst>
          </p:cNvPr>
          <p:cNvSpPr txBox="1"/>
          <p:nvPr/>
        </p:nvSpPr>
        <p:spPr>
          <a:xfrm>
            <a:off x="6705591"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E</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Loc3</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6" name="TextBox 25">
            <a:extLst>
              <a:ext uri="{FF2B5EF4-FFF2-40B4-BE49-F238E27FC236}">
                <a16:creationId xmlns:a16="http://schemas.microsoft.com/office/drawing/2014/main" id="{D0FA2F50-DC52-7C1A-E947-AC7A00232017}"/>
              </a:ext>
            </a:extLst>
          </p:cNvPr>
          <p:cNvSpPr txBox="1"/>
          <p:nvPr/>
        </p:nvSpPr>
        <p:spPr>
          <a:xfrm>
            <a:off x="9797129" y="242850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H</a:t>
            </a:r>
          </a:p>
        </p:txBody>
      </p:sp>
      <p:sp>
        <p:nvSpPr>
          <p:cNvPr id="27" name="TextBox 26">
            <a:extLst>
              <a:ext uri="{FF2B5EF4-FFF2-40B4-BE49-F238E27FC236}">
                <a16:creationId xmlns:a16="http://schemas.microsoft.com/office/drawing/2014/main" id="{84162B9B-4BAA-3304-33B5-AA47648245C4}"/>
              </a:ext>
            </a:extLst>
          </p:cNvPr>
          <p:cNvSpPr txBox="1"/>
          <p:nvPr/>
        </p:nvSpPr>
        <p:spPr>
          <a:xfrm>
            <a:off x="9797129" y="356586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I</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Loc1</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8" name="TextBox 27">
            <a:extLst>
              <a:ext uri="{FF2B5EF4-FFF2-40B4-BE49-F238E27FC236}">
                <a16:creationId xmlns:a16="http://schemas.microsoft.com/office/drawing/2014/main" id="{83FC4A08-F069-4DE4-93D0-B3A79C0B3695}"/>
              </a:ext>
            </a:extLst>
          </p:cNvPr>
          <p:cNvSpPr txBox="1"/>
          <p:nvPr/>
        </p:nvSpPr>
        <p:spPr>
          <a:xfrm>
            <a:off x="9797129" y="470322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J</a:t>
            </a:r>
          </a:p>
        </p:txBody>
      </p:sp>
      <p:sp>
        <p:nvSpPr>
          <p:cNvPr id="29" name="TextBox 28">
            <a:extLst>
              <a:ext uri="{FF2B5EF4-FFF2-40B4-BE49-F238E27FC236}">
                <a16:creationId xmlns:a16="http://schemas.microsoft.com/office/drawing/2014/main" id="{E8499C2E-A984-CE09-E9FC-869E5F2DF5E7}"/>
              </a:ext>
            </a:extLst>
          </p:cNvPr>
          <p:cNvSpPr txBox="1"/>
          <p:nvPr/>
        </p:nvSpPr>
        <p:spPr>
          <a:xfrm>
            <a:off x="9797129" y="584058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K</a:t>
            </a:r>
          </a:p>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rPr>
              <a:t>Loc0</a:t>
            </a:r>
          </a:p>
        </p:txBody>
      </p:sp>
      <p:grpSp>
        <p:nvGrpSpPr>
          <p:cNvPr id="30" name="Group 29">
            <a:extLst>
              <a:ext uri="{FF2B5EF4-FFF2-40B4-BE49-F238E27FC236}">
                <a16:creationId xmlns:a16="http://schemas.microsoft.com/office/drawing/2014/main" id="{3688AF0D-03E0-2C28-3596-C1F8066A7300}"/>
              </a:ext>
            </a:extLst>
          </p:cNvPr>
          <p:cNvGrpSpPr/>
          <p:nvPr/>
        </p:nvGrpSpPr>
        <p:grpSpPr>
          <a:xfrm>
            <a:off x="1915882" y="3436914"/>
            <a:ext cx="3243940" cy="413657"/>
            <a:chOff x="1959430" y="2177143"/>
            <a:chExt cx="3243940" cy="413657"/>
          </a:xfrm>
        </p:grpSpPr>
        <p:sp>
          <p:nvSpPr>
            <p:cNvPr id="31" name="TextBox 30">
              <a:extLst>
                <a:ext uri="{FF2B5EF4-FFF2-40B4-BE49-F238E27FC236}">
                  <a16:creationId xmlns:a16="http://schemas.microsoft.com/office/drawing/2014/main" id="{78BA7CFA-94F2-09B5-2D11-3CD3A0F6AAB6}"/>
                </a:ext>
              </a:extLst>
            </p:cNvPr>
            <p:cNvSpPr txBox="1"/>
            <p:nvPr/>
          </p:nvSpPr>
          <p:spPr>
            <a:xfrm>
              <a:off x="1959430" y="2177143"/>
              <a:ext cx="1621970" cy="413657"/>
            </a:xfrm>
            <a:prstGeom prst="rect">
              <a:avLst/>
            </a:prstGeom>
            <a:solidFill>
              <a:schemeClr val="accent3">
                <a:lumMod val="40000"/>
                <a:lumOff val="60000"/>
              </a:schemeClr>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a:t>
              </a:r>
              <a:r>
                <a:rPr lang="en-US" sz="2400" dirty="0">
                  <a:latin typeface="Arial" panose="020B0604020202020204"/>
                </a:rPr>
                <a:t>4</a:t>
              </a:r>
              <a:endPar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endParaRPr>
            </a:p>
          </p:txBody>
        </p:sp>
        <p:sp>
          <p:nvSpPr>
            <p:cNvPr id="32" name="TextBox 31">
              <a:extLst>
                <a:ext uri="{FF2B5EF4-FFF2-40B4-BE49-F238E27FC236}">
                  <a16:creationId xmlns:a16="http://schemas.microsoft.com/office/drawing/2014/main" id="{B62BB785-CEEA-27B4-5F00-AE094D6144CE}"/>
                </a:ext>
              </a:extLst>
            </p:cNvPr>
            <p:cNvSpPr txBox="1"/>
            <p:nvPr/>
          </p:nvSpPr>
          <p:spPr>
            <a:xfrm>
              <a:off x="3581400" y="2177143"/>
              <a:ext cx="1621970" cy="413657"/>
            </a:xfrm>
            <a:prstGeom prst="rect">
              <a:avLst/>
            </a:prstGeom>
            <a:solidFill>
              <a:schemeClr val="accent4">
                <a:lumMod val="40000"/>
                <a:lumOff val="60000"/>
              </a:schemeClr>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4</a:t>
              </a:r>
            </a:p>
          </p:txBody>
        </p:sp>
      </p:grpSp>
      <p:sp>
        <p:nvSpPr>
          <p:cNvPr id="33" name="TextBox 32">
            <a:extLst>
              <a:ext uri="{FF2B5EF4-FFF2-40B4-BE49-F238E27FC236}">
                <a16:creationId xmlns:a16="http://schemas.microsoft.com/office/drawing/2014/main" id="{1634C2CB-6B6B-81AA-FE36-906444213B14}"/>
              </a:ext>
            </a:extLst>
          </p:cNvPr>
          <p:cNvSpPr txBox="1"/>
          <p:nvPr/>
        </p:nvSpPr>
        <p:spPr>
          <a:xfrm>
            <a:off x="5236030" y="3436914"/>
            <a:ext cx="2547256"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IPv6 DST Addr.</a:t>
            </a:r>
          </a:p>
        </p:txBody>
      </p:sp>
      <p:sp>
        <p:nvSpPr>
          <p:cNvPr id="34" name="TextBox 33">
            <a:extLst>
              <a:ext uri="{FF2B5EF4-FFF2-40B4-BE49-F238E27FC236}">
                <a16:creationId xmlns:a16="http://schemas.microsoft.com/office/drawing/2014/main" id="{3B257FCD-30EA-3E5C-61FD-96CAF1A93136}"/>
              </a:ext>
            </a:extLst>
          </p:cNvPr>
          <p:cNvSpPr txBox="1"/>
          <p:nvPr/>
        </p:nvSpPr>
        <p:spPr>
          <a:xfrm>
            <a:off x="5486393" y="4995057"/>
            <a:ext cx="914400"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SHR</a:t>
            </a:r>
          </a:p>
        </p:txBody>
      </p:sp>
      <p:cxnSp>
        <p:nvCxnSpPr>
          <p:cNvPr id="36" name="Straight Arrow Connector 35">
            <a:extLst>
              <a:ext uri="{FF2B5EF4-FFF2-40B4-BE49-F238E27FC236}">
                <a16:creationId xmlns:a16="http://schemas.microsoft.com/office/drawing/2014/main" id="{3508B799-ED0E-3852-567F-4ED8BC37722C}"/>
              </a:ext>
            </a:extLst>
          </p:cNvPr>
          <p:cNvCxnSpPr>
            <a:cxnSpLocks/>
          </p:cNvCxnSpPr>
          <p:nvPr/>
        </p:nvCxnSpPr>
        <p:spPr>
          <a:xfrm flipV="1">
            <a:off x="2895595" y="1694045"/>
            <a:ext cx="625931" cy="172704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8DAE735-1CD6-2310-BB62-83985D69EA59}"/>
              </a:ext>
            </a:extLst>
          </p:cNvPr>
          <p:cNvCxnSpPr>
            <a:stCxn id="19" idx="3"/>
            <a:endCxn id="20" idx="1"/>
          </p:cNvCxnSpPr>
          <p:nvPr/>
        </p:nvCxnSpPr>
        <p:spPr>
          <a:xfrm flipV="1">
            <a:off x="1763486" y="1683160"/>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5A98E94-CBFE-69D9-5AC5-81A0C0B90AC0}"/>
              </a:ext>
            </a:extLst>
          </p:cNvPr>
          <p:cNvCxnSpPr/>
          <p:nvPr/>
        </p:nvCxnSpPr>
        <p:spPr>
          <a:xfrm flipV="1">
            <a:off x="3309255" y="167042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65A6F1C-F30D-685A-66F6-E196573FECBE}"/>
              </a:ext>
            </a:extLst>
          </p:cNvPr>
          <p:cNvCxnSpPr/>
          <p:nvPr/>
        </p:nvCxnSpPr>
        <p:spPr>
          <a:xfrm flipV="1">
            <a:off x="4855024" y="1665608"/>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1DA76F5-2D6A-7918-AB15-B8C5D6C39988}"/>
              </a:ext>
            </a:extLst>
          </p:cNvPr>
          <p:cNvCxnSpPr/>
          <p:nvPr/>
        </p:nvCxnSpPr>
        <p:spPr>
          <a:xfrm flipV="1">
            <a:off x="6389906" y="1672274"/>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5DE1137-A253-5BAE-A8BB-AE7EDD4B1E3A}"/>
              </a:ext>
            </a:extLst>
          </p:cNvPr>
          <p:cNvCxnSpPr/>
          <p:nvPr/>
        </p:nvCxnSpPr>
        <p:spPr>
          <a:xfrm flipV="1">
            <a:off x="7924788" y="1683160"/>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C182581-03B6-CCEA-84F6-9BFB8D5F1855}"/>
              </a:ext>
            </a:extLst>
          </p:cNvPr>
          <p:cNvCxnSpPr/>
          <p:nvPr/>
        </p:nvCxnSpPr>
        <p:spPr>
          <a:xfrm flipV="1">
            <a:off x="9448783" y="169404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5E90EF5-2A32-4E52-D0D2-EDACDD1DA825}"/>
              </a:ext>
            </a:extLst>
          </p:cNvPr>
          <p:cNvCxnSpPr>
            <a:cxnSpLocks/>
            <a:stCxn id="26" idx="0"/>
            <a:endCxn id="24" idx="2"/>
          </p:cNvCxnSpPr>
          <p:nvPr/>
        </p:nvCxnSpPr>
        <p:spPr>
          <a:xfrm flipV="1">
            <a:off x="10417615" y="206415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EE98E7B-E641-9B00-C116-9AEA1F834853}"/>
              </a:ext>
            </a:extLst>
          </p:cNvPr>
          <p:cNvCxnSpPr>
            <a:cxnSpLocks/>
          </p:cNvCxnSpPr>
          <p:nvPr/>
        </p:nvCxnSpPr>
        <p:spPr>
          <a:xfrm flipV="1">
            <a:off x="10417614" y="320151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492A3E1-13BC-741D-79A4-285D00FD981D}"/>
              </a:ext>
            </a:extLst>
          </p:cNvPr>
          <p:cNvCxnSpPr>
            <a:cxnSpLocks/>
          </p:cNvCxnSpPr>
          <p:nvPr/>
        </p:nvCxnSpPr>
        <p:spPr>
          <a:xfrm flipV="1">
            <a:off x="10406715" y="433887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8B5994E-CEED-5C83-8335-EAF11F8A89CF}"/>
              </a:ext>
            </a:extLst>
          </p:cNvPr>
          <p:cNvCxnSpPr>
            <a:cxnSpLocks/>
          </p:cNvCxnSpPr>
          <p:nvPr/>
        </p:nvCxnSpPr>
        <p:spPr>
          <a:xfrm flipV="1">
            <a:off x="10406715" y="547623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Arrow: Right 50">
            <a:extLst>
              <a:ext uri="{FF2B5EF4-FFF2-40B4-BE49-F238E27FC236}">
                <a16:creationId xmlns:a16="http://schemas.microsoft.com/office/drawing/2014/main" id="{12318449-AD0D-1D05-E36B-4E96DF432073}"/>
              </a:ext>
            </a:extLst>
          </p:cNvPr>
          <p:cNvSpPr/>
          <p:nvPr/>
        </p:nvSpPr>
        <p:spPr>
          <a:xfrm>
            <a:off x="119755" y="5835537"/>
            <a:ext cx="1763486" cy="484632"/>
          </a:xfrm>
          <a:prstGeom prst="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Active segment</a:t>
            </a:r>
          </a:p>
        </p:txBody>
      </p:sp>
    </p:spTree>
    <p:extLst>
      <p:ext uri="{BB962C8B-B14F-4D97-AF65-F5344CB8AC3E}">
        <p14:creationId xmlns:p14="http://schemas.microsoft.com/office/powerpoint/2010/main" val="30150780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EC0ED6-027B-6992-F3F3-D17CCEA976B9}"/>
              </a:ext>
            </a:extLst>
          </p:cNvPr>
          <p:cNvSpPr>
            <a:spLocks noGrp="1"/>
          </p:cNvSpPr>
          <p:nvPr>
            <p:ph type="body" sz="quarter" idx="11"/>
          </p:nvPr>
        </p:nvSpPr>
        <p:spPr/>
        <p:txBody>
          <a:bodyPr/>
          <a:lstStyle/>
          <a:p>
            <a:r>
              <a:rPr lang="en-US" dirty="0"/>
              <a:t>Network Program #4</a:t>
            </a:r>
          </a:p>
        </p:txBody>
      </p:sp>
      <p:grpSp>
        <p:nvGrpSpPr>
          <p:cNvPr id="6" name="Group 5">
            <a:extLst>
              <a:ext uri="{FF2B5EF4-FFF2-40B4-BE49-F238E27FC236}">
                <a16:creationId xmlns:a16="http://schemas.microsoft.com/office/drawing/2014/main" id="{80CD64DE-41CD-C4AC-FD52-8B1F12C9057E}"/>
              </a:ext>
            </a:extLst>
          </p:cNvPr>
          <p:cNvGrpSpPr/>
          <p:nvPr/>
        </p:nvGrpSpPr>
        <p:grpSpPr>
          <a:xfrm>
            <a:off x="1899556" y="4185955"/>
            <a:ext cx="3243940" cy="413657"/>
            <a:chOff x="1959430" y="2177143"/>
            <a:chExt cx="3243940" cy="413657"/>
          </a:xfrm>
        </p:grpSpPr>
        <p:sp>
          <p:nvSpPr>
            <p:cNvPr id="4" name="TextBox 3">
              <a:extLst>
                <a:ext uri="{FF2B5EF4-FFF2-40B4-BE49-F238E27FC236}">
                  <a16:creationId xmlns:a16="http://schemas.microsoft.com/office/drawing/2014/main" id="{25AE1756-73E4-48C0-9B1C-5D98FE4AF2C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0</a:t>
              </a:r>
            </a:p>
          </p:txBody>
        </p:sp>
        <p:sp>
          <p:nvSpPr>
            <p:cNvPr id="5" name="TextBox 4">
              <a:extLst>
                <a:ext uri="{FF2B5EF4-FFF2-40B4-BE49-F238E27FC236}">
                  <a16:creationId xmlns:a16="http://schemas.microsoft.com/office/drawing/2014/main" id="{204FCDD0-144C-9FF3-A2F1-0254B1ADE461}"/>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0</a:t>
              </a:r>
            </a:p>
          </p:txBody>
        </p:sp>
      </p:grpSp>
      <p:grpSp>
        <p:nvGrpSpPr>
          <p:cNvPr id="2" name="Group 1">
            <a:extLst>
              <a:ext uri="{FF2B5EF4-FFF2-40B4-BE49-F238E27FC236}">
                <a16:creationId xmlns:a16="http://schemas.microsoft.com/office/drawing/2014/main" id="{94646B92-7599-5248-F0C7-DAD434BBB055}"/>
              </a:ext>
            </a:extLst>
          </p:cNvPr>
          <p:cNvGrpSpPr/>
          <p:nvPr/>
        </p:nvGrpSpPr>
        <p:grpSpPr>
          <a:xfrm>
            <a:off x="1899556" y="4599612"/>
            <a:ext cx="3243940" cy="413657"/>
            <a:chOff x="1959430" y="2177143"/>
            <a:chExt cx="3243940" cy="413657"/>
          </a:xfrm>
        </p:grpSpPr>
        <p:sp>
          <p:nvSpPr>
            <p:cNvPr id="7" name="TextBox 6">
              <a:extLst>
                <a:ext uri="{FF2B5EF4-FFF2-40B4-BE49-F238E27FC236}">
                  <a16:creationId xmlns:a16="http://schemas.microsoft.com/office/drawing/2014/main" id="{46FC5A35-87CA-0B78-2F35-B357679754A4}"/>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1</a:t>
              </a:r>
            </a:p>
          </p:txBody>
        </p:sp>
        <p:sp>
          <p:nvSpPr>
            <p:cNvPr id="8" name="TextBox 7">
              <a:extLst>
                <a:ext uri="{FF2B5EF4-FFF2-40B4-BE49-F238E27FC236}">
                  <a16:creationId xmlns:a16="http://schemas.microsoft.com/office/drawing/2014/main" id="{77A1110F-4020-1703-C171-FBD4708A7E02}"/>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1</a:t>
              </a:r>
            </a:p>
          </p:txBody>
        </p:sp>
      </p:grpSp>
      <p:grpSp>
        <p:nvGrpSpPr>
          <p:cNvPr id="9" name="Group 8">
            <a:extLst>
              <a:ext uri="{FF2B5EF4-FFF2-40B4-BE49-F238E27FC236}">
                <a16:creationId xmlns:a16="http://schemas.microsoft.com/office/drawing/2014/main" id="{2DF7574D-47E3-56BD-5C19-89F177CDAF04}"/>
              </a:ext>
            </a:extLst>
          </p:cNvPr>
          <p:cNvGrpSpPr/>
          <p:nvPr/>
        </p:nvGrpSpPr>
        <p:grpSpPr>
          <a:xfrm>
            <a:off x="1899556" y="5013269"/>
            <a:ext cx="3243940" cy="413657"/>
            <a:chOff x="1959430" y="2177143"/>
            <a:chExt cx="3243940" cy="413657"/>
          </a:xfrm>
        </p:grpSpPr>
        <p:sp>
          <p:nvSpPr>
            <p:cNvPr id="10" name="TextBox 9">
              <a:extLst>
                <a:ext uri="{FF2B5EF4-FFF2-40B4-BE49-F238E27FC236}">
                  <a16:creationId xmlns:a16="http://schemas.microsoft.com/office/drawing/2014/main" id="{5E555E47-BF49-44AA-F995-328066035C60}"/>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2</a:t>
              </a:r>
            </a:p>
          </p:txBody>
        </p:sp>
        <p:sp>
          <p:nvSpPr>
            <p:cNvPr id="11" name="TextBox 10">
              <a:extLst>
                <a:ext uri="{FF2B5EF4-FFF2-40B4-BE49-F238E27FC236}">
                  <a16:creationId xmlns:a16="http://schemas.microsoft.com/office/drawing/2014/main" id="{A1DCA384-00C5-FD07-D576-003139161DE6}"/>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2</a:t>
              </a:r>
            </a:p>
          </p:txBody>
        </p:sp>
      </p:grpSp>
      <p:grpSp>
        <p:nvGrpSpPr>
          <p:cNvPr id="12" name="Group 11">
            <a:extLst>
              <a:ext uri="{FF2B5EF4-FFF2-40B4-BE49-F238E27FC236}">
                <a16:creationId xmlns:a16="http://schemas.microsoft.com/office/drawing/2014/main" id="{D4E367CF-558E-EA65-EBC7-E744244EB572}"/>
              </a:ext>
            </a:extLst>
          </p:cNvPr>
          <p:cNvGrpSpPr/>
          <p:nvPr/>
        </p:nvGrpSpPr>
        <p:grpSpPr>
          <a:xfrm>
            <a:off x="1899556" y="5426926"/>
            <a:ext cx="3243940" cy="413657"/>
            <a:chOff x="1959430" y="2177143"/>
            <a:chExt cx="3243940" cy="413657"/>
          </a:xfrm>
        </p:grpSpPr>
        <p:sp>
          <p:nvSpPr>
            <p:cNvPr id="13" name="TextBox 12">
              <a:extLst>
                <a:ext uri="{FF2B5EF4-FFF2-40B4-BE49-F238E27FC236}">
                  <a16:creationId xmlns:a16="http://schemas.microsoft.com/office/drawing/2014/main" id="{AA887D77-DA8D-E172-4E7A-A763A9490D92}"/>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3</a:t>
              </a:r>
            </a:p>
          </p:txBody>
        </p:sp>
        <p:sp>
          <p:nvSpPr>
            <p:cNvPr id="14" name="TextBox 13">
              <a:extLst>
                <a:ext uri="{FF2B5EF4-FFF2-40B4-BE49-F238E27FC236}">
                  <a16:creationId xmlns:a16="http://schemas.microsoft.com/office/drawing/2014/main" id="{5C696D45-5E9E-FC82-5C1F-87577AA2892A}"/>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3</a:t>
              </a:r>
            </a:p>
          </p:txBody>
        </p:sp>
      </p:grpSp>
      <p:grpSp>
        <p:nvGrpSpPr>
          <p:cNvPr id="15" name="Group 14">
            <a:extLst>
              <a:ext uri="{FF2B5EF4-FFF2-40B4-BE49-F238E27FC236}">
                <a16:creationId xmlns:a16="http://schemas.microsoft.com/office/drawing/2014/main" id="{67D678DA-73EB-6290-3193-4E70C9EE4F99}"/>
              </a:ext>
            </a:extLst>
          </p:cNvPr>
          <p:cNvGrpSpPr/>
          <p:nvPr/>
        </p:nvGrpSpPr>
        <p:grpSpPr>
          <a:xfrm>
            <a:off x="1899556" y="5840583"/>
            <a:ext cx="3243940" cy="413657"/>
            <a:chOff x="1959430" y="2177143"/>
            <a:chExt cx="3243940" cy="413657"/>
          </a:xfrm>
        </p:grpSpPr>
        <p:sp>
          <p:nvSpPr>
            <p:cNvPr id="16" name="TextBox 15">
              <a:extLst>
                <a:ext uri="{FF2B5EF4-FFF2-40B4-BE49-F238E27FC236}">
                  <a16:creationId xmlns:a16="http://schemas.microsoft.com/office/drawing/2014/main" id="{7C4DCDF5-65A8-F573-1955-BE31D841657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4</a:t>
              </a:r>
            </a:p>
          </p:txBody>
        </p:sp>
        <p:sp>
          <p:nvSpPr>
            <p:cNvPr id="17" name="TextBox 16">
              <a:extLst>
                <a:ext uri="{FF2B5EF4-FFF2-40B4-BE49-F238E27FC236}">
                  <a16:creationId xmlns:a16="http://schemas.microsoft.com/office/drawing/2014/main" id="{34D6F2B3-48E4-77DC-7C9A-26FF0FF94F9D}"/>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4</a:t>
              </a:r>
            </a:p>
          </p:txBody>
        </p:sp>
      </p:grpSp>
      <p:sp>
        <p:nvSpPr>
          <p:cNvPr id="19" name="TextBox 18">
            <a:extLst>
              <a:ext uri="{FF2B5EF4-FFF2-40B4-BE49-F238E27FC236}">
                <a16:creationId xmlns:a16="http://schemas.microsoft.com/office/drawing/2014/main" id="{5DC54D9D-8772-F9A8-2EC7-5B0B4C4AF739}"/>
              </a:ext>
            </a:extLst>
          </p:cNvPr>
          <p:cNvSpPr txBox="1"/>
          <p:nvPr/>
        </p:nvSpPr>
        <p:spPr>
          <a:xfrm>
            <a:off x="522515" y="1301469"/>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A</a:t>
            </a:r>
          </a:p>
        </p:txBody>
      </p:sp>
      <p:sp>
        <p:nvSpPr>
          <p:cNvPr id="20" name="TextBox 19">
            <a:extLst>
              <a:ext uri="{FF2B5EF4-FFF2-40B4-BE49-F238E27FC236}">
                <a16:creationId xmlns:a16="http://schemas.microsoft.com/office/drawing/2014/main" id="{86ECD626-09B3-2D24-6746-8AF89F7EEE22}"/>
              </a:ext>
            </a:extLst>
          </p:cNvPr>
          <p:cNvSpPr txBox="1"/>
          <p:nvPr/>
        </p:nvSpPr>
        <p:spPr>
          <a:xfrm>
            <a:off x="2068284"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B</a:t>
            </a:r>
          </a:p>
        </p:txBody>
      </p:sp>
      <p:sp>
        <p:nvSpPr>
          <p:cNvPr id="21" name="TextBox 20">
            <a:extLst>
              <a:ext uri="{FF2B5EF4-FFF2-40B4-BE49-F238E27FC236}">
                <a16:creationId xmlns:a16="http://schemas.microsoft.com/office/drawing/2014/main" id="{220DFCA0-79E9-1920-D83A-890C99DBE3DE}"/>
              </a:ext>
            </a:extLst>
          </p:cNvPr>
          <p:cNvSpPr txBox="1"/>
          <p:nvPr/>
        </p:nvSpPr>
        <p:spPr>
          <a:xfrm>
            <a:off x="3614053"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C</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Loc4</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2" name="TextBox 21">
            <a:extLst>
              <a:ext uri="{FF2B5EF4-FFF2-40B4-BE49-F238E27FC236}">
                <a16:creationId xmlns:a16="http://schemas.microsoft.com/office/drawing/2014/main" id="{7EF262A1-8154-CA84-C05E-BCF259BCF7B2}"/>
              </a:ext>
            </a:extLst>
          </p:cNvPr>
          <p:cNvSpPr txBox="1"/>
          <p:nvPr/>
        </p:nvSpPr>
        <p:spPr>
          <a:xfrm>
            <a:off x="5159822"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D</a:t>
            </a:r>
          </a:p>
        </p:txBody>
      </p:sp>
      <p:sp>
        <p:nvSpPr>
          <p:cNvPr id="23" name="TextBox 22">
            <a:extLst>
              <a:ext uri="{FF2B5EF4-FFF2-40B4-BE49-F238E27FC236}">
                <a16:creationId xmlns:a16="http://schemas.microsoft.com/office/drawing/2014/main" id="{6B9212D0-0982-8D69-A27D-EDC0A39BF318}"/>
              </a:ext>
            </a:extLst>
          </p:cNvPr>
          <p:cNvSpPr txBox="1"/>
          <p:nvPr/>
        </p:nvSpPr>
        <p:spPr>
          <a:xfrm>
            <a:off x="8251360"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F</a:t>
            </a:r>
          </a:p>
        </p:txBody>
      </p:sp>
      <p:sp>
        <p:nvSpPr>
          <p:cNvPr id="24" name="TextBox 23">
            <a:extLst>
              <a:ext uri="{FF2B5EF4-FFF2-40B4-BE49-F238E27FC236}">
                <a16:creationId xmlns:a16="http://schemas.microsoft.com/office/drawing/2014/main" id="{9D9DAB8E-4DC2-CB98-03A2-0D5276E46941}"/>
              </a:ext>
            </a:extLst>
          </p:cNvPr>
          <p:cNvSpPr txBox="1"/>
          <p:nvPr/>
        </p:nvSpPr>
        <p:spPr>
          <a:xfrm>
            <a:off x="9797129" y="129114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G</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Loc2</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5" name="TextBox 24">
            <a:extLst>
              <a:ext uri="{FF2B5EF4-FFF2-40B4-BE49-F238E27FC236}">
                <a16:creationId xmlns:a16="http://schemas.microsoft.com/office/drawing/2014/main" id="{BAB2446F-E979-5C6C-7D10-083E4D19EE79}"/>
              </a:ext>
            </a:extLst>
          </p:cNvPr>
          <p:cNvSpPr txBox="1"/>
          <p:nvPr/>
        </p:nvSpPr>
        <p:spPr>
          <a:xfrm>
            <a:off x="6705591"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E</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Loc3</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6" name="TextBox 25">
            <a:extLst>
              <a:ext uri="{FF2B5EF4-FFF2-40B4-BE49-F238E27FC236}">
                <a16:creationId xmlns:a16="http://schemas.microsoft.com/office/drawing/2014/main" id="{D0FA2F50-DC52-7C1A-E947-AC7A00232017}"/>
              </a:ext>
            </a:extLst>
          </p:cNvPr>
          <p:cNvSpPr txBox="1"/>
          <p:nvPr/>
        </p:nvSpPr>
        <p:spPr>
          <a:xfrm>
            <a:off x="9797129" y="242850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H</a:t>
            </a:r>
          </a:p>
        </p:txBody>
      </p:sp>
      <p:sp>
        <p:nvSpPr>
          <p:cNvPr id="27" name="TextBox 26">
            <a:extLst>
              <a:ext uri="{FF2B5EF4-FFF2-40B4-BE49-F238E27FC236}">
                <a16:creationId xmlns:a16="http://schemas.microsoft.com/office/drawing/2014/main" id="{84162B9B-4BAA-3304-33B5-AA47648245C4}"/>
              </a:ext>
            </a:extLst>
          </p:cNvPr>
          <p:cNvSpPr txBox="1"/>
          <p:nvPr/>
        </p:nvSpPr>
        <p:spPr>
          <a:xfrm>
            <a:off x="9797129" y="356586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I</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Loc1</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8" name="TextBox 27">
            <a:extLst>
              <a:ext uri="{FF2B5EF4-FFF2-40B4-BE49-F238E27FC236}">
                <a16:creationId xmlns:a16="http://schemas.microsoft.com/office/drawing/2014/main" id="{83FC4A08-F069-4DE4-93D0-B3A79C0B3695}"/>
              </a:ext>
            </a:extLst>
          </p:cNvPr>
          <p:cNvSpPr txBox="1"/>
          <p:nvPr/>
        </p:nvSpPr>
        <p:spPr>
          <a:xfrm>
            <a:off x="9797129" y="470322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J</a:t>
            </a:r>
          </a:p>
        </p:txBody>
      </p:sp>
      <p:sp>
        <p:nvSpPr>
          <p:cNvPr id="29" name="TextBox 28">
            <a:extLst>
              <a:ext uri="{FF2B5EF4-FFF2-40B4-BE49-F238E27FC236}">
                <a16:creationId xmlns:a16="http://schemas.microsoft.com/office/drawing/2014/main" id="{E8499C2E-A984-CE09-E9FC-869E5F2DF5E7}"/>
              </a:ext>
            </a:extLst>
          </p:cNvPr>
          <p:cNvSpPr txBox="1"/>
          <p:nvPr/>
        </p:nvSpPr>
        <p:spPr>
          <a:xfrm>
            <a:off x="9797129" y="584058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K</a:t>
            </a:r>
          </a:p>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rPr>
              <a:t>Loc0</a:t>
            </a:r>
          </a:p>
        </p:txBody>
      </p:sp>
      <p:grpSp>
        <p:nvGrpSpPr>
          <p:cNvPr id="30" name="Group 29">
            <a:extLst>
              <a:ext uri="{FF2B5EF4-FFF2-40B4-BE49-F238E27FC236}">
                <a16:creationId xmlns:a16="http://schemas.microsoft.com/office/drawing/2014/main" id="{3688AF0D-03E0-2C28-3596-C1F8066A7300}"/>
              </a:ext>
            </a:extLst>
          </p:cNvPr>
          <p:cNvGrpSpPr/>
          <p:nvPr/>
        </p:nvGrpSpPr>
        <p:grpSpPr>
          <a:xfrm>
            <a:off x="1915882" y="3436914"/>
            <a:ext cx="3243940" cy="413657"/>
            <a:chOff x="1959430" y="2177143"/>
            <a:chExt cx="3243940" cy="413657"/>
          </a:xfrm>
        </p:grpSpPr>
        <p:sp>
          <p:nvSpPr>
            <p:cNvPr id="31" name="TextBox 30">
              <a:extLst>
                <a:ext uri="{FF2B5EF4-FFF2-40B4-BE49-F238E27FC236}">
                  <a16:creationId xmlns:a16="http://schemas.microsoft.com/office/drawing/2014/main" id="{78BA7CFA-94F2-09B5-2D11-3CD3A0F6AAB6}"/>
                </a:ext>
              </a:extLst>
            </p:cNvPr>
            <p:cNvSpPr txBox="1"/>
            <p:nvPr/>
          </p:nvSpPr>
          <p:spPr>
            <a:xfrm>
              <a:off x="1959430" y="2177143"/>
              <a:ext cx="1621970" cy="413657"/>
            </a:xfrm>
            <a:prstGeom prst="rect">
              <a:avLst/>
            </a:prstGeom>
            <a:solidFill>
              <a:schemeClr val="accent3">
                <a:lumMod val="40000"/>
                <a:lumOff val="60000"/>
              </a:schemeClr>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3</a:t>
              </a:r>
            </a:p>
          </p:txBody>
        </p:sp>
        <p:sp>
          <p:nvSpPr>
            <p:cNvPr id="32" name="TextBox 31">
              <a:extLst>
                <a:ext uri="{FF2B5EF4-FFF2-40B4-BE49-F238E27FC236}">
                  <a16:creationId xmlns:a16="http://schemas.microsoft.com/office/drawing/2014/main" id="{B62BB785-CEEA-27B4-5F00-AE094D6144CE}"/>
                </a:ext>
              </a:extLst>
            </p:cNvPr>
            <p:cNvSpPr txBox="1"/>
            <p:nvPr/>
          </p:nvSpPr>
          <p:spPr>
            <a:xfrm>
              <a:off x="3581400" y="2177143"/>
              <a:ext cx="1621970" cy="413657"/>
            </a:xfrm>
            <a:prstGeom prst="rect">
              <a:avLst/>
            </a:prstGeom>
            <a:solidFill>
              <a:schemeClr val="accent4">
                <a:lumMod val="40000"/>
                <a:lumOff val="60000"/>
              </a:schemeClr>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3</a:t>
              </a:r>
            </a:p>
          </p:txBody>
        </p:sp>
      </p:grpSp>
      <p:sp>
        <p:nvSpPr>
          <p:cNvPr id="33" name="TextBox 32">
            <a:extLst>
              <a:ext uri="{FF2B5EF4-FFF2-40B4-BE49-F238E27FC236}">
                <a16:creationId xmlns:a16="http://schemas.microsoft.com/office/drawing/2014/main" id="{1634C2CB-6B6B-81AA-FE36-906444213B14}"/>
              </a:ext>
            </a:extLst>
          </p:cNvPr>
          <p:cNvSpPr txBox="1"/>
          <p:nvPr/>
        </p:nvSpPr>
        <p:spPr>
          <a:xfrm>
            <a:off x="5236030" y="3436914"/>
            <a:ext cx="2547256"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IPv6 DST Addr.</a:t>
            </a:r>
          </a:p>
        </p:txBody>
      </p:sp>
      <p:sp>
        <p:nvSpPr>
          <p:cNvPr id="34" name="TextBox 33">
            <a:extLst>
              <a:ext uri="{FF2B5EF4-FFF2-40B4-BE49-F238E27FC236}">
                <a16:creationId xmlns:a16="http://schemas.microsoft.com/office/drawing/2014/main" id="{3B257FCD-30EA-3E5C-61FD-96CAF1A93136}"/>
              </a:ext>
            </a:extLst>
          </p:cNvPr>
          <p:cNvSpPr txBox="1"/>
          <p:nvPr/>
        </p:nvSpPr>
        <p:spPr>
          <a:xfrm>
            <a:off x="5486393" y="4995057"/>
            <a:ext cx="914400"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SHR</a:t>
            </a:r>
          </a:p>
        </p:txBody>
      </p:sp>
      <p:cxnSp>
        <p:nvCxnSpPr>
          <p:cNvPr id="36" name="Straight Arrow Connector 35">
            <a:extLst>
              <a:ext uri="{FF2B5EF4-FFF2-40B4-BE49-F238E27FC236}">
                <a16:creationId xmlns:a16="http://schemas.microsoft.com/office/drawing/2014/main" id="{3508B799-ED0E-3852-567F-4ED8BC37722C}"/>
              </a:ext>
            </a:extLst>
          </p:cNvPr>
          <p:cNvCxnSpPr>
            <a:cxnSpLocks/>
            <a:endCxn id="21" idx="3"/>
          </p:cNvCxnSpPr>
          <p:nvPr/>
        </p:nvCxnSpPr>
        <p:spPr>
          <a:xfrm flipV="1">
            <a:off x="2841171" y="1683160"/>
            <a:ext cx="2013853" cy="165875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8DAE735-1CD6-2310-BB62-83985D69EA59}"/>
              </a:ext>
            </a:extLst>
          </p:cNvPr>
          <p:cNvCxnSpPr>
            <a:stCxn id="19" idx="3"/>
            <a:endCxn id="20" idx="1"/>
          </p:cNvCxnSpPr>
          <p:nvPr/>
        </p:nvCxnSpPr>
        <p:spPr>
          <a:xfrm flipV="1">
            <a:off x="1763486" y="1683160"/>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5A98E94-CBFE-69D9-5AC5-81A0C0B90AC0}"/>
              </a:ext>
            </a:extLst>
          </p:cNvPr>
          <p:cNvCxnSpPr/>
          <p:nvPr/>
        </p:nvCxnSpPr>
        <p:spPr>
          <a:xfrm flipV="1">
            <a:off x="3309255" y="167042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65A6F1C-F30D-685A-66F6-E196573FECBE}"/>
              </a:ext>
            </a:extLst>
          </p:cNvPr>
          <p:cNvCxnSpPr/>
          <p:nvPr/>
        </p:nvCxnSpPr>
        <p:spPr>
          <a:xfrm flipV="1">
            <a:off x="4855024" y="1665608"/>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1DA76F5-2D6A-7918-AB15-B8C5D6C39988}"/>
              </a:ext>
            </a:extLst>
          </p:cNvPr>
          <p:cNvCxnSpPr/>
          <p:nvPr/>
        </p:nvCxnSpPr>
        <p:spPr>
          <a:xfrm flipV="1">
            <a:off x="6389906" y="1672274"/>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5DE1137-A253-5BAE-A8BB-AE7EDD4B1E3A}"/>
              </a:ext>
            </a:extLst>
          </p:cNvPr>
          <p:cNvCxnSpPr/>
          <p:nvPr/>
        </p:nvCxnSpPr>
        <p:spPr>
          <a:xfrm flipV="1">
            <a:off x="7924788" y="1683160"/>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C182581-03B6-CCEA-84F6-9BFB8D5F1855}"/>
              </a:ext>
            </a:extLst>
          </p:cNvPr>
          <p:cNvCxnSpPr/>
          <p:nvPr/>
        </p:nvCxnSpPr>
        <p:spPr>
          <a:xfrm flipV="1">
            <a:off x="9448783" y="169404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5E90EF5-2A32-4E52-D0D2-EDACDD1DA825}"/>
              </a:ext>
            </a:extLst>
          </p:cNvPr>
          <p:cNvCxnSpPr>
            <a:cxnSpLocks/>
            <a:stCxn id="26" idx="0"/>
            <a:endCxn id="24" idx="2"/>
          </p:cNvCxnSpPr>
          <p:nvPr/>
        </p:nvCxnSpPr>
        <p:spPr>
          <a:xfrm flipV="1">
            <a:off x="10417615" y="206415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EE98E7B-E641-9B00-C116-9AEA1F834853}"/>
              </a:ext>
            </a:extLst>
          </p:cNvPr>
          <p:cNvCxnSpPr>
            <a:cxnSpLocks/>
          </p:cNvCxnSpPr>
          <p:nvPr/>
        </p:nvCxnSpPr>
        <p:spPr>
          <a:xfrm flipV="1">
            <a:off x="10417614" y="320151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492A3E1-13BC-741D-79A4-285D00FD981D}"/>
              </a:ext>
            </a:extLst>
          </p:cNvPr>
          <p:cNvCxnSpPr>
            <a:cxnSpLocks/>
          </p:cNvCxnSpPr>
          <p:nvPr/>
        </p:nvCxnSpPr>
        <p:spPr>
          <a:xfrm flipV="1">
            <a:off x="10406715" y="433887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8B5994E-CEED-5C83-8335-EAF11F8A89CF}"/>
              </a:ext>
            </a:extLst>
          </p:cNvPr>
          <p:cNvCxnSpPr>
            <a:cxnSpLocks/>
          </p:cNvCxnSpPr>
          <p:nvPr/>
        </p:nvCxnSpPr>
        <p:spPr>
          <a:xfrm flipV="1">
            <a:off x="10406715" y="547623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Arrow: Right 50">
            <a:extLst>
              <a:ext uri="{FF2B5EF4-FFF2-40B4-BE49-F238E27FC236}">
                <a16:creationId xmlns:a16="http://schemas.microsoft.com/office/drawing/2014/main" id="{12318449-AD0D-1D05-E36B-4E96DF432073}"/>
              </a:ext>
            </a:extLst>
          </p:cNvPr>
          <p:cNvSpPr/>
          <p:nvPr/>
        </p:nvSpPr>
        <p:spPr>
          <a:xfrm>
            <a:off x="119755" y="5410991"/>
            <a:ext cx="1763486" cy="484632"/>
          </a:xfrm>
          <a:prstGeom prst="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Active segment</a:t>
            </a:r>
          </a:p>
        </p:txBody>
      </p:sp>
      <p:sp>
        <p:nvSpPr>
          <p:cNvPr id="52" name="Arrow: Circular 51">
            <a:extLst>
              <a:ext uri="{FF2B5EF4-FFF2-40B4-BE49-F238E27FC236}">
                <a16:creationId xmlns:a16="http://schemas.microsoft.com/office/drawing/2014/main" id="{4DAB1F5C-7676-1827-8218-48DF8D5D948E}"/>
              </a:ext>
            </a:extLst>
          </p:cNvPr>
          <p:cNvSpPr/>
          <p:nvPr/>
        </p:nvSpPr>
        <p:spPr>
          <a:xfrm rot="16200000">
            <a:off x="793515" y="3215431"/>
            <a:ext cx="2233945" cy="2702383"/>
          </a:xfrm>
          <a:prstGeom prst="circularArrow">
            <a:avLst>
              <a:gd name="adj1" fmla="val 3259"/>
              <a:gd name="adj2" fmla="val 1142319"/>
              <a:gd name="adj3" fmla="val 20529188"/>
              <a:gd name="adj4" fmla="val 10905829"/>
              <a:gd name="adj5" fmla="val 5405"/>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9257234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EC0ED6-027B-6992-F3F3-D17CCEA976B9}"/>
              </a:ext>
            </a:extLst>
          </p:cNvPr>
          <p:cNvSpPr>
            <a:spLocks noGrp="1"/>
          </p:cNvSpPr>
          <p:nvPr>
            <p:ph type="body" sz="quarter" idx="11"/>
          </p:nvPr>
        </p:nvSpPr>
        <p:spPr/>
        <p:txBody>
          <a:bodyPr/>
          <a:lstStyle/>
          <a:p>
            <a:r>
              <a:rPr lang="en-US" dirty="0"/>
              <a:t>Network Program #5</a:t>
            </a:r>
          </a:p>
        </p:txBody>
      </p:sp>
      <p:grpSp>
        <p:nvGrpSpPr>
          <p:cNvPr id="6" name="Group 5">
            <a:extLst>
              <a:ext uri="{FF2B5EF4-FFF2-40B4-BE49-F238E27FC236}">
                <a16:creationId xmlns:a16="http://schemas.microsoft.com/office/drawing/2014/main" id="{80CD64DE-41CD-C4AC-FD52-8B1F12C9057E}"/>
              </a:ext>
            </a:extLst>
          </p:cNvPr>
          <p:cNvGrpSpPr/>
          <p:nvPr/>
        </p:nvGrpSpPr>
        <p:grpSpPr>
          <a:xfrm>
            <a:off x="1899556" y="4185955"/>
            <a:ext cx="3243940" cy="413657"/>
            <a:chOff x="1959430" y="2177143"/>
            <a:chExt cx="3243940" cy="413657"/>
          </a:xfrm>
        </p:grpSpPr>
        <p:sp>
          <p:nvSpPr>
            <p:cNvPr id="4" name="TextBox 3">
              <a:extLst>
                <a:ext uri="{FF2B5EF4-FFF2-40B4-BE49-F238E27FC236}">
                  <a16:creationId xmlns:a16="http://schemas.microsoft.com/office/drawing/2014/main" id="{25AE1756-73E4-48C0-9B1C-5D98FE4AF2C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0</a:t>
              </a:r>
            </a:p>
          </p:txBody>
        </p:sp>
        <p:sp>
          <p:nvSpPr>
            <p:cNvPr id="5" name="TextBox 4">
              <a:extLst>
                <a:ext uri="{FF2B5EF4-FFF2-40B4-BE49-F238E27FC236}">
                  <a16:creationId xmlns:a16="http://schemas.microsoft.com/office/drawing/2014/main" id="{204FCDD0-144C-9FF3-A2F1-0254B1ADE461}"/>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0</a:t>
              </a:r>
            </a:p>
          </p:txBody>
        </p:sp>
      </p:grpSp>
      <p:grpSp>
        <p:nvGrpSpPr>
          <p:cNvPr id="2" name="Group 1">
            <a:extLst>
              <a:ext uri="{FF2B5EF4-FFF2-40B4-BE49-F238E27FC236}">
                <a16:creationId xmlns:a16="http://schemas.microsoft.com/office/drawing/2014/main" id="{94646B92-7599-5248-F0C7-DAD434BBB055}"/>
              </a:ext>
            </a:extLst>
          </p:cNvPr>
          <p:cNvGrpSpPr/>
          <p:nvPr/>
        </p:nvGrpSpPr>
        <p:grpSpPr>
          <a:xfrm>
            <a:off x="1899556" y="4599612"/>
            <a:ext cx="3243940" cy="413657"/>
            <a:chOff x="1959430" y="2177143"/>
            <a:chExt cx="3243940" cy="413657"/>
          </a:xfrm>
        </p:grpSpPr>
        <p:sp>
          <p:nvSpPr>
            <p:cNvPr id="7" name="TextBox 6">
              <a:extLst>
                <a:ext uri="{FF2B5EF4-FFF2-40B4-BE49-F238E27FC236}">
                  <a16:creationId xmlns:a16="http://schemas.microsoft.com/office/drawing/2014/main" id="{46FC5A35-87CA-0B78-2F35-B357679754A4}"/>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1</a:t>
              </a:r>
            </a:p>
          </p:txBody>
        </p:sp>
        <p:sp>
          <p:nvSpPr>
            <p:cNvPr id="8" name="TextBox 7">
              <a:extLst>
                <a:ext uri="{FF2B5EF4-FFF2-40B4-BE49-F238E27FC236}">
                  <a16:creationId xmlns:a16="http://schemas.microsoft.com/office/drawing/2014/main" id="{77A1110F-4020-1703-C171-FBD4708A7E02}"/>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1</a:t>
              </a:r>
            </a:p>
          </p:txBody>
        </p:sp>
      </p:grpSp>
      <p:grpSp>
        <p:nvGrpSpPr>
          <p:cNvPr id="9" name="Group 8">
            <a:extLst>
              <a:ext uri="{FF2B5EF4-FFF2-40B4-BE49-F238E27FC236}">
                <a16:creationId xmlns:a16="http://schemas.microsoft.com/office/drawing/2014/main" id="{2DF7574D-47E3-56BD-5C19-89F177CDAF04}"/>
              </a:ext>
            </a:extLst>
          </p:cNvPr>
          <p:cNvGrpSpPr/>
          <p:nvPr/>
        </p:nvGrpSpPr>
        <p:grpSpPr>
          <a:xfrm>
            <a:off x="1899556" y="5013269"/>
            <a:ext cx="3243940" cy="413657"/>
            <a:chOff x="1959430" y="2177143"/>
            <a:chExt cx="3243940" cy="413657"/>
          </a:xfrm>
        </p:grpSpPr>
        <p:sp>
          <p:nvSpPr>
            <p:cNvPr id="10" name="TextBox 9">
              <a:extLst>
                <a:ext uri="{FF2B5EF4-FFF2-40B4-BE49-F238E27FC236}">
                  <a16:creationId xmlns:a16="http://schemas.microsoft.com/office/drawing/2014/main" id="{5E555E47-BF49-44AA-F995-328066035C60}"/>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2</a:t>
              </a:r>
            </a:p>
          </p:txBody>
        </p:sp>
        <p:sp>
          <p:nvSpPr>
            <p:cNvPr id="11" name="TextBox 10">
              <a:extLst>
                <a:ext uri="{FF2B5EF4-FFF2-40B4-BE49-F238E27FC236}">
                  <a16:creationId xmlns:a16="http://schemas.microsoft.com/office/drawing/2014/main" id="{A1DCA384-00C5-FD07-D576-003139161DE6}"/>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2</a:t>
              </a:r>
            </a:p>
          </p:txBody>
        </p:sp>
      </p:grpSp>
      <p:grpSp>
        <p:nvGrpSpPr>
          <p:cNvPr id="12" name="Group 11">
            <a:extLst>
              <a:ext uri="{FF2B5EF4-FFF2-40B4-BE49-F238E27FC236}">
                <a16:creationId xmlns:a16="http://schemas.microsoft.com/office/drawing/2014/main" id="{D4E367CF-558E-EA65-EBC7-E744244EB572}"/>
              </a:ext>
            </a:extLst>
          </p:cNvPr>
          <p:cNvGrpSpPr/>
          <p:nvPr/>
        </p:nvGrpSpPr>
        <p:grpSpPr>
          <a:xfrm>
            <a:off x="1899556" y="5426926"/>
            <a:ext cx="3243940" cy="413657"/>
            <a:chOff x="1959430" y="2177143"/>
            <a:chExt cx="3243940" cy="413657"/>
          </a:xfrm>
        </p:grpSpPr>
        <p:sp>
          <p:nvSpPr>
            <p:cNvPr id="13" name="TextBox 12">
              <a:extLst>
                <a:ext uri="{FF2B5EF4-FFF2-40B4-BE49-F238E27FC236}">
                  <a16:creationId xmlns:a16="http://schemas.microsoft.com/office/drawing/2014/main" id="{AA887D77-DA8D-E172-4E7A-A763A9490D92}"/>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3</a:t>
              </a:r>
            </a:p>
          </p:txBody>
        </p:sp>
        <p:sp>
          <p:nvSpPr>
            <p:cNvPr id="14" name="TextBox 13">
              <a:extLst>
                <a:ext uri="{FF2B5EF4-FFF2-40B4-BE49-F238E27FC236}">
                  <a16:creationId xmlns:a16="http://schemas.microsoft.com/office/drawing/2014/main" id="{5C696D45-5E9E-FC82-5C1F-87577AA2892A}"/>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3</a:t>
              </a:r>
            </a:p>
          </p:txBody>
        </p:sp>
      </p:grpSp>
      <p:grpSp>
        <p:nvGrpSpPr>
          <p:cNvPr id="15" name="Group 14">
            <a:extLst>
              <a:ext uri="{FF2B5EF4-FFF2-40B4-BE49-F238E27FC236}">
                <a16:creationId xmlns:a16="http://schemas.microsoft.com/office/drawing/2014/main" id="{67D678DA-73EB-6290-3193-4E70C9EE4F99}"/>
              </a:ext>
            </a:extLst>
          </p:cNvPr>
          <p:cNvGrpSpPr/>
          <p:nvPr/>
        </p:nvGrpSpPr>
        <p:grpSpPr>
          <a:xfrm>
            <a:off x="1899556" y="5840583"/>
            <a:ext cx="3243940" cy="413657"/>
            <a:chOff x="1959430" y="2177143"/>
            <a:chExt cx="3243940" cy="413657"/>
          </a:xfrm>
        </p:grpSpPr>
        <p:sp>
          <p:nvSpPr>
            <p:cNvPr id="16" name="TextBox 15">
              <a:extLst>
                <a:ext uri="{FF2B5EF4-FFF2-40B4-BE49-F238E27FC236}">
                  <a16:creationId xmlns:a16="http://schemas.microsoft.com/office/drawing/2014/main" id="{7C4DCDF5-65A8-F573-1955-BE31D841657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4</a:t>
              </a:r>
            </a:p>
          </p:txBody>
        </p:sp>
        <p:sp>
          <p:nvSpPr>
            <p:cNvPr id="17" name="TextBox 16">
              <a:extLst>
                <a:ext uri="{FF2B5EF4-FFF2-40B4-BE49-F238E27FC236}">
                  <a16:creationId xmlns:a16="http://schemas.microsoft.com/office/drawing/2014/main" id="{34D6F2B3-48E4-77DC-7C9A-26FF0FF94F9D}"/>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4</a:t>
              </a:r>
            </a:p>
          </p:txBody>
        </p:sp>
      </p:grpSp>
      <p:sp>
        <p:nvSpPr>
          <p:cNvPr id="19" name="TextBox 18">
            <a:extLst>
              <a:ext uri="{FF2B5EF4-FFF2-40B4-BE49-F238E27FC236}">
                <a16:creationId xmlns:a16="http://schemas.microsoft.com/office/drawing/2014/main" id="{5DC54D9D-8772-F9A8-2EC7-5B0B4C4AF739}"/>
              </a:ext>
            </a:extLst>
          </p:cNvPr>
          <p:cNvSpPr txBox="1"/>
          <p:nvPr/>
        </p:nvSpPr>
        <p:spPr>
          <a:xfrm>
            <a:off x="522515" y="1301469"/>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A</a:t>
            </a:r>
          </a:p>
        </p:txBody>
      </p:sp>
      <p:sp>
        <p:nvSpPr>
          <p:cNvPr id="20" name="TextBox 19">
            <a:extLst>
              <a:ext uri="{FF2B5EF4-FFF2-40B4-BE49-F238E27FC236}">
                <a16:creationId xmlns:a16="http://schemas.microsoft.com/office/drawing/2014/main" id="{86ECD626-09B3-2D24-6746-8AF89F7EEE22}"/>
              </a:ext>
            </a:extLst>
          </p:cNvPr>
          <p:cNvSpPr txBox="1"/>
          <p:nvPr/>
        </p:nvSpPr>
        <p:spPr>
          <a:xfrm>
            <a:off x="2068284"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B</a:t>
            </a:r>
          </a:p>
        </p:txBody>
      </p:sp>
      <p:sp>
        <p:nvSpPr>
          <p:cNvPr id="21" name="TextBox 20">
            <a:extLst>
              <a:ext uri="{FF2B5EF4-FFF2-40B4-BE49-F238E27FC236}">
                <a16:creationId xmlns:a16="http://schemas.microsoft.com/office/drawing/2014/main" id="{220DFCA0-79E9-1920-D83A-890C99DBE3DE}"/>
              </a:ext>
            </a:extLst>
          </p:cNvPr>
          <p:cNvSpPr txBox="1"/>
          <p:nvPr/>
        </p:nvSpPr>
        <p:spPr>
          <a:xfrm>
            <a:off x="3614053"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C</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Loc4</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2" name="TextBox 21">
            <a:extLst>
              <a:ext uri="{FF2B5EF4-FFF2-40B4-BE49-F238E27FC236}">
                <a16:creationId xmlns:a16="http://schemas.microsoft.com/office/drawing/2014/main" id="{7EF262A1-8154-CA84-C05E-BCF259BCF7B2}"/>
              </a:ext>
            </a:extLst>
          </p:cNvPr>
          <p:cNvSpPr txBox="1"/>
          <p:nvPr/>
        </p:nvSpPr>
        <p:spPr>
          <a:xfrm>
            <a:off x="5159822"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D</a:t>
            </a:r>
          </a:p>
        </p:txBody>
      </p:sp>
      <p:sp>
        <p:nvSpPr>
          <p:cNvPr id="23" name="TextBox 22">
            <a:extLst>
              <a:ext uri="{FF2B5EF4-FFF2-40B4-BE49-F238E27FC236}">
                <a16:creationId xmlns:a16="http://schemas.microsoft.com/office/drawing/2014/main" id="{6B9212D0-0982-8D69-A27D-EDC0A39BF318}"/>
              </a:ext>
            </a:extLst>
          </p:cNvPr>
          <p:cNvSpPr txBox="1"/>
          <p:nvPr/>
        </p:nvSpPr>
        <p:spPr>
          <a:xfrm>
            <a:off x="8251360"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F</a:t>
            </a:r>
          </a:p>
        </p:txBody>
      </p:sp>
      <p:sp>
        <p:nvSpPr>
          <p:cNvPr id="24" name="TextBox 23">
            <a:extLst>
              <a:ext uri="{FF2B5EF4-FFF2-40B4-BE49-F238E27FC236}">
                <a16:creationId xmlns:a16="http://schemas.microsoft.com/office/drawing/2014/main" id="{9D9DAB8E-4DC2-CB98-03A2-0D5276E46941}"/>
              </a:ext>
            </a:extLst>
          </p:cNvPr>
          <p:cNvSpPr txBox="1"/>
          <p:nvPr/>
        </p:nvSpPr>
        <p:spPr>
          <a:xfrm>
            <a:off x="9797129" y="129114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G</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Loc2</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5" name="TextBox 24">
            <a:extLst>
              <a:ext uri="{FF2B5EF4-FFF2-40B4-BE49-F238E27FC236}">
                <a16:creationId xmlns:a16="http://schemas.microsoft.com/office/drawing/2014/main" id="{BAB2446F-E979-5C6C-7D10-083E4D19EE79}"/>
              </a:ext>
            </a:extLst>
          </p:cNvPr>
          <p:cNvSpPr txBox="1"/>
          <p:nvPr/>
        </p:nvSpPr>
        <p:spPr>
          <a:xfrm>
            <a:off x="6705591"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E</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Loc3</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6" name="TextBox 25">
            <a:extLst>
              <a:ext uri="{FF2B5EF4-FFF2-40B4-BE49-F238E27FC236}">
                <a16:creationId xmlns:a16="http://schemas.microsoft.com/office/drawing/2014/main" id="{D0FA2F50-DC52-7C1A-E947-AC7A00232017}"/>
              </a:ext>
            </a:extLst>
          </p:cNvPr>
          <p:cNvSpPr txBox="1"/>
          <p:nvPr/>
        </p:nvSpPr>
        <p:spPr>
          <a:xfrm>
            <a:off x="9797129" y="242850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H</a:t>
            </a:r>
          </a:p>
        </p:txBody>
      </p:sp>
      <p:sp>
        <p:nvSpPr>
          <p:cNvPr id="27" name="TextBox 26">
            <a:extLst>
              <a:ext uri="{FF2B5EF4-FFF2-40B4-BE49-F238E27FC236}">
                <a16:creationId xmlns:a16="http://schemas.microsoft.com/office/drawing/2014/main" id="{84162B9B-4BAA-3304-33B5-AA47648245C4}"/>
              </a:ext>
            </a:extLst>
          </p:cNvPr>
          <p:cNvSpPr txBox="1"/>
          <p:nvPr/>
        </p:nvSpPr>
        <p:spPr>
          <a:xfrm>
            <a:off x="9797129" y="356586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I</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Loc1</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8" name="TextBox 27">
            <a:extLst>
              <a:ext uri="{FF2B5EF4-FFF2-40B4-BE49-F238E27FC236}">
                <a16:creationId xmlns:a16="http://schemas.microsoft.com/office/drawing/2014/main" id="{83FC4A08-F069-4DE4-93D0-B3A79C0B3695}"/>
              </a:ext>
            </a:extLst>
          </p:cNvPr>
          <p:cNvSpPr txBox="1"/>
          <p:nvPr/>
        </p:nvSpPr>
        <p:spPr>
          <a:xfrm>
            <a:off x="9797129" y="470322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J</a:t>
            </a:r>
          </a:p>
        </p:txBody>
      </p:sp>
      <p:sp>
        <p:nvSpPr>
          <p:cNvPr id="29" name="TextBox 28">
            <a:extLst>
              <a:ext uri="{FF2B5EF4-FFF2-40B4-BE49-F238E27FC236}">
                <a16:creationId xmlns:a16="http://schemas.microsoft.com/office/drawing/2014/main" id="{E8499C2E-A984-CE09-E9FC-869E5F2DF5E7}"/>
              </a:ext>
            </a:extLst>
          </p:cNvPr>
          <p:cNvSpPr txBox="1"/>
          <p:nvPr/>
        </p:nvSpPr>
        <p:spPr>
          <a:xfrm>
            <a:off x="9797129" y="584058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K</a:t>
            </a:r>
          </a:p>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rPr>
              <a:t>Loc0</a:t>
            </a:r>
          </a:p>
        </p:txBody>
      </p:sp>
      <p:grpSp>
        <p:nvGrpSpPr>
          <p:cNvPr id="30" name="Group 29">
            <a:extLst>
              <a:ext uri="{FF2B5EF4-FFF2-40B4-BE49-F238E27FC236}">
                <a16:creationId xmlns:a16="http://schemas.microsoft.com/office/drawing/2014/main" id="{3688AF0D-03E0-2C28-3596-C1F8066A7300}"/>
              </a:ext>
            </a:extLst>
          </p:cNvPr>
          <p:cNvGrpSpPr/>
          <p:nvPr/>
        </p:nvGrpSpPr>
        <p:grpSpPr>
          <a:xfrm>
            <a:off x="1915882" y="3436914"/>
            <a:ext cx="3243940" cy="413657"/>
            <a:chOff x="1959430" y="2177143"/>
            <a:chExt cx="3243940" cy="413657"/>
          </a:xfrm>
        </p:grpSpPr>
        <p:sp>
          <p:nvSpPr>
            <p:cNvPr id="31" name="TextBox 30">
              <a:extLst>
                <a:ext uri="{FF2B5EF4-FFF2-40B4-BE49-F238E27FC236}">
                  <a16:creationId xmlns:a16="http://schemas.microsoft.com/office/drawing/2014/main" id="{78BA7CFA-94F2-09B5-2D11-3CD3A0F6AAB6}"/>
                </a:ext>
              </a:extLst>
            </p:cNvPr>
            <p:cNvSpPr txBox="1"/>
            <p:nvPr/>
          </p:nvSpPr>
          <p:spPr>
            <a:xfrm>
              <a:off x="1959430" y="2177143"/>
              <a:ext cx="1621970" cy="413657"/>
            </a:xfrm>
            <a:prstGeom prst="rect">
              <a:avLst/>
            </a:prstGeom>
            <a:solidFill>
              <a:schemeClr val="accent3">
                <a:lumMod val="40000"/>
                <a:lumOff val="60000"/>
              </a:schemeClr>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3</a:t>
              </a:r>
            </a:p>
          </p:txBody>
        </p:sp>
        <p:sp>
          <p:nvSpPr>
            <p:cNvPr id="32" name="TextBox 31">
              <a:extLst>
                <a:ext uri="{FF2B5EF4-FFF2-40B4-BE49-F238E27FC236}">
                  <a16:creationId xmlns:a16="http://schemas.microsoft.com/office/drawing/2014/main" id="{B62BB785-CEEA-27B4-5F00-AE094D6144CE}"/>
                </a:ext>
              </a:extLst>
            </p:cNvPr>
            <p:cNvSpPr txBox="1"/>
            <p:nvPr/>
          </p:nvSpPr>
          <p:spPr>
            <a:xfrm>
              <a:off x="3581400" y="2177143"/>
              <a:ext cx="1621970" cy="413657"/>
            </a:xfrm>
            <a:prstGeom prst="rect">
              <a:avLst/>
            </a:prstGeom>
            <a:solidFill>
              <a:schemeClr val="accent4">
                <a:lumMod val="40000"/>
                <a:lumOff val="60000"/>
              </a:schemeClr>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3</a:t>
              </a:r>
            </a:p>
          </p:txBody>
        </p:sp>
      </p:grpSp>
      <p:sp>
        <p:nvSpPr>
          <p:cNvPr id="33" name="TextBox 32">
            <a:extLst>
              <a:ext uri="{FF2B5EF4-FFF2-40B4-BE49-F238E27FC236}">
                <a16:creationId xmlns:a16="http://schemas.microsoft.com/office/drawing/2014/main" id="{1634C2CB-6B6B-81AA-FE36-906444213B14}"/>
              </a:ext>
            </a:extLst>
          </p:cNvPr>
          <p:cNvSpPr txBox="1"/>
          <p:nvPr/>
        </p:nvSpPr>
        <p:spPr>
          <a:xfrm>
            <a:off x="5236030" y="3436914"/>
            <a:ext cx="2547256"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IPv6 DST Addr.</a:t>
            </a:r>
          </a:p>
        </p:txBody>
      </p:sp>
      <p:sp>
        <p:nvSpPr>
          <p:cNvPr id="34" name="TextBox 33">
            <a:extLst>
              <a:ext uri="{FF2B5EF4-FFF2-40B4-BE49-F238E27FC236}">
                <a16:creationId xmlns:a16="http://schemas.microsoft.com/office/drawing/2014/main" id="{3B257FCD-30EA-3E5C-61FD-96CAF1A93136}"/>
              </a:ext>
            </a:extLst>
          </p:cNvPr>
          <p:cNvSpPr txBox="1"/>
          <p:nvPr/>
        </p:nvSpPr>
        <p:spPr>
          <a:xfrm>
            <a:off x="5486393" y="4995057"/>
            <a:ext cx="914400"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SHR</a:t>
            </a:r>
          </a:p>
        </p:txBody>
      </p:sp>
      <p:cxnSp>
        <p:nvCxnSpPr>
          <p:cNvPr id="36" name="Straight Arrow Connector 35">
            <a:extLst>
              <a:ext uri="{FF2B5EF4-FFF2-40B4-BE49-F238E27FC236}">
                <a16:creationId xmlns:a16="http://schemas.microsoft.com/office/drawing/2014/main" id="{3508B799-ED0E-3852-567F-4ED8BC37722C}"/>
              </a:ext>
            </a:extLst>
          </p:cNvPr>
          <p:cNvCxnSpPr>
            <a:cxnSpLocks/>
          </p:cNvCxnSpPr>
          <p:nvPr/>
        </p:nvCxnSpPr>
        <p:spPr>
          <a:xfrm flipV="1">
            <a:off x="2841171" y="1785257"/>
            <a:ext cx="3679372" cy="155665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8DAE735-1CD6-2310-BB62-83985D69EA59}"/>
              </a:ext>
            </a:extLst>
          </p:cNvPr>
          <p:cNvCxnSpPr>
            <a:stCxn id="19" idx="3"/>
            <a:endCxn id="20" idx="1"/>
          </p:cNvCxnSpPr>
          <p:nvPr/>
        </p:nvCxnSpPr>
        <p:spPr>
          <a:xfrm flipV="1">
            <a:off x="1763486" y="1683160"/>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5A98E94-CBFE-69D9-5AC5-81A0C0B90AC0}"/>
              </a:ext>
            </a:extLst>
          </p:cNvPr>
          <p:cNvCxnSpPr/>
          <p:nvPr/>
        </p:nvCxnSpPr>
        <p:spPr>
          <a:xfrm flipV="1">
            <a:off x="3309255" y="167042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65A6F1C-F30D-685A-66F6-E196573FECBE}"/>
              </a:ext>
            </a:extLst>
          </p:cNvPr>
          <p:cNvCxnSpPr/>
          <p:nvPr/>
        </p:nvCxnSpPr>
        <p:spPr>
          <a:xfrm flipV="1">
            <a:off x="4855024" y="1665608"/>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1DA76F5-2D6A-7918-AB15-B8C5D6C39988}"/>
              </a:ext>
            </a:extLst>
          </p:cNvPr>
          <p:cNvCxnSpPr/>
          <p:nvPr/>
        </p:nvCxnSpPr>
        <p:spPr>
          <a:xfrm flipV="1">
            <a:off x="6389906" y="1672274"/>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5DE1137-A253-5BAE-A8BB-AE7EDD4B1E3A}"/>
              </a:ext>
            </a:extLst>
          </p:cNvPr>
          <p:cNvCxnSpPr/>
          <p:nvPr/>
        </p:nvCxnSpPr>
        <p:spPr>
          <a:xfrm flipV="1">
            <a:off x="7924788" y="1683160"/>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C182581-03B6-CCEA-84F6-9BFB8D5F1855}"/>
              </a:ext>
            </a:extLst>
          </p:cNvPr>
          <p:cNvCxnSpPr/>
          <p:nvPr/>
        </p:nvCxnSpPr>
        <p:spPr>
          <a:xfrm flipV="1">
            <a:off x="9448783" y="169404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5E90EF5-2A32-4E52-D0D2-EDACDD1DA825}"/>
              </a:ext>
            </a:extLst>
          </p:cNvPr>
          <p:cNvCxnSpPr>
            <a:cxnSpLocks/>
            <a:stCxn id="26" idx="0"/>
            <a:endCxn id="24" idx="2"/>
          </p:cNvCxnSpPr>
          <p:nvPr/>
        </p:nvCxnSpPr>
        <p:spPr>
          <a:xfrm flipV="1">
            <a:off x="10417615" y="206415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EE98E7B-E641-9B00-C116-9AEA1F834853}"/>
              </a:ext>
            </a:extLst>
          </p:cNvPr>
          <p:cNvCxnSpPr>
            <a:cxnSpLocks/>
          </p:cNvCxnSpPr>
          <p:nvPr/>
        </p:nvCxnSpPr>
        <p:spPr>
          <a:xfrm flipV="1">
            <a:off x="10417614" y="320151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492A3E1-13BC-741D-79A4-285D00FD981D}"/>
              </a:ext>
            </a:extLst>
          </p:cNvPr>
          <p:cNvCxnSpPr>
            <a:cxnSpLocks/>
          </p:cNvCxnSpPr>
          <p:nvPr/>
        </p:nvCxnSpPr>
        <p:spPr>
          <a:xfrm flipV="1">
            <a:off x="10406715" y="433887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8B5994E-CEED-5C83-8335-EAF11F8A89CF}"/>
              </a:ext>
            </a:extLst>
          </p:cNvPr>
          <p:cNvCxnSpPr>
            <a:cxnSpLocks/>
          </p:cNvCxnSpPr>
          <p:nvPr/>
        </p:nvCxnSpPr>
        <p:spPr>
          <a:xfrm flipV="1">
            <a:off x="10406715" y="547623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Arrow: Right 50">
            <a:extLst>
              <a:ext uri="{FF2B5EF4-FFF2-40B4-BE49-F238E27FC236}">
                <a16:creationId xmlns:a16="http://schemas.microsoft.com/office/drawing/2014/main" id="{12318449-AD0D-1D05-E36B-4E96DF432073}"/>
              </a:ext>
            </a:extLst>
          </p:cNvPr>
          <p:cNvSpPr/>
          <p:nvPr/>
        </p:nvSpPr>
        <p:spPr>
          <a:xfrm>
            <a:off x="119755" y="5410991"/>
            <a:ext cx="1763486" cy="484632"/>
          </a:xfrm>
          <a:prstGeom prst="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Active segment</a:t>
            </a:r>
          </a:p>
        </p:txBody>
      </p:sp>
    </p:spTree>
    <p:extLst>
      <p:ext uri="{BB962C8B-B14F-4D97-AF65-F5344CB8AC3E}">
        <p14:creationId xmlns:p14="http://schemas.microsoft.com/office/powerpoint/2010/main" val="683902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EC0ED6-027B-6992-F3F3-D17CCEA976B9}"/>
              </a:ext>
            </a:extLst>
          </p:cNvPr>
          <p:cNvSpPr>
            <a:spLocks noGrp="1"/>
          </p:cNvSpPr>
          <p:nvPr>
            <p:ph type="body" sz="quarter" idx="11"/>
          </p:nvPr>
        </p:nvSpPr>
        <p:spPr/>
        <p:txBody>
          <a:bodyPr/>
          <a:lstStyle/>
          <a:p>
            <a:r>
              <a:rPr lang="en-US" dirty="0"/>
              <a:t>Network Program #6</a:t>
            </a:r>
          </a:p>
        </p:txBody>
      </p:sp>
      <p:grpSp>
        <p:nvGrpSpPr>
          <p:cNvPr id="6" name="Group 5">
            <a:extLst>
              <a:ext uri="{FF2B5EF4-FFF2-40B4-BE49-F238E27FC236}">
                <a16:creationId xmlns:a16="http://schemas.microsoft.com/office/drawing/2014/main" id="{80CD64DE-41CD-C4AC-FD52-8B1F12C9057E}"/>
              </a:ext>
            </a:extLst>
          </p:cNvPr>
          <p:cNvGrpSpPr/>
          <p:nvPr/>
        </p:nvGrpSpPr>
        <p:grpSpPr>
          <a:xfrm>
            <a:off x="1899556" y="4185955"/>
            <a:ext cx="3243940" cy="413657"/>
            <a:chOff x="1959430" y="2177143"/>
            <a:chExt cx="3243940" cy="413657"/>
          </a:xfrm>
        </p:grpSpPr>
        <p:sp>
          <p:nvSpPr>
            <p:cNvPr id="4" name="TextBox 3">
              <a:extLst>
                <a:ext uri="{FF2B5EF4-FFF2-40B4-BE49-F238E27FC236}">
                  <a16:creationId xmlns:a16="http://schemas.microsoft.com/office/drawing/2014/main" id="{25AE1756-73E4-48C0-9B1C-5D98FE4AF2C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0</a:t>
              </a:r>
            </a:p>
          </p:txBody>
        </p:sp>
        <p:sp>
          <p:nvSpPr>
            <p:cNvPr id="5" name="TextBox 4">
              <a:extLst>
                <a:ext uri="{FF2B5EF4-FFF2-40B4-BE49-F238E27FC236}">
                  <a16:creationId xmlns:a16="http://schemas.microsoft.com/office/drawing/2014/main" id="{204FCDD0-144C-9FF3-A2F1-0254B1ADE461}"/>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0</a:t>
              </a:r>
            </a:p>
          </p:txBody>
        </p:sp>
      </p:grpSp>
      <p:grpSp>
        <p:nvGrpSpPr>
          <p:cNvPr id="2" name="Group 1">
            <a:extLst>
              <a:ext uri="{FF2B5EF4-FFF2-40B4-BE49-F238E27FC236}">
                <a16:creationId xmlns:a16="http://schemas.microsoft.com/office/drawing/2014/main" id="{94646B92-7599-5248-F0C7-DAD434BBB055}"/>
              </a:ext>
            </a:extLst>
          </p:cNvPr>
          <p:cNvGrpSpPr/>
          <p:nvPr/>
        </p:nvGrpSpPr>
        <p:grpSpPr>
          <a:xfrm>
            <a:off x="1899556" y="4599612"/>
            <a:ext cx="3243940" cy="413657"/>
            <a:chOff x="1959430" y="2177143"/>
            <a:chExt cx="3243940" cy="413657"/>
          </a:xfrm>
        </p:grpSpPr>
        <p:sp>
          <p:nvSpPr>
            <p:cNvPr id="7" name="TextBox 6">
              <a:extLst>
                <a:ext uri="{FF2B5EF4-FFF2-40B4-BE49-F238E27FC236}">
                  <a16:creationId xmlns:a16="http://schemas.microsoft.com/office/drawing/2014/main" id="{46FC5A35-87CA-0B78-2F35-B357679754A4}"/>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1</a:t>
              </a:r>
            </a:p>
          </p:txBody>
        </p:sp>
        <p:sp>
          <p:nvSpPr>
            <p:cNvPr id="8" name="TextBox 7">
              <a:extLst>
                <a:ext uri="{FF2B5EF4-FFF2-40B4-BE49-F238E27FC236}">
                  <a16:creationId xmlns:a16="http://schemas.microsoft.com/office/drawing/2014/main" id="{77A1110F-4020-1703-C171-FBD4708A7E02}"/>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1</a:t>
              </a:r>
            </a:p>
          </p:txBody>
        </p:sp>
      </p:grpSp>
      <p:grpSp>
        <p:nvGrpSpPr>
          <p:cNvPr id="9" name="Group 8">
            <a:extLst>
              <a:ext uri="{FF2B5EF4-FFF2-40B4-BE49-F238E27FC236}">
                <a16:creationId xmlns:a16="http://schemas.microsoft.com/office/drawing/2014/main" id="{2DF7574D-47E3-56BD-5C19-89F177CDAF04}"/>
              </a:ext>
            </a:extLst>
          </p:cNvPr>
          <p:cNvGrpSpPr/>
          <p:nvPr/>
        </p:nvGrpSpPr>
        <p:grpSpPr>
          <a:xfrm>
            <a:off x="1899556" y="5013269"/>
            <a:ext cx="3243940" cy="413657"/>
            <a:chOff x="1959430" y="2177143"/>
            <a:chExt cx="3243940" cy="413657"/>
          </a:xfrm>
        </p:grpSpPr>
        <p:sp>
          <p:nvSpPr>
            <p:cNvPr id="10" name="TextBox 9">
              <a:extLst>
                <a:ext uri="{FF2B5EF4-FFF2-40B4-BE49-F238E27FC236}">
                  <a16:creationId xmlns:a16="http://schemas.microsoft.com/office/drawing/2014/main" id="{5E555E47-BF49-44AA-F995-328066035C60}"/>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2</a:t>
              </a:r>
            </a:p>
          </p:txBody>
        </p:sp>
        <p:sp>
          <p:nvSpPr>
            <p:cNvPr id="11" name="TextBox 10">
              <a:extLst>
                <a:ext uri="{FF2B5EF4-FFF2-40B4-BE49-F238E27FC236}">
                  <a16:creationId xmlns:a16="http://schemas.microsoft.com/office/drawing/2014/main" id="{A1DCA384-00C5-FD07-D576-003139161DE6}"/>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2</a:t>
              </a:r>
            </a:p>
          </p:txBody>
        </p:sp>
      </p:grpSp>
      <p:grpSp>
        <p:nvGrpSpPr>
          <p:cNvPr id="12" name="Group 11">
            <a:extLst>
              <a:ext uri="{FF2B5EF4-FFF2-40B4-BE49-F238E27FC236}">
                <a16:creationId xmlns:a16="http://schemas.microsoft.com/office/drawing/2014/main" id="{D4E367CF-558E-EA65-EBC7-E744244EB572}"/>
              </a:ext>
            </a:extLst>
          </p:cNvPr>
          <p:cNvGrpSpPr/>
          <p:nvPr/>
        </p:nvGrpSpPr>
        <p:grpSpPr>
          <a:xfrm>
            <a:off x="1899556" y="5426926"/>
            <a:ext cx="3243940" cy="413657"/>
            <a:chOff x="1959430" y="2177143"/>
            <a:chExt cx="3243940" cy="413657"/>
          </a:xfrm>
        </p:grpSpPr>
        <p:sp>
          <p:nvSpPr>
            <p:cNvPr id="13" name="TextBox 12">
              <a:extLst>
                <a:ext uri="{FF2B5EF4-FFF2-40B4-BE49-F238E27FC236}">
                  <a16:creationId xmlns:a16="http://schemas.microsoft.com/office/drawing/2014/main" id="{AA887D77-DA8D-E172-4E7A-A763A9490D92}"/>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3</a:t>
              </a:r>
            </a:p>
          </p:txBody>
        </p:sp>
        <p:sp>
          <p:nvSpPr>
            <p:cNvPr id="14" name="TextBox 13">
              <a:extLst>
                <a:ext uri="{FF2B5EF4-FFF2-40B4-BE49-F238E27FC236}">
                  <a16:creationId xmlns:a16="http://schemas.microsoft.com/office/drawing/2014/main" id="{5C696D45-5E9E-FC82-5C1F-87577AA2892A}"/>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3</a:t>
              </a:r>
            </a:p>
          </p:txBody>
        </p:sp>
      </p:grpSp>
      <p:grpSp>
        <p:nvGrpSpPr>
          <p:cNvPr id="15" name="Group 14">
            <a:extLst>
              <a:ext uri="{FF2B5EF4-FFF2-40B4-BE49-F238E27FC236}">
                <a16:creationId xmlns:a16="http://schemas.microsoft.com/office/drawing/2014/main" id="{67D678DA-73EB-6290-3193-4E70C9EE4F99}"/>
              </a:ext>
            </a:extLst>
          </p:cNvPr>
          <p:cNvGrpSpPr/>
          <p:nvPr/>
        </p:nvGrpSpPr>
        <p:grpSpPr>
          <a:xfrm>
            <a:off x="1899556" y="5840583"/>
            <a:ext cx="3243940" cy="413657"/>
            <a:chOff x="1959430" y="2177143"/>
            <a:chExt cx="3243940" cy="413657"/>
          </a:xfrm>
        </p:grpSpPr>
        <p:sp>
          <p:nvSpPr>
            <p:cNvPr id="16" name="TextBox 15">
              <a:extLst>
                <a:ext uri="{FF2B5EF4-FFF2-40B4-BE49-F238E27FC236}">
                  <a16:creationId xmlns:a16="http://schemas.microsoft.com/office/drawing/2014/main" id="{7C4DCDF5-65A8-F573-1955-BE31D841657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4</a:t>
              </a:r>
            </a:p>
          </p:txBody>
        </p:sp>
        <p:sp>
          <p:nvSpPr>
            <p:cNvPr id="17" name="TextBox 16">
              <a:extLst>
                <a:ext uri="{FF2B5EF4-FFF2-40B4-BE49-F238E27FC236}">
                  <a16:creationId xmlns:a16="http://schemas.microsoft.com/office/drawing/2014/main" id="{34D6F2B3-48E4-77DC-7C9A-26FF0FF94F9D}"/>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4</a:t>
              </a:r>
            </a:p>
          </p:txBody>
        </p:sp>
      </p:grpSp>
      <p:sp>
        <p:nvSpPr>
          <p:cNvPr id="19" name="TextBox 18">
            <a:extLst>
              <a:ext uri="{FF2B5EF4-FFF2-40B4-BE49-F238E27FC236}">
                <a16:creationId xmlns:a16="http://schemas.microsoft.com/office/drawing/2014/main" id="{5DC54D9D-8772-F9A8-2EC7-5B0B4C4AF739}"/>
              </a:ext>
            </a:extLst>
          </p:cNvPr>
          <p:cNvSpPr txBox="1"/>
          <p:nvPr/>
        </p:nvSpPr>
        <p:spPr>
          <a:xfrm>
            <a:off x="522515" y="1301469"/>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A</a:t>
            </a:r>
          </a:p>
        </p:txBody>
      </p:sp>
      <p:sp>
        <p:nvSpPr>
          <p:cNvPr id="20" name="TextBox 19">
            <a:extLst>
              <a:ext uri="{FF2B5EF4-FFF2-40B4-BE49-F238E27FC236}">
                <a16:creationId xmlns:a16="http://schemas.microsoft.com/office/drawing/2014/main" id="{86ECD626-09B3-2D24-6746-8AF89F7EEE22}"/>
              </a:ext>
            </a:extLst>
          </p:cNvPr>
          <p:cNvSpPr txBox="1"/>
          <p:nvPr/>
        </p:nvSpPr>
        <p:spPr>
          <a:xfrm>
            <a:off x="2068284"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B</a:t>
            </a:r>
          </a:p>
        </p:txBody>
      </p:sp>
      <p:sp>
        <p:nvSpPr>
          <p:cNvPr id="21" name="TextBox 20">
            <a:extLst>
              <a:ext uri="{FF2B5EF4-FFF2-40B4-BE49-F238E27FC236}">
                <a16:creationId xmlns:a16="http://schemas.microsoft.com/office/drawing/2014/main" id="{220DFCA0-79E9-1920-D83A-890C99DBE3DE}"/>
              </a:ext>
            </a:extLst>
          </p:cNvPr>
          <p:cNvSpPr txBox="1"/>
          <p:nvPr/>
        </p:nvSpPr>
        <p:spPr>
          <a:xfrm>
            <a:off x="3614053"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C</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Loc4</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2" name="TextBox 21">
            <a:extLst>
              <a:ext uri="{FF2B5EF4-FFF2-40B4-BE49-F238E27FC236}">
                <a16:creationId xmlns:a16="http://schemas.microsoft.com/office/drawing/2014/main" id="{7EF262A1-8154-CA84-C05E-BCF259BCF7B2}"/>
              </a:ext>
            </a:extLst>
          </p:cNvPr>
          <p:cNvSpPr txBox="1"/>
          <p:nvPr/>
        </p:nvSpPr>
        <p:spPr>
          <a:xfrm>
            <a:off x="5159822"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D</a:t>
            </a:r>
          </a:p>
        </p:txBody>
      </p:sp>
      <p:sp>
        <p:nvSpPr>
          <p:cNvPr id="23" name="TextBox 22">
            <a:extLst>
              <a:ext uri="{FF2B5EF4-FFF2-40B4-BE49-F238E27FC236}">
                <a16:creationId xmlns:a16="http://schemas.microsoft.com/office/drawing/2014/main" id="{6B9212D0-0982-8D69-A27D-EDC0A39BF318}"/>
              </a:ext>
            </a:extLst>
          </p:cNvPr>
          <p:cNvSpPr txBox="1"/>
          <p:nvPr/>
        </p:nvSpPr>
        <p:spPr>
          <a:xfrm>
            <a:off x="8251360"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F</a:t>
            </a:r>
          </a:p>
        </p:txBody>
      </p:sp>
      <p:sp>
        <p:nvSpPr>
          <p:cNvPr id="24" name="TextBox 23">
            <a:extLst>
              <a:ext uri="{FF2B5EF4-FFF2-40B4-BE49-F238E27FC236}">
                <a16:creationId xmlns:a16="http://schemas.microsoft.com/office/drawing/2014/main" id="{9D9DAB8E-4DC2-CB98-03A2-0D5276E46941}"/>
              </a:ext>
            </a:extLst>
          </p:cNvPr>
          <p:cNvSpPr txBox="1"/>
          <p:nvPr/>
        </p:nvSpPr>
        <p:spPr>
          <a:xfrm>
            <a:off x="9797129" y="129114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G</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Loc2</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5" name="TextBox 24">
            <a:extLst>
              <a:ext uri="{FF2B5EF4-FFF2-40B4-BE49-F238E27FC236}">
                <a16:creationId xmlns:a16="http://schemas.microsoft.com/office/drawing/2014/main" id="{BAB2446F-E979-5C6C-7D10-083E4D19EE79}"/>
              </a:ext>
            </a:extLst>
          </p:cNvPr>
          <p:cNvSpPr txBox="1"/>
          <p:nvPr/>
        </p:nvSpPr>
        <p:spPr>
          <a:xfrm>
            <a:off x="6705591"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E</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Loc3</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6" name="TextBox 25">
            <a:extLst>
              <a:ext uri="{FF2B5EF4-FFF2-40B4-BE49-F238E27FC236}">
                <a16:creationId xmlns:a16="http://schemas.microsoft.com/office/drawing/2014/main" id="{D0FA2F50-DC52-7C1A-E947-AC7A00232017}"/>
              </a:ext>
            </a:extLst>
          </p:cNvPr>
          <p:cNvSpPr txBox="1"/>
          <p:nvPr/>
        </p:nvSpPr>
        <p:spPr>
          <a:xfrm>
            <a:off x="9797129" y="242850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H</a:t>
            </a:r>
          </a:p>
        </p:txBody>
      </p:sp>
      <p:sp>
        <p:nvSpPr>
          <p:cNvPr id="27" name="TextBox 26">
            <a:extLst>
              <a:ext uri="{FF2B5EF4-FFF2-40B4-BE49-F238E27FC236}">
                <a16:creationId xmlns:a16="http://schemas.microsoft.com/office/drawing/2014/main" id="{84162B9B-4BAA-3304-33B5-AA47648245C4}"/>
              </a:ext>
            </a:extLst>
          </p:cNvPr>
          <p:cNvSpPr txBox="1"/>
          <p:nvPr/>
        </p:nvSpPr>
        <p:spPr>
          <a:xfrm>
            <a:off x="9797129" y="356586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I</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Loc1</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8" name="TextBox 27">
            <a:extLst>
              <a:ext uri="{FF2B5EF4-FFF2-40B4-BE49-F238E27FC236}">
                <a16:creationId xmlns:a16="http://schemas.microsoft.com/office/drawing/2014/main" id="{83FC4A08-F069-4DE4-93D0-B3A79C0B3695}"/>
              </a:ext>
            </a:extLst>
          </p:cNvPr>
          <p:cNvSpPr txBox="1"/>
          <p:nvPr/>
        </p:nvSpPr>
        <p:spPr>
          <a:xfrm>
            <a:off x="9797129" y="470322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J</a:t>
            </a:r>
          </a:p>
        </p:txBody>
      </p:sp>
      <p:sp>
        <p:nvSpPr>
          <p:cNvPr id="29" name="TextBox 28">
            <a:extLst>
              <a:ext uri="{FF2B5EF4-FFF2-40B4-BE49-F238E27FC236}">
                <a16:creationId xmlns:a16="http://schemas.microsoft.com/office/drawing/2014/main" id="{E8499C2E-A984-CE09-E9FC-869E5F2DF5E7}"/>
              </a:ext>
            </a:extLst>
          </p:cNvPr>
          <p:cNvSpPr txBox="1"/>
          <p:nvPr/>
        </p:nvSpPr>
        <p:spPr>
          <a:xfrm>
            <a:off x="9797129" y="584058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K</a:t>
            </a:r>
          </a:p>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rPr>
              <a:t>Loc0</a:t>
            </a:r>
          </a:p>
        </p:txBody>
      </p:sp>
      <p:grpSp>
        <p:nvGrpSpPr>
          <p:cNvPr id="30" name="Group 29">
            <a:extLst>
              <a:ext uri="{FF2B5EF4-FFF2-40B4-BE49-F238E27FC236}">
                <a16:creationId xmlns:a16="http://schemas.microsoft.com/office/drawing/2014/main" id="{3688AF0D-03E0-2C28-3596-C1F8066A7300}"/>
              </a:ext>
            </a:extLst>
          </p:cNvPr>
          <p:cNvGrpSpPr/>
          <p:nvPr/>
        </p:nvGrpSpPr>
        <p:grpSpPr>
          <a:xfrm>
            <a:off x="1915882" y="3436914"/>
            <a:ext cx="3243940" cy="413657"/>
            <a:chOff x="1959430" y="2177143"/>
            <a:chExt cx="3243940" cy="413657"/>
          </a:xfrm>
        </p:grpSpPr>
        <p:sp>
          <p:nvSpPr>
            <p:cNvPr id="31" name="TextBox 30">
              <a:extLst>
                <a:ext uri="{FF2B5EF4-FFF2-40B4-BE49-F238E27FC236}">
                  <a16:creationId xmlns:a16="http://schemas.microsoft.com/office/drawing/2014/main" id="{78BA7CFA-94F2-09B5-2D11-3CD3A0F6AAB6}"/>
                </a:ext>
              </a:extLst>
            </p:cNvPr>
            <p:cNvSpPr txBox="1"/>
            <p:nvPr/>
          </p:nvSpPr>
          <p:spPr>
            <a:xfrm>
              <a:off x="1959430" y="2177143"/>
              <a:ext cx="1621970" cy="413657"/>
            </a:xfrm>
            <a:prstGeom prst="rect">
              <a:avLst/>
            </a:prstGeom>
            <a:solidFill>
              <a:schemeClr val="accent3">
                <a:lumMod val="40000"/>
                <a:lumOff val="60000"/>
              </a:schemeClr>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2</a:t>
              </a:r>
            </a:p>
          </p:txBody>
        </p:sp>
        <p:sp>
          <p:nvSpPr>
            <p:cNvPr id="32" name="TextBox 31">
              <a:extLst>
                <a:ext uri="{FF2B5EF4-FFF2-40B4-BE49-F238E27FC236}">
                  <a16:creationId xmlns:a16="http://schemas.microsoft.com/office/drawing/2014/main" id="{B62BB785-CEEA-27B4-5F00-AE094D6144CE}"/>
                </a:ext>
              </a:extLst>
            </p:cNvPr>
            <p:cNvSpPr txBox="1"/>
            <p:nvPr/>
          </p:nvSpPr>
          <p:spPr>
            <a:xfrm>
              <a:off x="3581400" y="2177143"/>
              <a:ext cx="1621970" cy="413657"/>
            </a:xfrm>
            <a:prstGeom prst="rect">
              <a:avLst/>
            </a:prstGeom>
            <a:solidFill>
              <a:schemeClr val="accent4">
                <a:lumMod val="40000"/>
                <a:lumOff val="60000"/>
              </a:schemeClr>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2</a:t>
              </a:r>
            </a:p>
          </p:txBody>
        </p:sp>
      </p:grpSp>
      <p:sp>
        <p:nvSpPr>
          <p:cNvPr id="33" name="TextBox 32">
            <a:extLst>
              <a:ext uri="{FF2B5EF4-FFF2-40B4-BE49-F238E27FC236}">
                <a16:creationId xmlns:a16="http://schemas.microsoft.com/office/drawing/2014/main" id="{1634C2CB-6B6B-81AA-FE36-906444213B14}"/>
              </a:ext>
            </a:extLst>
          </p:cNvPr>
          <p:cNvSpPr txBox="1"/>
          <p:nvPr/>
        </p:nvSpPr>
        <p:spPr>
          <a:xfrm>
            <a:off x="5236030" y="3436914"/>
            <a:ext cx="2547256"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IPv6 DST Addr.</a:t>
            </a:r>
          </a:p>
        </p:txBody>
      </p:sp>
      <p:sp>
        <p:nvSpPr>
          <p:cNvPr id="34" name="TextBox 33">
            <a:extLst>
              <a:ext uri="{FF2B5EF4-FFF2-40B4-BE49-F238E27FC236}">
                <a16:creationId xmlns:a16="http://schemas.microsoft.com/office/drawing/2014/main" id="{3B257FCD-30EA-3E5C-61FD-96CAF1A93136}"/>
              </a:ext>
            </a:extLst>
          </p:cNvPr>
          <p:cNvSpPr txBox="1"/>
          <p:nvPr/>
        </p:nvSpPr>
        <p:spPr>
          <a:xfrm>
            <a:off x="5486393" y="4995057"/>
            <a:ext cx="914400"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SHR</a:t>
            </a:r>
          </a:p>
        </p:txBody>
      </p:sp>
      <p:cxnSp>
        <p:nvCxnSpPr>
          <p:cNvPr id="36" name="Straight Arrow Connector 35">
            <a:extLst>
              <a:ext uri="{FF2B5EF4-FFF2-40B4-BE49-F238E27FC236}">
                <a16:creationId xmlns:a16="http://schemas.microsoft.com/office/drawing/2014/main" id="{3508B799-ED0E-3852-567F-4ED8BC37722C}"/>
              </a:ext>
            </a:extLst>
          </p:cNvPr>
          <p:cNvCxnSpPr>
            <a:cxnSpLocks/>
            <a:endCxn id="25" idx="3"/>
          </p:cNvCxnSpPr>
          <p:nvPr/>
        </p:nvCxnSpPr>
        <p:spPr>
          <a:xfrm flipV="1">
            <a:off x="4855024" y="1683160"/>
            <a:ext cx="3091538" cy="165393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8DAE735-1CD6-2310-BB62-83985D69EA59}"/>
              </a:ext>
            </a:extLst>
          </p:cNvPr>
          <p:cNvCxnSpPr>
            <a:stCxn id="19" idx="3"/>
            <a:endCxn id="20" idx="1"/>
          </p:cNvCxnSpPr>
          <p:nvPr/>
        </p:nvCxnSpPr>
        <p:spPr>
          <a:xfrm flipV="1">
            <a:off x="1763486" y="1683160"/>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5A98E94-CBFE-69D9-5AC5-81A0C0B90AC0}"/>
              </a:ext>
            </a:extLst>
          </p:cNvPr>
          <p:cNvCxnSpPr/>
          <p:nvPr/>
        </p:nvCxnSpPr>
        <p:spPr>
          <a:xfrm flipV="1">
            <a:off x="3309255" y="167042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65A6F1C-F30D-685A-66F6-E196573FECBE}"/>
              </a:ext>
            </a:extLst>
          </p:cNvPr>
          <p:cNvCxnSpPr/>
          <p:nvPr/>
        </p:nvCxnSpPr>
        <p:spPr>
          <a:xfrm flipV="1">
            <a:off x="4855024" y="1665608"/>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1DA76F5-2D6A-7918-AB15-B8C5D6C39988}"/>
              </a:ext>
            </a:extLst>
          </p:cNvPr>
          <p:cNvCxnSpPr/>
          <p:nvPr/>
        </p:nvCxnSpPr>
        <p:spPr>
          <a:xfrm flipV="1">
            <a:off x="6389906" y="1672274"/>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5DE1137-A253-5BAE-A8BB-AE7EDD4B1E3A}"/>
              </a:ext>
            </a:extLst>
          </p:cNvPr>
          <p:cNvCxnSpPr/>
          <p:nvPr/>
        </p:nvCxnSpPr>
        <p:spPr>
          <a:xfrm flipV="1">
            <a:off x="7924788" y="1683160"/>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C182581-03B6-CCEA-84F6-9BFB8D5F1855}"/>
              </a:ext>
            </a:extLst>
          </p:cNvPr>
          <p:cNvCxnSpPr/>
          <p:nvPr/>
        </p:nvCxnSpPr>
        <p:spPr>
          <a:xfrm flipV="1">
            <a:off x="9448783" y="169404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5E90EF5-2A32-4E52-D0D2-EDACDD1DA825}"/>
              </a:ext>
            </a:extLst>
          </p:cNvPr>
          <p:cNvCxnSpPr>
            <a:cxnSpLocks/>
            <a:stCxn id="26" idx="0"/>
            <a:endCxn id="24" idx="2"/>
          </p:cNvCxnSpPr>
          <p:nvPr/>
        </p:nvCxnSpPr>
        <p:spPr>
          <a:xfrm flipV="1">
            <a:off x="10417615" y="206415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EE98E7B-E641-9B00-C116-9AEA1F834853}"/>
              </a:ext>
            </a:extLst>
          </p:cNvPr>
          <p:cNvCxnSpPr>
            <a:cxnSpLocks/>
          </p:cNvCxnSpPr>
          <p:nvPr/>
        </p:nvCxnSpPr>
        <p:spPr>
          <a:xfrm flipV="1">
            <a:off x="10417614" y="320151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492A3E1-13BC-741D-79A4-285D00FD981D}"/>
              </a:ext>
            </a:extLst>
          </p:cNvPr>
          <p:cNvCxnSpPr>
            <a:cxnSpLocks/>
          </p:cNvCxnSpPr>
          <p:nvPr/>
        </p:nvCxnSpPr>
        <p:spPr>
          <a:xfrm flipV="1">
            <a:off x="10406715" y="433887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8B5994E-CEED-5C83-8335-EAF11F8A89CF}"/>
              </a:ext>
            </a:extLst>
          </p:cNvPr>
          <p:cNvCxnSpPr>
            <a:cxnSpLocks/>
          </p:cNvCxnSpPr>
          <p:nvPr/>
        </p:nvCxnSpPr>
        <p:spPr>
          <a:xfrm flipV="1">
            <a:off x="10406715" y="547623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Arrow: Right 50">
            <a:extLst>
              <a:ext uri="{FF2B5EF4-FFF2-40B4-BE49-F238E27FC236}">
                <a16:creationId xmlns:a16="http://schemas.microsoft.com/office/drawing/2014/main" id="{12318449-AD0D-1D05-E36B-4E96DF432073}"/>
              </a:ext>
            </a:extLst>
          </p:cNvPr>
          <p:cNvSpPr/>
          <p:nvPr/>
        </p:nvSpPr>
        <p:spPr>
          <a:xfrm>
            <a:off x="119755" y="4997329"/>
            <a:ext cx="1763486" cy="484632"/>
          </a:xfrm>
          <a:prstGeom prst="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Active segment</a:t>
            </a:r>
          </a:p>
        </p:txBody>
      </p:sp>
      <p:sp>
        <p:nvSpPr>
          <p:cNvPr id="52" name="Arrow: Circular 51">
            <a:extLst>
              <a:ext uri="{FF2B5EF4-FFF2-40B4-BE49-F238E27FC236}">
                <a16:creationId xmlns:a16="http://schemas.microsoft.com/office/drawing/2014/main" id="{4DAB1F5C-7676-1827-8218-48DF8D5D948E}"/>
              </a:ext>
            </a:extLst>
          </p:cNvPr>
          <p:cNvSpPr/>
          <p:nvPr/>
        </p:nvSpPr>
        <p:spPr>
          <a:xfrm rot="16200000">
            <a:off x="1047893" y="2961054"/>
            <a:ext cx="1725190" cy="2702383"/>
          </a:xfrm>
          <a:prstGeom prst="circularArrow">
            <a:avLst>
              <a:gd name="adj1" fmla="val 3259"/>
              <a:gd name="adj2" fmla="val 1142319"/>
              <a:gd name="adj3" fmla="val 20529188"/>
              <a:gd name="adj4" fmla="val 10905829"/>
              <a:gd name="adj5" fmla="val 5405"/>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8712313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EC0ED6-027B-6992-F3F3-D17CCEA976B9}"/>
              </a:ext>
            </a:extLst>
          </p:cNvPr>
          <p:cNvSpPr>
            <a:spLocks noGrp="1"/>
          </p:cNvSpPr>
          <p:nvPr>
            <p:ph type="body" sz="quarter" idx="11"/>
          </p:nvPr>
        </p:nvSpPr>
        <p:spPr/>
        <p:txBody>
          <a:bodyPr/>
          <a:lstStyle/>
          <a:p>
            <a:r>
              <a:rPr lang="en-US" dirty="0"/>
              <a:t>Network Program #7</a:t>
            </a:r>
          </a:p>
        </p:txBody>
      </p:sp>
      <p:grpSp>
        <p:nvGrpSpPr>
          <p:cNvPr id="6" name="Group 5">
            <a:extLst>
              <a:ext uri="{FF2B5EF4-FFF2-40B4-BE49-F238E27FC236}">
                <a16:creationId xmlns:a16="http://schemas.microsoft.com/office/drawing/2014/main" id="{80CD64DE-41CD-C4AC-FD52-8B1F12C9057E}"/>
              </a:ext>
            </a:extLst>
          </p:cNvPr>
          <p:cNvGrpSpPr/>
          <p:nvPr/>
        </p:nvGrpSpPr>
        <p:grpSpPr>
          <a:xfrm>
            <a:off x="1899556" y="4185955"/>
            <a:ext cx="3243940" cy="413657"/>
            <a:chOff x="1959430" y="2177143"/>
            <a:chExt cx="3243940" cy="413657"/>
          </a:xfrm>
        </p:grpSpPr>
        <p:sp>
          <p:nvSpPr>
            <p:cNvPr id="4" name="TextBox 3">
              <a:extLst>
                <a:ext uri="{FF2B5EF4-FFF2-40B4-BE49-F238E27FC236}">
                  <a16:creationId xmlns:a16="http://schemas.microsoft.com/office/drawing/2014/main" id="{25AE1756-73E4-48C0-9B1C-5D98FE4AF2C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0</a:t>
              </a:r>
            </a:p>
          </p:txBody>
        </p:sp>
        <p:sp>
          <p:nvSpPr>
            <p:cNvPr id="5" name="TextBox 4">
              <a:extLst>
                <a:ext uri="{FF2B5EF4-FFF2-40B4-BE49-F238E27FC236}">
                  <a16:creationId xmlns:a16="http://schemas.microsoft.com/office/drawing/2014/main" id="{204FCDD0-144C-9FF3-A2F1-0254B1ADE461}"/>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0</a:t>
              </a:r>
            </a:p>
          </p:txBody>
        </p:sp>
      </p:grpSp>
      <p:grpSp>
        <p:nvGrpSpPr>
          <p:cNvPr id="2" name="Group 1">
            <a:extLst>
              <a:ext uri="{FF2B5EF4-FFF2-40B4-BE49-F238E27FC236}">
                <a16:creationId xmlns:a16="http://schemas.microsoft.com/office/drawing/2014/main" id="{94646B92-7599-5248-F0C7-DAD434BBB055}"/>
              </a:ext>
            </a:extLst>
          </p:cNvPr>
          <p:cNvGrpSpPr/>
          <p:nvPr/>
        </p:nvGrpSpPr>
        <p:grpSpPr>
          <a:xfrm>
            <a:off x="1899556" y="4599612"/>
            <a:ext cx="3243940" cy="413657"/>
            <a:chOff x="1959430" y="2177143"/>
            <a:chExt cx="3243940" cy="413657"/>
          </a:xfrm>
        </p:grpSpPr>
        <p:sp>
          <p:nvSpPr>
            <p:cNvPr id="7" name="TextBox 6">
              <a:extLst>
                <a:ext uri="{FF2B5EF4-FFF2-40B4-BE49-F238E27FC236}">
                  <a16:creationId xmlns:a16="http://schemas.microsoft.com/office/drawing/2014/main" id="{46FC5A35-87CA-0B78-2F35-B357679754A4}"/>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1</a:t>
              </a:r>
            </a:p>
          </p:txBody>
        </p:sp>
        <p:sp>
          <p:nvSpPr>
            <p:cNvPr id="8" name="TextBox 7">
              <a:extLst>
                <a:ext uri="{FF2B5EF4-FFF2-40B4-BE49-F238E27FC236}">
                  <a16:creationId xmlns:a16="http://schemas.microsoft.com/office/drawing/2014/main" id="{77A1110F-4020-1703-C171-FBD4708A7E02}"/>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1</a:t>
              </a:r>
            </a:p>
          </p:txBody>
        </p:sp>
      </p:grpSp>
      <p:grpSp>
        <p:nvGrpSpPr>
          <p:cNvPr id="9" name="Group 8">
            <a:extLst>
              <a:ext uri="{FF2B5EF4-FFF2-40B4-BE49-F238E27FC236}">
                <a16:creationId xmlns:a16="http://schemas.microsoft.com/office/drawing/2014/main" id="{2DF7574D-47E3-56BD-5C19-89F177CDAF04}"/>
              </a:ext>
            </a:extLst>
          </p:cNvPr>
          <p:cNvGrpSpPr/>
          <p:nvPr/>
        </p:nvGrpSpPr>
        <p:grpSpPr>
          <a:xfrm>
            <a:off x="1899556" y="5013269"/>
            <a:ext cx="3243940" cy="413657"/>
            <a:chOff x="1959430" y="2177143"/>
            <a:chExt cx="3243940" cy="413657"/>
          </a:xfrm>
        </p:grpSpPr>
        <p:sp>
          <p:nvSpPr>
            <p:cNvPr id="10" name="TextBox 9">
              <a:extLst>
                <a:ext uri="{FF2B5EF4-FFF2-40B4-BE49-F238E27FC236}">
                  <a16:creationId xmlns:a16="http://schemas.microsoft.com/office/drawing/2014/main" id="{5E555E47-BF49-44AA-F995-328066035C60}"/>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2</a:t>
              </a:r>
            </a:p>
          </p:txBody>
        </p:sp>
        <p:sp>
          <p:nvSpPr>
            <p:cNvPr id="11" name="TextBox 10">
              <a:extLst>
                <a:ext uri="{FF2B5EF4-FFF2-40B4-BE49-F238E27FC236}">
                  <a16:creationId xmlns:a16="http://schemas.microsoft.com/office/drawing/2014/main" id="{A1DCA384-00C5-FD07-D576-003139161DE6}"/>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2</a:t>
              </a:r>
            </a:p>
          </p:txBody>
        </p:sp>
      </p:grpSp>
      <p:grpSp>
        <p:nvGrpSpPr>
          <p:cNvPr id="12" name="Group 11">
            <a:extLst>
              <a:ext uri="{FF2B5EF4-FFF2-40B4-BE49-F238E27FC236}">
                <a16:creationId xmlns:a16="http://schemas.microsoft.com/office/drawing/2014/main" id="{D4E367CF-558E-EA65-EBC7-E744244EB572}"/>
              </a:ext>
            </a:extLst>
          </p:cNvPr>
          <p:cNvGrpSpPr/>
          <p:nvPr/>
        </p:nvGrpSpPr>
        <p:grpSpPr>
          <a:xfrm>
            <a:off x="1899556" y="5426926"/>
            <a:ext cx="3243940" cy="413657"/>
            <a:chOff x="1959430" y="2177143"/>
            <a:chExt cx="3243940" cy="413657"/>
          </a:xfrm>
        </p:grpSpPr>
        <p:sp>
          <p:nvSpPr>
            <p:cNvPr id="13" name="TextBox 12">
              <a:extLst>
                <a:ext uri="{FF2B5EF4-FFF2-40B4-BE49-F238E27FC236}">
                  <a16:creationId xmlns:a16="http://schemas.microsoft.com/office/drawing/2014/main" id="{AA887D77-DA8D-E172-4E7A-A763A9490D92}"/>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3</a:t>
              </a:r>
            </a:p>
          </p:txBody>
        </p:sp>
        <p:sp>
          <p:nvSpPr>
            <p:cNvPr id="14" name="TextBox 13">
              <a:extLst>
                <a:ext uri="{FF2B5EF4-FFF2-40B4-BE49-F238E27FC236}">
                  <a16:creationId xmlns:a16="http://schemas.microsoft.com/office/drawing/2014/main" id="{5C696D45-5E9E-FC82-5C1F-87577AA2892A}"/>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3</a:t>
              </a:r>
            </a:p>
          </p:txBody>
        </p:sp>
      </p:grpSp>
      <p:grpSp>
        <p:nvGrpSpPr>
          <p:cNvPr id="15" name="Group 14">
            <a:extLst>
              <a:ext uri="{FF2B5EF4-FFF2-40B4-BE49-F238E27FC236}">
                <a16:creationId xmlns:a16="http://schemas.microsoft.com/office/drawing/2014/main" id="{67D678DA-73EB-6290-3193-4E70C9EE4F99}"/>
              </a:ext>
            </a:extLst>
          </p:cNvPr>
          <p:cNvGrpSpPr/>
          <p:nvPr/>
        </p:nvGrpSpPr>
        <p:grpSpPr>
          <a:xfrm>
            <a:off x="1899556" y="5840583"/>
            <a:ext cx="3243940" cy="413657"/>
            <a:chOff x="1959430" y="2177143"/>
            <a:chExt cx="3243940" cy="413657"/>
          </a:xfrm>
        </p:grpSpPr>
        <p:sp>
          <p:nvSpPr>
            <p:cNvPr id="16" name="TextBox 15">
              <a:extLst>
                <a:ext uri="{FF2B5EF4-FFF2-40B4-BE49-F238E27FC236}">
                  <a16:creationId xmlns:a16="http://schemas.microsoft.com/office/drawing/2014/main" id="{7C4DCDF5-65A8-F573-1955-BE31D841657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4</a:t>
              </a:r>
            </a:p>
          </p:txBody>
        </p:sp>
        <p:sp>
          <p:nvSpPr>
            <p:cNvPr id="17" name="TextBox 16">
              <a:extLst>
                <a:ext uri="{FF2B5EF4-FFF2-40B4-BE49-F238E27FC236}">
                  <a16:creationId xmlns:a16="http://schemas.microsoft.com/office/drawing/2014/main" id="{34D6F2B3-48E4-77DC-7C9A-26FF0FF94F9D}"/>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4</a:t>
              </a:r>
            </a:p>
          </p:txBody>
        </p:sp>
      </p:grpSp>
      <p:sp>
        <p:nvSpPr>
          <p:cNvPr id="19" name="TextBox 18">
            <a:extLst>
              <a:ext uri="{FF2B5EF4-FFF2-40B4-BE49-F238E27FC236}">
                <a16:creationId xmlns:a16="http://schemas.microsoft.com/office/drawing/2014/main" id="{5DC54D9D-8772-F9A8-2EC7-5B0B4C4AF739}"/>
              </a:ext>
            </a:extLst>
          </p:cNvPr>
          <p:cNvSpPr txBox="1"/>
          <p:nvPr/>
        </p:nvSpPr>
        <p:spPr>
          <a:xfrm>
            <a:off x="522515" y="1301469"/>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A</a:t>
            </a:r>
          </a:p>
        </p:txBody>
      </p:sp>
      <p:sp>
        <p:nvSpPr>
          <p:cNvPr id="20" name="TextBox 19">
            <a:extLst>
              <a:ext uri="{FF2B5EF4-FFF2-40B4-BE49-F238E27FC236}">
                <a16:creationId xmlns:a16="http://schemas.microsoft.com/office/drawing/2014/main" id="{86ECD626-09B3-2D24-6746-8AF89F7EEE22}"/>
              </a:ext>
            </a:extLst>
          </p:cNvPr>
          <p:cNvSpPr txBox="1"/>
          <p:nvPr/>
        </p:nvSpPr>
        <p:spPr>
          <a:xfrm>
            <a:off x="2068284"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B</a:t>
            </a:r>
          </a:p>
        </p:txBody>
      </p:sp>
      <p:sp>
        <p:nvSpPr>
          <p:cNvPr id="21" name="TextBox 20">
            <a:extLst>
              <a:ext uri="{FF2B5EF4-FFF2-40B4-BE49-F238E27FC236}">
                <a16:creationId xmlns:a16="http://schemas.microsoft.com/office/drawing/2014/main" id="{220DFCA0-79E9-1920-D83A-890C99DBE3DE}"/>
              </a:ext>
            </a:extLst>
          </p:cNvPr>
          <p:cNvSpPr txBox="1"/>
          <p:nvPr/>
        </p:nvSpPr>
        <p:spPr>
          <a:xfrm>
            <a:off x="3614053"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C</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Loc4</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2" name="TextBox 21">
            <a:extLst>
              <a:ext uri="{FF2B5EF4-FFF2-40B4-BE49-F238E27FC236}">
                <a16:creationId xmlns:a16="http://schemas.microsoft.com/office/drawing/2014/main" id="{7EF262A1-8154-CA84-C05E-BCF259BCF7B2}"/>
              </a:ext>
            </a:extLst>
          </p:cNvPr>
          <p:cNvSpPr txBox="1"/>
          <p:nvPr/>
        </p:nvSpPr>
        <p:spPr>
          <a:xfrm>
            <a:off x="5159822"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D</a:t>
            </a:r>
          </a:p>
        </p:txBody>
      </p:sp>
      <p:sp>
        <p:nvSpPr>
          <p:cNvPr id="23" name="TextBox 22">
            <a:extLst>
              <a:ext uri="{FF2B5EF4-FFF2-40B4-BE49-F238E27FC236}">
                <a16:creationId xmlns:a16="http://schemas.microsoft.com/office/drawing/2014/main" id="{6B9212D0-0982-8D69-A27D-EDC0A39BF318}"/>
              </a:ext>
            </a:extLst>
          </p:cNvPr>
          <p:cNvSpPr txBox="1"/>
          <p:nvPr/>
        </p:nvSpPr>
        <p:spPr>
          <a:xfrm>
            <a:off x="8251360"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F</a:t>
            </a:r>
          </a:p>
        </p:txBody>
      </p:sp>
      <p:sp>
        <p:nvSpPr>
          <p:cNvPr id="24" name="TextBox 23">
            <a:extLst>
              <a:ext uri="{FF2B5EF4-FFF2-40B4-BE49-F238E27FC236}">
                <a16:creationId xmlns:a16="http://schemas.microsoft.com/office/drawing/2014/main" id="{9D9DAB8E-4DC2-CB98-03A2-0D5276E46941}"/>
              </a:ext>
            </a:extLst>
          </p:cNvPr>
          <p:cNvSpPr txBox="1"/>
          <p:nvPr/>
        </p:nvSpPr>
        <p:spPr>
          <a:xfrm>
            <a:off x="9797129" y="129114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G</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Loc2</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5" name="TextBox 24">
            <a:extLst>
              <a:ext uri="{FF2B5EF4-FFF2-40B4-BE49-F238E27FC236}">
                <a16:creationId xmlns:a16="http://schemas.microsoft.com/office/drawing/2014/main" id="{BAB2446F-E979-5C6C-7D10-083E4D19EE79}"/>
              </a:ext>
            </a:extLst>
          </p:cNvPr>
          <p:cNvSpPr txBox="1"/>
          <p:nvPr/>
        </p:nvSpPr>
        <p:spPr>
          <a:xfrm>
            <a:off x="6705591"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E</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Loc3</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6" name="TextBox 25">
            <a:extLst>
              <a:ext uri="{FF2B5EF4-FFF2-40B4-BE49-F238E27FC236}">
                <a16:creationId xmlns:a16="http://schemas.microsoft.com/office/drawing/2014/main" id="{D0FA2F50-DC52-7C1A-E947-AC7A00232017}"/>
              </a:ext>
            </a:extLst>
          </p:cNvPr>
          <p:cNvSpPr txBox="1"/>
          <p:nvPr/>
        </p:nvSpPr>
        <p:spPr>
          <a:xfrm>
            <a:off x="9797129" y="242850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H</a:t>
            </a:r>
          </a:p>
        </p:txBody>
      </p:sp>
      <p:sp>
        <p:nvSpPr>
          <p:cNvPr id="27" name="TextBox 26">
            <a:extLst>
              <a:ext uri="{FF2B5EF4-FFF2-40B4-BE49-F238E27FC236}">
                <a16:creationId xmlns:a16="http://schemas.microsoft.com/office/drawing/2014/main" id="{84162B9B-4BAA-3304-33B5-AA47648245C4}"/>
              </a:ext>
            </a:extLst>
          </p:cNvPr>
          <p:cNvSpPr txBox="1"/>
          <p:nvPr/>
        </p:nvSpPr>
        <p:spPr>
          <a:xfrm>
            <a:off x="9797129" y="356586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I</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Loc1</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8" name="TextBox 27">
            <a:extLst>
              <a:ext uri="{FF2B5EF4-FFF2-40B4-BE49-F238E27FC236}">
                <a16:creationId xmlns:a16="http://schemas.microsoft.com/office/drawing/2014/main" id="{83FC4A08-F069-4DE4-93D0-B3A79C0B3695}"/>
              </a:ext>
            </a:extLst>
          </p:cNvPr>
          <p:cNvSpPr txBox="1"/>
          <p:nvPr/>
        </p:nvSpPr>
        <p:spPr>
          <a:xfrm>
            <a:off x="9797129" y="470322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J</a:t>
            </a:r>
          </a:p>
        </p:txBody>
      </p:sp>
      <p:sp>
        <p:nvSpPr>
          <p:cNvPr id="29" name="TextBox 28">
            <a:extLst>
              <a:ext uri="{FF2B5EF4-FFF2-40B4-BE49-F238E27FC236}">
                <a16:creationId xmlns:a16="http://schemas.microsoft.com/office/drawing/2014/main" id="{E8499C2E-A984-CE09-E9FC-869E5F2DF5E7}"/>
              </a:ext>
            </a:extLst>
          </p:cNvPr>
          <p:cNvSpPr txBox="1"/>
          <p:nvPr/>
        </p:nvSpPr>
        <p:spPr>
          <a:xfrm>
            <a:off x="9797129" y="584058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K</a:t>
            </a:r>
          </a:p>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rPr>
              <a:t>Loc0</a:t>
            </a:r>
          </a:p>
        </p:txBody>
      </p:sp>
      <p:grpSp>
        <p:nvGrpSpPr>
          <p:cNvPr id="30" name="Group 29">
            <a:extLst>
              <a:ext uri="{FF2B5EF4-FFF2-40B4-BE49-F238E27FC236}">
                <a16:creationId xmlns:a16="http://schemas.microsoft.com/office/drawing/2014/main" id="{3688AF0D-03E0-2C28-3596-C1F8066A7300}"/>
              </a:ext>
            </a:extLst>
          </p:cNvPr>
          <p:cNvGrpSpPr/>
          <p:nvPr/>
        </p:nvGrpSpPr>
        <p:grpSpPr>
          <a:xfrm>
            <a:off x="1915882" y="3436914"/>
            <a:ext cx="3243940" cy="413657"/>
            <a:chOff x="1959430" y="2177143"/>
            <a:chExt cx="3243940" cy="413657"/>
          </a:xfrm>
        </p:grpSpPr>
        <p:sp>
          <p:nvSpPr>
            <p:cNvPr id="31" name="TextBox 30">
              <a:extLst>
                <a:ext uri="{FF2B5EF4-FFF2-40B4-BE49-F238E27FC236}">
                  <a16:creationId xmlns:a16="http://schemas.microsoft.com/office/drawing/2014/main" id="{78BA7CFA-94F2-09B5-2D11-3CD3A0F6AAB6}"/>
                </a:ext>
              </a:extLst>
            </p:cNvPr>
            <p:cNvSpPr txBox="1"/>
            <p:nvPr/>
          </p:nvSpPr>
          <p:spPr>
            <a:xfrm>
              <a:off x="1959430" y="2177143"/>
              <a:ext cx="1621970" cy="413657"/>
            </a:xfrm>
            <a:prstGeom prst="rect">
              <a:avLst/>
            </a:prstGeom>
            <a:solidFill>
              <a:schemeClr val="accent3">
                <a:lumMod val="40000"/>
                <a:lumOff val="60000"/>
              </a:schemeClr>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2</a:t>
              </a:r>
            </a:p>
          </p:txBody>
        </p:sp>
        <p:sp>
          <p:nvSpPr>
            <p:cNvPr id="32" name="TextBox 31">
              <a:extLst>
                <a:ext uri="{FF2B5EF4-FFF2-40B4-BE49-F238E27FC236}">
                  <a16:creationId xmlns:a16="http://schemas.microsoft.com/office/drawing/2014/main" id="{B62BB785-CEEA-27B4-5F00-AE094D6144CE}"/>
                </a:ext>
              </a:extLst>
            </p:cNvPr>
            <p:cNvSpPr txBox="1"/>
            <p:nvPr/>
          </p:nvSpPr>
          <p:spPr>
            <a:xfrm>
              <a:off x="3581400" y="2177143"/>
              <a:ext cx="1621970" cy="413657"/>
            </a:xfrm>
            <a:prstGeom prst="rect">
              <a:avLst/>
            </a:prstGeom>
            <a:solidFill>
              <a:schemeClr val="accent4">
                <a:lumMod val="40000"/>
                <a:lumOff val="60000"/>
              </a:schemeClr>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2</a:t>
              </a:r>
            </a:p>
          </p:txBody>
        </p:sp>
      </p:grpSp>
      <p:sp>
        <p:nvSpPr>
          <p:cNvPr id="33" name="TextBox 32">
            <a:extLst>
              <a:ext uri="{FF2B5EF4-FFF2-40B4-BE49-F238E27FC236}">
                <a16:creationId xmlns:a16="http://schemas.microsoft.com/office/drawing/2014/main" id="{1634C2CB-6B6B-81AA-FE36-906444213B14}"/>
              </a:ext>
            </a:extLst>
          </p:cNvPr>
          <p:cNvSpPr txBox="1"/>
          <p:nvPr/>
        </p:nvSpPr>
        <p:spPr>
          <a:xfrm>
            <a:off x="5236030" y="3436914"/>
            <a:ext cx="2547256"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IPv6 DST Addr.</a:t>
            </a:r>
          </a:p>
        </p:txBody>
      </p:sp>
      <p:sp>
        <p:nvSpPr>
          <p:cNvPr id="34" name="TextBox 33">
            <a:extLst>
              <a:ext uri="{FF2B5EF4-FFF2-40B4-BE49-F238E27FC236}">
                <a16:creationId xmlns:a16="http://schemas.microsoft.com/office/drawing/2014/main" id="{3B257FCD-30EA-3E5C-61FD-96CAF1A93136}"/>
              </a:ext>
            </a:extLst>
          </p:cNvPr>
          <p:cNvSpPr txBox="1"/>
          <p:nvPr/>
        </p:nvSpPr>
        <p:spPr>
          <a:xfrm>
            <a:off x="5486393" y="4995057"/>
            <a:ext cx="914400"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SHR</a:t>
            </a:r>
          </a:p>
        </p:txBody>
      </p:sp>
      <p:cxnSp>
        <p:nvCxnSpPr>
          <p:cNvPr id="36" name="Straight Arrow Connector 35">
            <a:extLst>
              <a:ext uri="{FF2B5EF4-FFF2-40B4-BE49-F238E27FC236}">
                <a16:creationId xmlns:a16="http://schemas.microsoft.com/office/drawing/2014/main" id="{3508B799-ED0E-3852-567F-4ED8BC37722C}"/>
              </a:ext>
            </a:extLst>
          </p:cNvPr>
          <p:cNvCxnSpPr>
            <a:cxnSpLocks/>
          </p:cNvCxnSpPr>
          <p:nvPr/>
        </p:nvCxnSpPr>
        <p:spPr>
          <a:xfrm flipV="1">
            <a:off x="4855024" y="1796143"/>
            <a:ext cx="4789719" cy="154095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8DAE735-1CD6-2310-BB62-83985D69EA59}"/>
              </a:ext>
            </a:extLst>
          </p:cNvPr>
          <p:cNvCxnSpPr>
            <a:stCxn id="19" idx="3"/>
            <a:endCxn id="20" idx="1"/>
          </p:cNvCxnSpPr>
          <p:nvPr/>
        </p:nvCxnSpPr>
        <p:spPr>
          <a:xfrm flipV="1">
            <a:off x="1763486" y="1683160"/>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5A98E94-CBFE-69D9-5AC5-81A0C0B90AC0}"/>
              </a:ext>
            </a:extLst>
          </p:cNvPr>
          <p:cNvCxnSpPr/>
          <p:nvPr/>
        </p:nvCxnSpPr>
        <p:spPr>
          <a:xfrm flipV="1">
            <a:off x="3309255" y="167042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65A6F1C-F30D-685A-66F6-E196573FECBE}"/>
              </a:ext>
            </a:extLst>
          </p:cNvPr>
          <p:cNvCxnSpPr/>
          <p:nvPr/>
        </p:nvCxnSpPr>
        <p:spPr>
          <a:xfrm flipV="1">
            <a:off x="4855024" y="1665608"/>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1DA76F5-2D6A-7918-AB15-B8C5D6C39988}"/>
              </a:ext>
            </a:extLst>
          </p:cNvPr>
          <p:cNvCxnSpPr/>
          <p:nvPr/>
        </p:nvCxnSpPr>
        <p:spPr>
          <a:xfrm flipV="1">
            <a:off x="6389906" y="1672274"/>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5DE1137-A253-5BAE-A8BB-AE7EDD4B1E3A}"/>
              </a:ext>
            </a:extLst>
          </p:cNvPr>
          <p:cNvCxnSpPr>
            <a:cxnSpLocks/>
            <a:stCxn id="25" idx="3"/>
          </p:cNvCxnSpPr>
          <p:nvPr/>
        </p:nvCxnSpPr>
        <p:spPr>
          <a:xfrm>
            <a:off x="7946562" y="1683160"/>
            <a:ext cx="283024" cy="0"/>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C182581-03B6-CCEA-84F6-9BFB8D5F1855}"/>
              </a:ext>
            </a:extLst>
          </p:cNvPr>
          <p:cNvCxnSpPr/>
          <p:nvPr/>
        </p:nvCxnSpPr>
        <p:spPr>
          <a:xfrm flipV="1">
            <a:off x="9448783" y="169404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5E90EF5-2A32-4E52-D0D2-EDACDD1DA825}"/>
              </a:ext>
            </a:extLst>
          </p:cNvPr>
          <p:cNvCxnSpPr>
            <a:cxnSpLocks/>
            <a:stCxn id="26" idx="0"/>
            <a:endCxn id="24" idx="2"/>
          </p:cNvCxnSpPr>
          <p:nvPr/>
        </p:nvCxnSpPr>
        <p:spPr>
          <a:xfrm flipV="1">
            <a:off x="10417615" y="206415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EE98E7B-E641-9B00-C116-9AEA1F834853}"/>
              </a:ext>
            </a:extLst>
          </p:cNvPr>
          <p:cNvCxnSpPr>
            <a:cxnSpLocks/>
          </p:cNvCxnSpPr>
          <p:nvPr/>
        </p:nvCxnSpPr>
        <p:spPr>
          <a:xfrm flipV="1">
            <a:off x="10417614" y="320151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492A3E1-13BC-741D-79A4-285D00FD981D}"/>
              </a:ext>
            </a:extLst>
          </p:cNvPr>
          <p:cNvCxnSpPr>
            <a:cxnSpLocks/>
          </p:cNvCxnSpPr>
          <p:nvPr/>
        </p:nvCxnSpPr>
        <p:spPr>
          <a:xfrm flipV="1">
            <a:off x="10406715" y="433887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8B5994E-CEED-5C83-8335-EAF11F8A89CF}"/>
              </a:ext>
            </a:extLst>
          </p:cNvPr>
          <p:cNvCxnSpPr>
            <a:cxnSpLocks/>
          </p:cNvCxnSpPr>
          <p:nvPr/>
        </p:nvCxnSpPr>
        <p:spPr>
          <a:xfrm flipV="1">
            <a:off x="10406715" y="547623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Arrow: Right 50">
            <a:extLst>
              <a:ext uri="{FF2B5EF4-FFF2-40B4-BE49-F238E27FC236}">
                <a16:creationId xmlns:a16="http://schemas.microsoft.com/office/drawing/2014/main" id="{12318449-AD0D-1D05-E36B-4E96DF432073}"/>
              </a:ext>
            </a:extLst>
          </p:cNvPr>
          <p:cNvSpPr/>
          <p:nvPr/>
        </p:nvSpPr>
        <p:spPr>
          <a:xfrm>
            <a:off x="119755" y="4997329"/>
            <a:ext cx="1763486" cy="484632"/>
          </a:xfrm>
          <a:prstGeom prst="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Active segment</a:t>
            </a:r>
          </a:p>
        </p:txBody>
      </p:sp>
    </p:spTree>
    <p:extLst>
      <p:ext uri="{BB962C8B-B14F-4D97-AF65-F5344CB8AC3E}">
        <p14:creationId xmlns:p14="http://schemas.microsoft.com/office/powerpoint/2010/main" val="704553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EC0ED6-027B-6992-F3F3-D17CCEA976B9}"/>
              </a:ext>
            </a:extLst>
          </p:cNvPr>
          <p:cNvSpPr>
            <a:spLocks noGrp="1"/>
          </p:cNvSpPr>
          <p:nvPr>
            <p:ph type="body" sz="quarter" idx="11"/>
          </p:nvPr>
        </p:nvSpPr>
        <p:spPr/>
        <p:txBody>
          <a:bodyPr/>
          <a:lstStyle/>
          <a:p>
            <a:r>
              <a:rPr lang="en-US" dirty="0"/>
              <a:t>Network Program #8</a:t>
            </a:r>
          </a:p>
        </p:txBody>
      </p:sp>
      <p:grpSp>
        <p:nvGrpSpPr>
          <p:cNvPr id="6" name="Group 5">
            <a:extLst>
              <a:ext uri="{FF2B5EF4-FFF2-40B4-BE49-F238E27FC236}">
                <a16:creationId xmlns:a16="http://schemas.microsoft.com/office/drawing/2014/main" id="{80CD64DE-41CD-C4AC-FD52-8B1F12C9057E}"/>
              </a:ext>
            </a:extLst>
          </p:cNvPr>
          <p:cNvGrpSpPr/>
          <p:nvPr/>
        </p:nvGrpSpPr>
        <p:grpSpPr>
          <a:xfrm>
            <a:off x="1899556" y="4185955"/>
            <a:ext cx="3243940" cy="413657"/>
            <a:chOff x="1959430" y="2177143"/>
            <a:chExt cx="3243940" cy="413657"/>
          </a:xfrm>
        </p:grpSpPr>
        <p:sp>
          <p:nvSpPr>
            <p:cNvPr id="4" name="TextBox 3">
              <a:extLst>
                <a:ext uri="{FF2B5EF4-FFF2-40B4-BE49-F238E27FC236}">
                  <a16:creationId xmlns:a16="http://schemas.microsoft.com/office/drawing/2014/main" id="{25AE1756-73E4-48C0-9B1C-5D98FE4AF2C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0</a:t>
              </a:r>
            </a:p>
          </p:txBody>
        </p:sp>
        <p:sp>
          <p:nvSpPr>
            <p:cNvPr id="5" name="TextBox 4">
              <a:extLst>
                <a:ext uri="{FF2B5EF4-FFF2-40B4-BE49-F238E27FC236}">
                  <a16:creationId xmlns:a16="http://schemas.microsoft.com/office/drawing/2014/main" id="{204FCDD0-144C-9FF3-A2F1-0254B1ADE461}"/>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0</a:t>
              </a:r>
            </a:p>
          </p:txBody>
        </p:sp>
      </p:grpSp>
      <p:grpSp>
        <p:nvGrpSpPr>
          <p:cNvPr id="2" name="Group 1">
            <a:extLst>
              <a:ext uri="{FF2B5EF4-FFF2-40B4-BE49-F238E27FC236}">
                <a16:creationId xmlns:a16="http://schemas.microsoft.com/office/drawing/2014/main" id="{94646B92-7599-5248-F0C7-DAD434BBB055}"/>
              </a:ext>
            </a:extLst>
          </p:cNvPr>
          <p:cNvGrpSpPr/>
          <p:nvPr/>
        </p:nvGrpSpPr>
        <p:grpSpPr>
          <a:xfrm>
            <a:off x="1899556" y="4599612"/>
            <a:ext cx="3243940" cy="413657"/>
            <a:chOff x="1959430" y="2177143"/>
            <a:chExt cx="3243940" cy="413657"/>
          </a:xfrm>
        </p:grpSpPr>
        <p:sp>
          <p:nvSpPr>
            <p:cNvPr id="7" name="TextBox 6">
              <a:extLst>
                <a:ext uri="{FF2B5EF4-FFF2-40B4-BE49-F238E27FC236}">
                  <a16:creationId xmlns:a16="http://schemas.microsoft.com/office/drawing/2014/main" id="{46FC5A35-87CA-0B78-2F35-B357679754A4}"/>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1</a:t>
              </a:r>
            </a:p>
          </p:txBody>
        </p:sp>
        <p:sp>
          <p:nvSpPr>
            <p:cNvPr id="8" name="TextBox 7">
              <a:extLst>
                <a:ext uri="{FF2B5EF4-FFF2-40B4-BE49-F238E27FC236}">
                  <a16:creationId xmlns:a16="http://schemas.microsoft.com/office/drawing/2014/main" id="{77A1110F-4020-1703-C171-FBD4708A7E02}"/>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1</a:t>
              </a:r>
            </a:p>
          </p:txBody>
        </p:sp>
      </p:grpSp>
      <p:grpSp>
        <p:nvGrpSpPr>
          <p:cNvPr id="9" name="Group 8">
            <a:extLst>
              <a:ext uri="{FF2B5EF4-FFF2-40B4-BE49-F238E27FC236}">
                <a16:creationId xmlns:a16="http://schemas.microsoft.com/office/drawing/2014/main" id="{2DF7574D-47E3-56BD-5C19-89F177CDAF04}"/>
              </a:ext>
            </a:extLst>
          </p:cNvPr>
          <p:cNvGrpSpPr/>
          <p:nvPr/>
        </p:nvGrpSpPr>
        <p:grpSpPr>
          <a:xfrm>
            <a:off x="1899556" y="5013269"/>
            <a:ext cx="3243940" cy="413657"/>
            <a:chOff x="1959430" y="2177143"/>
            <a:chExt cx="3243940" cy="413657"/>
          </a:xfrm>
        </p:grpSpPr>
        <p:sp>
          <p:nvSpPr>
            <p:cNvPr id="10" name="TextBox 9">
              <a:extLst>
                <a:ext uri="{FF2B5EF4-FFF2-40B4-BE49-F238E27FC236}">
                  <a16:creationId xmlns:a16="http://schemas.microsoft.com/office/drawing/2014/main" id="{5E555E47-BF49-44AA-F995-328066035C60}"/>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2</a:t>
              </a:r>
            </a:p>
          </p:txBody>
        </p:sp>
        <p:sp>
          <p:nvSpPr>
            <p:cNvPr id="11" name="TextBox 10">
              <a:extLst>
                <a:ext uri="{FF2B5EF4-FFF2-40B4-BE49-F238E27FC236}">
                  <a16:creationId xmlns:a16="http://schemas.microsoft.com/office/drawing/2014/main" id="{A1DCA384-00C5-FD07-D576-003139161DE6}"/>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2</a:t>
              </a:r>
            </a:p>
          </p:txBody>
        </p:sp>
      </p:grpSp>
      <p:grpSp>
        <p:nvGrpSpPr>
          <p:cNvPr id="12" name="Group 11">
            <a:extLst>
              <a:ext uri="{FF2B5EF4-FFF2-40B4-BE49-F238E27FC236}">
                <a16:creationId xmlns:a16="http://schemas.microsoft.com/office/drawing/2014/main" id="{D4E367CF-558E-EA65-EBC7-E744244EB572}"/>
              </a:ext>
            </a:extLst>
          </p:cNvPr>
          <p:cNvGrpSpPr/>
          <p:nvPr/>
        </p:nvGrpSpPr>
        <p:grpSpPr>
          <a:xfrm>
            <a:off x="1899556" y="5426926"/>
            <a:ext cx="3243940" cy="413657"/>
            <a:chOff x="1959430" y="2177143"/>
            <a:chExt cx="3243940" cy="413657"/>
          </a:xfrm>
        </p:grpSpPr>
        <p:sp>
          <p:nvSpPr>
            <p:cNvPr id="13" name="TextBox 12">
              <a:extLst>
                <a:ext uri="{FF2B5EF4-FFF2-40B4-BE49-F238E27FC236}">
                  <a16:creationId xmlns:a16="http://schemas.microsoft.com/office/drawing/2014/main" id="{AA887D77-DA8D-E172-4E7A-A763A9490D92}"/>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3</a:t>
              </a:r>
            </a:p>
          </p:txBody>
        </p:sp>
        <p:sp>
          <p:nvSpPr>
            <p:cNvPr id="14" name="TextBox 13">
              <a:extLst>
                <a:ext uri="{FF2B5EF4-FFF2-40B4-BE49-F238E27FC236}">
                  <a16:creationId xmlns:a16="http://schemas.microsoft.com/office/drawing/2014/main" id="{5C696D45-5E9E-FC82-5C1F-87577AA2892A}"/>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3</a:t>
              </a:r>
            </a:p>
          </p:txBody>
        </p:sp>
      </p:grpSp>
      <p:grpSp>
        <p:nvGrpSpPr>
          <p:cNvPr id="15" name="Group 14">
            <a:extLst>
              <a:ext uri="{FF2B5EF4-FFF2-40B4-BE49-F238E27FC236}">
                <a16:creationId xmlns:a16="http://schemas.microsoft.com/office/drawing/2014/main" id="{67D678DA-73EB-6290-3193-4E70C9EE4F99}"/>
              </a:ext>
            </a:extLst>
          </p:cNvPr>
          <p:cNvGrpSpPr/>
          <p:nvPr/>
        </p:nvGrpSpPr>
        <p:grpSpPr>
          <a:xfrm>
            <a:off x="1899556" y="5840583"/>
            <a:ext cx="3243940" cy="413657"/>
            <a:chOff x="1959430" y="2177143"/>
            <a:chExt cx="3243940" cy="413657"/>
          </a:xfrm>
        </p:grpSpPr>
        <p:sp>
          <p:nvSpPr>
            <p:cNvPr id="16" name="TextBox 15">
              <a:extLst>
                <a:ext uri="{FF2B5EF4-FFF2-40B4-BE49-F238E27FC236}">
                  <a16:creationId xmlns:a16="http://schemas.microsoft.com/office/drawing/2014/main" id="{7C4DCDF5-65A8-F573-1955-BE31D841657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4</a:t>
              </a:r>
            </a:p>
          </p:txBody>
        </p:sp>
        <p:sp>
          <p:nvSpPr>
            <p:cNvPr id="17" name="TextBox 16">
              <a:extLst>
                <a:ext uri="{FF2B5EF4-FFF2-40B4-BE49-F238E27FC236}">
                  <a16:creationId xmlns:a16="http://schemas.microsoft.com/office/drawing/2014/main" id="{34D6F2B3-48E4-77DC-7C9A-26FF0FF94F9D}"/>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4</a:t>
              </a:r>
            </a:p>
          </p:txBody>
        </p:sp>
      </p:grpSp>
      <p:sp>
        <p:nvSpPr>
          <p:cNvPr id="19" name="TextBox 18">
            <a:extLst>
              <a:ext uri="{FF2B5EF4-FFF2-40B4-BE49-F238E27FC236}">
                <a16:creationId xmlns:a16="http://schemas.microsoft.com/office/drawing/2014/main" id="{5DC54D9D-8772-F9A8-2EC7-5B0B4C4AF739}"/>
              </a:ext>
            </a:extLst>
          </p:cNvPr>
          <p:cNvSpPr txBox="1"/>
          <p:nvPr/>
        </p:nvSpPr>
        <p:spPr>
          <a:xfrm>
            <a:off x="522515" y="1301469"/>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A</a:t>
            </a:r>
          </a:p>
        </p:txBody>
      </p:sp>
      <p:sp>
        <p:nvSpPr>
          <p:cNvPr id="20" name="TextBox 19">
            <a:extLst>
              <a:ext uri="{FF2B5EF4-FFF2-40B4-BE49-F238E27FC236}">
                <a16:creationId xmlns:a16="http://schemas.microsoft.com/office/drawing/2014/main" id="{86ECD626-09B3-2D24-6746-8AF89F7EEE22}"/>
              </a:ext>
            </a:extLst>
          </p:cNvPr>
          <p:cNvSpPr txBox="1"/>
          <p:nvPr/>
        </p:nvSpPr>
        <p:spPr>
          <a:xfrm>
            <a:off x="2068284"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B</a:t>
            </a:r>
          </a:p>
        </p:txBody>
      </p:sp>
      <p:sp>
        <p:nvSpPr>
          <p:cNvPr id="21" name="TextBox 20">
            <a:extLst>
              <a:ext uri="{FF2B5EF4-FFF2-40B4-BE49-F238E27FC236}">
                <a16:creationId xmlns:a16="http://schemas.microsoft.com/office/drawing/2014/main" id="{220DFCA0-79E9-1920-D83A-890C99DBE3DE}"/>
              </a:ext>
            </a:extLst>
          </p:cNvPr>
          <p:cNvSpPr txBox="1"/>
          <p:nvPr/>
        </p:nvSpPr>
        <p:spPr>
          <a:xfrm>
            <a:off x="3614053"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C</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Loc4</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2" name="TextBox 21">
            <a:extLst>
              <a:ext uri="{FF2B5EF4-FFF2-40B4-BE49-F238E27FC236}">
                <a16:creationId xmlns:a16="http://schemas.microsoft.com/office/drawing/2014/main" id="{7EF262A1-8154-CA84-C05E-BCF259BCF7B2}"/>
              </a:ext>
            </a:extLst>
          </p:cNvPr>
          <p:cNvSpPr txBox="1"/>
          <p:nvPr/>
        </p:nvSpPr>
        <p:spPr>
          <a:xfrm>
            <a:off x="5159822"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D</a:t>
            </a:r>
          </a:p>
        </p:txBody>
      </p:sp>
      <p:sp>
        <p:nvSpPr>
          <p:cNvPr id="23" name="TextBox 22">
            <a:extLst>
              <a:ext uri="{FF2B5EF4-FFF2-40B4-BE49-F238E27FC236}">
                <a16:creationId xmlns:a16="http://schemas.microsoft.com/office/drawing/2014/main" id="{6B9212D0-0982-8D69-A27D-EDC0A39BF318}"/>
              </a:ext>
            </a:extLst>
          </p:cNvPr>
          <p:cNvSpPr txBox="1"/>
          <p:nvPr/>
        </p:nvSpPr>
        <p:spPr>
          <a:xfrm>
            <a:off x="8251360"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F</a:t>
            </a:r>
          </a:p>
        </p:txBody>
      </p:sp>
      <p:sp>
        <p:nvSpPr>
          <p:cNvPr id="24" name="TextBox 23">
            <a:extLst>
              <a:ext uri="{FF2B5EF4-FFF2-40B4-BE49-F238E27FC236}">
                <a16:creationId xmlns:a16="http://schemas.microsoft.com/office/drawing/2014/main" id="{9D9DAB8E-4DC2-CB98-03A2-0D5276E46941}"/>
              </a:ext>
            </a:extLst>
          </p:cNvPr>
          <p:cNvSpPr txBox="1"/>
          <p:nvPr/>
        </p:nvSpPr>
        <p:spPr>
          <a:xfrm>
            <a:off x="9797129" y="129114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G</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Loc2</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5" name="TextBox 24">
            <a:extLst>
              <a:ext uri="{FF2B5EF4-FFF2-40B4-BE49-F238E27FC236}">
                <a16:creationId xmlns:a16="http://schemas.microsoft.com/office/drawing/2014/main" id="{BAB2446F-E979-5C6C-7D10-083E4D19EE79}"/>
              </a:ext>
            </a:extLst>
          </p:cNvPr>
          <p:cNvSpPr txBox="1"/>
          <p:nvPr/>
        </p:nvSpPr>
        <p:spPr>
          <a:xfrm>
            <a:off x="6705591"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E</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Loc3</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6" name="TextBox 25">
            <a:extLst>
              <a:ext uri="{FF2B5EF4-FFF2-40B4-BE49-F238E27FC236}">
                <a16:creationId xmlns:a16="http://schemas.microsoft.com/office/drawing/2014/main" id="{D0FA2F50-DC52-7C1A-E947-AC7A00232017}"/>
              </a:ext>
            </a:extLst>
          </p:cNvPr>
          <p:cNvSpPr txBox="1"/>
          <p:nvPr/>
        </p:nvSpPr>
        <p:spPr>
          <a:xfrm>
            <a:off x="9797129" y="242850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H</a:t>
            </a:r>
          </a:p>
        </p:txBody>
      </p:sp>
      <p:sp>
        <p:nvSpPr>
          <p:cNvPr id="27" name="TextBox 26">
            <a:extLst>
              <a:ext uri="{FF2B5EF4-FFF2-40B4-BE49-F238E27FC236}">
                <a16:creationId xmlns:a16="http://schemas.microsoft.com/office/drawing/2014/main" id="{84162B9B-4BAA-3304-33B5-AA47648245C4}"/>
              </a:ext>
            </a:extLst>
          </p:cNvPr>
          <p:cNvSpPr txBox="1"/>
          <p:nvPr/>
        </p:nvSpPr>
        <p:spPr>
          <a:xfrm>
            <a:off x="9797129" y="356586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I</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Loc1</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8" name="TextBox 27">
            <a:extLst>
              <a:ext uri="{FF2B5EF4-FFF2-40B4-BE49-F238E27FC236}">
                <a16:creationId xmlns:a16="http://schemas.microsoft.com/office/drawing/2014/main" id="{83FC4A08-F069-4DE4-93D0-B3A79C0B3695}"/>
              </a:ext>
            </a:extLst>
          </p:cNvPr>
          <p:cNvSpPr txBox="1"/>
          <p:nvPr/>
        </p:nvSpPr>
        <p:spPr>
          <a:xfrm>
            <a:off x="9797129" y="470322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J</a:t>
            </a:r>
          </a:p>
        </p:txBody>
      </p:sp>
      <p:sp>
        <p:nvSpPr>
          <p:cNvPr id="29" name="TextBox 28">
            <a:extLst>
              <a:ext uri="{FF2B5EF4-FFF2-40B4-BE49-F238E27FC236}">
                <a16:creationId xmlns:a16="http://schemas.microsoft.com/office/drawing/2014/main" id="{E8499C2E-A984-CE09-E9FC-869E5F2DF5E7}"/>
              </a:ext>
            </a:extLst>
          </p:cNvPr>
          <p:cNvSpPr txBox="1"/>
          <p:nvPr/>
        </p:nvSpPr>
        <p:spPr>
          <a:xfrm>
            <a:off x="9797129" y="584058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K</a:t>
            </a:r>
          </a:p>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rPr>
              <a:t>Loc0</a:t>
            </a:r>
          </a:p>
        </p:txBody>
      </p:sp>
      <p:grpSp>
        <p:nvGrpSpPr>
          <p:cNvPr id="30" name="Group 29">
            <a:extLst>
              <a:ext uri="{FF2B5EF4-FFF2-40B4-BE49-F238E27FC236}">
                <a16:creationId xmlns:a16="http://schemas.microsoft.com/office/drawing/2014/main" id="{3688AF0D-03E0-2C28-3596-C1F8066A7300}"/>
              </a:ext>
            </a:extLst>
          </p:cNvPr>
          <p:cNvGrpSpPr/>
          <p:nvPr/>
        </p:nvGrpSpPr>
        <p:grpSpPr>
          <a:xfrm>
            <a:off x="1915882" y="3436914"/>
            <a:ext cx="3243940" cy="413657"/>
            <a:chOff x="1959430" y="2177143"/>
            <a:chExt cx="3243940" cy="413657"/>
          </a:xfrm>
        </p:grpSpPr>
        <p:sp>
          <p:nvSpPr>
            <p:cNvPr id="31" name="TextBox 30">
              <a:extLst>
                <a:ext uri="{FF2B5EF4-FFF2-40B4-BE49-F238E27FC236}">
                  <a16:creationId xmlns:a16="http://schemas.microsoft.com/office/drawing/2014/main" id="{78BA7CFA-94F2-09B5-2D11-3CD3A0F6AAB6}"/>
                </a:ext>
              </a:extLst>
            </p:cNvPr>
            <p:cNvSpPr txBox="1"/>
            <p:nvPr/>
          </p:nvSpPr>
          <p:spPr>
            <a:xfrm>
              <a:off x="1959430" y="2177143"/>
              <a:ext cx="1621970" cy="413657"/>
            </a:xfrm>
            <a:prstGeom prst="rect">
              <a:avLst/>
            </a:prstGeom>
            <a:solidFill>
              <a:schemeClr val="accent3">
                <a:lumMod val="40000"/>
                <a:lumOff val="60000"/>
              </a:schemeClr>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1</a:t>
              </a:r>
            </a:p>
          </p:txBody>
        </p:sp>
        <p:sp>
          <p:nvSpPr>
            <p:cNvPr id="32" name="TextBox 31">
              <a:extLst>
                <a:ext uri="{FF2B5EF4-FFF2-40B4-BE49-F238E27FC236}">
                  <a16:creationId xmlns:a16="http://schemas.microsoft.com/office/drawing/2014/main" id="{B62BB785-CEEA-27B4-5F00-AE094D6144CE}"/>
                </a:ext>
              </a:extLst>
            </p:cNvPr>
            <p:cNvSpPr txBox="1"/>
            <p:nvPr/>
          </p:nvSpPr>
          <p:spPr>
            <a:xfrm>
              <a:off x="3581400" y="2177143"/>
              <a:ext cx="1621970" cy="413657"/>
            </a:xfrm>
            <a:prstGeom prst="rect">
              <a:avLst/>
            </a:prstGeom>
            <a:solidFill>
              <a:schemeClr val="accent4">
                <a:lumMod val="40000"/>
                <a:lumOff val="60000"/>
              </a:schemeClr>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1</a:t>
              </a:r>
            </a:p>
          </p:txBody>
        </p:sp>
      </p:grpSp>
      <p:sp>
        <p:nvSpPr>
          <p:cNvPr id="33" name="TextBox 32">
            <a:extLst>
              <a:ext uri="{FF2B5EF4-FFF2-40B4-BE49-F238E27FC236}">
                <a16:creationId xmlns:a16="http://schemas.microsoft.com/office/drawing/2014/main" id="{1634C2CB-6B6B-81AA-FE36-906444213B14}"/>
              </a:ext>
            </a:extLst>
          </p:cNvPr>
          <p:cNvSpPr txBox="1"/>
          <p:nvPr/>
        </p:nvSpPr>
        <p:spPr>
          <a:xfrm>
            <a:off x="5236030" y="3436914"/>
            <a:ext cx="2547256"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IPv6 DST Addr.</a:t>
            </a:r>
          </a:p>
        </p:txBody>
      </p:sp>
      <p:sp>
        <p:nvSpPr>
          <p:cNvPr id="34" name="TextBox 33">
            <a:extLst>
              <a:ext uri="{FF2B5EF4-FFF2-40B4-BE49-F238E27FC236}">
                <a16:creationId xmlns:a16="http://schemas.microsoft.com/office/drawing/2014/main" id="{3B257FCD-30EA-3E5C-61FD-96CAF1A93136}"/>
              </a:ext>
            </a:extLst>
          </p:cNvPr>
          <p:cNvSpPr txBox="1"/>
          <p:nvPr/>
        </p:nvSpPr>
        <p:spPr>
          <a:xfrm>
            <a:off x="5486393" y="4995057"/>
            <a:ext cx="914400"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SHR</a:t>
            </a:r>
          </a:p>
        </p:txBody>
      </p:sp>
      <p:cxnSp>
        <p:nvCxnSpPr>
          <p:cNvPr id="36" name="Straight Arrow Connector 35">
            <a:extLst>
              <a:ext uri="{FF2B5EF4-FFF2-40B4-BE49-F238E27FC236}">
                <a16:creationId xmlns:a16="http://schemas.microsoft.com/office/drawing/2014/main" id="{3508B799-ED0E-3852-567F-4ED8BC37722C}"/>
              </a:ext>
            </a:extLst>
          </p:cNvPr>
          <p:cNvCxnSpPr>
            <a:cxnSpLocks/>
            <a:endCxn id="24" idx="2"/>
          </p:cNvCxnSpPr>
          <p:nvPr/>
        </p:nvCxnSpPr>
        <p:spPr>
          <a:xfrm flipV="1">
            <a:off x="4855024" y="2064159"/>
            <a:ext cx="5562591" cy="127293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8DAE735-1CD6-2310-BB62-83985D69EA59}"/>
              </a:ext>
            </a:extLst>
          </p:cNvPr>
          <p:cNvCxnSpPr>
            <a:stCxn id="19" idx="3"/>
            <a:endCxn id="20" idx="1"/>
          </p:cNvCxnSpPr>
          <p:nvPr/>
        </p:nvCxnSpPr>
        <p:spPr>
          <a:xfrm flipV="1">
            <a:off x="1763486" y="1683160"/>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5A98E94-CBFE-69D9-5AC5-81A0C0B90AC0}"/>
              </a:ext>
            </a:extLst>
          </p:cNvPr>
          <p:cNvCxnSpPr/>
          <p:nvPr/>
        </p:nvCxnSpPr>
        <p:spPr>
          <a:xfrm flipV="1">
            <a:off x="3309255" y="167042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65A6F1C-F30D-685A-66F6-E196573FECBE}"/>
              </a:ext>
            </a:extLst>
          </p:cNvPr>
          <p:cNvCxnSpPr/>
          <p:nvPr/>
        </p:nvCxnSpPr>
        <p:spPr>
          <a:xfrm flipV="1">
            <a:off x="4855024" y="1665608"/>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1DA76F5-2D6A-7918-AB15-B8C5D6C39988}"/>
              </a:ext>
            </a:extLst>
          </p:cNvPr>
          <p:cNvCxnSpPr/>
          <p:nvPr/>
        </p:nvCxnSpPr>
        <p:spPr>
          <a:xfrm flipV="1">
            <a:off x="6389906" y="1672274"/>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5DE1137-A253-5BAE-A8BB-AE7EDD4B1E3A}"/>
              </a:ext>
            </a:extLst>
          </p:cNvPr>
          <p:cNvCxnSpPr>
            <a:cxnSpLocks/>
            <a:stCxn id="25" idx="3"/>
          </p:cNvCxnSpPr>
          <p:nvPr/>
        </p:nvCxnSpPr>
        <p:spPr>
          <a:xfrm>
            <a:off x="7946562" y="1683160"/>
            <a:ext cx="283024" cy="0"/>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C182581-03B6-CCEA-84F6-9BFB8D5F1855}"/>
              </a:ext>
            </a:extLst>
          </p:cNvPr>
          <p:cNvCxnSpPr/>
          <p:nvPr/>
        </p:nvCxnSpPr>
        <p:spPr>
          <a:xfrm flipV="1">
            <a:off x="9448783" y="169404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5E90EF5-2A32-4E52-D0D2-EDACDD1DA825}"/>
              </a:ext>
            </a:extLst>
          </p:cNvPr>
          <p:cNvCxnSpPr>
            <a:cxnSpLocks/>
            <a:stCxn id="26" idx="0"/>
            <a:endCxn id="24" idx="2"/>
          </p:cNvCxnSpPr>
          <p:nvPr/>
        </p:nvCxnSpPr>
        <p:spPr>
          <a:xfrm flipV="1">
            <a:off x="10417615" y="206415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EE98E7B-E641-9B00-C116-9AEA1F834853}"/>
              </a:ext>
            </a:extLst>
          </p:cNvPr>
          <p:cNvCxnSpPr>
            <a:cxnSpLocks/>
          </p:cNvCxnSpPr>
          <p:nvPr/>
        </p:nvCxnSpPr>
        <p:spPr>
          <a:xfrm flipV="1">
            <a:off x="10417614" y="320151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492A3E1-13BC-741D-79A4-285D00FD981D}"/>
              </a:ext>
            </a:extLst>
          </p:cNvPr>
          <p:cNvCxnSpPr>
            <a:cxnSpLocks/>
          </p:cNvCxnSpPr>
          <p:nvPr/>
        </p:nvCxnSpPr>
        <p:spPr>
          <a:xfrm flipV="1">
            <a:off x="10406715" y="433887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8B5994E-CEED-5C83-8335-EAF11F8A89CF}"/>
              </a:ext>
            </a:extLst>
          </p:cNvPr>
          <p:cNvCxnSpPr>
            <a:cxnSpLocks/>
          </p:cNvCxnSpPr>
          <p:nvPr/>
        </p:nvCxnSpPr>
        <p:spPr>
          <a:xfrm flipV="1">
            <a:off x="10406715" y="547623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Arrow: Right 50">
            <a:extLst>
              <a:ext uri="{FF2B5EF4-FFF2-40B4-BE49-F238E27FC236}">
                <a16:creationId xmlns:a16="http://schemas.microsoft.com/office/drawing/2014/main" id="{12318449-AD0D-1D05-E36B-4E96DF432073}"/>
              </a:ext>
            </a:extLst>
          </p:cNvPr>
          <p:cNvSpPr/>
          <p:nvPr/>
        </p:nvSpPr>
        <p:spPr>
          <a:xfrm>
            <a:off x="119755" y="4540128"/>
            <a:ext cx="1763486" cy="484632"/>
          </a:xfrm>
          <a:prstGeom prst="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Active segment</a:t>
            </a:r>
          </a:p>
        </p:txBody>
      </p:sp>
      <p:sp>
        <p:nvSpPr>
          <p:cNvPr id="52" name="Arrow: Circular 51">
            <a:extLst>
              <a:ext uri="{FF2B5EF4-FFF2-40B4-BE49-F238E27FC236}">
                <a16:creationId xmlns:a16="http://schemas.microsoft.com/office/drawing/2014/main" id="{4DAB1F5C-7676-1827-8218-48DF8D5D948E}"/>
              </a:ext>
            </a:extLst>
          </p:cNvPr>
          <p:cNvSpPr/>
          <p:nvPr/>
        </p:nvSpPr>
        <p:spPr>
          <a:xfrm rot="16200000">
            <a:off x="1245965" y="2762983"/>
            <a:ext cx="1329048" cy="2702383"/>
          </a:xfrm>
          <a:prstGeom prst="circularArrow">
            <a:avLst>
              <a:gd name="adj1" fmla="val 3259"/>
              <a:gd name="adj2" fmla="val 1142319"/>
              <a:gd name="adj3" fmla="val 20529188"/>
              <a:gd name="adj4" fmla="val 10905829"/>
              <a:gd name="adj5" fmla="val 5405"/>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0844075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EC0ED6-027B-6992-F3F3-D17CCEA976B9}"/>
              </a:ext>
            </a:extLst>
          </p:cNvPr>
          <p:cNvSpPr>
            <a:spLocks noGrp="1"/>
          </p:cNvSpPr>
          <p:nvPr>
            <p:ph type="body" sz="quarter" idx="11"/>
          </p:nvPr>
        </p:nvSpPr>
        <p:spPr/>
        <p:txBody>
          <a:bodyPr/>
          <a:lstStyle/>
          <a:p>
            <a:r>
              <a:rPr lang="en-US" dirty="0"/>
              <a:t>Network Program #9</a:t>
            </a:r>
          </a:p>
        </p:txBody>
      </p:sp>
      <p:grpSp>
        <p:nvGrpSpPr>
          <p:cNvPr id="6" name="Group 5">
            <a:extLst>
              <a:ext uri="{FF2B5EF4-FFF2-40B4-BE49-F238E27FC236}">
                <a16:creationId xmlns:a16="http://schemas.microsoft.com/office/drawing/2014/main" id="{80CD64DE-41CD-C4AC-FD52-8B1F12C9057E}"/>
              </a:ext>
            </a:extLst>
          </p:cNvPr>
          <p:cNvGrpSpPr/>
          <p:nvPr/>
        </p:nvGrpSpPr>
        <p:grpSpPr>
          <a:xfrm>
            <a:off x="1899556" y="4185955"/>
            <a:ext cx="3243940" cy="413657"/>
            <a:chOff x="1959430" y="2177143"/>
            <a:chExt cx="3243940" cy="413657"/>
          </a:xfrm>
        </p:grpSpPr>
        <p:sp>
          <p:nvSpPr>
            <p:cNvPr id="4" name="TextBox 3">
              <a:extLst>
                <a:ext uri="{FF2B5EF4-FFF2-40B4-BE49-F238E27FC236}">
                  <a16:creationId xmlns:a16="http://schemas.microsoft.com/office/drawing/2014/main" id="{25AE1756-73E4-48C0-9B1C-5D98FE4AF2C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0</a:t>
              </a:r>
            </a:p>
          </p:txBody>
        </p:sp>
        <p:sp>
          <p:nvSpPr>
            <p:cNvPr id="5" name="TextBox 4">
              <a:extLst>
                <a:ext uri="{FF2B5EF4-FFF2-40B4-BE49-F238E27FC236}">
                  <a16:creationId xmlns:a16="http://schemas.microsoft.com/office/drawing/2014/main" id="{204FCDD0-144C-9FF3-A2F1-0254B1ADE461}"/>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0</a:t>
              </a:r>
            </a:p>
          </p:txBody>
        </p:sp>
      </p:grpSp>
      <p:grpSp>
        <p:nvGrpSpPr>
          <p:cNvPr id="2" name="Group 1">
            <a:extLst>
              <a:ext uri="{FF2B5EF4-FFF2-40B4-BE49-F238E27FC236}">
                <a16:creationId xmlns:a16="http://schemas.microsoft.com/office/drawing/2014/main" id="{94646B92-7599-5248-F0C7-DAD434BBB055}"/>
              </a:ext>
            </a:extLst>
          </p:cNvPr>
          <p:cNvGrpSpPr/>
          <p:nvPr/>
        </p:nvGrpSpPr>
        <p:grpSpPr>
          <a:xfrm>
            <a:off x="1899556" y="4599612"/>
            <a:ext cx="3243940" cy="413657"/>
            <a:chOff x="1959430" y="2177143"/>
            <a:chExt cx="3243940" cy="413657"/>
          </a:xfrm>
        </p:grpSpPr>
        <p:sp>
          <p:nvSpPr>
            <p:cNvPr id="7" name="TextBox 6">
              <a:extLst>
                <a:ext uri="{FF2B5EF4-FFF2-40B4-BE49-F238E27FC236}">
                  <a16:creationId xmlns:a16="http://schemas.microsoft.com/office/drawing/2014/main" id="{46FC5A35-87CA-0B78-2F35-B357679754A4}"/>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1</a:t>
              </a:r>
            </a:p>
          </p:txBody>
        </p:sp>
        <p:sp>
          <p:nvSpPr>
            <p:cNvPr id="8" name="TextBox 7">
              <a:extLst>
                <a:ext uri="{FF2B5EF4-FFF2-40B4-BE49-F238E27FC236}">
                  <a16:creationId xmlns:a16="http://schemas.microsoft.com/office/drawing/2014/main" id="{77A1110F-4020-1703-C171-FBD4708A7E02}"/>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1</a:t>
              </a:r>
            </a:p>
          </p:txBody>
        </p:sp>
      </p:grpSp>
      <p:grpSp>
        <p:nvGrpSpPr>
          <p:cNvPr id="9" name="Group 8">
            <a:extLst>
              <a:ext uri="{FF2B5EF4-FFF2-40B4-BE49-F238E27FC236}">
                <a16:creationId xmlns:a16="http://schemas.microsoft.com/office/drawing/2014/main" id="{2DF7574D-47E3-56BD-5C19-89F177CDAF04}"/>
              </a:ext>
            </a:extLst>
          </p:cNvPr>
          <p:cNvGrpSpPr/>
          <p:nvPr/>
        </p:nvGrpSpPr>
        <p:grpSpPr>
          <a:xfrm>
            <a:off x="1899556" y="5013269"/>
            <a:ext cx="3243940" cy="413657"/>
            <a:chOff x="1959430" y="2177143"/>
            <a:chExt cx="3243940" cy="413657"/>
          </a:xfrm>
        </p:grpSpPr>
        <p:sp>
          <p:nvSpPr>
            <p:cNvPr id="10" name="TextBox 9">
              <a:extLst>
                <a:ext uri="{FF2B5EF4-FFF2-40B4-BE49-F238E27FC236}">
                  <a16:creationId xmlns:a16="http://schemas.microsoft.com/office/drawing/2014/main" id="{5E555E47-BF49-44AA-F995-328066035C60}"/>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2</a:t>
              </a:r>
            </a:p>
          </p:txBody>
        </p:sp>
        <p:sp>
          <p:nvSpPr>
            <p:cNvPr id="11" name="TextBox 10">
              <a:extLst>
                <a:ext uri="{FF2B5EF4-FFF2-40B4-BE49-F238E27FC236}">
                  <a16:creationId xmlns:a16="http://schemas.microsoft.com/office/drawing/2014/main" id="{A1DCA384-00C5-FD07-D576-003139161DE6}"/>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2</a:t>
              </a:r>
            </a:p>
          </p:txBody>
        </p:sp>
      </p:grpSp>
      <p:grpSp>
        <p:nvGrpSpPr>
          <p:cNvPr id="12" name="Group 11">
            <a:extLst>
              <a:ext uri="{FF2B5EF4-FFF2-40B4-BE49-F238E27FC236}">
                <a16:creationId xmlns:a16="http://schemas.microsoft.com/office/drawing/2014/main" id="{D4E367CF-558E-EA65-EBC7-E744244EB572}"/>
              </a:ext>
            </a:extLst>
          </p:cNvPr>
          <p:cNvGrpSpPr/>
          <p:nvPr/>
        </p:nvGrpSpPr>
        <p:grpSpPr>
          <a:xfrm>
            <a:off x="1899556" y="5426926"/>
            <a:ext cx="3243940" cy="413657"/>
            <a:chOff x="1959430" y="2177143"/>
            <a:chExt cx="3243940" cy="413657"/>
          </a:xfrm>
        </p:grpSpPr>
        <p:sp>
          <p:nvSpPr>
            <p:cNvPr id="13" name="TextBox 12">
              <a:extLst>
                <a:ext uri="{FF2B5EF4-FFF2-40B4-BE49-F238E27FC236}">
                  <a16:creationId xmlns:a16="http://schemas.microsoft.com/office/drawing/2014/main" id="{AA887D77-DA8D-E172-4E7A-A763A9490D92}"/>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3</a:t>
              </a:r>
            </a:p>
          </p:txBody>
        </p:sp>
        <p:sp>
          <p:nvSpPr>
            <p:cNvPr id="14" name="TextBox 13">
              <a:extLst>
                <a:ext uri="{FF2B5EF4-FFF2-40B4-BE49-F238E27FC236}">
                  <a16:creationId xmlns:a16="http://schemas.microsoft.com/office/drawing/2014/main" id="{5C696D45-5E9E-FC82-5C1F-87577AA2892A}"/>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3</a:t>
              </a:r>
            </a:p>
          </p:txBody>
        </p:sp>
      </p:grpSp>
      <p:grpSp>
        <p:nvGrpSpPr>
          <p:cNvPr id="15" name="Group 14">
            <a:extLst>
              <a:ext uri="{FF2B5EF4-FFF2-40B4-BE49-F238E27FC236}">
                <a16:creationId xmlns:a16="http://schemas.microsoft.com/office/drawing/2014/main" id="{67D678DA-73EB-6290-3193-4E70C9EE4F99}"/>
              </a:ext>
            </a:extLst>
          </p:cNvPr>
          <p:cNvGrpSpPr/>
          <p:nvPr/>
        </p:nvGrpSpPr>
        <p:grpSpPr>
          <a:xfrm>
            <a:off x="1899556" y="5840583"/>
            <a:ext cx="3243940" cy="413657"/>
            <a:chOff x="1959430" y="2177143"/>
            <a:chExt cx="3243940" cy="413657"/>
          </a:xfrm>
        </p:grpSpPr>
        <p:sp>
          <p:nvSpPr>
            <p:cNvPr id="16" name="TextBox 15">
              <a:extLst>
                <a:ext uri="{FF2B5EF4-FFF2-40B4-BE49-F238E27FC236}">
                  <a16:creationId xmlns:a16="http://schemas.microsoft.com/office/drawing/2014/main" id="{7C4DCDF5-65A8-F573-1955-BE31D841657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4</a:t>
              </a:r>
            </a:p>
          </p:txBody>
        </p:sp>
        <p:sp>
          <p:nvSpPr>
            <p:cNvPr id="17" name="TextBox 16">
              <a:extLst>
                <a:ext uri="{FF2B5EF4-FFF2-40B4-BE49-F238E27FC236}">
                  <a16:creationId xmlns:a16="http://schemas.microsoft.com/office/drawing/2014/main" id="{34D6F2B3-48E4-77DC-7C9A-26FF0FF94F9D}"/>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4</a:t>
              </a:r>
            </a:p>
          </p:txBody>
        </p:sp>
      </p:grpSp>
      <p:sp>
        <p:nvSpPr>
          <p:cNvPr id="19" name="TextBox 18">
            <a:extLst>
              <a:ext uri="{FF2B5EF4-FFF2-40B4-BE49-F238E27FC236}">
                <a16:creationId xmlns:a16="http://schemas.microsoft.com/office/drawing/2014/main" id="{5DC54D9D-8772-F9A8-2EC7-5B0B4C4AF739}"/>
              </a:ext>
            </a:extLst>
          </p:cNvPr>
          <p:cNvSpPr txBox="1"/>
          <p:nvPr/>
        </p:nvSpPr>
        <p:spPr>
          <a:xfrm>
            <a:off x="522515" y="1301469"/>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A</a:t>
            </a:r>
          </a:p>
        </p:txBody>
      </p:sp>
      <p:sp>
        <p:nvSpPr>
          <p:cNvPr id="20" name="TextBox 19">
            <a:extLst>
              <a:ext uri="{FF2B5EF4-FFF2-40B4-BE49-F238E27FC236}">
                <a16:creationId xmlns:a16="http://schemas.microsoft.com/office/drawing/2014/main" id="{86ECD626-09B3-2D24-6746-8AF89F7EEE22}"/>
              </a:ext>
            </a:extLst>
          </p:cNvPr>
          <p:cNvSpPr txBox="1"/>
          <p:nvPr/>
        </p:nvSpPr>
        <p:spPr>
          <a:xfrm>
            <a:off x="2068284"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B</a:t>
            </a:r>
          </a:p>
        </p:txBody>
      </p:sp>
      <p:sp>
        <p:nvSpPr>
          <p:cNvPr id="21" name="TextBox 20">
            <a:extLst>
              <a:ext uri="{FF2B5EF4-FFF2-40B4-BE49-F238E27FC236}">
                <a16:creationId xmlns:a16="http://schemas.microsoft.com/office/drawing/2014/main" id="{220DFCA0-79E9-1920-D83A-890C99DBE3DE}"/>
              </a:ext>
            </a:extLst>
          </p:cNvPr>
          <p:cNvSpPr txBox="1"/>
          <p:nvPr/>
        </p:nvSpPr>
        <p:spPr>
          <a:xfrm>
            <a:off x="3614053"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C</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Loc4</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2" name="TextBox 21">
            <a:extLst>
              <a:ext uri="{FF2B5EF4-FFF2-40B4-BE49-F238E27FC236}">
                <a16:creationId xmlns:a16="http://schemas.microsoft.com/office/drawing/2014/main" id="{7EF262A1-8154-CA84-C05E-BCF259BCF7B2}"/>
              </a:ext>
            </a:extLst>
          </p:cNvPr>
          <p:cNvSpPr txBox="1"/>
          <p:nvPr/>
        </p:nvSpPr>
        <p:spPr>
          <a:xfrm>
            <a:off x="5159822"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D</a:t>
            </a:r>
          </a:p>
        </p:txBody>
      </p:sp>
      <p:sp>
        <p:nvSpPr>
          <p:cNvPr id="23" name="TextBox 22">
            <a:extLst>
              <a:ext uri="{FF2B5EF4-FFF2-40B4-BE49-F238E27FC236}">
                <a16:creationId xmlns:a16="http://schemas.microsoft.com/office/drawing/2014/main" id="{6B9212D0-0982-8D69-A27D-EDC0A39BF318}"/>
              </a:ext>
            </a:extLst>
          </p:cNvPr>
          <p:cNvSpPr txBox="1"/>
          <p:nvPr/>
        </p:nvSpPr>
        <p:spPr>
          <a:xfrm>
            <a:off x="8251360"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F</a:t>
            </a:r>
          </a:p>
        </p:txBody>
      </p:sp>
      <p:sp>
        <p:nvSpPr>
          <p:cNvPr id="24" name="TextBox 23">
            <a:extLst>
              <a:ext uri="{FF2B5EF4-FFF2-40B4-BE49-F238E27FC236}">
                <a16:creationId xmlns:a16="http://schemas.microsoft.com/office/drawing/2014/main" id="{9D9DAB8E-4DC2-CB98-03A2-0D5276E46941}"/>
              </a:ext>
            </a:extLst>
          </p:cNvPr>
          <p:cNvSpPr txBox="1"/>
          <p:nvPr/>
        </p:nvSpPr>
        <p:spPr>
          <a:xfrm>
            <a:off x="9797129" y="129114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G</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Loc2</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5" name="TextBox 24">
            <a:extLst>
              <a:ext uri="{FF2B5EF4-FFF2-40B4-BE49-F238E27FC236}">
                <a16:creationId xmlns:a16="http://schemas.microsoft.com/office/drawing/2014/main" id="{BAB2446F-E979-5C6C-7D10-083E4D19EE79}"/>
              </a:ext>
            </a:extLst>
          </p:cNvPr>
          <p:cNvSpPr txBox="1"/>
          <p:nvPr/>
        </p:nvSpPr>
        <p:spPr>
          <a:xfrm>
            <a:off x="6705591"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E</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Loc3</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6" name="TextBox 25">
            <a:extLst>
              <a:ext uri="{FF2B5EF4-FFF2-40B4-BE49-F238E27FC236}">
                <a16:creationId xmlns:a16="http://schemas.microsoft.com/office/drawing/2014/main" id="{D0FA2F50-DC52-7C1A-E947-AC7A00232017}"/>
              </a:ext>
            </a:extLst>
          </p:cNvPr>
          <p:cNvSpPr txBox="1"/>
          <p:nvPr/>
        </p:nvSpPr>
        <p:spPr>
          <a:xfrm>
            <a:off x="9797129" y="242850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H</a:t>
            </a:r>
          </a:p>
        </p:txBody>
      </p:sp>
      <p:sp>
        <p:nvSpPr>
          <p:cNvPr id="27" name="TextBox 26">
            <a:extLst>
              <a:ext uri="{FF2B5EF4-FFF2-40B4-BE49-F238E27FC236}">
                <a16:creationId xmlns:a16="http://schemas.microsoft.com/office/drawing/2014/main" id="{84162B9B-4BAA-3304-33B5-AA47648245C4}"/>
              </a:ext>
            </a:extLst>
          </p:cNvPr>
          <p:cNvSpPr txBox="1"/>
          <p:nvPr/>
        </p:nvSpPr>
        <p:spPr>
          <a:xfrm>
            <a:off x="9797129" y="356586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I</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Loc1</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8" name="TextBox 27">
            <a:extLst>
              <a:ext uri="{FF2B5EF4-FFF2-40B4-BE49-F238E27FC236}">
                <a16:creationId xmlns:a16="http://schemas.microsoft.com/office/drawing/2014/main" id="{83FC4A08-F069-4DE4-93D0-B3A79C0B3695}"/>
              </a:ext>
            </a:extLst>
          </p:cNvPr>
          <p:cNvSpPr txBox="1"/>
          <p:nvPr/>
        </p:nvSpPr>
        <p:spPr>
          <a:xfrm>
            <a:off x="9797129" y="470322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J</a:t>
            </a:r>
          </a:p>
        </p:txBody>
      </p:sp>
      <p:sp>
        <p:nvSpPr>
          <p:cNvPr id="29" name="TextBox 28">
            <a:extLst>
              <a:ext uri="{FF2B5EF4-FFF2-40B4-BE49-F238E27FC236}">
                <a16:creationId xmlns:a16="http://schemas.microsoft.com/office/drawing/2014/main" id="{E8499C2E-A984-CE09-E9FC-869E5F2DF5E7}"/>
              </a:ext>
            </a:extLst>
          </p:cNvPr>
          <p:cNvSpPr txBox="1"/>
          <p:nvPr/>
        </p:nvSpPr>
        <p:spPr>
          <a:xfrm>
            <a:off x="9797129" y="584058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K</a:t>
            </a:r>
          </a:p>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rPr>
              <a:t>Loc0</a:t>
            </a:r>
          </a:p>
        </p:txBody>
      </p:sp>
      <p:grpSp>
        <p:nvGrpSpPr>
          <p:cNvPr id="30" name="Group 29">
            <a:extLst>
              <a:ext uri="{FF2B5EF4-FFF2-40B4-BE49-F238E27FC236}">
                <a16:creationId xmlns:a16="http://schemas.microsoft.com/office/drawing/2014/main" id="{3688AF0D-03E0-2C28-3596-C1F8066A7300}"/>
              </a:ext>
            </a:extLst>
          </p:cNvPr>
          <p:cNvGrpSpPr/>
          <p:nvPr/>
        </p:nvGrpSpPr>
        <p:grpSpPr>
          <a:xfrm>
            <a:off x="1915882" y="3436914"/>
            <a:ext cx="3243940" cy="413657"/>
            <a:chOff x="1959430" y="2177143"/>
            <a:chExt cx="3243940" cy="413657"/>
          </a:xfrm>
        </p:grpSpPr>
        <p:sp>
          <p:nvSpPr>
            <p:cNvPr id="31" name="TextBox 30">
              <a:extLst>
                <a:ext uri="{FF2B5EF4-FFF2-40B4-BE49-F238E27FC236}">
                  <a16:creationId xmlns:a16="http://schemas.microsoft.com/office/drawing/2014/main" id="{78BA7CFA-94F2-09B5-2D11-3CD3A0F6AAB6}"/>
                </a:ext>
              </a:extLst>
            </p:cNvPr>
            <p:cNvSpPr txBox="1"/>
            <p:nvPr/>
          </p:nvSpPr>
          <p:spPr>
            <a:xfrm>
              <a:off x="1959430" y="2177143"/>
              <a:ext cx="1621970" cy="413657"/>
            </a:xfrm>
            <a:prstGeom prst="rect">
              <a:avLst/>
            </a:prstGeom>
            <a:solidFill>
              <a:schemeClr val="accent3">
                <a:lumMod val="40000"/>
                <a:lumOff val="60000"/>
              </a:schemeClr>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1</a:t>
              </a:r>
            </a:p>
          </p:txBody>
        </p:sp>
        <p:sp>
          <p:nvSpPr>
            <p:cNvPr id="32" name="TextBox 31">
              <a:extLst>
                <a:ext uri="{FF2B5EF4-FFF2-40B4-BE49-F238E27FC236}">
                  <a16:creationId xmlns:a16="http://schemas.microsoft.com/office/drawing/2014/main" id="{B62BB785-CEEA-27B4-5F00-AE094D6144CE}"/>
                </a:ext>
              </a:extLst>
            </p:cNvPr>
            <p:cNvSpPr txBox="1"/>
            <p:nvPr/>
          </p:nvSpPr>
          <p:spPr>
            <a:xfrm>
              <a:off x="3581400" y="2177143"/>
              <a:ext cx="1621970" cy="413657"/>
            </a:xfrm>
            <a:prstGeom prst="rect">
              <a:avLst/>
            </a:prstGeom>
            <a:solidFill>
              <a:schemeClr val="accent4">
                <a:lumMod val="40000"/>
                <a:lumOff val="60000"/>
              </a:schemeClr>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1</a:t>
              </a:r>
            </a:p>
          </p:txBody>
        </p:sp>
      </p:grpSp>
      <p:sp>
        <p:nvSpPr>
          <p:cNvPr id="33" name="TextBox 32">
            <a:extLst>
              <a:ext uri="{FF2B5EF4-FFF2-40B4-BE49-F238E27FC236}">
                <a16:creationId xmlns:a16="http://schemas.microsoft.com/office/drawing/2014/main" id="{1634C2CB-6B6B-81AA-FE36-906444213B14}"/>
              </a:ext>
            </a:extLst>
          </p:cNvPr>
          <p:cNvSpPr txBox="1"/>
          <p:nvPr/>
        </p:nvSpPr>
        <p:spPr>
          <a:xfrm>
            <a:off x="5236030" y="3436914"/>
            <a:ext cx="2547256"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IPv6 DST Addr.</a:t>
            </a:r>
          </a:p>
        </p:txBody>
      </p:sp>
      <p:sp>
        <p:nvSpPr>
          <p:cNvPr id="34" name="TextBox 33">
            <a:extLst>
              <a:ext uri="{FF2B5EF4-FFF2-40B4-BE49-F238E27FC236}">
                <a16:creationId xmlns:a16="http://schemas.microsoft.com/office/drawing/2014/main" id="{3B257FCD-30EA-3E5C-61FD-96CAF1A93136}"/>
              </a:ext>
            </a:extLst>
          </p:cNvPr>
          <p:cNvSpPr txBox="1"/>
          <p:nvPr/>
        </p:nvSpPr>
        <p:spPr>
          <a:xfrm>
            <a:off x="5486393" y="4995057"/>
            <a:ext cx="914400"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SHR</a:t>
            </a:r>
          </a:p>
        </p:txBody>
      </p:sp>
      <p:cxnSp>
        <p:nvCxnSpPr>
          <p:cNvPr id="36" name="Straight Arrow Connector 35">
            <a:extLst>
              <a:ext uri="{FF2B5EF4-FFF2-40B4-BE49-F238E27FC236}">
                <a16:creationId xmlns:a16="http://schemas.microsoft.com/office/drawing/2014/main" id="{3508B799-ED0E-3852-567F-4ED8BC37722C}"/>
              </a:ext>
            </a:extLst>
          </p:cNvPr>
          <p:cNvCxnSpPr>
            <a:cxnSpLocks/>
            <a:stCxn id="33" idx="3"/>
          </p:cNvCxnSpPr>
          <p:nvPr/>
        </p:nvCxnSpPr>
        <p:spPr>
          <a:xfrm flipV="1">
            <a:off x="7783286" y="3337097"/>
            <a:ext cx="2525485" cy="30664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8DAE735-1CD6-2310-BB62-83985D69EA59}"/>
              </a:ext>
            </a:extLst>
          </p:cNvPr>
          <p:cNvCxnSpPr>
            <a:stCxn id="19" idx="3"/>
            <a:endCxn id="20" idx="1"/>
          </p:cNvCxnSpPr>
          <p:nvPr/>
        </p:nvCxnSpPr>
        <p:spPr>
          <a:xfrm flipV="1">
            <a:off x="1763486" y="1683160"/>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5A98E94-CBFE-69D9-5AC5-81A0C0B90AC0}"/>
              </a:ext>
            </a:extLst>
          </p:cNvPr>
          <p:cNvCxnSpPr/>
          <p:nvPr/>
        </p:nvCxnSpPr>
        <p:spPr>
          <a:xfrm flipV="1">
            <a:off x="3309255" y="167042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65A6F1C-F30D-685A-66F6-E196573FECBE}"/>
              </a:ext>
            </a:extLst>
          </p:cNvPr>
          <p:cNvCxnSpPr/>
          <p:nvPr/>
        </p:nvCxnSpPr>
        <p:spPr>
          <a:xfrm flipV="1">
            <a:off x="4855024" y="1665608"/>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1DA76F5-2D6A-7918-AB15-B8C5D6C39988}"/>
              </a:ext>
            </a:extLst>
          </p:cNvPr>
          <p:cNvCxnSpPr/>
          <p:nvPr/>
        </p:nvCxnSpPr>
        <p:spPr>
          <a:xfrm flipV="1">
            <a:off x="6389906" y="1672274"/>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5DE1137-A253-5BAE-A8BB-AE7EDD4B1E3A}"/>
              </a:ext>
            </a:extLst>
          </p:cNvPr>
          <p:cNvCxnSpPr>
            <a:cxnSpLocks/>
            <a:stCxn id="25" idx="3"/>
          </p:cNvCxnSpPr>
          <p:nvPr/>
        </p:nvCxnSpPr>
        <p:spPr>
          <a:xfrm>
            <a:off x="7946562" y="1683160"/>
            <a:ext cx="283024" cy="0"/>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C182581-03B6-CCEA-84F6-9BFB8D5F1855}"/>
              </a:ext>
            </a:extLst>
          </p:cNvPr>
          <p:cNvCxnSpPr/>
          <p:nvPr/>
        </p:nvCxnSpPr>
        <p:spPr>
          <a:xfrm flipV="1">
            <a:off x="9448783" y="169404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5E90EF5-2A32-4E52-D0D2-EDACDD1DA825}"/>
              </a:ext>
            </a:extLst>
          </p:cNvPr>
          <p:cNvCxnSpPr>
            <a:cxnSpLocks/>
            <a:stCxn id="26" idx="0"/>
            <a:endCxn id="24" idx="2"/>
          </p:cNvCxnSpPr>
          <p:nvPr/>
        </p:nvCxnSpPr>
        <p:spPr>
          <a:xfrm flipV="1">
            <a:off x="10417615" y="206415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EE98E7B-E641-9B00-C116-9AEA1F834853}"/>
              </a:ext>
            </a:extLst>
          </p:cNvPr>
          <p:cNvCxnSpPr>
            <a:cxnSpLocks/>
          </p:cNvCxnSpPr>
          <p:nvPr/>
        </p:nvCxnSpPr>
        <p:spPr>
          <a:xfrm flipV="1">
            <a:off x="10417614" y="320151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492A3E1-13BC-741D-79A4-285D00FD981D}"/>
              </a:ext>
            </a:extLst>
          </p:cNvPr>
          <p:cNvCxnSpPr>
            <a:cxnSpLocks/>
          </p:cNvCxnSpPr>
          <p:nvPr/>
        </p:nvCxnSpPr>
        <p:spPr>
          <a:xfrm flipV="1">
            <a:off x="10406715" y="433887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8B5994E-CEED-5C83-8335-EAF11F8A89CF}"/>
              </a:ext>
            </a:extLst>
          </p:cNvPr>
          <p:cNvCxnSpPr>
            <a:cxnSpLocks/>
          </p:cNvCxnSpPr>
          <p:nvPr/>
        </p:nvCxnSpPr>
        <p:spPr>
          <a:xfrm flipV="1">
            <a:off x="10406715" y="547623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Arrow: Right 50">
            <a:extLst>
              <a:ext uri="{FF2B5EF4-FFF2-40B4-BE49-F238E27FC236}">
                <a16:creationId xmlns:a16="http://schemas.microsoft.com/office/drawing/2014/main" id="{12318449-AD0D-1D05-E36B-4E96DF432073}"/>
              </a:ext>
            </a:extLst>
          </p:cNvPr>
          <p:cNvSpPr/>
          <p:nvPr/>
        </p:nvSpPr>
        <p:spPr>
          <a:xfrm>
            <a:off x="119755" y="4540128"/>
            <a:ext cx="1763486" cy="484632"/>
          </a:xfrm>
          <a:prstGeom prst="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Active segment</a:t>
            </a:r>
          </a:p>
        </p:txBody>
      </p:sp>
    </p:spTree>
    <p:extLst>
      <p:ext uri="{BB962C8B-B14F-4D97-AF65-F5344CB8AC3E}">
        <p14:creationId xmlns:p14="http://schemas.microsoft.com/office/powerpoint/2010/main" val="22508487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EC0ED6-027B-6992-F3F3-D17CCEA976B9}"/>
              </a:ext>
            </a:extLst>
          </p:cNvPr>
          <p:cNvSpPr>
            <a:spLocks noGrp="1"/>
          </p:cNvSpPr>
          <p:nvPr>
            <p:ph type="body" sz="quarter" idx="11"/>
          </p:nvPr>
        </p:nvSpPr>
        <p:spPr/>
        <p:txBody>
          <a:bodyPr/>
          <a:lstStyle/>
          <a:p>
            <a:r>
              <a:rPr lang="en-US" sz="2800" dirty="0"/>
              <a:t>Network Program #10 – without Penultimate Segment Popping (PSP)</a:t>
            </a:r>
          </a:p>
        </p:txBody>
      </p:sp>
      <p:grpSp>
        <p:nvGrpSpPr>
          <p:cNvPr id="6" name="Group 5">
            <a:extLst>
              <a:ext uri="{FF2B5EF4-FFF2-40B4-BE49-F238E27FC236}">
                <a16:creationId xmlns:a16="http://schemas.microsoft.com/office/drawing/2014/main" id="{80CD64DE-41CD-C4AC-FD52-8B1F12C9057E}"/>
              </a:ext>
            </a:extLst>
          </p:cNvPr>
          <p:cNvGrpSpPr/>
          <p:nvPr/>
        </p:nvGrpSpPr>
        <p:grpSpPr>
          <a:xfrm>
            <a:off x="1899556" y="4185955"/>
            <a:ext cx="3243940" cy="413657"/>
            <a:chOff x="1959430" y="2177143"/>
            <a:chExt cx="3243940" cy="413657"/>
          </a:xfrm>
        </p:grpSpPr>
        <p:sp>
          <p:nvSpPr>
            <p:cNvPr id="4" name="TextBox 3">
              <a:extLst>
                <a:ext uri="{FF2B5EF4-FFF2-40B4-BE49-F238E27FC236}">
                  <a16:creationId xmlns:a16="http://schemas.microsoft.com/office/drawing/2014/main" id="{25AE1756-73E4-48C0-9B1C-5D98FE4AF2C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0</a:t>
              </a:r>
            </a:p>
          </p:txBody>
        </p:sp>
        <p:sp>
          <p:nvSpPr>
            <p:cNvPr id="5" name="TextBox 4">
              <a:extLst>
                <a:ext uri="{FF2B5EF4-FFF2-40B4-BE49-F238E27FC236}">
                  <a16:creationId xmlns:a16="http://schemas.microsoft.com/office/drawing/2014/main" id="{204FCDD0-144C-9FF3-A2F1-0254B1ADE461}"/>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0</a:t>
              </a:r>
            </a:p>
          </p:txBody>
        </p:sp>
      </p:grpSp>
      <p:grpSp>
        <p:nvGrpSpPr>
          <p:cNvPr id="2" name="Group 1">
            <a:extLst>
              <a:ext uri="{FF2B5EF4-FFF2-40B4-BE49-F238E27FC236}">
                <a16:creationId xmlns:a16="http://schemas.microsoft.com/office/drawing/2014/main" id="{94646B92-7599-5248-F0C7-DAD434BBB055}"/>
              </a:ext>
            </a:extLst>
          </p:cNvPr>
          <p:cNvGrpSpPr/>
          <p:nvPr/>
        </p:nvGrpSpPr>
        <p:grpSpPr>
          <a:xfrm>
            <a:off x="1899556" y="4599612"/>
            <a:ext cx="3243940" cy="413657"/>
            <a:chOff x="1959430" y="2177143"/>
            <a:chExt cx="3243940" cy="413657"/>
          </a:xfrm>
        </p:grpSpPr>
        <p:sp>
          <p:nvSpPr>
            <p:cNvPr id="7" name="TextBox 6">
              <a:extLst>
                <a:ext uri="{FF2B5EF4-FFF2-40B4-BE49-F238E27FC236}">
                  <a16:creationId xmlns:a16="http://schemas.microsoft.com/office/drawing/2014/main" id="{46FC5A35-87CA-0B78-2F35-B357679754A4}"/>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1</a:t>
              </a:r>
            </a:p>
          </p:txBody>
        </p:sp>
        <p:sp>
          <p:nvSpPr>
            <p:cNvPr id="8" name="TextBox 7">
              <a:extLst>
                <a:ext uri="{FF2B5EF4-FFF2-40B4-BE49-F238E27FC236}">
                  <a16:creationId xmlns:a16="http://schemas.microsoft.com/office/drawing/2014/main" id="{77A1110F-4020-1703-C171-FBD4708A7E02}"/>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1</a:t>
              </a:r>
            </a:p>
          </p:txBody>
        </p:sp>
      </p:grpSp>
      <p:grpSp>
        <p:nvGrpSpPr>
          <p:cNvPr id="9" name="Group 8">
            <a:extLst>
              <a:ext uri="{FF2B5EF4-FFF2-40B4-BE49-F238E27FC236}">
                <a16:creationId xmlns:a16="http://schemas.microsoft.com/office/drawing/2014/main" id="{2DF7574D-47E3-56BD-5C19-89F177CDAF04}"/>
              </a:ext>
            </a:extLst>
          </p:cNvPr>
          <p:cNvGrpSpPr/>
          <p:nvPr/>
        </p:nvGrpSpPr>
        <p:grpSpPr>
          <a:xfrm>
            <a:off x="1899556" y="5013269"/>
            <a:ext cx="3243940" cy="413657"/>
            <a:chOff x="1959430" y="2177143"/>
            <a:chExt cx="3243940" cy="413657"/>
          </a:xfrm>
        </p:grpSpPr>
        <p:sp>
          <p:nvSpPr>
            <p:cNvPr id="10" name="TextBox 9">
              <a:extLst>
                <a:ext uri="{FF2B5EF4-FFF2-40B4-BE49-F238E27FC236}">
                  <a16:creationId xmlns:a16="http://schemas.microsoft.com/office/drawing/2014/main" id="{5E555E47-BF49-44AA-F995-328066035C60}"/>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2</a:t>
              </a:r>
            </a:p>
          </p:txBody>
        </p:sp>
        <p:sp>
          <p:nvSpPr>
            <p:cNvPr id="11" name="TextBox 10">
              <a:extLst>
                <a:ext uri="{FF2B5EF4-FFF2-40B4-BE49-F238E27FC236}">
                  <a16:creationId xmlns:a16="http://schemas.microsoft.com/office/drawing/2014/main" id="{A1DCA384-00C5-FD07-D576-003139161DE6}"/>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2</a:t>
              </a:r>
            </a:p>
          </p:txBody>
        </p:sp>
      </p:grpSp>
      <p:grpSp>
        <p:nvGrpSpPr>
          <p:cNvPr id="12" name="Group 11">
            <a:extLst>
              <a:ext uri="{FF2B5EF4-FFF2-40B4-BE49-F238E27FC236}">
                <a16:creationId xmlns:a16="http://schemas.microsoft.com/office/drawing/2014/main" id="{D4E367CF-558E-EA65-EBC7-E744244EB572}"/>
              </a:ext>
            </a:extLst>
          </p:cNvPr>
          <p:cNvGrpSpPr/>
          <p:nvPr/>
        </p:nvGrpSpPr>
        <p:grpSpPr>
          <a:xfrm>
            <a:off x="1899556" y="5426926"/>
            <a:ext cx="3243940" cy="413657"/>
            <a:chOff x="1959430" y="2177143"/>
            <a:chExt cx="3243940" cy="413657"/>
          </a:xfrm>
        </p:grpSpPr>
        <p:sp>
          <p:nvSpPr>
            <p:cNvPr id="13" name="TextBox 12">
              <a:extLst>
                <a:ext uri="{FF2B5EF4-FFF2-40B4-BE49-F238E27FC236}">
                  <a16:creationId xmlns:a16="http://schemas.microsoft.com/office/drawing/2014/main" id="{AA887D77-DA8D-E172-4E7A-A763A9490D92}"/>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3</a:t>
              </a:r>
            </a:p>
          </p:txBody>
        </p:sp>
        <p:sp>
          <p:nvSpPr>
            <p:cNvPr id="14" name="TextBox 13">
              <a:extLst>
                <a:ext uri="{FF2B5EF4-FFF2-40B4-BE49-F238E27FC236}">
                  <a16:creationId xmlns:a16="http://schemas.microsoft.com/office/drawing/2014/main" id="{5C696D45-5E9E-FC82-5C1F-87577AA2892A}"/>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3</a:t>
              </a:r>
            </a:p>
          </p:txBody>
        </p:sp>
      </p:grpSp>
      <p:grpSp>
        <p:nvGrpSpPr>
          <p:cNvPr id="15" name="Group 14">
            <a:extLst>
              <a:ext uri="{FF2B5EF4-FFF2-40B4-BE49-F238E27FC236}">
                <a16:creationId xmlns:a16="http://schemas.microsoft.com/office/drawing/2014/main" id="{67D678DA-73EB-6290-3193-4E70C9EE4F99}"/>
              </a:ext>
            </a:extLst>
          </p:cNvPr>
          <p:cNvGrpSpPr/>
          <p:nvPr/>
        </p:nvGrpSpPr>
        <p:grpSpPr>
          <a:xfrm>
            <a:off x="1899556" y="5840583"/>
            <a:ext cx="3243940" cy="413657"/>
            <a:chOff x="1959430" y="2177143"/>
            <a:chExt cx="3243940" cy="413657"/>
          </a:xfrm>
        </p:grpSpPr>
        <p:sp>
          <p:nvSpPr>
            <p:cNvPr id="16" name="TextBox 15">
              <a:extLst>
                <a:ext uri="{FF2B5EF4-FFF2-40B4-BE49-F238E27FC236}">
                  <a16:creationId xmlns:a16="http://schemas.microsoft.com/office/drawing/2014/main" id="{7C4DCDF5-65A8-F573-1955-BE31D841657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4</a:t>
              </a:r>
            </a:p>
          </p:txBody>
        </p:sp>
        <p:sp>
          <p:nvSpPr>
            <p:cNvPr id="17" name="TextBox 16">
              <a:extLst>
                <a:ext uri="{FF2B5EF4-FFF2-40B4-BE49-F238E27FC236}">
                  <a16:creationId xmlns:a16="http://schemas.microsoft.com/office/drawing/2014/main" id="{34D6F2B3-48E4-77DC-7C9A-26FF0FF94F9D}"/>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4</a:t>
              </a:r>
            </a:p>
          </p:txBody>
        </p:sp>
      </p:grpSp>
      <p:sp>
        <p:nvSpPr>
          <p:cNvPr id="19" name="TextBox 18">
            <a:extLst>
              <a:ext uri="{FF2B5EF4-FFF2-40B4-BE49-F238E27FC236}">
                <a16:creationId xmlns:a16="http://schemas.microsoft.com/office/drawing/2014/main" id="{5DC54D9D-8772-F9A8-2EC7-5B0B4C4AF739}"/>
              </a:ext>
            </a:extLst>
          </p:cNvPr>
          <p:cNvSpPr txBox="1"/>
          <p:nvPr/>
        </p:nvSpPr>
        <p:spPr>
          <a:xfrm>
            <a:off x="522515" y="1301469"/>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A</a:t>
            </a:r>
          </a:p>
        </p:txBody>
      </p:sp>
      <p:sp>
        <p:nvSpPr>
          <p:cNvPr id="20" name="TextBox 19">
            <a:extLst>
              <a:ext uri="{FF2B5EF4-FFF2-40B4-BE49-F238E27FC236}">
                <a16:creationId xmlns:a16="http://schemas.microsoft.com/office/drawing/2014/main" id="{86ECD626-09B3-2D24-6746-8AF89F7EEE22}"/>
              </a:ext>
            </a:extLst>
          </p:cNvPr>
          <p:cNvSpPr txBox="1"/>
          <p:nvPr/>
        </p:nvSpPr>
        <p:spPr>
          <a:xfrm>
            <a:off x="2068284"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B</a:t>
            </a:r>
          </a:p>
        </p:txBody>
      </p:sp>
      <p:sp>
        <p:nvSpPr>
          <p:cNvPr id="21" name="TextBox 20">
            <a:extLst>
              <a:ext uri="{FF2B5EF4-FFF2-40B4-BE49-F238E27FC236}">
                <a16:creationId xmlns:a16="http://schemas.microsoft.com/office/drawing/2014/main" id="{220DFCA0-79E9-1920-D83A-890C99DBE3DE}"/>
              </a:ext>
            </a:extLst>
          </p:cNvPr>
          <p:cNvSpPr txBox="1"/>
          <p:nvPr/>
        </p:nvSpPr>
        <p:spPr>
          <a:xfrm>
            <a:off x="3614053"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C</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Loc4</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2" name="TextBox 21">
            <a:extLst>
              <a:ext uri="{FF2B5EF4-FFF2-40B4-BE49-F238E27FC236}">
                <a16:creationId xmlns:a16="http://schemas.microsoft.com/office/drawing/2014/main" id="{7EF262A1-8154-CA84-C05E-BCF259BCF7B2}"/>
              </a:ext>
            </a:extLst>
          </p:cNvPr>
          <p:cNvSpPr txBox="1"/>
          <p:nvPr/>
        </p:nvSpPr>
        <p:spPr>
          <a:xfrm>
            <a:off x="5159822"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D</a:t>
            </a:r>
          </a:p>
        </p:txBody>
      </p:sp>
      <p:sp>
        <p:nvSpPr>
          <p:cNvPr id="23" name="TextBox 22">
            <a:extLst>
              <a:ext uri="{FF2B5EF4-FFF2-40B4-BE49-F238E27FC236}">
                <a16:creationId xmlns:a16="http://schemas.microsoft.com/office/drawing/2014/main" id="{6B9212D0-0982-8D69-A27D-EDC0A39BF318}"/>
              </a:ext>
            </a:extLst>
          </p:cNvPr>
          <p:cNvSpPr txBox="1"/>
          <p:nvPr/>
        </p:nvSpPr>
        <p:spPr>
          <a:xfrm>
            <a:off x="8251360"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F</a:t>
            </a:r>
          </a:p>
        </p:txBody>
      </p:sp>
      <p:sp>
        <p:nvSpPr>
          <p:cNvPr id="24" name="TextBox 23">
            <a:extLst>
              <a:ext uri="{FF2B5EF4-FFF2-40B4-BE49-F238E27FC236}">
                <a16:creationId xmlns:a16="http://schemas.microsoft.com/office/drawing/2014/main" id="{9D9DAB8E-4DC2-CB98-03A2-0D5276E46941}"/>
              </a:ext>
            </a:extLst>
          </p:cNvPr>
          <p:cNvSpPr txBox="1"/>
          <p:nvPr/>
        </p:nvSpPr>
        <p:spPr>
          <a:xfrm>
            <a:off x="9797129" y="129114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G</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Loc2</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5" name="TextBox 24">
            <a:extLst>
              <a:ext uri="{FF2B5EF4-FFF2-40B4-BE49-F238E27FC236}">
                <a16:creationId xmlns:a16="http://schemas.microsoft.com/office/drawing/2014/main" id="{BAB2446F-E979-5C6C-7D10-083E4D19EE79}"/>
              </a:ext>
            </a:extLst>
          </p:cNvPr>
          <p:cNvSpPr txBox="1"/>
          <p:nvPr/>
        </p:nvSpPr>
        <p:spPr>
          <a:xfrm>
            <a:off x="6705591"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E</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Loc3</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6" name="TextBox 25">
            <a:extLst>
              <a:ext uri="{FF2B5EF4-FFF2-40B4-BE49-F238E27FC236}">
                <a16:creationId xmlns:a16="http://schemas.microsoft.com/office/drawing/2014/main" id="{D0FA2F50-DC52-7C1A-E947-AC7A00232017}"/>
              </a:ext>
            </a:extLst>
          </p:cNvPr>
          <p:cNvSpPr txBox="1"/>
          <p:nvPr/>
        </p:nvSpPr>
        <p:spPr>
          <a:xfrm>
            <a:off x="9797129" y="242850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H</a:t>
            </a:r>
          </a:p>
        </p:txBody>
      </p:sp>
      <p:sp>
        <p:nvSpPr>
          <p:cNvPr id="27" name="TextBox 26">
            <a:extLst>
              <a:ext uri="{FF2B5EF4-FFF2-40B4-BE49-F238E27FC236}">
                <a16:creationId xmlns:a16="http://schemas.microsoft.com/office/drawing/2014/main" id="{84162B9B-4BAA-3304-33B5-AA47648245C4}"/>
              </a:ext>
            </a:extLst>
          </p:cNvPr>
          <p:cNvSpPr txBox="1"/>
          <p:nvPr/>
        </p:nvSpPr>
        <p:spPr>
          <a:xfrm>
            <a:off x="9797129" y="356586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I</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Loc1</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8" name="TextBox 27">
            <a:extLst>
              <a:ext uri="{FF2B5EF4-FFF2-40B4-BE49-F238E27FC236}">
                <a16:creationId xmlns:a16="http://schemas.microsoft.com/office/drawing/2014/main" id="{83FC4A08-F069-4DE4-93D0-B3A79C0B3695}"/>
              </a:ext>
            </a:extLst>
          </p:cNvPr>
          <p:cNvSpPr txBox="1"/>
          <p:nvPr/>
        </p:nvSpPr>
        <p:spPr>
          <a:xfrm>
            <a:off x="9797129" y="470322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J</a:t>
            </a:r>
          </a:p>
        </p:txBody>
      </p:sp>
      <p:sp>
        <p:nvSpPr>
          <p:cNvPr id="29" name="TextBox 28">
            <a:extLst>
              <a:ext uri="{FF2B5EF4-FFF2-40B4-BE49-F238E27FC236}">
                <a16:creationId xmlns:a16="http://schemas.microsoft.com/office/drawing/2014/main" id="{E8499C2E-A984-CE09-E9FC-869E5F2DF5E7}"/>
              </a:ext>
            </a:extLst>
          </p:cNvPr>
          <p:cNvSpPr txBox="1"/>
          <p:nvPr/>
        </p:nvSpPr>
        <p:spPr>
          <a:xfrm>
            <a:off x="9797129" y="584058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K</a:t>
            </a:r>
          </a:p>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rPr>
              <a:t>Loc0</a:t>
            </a:r>
          </a:p>
        </p:txBody>
      </p:sp>
      <p:grpSp>
        <p:nvGrpSpPr>
          <p:cNvPr id="30" name="Group 29">
            <a:extLst>
              <a:ext uri="{FF2B5EF4-FFF2-40B4-BE49-F238E27FC236}">
                <a16:creationId xmlns:a16="http://schemas.microsoft.com/office/drawing/2014/main" id="{3688AF0D-03E0-2C28-3596-C1F8066A7300}"/>
              </a:ext>
            </a:extLst>
          </p:cNvPr>
          <p:cNvGrpSpPr/>
          <p:nvPr/>
        </p:nvGrpSpPr>
        <p:grpSpPr>
          <a:xfrm>
            <a:off x="1915882" y="3436914"/>
            <a:ext cx="3243940" cy="413657"/>
            <a:chOff x="1959430" y="2177143"/>
            <a:chExt cx="3243940" cy="413657"/>
          </a:xfrm>
        </p:grpSpPr>
        <p:sp>
          <p:nvSpPr>
            <p:cNvPr id="31" name="TextBox 30">
              <a:extLst>
                <a:ext uri="{FF2B5EF4-FFF2-40B4-BE49-F238E27FC236}">
                  <a16:creationId xmlns:a16="http://schemas.microsoft.com/office/drawing/2014/main" id="{78BA7CFA-94F2-09B5-2D11-3CD3A0F6AAB6}"/>
                </a:ext>
              </a:extLst>
            </p:cNvPr>
            <p:cNvSpPr txBox="1"/>
            <p:nvPr/>
          </p:nvSpPr>
          <p:spPr>
            <a:xfrm>
              <a:off x="1959430" y="2177143"/>
              <a:ext cx="1621970" cy="413657"/>
            </a:xfrm>
            <a:prstGeom prst="rect">
              <a:avLst/>
            </a:prstGeom>
            <a:solidFill>
              <a:schemeClr val="accent3">
                <a:lumMod val="40000"/>
                <a:lumOff val="60000"/>
              </a:schemeClr>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0</a:t>
              </a:r>
            </a:p>
          </p:txBody>
        </p:sp>
        <p:sp>
          <p:nvSpPr>
            <p:cNvPr id="32" name="TextBox 31">
              <a:extLst>
                <a:ext uri="{FF2B5EF4-FFF2-40B4-BE49-F238E27FC236}">
                  <a16:creationId xmlns:a16="http://schemas.microsoft.com/office/drawing/2014/main" id="{B62BB785-CEEA-27B4-5F00-AE094D6144CE}"/>
                </a:ext>
              </a:extLst>
            </p:cNvPr>
            <p:cNvSpPr txBox="1"/>
            <p:nvPr/>
          </p:nvSpPr>
          <p:spPr>
            <a:xfrm>
              <a:off x="3581400" y="2177143"/>
              <a:ext cx="1621970" cy="413657"/>
            </a:xfrm>
            <a:prstGeom prst="rect">
              <a:avLst/>
            </a:prstGeom>
            <a:solidFill>
              <a:schemeClr val="accent4">
                <a:lumMod val="40000"/>
                <a:lumOff val="60000"/>
              </a:schemeClr>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0</a:t>
              </a:r>
            </a:p>
          </p:txBody>
        </p:sp>
      </p:grpSp>
      <p:sp>
        <p:nvSpPr>
          <p:cNvPr id="33" name="TextBox 32">
            <a:extLst>
              <a:ext uri="{FF2B5EF4-FFF2-40B4-BE49-F238E27FC236}">
                <a16:creationId xmlns:a16="http://schemas.microsoft.com/office/drawing/2014/main" id="{1634C2CB-6B6B-81AA-FE36-906444213B14}"/>
              </a:ext>
            </a:extLst>
          </p:cNvPr>
          <p:cNvSpPr txBox="1"/>
          <p:nvPr/>
        </p:nvSpPr>
        <p:spPr>
          <a:xfrm>
            <a:off x="5236030" y="3436914"/>
            <a:ext cx="2547256"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IPv6 DST Addr.</a:t>
            </a:r>
          </a:p>
        </p:txBody>
      </p:sp>
      <p:sp>
        <p:nvSpPr>
          <p:cNvPr id="34" name="TextBox 33">
            <a:extLst>
              <a:ext uri="{FF2B5EF4-FFF2-40B4-BE49-F238E27FC236}">
                <a16:creationId xmlns:a16="http://schemas.microsoft.com/office/drawing/2014/main" id="{3B257FCD-30EA-3E5C-61FD-96CAF1A93136}"/>
              </a:ext>
            </a:extLst>
          </p:cNvPr>
          <p:cNvSpPr txBox="1"/>
          <p:nvPr/>
        </p:nvSpPr>
        <p:spPr>
          <a:xfrm>
            <a:off x="5486393" y="4995057"/>
            <a:ext cx="914400"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SHR</a:t>
            </a:r>
          </a:p>
        </p:txBody>
      </p:sp>
      <p:cxnSp>
        <p:nvCxnSpPr>
          <p:cNvPr id="36" name="Straight Arrow Connector 35">
            <a:extLst>
              <a:ext uri="{FF2B5EF4-FFF2-40B4-BE49-F238E27FC236}">
                <a16:creationId xmlns:a16="http://schemas.microsoft.com/office/drawing/2014/main" id="{3508B799-ED0E-3852-567F-4ED8BC37722C}"/>
              </a:ext>
            </a:extLst>
          </p:cNvPr>
          <p:cNvCxnSpPr>
            <a:cxnSpLocks/>
            <a:stCxn id="33" idx="3"/>
            <a:endCxn id="27" idx="2"/>
          </p:cNvCxnSpPr>
          <p:nvPr/>
        </p:nvCxnSpPr>
        <p:spPr>
          <a:xfrm>
            <a:off x="7783286" y="3643743"/>
            <a:ext cx="2634329" cy="69513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8DAE735-1CD6-2310-BB62-83985D69EA59}"/>
              </a:ext>
            </a:extLst>
          </p:cNvPr>
          <p:cNvCxnSpPr>
            <a:stCxn id="19" idx="3"/>
            <a:endCxn id="20" idx="1"/>
          </p:cNvCxnSpPr>
          <p:nvPr/>
        </p:nvCxnSpPr>
        <p:spPr>
          <a:xfrm flipV="1">
            <a:off x="1763486" y="1683160"/>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5A98E94-CBFE-69D9-5AC5-81A0C0B90AC0}"/>
              </a:ext>
            </a:extLst>
          </p:cNvPr>
          <p:cNvCxnSpPr/>
          <p:nvPr/>
        </p:nvCxnSpPr>
        <p:spPr>
          <a:xfrm flipV="1">
            <a:off x="3309255" y="167042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65A6F1C-F30D-685A-66F6-E196573FECBE}"/>
              </a:ext>
            </a:extLst>
          </p:cNvPr>
          <p:cNvCxnSpPr/>
          <p:nvPr/>
        </p:nvCxnSpPr>
        <p:spPr>
          <a:xfrm flipV="1">
            <a:off x="4855024" y="1665608"/>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1DA76F5-2D6A-7918-AB15-B8C5D6C39988}"/>
              </a:ext>
            </a:extLst>
          </p:cNvPr>
          <p:cNvCxnSpPr/>
          <p:nvPr/>
        </p:nvCxnSpPr>
        <p:spPr>
          <a:xfrm flipV="1">
            <a:off x="6389906" y="1672274"/>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5DE1137-A253-5BAE-A8BB-AE7EDD4B1E3A}"/>
              </a:ext>
            </a:extLst>
          </p:cNvPr>
          <p:cNvCxnSpPr>
            <a:cxnSpLocks/>
            <a:stCxn id="25" idx="3"/>
          </p:cNvCxnSpPr>
          <p:nvPr/>
        </p:nvCxnSpPr>
        <p:spPr>
          <a:xfrm>
            <a:off x="7946562" y="1683160"/>
            <a:ext cx="283024" cy="0"/>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C182581-03B6-CCEA-84F6-9BFB8D5F1855}"/>
              </a:ext>
            </a:extLst>
          </p:cNvPr>
          <p:cNvCxnSpPr/>
          <p:nvPr/>
        </p:nvCxnSpPr>
        <p:spPr>
          <a:xfrm flipV="1">
            <a:off x="9448783" y="169404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5E90EF5-2A32-4E52-D0D2-EDACDD1DA825}"/>
              </a:ext>
            </a:extLst>
          </p:cNvPr>
          <p:cNvCxnSpPr>
            <a:cxnSpLocks/>
            <a:stCxn id="26" idx="0"/>
            <a:endCxn id="24" idx="2"/>
          </p:cNvCxnSpPr>
          <p:nvPr/>
        </p:nvCxnSpPr>
        <p:spPr>
          <a:xfrm flipV="1">
            <a:off x="10417615" y="206415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EE98E7B-E641-9B00-C116-9AEA1F834853}"/>
              </a:ext>
            </a:extLst>
          </p:cNvPr>
          <p:cNvCxnSpPr>
            <a:cxnSpLocks/>
          </p:cNvCxnSpPr>
          <p:nvPr/>
        </p:nvCxnSpPr>
        <p:spPr>
          <a:xfrm flipV="1">
            <a:off x="10417614" y="320151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492A3E1-13BC-741D-79A4-285D00FD981D}"/>
              </a:ext>
            </a:extLst>
          </p:cNvPr>
          <p:cNvCxnSpPr>
            <a:cxnSpLocks/>
          </p:cNvCxnSpPr>
          <p:nvPr/>
        </p:nvCxnSpPr>
        <p:spPr>
          <a:xfrm flipV="1">
            <a:off x="10406715" y="433887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8B5994E-CEED-5C83-8335-EAF11F8A89CF}"/>
              </a:ext>
            </a:extLst>
          </p:cNvPr>
          <p:cNvCxnSpPr>
            <a:cxnSpLocks/>
          </p:cNvCxnSpPr>
          <p:nvPr/>
        </p:nvCxnSpPr>
        <p:spPr>
          <a:xfrm flipV="1">
            <a:off x="10406715" y="547623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Arrow: Right 50">
            <a:extLst>
              <a:ext uri="{FF2B5EF4-FFF2-40B4-BE49-F238E27FC236}">
                <a16:creationId xmlns:a16="http://schemas.microsoft.com/office/drawing/2014/main" id="{12318449-AD0D-1D05-E36B-4E96DF432073}"/>
              </a:ext>
            </a:extLst>
          </p:cNvPr>
          <p:cNvSpPr/>
          <p:nvPr/>
        </p:nvSpPr>
        <p:spPr>
          <a:xfrm>
            <a:off x="119755" y="4148235"/>
            <a:ext cx="1763486" cy="484632"/>
          </a:xfrm>
          <a:prstGeom prst="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Active segment</a:t>
            </a:r>
          </a:p>
        </p:txBody>
      </p:sp>
      <p:sp>
        <p:nvSpPr>
          <p:cNvPr id="52" name="Arrow: Circular 51">
            <a:extLst>
              <a:ext uri="{FF2B5EF4-FFF2-40B4-BE49-F238E27FC236}">
                <a16:creationId xmlns:a16="http://schemas.microsoft.com/office/drawing/2014/main" id="{4DAB1F5C-7676-1827-8218-48DF8D5D948E}"/>
              </a:ext>
            </a:extLst>
          </p:cNvPr>
          <p:cNvSpPr/>
          <p:nvPr/>
        </p:nvSpPr>
        <p:spPr>
          <a:xfrm rot="16200000">
            <a:off x="1468284" y="2540665"/>
            <a:ext cx="884411" cy="2702383"/>
          </a:xfrm>
          <a:prstGeom prst="circularArrow">
            <a:avLst>
              <a:gd name="adj1" fmla="val 3259"/>
              <a:gd name="adj2" fmla="val 1142319"/>
              <a:gd name="adj3" fmla="val 20529188"/>
              <a:gd name="adj4" fmla="val 10905829"/>
              <a:gd name="adj5" fmla="val 5405"/>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7937768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EC0ED6-027B-6992-F3F3-D17CCEA976B9}"/>
              </a:ext>
            </a:extLst>
          </p:cNvPr>
          <p:cNvSpPr>
            <a:spLocks noGrp="1"/>
          </p:cNvSpPr>
          <p:nvPr>
            <p:ph type="body" sz="quarter" idx="11"/>
          </p:nvPr>
        </p:nvSpPr>
        <p:spPr/>
        <p:txBody>
          <a:bodyPr/>
          <a:lstStyle/>
          <a:p>
            <a:r>
              <a:rPr lang="en-US" sz="2800" dirty="0"/>
              <a:t>Network Program #11 – without Penultimate Segment Popping (PSP)</a:t>
            </a:r>
          </a:p>
        </p:txBody>
      </p:sp>
      <p:grpSp>
        <p:nvGrpSpPr>
          <p:cNvPr id="6" name="Group 5">
            <a:extLst>
              <a:ext uri="{FF2B5EF4-FFF2-40B4-BE49-F238E27FC236}">
                <a16:creationId xmlns:a16="http://schemas.microsoft.com/office/drawing/2014/main" id="{80CD64DE-41CD-C4AC-FD52-8B1F12C9057E}"/>
              </a:ext>
            </a:extLst>
          </p:cNvPr>
          <p:cNvGrpSpPr/>
          <p:nvPr/>
        </p:nvGrpSpPr>
        <p:grpSpPr>
          <a:xfrm>
            <a:off x="1899556" y="4185955"/>
            <a:ext cx="3243940" cy="413657"/>
            <a:chOff x="1959430" y="2177143"/>
            <a:chExt cx="3243940" cy="413657"/>
          </a:xfrm>
        </p:grpSpPr>
        <p:sp>
          <p:nvSpPr>
            <p:cNvPr id="4" name="TextBox 3">
              <a:extLst>
                <a:ext uri="{FF2B5EF4-FFF2-40B4-BE49-F238E27FC236}">
                  <a16:creationId xmlns:a16="http://schemas.microsoft.com/office/drawing/2014/main" id="{25AE1756-73E4-48C0-9B1C-5D98FE4AF2C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0</a:t>
              </a:r>
            </a:p>
          </p:txBody>
        </p:sp>
        <p:sp>
          <p:nvSpPr>
            <p:cNvPr id="5" name="TextBox 4">
              <a:extLst>
                <a:ext uri="{FF2B5EF4-FFF2-40B4-BE49-F238E27FC236}">
                  <a16:creationId xmlns:a16="http://schemas.microsoft.com/office/drawing/2014/main" id="{204FCDD0-144C-9FF3-A2F1-0254B1ADE461}"/>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0</a:t>
              </a:r>
            </a:p>
          </p:txBody>
        </p:sp>
      </p:grpSp>
      <p:grpSp>
        <p:nvGrpSpPr>
          <p:cNvPr id="2" name="Group 1">
            <a:extLst>
              <a:ext uri="{FF2B5EF4-FFF2-40B4-BE49-F238E27FC236}">
                <a16:creationId xmlns:a16="http://schemas.microsoft.com/office/drawing/2014/main" id="{94646B92-7599-5248-F0C7-DAD434BBB055}"/>
              </a:ext>
            </a:extLst>
          </p:cNvPr>
          <p:cNvGrpSpPr/>
          <p:nvPr/>
        </p:nvGrpSpPr>
        <p:grpSpPr>
          <a:xfrm>
            <a:off x="1899556" y="4599612"/>
            <a:ext cx="3243940" cy="413657"/>
            <a:chOff x="1959430" y="2177143"/>
            <a:chExt cx="3243940" cy="413657"/>
          </a:xfrm>
        </p:grpSpPr>
        <p:sp>
          <p:nvSpPr>
            <p:cNvPr id="7" name="TextBox 6">
              <a:extLst>
                <a:ext uri="{FF2B5EF4-FFF2-40B4-BE49-F238E27FC236}">
                  <a16:creationId xmlns:a16="http://schemas.microsoft.com/office/drawing/2014/main" id="{46FC5A35-87CA-0B78-2F35-B357679754A4}"/>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1</a:t>
              </a:r>
            </a:p>
          </p:txBody>
        </p:sp>
        <p:sp>
          <p:nvSpPr>
            <p:cNvPr id="8" name="TextBox 7">
              <a:extLst>
                <a:ext uri="{FF2B5EF4-FFF2-40B4-BE49-F238E27FC236}">
                  <a16:creationId xmlns:a16="http://schemas.microsoft.com/office/drawing/2014/main" id="{77A1110F-4020-1703-C171-FBD4708A7E02}"/>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1</a:t>
              </a:r>
            </a:p>
          </p:txBody>
        </p:sp>
      </p:grpSp>
      <p:grpSp>
        <p:nvGrpSpPr>
          <p:cNvPr id="9" name="Group 8">
            <a:extLst>
              <a:ext uri="{FF2B5EF4-FFF2-40B4-BE49-F238E27FC236}">
                <a16:creationId xmlns:a16="http://schemas.microsoft.com/office/drawing/2014/main" id="{2DF7574D-47E3-56BD-5C19-89F177CDAF04}"/>
              </a:ext>
            </a:extLst>
          </p:cNvPr>
          <p:cNvGrpSpPr/>
          <p:nvPr/>
        </p:nvGrpSpPr>
        <p:grpSpPr>
          <a:xfrm>
            <a:off x="1899556" y="5013269"/>
            <a:ext cx="3243940" cy="413657"/>
            <a:chOff x="1959430" y="2177143"/>
            <a:chExt cx="3243940" cy="413657"/>
          </a:xfrm>
        </p:grpSpPr>
        <p:sp>
          <p:nvSpPr>
            <p:cNvPr id="10" name="TextBox 9">
              <a:extLst>
                <a:ext uri="{FF2B5EF4-FFF2-40B4-BE49-F238E27FC236}">
                  <a16:creationId xmlns:a16="http://schemas.microsoft.com/office/drawing/2014/main" id="{5E555E47-BF49-44AA-F995-328066035C60}"/>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2</a:t>
              </a:r>
            </a:p>
          </p:txBody>
        </p:sp>
        <p:sp>
          <p:nvSpPr>
            <p:cNvPr id="11" name="TextBox 10">
              <a:extLst>
                <a:ext uri="{FF2B5EF4-FFF2-40B4-BE49-F238E27FC236}">
                  <a16:creationId xmlns:a16="http://schemas.microsoft.com/office/drawing/2014/main" id="{A1DCA384-00C5-FD07-D576-003139161DE6}"/>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2</a:t>
              </a:r>
            </a:p>
          </p:txBody>
        </p:sp>
      </p:grpSp>
      <p:grpSp>
        <p:nvGrpSpPr>
          <p:cNvPr id="12" name="Group 11">
            <a:extLst>
              <a:ext uri="{FF2B5EF4-FFF2-40B4-BE49-F238E27FC236}">
                <a16:creationId xmlns:a16="http://schemas.microsoft.com/office/drawing/2014/main" id="{D4E367CF-558E-EA65-EBC7-E744244EB572}"/>
              </a:ext>
            </a:extLst>
          </p:cNvPr>
          <p:cNvGrpSpPr/>
          <p:nvPr/>
        </p:nvGrpSpPr>
        <p:grpSpPr>
          <a:xfrm>
            <a:off x="1899556" y="5426926"/>
            <a:ext cx="3243940" cy="413657"/>
            <a:chOff x="1959430" y="2177143"/>
            <a:chExt cx="3243940" cy="413657"/>
          </a:xfrm>
        </p:grpSpPr>
        <p:sp>
          <p:nvSpPr>
            <p:cNvPr id="13" name="TextBox 12">
              <a:extLst>
                <a:ext uri="{FF2B5EF4-FFF2-40B4-BE49-F238E27FC236}">
                  <a16:creationId xmlns:a16="http://schemas.microsoft.com/office/drawing/2014/main" id="{AA887D77-DA8D-E172-4E7A-A763A9490D92}"/>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3</a:t>
              </a:r>
            </a:p>
          </p:txBody>
        </p:sp>
        <p:sp>
          <p:nvSpPr>
            <p:cNvPr id="14" name="TextBox 13">
              <a:extLst>
                <a:ext uri="{FF2B5EF4-FFF2-40B4-BE49-F238E27FC236}">
                  <a16:creationId xmlns:a16="http://schemas.microsoft.com/office/drawing/2014/main" id="{5C696D45-5E9E-FC82-5C1F-87577AA2892A}"/>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3</a:t>
              </a:r>
            </a:p>
          </p:txBody>
        </p:sp>
      </p:grpSp>
      <p:grpSp>
        <p:nvGrpSpPr>
          <p:cNvPr id="15" name="Group 14">
            <a:extLst>
              <a:ext uri="{FF2B5EF4-FFF2-40B4-BE49-F238E27FC236}">
                <a16:creationId xmlns:a16="http://schemas.microsoft.com/office/drawing/2014/main" id="{67D678DA-73EB-6290-3193-4E70C9EE4F99}"/>
              </a:ext>
            </a:extLst>
          </p:cNvPr>
          <p:cNvGrpSpPr/>
          <p:nvPr/>
        </p:nvGrpSpPr>
        <p:grpSpPr>
          <a:xfrm>
            <a:off x="1899556" y="5840583"/>
            <a:ext cx="3243940" cy="413657"/>
            <a:chOff x="1959430" y="2177143"/>
            <a:chExt cx="3243940" cy="413657"/>
          </a:xfrm>
        </p:grpSpPr>
        <p:sp>
          <p:nvSpPr>
            <p:cNvPr id="16" name="TextBox 15">
              <a:extLst>
                <a:ext uri="{FF2B5EF4-FFF2-40B4-BE49-F238E27FC236}">
                  <a16:creationId xmlns:a16="http://schemas.microsoft.com/office/drawing/2014/main" id="{7C4DCDF5-65A8-F573-1955-BE31D841657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4</a:t>
              </a:r>
            </a:p>
          </p:txBody>
        </p:sp>
        <p:sp>
          <p:nvSpPr>
            <p:cNvPr id="17" name="TextBox 16">
              <a:extLst>
                <a:ext uri="{FF2B5EF4-FFF2-40B4-BE49-F238E27FC236}">
                  <a16:creationId xmlns:a16="http://schemas.microsoft.com/office/drawing/2014/main" id="{34D6F2B3-48E4-77DC-7C9A-26FF0FF94F9D}"/>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4</a:t>
              </a:r>
            </a:p>
          </p:txBody>
        </p:sp>
      </p:grpSp>
      <p:sp>
        <p:nvSpPr>
          <p:cNvPr id="19" name="TextBox 18">
            <a:extLst>
              <a:ext uri="{FF2B5EF4-FFF2-40B4-BE49-F238E27FC236}">
                <a16:creationId xmlns:a16="http://schemas.microsoft.com/office/drawing/2014/main" id="{5DC54D9D-8772-F9A8-2EC7-5B0B4C4AF739}"/>
              </a:ext>
            </a:extLst>
          </p:cNvPr>
          <p:cNvSpPr txBox="1"/>
          <p:nvPr/>
        </p:nvSpPr>
        <p:spPr>
          <a:xfrm>
            <a:off x="522515" y="1301469"/>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A</a:t>
            </a:r>
          </a:p>
        </p:txBody>
      </p:sp>
      <p:sp>
        <p:nvSpPr>
          <p:cNvPr id="20" name="TextBox 19">
            <a:extLst>
              <a:ext uri="{FF2B5EF4-FFF2-40B4-BE49-F238E27FC236}">
                <a16:creationId xmlns:a16="http://schemas.microsoft.com/office/drawing/2014/main" id="{86ECD626-09B3-2D24-6746-8AF89F7EEE22}"/>
              </a:ext>
            </a:extLst>
          </p:cNvPr>
          <p:cNvSpPr txBox="1"/>
          <p:nvPr/>
        </p:nvSpPr>
        <p:spPr>
          <a:xfrm>
            <a:off x="2068284"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B</a:t>
            </a:r>
          </a:p>
        </p:txBody>
      </p:sp>
      <p:sp>
        <p:nvSpPr>
          <p:cNvPr id="21" name="TextBox 20">
            <a:extLst>
              <a:ext uri="{FF2B5EF4-FFF2-40B4-BE49-F238E27FC236}">
                <a16:creationId xmlns:a16="http://schemas.microsoft.com/office/drawing/2014/main" id="{220DFCA0-79E9-1920-D83A-890C99DBE3DE}"/>
              </a:ext>
            </a:extLst>
          </p:cNvPr>
          <p:cNvSpPr txBox="1"/>
          <p:nvPr/>
        </p:nvSpPr>
        <p:spPr>
          <a:xfrm>
            <a:off x="3614053"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C</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Loc4</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2" name="TextBox 21">
            <a:extLst>
              <a:ext uri="{FF2B5EF4-FFF2-40B4-BE49-F238E27FC236}">
                <a16:creationId xmlns:a16="http://schemas.microsoft.com/office/drawing/2014/main" id="{7EF262A1-8154-CA84-C05E-BCF259BCF7B2}"/>
              </a:ext>
            </a:extLst>
          </p:cNvPr>
          <p:cNvSpPr txBox="1"/>
          <p:nvPr/>
        </p:nvSpPr>
        <p:spPr>
          <a:xfrm>
            <a:off x="5159822"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D</a:t>
            </a:r>
          </a:p>
        </p:txBody>
      </p:sp>
      <p:sp>
        <p:nvSpPr>
          <p:cNvPr id="23" name="TextBox 22">
            <a:extLst>
              <a:ext uri="{FF2B5EF4-FFF2-40B4-BE49-F238E27FC236}">
                <a16:creationId xmlns:a16="http://schemas.microsoft.com/office/drawing/2014/main" id="{6B9212D0-0982-8D69-A27D-EDC0A39BF318}"/>
              </a:ext>
            </a:extLst>
          </p:cNvPr>
          <p:cNvSpPr txBox="1"/>
          <p:nvPr/>
        </p:nvSpPr>
        <p:spPr>
          <a:xfrm>
            <a:off x="8251360"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F</a:t>
            </a:r>
          </a:p>
        </p:txBody>
      </p:sp>
      <p:sp>
        <p:nvSpPr>
          <p:cNvPr id="24" name="TextBox 23">
            <a:extLst>
              <a:ext uri="{FF2B5EF4-FFF2-40B4-BE49-F238E27FC236}">
                <a16:creationId xmlns:a16="http://schemas.microsoft.com/office/drawing/2014/main" id="{9D9DAB8E-4DC2-CB98-03A2-0D5276E46941}"/>
              </a:ext>
            </a:extLst>
          </p:cNvPr>
          <p:cNvSpPr txBox="1"/>
          <p:nvPr/>
        </p:nvSpPr>
        <p:spPr>
          <a:xfrm>
            <a:off x="9797129" y="129114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G</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Loc2</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5" name="TextBox 24">
            <a:extLst>
              <a:ext uri="{FF2B5EF4-FFF2-40B4-BE49-F238E27FC236}">
                <a16:creationId xmlns:a16="http://schemas.microsoft.com/office/drawing/2014/main" id="{BAB2446F-E979-5C6C-7D10-083E4D19EE79}"/>
              </a:ext>
            </a:extLst>
          </p:cNvPr>
          <p:cNvSpPr txBox="1"/>
          <p:nvPr/>
        </p:nvSpPr>
        <p:spPr>
          <a:xfrm>
            <a:off x="6705591"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E</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Loc3</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6" name="TextBox 25">
            <a:extLst>
              <a:ext uri="{FF2B5EF4-FFF2-40B4-BE49-F238E27FC236}">
                <a16:creationId xmlns:a16="http://schemas.microsoft.com/office/drawing/2014/main" id="{D0FA2F50-DC52-7C1A-E947-AC7A00232017}"/>
              </a:ext>
            </a:extLst>
          </p:cNvPr>
          <p:cNvSpPr txBox="1"/>
          <p:nvPr/>
        </p:nvSpPr>
        <p:spPr>
          <a:xfrm>
            <a:off x="9797129" y="242850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H</a:t>
            </a:r>
          </a:p>
        </p:txBody>
      </p:sp>
      <p:sp>
        <p:nvSpPr>
          <p:cNvPr id="27" name="TextBox 26">
            <a:extLst>
              <a:ext uri="{FF2B5EF4-FFF2-40B4-BE49-F238E27FC236}">
                <a16:creationId xmlns:a16="http://schemas.microsoft.com/office/drawing/2014/main" id="{84162B9B-4BAA-3304-33B5-AA47648245C4}"/>
              </a:ext>
            </a:extLst>
          </p:cNvPr>
          <p:cNvSpPr txBox="1"/>
          <p:nvPr/>
        </p:nvSpPr>
        <p:spPr>
          <a:xfrm>
            <a:off x="9797129" y="356586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I</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Loc1</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8" name="TextBox 27">
            <a:extLst>
              <a:ext uri="{FF2B5EF4-FFF2-40B4-BE49-F238E27FC236}">
                <a16:creationId xmlns:a16="http://schemas.microsoft.com/office/drawing/2014/main" id="{83FC4A08-F069-4DE4-93D0-B3A79C0B3695}"/>
              </a:ext>
            </a:extLst>
          </p:cNvPr>
          <p:cNvSpPr txBox="1"/>
          <p:nvPr/>
        </p:nvSpPr>
        <p:spPr>
          <a:xfrm>
            <a:off x="9797129" y="470322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J</a:t>
            </a:r>
          </a:p>
        </p:txBody>
      </p:sp>
      <p:sp>
        <p:nvSpPr>
          <p:cNvPr id="29" name="TextBox 28">
            <a:extLst>
              <a:ext uri="{FF2B5EF4-FFF2-40B4-BE49-F238E27FC236}">
                <a16:creationId xmlns:a16="http://schemas.microsoft.com/office/drawing/2014/main" id="{E8499C2E-A984-CE09-E9FC-869E5F2DF5E7}"/>
              </a:ext>
            </a:extLst>
          </p:cNvPr>
          <p:cNvSpPr txBox="1"/>
          <p:nvPr/>
        </p:nvSpPr>
        <p:spPr>
          <a:xfrm>
            <a:off x="9797129" y="584058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K</a:t>
            </a:r>
          </a:p>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rPr>
              <a:t>Loc0</a:t>
            </a:r>
          </a:p>
        </p:txBody>
      </p:sp>
      <p:grpSp>
        <p:nvGrpSpPr>
          <p:cNvPr id="30" name="Group 29">
            <a:extLst>
              <a:ext uri="{FF2B5EF4-FFF2-40B4-BE49-F238E27FC236}">
                <a16:creationId xmlns:a16="http://schemas.microsoft.com/office/drawing/2014/main" id="{3688AF0D-03E0-2C28-3596-C1F8066A7300}"/>
              </a:ext>
            </a:extLst>
          </p:cNvPr>
          <p:cNvGrpSpPr/>
          <p:nvPr/>
        </p:nvGrpSpPr>
        <p:grpSpPr>
          <a:xfrm>
            <a:off x="1915882" y="3436914"/>
            <a:ext cx="3243940" cy="413657"/>
            <a:chOff x="1959430" y="2177143"/>
            <a:chExt cx="3243940" cy="413657"/>
          </a:xfrm>
        </p:grpSpPr>
        <p:sp>
          <p:nvSpPr>
            <p:cNvPr id="31" name="TextBox 30">
              <a:extLst>
                <a:ext uri="{FF2B5EF4-FFF2-40B4-BE49-F238E27FC236}">
                  <a16:creationId xmlns:a16="http://schemas.microsoft.com/office/drawing/2014/main" id="{78BA7CFA-94F2-09B5-2D11-3CD3A0F6AAB6}"/>
                </a:ext>
              </a:extLst>
            </p:cNvPr>
            <p:cNvSpPr txBox="1"/>
            <p:nvPr/>
          </p:nvSpPr>
          <p:spPr>
            <a:xfrm>
              <a:off x="1959430" y="2177143"/>
              <a:ext cx="1621970" cy="413657"/>
            </a:xfrm>
            <a:prstGeom prst="rect">
              <a:avLst/>
            </a:prstGeom>
            <a:solidFill>
              <a:schemeClr val="accent3">
                <a:lumMod val="40000"/>
                <a:lumOff val="60000"/>
              </a:schemeClr>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0</a:t>
              </a:r>
            </a:p>
          </p:txBody>
        </p:sp>
        <p:sp>
          <p:nvSpPr>
            <p:cNvPr id="32" name="TextBox 31">
              <a:extLst>
                <a:ext uri="{FF2B5EF4-FFF2-40B4-BE49-F238E27FC236}">
                  <a16:creationId xmlns:a16="http://schemas.microsoft.com/office/drawing/2014/main" id="{B62BB785-CEEA-27B4-5F00-AE094D6144CE}"/>
                </a:ext>
              </a:extLst>
            </p:cNvPr>
            <p:cNvSpPr txBox="1"/>
            <p:nvPr/>
          </p:nvSpPr>
          <p:spPr>
            <a:xfrm>
              <a:off x="3581400" y="2177143"/>
              <a:ext cx="1621970" cy="413657"/>
            </a:xfrm>
            <a:prstGeom prst="rect">
              <a:avLst/>
            </a:prstGeom>
            <a:solidFill>
              <a:schemeClr val="accent4">
                <a:lumMod val="40000"/>
                <a:lumOff val="60000"/>
              </a:schemeClr>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0</a:t>
              </a:r>
            </a:p>
          </p:txBody>
        </p:sp>
      </p:grpSp>
      <p:sp>
        <p:nvSpPr>
          <p:cNvPr id="33" name="TextBox 32">
            <a:extLst>
              <a:ext uri="{FF2B5EF4-FFF2-40B4-BE49-F238E27FC236}">
                <a16:creationId xmlns:a16="http://schemas.microsoft.com/office/drawing/2014/main" id="{1634C2CB-6B6B-81AA-FE36-906444213B14}"/>
              </a:ext>
            </a:extLst>
          </p:cNvPr>
          <p:cNvSpPr txBox="1"/>
          <p:nvPr/>
        </p:nvSpPr>
        <p:spPr>
          <a:xfrm>
            <a:off x="5236030" y="3436914"/>
            <a:ext cx="2547256"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IPv6 DST Addr.</a:t>
            </a:r>
          </a:p>
        </p:txBody>
      </p:sp>
      <p:sp>
        <p:nvSpPr>
          <p:cNvPr id="34" name="TextBox 33">
            <a:extLst>
              <a:ext uri="{FF2B5EF4-FFF2-40B4-BE49-F238E27FC236}">
                <a16:creationId xmlns:a16="http://schemas.microsoft.com/office/drawing/2014/main" id="{3B257FCD-30EA-3E5C-61FD-96CAF1A93136}"/>
              </a:ext>
            </a:extLst>
          </p:cNvPr>
          <p:cNvSpPr txBox="1"/>
          <p:nvPr/>
        </p:nvSpPr>
        <p:spPr>
          <a:xfrm>
            <a:off x="5486393" y="4995057"/>
            <a:ext cx="914400"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SHR</a:t>
            </a:r>
          </a:p>
        </p:txBody>
      </p:sp>
      <p:cxnSp>
        <p:nvCxnSpPr>
          <p:cNvPr id="36" name="Straight Arrow Connector 35">
            <a:extLst>
              <a:ext uri="{FF2B5EF4-FFF2-40B4-BE49-F238E27FC236}">
                <a16:creationId xmlns:a16="http://schemas.microsoft.com/office/drawing/2014/main" id="{3508B799-ED0E-3852-567F-4ED8BC37722C}"/>
              </a:ext>
            </a:extLst>
          </p:cNvPr>
          <p:cNvCxnSpPr>
            <a:cxnSpLocks/>
            <a:stCxn id="33" idx="3"/>
          </p:cNvCxnSpPr>
          <p:nvPr/>
        </p:nvCxnSpPr>
        <p:spPr>
          <a:xfrm>
            <a:off x="7783286" y="3643743"/>
            <a:ext cx="2623429" cy="199505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8DAE735-1CD6-2310-BB62-83985D69EA59}"/>
              </a:ext>
            </a:extLst>
          </p:cNvPr>
          <p:cNvCxnSpPr>
            <a:stCxn id="19" idx="3"/>
            <a:endCxn id="20" idx="1"/>
          </p:cNvCxnSpPr>
          <p:nvPr/>
        </p:nvCxnSpPr>
        <p:spPr>
          <a:xfrm flipV="1">
            <a:off x="1763486" y="1683160"/>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5A98E94-CBFE-69D9-5AC5-81A0C0B90AC0}"/>
              </a:ext>
            </a:extLst>
          </p:cNvPr>
          <p:cNvCxnSpPr/>
          <p:nvPr/>
        </p:nvCxnSpPr>
        <p:spPr>
          <a:xfrm flipV="1">
            <a:off x="3309255" y="167042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65A6F1C-F30D-685A-66F6-E196573FECBE}"/>
              </a:ext>
            </a:extLst>
          </p:cNvPr>
          <p:cNvCxnSpPr/>
          <p:nvPr/>
        </p:nvCxnSpPr>
        <p:spPr>
          <a:xfrm flipV="1">
            <a:off x="4855024" y="1665608"/>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1DA76F5-2D6A-7918-AB15-B8C5D6C39988}"/>
              </a:ext>
            </a:extLst>
          </p:cNvPr>
          <p:cNvCxnSpPr/>
          <p:nvPr/>
        </p:nvCxnSpPr>
        <p:spPr>
          <a:xfrm flipV="1">
            <a:off x="6389906" y="1672274"/>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5DE1137-A253-5BAE-A8BB-AE7EDD4B1E3A}"/>
              </a:ext>
            </a:extLst>
          </p:cNvPr>
          <p:cNvCxnSpPr>
            <a:cxnSpLocks/>
            <a:stCxn id="25" idx="3"/>
          </p:cNvCxnSpPr>
          <p:nvPr/>
        </p:nvCxnSpPr>
        <p:spPr>
          <a:xfrm>
            <a:off x="7946562" y="1683160"/>
            <a:ext cx="283024" cy="0"/>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C182581-03B6-CCEA-84F6-9BFB8D5F1855}"/>
              </a:ext>
            </a:extLst>
          </p:cNvPr>
          <p:cNvCxnSpPr/>
          <p:nvPr/>
        </p:nvCxnSpPr>
        <p:spPr>
          <a:xfrm flipV="1">
            <a:off x="9448783" y="169404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5E90EF5-2A32-4E52-D0D2-EDACDD1DA825}"/>
              </a:ext>
            </a:extLst>
          </p:cNvPr>
          <p:cNvCxnSpPr>
            <a:cxnSpLocks/>
            <a:stCxn id="26" idx="0"/>
            <a:endCxn id="24" idx="2"/>
          </p:cNvCxnSpPr>
          <p:nvPr/>
        </p:nvCxnSpPr>
        <p:spPr>
          <a:xfrm flipV="1">
            <a:off x="10417615" y="206415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EE98E7B-E641-9B00-C116-9AEA1F834853}"/>
              </a:ext>
            </a:extLst>
          </p:cNvPr>
          <p:cNvCxnSpPr>
            <a:cxnSpLocks/>
          </p:cNvCxnSpPr>
          <p:nvPr/>
        </p:nvCxnSpPr>
        <p:spPr>
          <a:xfrm flipV="1">
            <a:off x="10417614" y="320151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492A3E1-13BC-741D-79A4-285D00FD981D}"/>
              </a:ext>
            </a:extLst>
          </p:cNvPr>
          <p:cNvCxnSpPr>
            <a:cxnSpLocks/>
          </p:cNvCxnSpPr>
          <p:nvPr/>
        </p:nvCxnSpPr>
        <p:spPr>
          <a:xfrm flipV="1">
            <a:off x="10406715" y="433887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8B5994E-CEED-5C83-8335-EAF11F8A89CF}"/>
              </a:ext>
            </a:extLst>
          </p:cNvPr>
          <p:cNvCxnSpPr>
            <a:cxnSpLocks/>
          </p:cNvCxnSpPr>
          <p:nvPr/>
        </p:nvCxnSpPr>
        <p:spPr>
          <a:xfrm flipV="1">
            <a:off x="10406715" y="547623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Arrow: Right 50">
            <a:extLst>
              <a:ext uri="{FF2B5EF4-FFF2-40B4-BE49-F238E27FC236}">
                <a16:creationId xmlns:a16="http://schemas.microsoft.com/office/drawing/2014/main" id="{12318449-AD0D-1D05-E36B-4E96DF432073}"/>
              </a:ext>
            </a:extLst>
          </p:cNvPr>
          <p:cNvSpPr/>
          <p:nvPr/>
        </p:nvSpPr>
        <p:spPr>
          <a:xfrm>
            <a:off x="119755" y="4148235"/>
            <a:ext cx="1763486" cy="484632"/>
          </a:xfrm>
          <a:prstGeom prst="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Active segment</a:t>
            </a:r>
          </a:p>
        </p:txBody>
      </p:sp>
    </p:spTree>
    <p:extLst>
      <p:ext uri="{BB962C8B-B14F-4D97-AF65-F5344CB8AC3E}">
        <p14:creationId xmlns:p14="http://schemas.microsoft.com/office/powerpoint/2010/main" val="15759048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EC0ED6-027B-6992-F3F3-D17CCEA976B9}"/>
              </a:ext>
            </a:extLst>
          </p:cNvPr>
          <p:cNvSpPr>
            <a:spLocks noGrp="1"/>
          </p:cNvSpPr>
          <p:nvPr>
            <p:ph type="body" sz="quarter" idx="11"/>
          </p:nvPr>
        </p:nvSpPr>
        <p:spPr/>
        <p:txBody>
          <a:bodyPr/>
          <a:lstStyle/>
          <a:p>
            <a:r>
              <a:rPr lang="en-US" sz="2800" dirty="0"/>
              <a:t>Network Program #12 – without Penultimate Segment Popping (PSP)</a:t>
            </a:r>
          </a:p>
        </p:txBody>
      </p:sp>
      <p:grpSp>
        <p:nvGrpSpPr>
          <p:cNvPr id="6" name="Group 5">
            <a:extLst>
              <a:ext uri="{FF2B5EF4-FFF2-40B4-BE49-F238E27FC236}">
                <a16:creationId xmlns:a16="http://schemas.microsoft.com/office/drawing/2014/main" id="{80CD64DE-41CD-C4AC-FD52-8B1F12C9057E}"/>
              </a:ext>
            </a:extLst>
          </p:cNvPr>
          <p:cNvGrpSpPr/>
          <p:nvPr/>
        </p:nvGrpSpPr>
        <p:grpSpPr>
          <a:xfrm>
            <a:off x="1899556" y="4185955"/>
            <a:ext cx="3243940" cy="413657"/>
            <a:chOff x="1959430" y="2177143"/>
            <a:chExt cx="3243940" cy="413657"/>
          </a:xfrm>
        </p:grpSpPr>
        <p:sp>
          <p:nvSpPr>
            <p:cNvPr id="4" name="TextBox 3">
              <a:extLst>
                <a:ext uri="{FF2B5EF4-FFF2-40B4-BE49-F238E27FC236}">
                  <a16:creationId xmlns:a16="http://schemas.microsoft.com/office/drawing/2014/main" id="{25AE1756-73E4-48C0-9B1C-5D98FE4AF2C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0</a:t>
              </a:r>
            </a:p>
          </p:txBody>
        </p:sp>
        <p:sp>
          <p:nvSpPr>
            <p:cNvPr id="5" name="TextBox 4">
              <a:extLst>
                <a:ext uri="{FF2B5EF4-FFF2-40B4-BE49-F238E27FC236}">
                  <a16:creationId xmlns:a16="http://schemas.microsoft.com/office/drawing/2014/main" id="{204FCDD0-144C-9FF3-A2F1-0254B1ADE461}"/>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0</a:t>
              </a:r>
            </a:p>
          </p:txBody>
        </p:sp>
      </p:grpSp>
      <p:grpSp>
        <p:nvGrpSpPr>
          <p:cNvPr id="2" name="Group 1">
            <a:extLst>
              <a:ext uri="{FF2B5EF4-FFF2-40B4-BE49-F238E27FC236}">
                <a16:creationId xmlns:a16="http://schemas.microsoft.com/office/drawing/2014/main" id="{94646B92-7599-5248-F0C7-DAD434BBB055}"/>
              </a:ext>
            </a:extLst>
          </p:cNvPr>
          <p:cNvGrpSpPr/>
          <p:nvPr/>
        </p:nvGrpSpPr>
        <p:grpSpPr>
          <a:xfrm>
            <a:off x="1899556" y="4599612"/>
            <a:ext cx="3243940" cy="413657"/>
            <a:chOff x="1959430" y="2177143"/>
            <a:chExt cx="3243940" cy="413657"/>
          </a:xfrm>
        </p:grpSpPr>
        <p:sp>
          <p:nvSpPr>
            <p:cNvPr id="7" name="TextBox 6">
              <a:extLst>
                <a:ext uri="{FF2B5EF4-FFF2-40B4-BE49-F238E27FC236}">
                  <a16:creationId xmlns:a16="http://schemas.microsoft.com/office/drawing/2014/main" id="{46FC5A35-87CA-0B78-2F35-B357679754A4}"/>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1</a:t>
              </a:r>
            </a:p>
          </p:txBody>
        </p:sp>
        <p:sp>
          <p:nvSpPr>
            <p:cNvPr id="8" name="TextBox 7">
              <a:extLst>
                <a:ext uri="{FF2B5EF4-FFF2-40B4-BE49-F238E27FC236}">
                  <a16:creationId xmlns:a16="http://schemas.microsoft.com/office/drawing/2014/main" id="{77A1110F-4020-1703-C171-FBD4708A7E02}"/>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1</a:t>
              </a:r>
            </a:p>
          </p:txBody>
        </p:sp>
      </p:grpSp>
      <p:grpSp>
        <p:nvGrpSpPr>
          <p:cNvPr id="9" name="Group 8">
            <a:extLst>
              <a:ext uri="{FF2B5EF4-FFF2-40B4-BE49-F238E27FC236}">
                <a16:creationId xmlns:a16="http://schemas.microsoft.com/office/drawing/2014/main" id="{2DF7574D-47E3-56BD-5C19-89F177CDAF04}"/>
              </a:ext>
            </a:extLst>
          </p:cNvPr>
          <p:cNvGrpSpPr/>
          <p:nvPr/>
        </p:nvGrpSpPr>
        <p:grpSpPr>
          <a:xfrm>
            <a:off x="1899556" y="5013269"/>
            <a:ext cx="3243940" cy="413657"/>
            <a:chOff x="1959430" y="2177143"/>
            <a:chExt cx="3243940" cy="413657"/>
          </a:xfrm>
        </p:grpSpPr>
        <p:sp>
          <p:nvSpPr>
            <p:cNvPr id="10" name="TextBox 9">
              <a:extLst>
                <a:ext uri="{FF2B5EF4-FFF2-40B4-BE49-F238E27FC236}">
                  <a16:creationId xmlns:a16="http://schemas.microsoft.com/office/drawing/2014/main" id="{5E555E47-BF49-44AA-F995-328066035C60}"/>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2</a:t>
              </a:r>
            </a:p>
          </p:txBody>
        </p:sp>
        <p:sp>
          <p:nvSpPr>
            <p:cNvPr id="11" name="TextBox 10">
              <a:extLst>
                <a:ext uri="{FF2B5EF4-FFF2-40B4-BE49-F238E27FC236}">
                  <a16:creationId xmlns:a16="http://schemas.microsoft.com/office/drawing/2014/main" id="{A1DCA384-00C5-FD07-D576-003139161DE6}"/>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2</a:t>
              </a:r>
            </a:p>
          </p:txBody>
        </p:sp>
      </p:grpSp>
      <p:grpSp>
        <p:nvGrpSpPr>
          <p:cNvPr id="12" name="Group 11">
            <a:extLst>
              <a:ext uri="{FF2B5EF4-FFF2-40B4-BE49-F238E27FC236}">
                <a16:creationId xmlns:a16="http://schemas.microsoft.com/office/drawing/2014/main" id="{D4E367CF-558E-EA65-EBC7-E744244EB572}"/>
              </a:ext>
            </a:extLst>
          </p:cNvPr>
          <p:cNvGrpSpPr/>
          <p:nvPr/>
        </p:nvGrpSpPr>
        <p:grpSpPr>
          <a:xfrm>
            <a:off x="1899556" y="5426926"/>
            <a:ext cx="3243940" cy="413657"/>
            <a:chOff x="1959430" y="2177143"/>
            <a:chExt cx="3243940" cy="413657"/>
          </a:xfrm>
        </p:grpSpPr>
        <p:sp>
          <p:nvSpPr>
            <p:cNvPr id="13" name="TextBox 12">
              <a:extLst>
                <a:ext uri="{FF2B5EF4-FFF2-40B4-BE49-F238E27FC236}">
                  <a16:creationId xmlns:a16="http://schemas.microsoft.com/office/drawing/2014/main" id="{AA887D77-DA8D-E172-4E7A-A763A9490D92}"/>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3</a:t>
              </a:r>
            </a:p>
          </p:txBody>
        </p:sp>
        <p:sp>
          <p:nvSpPr>
            <p:cNvPr id="14" name="TextBox 13">
              <a:extLst>
                <a:ext uri="{FF2B5EF4-FFF2-40B4-BE49-F238E27FC236}">
                  <a16:creationId xmlns:a16="http://schemas.microsoft.com/office/drawing/2014/main" id="{5C696D45-5E9E-FC82-5C1F-87577AA2892A}"/>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3</a:t>
              </a:r>
            </a:p>
          </p:txBody>
        </p:sp>
      </p:grpSp>
      <p:grpSp>
        <p:nvGrpSpPr>
          <p:cNvPr id="15" name="Group 14">
            <a:extLst>
              <a:ext uri="{FF2B5EF4-FFF2-40B4-BE49-F238E27FC236}">
                <a16:creationId xmlns:a16="http://schemas.microsoft.com/office/drawing/2014/main" id="{67D678DA-73EB-6290-3193-4E70C9EE4F99}"/>
              </a:ext>
            </a:extLst>
          </p:cNvPr>
          <p:cNvGrpSpPr/>
          <p:nvPr/>
        </p:nvGrpSpPr>
        <p:grpSpPr>
          <a:xfrm>
            <a:off x="1899556" y="5840583"/>
            <a:ext cx="3243940" cy="413657"/>
            <a:chOff x="1959430" y="2177143"/>
            <a:chExt cx="3243940" cy="413657"/>
          </a:xfrm>
        </p:grpSpPr>
        <p:sp>
          <p:nvSpPr>
            <p:cNvPr id="16" name="TextBox 15">
              <a:extLst>
                <a:ext uri="{FF2B5EF4-FFF2-40B4-BE49-F238E27FC236}">
                  <a16:creationId xmlns:a16="http://schemas.microsoft.com/office/drawing/2014/main" id="{7C4DCDF5-65A8-F573-1955-BE31D841657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4</a:t>
              </a:r>
            </a:p>
          </p:txBody>
        </p:sp>
        <p:sp>
          <p:nvSpPr>
            <p:cNvPr id="17" name="TextBox 16">
              <a:extLst>
                <a:ext uri="{FF2B5EF4-FFF2-40B4-BE49-F238E27FC236}">
                  <a16:creationId xmlns:a16="http://schemas.microsoft.com/office/drawing/2014/main" id="{34D6F2B3-48E4-77DC-7C9A-26FF0FF94F9D}"/>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4</a:t>
              </a:r>
            </a:p>
          </p:txBody>
        </p:sp>
      </p:grpSp>
      <p:sp>
        <p:nvSpPr>
          <p:cNvPr id="19" name="TextBox 18">
            <a:extLst>
              <a:ext uri="{FF2B5EF4-FFF2-40B4-BE49-F238E27FC236}">
                <a16:creationId xmlns:a16="http://schemas.microsoft.com/office/drawing/2014/main" id="{5DC54D9D-8772-F9A8-2EC7-5B0B4C4AF739}"/>
              </a:ext>
            </a:extLst>
          </p:cNvPr>
          <p:cNvSpPr txBox="1"/>
          <p:nvPr/>
        </p:nvSpPr>
        <p:spPr>
          <a:xfrm>
            <a:off x="522515" y="1301469"/>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A</a:t>
            </a:r>
          </a:p>
        </p:txBody>
      </p:sp>
      <p:sp>
        <p:nvSpPr>
          <p:cNvPr id="20" name="TextBox 19">
            <a:extLst>
              <a:ext uri="{FF2B5EF4-FFF2-40B4-BE49-F238E27FC236}">
                <a16:creationId xmlns:a16="http://schemas.microsoft.com/office/drawing/2014/main" id="{86ECD626-09B3-2D24-6746-8AF89F7EEE22}"/>
              </a:ext>
            </a:extLst>
          </p:cNvPr>
          <p:cNvSpPr txBox="1"/>
          <p:nvPr/>
        </p:nvSpPr>
        <p:spPr>
          <a:xfrm>
            <a:off x="2068284"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B</a:t>
            </a:r>
          </a:p>
        </p:txBody>
      </p:sp>
      <p:sp>
        <p:nvSpPr>
          <p:cNvPr id="21" name="TextBox 20">
            <a:extLst>
              <a:ext uri="{FF2B5EF4-FFF2-40B4-BE49-F238E27FC236}">
                <a16:creationId xmlns:a16="http://schemas.microsoft.com/office/drawing/2014/main" id="{220DFCA0-79E9-1920-D83A-890C99DBE3DE}"/>
              </a:ext>
            </a:extLst>
          </p:cNvPr>
          <p:cNvSpPr txBox="1"/>
          <p:nvPr/>
        </p:nvSpPr>
        <p:spPr>
          <a:xfrm>
            <a:off x="3614053"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C</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Loc4</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2" name="TextBox 21">
            <a:extLst>
              <a:ext uri="{FF2B5EF4-FFF2-40B4-BE49-F238E27FC236}">
                <a16:creationId xmlns:a16="http://schemas.microsoft.com/office/drawing/2014/main" id="{7EF262A1-8154-CA84-C05E-BCF259BCF7B2}"/>
              </a:ext>
            </a:extLst>
          </p:cNvPr>
          <p:cNvSpPr txBox="1"/>
          <p:nvPr/>
        </p:nvSpPr>
        <p:spPr>
          <a:xfrm>
            <a:off x="5159822"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D</a:t>
            </a:r>
          </a:p>
        </p:txBody>
      </p:sp>
      <p:sp>
        <p:nvSpPr>
          <p:cNvPr id="23" name="TextBox 22">
            <a:extLst>
              <a:ext uri="{FF2B5EF4-FFF2-40B4-BE49-F238E27FC236}">
                <a16:creationId xmlns:a16="http://schemas.microsoft.com/office/drawing/2014/main" id="{6B9212D0-0982-8D69-A27D-EDC0A39BF318}"/>
              </a:ext>
            </a:extLst>
          </p:cNvPr>
          <p:cNvSpPr txBox="1"/>
          <p:nvPr/>
        </p:nvSpPr>
        <p:spPr>
          <a:xfrm>
            <a:off x="8251360"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F</a:t>
            </a:r>
          </a:p>
        </p:txBody>
      </p:sp>
      <p:sp>
        <p:nvSpPr>
          <p:cNvPr id="24" name="TextBox 23">
            <a:extLst>
              <a:ext uri="{FF2B5EF4-FFF2-40B4-BE49-F238E27FC236}">
                <a16:creationId xmlns:a16="http://schemas.microsoft.com/office/drawing/2014/main" id="{9D9DAB8E-4DC2-CB98-03A2-0D5276E46941}"/>
              </a:ext>
            </a:extLst>
          </p:cNvPr>
          <p:cNvSpPr txBox="1"/>
          <p:nvPr/>
        </p:nvSpPr>
        <p:spPr>
          <a:xfrm>
            <a:off x="9797129" y="129114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G</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Loc2</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5" name="TextBox 24">
            <a:extLst>
              <a:ext uri="{FF2B5EF4-FFF2-40B4-BE49-F238E27FC236}">
                <a16:creationId xmlns:a16="http://schemas.microsoft.com/office/drawing/2014/main" id="{BAB2446F-E979-5C6C-7D10-083E4D19EE79}"/>
              </a:ext>
            </a:extLst>
          </p:cNvPr>
          <p:cNvSpPr txBox="1"/>
          <p:nvPr/>
        </p:nvSpPr>
        <p:spPr>
          <a:xfrm>
            <a:off x="6705591"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E</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Loc3</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6" name="TextBox 25">
            <a:extLst>
              <a:ext uri="{FF2B5EF4-FFF2-40B4-BE49-F238E27FC236}">
                <a16:creationId xmlns:a16="http://schemas.microsoft.com/office/drawing/2014/main" id="{D0FA2F50-DC52-7C1A-E947-AC7A00232017}"/>
              </a:ext>
            </a:extLst>
          </p:cNvPr>
          <p:cNvSpPr txBox="1"/>
          <p:nvPr/>
        </p:nvSpPr>
        <p:spPr>
          <a:xfrm>
            <a:off x="9797129" y="242850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H</a:t>
            </a:r>
          </a:p>
        </p:txBody>
      </p:sp>
      <p:sp>
        <p:nvSpPr>
          <p:cNvPr id="27" name="TextBox 26">
            <a:extLst>
              <a:ext uri="{FF2B5EF4-FFF2-40B4-BE49-F238E27FC236}">
                <a16:creationId xmlns:a16="http://schemas.microsoft.com/office/drawing/2014/main" id="{84162B9B-4BAA-3304-33B5-AA47648245C4}"/>
              </a:ext>
            </a:extLst>
          </p:cNvPr>
          <p:cNvSpPr txBox="1"/>
          <p:nvPr/>
        </p:nvSpPr>
        <p:spPr>
          <a:xfrm>
            <a:off x="9797129" y="356586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I</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Loc1</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8" name="TextBox 27">
            <a:extLst>
              <a:ext uri="{FF2B5EF4-FFF2-40B4-BE49-F238E27FC236}">
                <a16:creationId xmlns:a16="http://schemas.microsoft.com/office/drawing/2014/main" id="{83FC4A08-F069-4DE4-93D0-B3A79C0B3695}"/>
              </a:ext>
            </a:extLst>
          </p:cNvPr>
          <p:cNvSpPr txBox="1"/>
          <p:nvPr/>
        </p:nvSpPr>
        <p:spPr>
          <a:xfrm>
            <a:off x="9797129" y="470322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J</a:t>
            </a:r>
          </a:p>
        </p:txBody>
      </p:sp>
      <p:sp>
        <p:nvSpPr>
          <p:cNvPr id="29" name="TextBox 28">
            <a:extLst>
              <a:ext uri="{FF2B5EF4-FFF2-40B4-BE49-F238E27FC236}">
                <a16:creationId xmlns:a16="http://schemas.microsoft.com/office/drawing/2014/main" id="{E8499C2E-A984-CE09-E9FC-869E5F2DF5E7}"/>
              </a:ext>
            </a:extLst>
          </p:cNvPr>
          <p:cNvSpPr txBox="1"/>
          <p:nvPr/>
        </p:nvSpPr>
        <p:spPr>
          <a:xfrm>
            <a:off x="9797129" y="584058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K</a:t>
            </a:r>
          </a:p>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rPr>
              <a:t>Loc0</a:t>
            </a:r>
          </a:p>
        </p:txBody>
      </p:sp>
      <p:grpSp>
        <p:nvGrpSpPr>
          <p:cNvPr id="30" name="Group 29">
            <a:extLst>
              <a:ext uri="{FF2B5EF4-FFF2-40B4-BE49-F238E27FC236}">
                <a16:creationId xmlns:a16="http://schemas.microsoft.com/office/drawing/2014/main" id="{3688AF0D-03E0-2C28-3596-C1F8066A7300}"/>
              </a:ext>
            </a:extLst>
          </p:cNvPr>
          <p:cNvGrpSpPr/>
          <p:nvPr/>
        </p:nvGrpSpPr>
        <p:grpSpPr>
          <a:xfrm>
            <a:off x="1915882" y="3436914"/>
            <a:ext cx="3243940" cy="413657"/>
            <a:chOff x="1959430" y="2177143"/>
            <a:chExt cx="3243940" cy="413657"/>
          </a:xfrm>
        </p:grpSpPr>
        <p:sp>
          <p:nvSpPr>
            <p:cNvPr id="31" name="TextBox 30">
              <a:extLst>
                <a:ext uri="{FF2B5EF4-FFF2-40B4-BE49-F238E27FC236}">
                  <a16:creationId xmlns:a16="http://schemas.microsoft.com/office/drawing/2014/main" id="{78BA7CFA-94F2-09B5-2D11-3CD3A0F6AAB6}"/>
                </a:ext>
              </a:extLst>
            </p:cNvPr>
            <p:cNvSpPr txBox="1"/>
            <p:nvPr/>
          </p:nvSpPr>
          <p:spPr>
            <a:xfrm>
              <a:off x="1959430" y="2177143"/>
              <a:ext cx="1621970" cy="413657"/>
            </a:xfrm>
            <a:prstGeom prst="rect">
              <a:avLst/>
            </a:prstGeom>
            <a:solidFill>
              <a:schemeClr val="accent3">
                <a:lumMod val="40000"/>
                <a:lumOff val="60000"/>
              </a:schemeClr>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0</a:t>
              </a:r>
            </a:p>
          </p:txBody>
        </p:sp>
        <p:sp>
          <p:nvSpPr>
            <p:cNvPr id="32" name="TextBox 31">
              <a:extLst>
                <a:ext uri="{FF2B5EF4-FFF2-40B4-BE49-F238E27FC236}">
                  <a16:creationId xmlns:a16="http://schemas.microsoft.com/office/drawing/2014/main" id="{B62BB785-CEEA-27B4-5F00-AE094D6144CE}"/>
                </a:ext>
              </a:extLst>
            </p:cNvPr>
            <p:cNvSpPr txBox="1"/>
            <p:nvPr/>
          </p:nvSpPr>
          <p:spPr>
            <a:xfrm>
              <a:off x="3581400" y="2177143"/>
              <a:ext cx="1621970" cy="413657"/>
            </a:xfrm>
            <a:prstGeom prst="rect">
              <a:avLst/>
            </a:prstGeom>
            <a:solidFill>
              <a:schemeClr val="accent4">
                <a:lumMod val="40000"/>
                <a:lumOff val="60000"/>
              </a:schemeClr>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0</a:t>
              </a:r>
            </a:p>
          </p:txBody>
        </p:sp>
      </p:grpSp>
      <p:sp>
        <p:nvSpPr>
          <p:cNvPr id="33" name="TextBox 32">
            <a:extLst>
              <a:ext uri="{FF2B5EF4-FFF2-40B4-BE49-F238E27FC236}">
                <a16:creationId xmlns:a16="http://schemas.microsoft.com/office/drawing/2014/main" id="{1634C2CB-6B6B-81AA-FE36-906444213B14}"/>
              </a:ext>
            </a:extLst>
          </p:cNvPr>
          <p:cNvSpPr txBox="1"/>
          <p:nvPr/>
        </p:nvSpPr>
        <p:spPr>
          <a:xfrm>
            <a:off x="5236030" y="3436914"/>
            <a:ext cx="2547256"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IPv6 DST Addr.</a:t>
            </a:r>
          </a:p>
        </p:txBody>
      </p:sp>
      <p:sp>
        <p:nvSpPr>
          <p:cNvPr id="34" name="TextBox 33">
            <a:extLst>
              <a:ext uri="{FF2B5EF4-FFF2-40B4-BE49-F238E27FC236}">
                <a16:creationId xmlns:a16="http://schemas.microsoft.com/office/drawing/2014/main" id="{3B257FCD-30EA-3E5C-61FD-96CAF1A93136}"/>
              </a:ext>
            </a:extLst>
          </p:cNvPr>
          <p:cNvSpPr txBox="1"/>
          <p:nvPr/>
        </p:nvSpPr>
        <p:spPr>
          <a:xfrm>
            <a:off x="5486393" y="4995057"/>
            <a:ext cx="914400"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SHR</a:t>
            </a:r>
          </a:p>
        </p:txBody>
      </p:sp>
      <p:cxnSp>
        <p:nvCxnSpPr>
          <p:cNvPr id="36" name="Straight Arrow Connector 35">
            <a:extLst>
              <a:ext uri="{FF2B5EF4-FFF2-40B4-BE49-F238E27FC236}">
                <a16:creationId xmlns:a16="http://schemas.microsoft.com/office/drawing/2014/main" id="{3508B799-ED0E-3852-567F-4ED8BC37722C}"/>
              </a:ext>
            </a:extLst>
          </p:cNvPr>
          <p:cNvCxnSpPr>
            <a:cxnSpLocks/>
            <a:stCxn id="33" idx="3"/>
          </p:cNvCxnSpPr>
          <p:nvPr/>
        </p:nvCxnSpPr>
        <p:spPr>
          <a:xfrm>
            <a:off x="7783286" y="3643743"/>
            <a:ext cx="2623429" cy="273528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8DAE735-1CD6-2310-BB62-83985D69EA59}"/>
              </a:ext>
            </a:extLst>
          </p:cNvPr>
          <p:cNvCxnSpPr>
            <a:stCxn id="19" idx="3"/>
            <a:endCxn id="20" idx="1"/>
          </p:cNvCxnSpPr>
          <p:nvPr/>
        </p:nvCxnSpPr>
        <p:spPr>
          <a:xfrm flipV="1">
            <a:off x="1763486" y="1683160"/>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5A98E94-CBFE-69D9-5AC5-81A0C0B90AC0}"/>
              </a:ext>
            </a:extLst>
          </p:cNvPr>
          <p:cNvCxnSpPr/>
          <p:nvPr/>
        </p:nvCxnSpPr>
        <p:spPr>
          <a:xfrm flipV="1">
            <a:off x="3309255" y="167042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65A6F1C-F30D-685A-66F6-E196573FECBE}"/>
              </a:ext>
            </a:extLst>
          </p:cNvPr>
          <p:cNvCxnSpPr/>
          <p:nvPr/>
        </p:nvCxnSpPr>
        <p:spPr>
          <a:xfrm flipV="1">
            <a:off x="4855024" y="1665608"/>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1DA76F5-2D6A-7918-AB15-B8C5D6C39988}"/>
              </a:ext>
            </a:extLst>
          </p:cNvPr>
          <p:cNvCxnSpPr/>
          <p:nvPr/>
        </p:nvCxnSpPr>
        <p:spPr>
          <a:xfrm flipV="1">
            <a:off x="6389906" y="1672274"/>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5DE1137-A253-5BAE-A8BB-AE7EDD4B1E3A}"/>
              </a:ext>
            </a:extLst>
          </p:cNvPr>
          <p:cNvCxnSpPr>
            <a:cxnSpLocks/>
            <a:stCxn id="25" idx="3"/>
          </p:cNvCxnSpPr>
          <p:nvPr/>
        </p:nvCxnSpPr>
        <p:spPr>
          <a:xfrm>
            <a:off x="7946562" y="1683160"/>
            <a:ext cx="283024" cy="0"/>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C182581-03B6-CCEA-84F6-9BFB8D5F1855}"/>
              </a:ext>
            </a:extLst>
          </p:cNvPr>
          <p:cNvCxnSpPr/>
          <p:nvPr/>
        </p:nvCxnSpPr>
        <p:spPr>
          <a:xfrm flipV="1">
            <a:off x="9448783" y="169404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5E90EF5-2A32-4E52-D0D2-EDACDD1DA825}"/>
              </a:ext>
            </a:extLst>
          </p:cNvPr>
          <p:cNvCxnSpPr>
            <a:cxnSpLocks/>
            <a:stCxn id="26" idx="0"/>
            <a:endCxn id="24" idx="2"/>
          </p:cNvCxnSpPr>
          <p:nvPr/>
        </p:nvCxnSpPr>
        <p:spPr>
          <a:xfrm flipV="1">
            <a:off x="10417615" y="206415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EE98E7B-E641-9B00-C116-9AEA1F834853}"/>
              </a:ext>
            </a:extLst>
          </p:cNvPr>
          <p:cNvCxnSpPr>
            <a:cxnSpLocks/>
          </p:cNvCxnSpPr>
          <p:nvPr/>
        </p:nvCxnSpPr>
        <p:spPr>
          <a:xfrm flipV="1">
            <a:off x="10417614" y="320151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492A3E1-13BC-741D-79A4-285D00FD981D}"/>
              </a:ext>
            </a:extLst>
          </p:cNvPr>
          <p:cNvCxnSpPr>
            <a:cxnSpLocks/>
          </p:cNvCxnSpPr>
          <p:nvPr/>
        </p:nvCxnSpPr>
        <p:spPr>
          <a:xfrm flipV="1">
            <a:off x="10406715" y="433887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8B5994E-CEED-5C83-8335-EAF11F8A89CF}"/>
              </a:ext>
            </a:extLst>
          </p:cNvPr>
          <p:cNvCxnSpPr>
            <a:cxnSpLocks/>
          </p:cNvCxnSpPr>
          <p:nvPr/>
        </p:nvCxnSpPr>
        <p:spPr>
          <a:xfrm flipV="1">
            <a:off x="10406715" y="547623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DF6D6018-03B5-9056-D4BE-8A572DB9B998}"/>
              </a:ext>
            </a:extLst>
          </p:cNvPr>
          <p:cNvSpPr txBox="1"/>
          <p:nvPr/>
        </p:nvSpPr>
        <p:spPr>
          <a:xfrm>
            <a:off x="2570554" y="3861229"/>
            <a:ext cx="1934596" cy="2523641"/>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9900" b="1" i="0" u="none" strike="noStrike" kern="1200" cap="none" spc="0" normalizeH="0" baseline="0" noProof="0" dirty="0">
                <a:ln>
                  <a:noFill/>
                </a:ln>
                <a:solidFill>
                  <a:schemeClr val="accent6"/>
                </a:solidFill>
                <a:effectLst/>
                <a:uLnTx/>
                <a:uFillTx/>
                <a:latin typeface="Arial" panose="020B0604020202020204"/>
                <a:ea typeface="+mn-ea"/>
                <a:cs typeface="+mn-cs"/>
              </a:rPr>
              <a:t>X</a:t>
            </a:r>
          </a:p>
        </p:txBody>
      </p:sp>
      <p:sp>
        <p:nvSpPr>
          <p:cNvPr id="37" name="Rectangle 36">
            <a:extLst>
              <a:ext uri="{FF2B5EF4-FFF2-40B4-BE49-F238E27FC236}">
                <a16:creationId xmlns:a16="http://schemas.microsoft.com/office/drawing/2014/main" id="{1C76F138-7BB9-C369-6256-8CCD300EEDD3}"/>
              </a:ext>
            </a:extLst>
          </p:cNvPr>
          <p:cNvSpPr/>
          <p:nvPr/>
        </p:nvSpPr>
        <p:spPr>
          <a:xfrm>
            <a:off x="3521526" y="3385921"/>
            <a:ext cx="1714503" cy="475308"/>
          </a:xfrm>
          <a:prstGeom prst="rect">
            <a:avLst/>
          </a:prstGeom>
          <a:noFill/>
          <a:ln w="508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88977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81DADA0-3AA6-49C4-9215-F7B5F2D501F5}"/>
              </a:ext>
            </a:extLst>
          </p:cNvPr>
          <p:cNvSpPr>
            <a:spLocks noGrp="1"/>
          </p:cNvSpPr>
          <p:nvPr>
            <p:ph type="body" sz="quarter" idx="10"/>
          </p:nvPr>
        </p:nvSpPr>
        <p:spPr/>
        <p:txBody>
          <a:bodyPr/>
          <a:lstStyle/>
          <a:p>
            <a:r>
              <a:rPr lang="en-US" dirty="0"/>
              <a:t>Penultimate Segment Popping (PSP) flavor enables penultimate endpoint node along SR path to remove the exhausted SRH from packed header</a:t>
            </a:r>
          </a:p>
          <a:p>
            <a:r>
              <a:rPr lang="en-US" dirty="0"/>
              <a:t>Save overhead as SRH is not needed anymore for forwarding</a:t>
            </a:r>
          </a:p>
          <a:p>
            <a:endParaRPr lang="en-US" dirty="0"/>
          </a:p>
          <a:p>
            <a:r>
              <a:rPr lang="en-US" dirty="0">
                <a:highlight>
                  <a:srgbClr val="FFFF00"/>
                </a:highlight>
              </a:rPr>
              <a:t>PSP is different from MPLS PHP</a:t>
            </a:r>
          </a:p>
          <a:p>
            <a:pPr lvl="1"/>
            <a:r>
              <a:rPr lang="en-US" dirty="0"/>
              <a:t>PSP</a:t>
            </a:r>
          </a:p>
          <a:p>
            <a:pPr lvl="2"/>
            <a:r>
              <a:rPr lang="en-US" dirty="0"/>
              <a:t>done on </a:t>
            </a:r>
            <a:r>
              <a:rPr lang="en-US" b="1" dirty="0"/>
              <a:t>penultimate segment</a:t>
            </a:r>
            <a:r>
              <a:rPr lang="en-US" dirty="0"/>
              <a:t> endpoint</a:t>
            </a:r>
          </a:p>
          <a:p>
            <a:pPr lvl="2"/>
            <a:r>
              <a:rPr lang="en-US" dirty="0"/>
              <a:t>Remove entire SRH</a:t>
            </a:r>
          </a:p>
          <a:p>
            <a:pPr lvl="1"/>
            <a:r>
              <a:rPr lang="en-US" dirty="0"/>
              <a:t>PHP</a:t>
            </a:r>
          </a:p>
          <a:p>
            <a:pPr lvl="2"/>
            <a:r>
              <a:rPr lang="en-US" dirty="0"/>
              <a:t>penultimate routing hop in MPLS</a:t>
            </a:r>
          </a:p>
          <a:p>
            <a:pPr lvl="2"/>
            <a:r>
              <a:rPr lang="en-US" dirty="0"/>
              <a:t>Remove top MPLS label</a:t>
            </a:r>
          </a:p>
          <a:p>
            <a:pPr lvl="2"/>
            <a:endParaRPr lang="en-US" dirty="0"/>
          </a:p>
        </p:txBody>
      </p:sp>
      <p:sp>
        <p:nvSpPr>
          <p:cNvPr id="3" name="Text Placeholder 2">
            <a:extLst>
              <a:ext uri="{FF2B5EF4-FFF2-40B4-BE49-F238E27FC236}">
                <a16:creationId xmlns:a16="http://schemas.microsoft.com/office/drawing/2014/main" id="{CB36547A-DD08-C985-E00E-559FD810FA7E}"/>
              </a:ext>
            </a:extLst>
          </p:cNvPr>
          <p:cNvSpPr>
            <a:spLocks noGrp="1"/>
          </p:cNvSpPr>
          <p:nvPr>
            <p:ph type="body" sz="quarter" idx="11"/>
          </p:nvPr>
        </p:nvSpPr>
        <p:spPr/>
        <p:txBody>
          <a:bodyPr/>
          <a:lstStyle/>
          <a:p>
            <a:r>
              <a:rPr lang="en-US" dirty="0"/>
              <a:t>Penultimate Segment Popping (PSP)</a:t>
            </a:r>
          </a:p>
        </p:txBody>
      </p:sp>
    </p:spTree>
    <p:extLst>
      <p:ext uri="{BB962C8B-B14F-4D97-AF65-F5344CB8AC3E}">
        <p14:creationId xmlns:p14="http://schemas.microsoft.com/office/powerpoint/2010/main" val="37721267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EC0ED6-027B-6992-F3F3-D17CCEA976B9}"/>
              </a:ext>
            </a:extLst>
          </p:cNvPr>
          <p:cNvSpPr>
            <a:spLocks noGrp="1"/>
          </p:cNvSpPr>
          <p:nvPr>
            <p:ph type="body" sz="quarter" idx="11"/>
          </p:nvPr>
        </p:nvSpPr>
        <p:spPr/>
        <p:txBody>
          <a:bodyPr/>
          <a:lstStyle/>
          <a:p>
            <a:r>
              <a:rPr lang="en-US" sz="2800" dirty="0"/>
              <a:t>Network Program #10 – with Penultimate Segment Popping (PSP)</a:t>
            </a:r>
          </a:p>
        </p:txBody>
      </p:sp>
      <p:grpSp>
        <p:nvGrpSpPr>
          <p:cNvPr id="6" name="Group 5">
            <a:extLst>
              <a:ext uri="{FF2B5EF4-FFF2-40B4-BE49-F238E27FC236}">
                <a16:creationId xmlns:a16="http://schemas.microsoft.com/office/drawing/2014/main" id="{80CD64DE-41CD-C4AC-FD52-8B1F12C9057E}"/>
              </a:ext>
            </a:extLst>
          </p:cNvPr>
          <p:cNvGrpSpPr/>
          <p:nvPr/>
        </p:nvGrpSpPr>
        <p:grpSpPr>
          <a:xfrm>
            <a:off x="1899556" y="4185955"/>
            <a:ext cx="3243940" cy="413657"/>
            <a:chOff x="1959430" y="2177143"/>
            <a:chExt cx="3243940" cy="413657"/>
          </a:xfrm>
        </p:grpSpPr>
        <p:sp>
          <p:nvSpPr>
            <p:cNvPr id="4" name="TextBox 3">
              <a:extLst>
                <a:ext uri="{FF2B5EF4-FFF2-40B4-BE49-F238E27FC236}">
                  <a16:creationId xmlns:a16="http://schemas.microsoft.com/office/drawing/2014/main" id="{25AE1756-73E4-48C0-9B1C-5D98FE4AF2C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0</a:t>
              </a:r>
            </a:p>
          </p:txBody>
        </p:sp>
        <p:sp>
          <p:nvSpPr>
            <p:cNvPr id="5" name="TextBox 4">
              <a:extLst>
                <a:ext uri="{FF2B5EF4-FFF2-40B4-BE49-F238E27FC236}">
                  <a16:creationId xmlns:a16="http://schemas.microsoft.com/office/drawing/2014/main" id="{204FCDD0-144C-9FF3-A2F1-0254B1ADE461}"/>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0</a:t>
              </a:r>
            </a:p>
          </p:txBody>
        </p:sp>
      </p:grpSp>
      <p:grpSp>
        <p:nvGrpSpPr>
          <p:cNvPr id="2" name="Group 1">
            <a:extLst>
              <a:ext uri="{FF2B5EF4-FFF2-40B4-BE49-F238E27FC236}">
                <a16:creationId xmlns:a16="http://schemas.microsoft.com/office/drawing/2014/main" id="{94646B92-7599-5248-F0C7-DAD434BBB055}"/>
              </a:ext>
            </a:extLst>
          </p:cNvPr>
          <p:cNvGrpSpPr/>
          <p:nvPr/>
        </p:nvGrpSpPr>
        <p:grpSpPr>
          <a:xfrm>
            <a:off x="1899556" y="4599612"/>
            <a:ext cx="3243940" cy="413657"/>
            <a:chOff x="1959430" y="2177143"/>
            <a:chExt cx="3243940" cy="413657"/>
          </a:xfrm>
        </p:grpSpPr>
        <p:sp>
          <p:nvSpPr>
            <p:cNvPr id="7" name="TextBox 6">
              <a:extLst>
                <a:ext uri="{FF2B5EF4-FFF2-40B4-BE49-F238E27FC236}">
                  <a16:creationId xmlns:a16="http://schemas.microsoft.com/office/drawing/2014/main" id="{46FC5A35-87CA-0B78-2F35-B357679754A4}"/>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1</a:t>
              </a:r>
            </a:p>
          </p:txBody>
        </p:sp>
        <p:sp>
          <p:nvSpPr>
            <p:cNvPr id="8" name="TextBox 7">
              <a:extLst>
                <a:ext uri="{FF2B5EF4-FFF2-40B4-BE49-F238E27FC236}">
                  <a16:creationId xmlns:a16="http://schemas.microsoft.com/office/drawing/2014/main" id="{77A1110F-4020-1703-C171-FBD4708A7E02}"/>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1</a:t>
              </a:r>
            </a:p>
          </p:txBody>
        </p:sp>
      </p:grpSp>
      <p:grpSp>
        <p:nvGrpSpPr>
          <p:cNvPr id="9" name="Group 8">
            <a:extLst>
              <a:ext uri="{FF2B5EF4-FFF2-40B4-BE49-F238E27FC236}">
                <a16:creationId xmlns:a16="http://schemas.microsoft.com/office/drawing/2014/main" id="{2DF7574D-47E3-56BD-5C19-89F177CDAF04}"/>
              </a:ext>
            </a:extLst>
          </p:cNvPr>
          <p:cNvGrpSpPr/>
          <p:nvPr/>
        </p:nvGrpSpPr>
        <p:grpSpPr>
          <a:xfrm>
            <a:off x="1899556" y="5013269"/>
            <a:ext cx="3243940" cy="413657"/>
            <a:chOff x="1959430" y="2177143"/>
            <a:chExt cx="3243940" cy="413657"/>
          </a:xfrm>
        </p:grpSpPr>
        <p:sp>
          <p:nvSpPr>
            <p:cNvPr id="10" name="TextBox 9">
              <a:extLst>
                <a:ext uri="{FF2B5EF4-FFF2-40B4-BE49-F238E27FC236}">
                  <a16:creationId xmlns:a16="http://schemas.microsoft.com/office/drawing/2014/main" id="{5E555E47-BF49-44AA-F995-328066035C60}"/>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2</a:t>
              </a:r>
            </a:p>
          </p:txBody>
        </p:sp>
        <p:sp>
          <p:nvSpPr>
            <p:cNvPr id="11" name="TextBox 10">
              <a:extLst>
                <a:ext uri="{FF2B5EF4-FFF2-40B4-BE49-F238E27FC236}">
                  <a16:creationId xmlns:a16="http://schemas.microsoft.com/office/drawing/2014/main" id="{A1DCA384-00C5-FD07-D576-003139161DE6}"/>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2</a:t>
              </a:r>
            </a:p>
          </p:txBody>
        </p:sp>
      </p:grpSp>
      <p:grpSp>
        <p:nvGrpSpPr>
          <p:cNvPr id="12" name="Group 11">
            <a:extLst>
              <a:ext uri="{FF2B5EF4-FFF2-40B4-BE49-F238E27FC236}">
                <a16:creationId xmlns:a16="http://schemas.microsoft.com/office/drawing/2014/main" id="{D4E367CF-558E-EA65-EBC7-E744244EB572}"/>
              </a:ext>
            </a:extLst>
          </p:cNvPr>
          <p:cNvGrpSpPr/>
          <p:nvPr/>
        </p:nvGrpSpPr>
        <p:grpSpPr>
          <a:xfrm>
            <a:off x="1899556" y="5426926"/>
            <a:ext cx="3243940" cy="413657"/>
            <a:chOff x="1959430" y="2177143"/>
            <a:chExt cx="3243940" cy="413657"/>
          </a:xfrm>
        </p:grpSpPr>
        <p:sp>
          <p:nvSpPr>
            <p:cNvPr id="13" name="TextBox 12">
              <a:extLst>
                <a:ext uri="{FF2B5EF4-FFF2-40B4-BE49-F238E27FC236}">
                  <a16:creationId xmlns:a16="http://schemas.microsoft.com/office/drawing/2014/main" id="{AA887D77-DA8D-E172-4E7A-A763A9490D92}"/>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3</a:t>
              </a:r>
            </a:p>
          </p:txBody>
        </p:sp>
        <p:sp>
          <p:nvSpPr>
            <p:cNvPr id="14" name="TextBox 13">
              <a:extLst>
                <a:ext uri="{FF2B5EF4-FFF2-40B4-BE49-F238E27FC236}">
                  <a16:creationId xmlns:a16="http://schemas.microsoft.com/office/drawing/2014/main" id="{5C696D45-5E9E-FC82-5C1F-87577AA2892A}"/>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3</a:t>
              </a:r>
            </a:p>
          </p:txBody>
        </p:sp>
      </p:grpSp>
      <p:grpSp>
        <p:nvGrpSpPr>
          <p:cNvPr id="15" name="Group 14">
            <a:extLst>
              <a:ext uri="{FF2B5EF4-FFF2-40B4-BE49-F238E27FC236}">
                <a16:creationId xmlns:a16="http://schemas.microsoft.com/office/drawing/2014/main" id="{67D678DA-73EB-6290-3193-4E70C9EE4F99}"/>
              </a:ext>
            </a:extLst>
          </p:cNvPr>
          <p:cNvGrpSpPr/>
          <p:nvPr/>
        </p:nvGrpSpPr>
        <p:grpSpPr>
          <a:xfrm>
            <a:off x="1899556" y="5840583"/>
            <a:ext cx="3243940" cy="413657"/>
            <a:chOff x="1959430" y="2177143"/>
            <a:chExt cx="3243940" cy="413657"/>
          </a:xfrm>
        </p:grpSpPr>
        <p:sp>
          <p:nvSpPr>
            <p:cNvPr id="16" name="TextBox 15">
              <a:extLst>
                <a:ext uri="{FF2B5EF4-FFF2-40B4-BE49-F238E27FC236}">
                  <a16:creationId xmlns:a16="http://schemas.microsoft.com/office/drawing/2014/main" id="{7C4DCDF5-65A8-F573-1955-BE31D841657A}"/>
                </a:ext>
              </a:extLst>
            </p:cNvPr>
            <p:cNvSpPr txBox="1"/>
            <p:nvPr/>
          </p:nvSpPr>
          <p:spPr>
            <a:xfrm>
              <a:off x="1959430" y="2177143"/>
              <a:ext cx="1621970" cy="413657"/>
            </a:xfrm>
            <a:prstGeom prst="rect">
              <a:avLst/>
            </a:prstGeom>
            <a:solidFill>
              <a:schemeClr val="accent3"/>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4</a:t>
              </a:r>
            </a:p>
          </p:txBody>
        </p:sp>
        <p:sp>
          <p:nvSpPr>
            <p:cNvPr id="17" name="TextBox 16">
              <a:extLst>
                <a:ext uri="{FF2B5EF4-FFF2-40B4-BE49-F238E27FC236}">
                  <a16:creationId xmlns:a16="http://schemas.microsoft.com/office/drawing/2014/main" id="{34D6F2B3-48E4-77DC-7C9A-26FF0FF94F9D}"/>
                </a:ext>
              </a:extLst>
            </p:cNvPr>
            <p:cNvSpPr txBox="1"/>
            <p:nvPr/>
          </p:nvSpPr>
          <p:spPr>
            <a:xfrm>
              <a:off x="3581400" y="2177143"/>
              <a:ext cx="1621970" cy="413657"/>
            </a:xfrm>
            <a:prstGeom prst="rect">
              <a:avLst/>
            </a:prstGeom>
            <a:solidFill>
              <a:schemeClr val="accent4"/>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4</a:t>
              </a:r>
            </a:p>
          </p:txBody>
        </p:sp>
      </p:grpSp>
      <p:sp>
        <p:nvSpPr>
          <p:cNvPr id="19" name="TextBox 18">
            <a:extLst>
              <a:ext uri="{FF2B5EF4-FFF2-40B4-BE49-F238E27FC236}">
                <a16:creationId xmlns:a16="http://schemas.microsoft.com/office/drawing/2014/main" id="{5DC54D9D-8772-F9A8-2EC7-5B0B4C4AF739}"/>
              </a:ext>
            </a:extLst>
          </p:cNvPr>
          <p:cNvSpPr txBox="1"/>
          <p:nvPr/>
        </p:nvSpPr>
        <p:spPr>
          <a:xfrm>
            <a:off x="522515" y="1301469"/>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A</a:t>
            </a:r>
          </a:p>
        </p:txBody>
      </p:sp>
      <p:sp>
        <p:nvSpPr>
          <p:cNvPr id="20" name="TextBox 19">
            <a:extLst>
              <a:ext uri="{FF2B5EF4-FFF2-40B4-BE49-F238E27FC236}">
                <a16:creationId xmlns:a16="http://schemas.microsoft.com/office/drawing/2014/main" id="{86ECD626-09B3-2D24-6746-8AF89F7EEE22}"/>
              </a:ext>
            </a:extLst>
          </p:cNvPr>
          <p:cNvSpPr txBox="1"/>
          <p:nvPr/>
        </p:nvSpPr>
        <p:spPr>
          <a:xfrm>
            <a:off x="2068284"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B</a:t>
            </a:r>
          </a:p>
        </p:txBody>
      </p:sp>
      <p:sp>
        <p:nvSpPr>
          <p:cNvPr id="21" name="TextBox 20">
            <a:extLst>
              <a:ext uri="{FF2B5EF4-FFF2-40B4-BE49-F238E27FC236}">
                <a16:creationId xmlns:a16="http://schemas.microsoft.com/office/drawing/2014/main" id="{220DFCA0-79E9-1920-D83A-890C99DBE3DE}"/>
              </a:ext>
            </a:extLst>
          </p:cNvPr>
          <p:cNvSpPr txBox="1"/>
          <p:nvPr/>
        </p:nvSpPr>
        <p:spPr>
          <a:xfrm>
            <a:off x="3614053"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C</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Loc4</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2" name="TextBox 21">
            <a:extLst>
              <a:ext uri="{FF2B5EF4-FFF2-40B4-BE49-F238E27FC236}">
                <a16:creationId xmlns:a16="http://schemas.microsoft.com/office/drawing/2014/main" id="{7EF262A1-8154-CA84-C05E-BCF259BCF7B2}"/>
              </a:ext>
            </a:extLst>
          </p:cNvPr>
          <p:cNvSpPr txBox="1"/>
          <p:nvPr/>
        </p:nvSpPr>
        <p:spPr>
          <a:xfrm>
            <a:off x="5159822"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D</a:t>
            </a:r>
          </a:p>
        </p:txBody>
      </p:sp>
      <p:sp>
        <p:nvSpPr>
          <p:cNvPr id="23" name="TextBox 22">
            <a:extLst>
              <a:ext uri="{FF2B5EF4-FFF2-40B4-BE49-F238E27FC236}">
                <a16:creationId xmlns:a16="http://schemas.microsoft.com/office/drawing/2014/main" id="{6B9212D0-0982-8D69-A27D-EDC0A39BF318}"/>
              </a:ext>
            </a:extLst>
          </p:cNvPr>
          <p:cNvSpPr txBox="1"/>
          <p:nvPr/>
        </p:nvSpPr>
        <p:spPr>
          <a:xfrm>
            <a:off x="8251360"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F</a:t>
            </a:r>
          </a:p>
        </p:txBody>
      </p:sp>
      <p:sp>
        <p:nvSpPr>
          <p:cNvPr id="24" name="TextBox 23">
            <a:extLst>
              <a:ext uri="{FF2B5EF4-FFF2-40B4-BE49-F238E27FC236}">
                <a16:creationId xmlns:a16="http://schemas.microsoft.com/office/drawing/2014/main" id="{9D9DAB8E-4DC2-CB98-03A2-0D5276E46941}"/>
              </a:ext>
            </a:extLst>
          </p:cNvPr>
          <p:cNvSpPr txBox="1"/>
          <p:nvPr/>
        </p:nvSpPr>
        <p:spPr>
          <a:xfrm>
            <a:off x="9797129" y="129114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G</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Loc2</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5" name="TextBox 24">
            <a:extLst>
              <a:ext uri="{FF2B5EF4-FFF2-40B4-BE49-F238E27FC236}">
                <a16:creationId xmlns:a16="http://schemas.microsoft.com/office/drawing/2014/main" id="{BAB2446F-E979-5C6C-7D10-083E4D19EE79}"/>
              </a:ext>
            </a:extLst>
          </p:cNvPr>
          <p:cNvSpPr txBox="1"/>
          <p:nvPr/>
        </p:nvSpPr>
        <p:spPr>
          <a:xfrm>
            <a:off x="6705591"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E</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Loc3</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6" name="TextBox 25">
            <a:extLst>
              <a:ext uri="{FF2B5EF4-FFF2-40B4-BE49-F238E27FC236}">
                <a16:creationId xmlns:a16="http://schemas.microsoft.com/office/drawing/2014/main" id="{D0FA2F50-DC52-7C1A-E947-AC7A00232017}"/>
              </a:ext>
            </a:extLst>
          </p:cNvPr>
          <p:cNvSpPr txBox="1"/>
          <p:nvPr/>
        </p:nvSpPr>
        <p:spPr>
          <a:xfrm>
            <a:off x="9797129" y="242850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H</a:t>
            </a:r>
          </a:p>
        </p:txBody>
      </p:sp>
      <p:sp>
        <p:nvSpPr>
          <p:cNvPr id="27" name="TextBox 26">
            <a:extLst>
              <a:ext uri="{FF2B5EF4-FFF2-40B4-BE49-F238E27FC236}">
                <a16:creationId xmlns:a16="http://schemas.microsoft.com/office/drawing/2014/main" id="{84162B9B-4BAA-3304-33B5-AA47648245C4}"/>
              </a:ext>
            </a:extLst>
          </p:cNvPr>
          <p:cNvSpPr txBox="1"/>
          <p:nvPr/>
        </p:nvSpPr>
        <p:spPr>
          <a:xfrm>
            <a:off x="9797129" y="356586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I</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Loc1</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8" name="TextBox 27">
            <a:extLst>
              <a:ext uri="{FF2B5EF4-FFF2-40B4-BE49-F238E27FC236}">
                <a16:creationId xmlns:a16="http://schemas.microsoft.com/office/drawing/2014/main" id="{83FC4A08-F069-4DE4-93D0-B3A79C0B3695}"/>
              </a:ext>
            </a:extLst>
          </p:cNvPr>
          <p:cNvSpPr txBox="1"/>
          <p:nvPr/>
        </p:nvSpPr>
        <p:spPr>
          <a:xfrm>
            <a:off x="9797129" y="470322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J</a:t>
            </a:r>
          </a:p>
        </p:txBody>
      </p:sp>
      <p:sp>
        <p:nvSpPr>
          <p:cNvPr id="29" name="TextBox 28">
            <a:extLst>
              <a:ext uri="{FF2B5EF4-FFF2-40B4-BE49-F238E27FC236}">
                <a16:creationId xmlns:a16="http://schemas.microsoft.com/office/drawing/2014/main" id="{E8499C2E-A984-CE09-E9FC-869E5F2DF5E7}"/>
              </a:ext>
            </a:extLst>
          </p:cNvPr>
          <p:cNvSpPr txBox="1"/>
          <p:nvPr/>
        </p:nvSpPr>
        <p:spPr>
          <a:xfrm>
            <a:off x="9797129" y="584058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K</a:t>
            </a:r>
          </a:p>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rPr>
              <a:t>Loc0</a:t>
            </a:r>
          </a:p>
        </p:txBody>
      </p:sp>
      <p:grpSp>
        <p:nvGrpSpPr>
          <p:cNvPr id="30" name="Group 29">
            <a:extLst>
              <a:ext uri="{FF2B5EF4-FFF2-40B4-BE49-F238E27FC236}">
                <a16:creationId xmlns:a16="http://schemas.microsoft.com/office/drawing/2014/main" id="{3688AF0D-03E0-2C28-3596-C1F8066A7300}"/>
              </a:ext>
            </a:extLst>
          </p:cNvPr>
          <p:cNvGrpSpPr/>
          <p:nvPr/>
        </p:nvGrpSpPr>
        <p:grpSpPr>
          <a:xfrm>
            <a:off x="1915882" y="3436914"/>
            <a:ext cx="3243940" cy="413657"/>
            <a:chOff x="1959430" y="2177143"/>
            <a:chExt cx="3243940" cy="413657"/>
          </a:xfrm>
        </p:grpSpPr>
        <p:sp>
          <p:nvSpPr>
            <p:cNvPr id="31" name="TextBox 30">
              <a:extLst>
                <a:ext uri="{FF2B5EF4-FFF2-40B4-BE49-F238E27FC236}">
                  <a16:creationId xmlns:a16="http://schemas.microsoft.com/office/drawing/2014/main" id="{78BA7CFA-94F2-09B5-2D11-3CD3A0F6AAB6}"/>
                </a:ext>
              </a:extLst>
            </p:cNvPr>
            <p:cNvSpPr txBox="1"/>
            <p:nvPr/>
          </p:nvSpPr>
          <p:spPr>
            <a:xfrm>
              <a:off x="1959430" y="2177143"/>
              <a:ext cx="1621970" cy="413657"/>
            </a:xfrm>
            <a:prstGeom prst="rect">
              <a:avLst/>
            </a:prstGeom>
            <a:solidFill>
              <a:schemeClr val="accent3">
                <a:lumMod val="40000"/>
                <a:lumOff val="60000"/>
              </a:schemeClr>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0</a:t>
              </a:r>
            </a:p>
          </p:txBody>
        </p:sp>
        <p:sp>
          <p:nvSpPr>
            <p:cNvPr id="32" name="TextBox 31">
              <a:extLst>
                <a:ext uri="{FF2B5EF4-FFF2-40B4-BE49-F238E27FC236}">
                  <a16:creationId xmlns:a16="http://schemas.microsoft.com/office/drawing/2014/main" id="{B62BB785-CEEA-27B4-5F00-AE094D6144CE}"/>
                </a:ext>
              </a:extLst>
            </p:cNvPr>
            <p:cNvSpPr txBox="1"/>
            <p:nvPr/>
          </p:nvSpPr>
          <p:spPr>
            <a:xfrm>
              <a:off x="3581400" y="2177143"/>
              <a:ext cx="1621970" cy="413657"/>
            </a:xfrm>
            <a:prstGeom prst="rect">
              <a:avLst/>
            </a:prstGeom>
            <a:solidFill>
              <a:schemeClr val="accent4">
                <a:lumMod val="40000"/>
                <a:lumOff val="60000"/>
              </a:schemeClr>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0</a:t>
              </a:r>
            </a:p>
          </p:txBody>
        </p:sp>
      </p:grpSp>
      <p:sp>
        <p:nvSpPr>
          <p:cNvPr id="33" name="TextBox 32">
            <a:extLst>
              <a:ext uri="{FF2B5EF4-FFF2-40B4-BE49-F238E27FC236}">
                <a16:creationId xmlns:a16="http://schemas.microsoft.com/office/drawing/2014/main" id="{1634C2CB-6B6B-81AA-FE36-906444213B14}"/>
              </a:ext>
            </a:extLst>
          </p:cNvPr>
          <p:cNvSpPr txBox="1"/>
          <p:nvPr/>
        </p:nvSpPr>
        <p:spPr>
          <a:xfrm>
            <a:off x="5236030" y="3436914"/>
            <a:ext cx="2547256"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IPv6 DST Addr.</a:t>
            </a:r>
          </a:p>
        </p:txBody>
      </p:sp>
      <p:sp>
        <p:nvSpPr>
          <p:cNvPr id="34" name="TextBox 33">
            <a:extLst>
              <a:ext uri="{FF2B5EF4-FFF2-40B4-BE49-F238E27FC236}">
                <a16:creationId xmlns:a16="http://schemas.microsoft.com/office/drawing/2014/main" id="{3B257FCD-30EA-3E5C-61FD-96CAF1A93136}"/>
              </a:ext>
            </a:extLst>
          </p:cNvPr>
          <p:cNvSpPr txBox="1"/>
          <p:nvPr/>
        </p:nvSpPr>
        <p:spPr>
          <a:xfrm>
            <a:off x="5486393" y="4995057"/>
            <a:ext cx="914400"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SHR</a:t>
            </a:r>
          </a:p>
        </p:txBody>
      </p:sp>
      <p:cxnSp>
        <p:nvCxnSpPr>
          <p:cNvPr id="36" name="Straight Arrow Connector 35">
            <a:extLst>
              <a:ext uri="{FF2B5EF4-FFF2-40B4-BE49-F238E27FC236}">
                <a16:creationId xmlns:a16="http://schemas.microsoft.com/office/drawing/2014/main" id="{3508B799-ED0E-3852-567F-4ED8BC37722C}"/>
              </a:ext>
            </a:extLst>
          </p:cNvPr>
          <p:cNvCxnSpPr>
            <a:cxnSpLocks/>
            <a:stCxn id="33" idx="3"/>
            <a:endCxn id="27" idx="2"/>
          </p:cNvCxnSpPr>
          <p:nvPr/>
        </p:nvCxnSpPr>
        <p:spPr>
          <a:xfrm>
            <a:off x="7783286" y="3643743"/>
            <a:ext cx="2634329" cy="69513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8DAE735-1CD6-2310-BB62-83985D69EA59}"/>
              </a:ext>
            </a:extLst>
          </p:cNvPr>
          <p:cNvCxnSpPr>
            <a:stCxn id="19" idx="3"/>
            <a:endCxn id="20" idx="1"/>
          </p:cNvCxnSpPr>
          <p:nvPr/>
        </p:nvCxnSpPr>
        <p:spPr>
          <a:xfrm flipV="1">
            <a:off x="1763486" y="1683160"/>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5A98E94-CBFE-69D9-5AC5-81A0C0B90AC0}"/>
              </a:ext>
            </a:extLst>
          </p:cNvPr>
          <p:cNvCxnSpPr/>
          <p:nvPr/>
        </p:nvCxnSpPr>
        <p:spPr>
          <a:xfrm flipV="1">
            <a:off x="3309255" y="167042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65A6F1C-F30D-685A-66F6-E196573FECBE}"/>
              </a:ext>
            </a:extLst>
          </p:cNvPr>
          <p:cNvCxnSpPr/>
          <p:nvPr/>
        </p:nvCxnSpPr>
        <p:spPr>
          <a:xfrm flipV="1">
            <a:off x="4855024" y="1665608"/>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1DA76F5-2D6A-7918-AB15-B8C5D6C39988}"/>
              </a:ext>
            </a:extLst>
          </p:cNvPr>
          <p:cNvCxnSpPr/>
          <p:nvPr/>
        </p:nvCxnSpPr>
        <p:spPr>
          <a:xfrm flipV="1">
            <a:off x="6389906" y="1672274"/>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5DE1137-A253-5BAE-A8BB-AE7EDD4B1E3A}"/>
              </a:ext>
            </a:extLst>
          </p:cNvPr>
          <p:cNvCxnSpPr>
            <a:cxnSpLocks/>
            <a:stCxn id="25" idx="3"/>
          </p:cNvCxnSpPr>
          <p:nvPr/>
        </p:nvCxnSpPr>
        <p:spPr>
          <a:xfrm>
            <a:off x="7946562" y="1683160"/>
            <a:ext cx="283024" cy="0"/>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C182581-03B6-CCEA-84F6-9BFB8D5F1855}"/>
              </a:ext>
            </a:extLst>
          </p:cNvPr>
          <p:cNvCxnSpPr/>
          <p:nvPr/>
        </p:nvCxnSpPr>
        <p:spPr>
          <a:xfrm flipV="1">
            <a:off x="9448783" y="169404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5E90EF5-2A32-4E52-D0D2-EDACDD1DA825}"/>
              </a:ext>
            </a:extLst>
          </p:cNvPr>
          <p:cNvCxnSpPr>
            <a:cxnSpLocks/>
            <a:stCxn id="26" idx="0"/>
            <a:endCxn id="24" idx="2"/>
          </p:cNvCxnSpPr>
          <p:nvPr/>
        </p:nvCxnSpPr>
        <p:spPr>
          <a:xfrm flipV="1">
            <a:off x="10417615" y="206415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EE98E7B-E641-9B00-C116-9AEA1F834853}"/>
              </a:ext>
            </a:extLst>
          </p:cNvPr>
          <p:cNvCxnSpPr>
            <a:cxnSpLocks/>
          </p:cNvCxnSpPr>
          <p:nvPr/>
        </p:nvCxnSpPr>
        <p:spPr>
          <a:xfrm flipV="1">
            <a:off x="10417614" y="320151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492A3E1-13BC-741D-79A4-285D00FD981D}"/>
              </a:ext>
            </a:extLst>
          </p:cNvPr>
          <p:cNvCxnSpPr>
            <a:cxnSpLocks/>
          </p:cNvCxnSpPr>
          <p:nvPr/>
        </p:nvCxnSpPr>
        <p:spPr>
          <a:xfrm flipV="1">
            <a:off x="10406715" y="433887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8B5994E-CEED-5C83-8335-EAF11F8A89CF}"/>
              </a:ext>
            </a:extLst>
          </p:cNvPr>
          <p:cNvCxnSpPr>
            <a:cxnSpLocks/>
          </p:cNvCxnSpPr>
          <p:nvPr/>
        </p:nvCxnSpPr>
        <p:spPr>
          <a:xfrm flipV="1">
            <a:off x="10406715" y="547623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Arrow: Right 50">
            <a:extLst>
              <a:ext uri="{FF2B5EF4-FFF2-40B4-BE49-F238E27FC236}">
                <a16:creationId xmlns:a16="http://schemas.microsoft.com/office/drawing/2014/main" id="{12318449-AD0D-1D05-E36B-4E96DF432073}"/>
              </a:ext>
            </a:extLst>
          </p:cNvPr>
          <p:cNvSpPr/>
          <p:nvPr/>
        </p:nvSpPr>
        <p:spPr>
          <a:xfrm>
            <a:off x="119755" y="4148235"/>
            <a:ext cx="1763486" cy="484632"/>
          </a:xfrm>
          <a:prstGeom prst="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Active segment</a:t>
            </a:r>
          </a:p>
        </p:txBody>
      </p:sp>
      <p:sp>
        <p:nvSpPr>
          <p:cNvPr id="52" name="Arrow: Circular 51">
            <a:extLst>
              <a:ext uri="{FF2B5EF4-FFF2-40B4-BE49-F238E27FC236}">
                <a16:creationId xmlns:a16="http://schemas.microsoft.com/office/drawing/2014/main" id="{4DAB1F5C-7676-1827-8218-48DF8D5D948E}"/>
              </a:ext>
            </a:extLst>
          </p:cNvPr>
          <p:cNvSpPr/>
          <p:nvPr/>
        </p:nvSpPr>
        <p:spPr>
          <a:xfrm rot="16200000">
            <a:off x="1468284" y="2540665"/>
            <a:ext cx="884411" cy="2702383"/>
          </a:xfrm>
          <a:prstGeom prst="circularArrow">
            <a:avLst>
              <a:gd name="adj1" fmla="val 3259"/>
              <a:gd name="adj2" fmla="val 1142319"/>
              <a:gd name="adj3" fmla="val 20529188"/>
              <a:gd name="adj4" fmla="val 10905829"/>
              <a:gd name="adj5" fmla="val 5405"/>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TextBox 17">
            <a:extLst>
              <a:ext uri="{FF2B5EF4-FFF2-40B4-BE49-F238E27FC236}">
                <a16:creationId xmlns:a16="http://schemas.microsoft.com/office/drawing/2014/main" id="{CA8B7903-E756-1B87-00C0-47E87280DD1B}"/>
              </a:ext>
            </a:extLst>
          </p:cNvPr>
          <p:cNvSpPr txBox="1"/>
          <p:nvPr/>
        </p:nvSpPr>
        <p:spPr>
          <a:xfrm>
            <a:off x="2570554" y="3861229"/>
            <a:ext cx="1934596" cy="2523641"/>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9900" b="1" i="0" u="none" strike="noStrike" kern="1200" cap="none" spc="0" normalizeH="0" baseline="0" noProof="0" dirty="0">
                <a:ln>
                  <a:noFill/>
                </a:ln>
                <a:solidFill>
                  <a:schemeClr val="accent6"/>
                </a:solidFill>
                <a:effectLst/>
                <a:uLnTx/>
                <a:uFillTx/>
                <a:latin typeface="Arial" panose="020B0604020202020204"/>
                <a:ea typeface="+mn-ea"/>
                <a:cs typeface="+mn-cs"/>
              </a:rPr>
              <a:t>X</a:t>
            </a:r>
          </a:p>
        </p:txBody>
      </p:sp>
      <p:sp>
        <p:nvSpPr>
          <p:cNvPr id="35" name="Oval 34">
            <a:extLst>
              <a:ext uri="{FF2B5EF4-FFF2-40B4-BE49-F238E27FC236}">
                <a16:creationId xmlns:a16="http://schemas.microsoft.com/office/drawing/2014/main" id="{C619328E-2EAB-E8D7-7FA1-4E1E95552B22}"/>
              </a:ext>
            </a:extLst>
          </p:cNvPr>
          <p:cNvSpPr/>
          <p:nvPr/>
        </p:nvSpPr>
        <p:spPr>
          <a:xfrm>
            <a:off x="1042704" y="3690258"/>
            <a:ext cx="372431" cy="34194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7" name="Oval 36">
            <a:extLst>
              <a:ext uri="{FF2B5EF4-FFF2-40B4-BE49-F238E27FC236}">
                <a16:creationId xmlns:a16="http://schemas.microsoft.com/office/drawing/2014/main" id="{CBAAF28E-038D-B9C9-19BF-36A9AAE5AFCA}"/>
              </a:ext>
            </a:extLst>
          </p:cNvPr>
          <p:cNvSpPr/>
          <p:nvPr/>
        </p:nvSpPr>
        <p:spPr>
          <a:xfrm>
            <a:off x="3335310" y="4936878"/>
            <a:ext cx="372431" cy="341941"/>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Tree>
    <p:extLst>
      <p:ext uri="{BB962C8B-B14F-4D97-AF65-F5344CB8AC3E}">
        <p14:creationId xmlns:p14="http://schemas.microsoft.com/office/powerpoint/2010/main" val="30264576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EC0ED6-027B-6992-F3F3-D17CCEA976B9}"/>
              </a:ext>
            </a:extLst>
          </p:cNvPr>
          <p:cNvSpPr>
            <a:spLocks noGrp="1"/>
          </p:cNvSpPr>
          <p:nvPr>
            <p:ph type="body" sz="quarter" idx="11"/>
          </p:nvPr>
        </p:nvSpPr>
        <p:spPr/>
        <p:txBody>
          <a:bodyPr/>
          <a:lstStyle/>
          <a:p>
            <a:r>
              <a:rPr lang="en-US" sz="2800" dirty="0"/>
              <a:t>Network Program #11 – with Penultimate Segment Popping (PSP)</a:t>
            </a:r>
          </a:p>
        </p:txBody>
      </p:sp>
      <p:sp>
        <p:nvSpPr>
          <p:cNvPr id="19" name="TextBox 18">
            <a:extLst>
              <a:ext uri="{FF2B5EF4-FFF2-40B4-BE49-F238E27FC236}">
                <a16:creationId xmlns:a16="http://schemas.microsoft.com/office/drawing/2014/main" id="{5DC54D9D-8772-F9A8-2EC7-5B0B4C4AF739}"/>
              </a:ext>
            </a:extLst>
          </p:cNvPr>
          <p:cNvSpPr txBox="1"/>
          <p:nvPr/>
        </p:nvSpPr>
        <p:spPr>
          <a:xfrm>
            <a:off x="522515" y="1301469"/>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A</a:t>
            </a:r>
          </a:p>
        </p:txBody>
      </p:sp>
      <p:sp>
        <p:nvSpPr>
          <p:cNvPr id="20" name="TextBox 19">
            <a:extLst>
              <a:ext uri="{FF2B5EF4-FFF2-40B4-BE49-F238E27FC236}">
                <a16:creationId xmlns:a16="http://schemas.microsoft.com/office/drawing/2014/main" id="{86ECD626-09B3-2D24-6746-8AF89F7EEE22}"/>
              </a:ext>
            </a:extLst>
          </p:cNvPr>
          <p:cNvSpPr txBox="1"/>
          <p:nvPr/>
        </p:nvSpPr>
        <p:spPr>
          <a:xfrm>
            <a:off x="2068284"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B</a:t>
            </a:r>
          </a:p>
        </p:txBody>
      </p:sp>
      <p:sp>
        <p:nvSpPr>
          <p:cNvPr id="21" name="TextBox 20">
            <a:extLst>
              <a:ext uri="{FF2B5EF4-FFF2-40B4-BE49-F238E27FC236}">
                <a16:creationId xmlns:a16="http://schemas.microsoft.com/office/drawing/2014/main" id="{220DFCA0-79E9-1920-D83A-890C99DBE3DE}"/>
              </a:ext>
            </a:extLst>
          </p:cNvPr>
          <p:cNvSpPr txBox="1"/>
          <p:nvPr/>
        </p:nvSpPr>
        <p:spPr>
          <a:xfrm>
            <a:off x="3614053"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C</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Loc4</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2" name="TextBox 21">
            <a:extLst>
              <a:ext uri="{FF2B5EF4-FFF2-40B4-BE49-F238E27FC236}">
                <a16:creationId xmlns:a16="http://schemas.microsoft.com/office/drawing/2014/main" id="{7EF262A1-8154-CA84-C05E-BCF259BCF7B2}"/>
              </a:ext>
            </a:extLst>
          </p:cNvPr>
          <p:cNvSpPr txBox="1"/>
          <p:nvPr/>
        </p:nvSpPr>
        <p:spPr>
          <a:xfrm>
            <a:off x="5159822"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D</a:t>
            </a:r>
          </a:p>
        </p:txBody>
      </p:sp>
      <p:sp>
        <p:nvSpPr>
          <p:cNvPr id="23" name="TextBox 22">
            <a:extLst>
              <a:ext uri="{FF2B5EF4-FFF2-40B4-BE49-F238E27FC236}">
                <a16:creationId xmlns:a16="http://schemas.microsoft.com/office/drawing/2014/main" id="{6B9212D0-0982-8D69-A27D-EDC0A39BF318}"/>
              </a:ext>
            </a:extLst>
          </p:cNvPr>
          <p:cNvSpPr txBox="1"/>
          <p:nvPr/>
        </p:nvSpPr>
        <p:spPr>
          <a:xfrm>
            <a:off x="8251360"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F</a:t>
            </a:r>
          </a:p>
        </p:txBody>
      </p:sp>
      <p:sp>
        <p:nvSpPr>
          <p:cNvPr id="24" name="TextBox 23">
            <a:extLst>
              <a:ext uri="{FF2B5EF4-FFF2-40B4-BE49-F238E27FC236}">
                <a16:creationId xmlns:a16="http://schemas.microsoft.com/office/drawing/2014/main" id="{9D9DAB8E-4DC2-CB98-03A2-0D5276E46941}"/>
              </a:ext>
            </a:extLst>
          </p:cNvPr>
          <p:cNvSpPr txBox="1"/>
          <p:nvPr/>
        </p:nvSpPr>
        <p:spPr>
          <a:xfrm>
            <a:off x="9797129" y="129114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G</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Loc2</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5" name="TextBox 24">
            <a:extLst>
              <a:ext uri="{FF2B5EF4-FFF2-40B4-BE49-F238E27FC236}">
                <a16:creationId xmlns:a16="http://schemas.microsoft.com/office/drawing/2014/main" id="{BAB2446F-E979-5C6C-7D10-083E4D19EE79}"/>
              </a:ext>
            </a:extLst>
          </p:cNvPr>
          <p:cNvSpPr txBox="1"/>
          <p:nvPr/>
        </p:nvSpPr>
        <p:spPr>
          <a:xfrm>
            <a:off x="6705591"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E</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Loc3</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6" name="TextBox 25">
            <a:extLst>
              <a:ext uri="{FF2B5EF4-FFF2-40B4-BE49-F238E27FC236}">
                <a16:creationId xmlns:a16="http://schemas.microsoft.com/office/drawing/2014/main" id="{D0FA2F50-DC52-7C1A-E947-AC7A00232017}"/>
              </a:ext>
            </a:extLst>
          </p:cNvPr>
          <p:cNvSpPr txBox="1"/>
          <p:nvPr/>
        </p:nvSpPr>
        <p:spPr>
          <a:xfrm>
            <a:off x="9797129" y="242850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H</a:t>
            </a:r>
          </a:p>
        </p:txBody>
      </p:sp>
      <p:sp>
        <p:nvSpPr>
          <p:cNvPr id="27" name="TextBox 26">
            <a:extLst>
              <a:ext uri="{FF2B5EF4-FFF2-40B4-BE49-F238E27FC236}">
                <a16:creationId xmlns:a16="http://schemas.microsoft.com/office/drawing/2014/main" id="{84162B9B-4BAA-3304-33B5-AA47648245C4}"/>
              </a:ext>
            </a:extLst>
          </p:cNvPr>
          <p:cNvSpPr txBox="1"/>
          <p:nvPr/>
        </p:nvSpPr>
        <p:spPr>
          <a:xfrm>
            <a:off x="9797129" y="356586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I</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Loc1</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8" name="TextBox 27">
            <a:extLst>
              <a:ext uri="{FF2B5EF4-FFF2-40B4-BE49-F238E27FC236}">
                <a16:creationId xmlns:a16="http://schemas.microsoft.com/office/drawing/2014/main" id="{83FC4A08-F069-4DE4-93D0-B3A79C0B3695}"/>
              </a:ext>
            </a:extLst>
          </p:cNvPr>
          <p:cNvSpPr txBox="1"/>
          <p:nvPr/>
        </p:nvSpPr>
        <p:spPr>
          <a:xfrm>
            <a:off x="9797129" y="470322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J</a:t>
            </a:r>
          </a:p>
        </p:txBody>
      </p:sp>
      <p:sp>
        <p:nvSpPr>
          <p:cNvPr id="29" name="TextBox 28">
            <a:extLst>
              <a:ext uri="{FF2B5EF4-FFF2-40B4-BE49-F238E27FC236}">
                <a16:creationId xmlns:a16="http://schemas.microsoft.com/office/drawing/2014/main" id="{E8499C2E-A984-CE09-E9FC-869E5F2DF5E7}"/>
              </a:ext>
            </a:extLst>
          </p:cNvPr>
          <p:cNvSpPr txBox="1"/>
          <p:nvPr/>
        </p:nvSpPr>
        <p:spPr>
          <a:xfrm>
            <a:off x="9797129" y="584058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K</a:t>
            </a:r>
          </a:p>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rPr>
              <a:t>Loc0</a:t>
            </a:r>
          </a:p>
        </p:txBody>
      </p:sp>
      <p:grpSp>
        <p:nvGrpSpPr>
          <p:cNvPr id="30" name="Group 29">
            <a:extLst>
              <a:ext uri="{FF2B5EF4-FFF2-40B4-BE49-F238E27FC236}">
                <a16:creationId xmlns:a16="http://schemas.microsoft.com/office/drawing/2014/main" id="{3688AF0D-03E0-2C28-3596-C1F8066A7300}"/>
              </a:ext>
            </a:extLst>
          </p:cNvPr>
          <p:cNvGrpSpPr/>
          <p:nvPr/>
        </p:nvGrpSpPr>
        <p:grpSpPr>
          <a:xfrm>
            <a:off x="1915882" y="3436914"/>
            <a:ext cx="3243940" cy="413657"/>
            <a:chOff x="1959430" y="2177143"/>
            <a:chExt cx="3243940" cy="413657"/>
          </a:xfrm>
        </p:grpSpPr>
        <p:sp>
          <p:nvSpPr>
            <p:cNvPr id="31" name="TextBox 30">
              <a:extLst>
                <a:ext uri="{FF2B5EF4-FFF2-40B4-BE49-F238E27FC236}">
                  <a16:creationId xmlns:a16="http://schemas.microsoft.com/office/drawing/2014/main" id="{78BA7CFA-94F2-09B5-2D11-3CD3A0F6AAB6}"/>
                </a:ext>
              </a:extLst>
            </p:cNvPr>
            <p:cNvSpPr txBox="1"/>
            <p:nvPr/>
          </p:nvSpPr>
          <p:spPr>
            <a:xfrm>
              <a:off x="1959430" y="2177143"/>
              <a:ext cx="1621970" cy="413657"/>
            </a:xfrm>
            <a:prstGeom prst="rect">
              <a:avLst/>
            </a:prstGeom>
            <a:solidFill>
              <a:schemeClr val="accent3">
                <a:lumMod val="40000"/>
                <a:lumOff val="60000"/>
              </a:schemeClr>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0</a:t>
              </a:r>
            </a:p>
          </p:txBody>
        </p:sp>
        <p:sp>
          <p:nvSpPr>
            <p:cNvPr id="32" name="TextBox 31">
              <a:extLst>
                <a:ext uri="{FF2B5EF4-FFF2-40B4-BE49-F238E27FC236}">
                  <a16:creationId xmlns:a16="http://schemas.microsoft.com/office/drawing/2014/main" id="{B62BB785-CEEA-27B4-5F00-AE094D6144CE}"/>
                </a:ext>
              </a:extLst>
            </p:cNvPr>
            <p:cNvSpPr txBox="1"/>
            <p:nvPr/>
          </p:nvSpPr>
          <p:spPr>
            <a:xfrm>
              <a:off x="3581400" y="2177143"/>
              <a:ext cx="1621970" cy="413657"/>
            </a:xfrm>
            <a:prstGeom prst="rect">
              <a:avLst/>
            </a:prstGeom>
            <a:solidFill>
              <a:schemeClr val="accent4">
                <a:lumMod val="40000"/>
                <a:lumOff val="60000"/>
              </a:schemeClr>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0</a:t>
              </a:r>
            </a:p>
          </p:txBody>
        </p:sp>
      </p:grpSp>
      <p:sp>
        <p:nvSpPr>
          <p:cNvPr id="33" name="TextBox 32">
            <a:extLst>
              <a:ext uri="{FF2B5EF4-FFF2-40B4-BE49-F238E27FC236}">
                <a16:creationId xmlns:a16="http://schemas.microsoft.com/office/drawing/2014/main" id="{1634C2CB-6B6B-81AA-FE36-906444213B14}"/>
              </a:ext>
            </a:extLst>
          </p:cNvPr>
          <p:cNvSpPr txBox="1"/>
          <p:nvPr/>
        </p:nvSpPr>
        <p:spPr>
          <a:xfrm>
            <a:off x="5236030" y="3436914"/>
            <a:ext cx="2547256"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IPv6 DST Addr.</a:t>
            </a:r>
          </a:p>
        </p:txBody>
      </p:sp>
      <p:cxnSp>
        <p:nvCxnSpPr>
          <p:cNvPr id="36" name="Straight Arrow Connector 35">
            <a:extLst>
              <a:ext uri="{FF2B5EF4-FFF2-40B4-BE49-F238E27FC236}">
                <a16:creationId xmlns:a16="http://schemas.microsoft.com/office/drawing/2014/main" id="{3508B799-ED0E-3852-567F-4ED8BC37722C}"/>
              </a:ext>
            </a:extLst>
          </p:cNvPr>
          <p:cNvCxnSpPr>
            <a:cxnSpLocks/>
            <a:stCxn id="33" idx="3"/>
          </p:cNvCxnSpPr>
          <p:nvPr/>
        </p:nvCxnSpPr>
        <p:spPr>
          <a:xfrm>
            <a:off x="7783286" y="3643743"/>
            <a:ext cx="2623429" cy="199505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8DAE735-1CD6-2310-BB62-83985D69EA59}"/>
              </a:ext>
            </a:extLst>
          </p:cNvPr>
          <p:cNvCxnSpPr>
            <a:stCxn id="19" idx="3"/>
            <a:endCxn id="20" idx="1"/>
          </p:cNvCxnSpPr>
          <p:nvPr/>
        </p:nvCxnSpPr>
        <p:spPr>
          <a:xfrm flipV="1">
            <a:off x="1763486" y="1683160"/>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5A98E94-CBFE-69D9-5AC5-81A0C0B90AC0}"/>
              </a:ext>
            </a:extLst>
          </p:cNvPr>
          <p:cNvCxnSpPr/>
          <p:nvPr/>
        </p:nvCxnSpPr>
        <p:spPr>
          <a:xfrm flipV="1">
            <a:off x="3309255" y="167042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65A6F1C-F30D-685A-66F6-E196573FECBE}"/>
              </a:ext>
            </a:extLst>
          </p:cNvPr>
          <p:cNvCxnSpPr/>
          <p:nvPr/>
        </p:nvCxnSpPr>
        <p:spPr>
          <a:xfrm flipV="1">
            <a:off x="4855024" y="1665608"/>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1DA76F5-2D6A-7918-AB15-B8C5D6C39988}"/>
              </a:ext>
            </a:extLst>
          </p:cNvPr>
          <p:cNvCxnSpPr/>
          <p:nvPr/>
        </p:nvCxnSpPr>
        <p:spPr>
          <a:xfrm flipV="1">
            <a:off x="6389906" y="1672274"/>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5DE1137-A253-5BAE-A8BB-AE7EDD4B1E3A}"/>
              </a:ext>
            </a:extLst>
          </p:cNvPr>
          <p:cNvCxnSpPr>
            <a:cxnSpLocks/>
            <a:stCxn id="25" idx="3"/>
          </p:cNvCxnSpPr>
          <p:nvPr/>
        </p:nvCxnSpPr>
        <p:spPr>
          <a:xfrm>
            <a:off x="7946562" y="1683160"/>
            <a:ext cx="283024" cy="0"/>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C182581-03B6-CCEA-84F6-9BFB8D5F1855}"/>
              </a:ext>
            </a:extLst>
          </p:cNvPr>
          <p:cNvCxnSpPr/>
          <p:nvPr/>
        </p:nvCxnSpPr>
        <p:spPr>
          <a:xfrm flipV="1">
            <a:off x="9448783" y="169404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5E90EF5-2A32-4E52-D0D2-EDACDD1DA825}"/>
              </a:ext>
            </a:extLst>
          </p:cNvPr>
          <p:cNvCxnSpPr>
            <a:cxnSpLocks/>
            <a:stCxn id="26" idx="0"/>
            <a:endCxn id="24" idx="2"/>
          </p:cNvCxnSpPr>
          <p:nvPr/>
        </p:nvCxnSpPr>
        <p:spPr>
          <a:xfrm flipV="1">
            <a:off x="10417615" y="206415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EE98E7B-E641-9B00-C116-9AEA1F834853}"/>
              </a:ext>
            </a:extLst>
          </p:cNvPr>
          <p:cNvCxnSpPr>
            <a:cxnSpLocks/>
          </p:cNvCxnSpPr>
          <p:nvPr/>
        </p:nvCxnSpPr>
        <p:spPr>
          <a:xfrm flipV="1">
            <a:off x="10417614" y="320151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492A3E1-13BC-741D-79A4-285D00FD981D}"/>
              </a:ext>
            </a:extLst>
          </p:cNvPr>
          <p:cNvCxnSpPr>
            <a:cxnSpLocks/>
          </p:cNvCxnSpPr>
          <p:nvPr/>
        </p:nvCxnSpPr>
        <p:spPr>
          <a:xfrm flipV="1">
            <a:off x="10406715" y="433887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8B5994E-CEED-5C83-8335-EAF11F8A89CF}"/>
              </a:ext>
            </a:extLst>
          </p:cNvPr>
          <p:cNvCxnSpPr>
            <a:cxnSpLocks/>
          </p:cNvCxnSpPr>
          <p:nvPr/>
        </p:nvCxnSpPr>
        <p:spPr>
          <a:xfrm flipV="1">
            <a:off x="10406715" y="547623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49619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EC0ED6-027B-6992-F3F3-D17CCEA976B9}"/>
              </a:ext>
            </a:extLst>
          </p:cNvPr>
          <p:cNvSpPr>
            <a:spLocks noGrp="1"/>
          </p:cNvSpPr>
          <p:nvPr>
            <p:ph type="body" sz="quarter" idx="11"/>
          </p:nvPr>
        </p:nvSpPr>
        <p:spPr/>
        <p:txBody>
          <a:bodyPr/>
          <a:lstStyle/>
          <a:p>
            <a:r>
              <a:rPr lang="en-US" sz="2800" dirty="0"/>
              <a:t>Network Program #12 – with Penultimate Segment Popping (PSP)</a:t>
            </a:r>
          </a:p>
        </p:txBody>
      </p:sp>
      <p:sp>
        <p:nvSpPr>
          <p:cNvPr id="19" name="TextBox 18">
            <a:extLst>
              <a:ext uri="{FF2B5EF4-FFF2-40B4-BE49-F238E27FC236}">
                <a16:creationId xmlns:a16="http://schemas.microsoft.com/office/drawing/2014/main" id="{5DC54D9D-8772-F9A8-2EC7-5B0B4C4AF739}"/>
              </a:ext>
            </a:extLst>
          </p:cNvPr>
          <p:cNvSpPr txBox="1"/>
          <p:nvPr/>
        </p:nvSpPr>
        <p:spPr>
          <a:xfrm>
            <a:off x="522515" y="1301469"/>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A</a:t>
            </a:r>
          </a:p>
        </p:txBody>
      </p:sp>
      <p:sp>
        <p:nvSpPr>
          <p:cNvPr id="20" name="TextBox 19">
            <a:extLst>
              <a:ext uri="{FF2B5EF4-FFF2-40B4-BE49-F238E27FC236}">
                <a16:creationId xmlns:a16="http://schemas.microsoft.com/office/drawing/2014/main" id="{86ECD626-09B3-2D24-6746-8AF89F7EEE22}"/>
              </a:ext>
            </a:extLst>
          </p:cNvPr>
          <p:cNvSpPr txBox="1"/>
          <p:nvPr/>
        </p:nvSpPr>
        <p:spPr>
          <a:xfrm>
            <a:off x="2068284"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B</a:t>
            </a:r>
          </a:p>
        </p:txBody>
      </p:sp>
      <p:sp>
        <p:nvSpPr>
          <p:cNvPr id="21" name="TextBox 20">
            <a:extLst>
              <a:ext uri="{FF2B5EF4-FFF2-40B4-BE49-F238E27FC236}">
                <a16:creationId xmlns:a16="http://schemas.microsoft.com/office/drawing/2014/main" id="{220DFCA0-79E9-1920-D83A-890C99DBE3DE}"/>
              </a:ext>
            </a:extLst>
          </p:cNvPr>
          <p:cNvSpPr txBox="1"/>
          <p:nvPr/>
        </p:nvSpPr>
        <p:spPr>
          <a:xfrm>
            <a:off x="3614053"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C</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Loc4</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2" name="TextBox 21">
            <a:extLst>
              <a:ext uri="{FF2B5EF4-FFF2-40B4-BE49-F238E27FC236}">
                <a16:creationId xmlns:a16="http://schemas.microsoft.com/office/drawing/2014/main" id="{7EF262A1-8154-CA84-C05E-BCF259BCF7B2}"/>
              </a:ext>
            </a:extLst>
          </p:cNvPr>
          <p:cNvSpPr txBox="1"/>
          <p:nvPr/>
        </p:nvSpPr>
        <p:spPr>
          <a:xfrm>
            <a:off x="5159822"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D</a:t>
            </a:r>
          </a:p>
        </p:txBody>
      </p:sp>
      <p:sp>
        <p:nvSpPr>
          <p:cNvPr id="23" name="TextBox 22">
            <a:extLst>
              <a:ext uri="{FF2B5EF4-FFF2-40B4-BE49-F238E27FC236}">
                <a16:creationId xmlns:a16="http://schemas.microsoft.com/office/drawing/2014/main" id="{6B9212D0-0982-8D69-A27D-EDC0A39BF318}"/>
              </a:ext>
            </a:extLst>
          </p:cNvPr>
          <p:cNvSpPr txBox="1"/>
          <p:nvPr/>
        </p:nvSpPr>
        <p:spPr>
          <a:xfrm>
            <a:off x="8251360"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F</a:t>
            </a:r>
          </a:p>
        </p:txBody>
      </p:sp>
      <p:sp>
        <p:nvSpPr>
          <p:cNvPr id="24" name="TextBox 23">
            <a:extLst>
              <a:ext uri="{FF2B5EF4-FFF2-40B4-BE49-F238E27FC236}">
                <a16:creationId xmlns:a16="http://schemas.microsoft.com/office/drawing/2014/main" id="{9D9DAB8E-4DC2-CB98-03A2-0D5276E46941}"/>
              </a:ext>
            </a:extLst>
          </p:cNvPr>
          <p:cNvSpPr txBox="1"/>
          <p:nvPr/>
        </p:nvSpPr>
        <p:spPr>
          <a:xfrm>
            <a:off x="9797129" y="129114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G</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Loc2</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5" name="TextBox 24">
            <a:extLst>
              <a:ext uri="{FF2B5EF4-FFF2-40B4-BE49-F238E27FC236}">
                <a16:creationId xmlns:a16="http://schemas.microsoft.com/office/drawing/2014/main" id="{BAB2446F-E979-5C6C-7D10-083E4D19EE79}"/>
              </a:ext>
            </a:extLst>
          </p:cNvPr>
          <p:cNvSpPr txBox="1"/>
          <p:nvPr/>
        </p:nvSpPr>
        <p:spPr>
          <a:xfrm>
            <a:off x="6705591" y="1296652"/>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E</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Loc3</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6" name="TextBox 25">
            <a:extLst>
              <a:ext uri="{FF2B5EF4-FFF2-40B4-BE49-F238E27FC236}">
                <a16:creationId xmlns:a16="http://schemas.microsoft.com/office/drawing/2014/main" id="{D0FA2F50-DC52-7C1A-E947-AC7A00232017}"/>
              </a:ext>
            </a:extLst>
          </p:cNvPr>
          <p:cNvSpPr txBox="1"/>
          <p:nvPr/>
        </p:nvSpPr>
        <p:spPr>
          <a:xfrm>
            <a:off x="9797129" y="242850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H</a:t>
            </a:r>
          </a:p>
        </p:txBody>
      </p:sp>
      <p:sp>
        <p:nvSpPr>
          <p:cNvPr id="27" name="TextBox 26">
            <a:extLst>
              <a:ext uri="{FF2B5EF4-FFF2-40B4-BE49-F238E27FC236}">
                <a16:creationId xmlns:a16="http://schemas.microsoft.com/office/drawing/2014/main" id="{84162B9B-4BAA-3304-33B5-AA47648245C4}"/>
              </a:ext>
            </a:extLst>
          </p:cNvPr>
          <p:cNvSpPr txBox="1"/>
          <p:nvPr/>
        </p:nvSpPr>
        <p:spPr>
          <a:xfrm>
            <a:off x="9797129" y="356586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I</a:t>
            </a:r>
          </a:p>
          <a:p>
            <a:pPr marL="0" marR="0" indent="0" algn="l" defTabSz="914400" rtl="0" eaLnBrk="1" fontAlgn="auto" latinLnBrk="0" hangingPunct="1">
              <a:spcAft>
                <a:spcPts val="0"/>
              </a:spcAft>
              <a:buClrTx/>
              <a:buSzTx/>
              <a:buFont typeface="Arial" panose="020B0604020202020204" pitchFamily="34" charset="0"/>
              <a:buNone/>
              <a:tabLst/>
            </a:pPr>
            <a:r>
              <a:rPr lang="en-US" sz="2400" b="1" dirty="0">
                <a:solidFill>
                  <a:schemeClr val="accent3"/>
                </a:solidFill>
                <a:latin typeface="Arial" panose="020B0604020202020204"/>
              </a:rPr>
              <a:t>Loc1</a:t>
            </a:r>
            <a:endPar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8" name="TextBox 27">
            <a:extLst>
              <a:ext uri="{FF2B5EF4-FFF2-40B4-BE49-F238E27FC236}">
                <a16:creationId xmlns:a16="http://schemas.microsoft.com/office/drawing/2014/main" id="{83FC4A08-F069-4DE4-93D0-B3A79C0B3695}"/>
              </a:ext>
            </a:extLst>
          </p:cNvPr>
          <p:cNvSpPr txBox="1"/>
          <p:nvPr/>
        </p:nvSpPr>
        <p:spPr>
          <a:xfrm>
            <a:off x="9797129" y="470322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J</a:t>
            </a:r>
          </a:p>
        </p:txBody>
      </p:sp>
      <p:sp>
        <p:nvSpPr>
          <p:cNvPr id="29" name="TextBox 28">
            <a:extLst>
              <a:ext uri="{FF2B5EF4-FFF2-40B4-BE49-F238E27FC236}">
                <a16:creationId xmlns:a16="http://schemas.microsoft.com/office/drawing/2014/main" id="{E8499C2E-A984-CE09-E9FC-869E5F2DF5E7}"/>
              </a:ext>
            </a:extLst>
          </p:cNvPr>
          <p:cNvSpPr txBox="1"/>
          <p:nvPr/>
        </p:nvSpPr>
        <p:spPr>
          <a:xfrm>
            <a:off x="9797129" y="5840583"/>
            <a:ext cx="1240971" cy="773016"/>
          </a:xfrm>
          <a:prstGeom prst="rect">
            <a:avLst/>
          </a:prstGeom>
          <a:ln w="25400">
            <a:solidFill>
              <a:schemeClr val="accent1">
                <a:shade val="15000"/>
              </a:schemeClr>
            </a:solidFill>
          </a:ln>
        </p:spPr>
        <p:txBody>
          <a:bodyPr vert="horz" wrap="none" lIns="91440" tIns="45720" rIns="91440" bIns="45720" rtlCol="0">
            <a:noAutofit/>
          </a:bodyPr>
          <a:lstStyle/>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Node K</a:t>
            </a:r>
          </a:p>
          <a:p>
            <a:pPr marL="0" marR="0" indent="0" algn="l" defTabSz="914400" rtl="0" eaLnBrk="1" fontAlgn="auto" latinLnBrk="0" hangingPunct="1">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accent3"/>
                </a:solidFill>
                <a:effectLst/>
                <a:uLnTx/>
                <a:uFillTx/>
                <a:latin typeface="Arial" panose="020B0604020202020204"/>
                <a:ea typeface="+mn-ea"/>
                <a:cs typeface="+mn-cs"/>
              </a:rPr>
              <a:t>Loc0</a:t>
            </a:r>
          </a:p>
        </p:txBody>
      </p:sp>
      <p:grpSp>
        <p:nvGrpSpPr>
          <p:cNvPr id="30" name="Group 29">
            <a:extLst>
              <a:ext uri="{FF2B5EF4-FFF2-40B4-BE49-F238E27FC236}">
                <a16:creationId xmlns:a16="http://schemas.microsoft.com/office/drawing/2014/main" id="{3688AF0D-03E0-2C28-3596-C1F8066A7300}"/>
              </a:ext>
            </a:extLst>
          </p:cNvPr>
          <p:cNvGrpSpPr/>
          <p:nvPr/>
        </p:nvGrpSpPr>
        <p:grpSpPr>
          <a:xfrm>
            <a:off x="1915882" y="3436914"/>
            <a:ext cx="3243940" cy="413657"/>
            <a:chOff x="1959430" y="2177143"/>
            <a:chExt cx="3243940" cy="413657"/>
          </a:xfrm>
        </p:grpSpPr>
        <p:sp>
          <p:nvSpPr>
            <p:cNvPr id="31" name="TextBox 30">
              <a:extLst>
                <a:ext uri="{FF2B5EF4-FFF2-40B4-BE49-F238E27FC236}">
                  <a16:creationId xmlns:a16="http://schemas.microsoft.com/office/drawing/2014/main" id="{78BA7CFA-94F2-09B5-2D11-3CD3A0F6AAB6}"/>
                </a:ext>
              </a:extLst>
            </p:cNvPr>
            <p:cNvSpPr txBox="1"/>
            <p:nvPr/>
          </p:nvSpPr>
          <p:spPr>
            <a:xfrm>
              <a:off x="1959430" y="2177143"/>
              <a:ext cx="1621970" cy="413657"/>
            </a:xfrm>
            <a:prstGeom prst="rect">
              <a:avLst/>
            </a:prstGeom>
            <a:solidFill>
              <a:schemeClr val="accent3">
                <a:lumMod val="40000"/>
                <a:lumOff val="60000"/>
              </a:schemeClr>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i="0" u="none" strike="noStrike" kern="1200" cap="none" spc="0" normalizeH="0" baseline="0" noProof="0" dirty="0">
                  <a:ln>
                    <a:noFill/>
                  </a:ln>
                  <a:solidFill>
                    <a:schemeClr val="tx1"/>
                  </a:solidFill>
                  <a:effectLst/>
                  <a:uLnTx/>
                  <a:uFillTx/>
                  <a:latin typeface="Arial" panose="020B0604020202020204"/>
                  <a:ea typeface="+mn-ea"/>
                  <a:cs typeface="+mn-cs"/>
                </a:rPr>
                <a:t>Locator 0</a:t>
              </a:r>
            </a:p>
          </p:txBody>
        </p:sp>
        <p:sp>
          <p:nvSpPr>
            <p:cNvPr id="32" name="TextBox 31">
              <a:extLst>
                <a:ext uri="{FF2B5EF4-FFF2-40B4-BE49-F238E27FC236}">
                  <a16:creationId xmlns:a16="http://schemas.microsoft.com/office/drawing/2014/main" id="{B62BB785-CEEA-27B4-5F00-AE094D6144CE}"/>
                </a:ext>
              </a:extLst>
            </p:cNvPr>
            <p:cNvSpPr txBox="1"/>
            <p:nvPr/>
          </p:nvSpPr>
          <p:spPr>
            <a:xfrm>
              <a:off x="3581400" y="2177143"/>
              <a:ext cx="1621970" cy="413657"/>
            </a:xfrm>
            <a:prstGeom prst="rect">
              <a:avLst/>
            </a:prstGeom>
            <a:solidFill>
              <a:schemeClr val="accent4">
                <a:lumMod val="40000"/>
                <a:lumOff val="60000"/>
              </a:schemeClr>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dirty="0"/>
                <a:t>Function 0</a:t>
              </a:r>
            </a:p>
          </p:txBody>
        </p:sp>
      </p:grpSp>
      <p:sp>
        <p:nvSpPr>
          <p:cNvPr id="33" name="TextBox 32">
            <a:extLst>
              <a:ext uri="{FF2B5EF4-FFF2-40B4-BE49-F238E27FC236}">
                <a16:creationId xmlns:a16="http://schemas.microsoft.com/office/drawing/2014/main" id="{1634C2CB-6B6B-81AA-FE36-906444213B14}"/>
              </a:ext>
            </a:extLst>
          </p:cNvPr>
          <p:cNvSpPr txBox="1"/>
          <p:nvPr/>
        </p:nvSpPr>
        <p:spPr>
          <a:xfrm>
            <a:off x="5236030" y="3436914"/>
            <a:ext cx="2547256" cy="41365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chemeClr val="tx1"/>
                </a:solidFill>
                <a:effectLst/>
                <a:uLnTx/>
                <a:uFillTx/>
                <a:latin typeface="Arial" panose="020B0604020202020204"/>
                <a:ea typeface="+mn-ea"/>
                <a:cs typeface="+mn-cs"/>
              </a:rPr>
              <a:t>IPv6 DST Addr.</a:t>
            </a:r>
          </a:p>
        </p:txBody>
      </p:sp>
      <p:cxnSp>
        <p:nvCxnSpPr>
          <p:cNvPr id="36" name="Straight Arrow Connector 35">
            <a:extLst>
              <a:ext uri="{FF2B5EF4-FFF2-40B4-BE49-F238E27FC236}">
                <a16:creationId xmlns:a16="http://schemas.microsoft.com/office/drawing/2014/main" id="{3508B799-ED0E-3852-567F-4ED8BC37722C}"/>
              </a:ext>
            </a:extLst>
          </p:cNvPr>
          <p:cNvCxnSpPr>
            <a:cxnSpLocks/>
            <a:stCxn id="33" idx="3"/>
          </p:cNvCxnSpPr>
          <p:nvPr/>
        </p:nvCxnSpPr>
        <p:spPr>
          <a:xfrm>
            <a:off x="7783286" y="3643743"/>
            <a:ext cx="2623429" cy="273528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8DAE735-1CD6-2310-BB62-83985D69EA59}"/>
              </a:ext>
            </a:extLst>
          </p:cNvPr>
          <p:cNvCxnSpPr>
            <a:stCxn id="19" idx="3"/>
            <a:endCxn id="20" idx="1"/>
          </p:cNvCxnSpPr>
          <p:nvPr/>
        </p:nvCxnSpPr>
        <p:spPr>
          <a:xfrm flipV="1">
            <a:off x="1763486" y="1683160"/>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5A98E94-CBFE-69D9-5AC5-81A0C0B90AC0}"/>
              </a:ext>
            </a:extLst>
          </p:cNvPr>
          <p:cNvCxnSpPr/>
          <p:nvPr/>
        </p:nvCxnSpPr>
        <p:spPr>
          <a:xfrm flipV="1">
            <a:off x="3309255" y="167042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65A6F1C-F30D-685A-66F6-E196573FECBE}"/>
              </a:ext>
            </a:extLst>
          </p:cNvPr>
          <p:cNvCxnSpPr/>
          <p:nvPr/>
        </p:nvCxnSpPr>
        <p:spPr>
          <a:xfrm flipV="1">
            <a:off x="4855024" y="1665608"/>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1DA76F5-2D6A-7918-AB15-B8C5D6C39988}"/>
              </a:ext>
            </a:extLst>
          </p:cNvPr>
          <p:cNvCxnSpPr/>
          <p:nvPr/>
        </p:nvCxnSpPr>
        <p:spPr>
          <a:xfrm flipV="1">
            <a:off x="6389906" y="1672274"/>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5DE1137-A253-5BAE-A8BB-AE7EDD4B1E3A}"/>
              </a:ext>
            </a:extLst>
          </p:cNvPr>
          <p:cNvCxnSpPr>
            <a:cxnSpLocks/>
            <a:stCxn id="25" idx="3"/>
          </p:cNvCxnSpPr>
          <p:nvPr/>
        </p:nvCxnSpPr>
        <p:spPr>
          <a:xfrm>
            <a:off x="7946562" y="1683160"/>
            <a:ext cx="283024" cy="0"/>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C182581-03B6-CCEA-84F6-9BFB8D5F1855}"/>
              </a:ext>
            </a:extLst>
          </p:cNvPr>
          <p:cNvCxnSpPr/>
          <p:nvPr/>
        </p:nvCxnSpPr>
        <p:spPr>
          <a:xfrm flipV="1">
            <a:off x="9448783" y="1694045"/>
            <a:ext cx="304798" cy="4817"/>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5E90EF5-2A32-4E52-D0D2-EDACDD1DA825}"/>
              </a:ext>
            </a:extLst>
          </p:cNvPr>
          <p:cNvCxnSpPr>
            <a:cxnSpLocks/>
            <a:stCxn id="26" idx="0"/>
            <a:endCxn id="24" idx="2"/>
          </p:cNvCxnSpPr>
          <p:nvPr/>
        </p:nvCxnSpPr>
        <p:spPr>
          <a:xfrm flipV="1">
            <a:off x="10417615" y="206415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EE98E7B-E641-9B00-C116-9AEA1F834853}"/>
              </a:ext>
            </a:extLst>
          </p:cNvPr>
          <p:cNvCxnSpPr>
            <a:cxnSpLocks/>
          </p:cNvCxnSpPr>
          <p:nvPr/>
        </p:nvCxnSpPr>
        <p:spPr>
          <a:xfrm flipV="1">
            <a:off x="10417614" y="320151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492A3E1-13BC-741D-79A4-285D00FD981D}"/>
              </a:ext>
            </a:extLst>
          </p:cNvPr>
          <p:cNvCxnSpPr>
            <a:cxnSpLocks/>
          </p:cNvCxnSpPr>
          <p:nvPr/>
        </p:nvCxnSpPr>
        <p:spPr>
          <a:xfrm flipV="1">
            <a:off x="10406715" y="433887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8B5994E-CEED-5C83-8335-EAF11F8A89CF}"/>
              </a:ext>
            </a:extLst>
          </p:cNvPr>
          <p:cNvCxnSpPr>
            <a:cxnSpLocks/>
          </p:cNvCxnSpPr>
          <p:nvPr/>
        </p:nvCxnSpPr>
        <p:spPr>
          <a:xfrm flipV="1">
            <a:off x="10406715" y="5476239"/>
            <a:ext cx="0" cy="364344"/>
          </a:xfrm>
          <a:prstGeom prst="line">
            <a:avLst/>
          </a:prstGeom>
          <a:ln w="6032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1C76F138-7BB9-C369-6256-8CCD300EEDD3}"/>
              </a:ext>
            </a:extLst>
          </p:cNvPr>
          <p:cNvSpPr/>
          <p:nvPr/>
        </p:nvSpPr>
        <p:spPr>
          <a:xfrm>
            <a:off x="3521526" y="3385921"/>
            <a:ext cx="1714503" cy="475308"/>
          </a:xfrm>
          <a:prstGeom prst="rect">
            <a:avLst/>
          </a:prstGeom>
          <a:noFill/>
          <a:ln w="508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47411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p:cNvSpPr>
                <a:spLocks noGrp="1"/>
              </p:cNvSpPr>
              <p:nvPr>
                <p:ph type="body" sz="quarter" idx="10"/>
              </p:nvPr>
            </p:nvSpPr>
            <p:spPr>
              <a:xfrm>
                <a:off x="873919" y="939338"/>
                <a:ext cx="5076679" cy="5345083"/>
              </a:xfrm>
            </p:spPr>
            <p:txBody>
              <a:bodyPr anchor="ctr"/>
              <a:lstStyle/>
              <a:p>
                <a:r>
                  <a:rPr lang="en-US" sz="1800" dirty="0"/>
                  <a:t>Source node (1) is SR-capable</a:t>
                </a:r>
              </a:p>
              <a:p>
                <a:r>
                  <a:rPr lang="en-US" sz="1800" dirty="0"/>
                  <a:t>A node that can generate an IPv6 packet with an SRH (an SRv6 packet), or an ingress node that can impose an SRH on an IPv6 packet.</a:t>
                </a:r>
              </a:p>
              <a:p>
                <a:r>
                  <a:rPr lang="en-US" sz="1800" dirty="0"/>
                  <a:t>SR Header (SRH) is created with</a:t>
                </a:r>
              </a:p>
              <a:p>
                <a:pPr lvl="1"/>
                <a:r>
                  <a:rPr lang="en-US" sz="1800" dirty="0"/>
                  <a:t>Segment list </a:t>
                </a:r>
                <a:r>
                  <a:rPr lang="en-US" sz="1800" dirty="0">
                    <a:highlight>
                      <a:srgbClr val="FFFF00"/>
                    </a:highlight>
                  </a:rPr>
                  <a:t>in reversed order of the path</a:t>
                </a:r>
              </a:p>
              <a:p>
                <a:pPr lvl="2"/>
                <a:r>
                  <a:rPr lang="en-US" sz="1600" dirty="0"/>
                  <a:t>Segment List [ </a:t>
                </a:r>
                <a14:m>
                  <m:oMath xmlns:m="http://schemas.openxmlformats.org/officeDocument/2006/math">
                    <m:r>
                      <a:rPr lang="en-US" sz="1600" i="1" dirty="0">
                        <a:latin typeface="Cambria Math" charset="0"/>
                      </a:rPr>
                      <m:t>0</m:t>
                    </m:r>
                  </m:oMath>
                </a14:m>
                <a:r>
                  <a:rPr lang="en-US" sz="1600" dirty="0"/>
                  <a:t> ] is the LAST segment</a:t>
                </a:r>
              </a:p>
              <a:p>
                <a:pPr lvl="2"/>
                <a:r>
                  <a:rPr lang="en-US" sz="1600" dirty="0"/>
                  <a:t>Segment List [ </a:t>
                </a:r>
                <a14:m>
                  <m:oMath xmlns:m="http://schemas.openxmlformats.org/officeDocument/2006/math">
                    <m:r>
                      <a:rPr lang="en-US" sz="1600" i="1" dirty="0">
                        <a:latin typeface="Cambria Math" charset="0"/>
                      </a:rPr>
                      <m:t>𝑛</m:t>
                    </m:r>
                    <m:r>
                      <a:rPr lang="en-US" sz="1600" i="1" dirty="0">
                        <a:latin typeface="Cambria Math" charset="0"/>
                      </a:rPr>
                      <m:t>−1</m:t>
                    </m:r>
                  </m:oMath>
                </a14:m>
                <a:r>
                  <a:rPr lang="en-US" sz="1600" dirty="0"/>
                  <a:t> ] is the FIRST segment</a:t>
                </a:r>
              </a:p>
              <a:p>
                <a:pPr lvl="1"/>
                <a:r>
                  <a:rPr lang="en-US" sz="1800" dirty="0"/>
                  <a:t>Segments Left is set to </a:t>
                </a:r>
                <a14:m>
                  <m:oMath xmlns:m="http://schemas.openxmlformats.org/officeDocument/2006/math">
                    <m:r>
                      <a:rPr lang="en-US" sz="1800" i="1" dirty="0" smtClean="0">
                        <a:solidFill>
                          <a:srgbClr val="FFC000"/>
                        </a:solidFill>
                        <a:latin typeface="Cambria Math" charset="0"/>
                      </a:rPr>
                      <m:t>𝑛</m:t>
                    </m:r>
                    <m:r>
                      <a:rPr lang="en-US" sz="1800" i="1" dirty="0" smtClean="0">
                        <a:solidFill>
                          <a:srgbClr val="FFC000"/>
                        </a:solidFill>
                        <a:latin typeface="Cambria Math" charset="0"/>
                      </a:rPr>
                      <m:t>−1</m:t>
                    </m:r>
                  </m:oMath>
                </a14:m>
                <a:endParaRPr lang="en-US" sz="1800" dirty="0"/>
              </a:p>
              <a:p>
                <a:pPr lvl="1"/>
                <a:r>
                  <a:rPr lang="en-US" sz="1800" dirty="0"/>
                  <a:t>First Segment is set to </a:t>
                </a:r>
                <a14:m>
                  <m:oMath xmlns:m="http://schemas.openxmlformats.org/officeDocument/2006/math">
                    <m:r>
                      <a:rPr lang="en-US" sz="1800" i="1" dirty="0" smtClean="0">
                        <a:solidFill>
                          <a:srgbClr val="FF0000"/>
                        </a:solidFill>
                        <a:latin typeface="Cambria Math" charset="0"/>
                      </a:rPr>
                      <m:t>𝑛</m:t>
                    </m:r>
                    <m:r>
                      <a:rPr lang="en-US" sz="1800" i="1" dirty="0" smtClean="0">
                        <a:solidFill>
                          <a:srgbClr val="FF0000"/>
                        </a:solidFill>
                        <a:latin typeface="Cambria Math" charset="0"/>
                      </a:rPr>
                      <m:t>−1</m:t>
                    </m:r>
                  </m:oMath>
                </a14:m>
                <a:endParaRPr lang="en-US" sz="1800" dirty="0">
                  <a:solidFill>
                    <a:srgbClr val="FF0000"/>
                  </a:solidFill>
                </a:endParaRPr>
              </a:p>
              <a:p>
                <a:r>
                  <a:rPr lang="en-US" sz="1800" dirty="0"/>
                  <a:t>IP DA is set to the first segment</a:t>
                </a:r>
              </a:p>
              <a:p>
                <a:r>
                  <a:rPr lang="en-US" sz="1800" dirty="0"/>
                  <a:t>Packet is send according to the IP DA</a:t>
                </a:r>
              </a:p>
              <a:p>
                <a:pPr lvl="1"/>
                <a:r>
                  <a:rPr lang="en-US" sz="1800" dirty="0"/>
                  <a:t>Normal IPv6 forwarding</a:t>
                </a:r>
              </a:p>
            </p:txBody>
          </p:sp>
        </mc:Choice>
        <mc:Fallback xmlns="">
          <p:sp>
            <p:nvSpPr>
              <p:cNvPr id="4" name="Content Placeholder 3"/>
              <p:cNvSpPr>
                <a:spLocks noGrp="1" noRot="1" noChangeAspect="1" noMove="1" noResize="1" noEditPoints="1" noAdjustHandles="1" noChangeArrowheads="1" noChangeShapeType="1" noTextEdit="1"/>
              </p:cNvSpPr>
              <p:nvPr>
                <p:ph type="body" sz="quarter" idx="10"/>
              </p:nvPr>
            </p:nvSpPr>
            <p:spPr>
              <a:xfrm>
                <a:off x="873919" y="939338"/>
                <a:ext cx="5076679" cy="5345083"/>
              </a:xfrm>
              <a:blipFill>
                <a:blip r:embed="rId3"/>
                <a:stretch>
                  <a:fillRect l="-720" r="-2161" b="-1254"/>
                </a:stretch>
              </a:blipFill>
            </p:spPr>
            <p:txBody>
              <a:bodyPr/>
              <a:lstStyle/>
              <a:p>
                <a:r>
                  <a:rPr lang="en-US">
                    <a:noFill/>
                  </a:rPr>
                  <a:t> </a:t>
                </a:r>
              </a:p>
            </p:txBody>
          </p:sp>
        </mc:Fallback>
      </mc:AlternateContent>
      <p:sp>
        <p:nvSpPr>
          <p:cNvPr id="2" name="Text Placeholder 1">
            <a:extLst>
              <a:ext uri="{FF2B5EF4-FFF2-40B4-BE49-F238E27FC236}">
                <a16:creationId xmlns:a16="http://schemas.microsoft.com/office/drawing/2014/main" id="{B0741AA0-776F-C0EE-55B8-84F2090E7BD3}"/>
              </a:ext>
            </a:extLst>
          </p:cNvPr>
          <p:cNvSpPr>
            <a:spLocks noGrp="1"/>
          </p:cNvSpPr>
          <p:nvPr>
            <p:ph type="body" sz="quarter" idx="11"/>
          </p:nvPr>
        </p:nvSpPr>
        <p:spPr/>
        <p:txBody>
          <a:bodyPr/>
          <a:lstStyle/>
          <a:p>
            <a:r>
              <a:rPr lang="en-US" dirty="0"/>
              <a:t>Forwarding – Source Node</a:t>
            </a:r>
          </a:p>
        </p:txBody>
      </p:sp>
      <p:grpSp>
        <p:nvGrpSpPr>
          <p:cNvPr id="50" name="Group 49"/>
          <p:cNvGrpSpPr/>
          <p:nvPr/>
        </p:nvGrpSpPr>
        <p:grpSpPr>
          <a:xfrm>
            <a:off x="6613625" y="3471599"/>
            <a:ext cx="5279692" cy="2902544"/>
            <a:chOff x="411949" y="2639259"/>
            <a:chExt cx="3959769" cy="2176908"/>
          </a:xfrm>
        </p:grpSpPr>
        <p:sp>
          <p:nvSpPr>
            <p:cNvPr id="51" name="Rectangle 50"/>
            <p:cNvSpPr/>
            <p:nvPr/>
          </p:nvSpPr>
          <p:spPr>
            <a:xfrm>
              <a:off x="609808" y="2642648"/>
              <a:ext cx="661308" cy="221064"/>
            </a:xfrm>
            <a:prstGeom prst="rect">
              <a:avLst/>
            </a:prstGeom>
            <a:solidFill>
              <a:schemeClr val="accent4">
                <a:lumMod val="40000"/>
                <a:lumOff val="60000"/>
              </a:schemeClr>
            </a:solidFill>
            <a:ln w="9525">
              <a:solidFill>
                <a:schemeClr val="accent4">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Version</a:t>
              </a:r>
            </a:p>
          </p:txBody>
        </p:sp>
        <p:sp>
          <p:nvSpPr>
            <p:cNvPr id="52" name="Rectangle 51"/>
            <p:cNvSpPr/>
            <p:nvPr/>
          </p:nvSpPr>
          <p:spPr>
            <a:xfrm>
              <a:off x="1271116" y="2642648"/>
              <a:ext cx="974691" cy="221064"/>
            </a:xfrm>
            <a:prstGeom prst="rect">
              <a:avLst/>
            </a:prstGeom>
            <a:solidFill>
              <a:schemeClr val="accent4">
                <a:lumMod val="40000"/>
                <a:lumOff val="60000"/>
              </a:schemeClr>
            </a:solidFill>
            <a:ln w="9525">
              <a:solidFill>
                <a:schemeClr val="accent4">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Traffic Class</a:t>
              </a:r>
            </a:p>
          </p:txBody>
        </p:sp>
        <p:sp>
          <p:nvSpPr>
            <p:cNvPr id="53" name="Rectangle 52"/>
            <p:cNvSpPr/>
            <p:nvPr/>
          </p:nvSpPr>
          <p:spPr>
            <a:xfrm>
              <a:off x="2487592" y="2861234"/>
              <a:ext cx="938895" cy="221064"/>
            </a:xfrm>
            <a:prstGeom prst="rect">
              <a:avLst/>
            </a:prstGeom>
            <a:solidFill>
              <a:schemeClr val="accent4">
                <a:lumMod val="40000"/>
                <a:lumOff val="60000"/>
              </a:schemeClr>
            </a:solidFill>
            <a:ln w="9525">
              <a:solidFill>
                <a:schemeClr val="accent4">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Next = 43</a:t>
              </a:r>
            </a:p>
          </p:txBody>
        </p:sp>
        <p:sp>
          <p:nvSpPr>
            <p:cNvPr id="54" name="Rectangle 53"/>
            <p:cNvSpPr/>
            <p:nvPr/>
          </p:nvSpPr>
          <p:spPr>
            <a:xfrm>
              <a:off x="3426487" y="2861234"/>
              <a:ext cx="938895" cy="221064"/>
            </a:xfrm>
            <a:prstGeom prst="rect">
              <a:avLst/>
            </a:prstGeom>
            <a:solidFill>
              <a:schemeClr val="accent4">
                <a:lumMod val="40000"/>
                <a:lumOff val="60000"/>
              </a:schemeClr>
            </a:solidFill>
            <a:ln w="9525">
              <a:solidFill>
                <a:schemeClr val="accent4">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Hop Limit</a:t>
              </a:r>
            </a:p>
          </p:txBody>
        </p:sp>
        <p:sp>
          <p:nvSpPr>
            <p:cNvPr id="55" name="Rectangle 54"/>
            <p:cNvSpPr/>
            <p:nvPr/>
          </p:nvSpPr>
          <p:spPr>
            <a:xfrm>
              <a:off x="609807" y="2861234"/>
              <a:ext cx="1877790" cy="221064"/>
            </a:xfrm>
            <a:prstGeom prst="rect">
              <a:avLst/>
            </a:prstGeom>
            <a:solidFill>
              <a:schemeClr val="accent4">
                <a:lumMod val="40000"/>
                <a:lumOff val="60000"/>
              </a:schemeClr>
            </a:solidFill>
            <a:ln w="9525">
              <a:solidFill>
                <a:schemeClr val="accent4">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a:solidFill>
                    <a:srgbClr val="676767"/>
                  </a:solidFill>
                </a:rPr>
                <a:t>Payload Length</a:t>
              </a:r>
              <a:endParaRPr lang="en-US" sz="1467" dirty="0">
                <a:solidFill>
                  <a:srgbClr val="676767"/>
                </a:solidFill>
              </a:endParaRPr>
            </a:p>
          </p:txBody>
        </p:sp>
        <p:sp>
          <p:nvSpPr>
            <p:cNvPr id="56" name="Rectangle 55"/>
            <p:cNvSpPr/>
            <p:nvPr/>
          </p:nvSpPr>
          <p:spPr>
            <a:xfrm>
              <a:off x="609800" y="3079820"/>
              <a:ext cx="3755581" cy="221064"/>
            </a:xfrm>
            <a:prstGeom prst="rect">
              <a:avLst/>
            </a:prstGeom>
            <a:solidFill>
              <a:schemeClr val="accent4">
                <a:lumMod val="40000"/>
                <a:lumOff val="60000"/>
              </a:schemeClr>
            </a:solidFill>
            <a:ln w="9525">
              <a:solidFill>
                <a:schemeClr val="accent4">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Source Address = A1::</a:t>
              </a:r>
            </a:p>
          </p:txBody>
        </p:sp>
        <p:sp>
          <p:nvSpPr>
            <p:cNvPr id="57" name="Rectangle 56"/>
            <p:cNvSpPr/>
            <p:nvPr/>
          </p:nvSpPr>
          <p:spPr>
            <a:xfrm>
              <a:off x="609799" y="3298406"/>
              <a:ext cx="3755581" cy="221064"/>
            </a:xfrm>
            <a:prstGeom prst="rect">
              <a:avLst/>
            </a:prstGeom>
            <a:solidFill>
              <a:schemeClr val="accent4">
                <a:lumMod val="40000"/>
                <a:lumOff val="60000"/>
              </a:schemeClr>
            </a:solidFill>
            <a:ln w="9525">
              <a:solidFill>
                <a:schemeClr val="accent4">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Destination Address = </a:t>
              </a:r>
              <a:r>
                <a:rPr lang="en-US" sz="1467" b="1" dirty="0">
                  <a:solidFill>
                    <a:schemeClr val="tx1"/>
                  </a:solidFill>
                </a:rPr>
                <a:t>A2::</a:t>
              </a:r>
            </a:p>
          </p:txBody>
        </p:sp>
        <p:sp>
          <p:nvSpPr>
            <p:cNvPr id="58" name="Rectangle 57"/>
            <p:cNvSpPr/>
            <p:nvPr/>
          </p:nvSpPr>
          <p:spPr>
            <a:xfrm>
              <a:off x="609795" y="3963776"/>
              <a:ext cx="3755581"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Segment List [ 0 ] = A4::</a:t>
              </a:r>
            </a:p>
          </p:txBody>
        </p:sp>
        <p:sp>
          <p:nvSpPr>
            <p:cNvPr id="59" name="Rectangle 58"/>
            <p:cNvSpPr/>
            <p:nvPr/>
          </p:nvSpPr>
          <p:spPr>
            <a:xfrm>
              <a:off x="609795" y="4176317"/>
              <a:ext cx="3755581"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Segment List [ 1 ] = A3::</a:t>
              </a:r>
            </a:p>
          </p:txBody>
        </p:sp>
        <p:sp>
          <p:nvSpPr>
            <p:cNvPr id="60" name="Rectangle 59"/>
            <p:cNvSpPr/>
            <p:nvPr/>
          </p:nvSpPr>
          <p:spPr>
            <a:xfrm>
              <a:off x="609798" y="3520559"/>
              <a:ext cx="938895"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676767"/>
                  </a:solidFill>
                </a:rPr>
                <a:t>Next Header</a:t>
              </a:r>
            </a:p>
          </p:txBody>
        </p:sp>
        <p:sp>
          <p:nvSpPr>
            <p:cNvPr id="61" name="Rectangle 60"/>
            <p:cNvSpPr/>
            <p:nvPr/>
          </p:nvSpPr>
          <p:spPr>
            <a:xfrm>
              <a:off x="1548693" y="3521648"/>
              <a:ext cx="938895"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Len= 6</a:t>
              </a:r>
            </a:p>
          </p:txBody>
        </p:sp>
        <p:sp>
          <p:nvSpPr>
            <p:cNvPr id="62" name="Rectangle 61"/>
            <p:cNvSpPr/>
            <p:nvPr/>
          </p:nvSpPr>
          <p:spPr>
            <a:xfrm>
              <a:off x="2487587" y="3521648"/>
              <a:ext cx="938895"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Type = 4</a:t>
              </a:r>
            </a:p>
          </p:txBody>
        </p:sp>
        <p:sp>
          <p:nvSpPr>
            <p:cNvPr id="63" name="Rectangle 62"/>
            <p:cNvSpPr/>
            <p:nvPr/>
          </p:nvSpPr>
          <p:spPr>
            <a:xfrm>
              <a:off x="3426482" y="3521648"/>
              <a:ext cx="938895"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SL = </a:t>
              </a:r>
              <a:r>
                <a:rPr lang="en-US" sz="1467" b="1" dirty="0">
                  <a:solidFill>
                    <a:srgbClr val="FF0000"/>
                  </a:solidFill>
                </a:rPr>
                <a:t>2</a:t>
              </a:r>
            </a:p>
          </p:txBody>
        </p:sp>
        <p:sp>
          <p:nvSpPr>
            <p:cNvPr id="64" name="Rectangle 63"/>
            <p:cNvSpPr/>
            <p:nvPr/>
          </p:nvSpPr>
          <p:spPr>
            <a:xfrm>
              <a:off x="609795" y="3745361"/>
              <a:ext cx="938895" cy="218415"/>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First = </a:t>
              </a:r>
              <a:r>
                <a:rPr lang="en-US" sz="1467" b="1" dirty="0">
                  <a:solidFill>
                    <a:srgbClr val="FFC000"/>
                  </a:solidFill>
                </a:rPr>
                <a:t>2</a:t>
              </a:r>
            </a:p>
          </p:txBody>
        </p:sp>
        <p:sp>
          <p:nvSpPr>
            <p:cNvPr id="65" name="Rectangle 64"/>
            <p:cNvSpPr/>
            <p:nvPr/>
          </p:nvSpPr>
          <p:spPr>
            <a:xfrm>
              <a:off x="1548690" y="3742712"/>
              <a:ext cx="938864"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Flags</a:t>
              </a:r>
            </a:p>
          </p:txBody>
        </p:sp>
        <p:sp>
          <p:nvSpPr>
            <p:cNvPr id="66" name="Rectangle 65"/>
            <p:cNvSpPr/>
            <p:nvPr/>
          </p:nvSpPr>
          <p:spPr>
            <a:xfrm>
              <a:off x="2487555" y="3742855"/>
              <a:ext cx="1877816"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676767"/>
                  </a:solidFill>
                </a:rPr>
                <a:t>TAG</a:t>
              </a:r>
            </a:p>
          </p:txBody>
        </p:sp>
        <p:sp>
          <p:nvSpPr>
            <p:cNvPr id="67" name="Rectángulo redondeado 64"/>
            <p:cNvSpPr/>
            <p:nvPr/>
          </p:nvSpPr>
          <p:spPr>
            <a:xfrm rot="16200000">
              <a:off x="69450" y="2981790"/>
              <a:ext cx="882860" cy="197798"/>
            </a:xfrm>
            <a:prstGeom prst="round1Rect">
              <a:avLst/>
            </a:prstGeom>
            <a:solidFill>
              <a:schemeClr val="accent4">
                <a:lumMod val="75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r>
                <a:rPr lang="es-ES_tradnl" sz="1467" dirty="0">
                  <a:solidFill>
                    <a:srgbClr val="FFFFFF"/>
                  </a:solidFill>
                </a:rPr>
                <a:t>IPv6 </a:t>
              </a:r>
              <a:r>
                <a:rPr lang="es-ES_tradnl" sz="1467" dirty="0" err="1">
                  <a:solidFill>
                    <a:srgbClr val="FFFFFF"/>
                  </a:solidFill>
                </a:rPr>
                <a:t>Hdr</a:t>
              </a:r>
              <a:endParaRPr lang="es-ES_tradnl" sz="1467" b="1" dirty="0">
                <a:solidFill>
                  <a:srgbClr val="FFC000"/>
                </a:solidFill>
              </a:endParaRPr>
            </a:p>
          </p:txBody>
        </p:sp>
        <p:sp>
          <p:nvSpPr>
            <p:cNvPr id="68" name="Rectangle 67"/>
            <p:cNvSpPr/>
            <p:nvPr/>
          </p:nvSpPr>
          <p:spPr>
            <a:xfrm>
              <a:off x="609787" y="4386209"/>
              <a:ext cx="3755581"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Segment List [ 2 ] = </a:t>
              </a:r>
              <a:r>
                <a:rPr lang="en-US" sz="1467" b="1" dirty="0">
                  <a:solidFill>
                    <a:srgbClr val="FA661C"/>
                  </a:solidFill>
                </a:rPr>
                <a:t>A2::</a:t>
              </a:r>
            </a:p>
          </p:txBody>
        </p:sp>
        <p:sp>
          <p:nvSpPr>
            <p:cNvPr id="69" name="Rectángulo redondeado 65"/>
            <p:cNvSpPr/>
            <p:nvPr/>
          </p:nvSpPr>
          <p:spPr>
            <a:xfrm rot="16200000">
              <a:off x="-33023" y="3964481"/>
              <a:ext cx="1087804" cy="197783"/>
            </a:xfrm>
            <a:prstGeom prst="rect">
              <a:avLst/>
            </a:prstGeom>
            <a:solidFill>
              <a:schemeClr val="tx2">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467" dirty="0">
                  <a:solidFill>
                    <a:srgbClr val="FFFFFF"/>
                  </a:solidFill>
                </a:rPr>
                <a:t>SR </a:t>
              </a:r>
              <a:r>
                <a:rPr lang="es-ES_tradnl" sz="1467" dirty="0" err="1">
                  <a:solidFill>
                    <a:srgbClr val="FFFFFF"/>
                  </a:solidFill>
                </a:rPr>
                <a:t>Hdr</a:t>
              </a:r>
              <a:endParaRPr lang="es-ES_tradnl" sz="1467" dirty="0">
                <a:solidFill>
                  <a:srgbClr val="FFFFFF"/>
                </a:solidFill>
              </a:endParaRPr>
            </a:p>
          </p:txBody>
        </p:sp>
        <p:sp>
          <p:nvSpPr>
            <p:cNvPr id="70" name="Rectangle 69"/>
            <p:cNvSpPr/>
            <p:nvPr/>
          </p:nvSpPr>
          <p:spPr>
            <a:xfrm>
              <a:off x="609780" y="4595103"/>
              <a:ext cx="3581220" cy="221064"/>
            </a:xfrm>
            <a:prstGeom prst="rect">
              <a:avLst/>
            </a:prstGeom>
            <a:solidFill>
              <a:schemeClr val="tx1">
                <a:lumMod val="40000"/>
                <a:lumOff val="60000"/>
              </a:schemeClr>
            </a:solidFill>
            <a:ln w="9525">
              <a:no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Payload</a:t>
              </a:r>
            </a:p>
          </p:txBody>
        </p:sp>
        <p:sp>
          <p:nvSpPr>
            <p:cNvPr id="71" name="Rectángulo redondeado 64"/>
            <p:cNvSpPr/>
            <p:nvPr/>
          </p:nvSpPr>
          <p:spPr>
            <a:xfrm rot="10800000">
              <a:off x="411949" y="4595103"/>
              <a:ext cx="197811" cy="221062"/>
            </a:xfrm>
            <a:prstGeom prst="round1Rect">
              <a:avLst/>
            </a:prstGeom>
            <a:solidFill>
              <a:schemeClr val="tx1">
                <a:lumMod val="40000"/>
                <a:lumOff val="6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467" b="1" dirty="0">
                <a:solidFill>
                  <a:srgbClr val="FFC000"/>
                </a:solidFill>
              </a:endParaRPr>
            </a:p>
          </p:txBody>
        </p:sp>
        <p:sp>
          <p:nvSpPr>
            <p:cNvPr id="72" name="Rectángulo redondeado 64"/>
            <p:cNvSpPr/>
            <p:nvPr/>
          </p:nvSpPr>
          <p:spPr>
            <a:xfrm rot="5400000">
              <a:off x="4160388" y="4604837"/>
              <a:ext cx="221059" cy="201600"/>
            </a:xfrm>
            <a:prstGeom prst="round1Rect">
              <a:avLst/>
            </a:prstGeom>
            <a:solidFill>
              <a:schemeClr val="tx1">
                <a:lumMod val="40000"/>
                <a:lumOff val="6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467" b="1" dirty="0">
                <a:solidFill>
                  <a:srgbClr val="FFC000"/>
                </a:solidFill>
              </a:endParaRPr>
            </a:p>
          </p:txBody>
        </p:sp>
        <p:sp>
          <p:nvSpPr>
            <p:cNvPr id="73" name="Rectángulo redondeado 64"/>
            <p:cNvSpPr/>
            <p:nvPr/>
          </p:nvSpPr>
          <p:spPr>
            <a:xfrm>
              <a:off x="4162049" y="2642505"/>
              <a:ext cx="203320" cy="218585"/>
            </a:xfrm>
            <a:prstGeom prst="round1Rect">
              <a:avLst/>
            </a:prstGeom>
            <a:solidFill>
              <a:schemeClr val="accent4">
                <a:lumMod val="40000"/>
                <a:lumOff val="60000"/>
              </a:schemeClr>
            </a:solidFill>
            <a:ln w="9525">
              <a:solidFill>
                <a:schemeClr val="accent4">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467" b="1" dirty="0">
                <a:solidFill>
                  <a:srgbClr val="FFC000"/>
                </a:solidFill>
              </a:endParaRPr>
            </a:p>
          </p:txBody>
        </p:sp>
        <p:sp>
          <p:nvSpPr>
            <p:cNvPr id="74" name="Rectangle 73"/>
            <p:cNvSpPr/>
            <p:nvPr/>
          </p:nvSpPr>
          <p:spPr>
            <a:xfrm>
              <a:off x="2245802" y="2642648"/>
              <a:ext cx="2005523" cy="218586"/>
            </a:xfrm>
            <a:prstGeom prst="rect">
              <a:avLst/>
            </a:prstGeom>
            <a:solidFill>
              <a:schemeClr val="accent4">
                <a:lumMod val="40000"/>
                <a:lumOff val="60000"/>
              </a:schemeClr>
            </a:solidFill>
            <a:ln w="9525">
              <a:solidFill>
                <a:schemeClr val="accent4">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Flow Label</a:t>
              </a:r>
            </a:p>
          </p:txBody>
        </p:sp>
        <p:sp>
          <p:nvSpPr>
            <p:cNvPr id="75" name="Rectangle 74"/>
            <p:cNvSpPr/>
            <p:nvPr/>
          </p:nvSpPr>
          <p:spPr>
            <a:xfrm>
              <a:off x="2306126" y="2648836"/>
              <a:ext cx="1992823" cy="205264"/>
            </a:xfrm>
            <a:prstGeom prst="rect">
              <a:avLst/>
            </a:prstGeom>
            <a:solidFill>
              <a:schemeClr val="accent4">
                <a:lumMod val="40000"/>
                <a:lumOff val="60000"/>
              </a:schemeClr>
            </a:solidFill>
            <a:ln w="9525">
              <a:no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Flow Label</a:t>
              </a:r>
            </a:p>
          </p:txBody>
        </p:sp>
      </p:grpSp>
      <p:cxnSp>
        <p:nvCxnSpPr>
          <p:cNvPr id="76" name="Conector recto de flecha 27"/>
          <p:cNvCxnSpPr>
            <a:stCxn id="118" idx="6"/>
            <a:endCxn id="120" idx="2"/>
          </p:cNvCxnSpPr>
          <p:nvPr/>
        </p:nvCxnSpPr>
        <p:spPr>
          <a:xfrm>
            <a:off x="9262896" y="1332245"/>
            <a:ext cx="663025" cy="0"/>
          </a:xfrm>
          <a:prstGeom prst="straightConnector1">
            <a:avLst/>
          </a:prstGeom>
          <a:ln w="317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7" name="Conector recto de flecha 27"/>
          <p:cNvCxnSpPr>
            <a:stCxn id="81" idx="6"/>
            <a:endCxn id="137" idx="2"/>
          </p:cNvCxnSpPr>
          <p:nvPr/>
        </p:nvCxnSpPr>
        <p:spPr>
          <a:xfrm>
            <a:off x="7103573" y="1332245"/>
            <a:ext cx="663025" cy="0"/>
          </a:xfrm>
          <a:prstGeom prst="straightConnector1">
            <a:avLst/>
          </a:prstGeom>
          <a:ln w="317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80" name="Elipse 11"/>
          <p:cNvSpPr/>
          <p:nvPr/>
        </p:nvSpPr>
        <p:spPr>
          <a:xfrm>
            <a:off x="11164944" y="1044245"/>
            <a:ext cx="576000" cy="576000"/>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b="1" dirty="0">
                <a:solidFill>
                  <a:srgbClr val="676767"/>
                </a:solidFill>
              </a:rPr>
              <a:t>4</a:t>
            </a:r>
          </a:p>
          <a:p>
            <a:pPr algn="ctr"/>
            <a:r>
              <a:rPr lang="es-ES_tradnl" sz="1200" b="1" dirty="0">
                <a:solidFill>
                  <a:srgbClr val="676767"/>
                </a:solidFill>
              </a:rPr>
              <a:t>A4::</a:t>
            </a:r>
            <a:endParaRPr lang="es-ES_tradnl" sz="1200" dirty="0">
              <a:solidFill>
                <a:srgbClr val="676767"/>
              </a:solidFill>
            </a:endParaRPr>
          </a:p>
        </p:txBody>
      </p:sp>
      <p:sp>
        <p:nvSpPr>
          <p:cNvPr id="81" name="Elipse 11"/>
          <p:cNvSpPr/>
          <p:nvPr/>
        </p:nvSpPr>
        <p:spPr>
          <a:xfrm>
            <a:off x="6527572" y="1044245"/>
            <a:ext cx="576000" cy="576000"/>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b="1" dirty="0">
                <a:solidFill>
                  <a:srgbClr val="676767"/>
                </a:solidFill>
              </a:rPr>
              <a:t>1</a:t>
            </a:r>
          </a:p>
          <a:p>
            <a:pPr algn="ctr"/>
            <a:r>
              <a:rPr lang="es-ES_tradnl" sz="1200" b="1" dirty="0">
                <a:solidFill>
                  <a:srgbClr val="676767"/>
                </a:solidFill>
              </a:rPr>
              <a:t>A1::</a:t>
            </a:r>
            <a:endParaRPr lang="es-ES_tradnl" sz="1200" dirty="0">
              <a:solidFill>
                <a:srgbClr val="676767"/>
              </a:solidFill>
            </a:endParaRPr>
          </a:p>
        </p:txBody>
      </p:sp>
      <p:grpSp>
        <p:nvGrpSpPr>
          <p:cNvPr id="109" name="Group 108"/>
          <p:cNvGrpSpPr/>
          <p:nvPr/>
        </p:nvGrpSpPr>
        <p:grpSpPr>
          <a:xfrm>
            <a:off x="5874272" y="1734051"/>
            <a:ext cx="2126789" cy="644528"/>
            <a:chOff x="3435803" y="1769864"/>
            <a:chExt cx="1496396" cy="483396"/>
          </a:xfrm>
        </p:grpSpPr>
        <p:sp>
          <p:nvSpPr>
            <p:cNvPr id="110" name="Rectángulo redondeado 65"/>
            <p:cNvSpPr/>
            <p:nvPr/>
          </p:nvSpPr>
          <p:spPr>
            <a:xfrm>
              <a:off x="3435803" y="1930995"/>
              <a:ext cx="434863" cy="161131"/>
            </a:xfrm>
            <a:prstGeom prst="rect">
              <a:avLst/>
            </a:prstGeom>
            <a:solidFill>
              <a:schemeClr val="tx2">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FFFFFF"/>
                  </a:solidFill>
                </a:rPr>
                <a:t>SR </a:t>
              </a:r>
              <a:r>
                <a:rPr lang="es-ES_tradnl" sz="1067" dirty="0" err="1">
                  <a:solidFill>
                    <a:srgbClr val="FFFFFF"/>
                  </a:solidFill>
                </a:rPr>
                <a:t>Hdr</a:t>
              </a:r>
              <a:endParaRPr lang="es-ES_tradnl" sz="1067" dirty="0">
                <a:solidFill>
                  <a:srgbClr val="FFFFFF"/>
                </a:solidFill>
              </a:endParaRPr>
            </a:p>
          </p:txBody>
        </p:sp>
        <p:sp>
          <p:nvSpPr>
            <p:cNvPr id="111" name="Rectángulo redondeado 64"/>
            <p:cNvSpPr/>
            <p:nvPr/>
          </p:nvSpPr>
          <p:spPr>
            <a:xfrm rot="16200000">
              <a:off x="3572670" y="1632999"/>
              <a:ext cx="161130" cy="434861"/>
            </a:xfrm>
            <a:prstGeom prst="round1Rect">
              <a:avLst/>
            </a:prstGeom>
            <a:solidFill>
              <a:schemeClr val="accent4">
                <a:lumMod val="75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 lIns="0" tIns="0" rIns="0" bIns="0" rtlCol="0" anchor="ctr"/>
            <a:lstStyle/>
            <a:p>
              <a:pPr algn="ctr"/>
              <a:r>
                <a:rPr lang="es-ES_tradnl" sz="1067" dirty="0">
                  <a:solidFill>
                    <a:srgbClr val="FFFFFF"/>
                  </a:solidFill>
                </a:rPr>
                <a:t>IPv6 </a:t>
              </a:r>
              <a:r>
                <a:rPr lang="es-ES_tradnl" sz="1067" dirty="0" err="1">
                  <a:solidFill>
                    <a:srgbClr val="FFFFFF"/>
                  </a:solidFill>
                </a:rPr>
                <a:t>Hdr</a:t>
              </a:r>
              <a:endParaRPr lang="es-ES_tradnl" sz="1067" b="1" dirty="0">
                <a:solidFill>
                  <a:srgbClr val="FFC000"/>
                </a:solidFill>
              </a:endParaRPr>
            </a:p>
          </p:txBody>
        </p:sp>
        <p:sp>
          <p:nvSpPr>
            <p:cNvPr id="112" name="Rectángulo redondeado 64"/>
            <p:cNvSpPr/>
            <p:nvPr/>
          </p:nvSpPr>
          <p:spPr>
            <a:xfrm>
              <a:off x="3870665" y="1769864"/>
              <a:ext cx="1061533" cy="161131"/>
            </a:xfrm>
            <a:prstGeom prst="round1Rect">
              <a:avLst/>
            </a:prstGeom>
            <a:solidFill>
              <a:schemeClr val="accent4">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r>
                <a:rPr lang="es-ES_tradnl" sz="1067" dirty="0">
                  <a:solidFill>
                    <a:srgbClr val="676767"/>
                  </a:solidFill>
                </a:rPr>
                <a:t>SA = A1::, DA = </a:t>
              </a:r>
              <a:r>
                <a:rPr lang="es-ES_tradnl" sz="1067" b="1" dirty="0">
                  <a:solidFill>
                    <a:schemeClr val="tx1"/>
                  </a:solidFill>
                </a:rPr>
                <a:t>A2::</a:t>
              </a:r>
            </a:p>
          </p:txBody>
        </p:sp>
        <p:sp>
          <p:nvSpPr>
            <p:cNvPr id="113" name="Rectángulo redondeado 65"/>
            <p:cNvSpPr/>
            <p:nvPr/>
          </p:nvSpPr>
          <p:spPr>
            <a:xfrm>
              <a:off x="3870666" y="1930994"/>
              <a:ext cx="1061533" cy="161131"/>
            </a:xfrm>
            <a:prstGeom prst="rect">
              <a:avLst/>
            </a:prstGeom>
            <a:solidFill>
              <a:schemeClr val="tx2">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676767"/>
                  </a:solidFill>
                </a:rPr>
                <a:t>( A4::, A3::, </a:t>
              </a:r>
              <a:r>
                <a:rPr lang="es-ES_tradnl" sz="1067" b="1" dirty="0">
                  <a:solidFill>
                    <a:srgbClr val="FA661C"/>
                  </a:solidFill>
                </a:rPr>
                <a:t>A2:: </a:t>
              </a:r>
              <a:r>
                <a:rPr lang="es-ES_tradnl" sz="1067" dirty="0">
                  <a:solidFill>
                    <a:srgbClr val="676767"/>
                  </a:solidFill>
                </a:rPr>
                <a:t>) SL=</a:t>
              </a:r>
              <a:r>
                <a:rPr lang="es-ES_tradnl" sz="1067" b="1" dirty="0">
                  <a:solidFill>
                    <a:srgbClr val="FF0000"/>
                  </a:solidFill>
                </a:rPr>
                <a:t>2</a:t>
              </a:r>
            </a:p>
          </p:txBody>
        </p:sp>
        <p:grpSp>
          <p:nvGrpSpPr>
            <p:cNvPr id="114" name="Group 113"/>
            <p:cNvGrpSpPr/>
            <p:nvPr/>
          </p:nvGrpSpPr>
          <p:grpSpPr>
            <a:xfrm>
              <a:off x="3435803" y="2092128"/>
              <a:ext cx="1496396" cy="161132"/>
              <a:chOff x="3435803" y="2345672"/>
              <a:chExt cx="1496396" cy="161132"/>
            </a:xfrm>
          </p:grpSpPr>
          <p:sp>
            <p:nvSpPr>
              <p:cNvPr id="115" name="Rectángulo redondeado 66"/>
              <p:cNvSpPr/>
              <p:nvPr/>
            </p:nvSpPr>
            <p:spPr>
              <a:xfrm rot="10800000">
                <a:off x="3435805" y="2345672"/>
                <a:ext cx="1496394" cy="161131"/>
              </a:xfrm>
              <a:prstGeom prst="round2SameRect">
                <a:avLst/>
              </a:prstGeom>
              <a:solidFill>
                <a:schemeClr val="tx1">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067" dirty="0">
                  <a:solidFill>
                    <a:srgbClr val="FFFFFF"/>
                  </a:solidFill>
                </a:endParaRPr>
              </a:p>
            </p:txBody>
          </p:sp>
          <p:sp>
            <p:nvSpPr>
              <p:cNvPr id="116" name="TextBox 115"/>
              <p:cNvSpPr txBox="1"/>
              <p:nvPr/>
            </p:nvSpPr>
            <p:spPr>
              <a:xfrm>
                <a:off x="3435803" y="2345673"/>
                <a:ext cx="1496396" cy="161131"/>
              </a:xfrm>
              <a:prstGeom prst="rect">
                <a:avLst/>
              </a:prstGeom>
              <a:noFill/>
            </p:spPr>
            <p:txBody>
              <a:bodyPr wrap="square" lIns="0" tIns="0" rIns="0" bIns="0" rtlCol="0" anchor="ctr">
                <a:normAutofit/>
              </a:bodyPr>
              <a:lstStyle/>
              <a:p>
                <a:pPr algn="ctr"/>
                <a:r>
                  <a:rPr lang="es-ES_tradnl" sz="1067" dirty="0" err="1">
                    <a:solidFill>
                      <a:srgbClr val="FFFFFF">
                        <a:lumMod val="50000"/>
                      </a:srgbClr>
                    </a:solidFill>
                    <a:latin typeface="Arial"/>
                  </a:rPr>
                  <a:t>Payload</a:t>
                </a:r>
                <a:endParaRPr lang="es-ES_tradnl" sz="1067" dirty="0">
                  <a:solidFill>
                    <a:srgbClr val="FFFFFF">
                      <a:lumMod val="50000"/>
                    </a:srgbClr>
                  </a:solidFill>
                  <a:latin typeface="Arial"/>
                </a:endParaRPr>
              </a:p>
            </p:txBody>
          </p:sp>
        </p:grpSp>
      </p:grpSp>
      <p:sp>
        <p:nvSpPr>
          <p:cNvPr id="118" name="Elipse 11"/>
          <p:cNvSpPr/>
          <p:nvPr/>
        </p:nvSpPr>
        <p:spPr>
          <a:xfrm>
            <a:off x="8686895" y="1044245"/>
            <a:ext cx="576000" cy="576000"/>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b="1" dirty="0">
                <a:solidFill>
                  <a:srgbClr val="676767"/>
                </a:solidFill>
              </a:rPr>
              <a:t>2</a:t>
            </a:r>
          </a:p>
          <a:p>
            <a:pPr algn="ctr"/>
            <a:r>
              <a:rPr lang="es-ES_tradnl" sz="1200" b="1" dirty="0">
                <a:solidFill>
                  <a:srgbClr val="676767"/>
                </a:solidFill>
              </a:rPr>
              <a:t>A2::</a:t>
            </a:r>
            <a:endParaRPr lang="es-ES_tradnl" sz="1200" dirty="0">
              <a:solidFill>
                <a:srgbClr val="676767"/>
              </a:solidFill>
            </a:endParaRPr>
          </a:p>
        </p:txBody>
      </p:sp>
      <p:sp>
        <p:nvSpPr>
          <p:cNvPr id="120" name="Elipse 11"/>
          <p:cNvSpPr/>
          <p:nvPr/>
        </p:nvSpPr>
        <p:spPr>
          <a:xfrm>
            <a:off x="9925920" y="1044245"/>
            <a:ext cx="576000" cy="576000"/>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b="1" dirty="0">
                <a:solidFill>
                  <a:srgbClr val="676767"/>
                </a:solidFill>
              </a:rPr>
              <a:t>3</a:t>
            </a:r>
          </a:p>
          <a:p>
            <a:pPr algn="ctr"/>
            <a:r>
              <a:rPr lang="es-ES_tradnl" sz="1200" b="1" dirty="0">
                <a:solidFill>
                  <a:srgbClr val="676767"/>
                </a:solidFill>
              </a:rPr>
              <a:t>A3::</a:t>
            </a:r>
            <a:endParaRPr lang="es-ES_tradnl" sz="1200" dirty="0">
              <a:solidFill>
                <a:srgbClr val="676767"/>
              </a:solidFill>
            </a:endParaRPr>
          </a:p>
        </p:txBody>
      </p:sp>
      <p:cxnSp>
        <p:nvCxnSpPr>
          <p:cNvPr id="126" name="Conector recto de flecha 27"/>
          <p:cNvCxnSpPr>
            <a:stCxn id="120" idx="6"/>
            <a:endCxn id="80" idx="2"/>
          </p:cNvCxnSpPr>
          <p:nvPr/>
        </p:nvCxnSpPr>
        <p:spPr>
          <a:xfrm>
            <a:off x="10501920" y="1332245"/>
            <a:ext cx="663024" cy="0"/>
          </a:xfrm>
          <a:prstGeom prst="straightConnector1">
            <a:avLst/>
          </a:prstGeom>
          <a:ln w="317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a:stCxn id="116" idx="1"/>
            <a:endCxn id="71" idx="3"/>
          </p:cNvCxnSpPr>
          <p:nvPr/>
        </p:nvCxnSpPr>
        <p:spPr>
          <a:xfrm>
            <a:off x="5874272" y="2271159"/>
            <a:ext cx="739352" cy="3955607"/>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a:stCxn id="112" idx="3"/>
            <a:endCxn id="73" idx="0"/>
          </p:cNvCxnSpPr>
          <p:nvPr/>
        </p:nvCxnSpPr>
        <p:spPr>
          <a:xfrm>
            <a:off x="8001061" y="1841473"/>
            <a:ext cx="3748244" cy="1634455"/>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37" name="Elipse 11"/>
          <p:cNvSpPr/>
          <p:nvPr/>
        </p:nvSpPr>
        <p:spPr>
          <a:xfrm>
            <a:off x="7766597" y="1203609"/>
            <a:ext cx="257272" cy="257272"/>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dirty="0">
                <a:solidFill>
                  <a:srgbClr val="676767"/>
                </a:solidFill>
              </a:rPr>
              <a:t>R</a:t>
            </a:r>
          </a:p>
        </p:txBody>
      </p:sp>
      <p:sp>
        <p:nvSpPr>
          <p:cNvPr id="138" name="Down Arrow 137"/>
          <p:cNvSpPr/>
          <p:nvPr/>
        </p:nvSpPr>
        <p:spPr>
          <a:xfrm>
            <a:off x="6726720" y="559905"/>
            <a:ext cx="177705" cy="363547"/>
          </a:xfrm>
          <a:prstGeom prst="downArrow">
            <a:avLst/>
          </a:prstGeom>
          <a:noFill/>
          <a:ln w="9525">
            <a:solidFill>
              <a:srgbClr val="C00000"/>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FFFFFF"/>
              </a:solidFill>
            </a:endParaRPr>
          </a:p>
        </p:txBody>
      </p:sp>
      <p:cxnSp>
        <p:nvCxnSpPr>
          <p:cNvPr id="140" name="Conector recto de flecha 27"/>
          <p:cNvCxnSpPr>
            <a:stCxn id="137" idx="6"/>
            <a:endCxn id="118" idx="2"/>
          </p:cNvCxnSpPr>
          <p:nvPr/>
        </p:nvCxnSpPr>
        <p:spPr>
          <a:xfrm>
            <a:off x="8023870" y="1332245"/>
            <a:ext cx="663025" cy="0"/>
          </a:xfrm>
          <a:prstGeom prst="straightConnector1">
            <a:avLst/>
          </a:prstGeom>
          <a:ln w="317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1D156E05-E303-6178-3061-FBB979ECE0A0}"/>
              </a:ext>
            </a:extLst>
          </p:cNvPr>
          <p:cNvCxnSpPr>
            <a:cxnSpLocks/>
          </p:cNvCxnSpPr>
          <p:nvPr/>
        </p:nvCxnSpPr>
        <p:spPr>
          <a:xfrm>
            <a:off x="5722196" y="3758053"/>
            <a:ext cx="2553124" cy="16483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4DA58E51-3C8D-BE09-E51D-D34C26ACFD45}"/>
              </a:ext>
            </a:extLst>
          </p:cNvPr>
          <p:cNvCxnSpPr>
            <a:cxnSpLocks/>
          </p:cNvCxnSpPr>
          <p:nvPr/>
        </p:nvCxnSpPr>
        <p:spPr>
          <a:xfrm>
            <a:off x="5314565" y="3993502"/>
            <a:ext cx="2960755" cy="19729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C034994-F86E-6736-3CEE-45EC015852D7}"/>
              </a:ext>
            </a:extLst>
          </p:cNvPr>
          <p:cNvCxnSpPr>
            <a:cxnSpLocks/>
          </p:cNvCxnSpPr>
          <p:nvPr/>
        </p:nvCxnSpPr>
        <p:spPr>
          <a:xfrm flipH="1">
            <a:off x="10632955" y="4941418"/>
            <a:ext cx="742894" cy="1025042"/>
          </a:xfrm>
          <a:prstGeom prst="straightConnector1">
            <a:avLst/>
          </a:prstGeom>
          <a:ln w="44450">
            <a:tailEnd type="triangle"/>
          </a:ln>
        </p:spPr>
        <p:style>
          <a:lnRef idx="1">
            <a:schemeClr val="accent6"/>
          </a:lnRef>
          <a:fillRef idx="0">
            <a:schemeClr val="accent6"/>
          </a:fillRef>
          <a:effectRef idx="0">
            <a:schemeClr val="accent6"/>
          </a:effectRef>
          <a:fontRef idx="minor">
            <a:schemeClr val="tx1"/>
          </a:fontRef>
        </p:style>
      </p:cxnSp>
      <p:cxnSp>
        <p:nvCxnSpPr>
          <p:cNvPr id="13" name="Straight Arrow Connector 12">
            <a:extLst>
              <a:ext uri="{FF2B5EF4-FFF2-40B4-BE49-F238E27FC236}">
                <a16:creationId xmlns:a16="http://schemas.microsoft.com/office/drawing/2014/main" id="{E29A5F45-0525-7311-F502-B2291291ABBC}"/>
              </a:ext>
            </a:extLst>
          </p:cNvPr>
          <p:cNvCxnSpPr>
            <a:cxnSpLocks/>
          </p:cNvCxnSpPr>
          <p:nvPr/>
        </p:nvCxnSpPr>
        <p:spPr>
          <a:xfrm flipV="1">
            <a:off x="10467742" y="4526229"/>
            <a:ext cx="34178" cy="1440231"/>
          </a:xfrm>
          <a:prstGeom prst="straightConnector1">
            <a:avLst/>
          </a:prstGeom>
          <a:ln w="44450">
            <a:tailEnd type="triangle"/>
          </a:ln>
        </p:spPr>
        <p:style>
          <a:lnRef idx="1">
            <a:schemeClr val="accent4"/>
          </a:lnRef>
          <a:fillRef idx="0">
            <a:schemeClr val="accent4"/>
          </a:fillRef>
          <a:effectRef idx="0">
            <a:schemeClr val="accent4"/>
          </a:effectRef>
          <a:fontRef idx="minor">
            <a:schemeClr val="tx1"/>
          </a:fontRef>
        </p:style>
      </p:cxnSp>
      <p:cxnSp>
        <p:nvCxnSpPr>
          <p:cNvPr id="8" name="Straight Arrow Connector 7">
            <a:extLst>
              <a:ext uri="{FF2B5EF4-FFF2-40B4-BE49-F238E27FC236}">
                <a16:creationId xmlns:a16="http://schemas.microsoft.com/office/drawing/2014/main" id="{9C94C0DB-8D85-922F-0668-960EF0486E66}"/>
              </a:ext>
            </a:extLst>
          </p:cNvPr>
          <p:cNvCxnSpPr>
            <a:cxnSpLocks/>
          </p:cNvCxnSpPr>
          <p:nvPr/>
        </p:nvCxnSpPr>
        <p:spPr>
          <a:xfrm>
            <a:off x="4741447" y="4645214"/>
            <a:ext cx="1786125" cy="439970"/>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F237B1C-D8A9-AD92-2B81-5C9CD0DB62A3}"/>
              </a:ext>
            </a:extLst>
          </p:cNvPr>
          <p:cNvCxnSpPr>
            <a:cxnSpLocks/>
          </p:cNvCxnSpPr>
          <p:nvPr/>
        </p:nvCxnSpPr>
        <p:spPr>
          <a:xfrm flipV="1">
            <a:off x="4728715" y="4786604"/>
            <a:ext cx="6216093" cy="15481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9" name="Straight Arrow Connector 18">
            <a:extLst>
              <a:ext uri="{FF2B5EF4-FFF2-40B4-BE49-F238E27FC236}">
                <a16:creationId xmlns:a16="http://schemas.microsoft.com/office/drawing/2014/main" id="{7C87E9EE-16D8-011B-9858-F38E7AF6FF0C}"/>
              </a:ext>
            </a:extLst>
          </p:cNvPr>
          <p:cNvCxnSpPr>
            <a:cxnSpLocks/>
          </p:cNvCxnSpPr>
          <p:nvPr/>
        </p:nvCxnSpPr>
        <p:spPr>
          <a:xfrm flipV="1">
            <a:off x="4497355" y="4526229"/>
            <a:ext cx="3631925" cy="792220"/>
          </a:xfrm>
          <a:prstGeom prst="straightConnector1">
            <a:avLst/>
          </a:prstGeom>
          <a:ln>
            <a:solidFill>
              <a:schemeClr val="tx1">
                <a:lumMod val="85000"/>
                <a:lumOff val="15000"/>
              </a:schemeClr>
            </a:solidFill>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01700844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 name="Group 108"/>
          <p:cNvGrpSpPr/>
          <p:nvPr/>
        </p:nvGrpSpPr>
        <p:grpSpPr>
          <a:xfrm>
            <a:off x="5874272" y="1734051"/>
            <a:ext cx="2126789" cy="644528"/>
            <a:chOff x="3435803" y="1769864"/>
            <a:chExt cx="1496396" cy="483396"/>
          </a:xfrm>
        </p:grpSpPr>
        <p:sp>
          <p:nvSpPr>
            <p:cNvPr id="110" name="Rectángulo redondeado 65"/>
            <p:cNvSpPr/>
            <p:nvPr/>
          </p:nvSpPr>
          <p:spPr>
            <a:xfrm>
              <a:off x="3435803" y="1930995"/>
              <a:ext cx="434863" cy="161131"/>
            </a:xfrm>
            <a:prstGeom prst="rect">
              <a:avLst/>
            </a:prstGeom>
            <a:solidFill>
              <a:schemeClr val="tx2">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FFFFFF"/>
                  </a:solidFill>
                </a:rPr>
                <a:t>SR </a:t>
              </a:r>
              <a:r>
                <a:rPr lang="es-ES_tradnl" sz="1067" dirty="0" err="1">
                  <a:solidFill>
                    <a:srgbClr val="FFFFFF"/>
                  </a:solidFill>
                </a:rPr>
                <a:t>Hdr</a:t>
              </a:r>
              <a:endParaRPr lang="es-ES_tradnl" sz="1067" dirty="0">
                <a:solidFill>
                  <a:srgbClr val="FFFFFF"/>
                </a:solidFill>
              </a:endParaRPr>
            </a:p>
          </p:txBody>
        </p:sp>
        <p:sp>
          <p:nvSpPr>
            <p:cNvPr id="111" name="Rectángulo redondeado 64"/>
            <p:cNvSpPr/>
            <p:nvPr/>
          </p:nvSpPr>
          <p:spPr>
            <a:xfrm rot="16200000">
              <a:off x="3572670" y="1632999"/>
              <a:ext cx="161130" cy="434861"/>
            </a:xfrm>
            <a:prstGeom prst="round1Rect">
              <a:avLst/>
            </a:prstGeom>
            <a:solidFill>
              <a:schemeClr val="accent4">
                <a:lumMod val="75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 lIns="0" tIns="0" rIns="0" bIns="0" rtlCol="0" anchor="ctr"/>
            <a:lstStyle/>
            <a:p>
              <a:pPr algn="ctr"/>
              <a:r>
                <a:rPr lang="es-ES_tradnl" sz="1067" dirty="0">
                  <a:solidFill>
                    <a:srgbClr val="FFFFFF"/>
                  </a:solidFill>
                </a:rPr>
                <a:t>IPv6 </a:t>
              </a:r>
              <a:r>
                <a:rPr lang="es-ES_tradnl" sz="1067" dirty="0" err="1">
                  <a:solidFill>
                    <a:srgbClr val="FFFFFF"/>
                  </a:solidFill>
                </a:rPr>
                <a:t>Hdr</a:t>
              </a:r>
              <a:endParaRPr lang="es-ES_tradnl" sz="1067" b="1" dirty="0">
                <a:solidFill>
                  <a:srgbClr val="FFC000"/>
                </a:solidFill>
              </a:endParaRPr>
            </a:p>
          </p:txBody>
        </p:sp>
        <p:sp>
          <p:nvSpPr>
            <p:cNvPr id="112" name="Rectángulo redondeado 64"/>
            <p:cNvSpPr/>
            <p:nvPr/>
          </p:nvSpPr>
          <p:spPr>
            <a:xfrm>
              <a:off x="3870666" y="1769864"/>
              <a:ext cx="1061532" cy="161131"/>
            </a:xfrm>
            <a:prstGeom prst="round1Rect">
              <a:avLst/>
            </a:prstGeom>
            <a:solidFill>
              <a:schemeClr val="accent4">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r>
                <a:rPr lang="es-ES_tradnl" sz="1067" dirty="0">
                  <a:solidFill>
                    <a:srgbClr val="676767"/>
                  </a:solidFill>
                </a:rPr>
                <a:t>SA = A1::, DA = A2::</a:t>
              </a:r>
            </a:p>
          </p:txBody>
        </p:sp>
        <p:sp>
          <p:nvSpPr>
            <p:cNvPr id="113" name="Rectángulo redondeado 65"/>
            <p:cNvSpPr/>
            <p:nvPr/>
          </p:nvSpPr>
          <p:spPr>
            <a:xfrm>
              <a:off x="3870667" y="1930994"/>
              <a:ext cx="1061532" cy="161131"/>
            </a:xfrm>
            <a:prstGeom prst="rect">
              <a:avLst/>
            </a:prstGeom>
            <a:solidFill>
              <a:schemeClr val="tx2">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676767"/>
                  </a:solidFill>
                </a:rPr>
                <a:t>( A4::, A3::, </a:t>
              </a:r>
              <a:r>
                <a:rPr lang="es-ES_tradnl" sz="1067" dirty="0">
                  <a:solidFill>
                    <a:srgbClr val="FA661C"/>
                  </a:solidFill>
                </a:rPr>
                <a:t>A2:: </a:t>
              </a:r>
              <a:r>
                <a:rPr lang="es-ES_tradnl" sz="1067" dirty="0">
                  <a:solidFill>
                    <a:srgbClr val="676767"/>
                  </a:solidFill>
                </a:rPr>
                <a:t>) SL=2</a:t>
              </a:r>
            </a:p>
          </p:txBody>
        </p:sp>
        <p:grpSp>
          <p:nvGrpSpPr>
            <p:cNvPr id="114" name="Group 113"/>
            <p:cNvGrpSpPr/>
            <p:nvPr/>
          </p:nvGrpSpPr>
          <p:grpSpPr>
            <a:xfrm>
              <a:off x="3435803" y="2092129"/>
              <a:ext cx="1496395" cy="161131"/>
              <a:chOff x="3435803" y="2345673"/>
              <a:chExt cx="1496395" cy="161131"/>
            </a:xfrm>
          </p:grpSpPr>
          <p:sp>
            <p:nvSpPr>
              <p:cNvPr id="115" name="Rectángulo redondeado 66"/>
              <p:cNvSpPr/>
              <p:nvPr/>
            </p:nvSpPr>
            <p:spPr>
              <a:xfrm rot="10800000">
                <a:off x="3435804" y="2345673"/>
                <a:ext cx="1496394" cy="161131"/>
              </a:xfrm>
              <a:prstGeom prst="round2SameRect">
                <a:avLst/>
              </a:prstGeom>
              <a:solidFill>
                <a:schemeClr val="tx1">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067" dirty="0">
                  <a:solidFill>
                    <a:srgbClr val="FFFFFF"/>
                  </a:solidFill>
                </a:endParaRPr>
              </a:p>
            </p:txBody>
          </p:sp>
          <p:sp>
            <p:nvSpPr>
              <p:cNvPr id="116" name="TextBox 115"/>
              <p:cNvSpPr txBox="1"/>
              <p:nvPr/>
            </p:nvSpPr>
            <p:spPr>
              <a:xfrm>
                <a:off x="3435803" y="2345673"/>
                <a:ext cx="1496395" cy="161131"/>
              </a:xfrm>
              <a:prstGeom prst="rect">
                <a:avLst/>
              </a:prstGeom>
              <a:noFill/>
            </p:spPr>
            <p:txBody>
              <a:bodyPr wrap="square" lIns="0" tIns="0" rIns="0" bIns="0" rtlCol="0" anchor="ctr">
                <a:normAutofit/>
              </a:bodyPr>
              <a:lstStyle/>
              <a:p>
                <a:pPr algn="ctr"/>
                <a:r>
                  <a:rPr lang="es-ES_tradnl" sz="1067" dirty="0" err="1">
                    <a:solidFill>
                      <a:srgbClr val="FFFFFF">
                        <a:lumMod val="50000"/>
                      </a:srgbClr>
                    </a:solidFill>
                    <a:latin typeface="Arial"/>
                  </a:rPr>
                  <a:t>Payload</a:t>
                </a:r>
                <a:endParaRPr lang="es-ES_tradnl" sz="1067" dirty="0">
                  <a:solidFill>
                    <a:srgbClr val="FFFFFF">
                      <a:lumMod val="50000"/>
                    </a:srgbClr>
                  </a:solidFill>
                  <a:latin typeface="Arial"/>
                </a:endParaRPr>
              </a:p>
            </p:txBody>
          </p:sp>
        </p:grpSp>
      </p:grpSp>
      <p:sp>
        <p:nvSpPr>
          <p:cNvPr id="4" name="Content Placeholder 3"/>
          <p:cNvSpPr>
            <a:spLocks noGrp="1"/>
          </p:cNvSpPr>
          <p:nvPr>
            <p:ph type="body" sz="quarter" idx="10"/>
          </p:nvPr>
        </p:nvSpPr>
        <p:spPr/>
        <p:txBody>
          <a:bodyPr anchor="ctr"/>
          <a:lstStyle/>
          <a:p>
            <a:r>
              <a:rPr lang="en-US" sz="2400" b="1" dirty="0"/>
              <a:t>Plain IPv6 forwarding</a:t>
            </a:r>
          </a:p>
          <a:p>
            <a:r>
              <a:rPr lang="en-US" sz="2400" dirty="0"/>
              <a:t>Solely based on IPv6 DA (IPv6 DA does not correspond to transit node)</a:t>
            </a:r>
          </a:p>
          <a:p>
            <a:r>
              <a:rPr lang="en-US" sz="2400" dirty="0"/>
              <a:t>No SRH inspection or update</a:t>
            </a:r>
          </a:p>
        </p:txBody>
      </p:sp>
      <p:sp>
        <p:nvSpPr>
          <p:cNvPr id="2" name="Text Placeholder 1">
            <a:extLst>
              <a:ext uri="{FF2B5EF4-FFF2-40B4-BE49-F238E27FC236}">
                <a16:creationId xmlns:a16="http://schemas.microsoft.com/office/drawing/2014/main" id="{0AB5159D-00B2-4331-6E4D-2B6D82C1AFF5}"/>
              </a:ext>
            </a:extLst>
          </p:cNvPr>
          <p:cNvSpPr>
            <a:spLocks noGrp="1"/>
          </p:cNvSpPr>
          <p:nvPr>
            <p:ph type="body" sz="quarter" idx="11"/>
          </p:nvPr>
        </p:nvSpPr>
        <p:spPr/>
        <p:txBody>
          <a:bodyPr/>
          <a:lstStyle/>
          <a:p>
            <a:r>
              <a:rPr lang="en-US" dirty="0"/>
              <a:t>Forwarding - </a:t>
            </a:r>
            <a:r>
              <a:rPr lang="en-US" u="sng" dirty="0"/>
              <a:t>Non-SR</a:t>
            </a:r>
            <a:r>
              <a:rPr lang="en-US" dirty="0"/>
              <a:t> Transit Node (R)</a:t>
            </a:r>
          </a:p>
        </p:txBody>
      </p:sp>
      <p:cxnSp>
        <p:nvCxnSpPr>
          <p:cNvPr id="76" name="Conector recto de flecha 27"/>
          <p:cNvCxnSpPr>
            <a:stCxn id="118" idx="6"/>
            <a:endCxn id="120" idx="2"/>
          </p:cNvCxnSpPr>
          <p:nvPr/>
        </p:nvCxnSpPr>
        <p:spPr>
          <a:xfrm>
            <a:off x="9262896" y="1332245"/>
            <a:ext cx="663025" cy="0"/>
          </a:xfrm>
          <a:prstGeom prst="straightConnector1">
            <a:avLst/>
          </a:prstGeom>
          <a:ln w="317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7" name="Conector recto de flecha 27"/>
          <p:cNvCxnSpPr>
            <a:stCxn id="81" idx="6"/>
            <a:endCxn id="137" idx="2"/>
          </p:cNvCxnSpPr>
          <p:nvPr/>
        </p:nvCxnSpPr>
        <p:spPr>
          <a:xfrm>
            <a:off x="7103573" y="1332245"/>
            <a:ext cx="663025" cy="0"/>
          </a:xfrm>
          <a:prstGeom prst="straightConnector1">
            <a:avLst/>
          </a:prstGeom>
          <a:ln w="317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80" name="Elipse 11"/>
          <p:cNvSpPr/>
          <p:nvPr/>
        </p:nvSpPr>
        <p:spPr>
          <a:xfrm>
            <a:off x="11164944" y="1044245"/>
            <a:ext cx="576000" cy="576000"/>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b="1" dirty="0">
                <a:solidFill>
                  <a:srgbClr val="676767"/>
                </a:solidFill>
              </a:rPr>
              <a:t>4</a:t>
            </a:r>
          </a:p>
          <a:p>
            <a:pPr algn="ctr"/>
            <a:r>
              <a:rPr lang="es-ES_tradnl" sz="1200" b="1" dirty="0">
                <a:solidFill>
                  <a:srgbClr val="676767"/>
                </a:solidFill>
              </a:rPr>
              <a:t>A4::</a:t>
            </a:r>
            <a:endParaRPr lang="es-ES_tradnl" sz="1200" dirty="0">
              <a:solidFill>
                <a:srgbClr val="676767"/>
              </a:solidFill>
            </a:endParaRPr>
          </a:p>
        </p:txBody>
      </p:sp>
      <p:sp>
        <p:nvSpPr>
          <p:cNvPr id="81" name="Elipse 11"/>
          <p:cNvSpPr/>
          <p:nvPr/>
        </p:nvSpPr>
        <p:spPr>
          <a:xfrm>
            <a:off x="6527572" y="1044245"/>
            <a:ext cx="576000" cy="576000"/>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b="1" dirty="0">
                <a:solidFill>
                  <a:srgbClr val="676767"/>
                </a:solidFill>
              </a:rPr>
              <a:t>1</a:t>
            </a:r>
          </a:p>
          <a:p>
            <a:pPr algn="ctr"/>
            <a:r>
              <a:rPr lang="es-ES_tradnl" sz="1200" b="1" dirty="0">
                <a:solidFill>
                  <a:srgbClr val="676767"/>
                </a:solidFill>
              </a:rPr>
              <a:t>A1::</a:t>
            </a:r>
            <a:endParaRPr lang="es-ES_tradnl" sz="1200" dirty="0">
              <a:solidFill>
                <a:srgbClr val="676767"/>
              </a:solidFill>
            </a:endParaRPr>
          </a:p>
        </p:txBody>
      </p:sp>
      <p:sp>
        <p:nvSpPr>
          <p:cNvPr id="118" name="Elipse 11"/>
          <p:cNvSpPr/>
          <p:nvPr/>
        </p:nvSpPr>
        <p:spPr>
          <a:xfrm>
            <a:off x="8686895" y="1044245"/>
            <a:ext cx="576000" cy="576000"/>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b="1" dirty="0">
                <a:solidFill>
                  <a:srgbClr val="676767"/>
                </a:solidFill>
              </a:rPr>
              <a:t>2</a:t>
            </a:r>
          </a:p>
          <a:p>
            <a:pPr algn="ctr"/>
            <a:r>
              <a:rPr lang="es-ES_tradnl" sz="1200" b="1" dirty="0">
                <a:solidFill>
                  <a:srgbClr val="676767"/>
                </a:solidFill>
              </a:rPr>
              <a:t>A2::</a:t>
            </a:r>
            <a:endParaRPr lang="es-ES_tradnl" sz="1200" dirty="0">
              <a:solidFill>
                <a:srgbClr val="676767"/>
              </a:solidFill>
            </a:endParaRPr>
          </a:p>
        </p:txBody>
      </p:sp>
      <p:sp>
        <p:nvSpPr>
          <p:cNvPr id="120" name="Elipse 11"/>
          <p:cNvSpPr/>
          <p:nvPr/>
        </p:nvSpPr>
        <p:spPr>
          <a:xfrm>
            <a:off x="9925920" y="1044245"/>
            <a:ext cx="576000" cy="576000"/>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b="1" dirty="0">
                <a:solidFill>
                  <a:srgbClr val="676767"/>
                </a:solidFill>
              </a:rPr>
              <a:t>3</a:t>
            </a:r>
          </a:p>
          <a:p>
            <a:pPr algn="ctr"/>
            <a:r>
              <a:rPr lang="es-ES_tradnl" sz="1200" b="1" dirty="0">
                <a:solidFill>
                  <a:srgbClr val="676767"/>
                </a:solidFill>
              </a:rPr>
              <a:t>A3::</a:t>
            </a:r>
            <a:endParaRPr lang="es-ES_tradnl" sz="1200" dirty="0">
              <a:solidFill>
                <a:srgbClr val="676767"/>
              </a:solidFill>
            </a:endParaRPr>
          </a:p>
        </p:txBody>
      </p:sp>
      <p:cxnSp>
        <p:nvCxnSpPr>
          <p:cNvPr id="126" name="Conector recto de flecha 27"/>
          <p:cNvCxnSpPr>
            <a:stCxn id="120" idx="6"/>
            <a:endCxn id="80" idx="2"/>
          </p:cNvCxnSpPr>
          <p:nvPr/>
        </p:nvCxnSpPr>
        <p:spPr>
          <a:xfrm>
            <a:off x="10501920" y="1332245"/>
            <a:ext cx="663024" cy="0"/>
          </a:xfrm>
          <a:prstGeom prst="straightConnector1">
            <a:avLst/>
          </a:prstGeom>
          <a:ln w="317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37" name="Elipse 11"/>
          <p:cNvSpPr/>
          <p:nvPr/>
        </p:nvSpPr>
        <p:spPr>
          <a:xfrm>
            <a:off x="7766597" y="1203609"/>
            <a:ext cx="257272" cy="257272"/>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dirty="0">
                <a:solidFill>
                  <a:srgbClr val="676767"/>
                </a:solidFill>
              </a:rPr>
              <a:t>R</a:t>
            </a:r>
          </a:p>
        </p:txBody>
      </p:sp>
      <p:sp>
        <p:nvSpPr>
          <p:cNvPr id="138" name="Down Arrow 137"/>
          <p:cNvSpPr/>
          <p:nvPr/>
        </p:nvSpPr>
        <p:spPr>
          <a:xfrm>
            <a:off x="7821880" y="559905"/>
            <a:ext cx="177705" cy="363547"/>
          </a:xfrm>
          <a:prstGeom prst="downArrow">
            <a:avLst/>
          </a:prstGeom>
          <a:noFill/>
          <a:ln w="9525">
            <a:solidFill>
              <a:srgbClr val="C00000"/>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FFFFFF"/>
              </a:solidFill>
            </a:endParaRPr>
          </a:p>
        </p:txBody>
      </p:sp>
      <p:cxnSp>
        <p:nvCxnSpPr>
          <p:cNvPr id="140" name="Conector recto de flecha 27"/>
          <p:cNvCxnSpPr>
            <a:stCxn id="137" idx="6"/>
            <a:endCxn id="118" idx="2"/>
          </p:cNvCxnSpPr>
          <p:nvPr/>
        </p:nvCxnSpPr>
        <p:spPr>
          <a:xfrm>
            <a:off x="8023870" y="1332245"/>
            <a:ext cx="663025" cy="0"/>
          </a:xfrm>
          <a:prstGeom prst="straightConnector1">
            <a:avLst/>
          </a:prstGeom>
          <a:ln w="317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3047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afterEffect">
                                  <p:stCondLst>
                                    <p:cond delay="0"/>
                                  </p:stCondLst>
                                  <p:childTnLst>
                                    <p:animMotion origin="layout" path="M 2.22222E-6 -4.69136E-6 L 0.08871 -4.69136E-6 " pathEditMode="relative" rAng="0" ptsTypes="AA">
                                      <p:cBhvr>
                                        <p:cTn id="6" dur="2000" fill="hold"/>
                                        <p:tgtEl>
                                          <p:spTgt spid="138"/>
                                        </p:tgtEl>
                                        <p:attrNameLst>
                                          <p:attrName>ppt_x</p:attrName>
                                          <p:attrName>ppt_y</p:attrName>
                                        </p:attrNameLst>
                                      </p:cBhvr>
                                      <p:rCtr x="4427" y="0"/>
                                    </p:animMotion>
                                  </p:childTnLst>
                                </p:cTn>
                              </p:par>
                            </p:childTnLst>
                          </p:cTn>
                        </p:par>
                        <p:par>
                          <p:cTn id="7" fill="hold">
                            <p:stCondLst>
                              <p:cond delay="2000"/>
                            </p:stCondLst>
                            <p:childTnLst>
                              <p:par>
                                <p:cTn id="8" presetID="0" presetClass="path" presetSubtype="0" accel="50000" decel="50000" fill="hold" nodeType="afterEffect">
                                  <p:stCondLst>
                                    <p:cond delay="0"/>
                                  </p:stCondLst>
                                  <p:childTnLst>
                                    <p:animMotion origin="layout" path="M -4.72222E-6 1.48148E-6 C 0.03108 -0.05 0.06216 -0.09969 0.08924 -0.09877 C 0.1165 -0.09815 0.16268 0.00494 0.16268 0.00494 " pathEditMode="relative" ptsTypes="AAA">
                                      <p:cBhvr>
                                        <p:cTn id="9" dur="3000" fill="hold"/>
                                        <p:tgtEl>
                                          <p:spTgt spid="10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Group 78"/>
          <p:cNvGrpSpPr/>
          <p:nvPr/>
        </p:nvGrpSpPr>
        <p:grpSpPr>
          <a:xfrm>
            <a:off x="8320440" y="1734049"/>
            <a:ext cx="2124081" cy="644528"/>
            <a:chOff x="3435802" y="1769864"/>
            <a:chExt cx="1494491" cy="483396"/>
          </a:xfrm>
        </p:grpSpPr>
        <p:sp>
          <p:nvSpPr>
            <p:cNvPr id="82" name="Rectángulo redondeado 65"/>
            <p:cNvSpPr/>
            <p:nvPr/>
          </p:nvSpPr>
          <p:spPr>
            <a:xfrm>
              <a:off x="3435803" y="1930995"/>
              <a:ext cx="434863" cy="161131"/>
            </a:xfrm>
            <a:prstGeom prst="rect">
              <a:avLst/>
            </a:prstGeom>
            <a:solidFill>
              <a:schemeClr val="tx2">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FFFFFF"/>
                  </a:solidFill>
                </a:rPr>
                <a:t>SR </a:t>
              </a:r>
              <a:r>
                <a:rPr lang="es-ES_tradnl" sz="1067" dirty="0" err="1">
                  <a:solidFill>
                    <a:srgbClr val="FFFFFF"/>
                  </a:solidFill>
                </a:rPr>
                <a:t>Hdr</a:t>
              </a:r>
              <a:endParaRPr lang="es-ES_tradnl" sz="1067" dirty="0">
                <a:solidFill>
                  <a:srgbClr val="FFFFFF"/>
                </a:solidFill>
              </a:endParaRPr>
            </a:p>
          </p:txBody>
        </p:sp>
        <p:sp>
          <p:nvSpPr>
            <p:cNvPr id="83" name="Rectángulo redondeado 64"/>
            <p:cNvSpPr/>
            <p:nvPr/>
          </p:nvSpPr>
          <p:spPr>
            <a:xfrm rot="16200000">
              <a:off x="3572670" y="1632999"/>
              <a:ext cx="161130" cy="434861"/>
            </a:xfrm>
            <a:prstGeom prst="round1Rect">
              <a:avLst/>
            </a:prstGeom>
            <a:solidFill>
              <a:schemeClr val="accent4">
                <a:lumMod val="75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 lIns="0" tIns="0" rIns="0" bIns="0" rtlCol="0" anchor="ctr"/>
            <a:lstStyle/>
            <a:p>
              <a:pPr algn="ctr"/>
              <a:r>
                <a:rPr lang="es-ES_tradnl" sz="1067" dirty="0">
                  <a:solidFill>
                    <a:srgbClr val="FFFFFF"/>
                  </a:solidFill>
                </a:rPr>
                <a:t>IPv6 </a:t>
              </a:r>
              <a:r>
                <a:rPr lang="es-ES_tradnl" sz="1067" dirty="0" err="1">
                  <a:solidFill>
                    <a:srgbClr val="FFFFFF"/>
                  </a:solidFill>
                </a:rPr>
                <a:t>Hdr</a:t>
              </a:r>
              <a:endParaRPr lang="es-ES_tradnl" sz="1067" b="1" dirty="0">
                <a:solidFill>
                  <a:srgbClr val="FFC000"/>
                </a:solidFill>
              </a:endParaRPr>
            </a:p>
          </p:txBody>
        </p:sp>
        <p:sp>
          <p:nvSpPr>
            <p:cNvPr id="84" name="Rectángulo redondeado 64"/>
            <p:cNvSpPr/>
            <p:nvPr/>
          </p:nvSpPr>
          <p:spPr>
            <a:xfrm>
              <a:off x="3870666" y="1769864"/>
              <a:ext cx="1059627" cy="161131"/>
            </a:xfrm>
            <a:prstGeom prst="round1Rect">
              <a:avLst/>
            </a:prstGeom>
            <a:solidFill>
              <a:schemeClr val="accent4">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r>
                <a:rPr lang="es-ES_tradnl" sz="1067" dirty="0">
                  <a:solidFill>
                    <a:srgbClr val="676767"/>
                  </a:solidFill>
                </a:rPr>
                <a:t>SA = A1::, DA = </a:t>
              </a:r>
              <a:r>
                <a:rPr lang="es-ES_tradnl" sz="1067" b="1" dirty="0">
                  <a:solidFill>
                    <a:srgbClr val="676767"/>
                  </a:solidFill>
                </a:rPr>
                <a:t>A3::</a:t>
              </a:r>
            </a:p>
          </p:txBody>
        </p:sp>
        <p:sp>
          <p:nvSpPr>
            <p:cNvPr id="85" name="Rectángulo redondeado 65"/>
            <p:cNvSpPr/>
            <p:nvPr/>
          </p:nvSpPr>
          <p:spPr>
            <a:xfrm>
              <a:off x="3870667" y="1930994"/>
              <a:ext cx="1059626" cy="161131"/>
            </a:xfrm>
            <a:prstGeom prst="rect">
              <a:avLst/>
            </a:prstGeom>
            <a:solidFill>
              <a:schemeClr val="tx2">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676767"/>
                  </a:solidFill>
                </a:rPr>
                <a:t>( A4::, </a:t>
              </a:r>
              <a:r>
                <a:rPr lang="es-ES_tradnl" sz="1067" b="1" dirty="0">
                  <a:solidFill>
                    <a:srgbClr val="FA661C"/>
                  </a:solidFill>
                </a:rPr>
                <a:t>A3::</a:t>
              </a:r>
              <a:r>
                <a:rPr lang="es-ES_tradnl" sz="1067" dirty="0">
                  <a:solidFill>
                    <a:srgbClr val="676767"/>
                  </a:solidFill>
                </a:rPr>
                <a:t>, A2::</a:t>
              </a:r>
              <a:r>
                <a:rPr lang="es-ES_tradnl" sz="1067" dirty="0">
                  <a:solidFill>
                    <a:srgbClr val="FA661C"/>
                  </a:solidFill>
                </a:rPr>
                <a:t> </a:t>
              </a:r>
              <a:r>
                <a:rPr lang="es-ES_tradnl" sz="1067" dirty="0">
                  <a:solidFill>
                    <a:srgbClr val="676767"/>
                  </a:solidFill>
                </a:rPr>
                <a:t>) SL=</a:t>
              </a:r>
              <a:r>
                <a:rPr lang="es-ES_tradnl" sz="1067" b="1" dirty="0">
                  <a:solidFill>
                    <a:srgbClr val="676767"/>
                  </a:solidFill>
                </a:rPr>
                <a:t>1</a:t>
              </a:r>
            </a:p>
          </p:txBody>
        </p:sp>
        <p:grpSp>
          <p:nvGrpSpPr>
            <p:cNvPr id="86" name="Group 85"/>
            <p:cNvGrpSpPr/>
            <p:nvPr/>
          </p:nvGrpSpPr>
          <p:grpSpPr>
            <a:xfrm>
              <a:off x="3435802" y="2092129"/>
              <a:ext cx="1494491" cy="161131"/>
              <a:chOff x="3435802" y="2345673"/>
              <a:chExt cx="1494491" cy="161131"/>
            </a:xfrm>
          </p:grpSpPr>
          <p:sp>
            <p:nvSpPr>
              <p:cNvPr id="87" name="Rectángulo redondeado 66"/>
              <p:cNvSpPr/>
              <p:nvPr/>
            </p:nvSpPr>
            <p:spPr>
              <a:xfrm rot="10800000">
                <a:off x="3435804" y="2345673"/>
                <a:ext cx="1494489" cy="161131"/>
              </a:xfrm>
              <a:prstGeom prst="round2SameRect">
                <a:avLst/>
              </a:prstGeom>
              <a:solidFill>
                <a:schemeClr val="tx1">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067" dirty="0">
                  <a:solidFill>
                    <a:srgbClr val="FFFFFF"/>
                  </a:solidFill>
                </a:endParaRPr>
              </a:p>
            </p:txBody>
          </p:sp>
          <p:sp>
            <p:nvSpPr>
              <p:cNvPr id="88" name="TextBox 87"/>
              <p:cNvSpPr txBox="1"/>
              <p:nvPr/>
            </p:nvSpPr>
            <p:spPr>
              <a:xfrm>
                <a:off x="3435802" y="2345673"/>
                <a:ext cx="1492585" cy="161131"/>
              </a:xfrm>
              <a:prstGeom prst="rect">
                <a:avLst/>
              </a:prstGeom>
              <a:noFill/>
            </p:spPr>
            <p:txBody>
              <a:bodyPr wrap="square" lIns="0" tIns="0" rIns="0" bIns="0" rtlCol="0" anchor="ctr">
                <a:normAutofit/>
              </a:bodyPr>
              <a:lstStyle/>
              <a:p>
                <a:pPr algn="ctr"/>
                <a:r>
                  <a:rPr lang="es-ES_tradnl" sz="1067" dirty="0" err="1">
                    <a:solidFill>
                      <a:srgbClr val="FFFFFF">
                        <a:lumMod val="50000"/>
                      </a:srgbClr>
                    </a:solidFill>
                    <a:latin typeface="Arial"/>
                  </a:rPr>
                  <a:t>Payload</a:t>
                </a:r>
                <a:endParaRPr lang="es-ES_tradnl" sz="1067" dirty="0">
                  <a:solidFill>
                    <a:srgbClr val="FFFFFF">
                      <a:lumMod val="50000"/>
                    </a:srgbClr>
                  </a:solidFill>
                  <a:latin typeface="Arial"/>
                </a:endParaRPr>
              </a:p>
            </p:txBody>
          </p:sp>
        </p:grpSp>
      </p:grpSp>
      <p:sp>
        <p:nvSpPr>
          <p:cNvPr id="138" name="Down Arrow 137"/>
          <p:cNvSpPr/>
          <p:nvPr/>
        </p:nvSpPr>
        <p:spPr>
          <a:xfrm>
            <a:off x="8878045" y="560971"/>
            <a:ext cx="177705" cy="363547"/>
          </a:xfrm>
          <a:prstGeom prst="downArrow">
            <a:avLst/>
          </a:prstGeom>
          <a:noFill/>
          <a:ln w="9525">
            <a:solidFill>
              <a:srgbClr val="C00000"/>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FFFFFF"/>
              </a:solidFill>
            </a:endParaRPr>
          </a:p>
        </p:txBody>
      </p:sp>
      <p:sp>
        <p:nvSpPr>
          <p:cNvPr id="4" name="Content Placeholder 3"/>
          <p:cNvSpPr>
            <a:spLocks noGrp="1"/>
          </p:cNvSpPr>
          <p:nvPr>
            <p:ph type="body" sz="quarter" idx="10"/>
          </p:nvPr>
        </p:nvSpPr>
        <p:spPr>
          <a:xfrm>
            <a:off x="873918" y="1047565"/>
            <a:ext cx="5746220" cy="4835519"/>
          </a:xfrm>
        </p:spPr>
        <p:txBody>
          <a:bodyPr/>
          <a:lstStyle/>
          <a:p>
            <a:r>
              <a:rPr lang="en-US" sz="2400" dirty="0"/>
              <a:t>SR Endpoints: SR-capable nodes whose address is in the IP DA</a:t>
            </a:r>
          </a:p>
          <a:p>
            <a:r>
              <a:rPr lang="en-US" sz="2400" dirty="0"/>
              <a:t>SR Endpoints inspect the SRH and do:</a:t>
            </a:r>
          </a:p>
          <a:p>
            <a:pPr lvl="1"/>
            <a:r>
              <a:rPr lang="en-US" sz="2133" dirty="0"/>
              <a:t>IF Segments Left &gt; 0, THEN</a:t>
            </a:r>
          </a:p>
          <a:p>
            <a:pPr lvl="2"/>
            <a:r>
              <a:rPr lang="en-US" sz="1867" dirty="0"/>
              <a:t>Decrement Segments Left ( -1 )</a:t>
            </a:r>
          </a:p>
          <a:p>
            <a:pPr lvl="2"/>
            <a:r>
              <a:rPr lang="en-US" sz="1867" dirty="0"/>
              <a:t>Update DA with Segment List [ Segments Left ]</a:t>
            </a:r>
          </a:p>
          <a:p>
            <a:pPr lvl="2"/>
            <a:r>
              <a:rPr lang="en-US" sz="1867" dirty="0"/>
              <a:t>Forward according to the new IP DA</a:t>
            </a:r>
          </a:p>
        </p:txBody>
      </p:sp>
      <p:grpSp>
        <p:nvGrpSpPr>
          <p:cNvPr id="50" name="Group 49"/>
          <p:cNvGrpSpPr/>
          <p:nvPr/>
        </p:nvGrpSpPr>
        <p:grpSpPr>
          <a:xfrm>
            <a:off x="6613625" y="3471599"/>
            <a:ext cx="5279692" cy="2902544"/>
            <a:chOff x="411949" y="2639259"/>
            <a:chExt cx="3959769" cy="2176908"/>
          </a:xfrm>
        </p:grpSpPr>
        <p:sp>
          <p:nvSpPr>
            <p:cNvPr id="51" name="Rectangle 50"/>
            <p:cNvSpPr/>
            <p:nvPr/>
          </p:nvSpPr>
          <p:spPr>
            <a:xfrm>
              <a:off x="609808" y="2642648"/>
              <a:ext cx="661308" cy="221064"/>
            </a:xfrm>
            <a:prstGeom prst="rect">
              <a:avLst/>
            </a:prstGeom>
            <a:solidFill>
              <a:schemeClr val="accent4">
                <a:lumMod val="40000"/>
                <a:lumOff val="60000"/>
              </a:schemeClr>
            </a:solidFill>
            <a:ln w="9525">
              <a:solidFill>
                <a:schemeClr val="accent4">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Version</a:t>
              </a:r>
            </a:p>
          </p:txBody>
        </p:sp>
        <p:sp>
          <p:nvSpPr>
            <p:cNvPr id="52" name="Rectangle 51"/>
            <p:cNvSpPr/>
            <p:nvPr/>
          </p:nvSpPr>
          <p:spPr>
            <a:xfrm>
              <a:off x="1271116" y="2642648"/>
              <a:ext cx="974691" cy="221064"/>
            </a:xfrm>
            <a:prstGeom prst="rect">
              <a:avLst/>
            </a:prstGeom>
            <a:solidFill>
              <a:schemeClr val="accent4">
                <a:lumMod val="40000"/>
                <a:lumOff val="60000"/>
              </a:schemeClr>
            </a:solidFill>
            <a:ln w="9525">
              <a:solidFill>
                <a:schemeClr val="accent4">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Traffic Class</a:t>
              </a:r>
            </a:p>
          </p:txBody>
        </p:sp>
        <p:sp>
          <p:nvSpPr>
            <p:cNvPr id="53" name="Rectangle 52"/>
            <p:cNvSpPr/>
            <p:nvPr/>
          </p:nvSpPr>
          <p:spPr>
            <a:xfrm>
              <a:off x="2487592" y="2861234"/>
              <a:ext cx="938895" cy="221064"/>
            </a:xfrm>
            <a:prstGeom prst="rect">
              <a:avLst/>
            </a:prstGeom>
            <a:solidFill>
              <a:schemeClr val="accent4">
                <a:lumMod val="40000"/>
                <a:lumOff val="60000"/>
              </a:schemeClr>
            </a:solidFill>
            <a:ln w="9525">
              <a:solidFill>
                <a:schemeClr val="accent4">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Next = 43</a:t>
              </a:r>
            </a:p>
          </p:txBody>
        </p:sp>
        <p:sp>
          <p:nvSpPr>
            <p:cNvPr id="54" name="Rectangle 53"/>
            <p:cNvSpPr/>
            <p:nvPr/>
          </p:nvSpPr>
          <p:spPr>
            <a:xfrm>
              <a:off x="3426487" y="2861234"/>
              <a:ext cx="938895" cy="221064"/>
            </a:xfrm>
            <a:prstGeom prst="rect">
              <a:avLst/>
            </a:prstGeom>
            <a:solidFill>
              <a:schemeClr val="accent4">
                <a:lumMod val="40000"/>
                <a:lumOff val="60000"/>
              </a:schemeClr>
            </a:solidFill>
            <a:ln w="9525">
              <a:solidFill>
                <a:schemeClr val="accent4">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Hop Limit</a:t>
              </a:r>
            </a:p>
          </p:txBody>
        </p:sp>
        <p:sp>
          <p:nvSpPr>
            <p:cNvPr id="55" name="Rectangle 54"/>
            <p:cNvSpPr/>
            <p:nvPr/>
          </p:nvSpPr>
          <p:spPr>
            <a:xfrm>
              <a:off x="609807" y="2861234"/>
              <a:ext cx="1877790" cy="221064"/>
            </a:xfrm>
            <a:prstGeom prst="rect">
              <a:avLst/>
            </a:prstGeom>
            <a:solidFill>
              <a:schemeClr val="accent4">
                <a:lumMod val="40000"/>
                <a:lumOff val="60000"/>
              </a:schemeClr>
            </a:solidFill>
            <a:ln w="9525">
              <a:solidFill>
                <a:schemeClr val="accent4">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a:solidFill>
                    <a:srgbClr val="676767"/>
                  </a:solidFill>
                </a:rPr>
                <a:t>Payload Length</a:t>
              </a:r>
              <a:endParaRPr lang="en-US" sz="1467" dirty="0">
                <a:solidFill>
                  <a:srgbClr val="676767"/>
                </a:solidFill>
              </a:endParaRPr>
            </a:p>
          </p:txBody>
        </p:sp>
        <p:sp>
          <p:nvSpPr>
            <p:cNvPr id="56" name="Rectangle 55"/>
            <p:cNvSpPr/>
            <p:nvPr/>
          </p:nvSpPr>
          <p:spPr>
            <a:xfrm>
              <a:off x="609800" y="3079820"/>
              <a:ext cx="3755581" cy="221064"/>
            </a:xfrm>
            <a:prstGeom prst="rect">
              <a:avLst/>
            </a:prstGeom>
            <a:solidFill>
              <a:schemeClr val="accent4">
                <a:lumMod val="40000"/>
                <a:lumOff val="60000"/>
              </a:schemeClr>
            </a:solidFill>
            <a:ln w="9525">
              <a:solidFill>
                <a:schemeClr val="accent4">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Source Address = A1::</a:t>
              </a:r>
            </a:p>
          </p:txBody>
        </p:sp>
        <p:sp>
          <p:nvSpPr>
            <p:cNvPr id="57" name="Rectangle 56"/>
            <p:cNvSpPr/>
            <p:nvPr/>
          </p:nvSpPr>
          <p:spPr>
            <a:xfrm>
              <a:off x="609799" y="3298406"/>
              <a:ext cx="3755581" cy="221064"/>
            </a:xfrm>
            <a:prstGeom prst="rect">
              <a:avLst/>
            </a:prstGeom>
            <a:solidFill>
              <a:schemeClr val="accent4">
                <a:lumMod val="40000"/>
                <a:lumOff val="60000"/>
              </a:schemeClr>
            </a:solidFill>
            <a:ln w="9525">
              <a:solidFill>
                <a:schemeClr val="accent4">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Destination Address = </a:t>
              </a:r>
              <a:r>
                <a:rPr lang="en-US" sz="1467" b="1" dirty="0">
                  <a:solidFill>
                    <a:srgbClr val="FF0000"/>
                  </a:solidFill>
                </a:rPr>
                <a:t>A3::</a:t>
              </a:r>
            </a:p>
          </p:txBody>
        </p:sp>
        <p:sp>
          <p:nvSpPr>
            <p:cNvPr id="58" name="Rectangle 57"/>
            <p:cNvSpPr/>
            <p:nvPr/>
          </p:nvSpPr>
          <p:spPr>
            <a:xfrm>
              <a:off x="609795" y="3963776"/>
              <a:ext cx="3755581"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Segment List [ 0 ] = A4::</a:t>
              </a:r>
            </a:p>
          </p:txBody>
        </p:sp>
        <p:sp>
          <p:nvSpPr>
            <p:cNvPr id="59" name="Rectangle 58"/>
            <p:cNvSpPr/>
            <p:nvPr/>
          </p:nvSpPr>
          <p:spPr>
            <a:xfrm>
              <a:off x="609795" y="4176317"/>
              <a:ext cx="3755581"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Segment List [ </a:t>
              </a:r>
              <a:r>
                <a:rPr lang="en-US" sz="1467" dirty="0">
                  <a:solidFill>
                    <a:srgbClr val="FF0000"/>
                  </a:solidFill>
                </a:rPr>
                <a:t>1</a:t>
              </a:r>
              <a:r>
                <a:rPr lang="en-US" sz="1467" dirty="0">
                  <a:solidFill>
                    <a:srgbClr val="676767"/>
                  </a:solidFill>
                </a:rPr>
                <a:t> ] = </a:t>
              </a:r>
              <a:r>
                <a:rPr lang="en-US" sz="1467" dirty="0">
                  <a:solidFill>
                    <a:srgbClr val="FA661C"/>
                  </a:solidFill>
                </a:rPr>
                <a:t>A3::</a:t>
              </a:r>
            </a:p>
          </p:txBody>
        </p:sp>
        <p:sp>
          <p:nvSpPr>
            <p:cNvPr id="60" name="Rectangle 59"/>
            <p:cNvSpPr/>
            <p:nvPr/>
          </p:nvSpPr>
          <p:spPr>
            <a:xfrm>
              <a:off x="609798" y="3520559"/>
              <a:ext cx="938895"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676767"/>
                  </a:solidFill>
                </a:rPr>
                <a:t>Next Header</a:t>
              </a:r>
            </a:p>
          </p:txBody>
        </p:sp>
        <p:sp>
          <p:nvSpPr>
            <p:cNvPr id="61" name="Rectangle 60"/>
            <p:cNvSpPr/>
            <p:nvPr/>
          </p:nvSpPr>
          <p:spPr>
            <a:xfrm>
              <a:off x="1548693" y="3521648"/>
              <a:ext cx="938895"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Len= 6</a:t>
              </a:r>
            </a:p>
          </p:txBody>
        </p:sp>
        <p:sp>
          <p:nvSpPr>
            <p:cNvPr id="62" name="Rectangle 61"/>
            <p:cNvSpPr/>
            <p:nvPr/>
          </p:nvSpPr>
          <p:spPr>
            <a:xfrm>
              <a:off x="2487587" y="3521648"/>
              <a:ext cx="938895"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Type = 4</a:t>
              </a:r>
            </a:p>
          </p:txBody>
        </p:sp>
        <p:sp>
          <p:nvSpPr>
            <p:cNvPr id="63" name="Rectangle 62"/>
            <p:cNvSpPr/>
            <p:nvPr/>
          </p:nvSpPr>
          <p:spPr>
            <a:xfrm>
              <a:off x="3426482" y="3521648"/>
              <a:ext cx="938895"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SL = </a:t>
              </a:r>
              <a:r>
                <a:rPr lang="en-US" sz="1467" b="1" dirty="0">
                  <a:solidFill>
                    <a:srgbClr val="FF0000"/>
                  </a:solidFill>
                </a:rPr>
                <a:t>1</a:t>
              </a:r>
            </a:p>
          </p:txBody>
        </p:sp>
        <p:sp>
          <p:nvSpPr>
            <p:cNvPr id="64" name="Rectangle 63"/>
            <p:cNvSpPr/>
            <p:nvPr/>
          </p:nvSpPr>
          <p:spPr>
            <a:xfrm>
              <a:off x="609795" y="3745361"/>
              <a:ext cx="938895" cy="218415"/>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First = 2</a:t>
              </a:r>
            </a:p>
          </p:txBody>
        </p:sp>
        <p:sp>
          <p:nvSpPr>
            <p:cNvPr id="65" name="Rectangle 64"/>
            <p:cNvSpPr/>
            <p:nvPr/>
          </p:nvSpPr>
          <p:spPr>
            <a:xfrm>
              <a:off x="1548690" y="3742712"/>
              <a:ext cx="938908"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Flags</a:t>
              </a:r>
            </a:p>
          </p:txBody>
        </p:sp>
        <p:sp>
          <p:nvSpPr>
            <p:cNvPr id="66" name="Rectangle 65"/>
            <p:cNvSpPr/>
            <p:nvPr/>
          </p:nvSpPr>
          <p:spPr>
            <a:xfrm>
              <a:off x="2487575" y="3742855"/>
              <a:ext cx="1877796"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676767"/>
                  </a:solidFill>
                </a:rPr>
                <a:t>TAG</a:t>
              </a:r>
            </a:p>
          </p:txBody>
        </p:sp>
        <p:sp>
          <p:nvSpPr>
            <p:cNvPr id="67" name="Rectángulo redondeado 64"/>
            <p:cNvSpPr/>
            <p:nvPr/>
          </p:nvSpPr>
          <p:spPr>
            <a:xfrm rot="16200000">
              <a:off x="69450" y="2981790"/>
              <a:ext cx="882860" cy="197798"/>
            </a:xfrm>
            <a:prstGeom prst="round1Rect">
              <a:avLst/>
            </a:prstGeom>
            <a:solidFill>
              <a:schemeClr val="accent4">
                <a:lumMod val="75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r>
                <a:rPr lang="es-ES_tradnl" sz="1467" dirty="0">
                  <a:solidFill>
                    <a:srgbClr val="FFFFFF"/>
                  </a:solidFill>
                </a:rPr>
                <a:t>IPv6 </a:t>
              </a:r>
              <a:r>
                <a:rPr lang="es-ES_tradnl" sz="1467" dirty="0" err="1">
                  <a:solidFill>
                    <a:srgbClr val="FFFFFF"/>
                  </a:solidFill>
                </a:rPr>
                <a:t>Hdr</a:t>
              </a:r>
              <a:endParaRPr lang="es-ES_tradnl" sz="1467" b="1" dirty="0">
                <a:solidFill>
                  <a:srgbClr val="FFC000"/>
                </a:solidFill>
              </a:endParaRPr>
            </a:p>
          </p:txBody>
        </p:sp>
        <p:sp>
          <p:nvSpPr>
            <p:cNvPr id="68" name="Rectangle 67"/>
            <p:cNvSpPr/>
            <p:nvPr/>
          </p:nvSpPr>
          <p:spPr>
            <a:xfrm>
              <a:off x="609787" y="4386209"/>
              <a:ext cx="3755581"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Segment List [ 2 ] = A2::</a:t>
              </a:r>
            </a:p>
          </p:txBody>
        </p:sp>
        <p:sp>
          <p:nvSpPr>
            <p:cNvPr id="69" name="Rectángulo redondeado 65"/>
            <p:cNvSpPr/>
            <p:nvPr/>
          </p:nvSpPr>
          <p:spPr>
            <a:xfrm rot="16200000">
              <a:off x="-33023" y="3964481"/>
              <a:ext cx="1087804" cy="197783"/>
            </a:xfrm>
            <a:prstGeom prst="rect">
              <a:avLst/>
            </a:prstGeom>
            <a:solidFill>
              <a:schemeClr val="tx2">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467" dirty="0">
                  <a:solidFill>
                    <a:srgbClr val="FFFFFF"/>
                  </a:solidFill>
                </a:rPr>
                <a:t>SR </a:t>
              </a:r>
              <a:r>
                <a:rPr lang="es-ES_tradnl" sz="1467" dirty="0" err="1">
                  <a:solidFill>
                    <a:srgbClr val="FFFFFF"/>
                  </a:solidFill>
                </a:rPr>
                <a:t>Hdr</a:t>
              </a:r>
              <a:endParaRPr lang="es-ES_tradnl" sz="1467" dirty="0">
                <a:solidFill>
                  <a:srgbClr val="FFFFFF"/>
                </a:solidFill>
              </a:endParaRPr>
            </a:p>
          </p:txBody>
        </p:sp>
        <p:sp>
          <p:nvSpPr>
            <p:cNvPr id="70" name="Rectangle 69"/>
            <p:cNvSpPr/>
            <p:nvPr/>
          </p:nvSpPr>
          <p:spPr>
            <a:xfrm>
              <a:off x="609780" y="4595103"/>
              <a:ext cx="3581220" cy="221064"/>
            </a:xfrm>
            <a:prstGeom prst="rect">
              <a:avLst/>
            </a:prstGeom>
            <a:solidFill>
              <a:schemeClr val="tx1">
                <a:lumMod val="40000"/>
                <a:lumOff val="60000"/>
              </a:schemeClr>
            </a:solidFill>
            <a:ln w="9525">
              <a:no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Payload</a:t>
              </a:r>
            </a:p>
          </p:txBody>
        </p:sp>
        <p:sp>
          <p:nvSpPr>
            <p:cNvPr id="71" name="Rectángulo redondeado 64"/>
            <p:cNvSpPr/>
            <p:nvPr/>
          </p:nvSpPr>
          <p:spPr>
            <a:xfrm rot="10800000">
              <a:off x="411949" y="4595103"/>
              <a:ext cx="197811" cy="221062"/>
            </a:xfrm>
            <a:prstGeom prst="round1Rect">
              <a:avLst/>
            </a:prstGeom>
            <a:solidFill>
              <a:schemeClr val="tx1">
                <a:lumMod val="40000"/>
                <a:lumOff val="6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467" b="1" dirty="0">
                <a:solidFill>
                  <a:srgbClr val="FFC000"/>
                </a:solidFill>
              </a:endParaRPr>
            </a:p>
          </p:txBody>
        </p:sp>
        <p:sp>
          <p:nvSpPr>
            <p:cNvPr id="72" name="Rectángulo redondeado 64"/>
            <p:cNvSpPr/>
            <p:nvPr/>
          </p:nvSpPr>
          <p:spPr>
            <a:xfrm rot="5400000">
              <a:off x="4160388" y="4604837"/>
              <a:ext cx="221059" cy="201600"/>
            </a:xfrm>
            <a:prstGeom prst="round1Rect">
              <a:avLst/>
            </a:prstGeom>
            <a:solidFill>
              <a:schemeClr val="tx1">
                <a:lumMod val="40000"/>
                <a:lumOff val="6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467" b="1" dirty="0">
                <a:solidFill>
                  <a:srgbClr val="FFC000"/>
                </a:solidFill>
              </a:endParaRPr>
            </a:p>
          </p:txBody>
        </p:sp>
        <p:sp>
          <p:nvSpPr>
            <p:cNvPr id="73" name="Rectángulo redondeado 64"/>
            <p:cNvSpPr/>
            <p:nvPr/>
          </p:nvSpPr>
          <p:spPr>
            <a:xfrm>
              <a:off x="4162049" y="2642505"/>
              <a:ext cx="203320" cy="218585"/>
            </a:xfrm>
            <a:prstGeom prst="round1Rect">
              <a:avLst/>
            </a:prstGeom>
            <a:solidFill>
              <a:schemeClr val="accent4">
                <a:lumMod val="40000"/>
                <a:lumOff val="60000"/>
              </a:schemeClr>
            </a:solidFill>
            <a:ln w="9525">
              <a:solidFill>
                <a:schemeClr val="accent4">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467" b="1" dirty="0">
                <a:solidFill>
                  <a:srgbClr val="FFC000"/>
                </a:solidFill>
              </a:endParaRPr>
            </a:p>
          </p:txBody>
        </p:sp>
        <p:sp>
          <p:nvSpPr>
            <p:cNvPr id="74" name="Rectangle 73"/>
            <p:cNvSpPr/>
            <p:nvPr/>
          </p:nvSpPr>
          <p:spPr>
            <a:xfrm>
              <a:off x="2245802" y="2642648"/>
              <a:ext cx="2005523" cy="218586"/>
            </a:xfrm>
            <a:prstGeom prst="rect">
              <a:avLst/>
            </a:prstGeom>
            <a:solidFill>
              <a:schemeClr val="accent4">
                <a:lumMod val="40000"/>
                <a:lumOff val="60000"/>
              </a:schemeClr>
            </a:solidFill>
            <a:ln w="9525">
              <a:solidFill>
                <a:schemeClr val="accent4">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Flow Label</a:t>
              </a:r>
            </a:p>
          </p:txBody>
        </p:sp>
        <p:sp>
          <p:nvSpPr>
            <p:cNvPr id="75" name="Rectangle 74"/>
            <p:cNvSpPr/>
            <p:nvPr/>
          </p:nvSpPr>
          <p:spPr>
            <a:xfrm>
              <a:off x="2306126" y="2648836"/>
              <a:ext cx="1992823" cy="205264"/>
            </a:xfrm>
            <a:prstGeom prst="rect">
              <a:avLst/>
            </a:prstGeom>
            <a:solidFill>
              <a:schemeClr val="accent4">
                <a:lumMod val="40000"/>
                <a:lumOff val="60000"/>
              </a:schemeClr>
            </a:solidFill>
            <a:ln w="9525">
              <a:no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Flow Label</a:t>
              </a:r>
            </a:p>
          </p:txBody>
        </p:sp>
      </p:grpSp>
      <p:cxnSp>
        <p:nvCxnSpPr>
          <p:cNvPr id="76" name="Conector recto de flecha 27"/>
          <p:cNvCxnSpPr>
            <a:stCxn id="118" idx="6"/>
            <a:endCxn id="120" idx="2"/>
          </p:cNvCxnSpPr>
          <p:nvPr/>
        </p:nvCxnSpPr>
        <p:spPr>
          <a:xfrm>
            <a:off x="9262896" y="1332245"/>
            <a:ext cx="663025" cy="0"/>
          </a:xfrm>
          <a:prstGeom prst="straightConnector1">
            <a:avLst/>
          </a:prstGeom>
          <a:ln w="317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7" name="Conector recto de flecha 27"/>
          <p:cNvCxnSpPr>
            <a:stCxn id="81" idx="6"/>
            <a:endCxn id="137" idx="2"/>
          </p:cNvCxnSpPr>
          <p:nvPr/>
        </p:nvCxnSpPr>
        <p:spPr>
          <a:xfrm>
            <a:off x="7103573" y="1332245"/>
            <a:ext cx="663025" cy="0"/>
          </a:xfrm>
          <a:prstGeom prst="straightConnector1">
            <a:avLst/>
          </a:prstGeom>
          <a:ln w="317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80" name="Elipse 11"/>
          <p:cNvSpPr/>
          <p:nvPr/>
        </p:nvSpPr>
        <p:spPr>
          <a:xfrm>
            <a:off x="11164944" y="1044245"/>
            <a:ext cx="576000" cy="576000"/>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b="1" dirty="0">
                <a:solidFill>
                  <a:srgbClr val="676767"/>
                </a:solidFill>
              </a:rPr>
              <a:t>4</a:t>
            </a:r>
          </a:p>
          <a:p>
            <a:pPr algn="ctr"/>
            <a:r>
              <a:rPr lang="ru-RU" sz="1200" b="1" dirty="0">
                <a:solidFill>
                  <a:srgbClr val="676767"/>
                </a:solidFill>
              </a:rPr>
              <a:t>A4::</a:t>
            </a:r>
            <a:endParaRPr lang="es-ES_tradnl" sz="1200" dirty="0">
              <a:solidFill>
                <a:srgbClr val="676767"/>
              </a:solidFill>
            </a:endParaRPr>
          </a:p>
        </p:txBody>
      </p:sp>
      <p:sp>
        <p:nvSpPr>
          <p:cNvPr id="81" name="Elipse 11"/>
          <p:cNvSpPr/>
          <p:nvPr/>
        </p:nvSpPr>
        <p:spPr>
          <a:xfrm>
            <a:off x="6527572" y="1044245"/>
            <a:ext cx="576000" cy="576000"/>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b="1" dirty="0">
                <a:solidFill>
                  <a:srgbClr val="676767"/>
                </a:solidFill>
              </a:rPr>
              <a:t>1</a:t>
            </a:r>
          </a:p>
          <a:p>
            <a:pPr algn="ctr"/>
            <a:r>
              <a:rPr lang="ru-RU" sz="1200" b="1" dirty="0">
                <a:solidFill>
                  <a:srgbClr val="676767"/>
                </a:solidFill>
              </a:rPr>
              <a:t>A1::</a:t>
            </a:r>
            <a:endParaRPr lang="es-ES_tradnl" sz="1200" dirty="0">
              <a:solidFill>
                <a:srgbClr val="676767"/>
              </a:solidFill>
            </a:endParaRPr>
          </a:p>
        </p:txBody>
      </p:sp>
      <p:sp>
        <p:nvSpPr>
          <p:cNvPr id="118" name="Elipse 11"/>
          <p:cNvSpPr/>
          <p:nvPr/>
        </p:nvSpPr>
        <p:spPr>
          <a:xfrm>
            <a:off x="8686895" y="1044245"/>
            <a:ext cx="576000" cy="576000"/>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is-IS" sz="1200" b="1" dirty="0">
                <a:solidFill>
                  <a:srgbClr val="676767"/>
                </a:solidFill>
              </a:rPr>
              <a:t>2</a:t>
            </a:r>
            <a:endParaRPr lang="es-ES_tradnl" sz="1200" b="1" dirty="0">
              <a:solidFill>
                <a:srgbClr val="676767"/>
              </a:solidFill>
            </a:endParaRPr>
          </a:p>
          <a:p>
            <a:pPr algn="ctr"/>
            <a:r>
              <a:rPr lang="is-IS" sz="1200" b="1" dirty="0">
                <a:solidFill>
                  <a:srgbClr val="676767"/>
                </a:solidFill>
              </a:rPr>
              <a:t>A2::</a:t>
            </a:r>
            <a:endParaRPr lang="es-ES_tradnl" sz="1200" dirty="0">
              <a:solidFill>
                <a:srgbClr val="676767"/>
              </a:solidFill>
            </a:endParaRPr>
          </a:p>
        </p:txBody>
      </p:sp>
      <p:sp>
        <p:nvSpPr>
          <p:cNvPr id="120" name="Elipse 11"/>
          <p:cNvSpPr/>
          <p:nvPr/>
        </p:nvSpPr>
        <p:spPr>
          <a:xfrm>
            <a:off x="9925920" y="1044245"/>
            <a:ext cx="576000" cy="576000"/>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b="1" dirty="0">
                <a:solidFill>
                  <a:srgbClr val="676767"/>
                </a:solidFill>
              </a:rPr>
              <a:t>3</a:t>
            </a:r>
          </a:p>
          <a:p>
            <a:pPr algn="ctr"/>
            <a:r>
              <a:rPr lang="ru-RU" sz="1200" b="1" dirty="0">
                <a:solidFill>
                  <a:srgbClr val="676767"/>
                </a:solidFill>
              </a:rPr>
              <a:t>A3::</a:t>
            </a:r>
            <a:endParaRPr lang="es-ES_tradnl" sz="1200" dirty="0">
              <a:solidFill>
                <a:srgbClr val="676767"/>
              </a:solidFill>
            </a:endParaRPr>
          </a:p>
        </p:txBody>
      </p:sp>
      <p:cxnSp>
        <p:nvCxnSpPr>
          <p:cNvPr id="126" name="Conector recto de flecha 27"/>
          <p:cNvCxnSpPr>
            <a:stCxn id="120" idx="6"/>
            <a:endCxn id="80" idx="2"/>
          </p:cNvCxnSpPr>
          <p:nvPr/>
        </p:nvCxnSpPr>
        <p:spPr>
          <a:xfrm>
            <a:off x="10501920" y="1332245"/>
            <a:ext cx="663024" cy="0"/>
          </a:xfrm>
          <a:prstGeom prst="straightConnector1">
            <a:avLst/>
          </a:prstGeom>
          <a:ln w="317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a:stCxn id="83" idx="0"/>
            <a:endCxn id="67" idx="3"/>
          </p:cNvCxnSpPr>
          <p:nvPr/>
        </p:nvCxnSpPr>
        <p:spPr>
          <a:xfrm flipH="1">
            <a:off x="6745533" y="1841471"/>
            <a:ext cx="1574911" cy="1630128"/>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a:stCxn id="84" idx="3"/>
            <a:endCxn id="73" idx="0"/>
          </p:cNvCxnSpPr>
          <p:nvPr/>
        </p:nvCxnSpPr>
        <p:spPr>
          <a:xfrm>
            <a:off x="10444520" y="1841471"/>
            <a:ext cx="1304784" cy="1634456"/>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37" name="Elipse 11"/>
          <p:cNvSpPr/>
          <p:nvPr/>
        </p:nvSpPr>
        <p:spPr>
          <a:xfrm>
            <a:off x="7766597" y="1203609"/>
            <a:ext cx="257272" cy="257272"/>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dirty="0">
                <a:solidFill>
                  <a:srgbClr val="676767"/>
                </a:solidFill>
              </a:rPr>
              <a:t>R</a:t>
            </a:r>
          </a:p>
        </p:txBody>
      </p:sp>
      <p:cxnSp>
        <p:nvCxnSpPr>
          <p:cNvPr id="140" name="Conector recto de flecha 27"/>
          <p:cNvCxnSpPr>
            <a:stCxn id="137" idx="6"/>
            <a:endCxn id="118" idx="2"/>
          </p:cNvCxnSpPr>
          <p:nvPr/>
        </p:nvCxnSpPr>
        <p:spPr>
          <a:xfrm>
            <a:off x="8023870" y="1332245"/>
            <a:ext cx="663025" cy="0"/>
          </a:xfrm>
          <a:prstGeom prst="straightConnector1">
            <a:avLst/>
          </a:prstGeom>
          <a:ln w="317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 name="Text Placeholder 1">
            <a:extLst>
              <a:ext uri="{FF2B5EF4-FFF2-40B4-BE49-F238E27FC236}">
                <a16:creationId xmlns:a16="http://schemas.microsoft.com/office/drawing/2014/main" id="{3BC4E7AD-7826-9F30-6253-E3CDE002C5BD}"/>
              </a:ext>
            </a:extLst>
          </p:cNvPr>
          <p:cNvSpPr>
            <a:spLocks noGrp="1"/>
          </p:cNvSpPr>
          <p:nvPr>
            <p:ph type="body" sz="quarter" idx="11"/>
          </p:nvPr>
        </p:nvSpPr>
        <p:spPr/>
        <p:txBody>
          <a:bodyPr/>
          <a:lstStyle/>
          <a:p>
            <a:r>
              <a:rPr lang="en-US" dirty="0"/>
              <a:t>Forwarding - SR Segment Endpoints (2)</a:t>
            </a:r>
          </a:p>
        </p:txBody>
      </p:sp>
    </p:spTree>
    <p:extLst>
      <p:ext uri="{BB962C8B-B14F-4D97-AF65-F5344CB8AC3E}">
        <p14:creationId xmlns:p14="http://schemas.microsoft.com/office/powerpoint/2010/main" val="327582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afterEffect">
                                  <p:stCondLst>
                                    <p:cond delay="0"/>
                                  </p:stCondLst>
                                  <p:childTnLst>
                                    <p:animMotion origin="layout" path="M 0.08724 -0.00741 L 0.17591 -0.00741 " pathEditMode="relative" rAng="0" ptsTypes="AA">
                                      <p:cBhvr>
                                        <p:cTn id="6" dur="2000" fill="hold"/>
                                        <p:tgtEl>
                                          <p:spTgt spid="138"/>
                                        </p:tgtEl>
                                        <p:attrNameLst>
                                          <p:attrName>ppt_x</p:attrName>
                                          <p:attrName>ppt_y</p:attrName>
                                        </p:attrNameLst>
                                      </p:cBhvr>
                                      <p:rCtr x="442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9" name="Group 88"/>
          <p:cNvGrpSpPr/>
          <p:nvPr/>
        </p:nvGrpSpPr>
        <p:grpSpPr>
          <a:xfrm>
            <a:off x="9618182" y="1734048"/>
            <a:ext cx="2114609" cy="644528"/>
            <a:chOff x="3435803" y="1769864"/>
            <a:chExt cx="1487827" cy="483396"/>
          </a:xfrm>
        </p:grpSpPr>
        <p:sp>
          <p:nvSpPr>
            <p:cNvPr id="90" name="Rectángulo redondeado 65"/>
            <p:cNvSpPr/>
            <p:nvPr/>
          </p:nvSpPr>
          <p:spPr>
            <a:xfrm>
              <a:off x="3435803" y="1930995"/>
              <a:ext cx="434863" cy="161131"/>
            </a:xfrm>
            <a:prstGeom prst="rect">
              <a:avLst/>
            </a:prstGeom>
            <a:solidFill>
              <a:schemeClr val="tx2">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FFFFFF"/>
                  </a:solidFill>
                </a:rPr>
                <a:t>SR </a:t>
              </a:r>
              <a:r>
                <a:rPr lang="es-ES_tradnl" sz="1067" dirty="0" err="1">
                  <a:solidFill>
                    <a:srgbClr val="FFFFFF"/>
                  </a:solidFill>
                </a:rPr>
                <a:t>Hdr</a:t>
              </a:r>
              <a:endParaRPr lang="es-ES_tradnl" sz="1067" dirty="0">
                <a:solidFill>
                  <a:srgbClr val="FFFFFF"/>
                </a:solidFill>
              </a:endParaRPr>
            </a:p>
          </p:txBody>
        </p:sp>
        <p:sp>
          <p:nvSpPr>
            <p:cNvPr id="91" name="Rectángulo redondeado 64"/>
            <p:cNvSpPr/>
            <p:nvPr/>
          </p:nvSpPr>
          <p:spPr>
            <a:xfrm rot="16200000">
              <a:off x="3572670" y="1632999"/>
              <a:ext cx="161130" cy="434861"/>
            </a:xfrm>
            <a:prstGeom prst="round1Rect">
              <a:avLst/>
            </a:prstGeom>
            <a:solidFill>
              <a:schemeClr val="accent4">
                <a:lumMod val="75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 lIns="0" tIns="0" rIns="0" bIns="0" rtlCol="0" anchor="ctr"/>
            <a:lstStyle/>
            <a:p>
              <a:pPr algn="ctr"/>
              <a:r>
                <a:rPr lang="es-ES_tradnl" sz="1067" dirty="0">
                  <a:solidFill>
                    <a:srgbClr val="FFFFFF"/>
                  </a:solidFill>
                </a:rPr>
                <a:t>IPv6 </a:t>
              </a:r>
              <a:r>
                <a:rPr lang="es-ES_tradnl" sz="1067" dirty="0" err="1">
                  <a:solidFill>
                    <a:srgbClr val="FFFFFF"/>
                  </a:solidFill>
                </a:rPr>
                <a:t>Hdr</a:t>
              </a:r>
              <a:endParaRPr lang="es-ES_tradnl" sz="1067" b="1" dirty="0">
                <a:solidFill>
                  <a:srgbClr val="FFC000"/>
                </a:solidFill>
              </a:endParaRPr>
            </a:p>
          </p:txBody>
        </p:sp>
        <p:sp>
          <p:nvSpPr>
            <p:cNvPr id="92" name="Rectángulo redondeado 64"/>
            <p:cNvSpPr/>
            <p:nvPr/>
          </p:nvSpPr>
          <p:spPr>
            <a:xfrm>
              <a:off x="3870666" y="1769864"/>
              <a:ext cx="1052963" cy="161131"/>
            </a:xfrm>
            <a:prstGeom prst="round1Rect">
              <a:avLst/>
            </a:prstGeom>
            <a:solidFill>
              <a:schemeClr val="accent4">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r>
                <a:rPr lang="es-ES_tradnl" sz="1067" dirty="0">
                  <a:solidFill>
                    <a:srgbClr val="676767"/>
                  </a:solidFill>
                </a:rPr>
                <a:t>SA = A1::, DA = </a:t>
              </a:r>
              <a:r>
                <a:rPr lang="es-ES_tradnl" sz="1067" b="1" dirty="0">
                  <a:solidFill>
                    <a:srgbClr val="676767"/>
                  </a:solidFill>
                </a:rPr>
                <a:t>A4::</a:t>
              </a:r>
            </a:p>
          </p:txBody>
        </p:sp>
        <p:sp>
          <p:nvSpPr>
            <p:cNvPr id="93" name="Rectángulo redondeado 65"/>
            <p:cNvSpPr/>
            <p:nvPr/>
          </p:nvSpPr>
          <p:spPr>
            <a:xfrm>
              <a:off x="3870666" y="1930994"/>
              <a:ext cx="1052963" cy="161131"/>
            </a:xfrm>
            <a:prstGeom prst="rect">
              <a:avLst/>
            </a:prstGeom>
            <a:solidFill>
              <a:schemeClr val="tx2">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676767"/>
                  </a:solidFill>
                </a:rPr>
                <a:t>( </a:t>
              </a:r>
              <a:r>
                <a:rPr lang="es-ES_tradnl" sz="1067" b="1" dirty="0">
                  <a:solidFill>
                    <a:srgbClr val="FA661C"/>
                  </a:solidFill>
                </a:rPr>
                <a:t>A4::</a:t>
              </a:r>
              <a:r>
                <a:rPr lang="es-ES_tradnl" sz="1067" dirty="0">
                  <a:solidFill>
                    <a:srgbClr val="676767"/>
                  </a:solidFill>
                </a:rPr>
                <a:t>, A3::, A2::</a:t>
              </a:r>
              <a:r>
                <a:rPr lang="es-ES_tradnl" sz="1067" dirty="0">
                  <a:solidFill>
                    <a:srgbClr val="FA661C"/>
                  </a:solidFill>
                </a:rPr>
                <a:t> </a:t>
              </a:r>
              <a:r>
                <a:rPr lang="es-ES_tradnl" sz="1067" dirty="0">
                  <a:solidFill>
                    <a:srgbClr val="676767"/>
                  </a:solidFill>
                </a:rPr>
                <a:t>) SL=</a:t>
              </a:r>
              <a:r>
                <a:rPr lang="es-ES_tradnl" sz="1067" b="1" dirty="0">
                  <a:solidFill>
                    <a:srgbClr val="676767"/>
                  </a:solidFill>
                </a:rPr>
                <a:t>0</a:t>
              </a:r>
            </a:p>
          </p:txBody>
        </p:sp>
        <p:grpSp>
          <p:nvGrpSpPr>
            <p:cNvPr id="94" name="Group 93"/>
            <p:cNvGrpSpPr/>
            <p:nvPr/>
          </p:nvGrpSpPr>
          <p:grpSpPr>
            <a:xfrm>
              <a:off x="3435803" y="2092129"/>
              <a:ext cx="1487827" cy="161131"/>
              <a:chOff x="3435803" y="2345673"/>
              <a:chExt cx="1487827" cy="161131"/>
            </a:xfrm>
          </p:grpSpPr>
          <p:sp>
            <p:nvSpPr>
              <p:cNvPr id="95" name="Rectángulo redondeado 66"/>
              <p:cNvSpPr/>
              <p:nvPr/>
            </p:nvSpPr>
            <p:spPr>
              <a:xfrm rot="10800000">
                <a:off x="3435804" y="2345673"/>
                <a:ext cx="1487826" cy="161131"/>
              </a:xfrm>
              <a:prstGeom prst="round2SameRect">
                <a:avLst/>
              </a:prstGeom>
              <a:solidFill>
                <a:schemeClr val="tx1">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067" dirty="0">
                  <a:solidFill>
                    <a:srgbClr val="FFFFFF"/>
                  </a:solidFill>
                </a:endParaRPr>
              </a:p>
            </p:txBody>
          </p:sp>
          <p:sp>
            <p:nvSpPr>
              <p:cNvPr id="96" name="TextBox 95"/>
              <p:cNvSpPr txBox="1"/>
              <p:nvPr/>
            </p:nvSpPr>
            <p:spPr>
              <a:xfrm>
                <a:off x="3435803" y="2345673"/>
                <a:ext cx="1487827" cy="161131"/>
              </a:xfrm>
              <a:prstGeom prst="rect">
                <a:avLst/>
              </a:prstGeom>
              <a:noFill/>
            </p:spPr>
            <p:txBody>
              <a:bodyPr wrap="square" lIns="0" tIns="0" rIns="0" bIns="0" rtlCol="0" anchor="ctr">
                <a:normAutofit/>
              </a:bodyPr>
              <a:lstStyle/>
              <a:p>
                <a:pPr algn="ctr"/>
                <a:r>
                  <a:rPr lang="es-ES_tradnl" sz="1067" dirty="0" err="1">
                    <a:solidFill>
                      <a:srgbClr val="FFFFFF">
                        <a:lumMod val="50000"/>
                      </a:srgbClr>
                    </a:solidFill>
                    <a:latin typeface="Arial"/>
                  </a:rPr>
                  <a:t>Payload</a:t>
                </a:r>
                <a:endParaRPr lang="es-ES_tradnl" sz="1067" dirty="0">
                  <a:solidFill>
                    <a:srgbClr val="FFFFFF">
                      <a:lumMod val="50000"/>
                    </a:srgbClr>
                  </a:solidFill>
                  <a:latin typeface="Arial"/>
                </a:endParaRPr>
              </a:p>
            </p:txBody>
          </p:sp>
        </p:grpSp>
      </p:grpSp>
      <p:sp>
        <p:nvSpPr>
          <p:cNvPr id="138" name="Down Arrow 137"/>
          <p:cNvSpPr/>
          <p:nvPr/>
        </p:nvSpPr>
        <p:spPr>
          <a:xfrm>
            <a:off x="8886042" y="561600"/>
            <a:ext cx="177705" cy="363547"/>
          </a:xfrm>
          <a:prstGeom prst="downArrow">
            <a:avLst/>
          </a:prstGeom>
          <a:noFill/>
          <a:ln w="9525">
            <a:solidFill>
              <a:srgbClr val="C00000"/>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FFFFFF"/>
              </a:solidFill>
            </a:endParaRPr>
          </a:p>
        </p:txBody>
      </p:sp>
      <p:sp>
        <p:nvSpPr>
          <p:cNvPr id="4" name="Content Placeholder 3"/>
          <p:cNvSpPr>
            <a:spLocks noGrp="1"/>
          </p:cNvSpPr>
          <p:nvPr>
            <p:ph type="body" sz="quarter" idx="10"/>
          </p:nvPr>
        </p:nvSpPr>
        <p:spPr>
          <a:xfrm>
            <a:off x="152401" y="1047565"/>
            <a:ext cx="5970423" cy="4835519"/>
          </a:xfrm>
        </p:spPr>
        <p:txBody>
          <a:bodyPr anchor="t"/>
          <a:lstStyle/>
          <a:p>
            <a:r>
              <a:rPr lang="en-US" sz="1800" dirty="0"/>
              <a:t>SR Endpoints: SR-capable nodes whose address is in the IP DA</a:t>
            </a:r>
          </a:p>
          <a:p>
            <a:r>
              <a:rPr lang="en-US" sz="1800" dirty="0"/>
              <a:t>SR Endpoints inspect the SRH and do:</a:t>
            </a:r>
          </a:p>
          <a:p>
            <a:pPr lvl="1"/>
            <a:r>
              <a:rPr lang="en-US" sz="1800" dirty="0"/>
              <a:t>IF Segments Left &gt; 0, THEN</a:t>
            </a:r>
          </a:p>
          <a:p>
            <a:pPr lvl="2"/>
            <a:r>
              <a:rPr lang="en-US" sz="1600" dirty="0"/>
              <a:t>Decrement Segments Left ( -1 )</a:t>
            </a:r>
          </a:p>
          <a:p>
            <a:pPr lvl="2"/>
            <a:r>
              <a:rPr lang="en-US" sz="1600" dirty="0"/>
              <a:t>Update DA with Segment List [ Segments Left ]</a:t>
            </a:r>
          </a:p>
          <a:p>
            <a:pPr lvl="2"/>
            <a:r>
              <a:rPr lang="en-US" sz="1600" dirty="0"/>
              <a:t>Forward according to the new IP DA</a:t>
            </a:r>
          </a:p>
          <a:p>
            <a:pPr lvl="2"/>
            <a:endParaRPr lang="en-US" sz="1600" dirty="0"/>
          </a:p>
          <a:p>
            <a:pPr lvl="2"/>
            <a:endParaRPr lang="en-US" sz="1600" dirty="0"/>
          </a:p>
          <a:p>
            <a:pPr lvl="2"/>
            <a:endParaRPr lang="en-US" sz="1600" dirty="0"/>
          </a:p>
          <a:p>
            <a:pPr lvl="1"/>
            <a:r>
              <a:rPr lang="en-US" sz="1800" dirty="0"/>
              <a:t>ELSE (Segments Left = 0)</a:t>
            </a:r>
          </a:p>
          <a:p>
            <a:pPr lvl="2"/>
            <a:r>
              <a:rPr lang="en-US" sz="1600" dirty="0"/>
              <a:t>Remove the IP and SR header</a:t>
            </a:r>
          </a:p>
          <a:p>
            <a:pPr lvl="2"/>
            <a:r>
              <a:rPr lang="en-US" sz="1600" dirty="0"/>
              <a:t>Process the payload:</a:t>
            </a:r>
          </a:p>
          <a:p>
            <a:pPr lvl="3"/>
            <a:r>
              <a:rPr lang="en-US" sz="1200" dirty="0"/>
              <a:t>Inner IP: Lookup DA and forward </a:t>
            </a:r>
          </a:p>
          <a:p>
            <a:pPr lvl="3"/>
            <a:r>
              <a:rPr lang="en-US" sz="1200" dirty="0"/>
              <a:t>TCP / UDP: Send to socket</a:t>
            </a:r>
          </a:p>
          <a:p>
            <a:pPr lvl="3"/>
            <a:r>
              <a:rPr lang="mr-IN" sz="1200" dirty="0"/>
              <a:t>…</a:t>
            </a:r>
            <a:endParaRPr lang="en-US" sz="1200" dirty="0"/>
          </a:p>
        </p:txBody>
      </p:sp>
      <p:sp>
        <p:nvSpPr>
          <p:cNvPr id="2" name="Text Placeholder 1">
            <a:extLst>
              <a:ext uri="{FF2B5EF4-FFF2-40B4-BE49-F238E27FC236}">
                <a16:creationId xmlns:a16="http://schemas.microsoft.com/office/drawing/2014/main" id="{F86627BF-21F5-F6DD-14B4-CD925B8E7CC6}"/>
              </a:ext>
            </a:extLst>
          </p:cNvPr>
          <p:cNvSpPr>
            <a:spLocks noGrp="1"/>
          </p:cNvSpPr>
          <p:nvPr>
            <p:ph type="body" sz="quarter" idx="11"/>
          </p:nvPr>
        </p:nvSpPr>
        <p:spPr/>
        <p:txBody>
          <a:bodyPr/>
          <a:lstStyle/>
          <a:p>
            <a:r>
              <a:rPr lang="en-US" dirty="0"/>
              <a:t>Forwarding - SR Segment Endpoints</a:t>
            </a:r>
          </a:p>
        </p:txBody>
      </p:sp>
      <p:grpSp>
        <p:nvGrpSpPr>
          <p:cNvPr id="50" name="Group 49"/>
          <p:cNvGrpSpPr/>
          <p:nvPr/>
        </p:nvGrpSpPr>
        <p:grpSpPr>
          <a:xfrm>
            <a:off x="6613625" y="3471599"/>
            <a:ext cx="5279692" cy="2902544"/>
            <a:chOff x="411949" y="2639259"/>
            <a:chExt cx="3959769" cy="2176908"/>
          </a:xfrm>
        </p:grpSpPr>
        <p:sp>
          <p:nvSpPr>
            <p:cNvPr id="51" name="Rectangle 50"/>
            <p:cNvSpPr/>
            <p:nvPr/>
          </p:nvSpPr>
          <p:spPr>
            <a:xfrm>
              <a:off x="609808" y="2642648"/>
              <a:ext cx="661308" cy="221064"/>
            </a:xfrm>
            <a:prstGeom prst="rect">
              <a:avLst/>
            </a:prstGeom>
            <a:solidFill>
              <a:schemeClr val="accent4">
                <a:lumMod val="40000"/>
                <a:lumOff val="60000"/>
              </a:schemeClr>
            </a:solidFill>
            <a:ln w="9525">
              <a:solidFill>
                <a:schemeClr val="accent4">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Version</a:t>
              </a:r>
            </a:p>
          </p:txBody>
        </p:sp>
        <p:sp>
          <p:nvSpPr>
            <p:cNvPr id="52" name="Rectangle 51"/>
            <p:cNvSpPr/>
            <p:nvPr/>
          </p:nvSpPr>
          <p:spPr>
            <a:xfrm>
              <a:off x="1271116" y="2642648"/>
              <a:ext cx="974691" cy="221064"/>
            </a:xfrm>
            <a:prstGeom prst="rect">
              <a:avLst/>
            </a:prstGeom>
            <a:solidFill>
              <a:schemeClr val="accent4">
                <a:lumMod val="40000"/>
                <a:lumOff val="60000"/>
              </a:schemeClr>
            </a:solidFill>
            <a:ln w="9525">
              <a:solidFill>
                <a:schemeClr val="accent4">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Traffic Class</a:t>
              </a:r>
            </a:p>
          </p:txBody>
        </p:sp>
        <p:sp>
          <p:nvSpPr>
            <p:cNvPr id="53" name="Rectangle 52"/>
            <p:cNvSpPr/>
            <p:nvPr/>
          </p:nvSpPr>
          <p:spPr>
            <a:xfrm>
              <a:off x="2487592" y="2861234"/>
              <a:ext cx="938895" cy="221064"/>
            </a:xfrm>
            <a:prstGeom prst="rect">
              <a:avLst/>
            </a:prstGeom>
            <a:solidFill>
              <a:schemeClr val="accent4">
                <a:lumMod val="40000"/>
                <a:lumOff val="60000"/>
              </a:schemeClr>
            </a:solidFill>
            <a:ln w="9525">
              <a:solidFill>
                <a:schemeClr val="accent4">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Next = 43</a:t>
              </a:r>
            </a:p>
          </p:txBody>
        </p:sp>
        <p:sp>
          <p:nvSpPr>
            <p:cNvPr id="54" name="Rectangle 53"/>
            <p:cNvSpPr/>
            <p:nvPr/>
          </p:nvSpPr>
          <p:spPr>
            <a:xfrm>
              <a:off x="3426487" y="2861234"/>
              <a:ext cx="938895" cy="221064"/>
            </a:xfrm>
            <a:prstGeom prst="rect">
              <a:avLst/>
            </a:prstGeom>
            <a:solidFill>
              <a:schemeClr val="accent4">
                <a:lumMod val="40000"/>
                <a:lumOff val="60000"/>
              </a:schemeClr>
            </a:solidFill>
            <a:ln w="9525">
              <a:solidFill>
                <a:schemeClr val="accent4">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Hop Limit</a:t>
              </a:r>
            </a:p>
          </p:txBody>
        </p:sp>
        <p:sp>
          <p:nvSpPr>
            <p:cNvPr id="55" name="Rectangle 54"/>
            <p:cNvSpPr/>
            <p:nvPr/>
          </p:nvSpPr>
          <p:spPr>
            <a:xfrm>
              <a:off x="609807" y="2861234"/>
              <a:ext cx="1877790" cy="221064"/>
            </a:xfrm>
            <a:prstGeom prst="rect">
              <a:avLst/>
            </a:prstGeom>
            <a:solidFill>
              <a:schemeClr val="accent4">
                <a:lumMod val="40000"/>
                <a:lumOff val="60000"/>
              </a:schemeClr>
            </a:solidFill>
            <a:ln w="9525">
              <a:solidFill>
                <a:schemeClr val="accent4">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a:solidFill>
                    <a:srgbClr val="676767"/>
                  </a:solidFill>
                </a:rPr>
                <a:t>Payload Length</a:t>
              </a:r>
              <a:endParaRPr lang="en-US" sz="1467" dirty="0">
                <a:solidFill>
                  <a:srgbClr val="676767"/>
                </a:solidFill>
              </a:endParaRPr>
            </a:p>
          </p:txBody>
        </p:sp>
        <p:sp>
          <p:nvSpPr>
            <p:cNvPr id="56" name="Rectangle 55"/>
            <p:cNvSpPr/>
            <p:nvPr/>
          </p:nvSpPr>
          <p:spPr>
            <a:xfrm>
              <a:off x="609800" y="3079820"/>
              <a:ext cx="3755581" cy="221064"/>
            </a:xfrm>
            <a:prstGeom prst="rect">
              <a:avLst/>
            </a:prstGeom>
            <a:solidFill>
              <a:schemeClr val="accent4">
                <a:lumMod val="40000"/>
                <a:lumOff val="60000"/>
              </a:schemeClr>
            </a:solidFill>
            <a:ln w="9525">
              <a:solidFill>
                <a:schemeClr val="accent4">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Source Address = A1::</a:t>
              </a:r>
            </a:p>
          </p:txBody>
        </p:sp>
        <p:sp>
          <p:nvSpPr>
            <p:cNvPr id="57" name="Rectangle 56"/>
            <p:cNvSpPr/>
            <p:nvPr/>
          </p:nvSpPr>
          <p:spPr>
            <a:xfrm>
              <a:off x="609799" y="3298406"/>
              <a:ext cx="3755581" cy="221064"/>
            </a:xfrm>
            <a:prstGeom prst="rect">
              <a:avLst/>
            </a:prstGeom>
            <a:solidFill>
              <a:schemeClr val="accent4">
                <a:lumMod val="40000"/>
                <a:lumOff val="60000"/>
              </a:schemeClr>
            </a:solidFill>
            <a:ln w="9525">
              <a:solidFill>
                <a:schemeClr val="accent4">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Destination Address = </a:t>
              </a:r>
              <a:r>
                <a:rPr lang="en-US" sz="1467" b="1" dirty="0">
                  <a:solidFill>
                    <a:srgbClr val="FF0000"/>
                  </a:solidFill>
                </a:rPr>
                <a:t>A4::</a:t>
              </a:r>
            </a:p>
          </p:txBody>
        </p:sp>
        <p:sp>
          <p:nvSpPr>
            <p:cNvPr id="58" name="Rectangle 57"/>
            <p:cNvSpPr/>
            <p:nvPr/>
          </p:nvSpPr>
          <p:spPr>
            <a:xfrm>
              <a:off x="609795" y="3963776"/>
              <a:ext cx="3755581"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Segment List [ 0 ] = </a:t>
              </a:r>
              <a:r>
                <a:rPr lang="en-US" sz="1467" dirty="0">
                  <a:solidFill>
                    <a:srgbClr val="FF0000"/>
                  </a:solidFill>
                </a:rPr>
                <a:t>A4::</a:t>
              </a:r>
            </a:p>
          </p:txBody>
        </p:sp>
        <p:sp>
          <p:nvSpPr>
            <p:cNvPr id="59" name="Rectangle 58"/>
            <p:cNvSpPr/>
            <p:nvPr/>
          </p:nvSpPr>
          <p:spPr>
            <a:xfrm>
              <a:off x="609795" y="4176317"/>
              <a:ext cx="3755581"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Segment List [ 1 ] = A3::</a:t>
              </a:r>
            </a:p>
          </p:txBody>
        </p:sp>
        <p:sp>
          <p:nvSpPr>
            <p:cNvPr id="60" name="Rectangle 59"/>
            <p:cNvSpPr/>
            <p:nvPr/>
          </p:nvSpPr>
          <p:spPr>
            <a:xfrm>
              <a:off x="609798" y="3520559"/>
              <a:ext cx="938895"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676767"/>
                  </a:solidFill>
                </a:rPr>
                <a:t>Next Header</a:t>
              </a:r>
            </a:p>
          </p:txBody>
        </p:sp>
        <p:sp>
          <p:nvSpPr>
            <p:cNvPr id="61" name="Rectangle 60"/>
            <p:cNvSpPr/>
            <p:nvPr/>
          </p:nvSpPr>
          <p:spPr>
            <a:xfrm>
              <a:off x="1548693" y="3521648"/>
              <a:ext cx="938895"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Len= 6</a:t>
              </a:r>
            </a:p>
          </p:txBody>
        </p:sp>
        <p:sp>
          <p:nvSpPr>
            <p:cNvPr id="62" name="Rectangle 61"/>
            <p:cNvSpPr/>
            <p:nvPr/>
          </p:nvSpPr>
          <p:spPr>
            <a:xfrm>
              <a:off x="2487587" y="3521648"/>
              <a:ext cx="938895"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Type = 4</a:t>
              </a:r>
            </a:p>
          </p:txBody>
        </p:sp>
        <p:sp>
          <p:nvSpPr>
            <p:cNvPr id="63" name="Rectangle 62"/>
            <p:cNvSpPr/>
            <p:nvPr/>
          </p:nvSpPr>
          <p:spPr>
            <a:xfrm>
              <a:off x="3426482" y="3521648"/>
              <a:ext cx="938895"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SL = </a:t>
              </a:r>
              <a:r>
                <a:rPr lang="en-US" sz="1467" b="1" dirty="0">
                  <a:solidFill>
                    <a:srgbClr val="FF0000"/>
                  </a:solidFill>
                </a:rPr>
                <a:t>0</a:t>
              </a:r>
            </a:p>
          </p:txBody>
        </p:sp>
        <p:sp>
          <p:nvSpPr>
            <p:cNvPr id="64" name="Rectangle 63"/>
            <p:cNvSpPr/>
            <p:nvPr/>
          </p:nvSpPr>
          <p:spPr>
            <a:xfrm>
              <a:off x="609795" y="3745361"/>
              <a:ext cx="938895" cy="218415"/>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First = 2</a:t>
              </a:r>
            </a:p>
          </p:txBody>
        </p:sp>
        <p:sp>
          <p:nvSpPr>
            <p:cNvPr id="65" name="Rectangle 64"/>
            <p:cNvSpPr/>
            <p:nvPr/>
          </p:nvSpPr>
          <p:spPr>
            <a:xfrm>
              <a:off x="1548690" y="3742712"/>
              <a:ext cx="938908"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Flags</a:t>
              </a:r>
            </a:p>
          </p:txBody>
        </p:sp>
        <p:sp>
          <p:nvSpPr>
            <p:cNvPr id="66" name="Rectangle 65"/>
            <p:cNvSpPr/>
            <p:nvPr/>
          </p:nvSpPr>
          <p:spPr>
            <a:xfrm>
              <a:off x="2487574" y="3742855"/>
              <a:ext cx="1877796"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676767"/>
                  </a:solidFill>
                </a:rPr>
                <a:t>TAG</a:t>
              </a:r>
            </a:p>
          </p:txBody>
        </p:sp>
        <p:sp>
          <p:nvSpPr>
            <p:cNvPr id="67" name="Rectángulo redondeado 64"/>
            <p:cNvSpPr/>
            <p:nvPr/>
          </p:nvSpPr>
          <p:spPr>
            <a:xfrm rot="16200000">
              <a:off x="69450" y="2981790"/>
              <a:ext cx="882860" cy="197798"/>
            </a:xfrm>
            <a:prstGeom prst="round1Rect">
              <a:avLst/>
            </a:prstGeom>
            <a:solidFill>
              <a:schemeClr val="accent4">
                <a:lumMod val="75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r>
                <a:rPr lang="es-ES_tradnl" sz="1467" dirty="0">
                  <a:solidFill>
                    <a:srgbClr val="FFFFFF"/>
                  </a:solidFill>
                </a:rPr>
                <a:t>IPv6 </a:t>
              </a:r>
              <a:r>
                <a:rPr lang="es-ES_tradnl" sz="1467" dirty="0" err="1">
                  <a:solidFill>
                    <a:srgbClr val="FFFFFF"/>
                  </a:solidFill>
                </a:rPr>
                <a:t>Hdr</a:t>
              </a:r>
              <a:endParaRPr lang="es-ES_tradnl" sz="1467" b="1" dirty="0">
                <a:solidFill>
                  <a:srgbClr val="FFC000"/>
                </a:solidFill>
              </a:endParaRPr>
            </a:p>
          </p:txBody>
        </p:sp>
        <p:sp>
          <p:nvSpPr>
            <p:cNvPr id="68" name="Rectangle 67"/>
            <p:cNvSpPr/>
            <p:nvPr/>
          </p:nvSpPr>
          <p:spPr>
            <a:xfrm>
              <a:off x="609787" y="4386209"/>
              <a:ext cx="3755581" cy="221064"/>
            </a:xfrm>
            <a:prstGeom prst="rect">
              <a:avLst/>
            </a:prstGeom>
            <a:solidFill>
              <a:schemeClr val="tx2">
                <a:lumMod val="40000"/>
                <a:lumOff val="60000"/>
              </a:schemeClr>
            </a:solidFill>
            <a:ln w="9525">
              <a:solidFill>
                <a:schemeClr val="tx2">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Segment List [ 2 ] = A2::</a:t>
              </a:r>
            </a:p>
          </p:txBody>
        </p:sp>
        <p:sp>
          <p:nvSpPr>
            <p:cNvPr id="69" name="Rectángulo redondeado 65"/>
            <p:cNvSpPr/>
            <p:nvPr/>
          </p:nvSpPr>
          <p:spPr>
            <a:xfrm rot="16200000">
              <a:off x="-33023" y="3964481"/>
              <a:ext cx="1087804" cy="197783"/>
            </a:xfrm>
            <a:prstGeom prst="rect">
              <a:avLst/>
            </a:prstGeom>
            <a:solidFill>
              <a:schemeClr val="tx2">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467" dirty="0">
                  <a:solidFill>
                    <a:srgbClr val="FFFFFF"/>
                  </a:solidFill>
                </a:rPr>
                <a:t>SR </a:t>
              </a:r>
              <a:r>
                <a:rPr lang="es-ES_tradnl" sz="1467" dirty="0" err="1">
                  <a:solidFill>
                    <a:srgbClr val="FFFFFF"/>
                  </a:solidFill>
                </a:rPr>
                <a:t>Hdr</a:t>
              </a:r>
              <a:endParaRPr lang="es-ES_tradnl" sz="1467" dirty="0">
                <a:solidFill>
                  <a:srgbClr val="FFFFFF"/>
                </a:solidFill>
              </a:endParaRPr>
            </a:p>
          </p:txBody>
        </p:sp>
        <p:sp>
          <p:nvSpPr>
            <p:cNvPr id="70" name="Rectangle 69"/>
            <p:cNvSpPr/>
            <p:nvPr/>
          </p:nvSpPr>
          <p:spPr>
            <a:xfrm>
              <a:off x="609780" y="4595103"/>
              <a:ext cx="3581220" cy="221064"/>
            </a:xfrm>
            <a:prstGeom prst="rect">
              <a:avLst/>
            </a:prstGeom>
            <a:solidFill>
              <a:schemeClr val="tx1">
                <a:lumMod val="40000"/>
                <a:lumOff val="60000"/>
              </a:schemeClr>
            </a:solidFill>
            <a:ln w="9525">
              <a:no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Payload</a:t>
              </a:r>
            </a:p>
          </p:txBody>
        </p:sp>
        <p:sp>
          <p:nvSpPr>
            <p:cNvPr id="71" name="Rectángulo redondeado 64"/>
            <p:cNvSpPr/>
            <p:nvPr/>
          </p:nvSpPr>
          <p:spPr>
            <a:xfrm rot="10800000">
              <a:off x="411949" y="4595103"/>
              <a:ext cx="197811" cy="221062"/>
            </a:xfrm>
            <a:prstGeom prst="round1Rect">
              <a:avLst/>
            </a:prstGeom>
            <a:solidFill>
              <a:schemeClr val="tx1">
                <a:lumMod val="40000"/>
                <a:lumOff val="6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467" b="1" dirty="0">
                <a:solidFill>
                  <a:srgbClr val="FFC000"/>
                </a:solidFill>
              </a:endParaRPr>
            </a:p>
          </p:txBody>
        </p:sp>
        <p:sp>
          <p:nvSpPr>
            <p:cNvPr id="72" name="Rectángulo redondeado 64"/>
            <p:cNvSpPr/>
            <p:nvPr/>
          </p:nvSpPr>
          <p:spPr>
            <a:xfrm rot="5400000">
              <a:off x="4160388" y="4604837"/>
              <a:ext cx="221059" cy="201600"/>
            </a:xfrm>
            <a:prstGeom prst="round1Rect">
              <a:avLst/>
            </a:prstGeom>
            <a:solidFill>
              <a:schemeClr val="tx1">
                <a:lumMod val="40000"/>
                <a:lumOff val="6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467" b="1" dirty="0">
                <a:solidFill>
                  <a:srgbClr val="FFC000"/>
                </a:solidFill>
              </a:endParaRPr>
            </a:p>
          </p:txBody>
        </p:sp>
        <p:sp>
          <p:nvSpPr>
            <p:cNvPr id="73" name="Rectángulo redondeado 64"/>
            <p:cNvSpPr/>
            <p:nvPr/>
          </p:nvSpPr>
          <p:spPr>
            <a:xfrm>
              <a:off x="4162049" y="2642505"/>
              <a:ext cx="203320" cy="218585"/>
            </a:xfrm>
            <a:prstGeom prst="round1Rect">
              <a:avLst/>
            </a:prstGeom>
            <a:solidFill>
              <a:schemeClr val="accent4">
                <a:lumMod val="40000"/>
                <a:lumOff val="60000"/>
              </a:schemeClr>
            </a:solidFill>
            <a:ln w="9525">
              <a:solidFill>
                <a:schemeClr val="accent4">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467" b="1" dirty="0">
                <a:solidFill>
                  <a:srgbClr val="FFC000"/>
                </a:solidFill>
              </a:endParaRPr>
            </a:p>
          </p:txBody>
        </p:sp>
        <p:sp>
          <p:nvSpPr>
            <p:cNvPr id="74" name="Rectangle 73"/>
            <p:cNvSpPr/>
            <p:nvPr/>
          </p:nvSpPr>
          <p:spPr>
            <a:xfrm>
              <a:off x="2245802" y="2642648"/>
              <a:ext cx="2005523" cy="218586"/>
            </a:xfrm>
            <a:prstGeom prst="rect">
              <a:avLst/>
            </a:prstGeom>
            <a:solidFill>
              <a:schemeClr val="accent4">
                <a:lumMod val="40000"/>
                <a:lumOff val="60000"/>
              </a:schemeClr>
            </a:solidFill>
            <a:ln w="9525">
              <a:solidFill>
                <a:schemeClr val="accent4">
                  <a:lumMod val="60000"/>
                  <a:lumOff val="4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Flow Label</a:t>
              </a:r>
            </a:p>
          </p:txBody>
        </p:sp>
        <p:sp>
          <p:nvSpPr>
            <p:cNvPr id="75" name="Rectangle 74"/>
            <p:cNvSpPr/>
            <p:nvPr/>
          </p:nvSpPr>
          <p:spPr>
            <a:xfrm>
              <a:off x="2306126" y="2648836"/>
              <a:ext cx="1992823" cy="205264"/>
            </a:xfrm>
            <a:prstGeom prst="rect">
              <a:avLst/>
            </a:prstGeom>
            <a:solidFill>
              <a:schemeClr val="accent4">
                <a:lumMod val="40000"/>
                <a:lumOff val="60000"/>
              </a:schemeClr>
            </a:solidFill>
            <a:ln w="9525">
              <a:no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Flow Label</a:t>
              </a:r>
            </a:p>
          </p:txBody>
        </p:sp>
      </p:grpSp>
      <p:cxnSp>
        <p:nvCxnSpPr>
          <p:cNvPr id="76" name="Conector recto de flecha 27"/>
          <p:cNvCxnSpPr>
            <a:stCxn id="118" idx="6"/>
            <a:endCxn id="120" idx="2"/>
          </p:cNvCxnSpPr>
          <p:nvPr/>
        </p:nvCxnSpPr>
        <p:spPr>
          <a:xfrm>
            <a:off x="9262896" y="1332245"/>
            <a:ext cx="663025" cy="0"/>
          </a:xfrm>
          <a:prstGeom prst="straightConnector1">
            <a:avLst/>
          </a:prstGeom>
          <a:ln w="317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7" name="Conector recto de flecha 27"/>
          <p:cNvCxnSpPr>
            <a:stCxn id="81" idx="6"/>
            <a:endCxn id="137" idx="2"/>
          </p:cNvCxnSpPr>
          <p:nvPr/>
        </p:nvCxnSpPr>
        <p:spPr>
          <a:xfrm>
            <a:off x="7103573" y="1332245"/>
            <a:ext cx="663025" cy="0"/>
          </a:xfrm>
          <a:prstGeom prst="straightConnector1">
            <a:avLst/>
          </a:prstGeom>
          <a:ln w="317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80" name="Elipse 11"/>
          <p:cNvSpPr/>
          <p:nvPr/>
        </p:nvSpPr>
        <p:spPr>
          <a:xfrm>
            <a:off x="11164944" y="1044245"/>
            <a:ext cx="576000" cy="576000"/>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b="1" dirty="0">
                <a:solidFill>
                  <a:srgbClr val="676767"/>
                </a:solidFill>
              </a:rPr>
              <a:t>4</a:t>
            </a:r>
          </a:p>
          <a:p>
            <a:pPr algn="ctr"/>
            <a:r>
              <a:rPr lang="es-ES_tradnl" sz="1200" b="1" dirty="0">
                <a:solidFill>
                  <a:srgbClr val="676767"/>
                </a:solidFill>
              </a:rPr>
              <a:t>A4::</a:t>
            </a:r>
            <a:endParaRPr lang="es-ES_tradnl" sz="1200" dirty="0">
              <a:solidFill>
                <a:srgbClr val="676767"/>
              </a:solidFill>
            </a:endParaRPr>
          </a:p>
        </p:txBody>
      </p:sp>
      <p:sp>
        <p:nvSpPr>
          <p:cNvPr id="81" name="Elipse 11"/>
          <p:cNvSpPr/>
          <p:nvPr/>
        </p:nvSpPr>
        <p:spPr>
          <a:xfrm>
            <a:off x="6527572" y="1044245"/>
            <a:ext cx="576000" cy="576000"/>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b="1" dirty="0">
                <a:solidFill>
                  <a:srgbClr val="676767"/>
                </a:solidFill>
              </a:rPr>
              <a:t>1</a:t>
            </a:r>
          </a:p>
          <a:p>
            <a:pPr algn="ctr"/>
            <a:r>
              <a:rPr lang="es-ES_tradnl" sz="1200" b="1" dirty="0">
                <a:solidFill>
                  <a:srgbClr val="676767"/>
                </a:solidFill>
              </a:rPr>
              <a:t>A1::</a:t>
            </a:r>
            <a:endParaRPr lang="es-ES_tradnl" sz="1200" dirty="0">
              <a:solidFill>
                <a:srgbClr val="676767"/>
              </a:solidFill>
            </a:endParaRPr>
          </a:p>
        </p:txBody>
      </p:sp>
      <p:sp>
        <p:nvSpPr>
          <p:cNvPr id="118" name="Elipse 11"/>
          <p:cNvSpPr/>
          <p:nvPr/>
        </p:nvSpPr>
        <p:spPr>
          <a:xfrm>
            <a:off x="8686895" y="1044245"/>
            <a:ext cx="576000" cy="576000"/>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b="1" dirty="0">
                <a:solidFill>
                  <a:srgbClr val="676767"/>
                </a:solidFill>
              </a:rPr>
              <a:t>2</a:t>
            </a:r>
          </a:p>
          <a:p>
            <a:pPr algn="ctr"/>
            <a:r>
              <a:rPr lang="es-ES_tradnl" sz="1200" b="1" dirty="0">
                <a:solidFill>
                  <a:srgbClr val="676767"/>
                </a:solidFill>
              </a:rPr>
              <a:t>A2::</a:t>
            </a:r>
            <a:endParaRPr lang="es-ES_tradnl" sz="1200" dirty="0">
              <a:solidFill>
                <a:srgbClr val="676767"/>
              </a:solidFill>
            </a:endParaRPr>
          </a:p>
        </p:txBody>
      </p:sp>
      <p:sp>
        <p:nvSpPr>
          <p:cNvPr id="120" name="Elipse 11"/>
          <p:cNvSpPr/>
          <p:nvPr/>
        </p:nvSpPr>
        <p:spPr>
          <a:xfrm>
            <a:off x="9925920" y="1044245"/>
            <a:ext cx="576000" cy="576000"/>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b="1" dirty="0">
                <a:solidFill>
                  <a:srgbClr val="676767"/>
                </a:solidFill>
              </a:rPr>
              <a:t>3</a:t>
            </a:r>
          </a:p>
          <a:p>
            <a:pPr algn="ctr"/>
            <a:r>
              <a:rPr lang="es-ES_tradnl" sz="1200" b="1" dirty="0">
                <a:solidFill>
                  <a:srgbClr val="676767"/>
                </a:solidFill>
              </a:rPr>
              <a:t>A3::</a:t>
            </a:r>
            <a:endParaRPr lang="es-ES_tradnl" sz="1200" dirty="0">
              <a:solidFill>
                <a:srgbClr val="676767"/>
              </a:solidFill>
            </a:endParaRPr>
          </a:p>
        </p:txBody>
      </p:sp>
      <p:cxnSp>
        <p:nvCxnSpPr>
          <p:cNvPr id="126" name="Conector recto de flecha 27"/>
          <p:cNvCxnSpPr>
            <a:stCxn id="120" idx="6"/>
            <a:endCxn id="80" idx="2"/>
          </p:cNvCxnSpPr>
          <p:nvPr/>
        </p:nvCxnSpPr>
        <p:spPr>
          <a:xfrm>
            <a:off x="10501920" y="1332245"/>
            <a:ext cx="663024" cy="0"/>
          </a:xfrm>
          <a:prstGeom prst="straightConnector1">
            <a:avLst/>
          </a:prstGeom>
          <a:ln w="317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a:stCxn id="91" idx="0"/>
            <a:endCxn id="67" idx="3"/>
          </p:cNvCxnSpPr>
          <p:nvPr/>
        </p:nvCxnSpPr>
        <p:spPr>
          <a:xfrm flipH="1">
            <a:off x="6745532" y="1841470"/>
            <a:ext cx="2872653" cy="1630129"/>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a:stCxn id="92" idx="3"/>
            <a:endCxn id="73" idx="3"/>
          </p:cNvCxnSpPr>
          <p:nvPr/>
        </p:nvCxnSpPr>
        <p:spPr>
          <a:xfrm>
            <a:off x="11732789" y="1841470"/>
            <a:ext cx="152063" cy="1780181"/>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37" name="Elipse 11"/>
          <p:cNvSpPr/>
          <p:nvPr/>
        </p:nvSpPr>
        <p:spPr>
          <a:xfrm>
            <a:off x="7766597" y="1203609"/>
            <a:ext cx="257272" cy="257272"/>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dirty="0">
                <a:solidFill>
                  <a:srgbClr val="676767"/>
                </a:solidFill>
              </a:rPr>
              <a:t>R</a:t>
            </a:r>
          </a:p>
        </p:txBody>
      </p:sp>
      <p:cxnSp>
        <p:nvCxnSpPr>
          <p:cNvPr id="140" name="Conector recto de flecha 27"/>
          <p:cNvCxnSpPr>
            <a:stCxn id="137" idx="6"/>
            <a:endCxn id="118" idx="2"/>
          </p:cNvCxnSpPr>
          <p:nvPr/>
        </p:nvCxnSpPr>
        <p:spPr>
          <a:xfrm>
            <a:off x="8023870" y="1332245"/>
            <a:ext cx="663025" cy="0"/>
          </a:xfrm>
          <a:prstGeom prst="straightConnector1">
            <a:avLst/>
          </a:prstGeom>
          <a:ln w="317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8" name="Right Brace 7"/>
          <p:cNvSpPr/>
          <p:nvPr/>
        </p:nvSpPr>
        <p:spPr>
          <a:xfrm>
            <a:off x="4226560" y="4213013"/>
            <a:ext cx="176107" cy="196426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400">
              <a:solidFill>
                <a:srgbClr val="676767"/>
              </a:solidFill>
            </a:endParaRPr>
          </a:p>
        </p:txBody>
      </p:sp>
      <p:sp>
        <p:nvSpPr>
          <p:cNvPr id="9" name="TextBox 8"/>
          <p:cNvSpPr txBox="1"/>
          <p:nvPr/>
        </p:nvSpPr>
        <p:spPr>
          <a:xfrm>
            <a:off x="4226560" y="4825815"/>
            <a:ext cx="2339707" cy="707694"/>
          </a:xfrm>
          <a:prstGeom prst="rect">
            <a:avLst/>
          </a:prstGeom>
          <a:noFill/>
        </p:spPr>
        <p:txBody>
          <a:bodyPr wrap="square" rtlCol="0">
            <a:spAutoFit/>
          </a:bodyPr>
          <a:lstStyle/>
          <a:p>
            <a:pPr algn="ctr"/>
            <a:r>
              <a:rPr lang="en-US" sz="1333" b="1" dirty="0">
                <a:solidFill>
                  <a:srgbClr val="676767"/>
                </a:solidFill>
              </a:rPr>
              <a:t>Standard IPv6 processing</a:t>
            </a:r>
          </a:p>
          <a:p>
            <a:pPr algn="ctr"/>
            <a:r>
              <a:rPr lang="en-US" sz="1333" i="1" dirty="0">
                <a:solidFill>
                  <a:srgbClr val="676767"/>
                </a:solidFill>
              </a:rPr>
              <a:t>The final destination does not have to be SR-capable.</a:t>
            </a:r>
          </a:p>
        </p:txBody>
      </p:sp>
      <p:cxnSp>
        <p:nvCxnSpPr>
          <p:cNvPr id="5" name="Straight Connector 4">
            <a:extLst>
              <a:ext uri="{FF2B5EF4-FFF2-40B4-BE49-F238E27FC236}">
                <a16:creationId xmlns:a16="http://schemas.microsoft.com/office/drawing/2014/main" id="{7C2F9C06-370D-B83A-4F04-A949E9973861}"/>
              </a:ext>
            </a:extLst>
          </p:cNvPr>
          <p:cNvCxnSpPr/>
          <p:nvPr/>
        </p:nvCxnSpPr>
        <p:spPr>
          <a:xfrm flipV="1">
            <a:off x="6566267" y="4645214"/>
            <a:ext cx="5327050" cy="1728927"/>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81D797BC-D15D-4A3C-1F02-CEFFE9DDC198}"/>
              </a:ext>
            </a:extLst>
          </p:cNvPr>
          <p:cNvCxnSpPr>
            <a:cxnSpLocks/>
          </p:cNvCxnSpPr>
          <p:nvPr/>
        </p:nvCxnSpPr>
        <p:spPr>
          <a:xfrm>
            <a:off x="6613624" y="4721087"/>
            <a:ext cx="5279693" cy="1653054"/>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0296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afterEffect">
                                  <p:stCondLst>
                                    <p:cond delay="0"/>
                                  </p:stCondLst>
                                  <p:childTnLst>
                                    <p:animMotion origin="layout" path="M 0.10351 0.00278 L 0.20143 0.00093 " pathEditMode="relative" rAng="0" ptsTypes="AA">
                                      <p:cBhvr>
                                        <p:cTn id="6" dur="2000" fill="hold"/>
                                        <p:tgtEl>
                                          <p:spTgt spid="138"/>
                                        </p:tgtEl>
                                        <p:attrNameLst>
                                          <p:attrName>ppt_x</p:attrName>
                                          <p:attrName>ppt_y</p:attrName>
                                        </p:attrNameLst>
                                      </p:cBhvr>
                                      <p:rCtr x="4896" y="-93"/>
                                    </p:animMotion>
                                  </p:childTnLst>
                                </p:cTn>
                              </p:par>
                            </p:childTnLst>
                          </p:cTn>
                        </p:par>
                        <p:par>
                          <p:cTn id="7" fill="hold">
                            <p:stCondLst>
                              <p:cond delay="2000"/>
                            </p:stCondLst>
                            <p:childTnLst>
                              <p:par>
                                <p:cTn id="8" presetID="9" presetClass="entr" presetSubtype="0" fill="hold" nodeType="afterEffect">
                                  <p:stCondLst>
                                    <p:cond delay="0"/>
                                  </p:stCondLst>
                                  <p:childTnLst>
                                    <p:set>
                                      <p:cBhvr>
                                        <p:cTn id="9" dur="1" fill="hold">
                                          <p:stCondLst>
                                            <p:cond delay="0"/>
                                          </p:stCondLst>
                                        </p:cTn>
                                        <p:tgtEl>
                                          <p:spTgt spid="4">
                                            <p:txEl>
                                              <p:pRg st="9" end="9"/>
                                            </p:txEl>
                                          </p:spTgt>
                                        </p:tgtEl>
                                        <p:attrNameLst>
                                          <p:attrName>style.visibility</p:attrName>
                                        </p:attrNameLst>
                                      </p:cBhvr>
                                      <p:to>
                                        <p:strVal val="visible"/>
                                      </p:to>
                                    </p:set>
                                    <p:animEffect transition="in" filter="dissolve">
                                      <p:cBhvr>
                                        <p:cTn id="10" dur="500"/>
                                        <p:tgtEl>
                                          <p:spTgt spid="4">
                                            <p:txEl>
                                              <p:pRg st="9" end="9"/>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4">
                                            <p:txEl>
                                              <p:pRg st="10" end="10"/>
                                            </p:txEl>
                                          </p:spTgt>
                                        </p:tgtEl>
                                        <p:attrNameLst>
                                          <p:attrName>style.visibility</p:attrName>
                                        </p:attrNameLst>
                                      </p:cBhvr>
                                      <p:to>
                                        <p:strVal val="visible"/>
                                      </p:to>
                                    </p:set>
                                    <p:animEffect transition="in" filter="dissolve">
                                      <p:cBhvr>
                                        <p:cTn id="13" dur="500"/>
                                        <p:tgtEl>
                                          <p:spTgt spid="4">
                                            <p:txEl>
                                              <p:pRg st="10" end="10"/>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4">
                                            <p:txEl>
                                              <p:pRg st="11" end="11"/>
                                            </p:txEl>
                                          </p:spTgt>
                                        </p:tgtEl>
                                        <p:attrNameLst>
                                          <p:attrName>style.visibility</p:attrName>
                                        </p:attrNameLst>
                                      </p:cBhvr>
                                      <p:to>
                                        <p:strVal val="visible"/>
                                      </p:to>
                                    </p:set>
                                    <p:animEffect transition="in" filter="dissolve">
                                      <p:cBhvr>
                                        <p:cTn id="16" dur="500"/>
                                        <p:tgtEl>
                                          <p:spTgt spid="4">
                                            <p:txEl>
                                              <p:pRg st="11" end="11"/>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4">
                                            <p:txEl>
                                              <p:pRg st="12" end="12"/>
                                            </p:txEl>
                                          </p:spTgt>
                                        </p:tgtEl>
                                        <p:attrNameLst>
                                          <p:attrName>style.visibility</p:attrName>
                                        </p:attrNameLst>
                                      </p:cBhvr>
                                      <p:to>
                                        <p:strVal val="visible"/>
                                      </p:to>
                                    </p:set>
                                    <p:animEffect transition="in" filter="dissolve">
                                      <p:cBhvr>
                                        <p:cTn id="19" dur="500"/>
                                        <p:tgtEl>
                                          <p:spTgt spid="4">
                                            <p:txEl>
                                              <p:pRg st="12" end="12"/>
                                            </p:txEl>
                                          </p:spTgt>
                                        </p:tgtEl>
                                      </p:cBhvr>
                                    </p:animEffect>
                                  </p:childTnLst>
                                </p:cTn>
                              </p:par>
                              <p:par>
                                <p:cTn id="20" presetID="9" presetClass="entr" presetSubtype="0" fill="hold" nodeType="withEffect">
                                  <p:stCondLst>
                                    <p:cond delay="0"/>
                                  </p:stCondLst>
                                  <p:childTnLst>
                                    <p:set>
                                      <p:cBhvr>
                                        <p:cTn id="21" dur="1" fill="hold">
                                          <p:stCondLst>
                                            <p:cond delay="0"/>
                                          </p:stCondLst>
                                        </p:cTn>
                                        <p:tgtEl>
                                          <p:spTgt spid="4">
                                            <p:txEl>
                                              <p:pRg st="13" end="13"/>
                                            </p:txEl>
                                          </p:spTgt>
                                        </p:tgtEl>
                                        <p:attrNameLst>
                                          <p:attrName>style.visibility</p:attrName>
                                        </p:attrNameLst>
                                      </p:cBhvr>
                                      <p:to>
                                        <p:strVal val="visible"/>
                                      </p:to>
                                    </p:set>
                                    <p:animEffect transition="in" filter="dissolve">
                                      <p:cBhvr>
                                        <p:cTn id="22" dur="500"/>
                                        <p:tgtEl>
                                          <p:spTgt spid="4">
                                            <p:txEl>
                                              <p:pRg st="13" end="13"/>
                                            </p:txEl>
                                          </p:spTgt>
                                        </p:tgtEl>
                                      </p:cBhvr>
                                    </p:animEffect>
                                  </p:childTnLst>
                                </p:cTn>
                              </p:par>
                              <p:par>
                                <p:cTn id="23" presetID="9" presetClass="entr" presetSubtype="0" fill="hold" nodeType="withEffect">
                                  <p:stCondLst>
                                    <p:cond delay="0"/>
                                  </p:stCondLst>
                                  <p:childTnLst>
                                    <p:set>
                                      <p:cBhvr>
                                        <p:cTn id="24" dur="1" fill="hold">
                                          <p:stCondLst>
                                            <p:cond delay="0"/>
                                          </p:stCondLst>
                                        </p:cTn>
                                        <p:tgtEl>
                                          <p:spTgt spid="4">
                                            <p:txEl>
                                              <p:pRg st="14" end="14"/>
                                            </p:txEl>
                                          </p:spTgt>
                                        </p:tgtEl>
                                        <p:attrNameLst>
                                          <p:attrName>style.visibility</p:attrName>
                                        </p:attrNameLst>
                                      </p:cBhvr>
                                      <p:to>
                                        <p:strVal val="visible"/>
                                      </p:to>
                                    </p:set>
                                    <p:animEffect transition="in" filter="dissolve">
                                      <p:cBhvr>
                                        <p:cTn id="25" dur="500"/>
                                        <p:tgtEl>
                                          <p:spTgt spid="4">
                                            <p:txEl>
                                              <p:pRg st="14" end="1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dissolve">
                                      <p:cBhvr>
                                        <p:cTn id="30" dur="500"/>
                                        <p:tgtEl>
                                          <p:spTgt spid="8"/>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dissolve">
                                      <p:cBhvr>
                                        <p:cTn id="33" dur="500"/>
                                        <p:tgtEl>
                                          <p:spTgt spid="9"/>
                                        </p:tgtEl>
                                      </p:cBhvr>
                                    </p:animEffect>
                                  </p:childTnLst>
                                </p:cTn>
                              </p:par>
                            </p:childTnLst>
                          </p:cTn>
                        </p:par>
                        <p:par>
                          <p:cTn id="34" fill="hold">
                            <p:stCondLst>
                              <p:cond delay="500"/>
                            </p:stCondLst>
                            <p:childTnLst>
                              <p:par>
                                <p:cTn id="35" presetID="1" presetClass="entr" presetSubtype="0" fill="hold" nodeType="afterEffect">
                                  <p:stCondLst>
                                    <p:cond delay="2000"/>
                                  </p:stCondLst>
                                  <p:childTnLst>
                                    <p:set>
                                      <p:cBhvr>
                                        <p:cTn id="36" dur="1" fill="hold">
                                          <p:stCondLst>
                                            <p:cond delay="0"/>
                                          </p:stCondLst>
                                        </p:cTn>
                                        <p:tgtEl>
                                          <p:spTgt spid="6"/>
                                        </p:tgtEl>
                                        <p:attrNameLst>
                                          <p:attrName>style.visibility</p:attrName>
                                        </p:attrNameLst>
                                      </p:cBhvr>
                                      <p:to>
                                        <p:strVal val="visible"/>
                                      </p:to>
                                    </p:set>
                                  </p:childTnLst>
                                </p:cTn>
                              </p:par>
                              <p:par>
                                <p:cTn id="37" presetID="1" presetClass="entr" presetSubtype="0" fill="hold" nodeType="withEffect">
                                  <p:stCondLst>
                                    <p:cond delay="200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animBg="1"/>
      <p:bldP spid="8" grpId="0" animBg="1"/>
      <p:bldP spid="9"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p:txBody>
          <a:bodyPr/>
          <a:lstStyle/>
          <a:p>
            <a:r>
              <a:rPr lang="en-US" sz="2800" dirty="0"/>
              <a:t>While not explicitly mentioned, RFC2460 assumes only the source is allowed to insert a routing header</a:t>
            </a:r>
          </a:p>
          <a:p>
            <a:pPr lvl="1"/>
            <a:r>
              <a:rPr lang="en-US" sz="2800" i="1" dirty="0">
                <a:solidFill>
                  <a:schemeClr val="accent2"/>
                </a:solidFill>
              </a:rPr>
              <a:t>Remember: the SRH is a type of routing header</a:t>
            </a:r>
          </a:p>
          <a:p>
            <a:pPr lvl="1"/>
            <a:endParaRPr lang="en-US" sz="2800" dirty="0"/>
          </a:p>
          <a:p>
            <a:r>
              <a:rPr lang="en-US" sz="2800" dirty="0"/>
              <a:t>Segment Routing for IPv6 allows multiple operational modes</a:t>
            </a:r>
          </a:p>
          <a:p>
            <a:pPr lvl="1"/>
            <a:r>
              <a:rPr lang="en-US" sz="2800" dirty="0"/>
              <a:t>All compliant to base IPv6 specification</a:t>
            </a:r>
          </a:p>
          <a:p>
            <a:endParaRPr lang="en-US" sz="2800" dirty="0"/>
          </a:p>
        </p:txBody>
      </p:sp>
      <p:sp>
        <p:nvSpPr>
          <p:cNvPr id="6" name="Text Placeholder 5"/>
          <p:cNvSpPr>
            <a:spLocks noGrp="1"/>
          </p:cNvSpPr>
          <p:nvPr>
            <p:ph type="body" sz="quarter" idx="11"/>
          </p:nvPr>
        </p:nvSpPr>
        <p:spPr/>
        <p:txBody>
          <a:bodyPr/>
          <a:lstStyle/>
          <a:p>
            <a:r>
              <a:rPr lang="en-US" dirty="0"/>
              <a:t>SR header and encapsulation</a:t>
            </a:r>
          </a:p>
        </p:txBody>
      </p:sp>
    </p:spTree>
    <p:extLst>
      <p:ext uri="{BB962C8B-B14F-4D97-AF65-F5344CB8AC3E}">
        <p14:creationId xmlns:p14="http://schemas.microsoft.com/office/powerpoint/2010/main" val="295329828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73918" y="1053284"/>
            <a:ext cx="10444163" cy="1927308"/>
          </a:xfrm>
        </p:spPr>
        <p:txBody>
          <a:bodyPr/>
          <a:lstStyle/>
          <a:p>
            <a:r>
              <a:rPr lang="en-US" sz="1800" dirty="0"/>
              <a:t>Source originates the packet with the SRH</a:t>
            </a:r>
          </a:p>
          <a:p>
            <a:r>
              <a:rPr lang="en-US" sz="1800" dirty="0"/>
              <a:t>SRH is kept and used along the path</a:t>
            </a:r>
          </a:p>
          <a:p>
            <a:r>
              <a:rPr lang="en-US" sz="1800" dirty="0"/>
              <a:t>Packet is delivered to destination with the SRH (plain IPv6 operations)</a:t>
            </a:r>
          </a:p>
          <a:p>
            <a:r>
              <a:rPr lang="en-US" sz="1800" dirty="0"/>
              <a:t>Optionally, the SRH may be removed prior to deliver the packet to destination</a:t>
            </a:r>
          </a:p>
          <a:p>
            <a:r>
              <a:rPr lang="en-US" sz="1800" dirty="0"/>
              <a:t>Use case: source is SRv6 capable</a:t>
            </a:r>
          </a:p>
          <a:p>
            <a:endParaRPr lang="en-US" sz="1800" dirty="0"/>
          </a:p>
        </p:txBody>
      </p:sp>
      <p:sp>
        <p:nvSpPr>
          <p:cNvPr id="6" name="Text Placeholder 5"/>
          <p:cNvSpPr>
            <a:spLocks noGrp="1"/>
          </p:cNvSpPr>
          <p:nvPr>
            <p:ph type="body" sz="quarter" idx="11"/>
          </p:nvPr>
        </p:nvSpPr>
        <p:spPr/>
        <p:txBody>
          <a:bodyPr/>
          <a:lstStyle/>
          <a:p>
            <a:r>
              <a:rPr lang="en-US" dirty="0"/>
              <a:t>Header Insertion at the Source</a:t>
            </a:r>
          </a:p>
        </p:txBody>
      </p:sp>
      <p:pic>
        <p:nvPicPr>
          <p:cNvPr id="4" name="Picture 3"/>
          <p:cNvPicPr>
            <a:picLocks noChangeAspect="1"/>
          </p:cNvPicPr>
          <p:nvPr/>
        </p:nvPicPr>
        <p:blipFill>
          <a:blip r:embed="rId2"/>
          <a:stretch>
            <a:fillRect/>
          </a:stretch>
        </p:blipFill>
        <p:spPr>
          <a:xfrm>
            <a:off x="1204819" y="3081051"/>
            <a:ext cx="10113262" cy="3623167"/>
          </a:xfrm>
          <a:prstGeom prst="rect">
            <a:avLst/>
          </a:prstGeom>
        </p:spPr>
      </p:pic>
      <p:sp>
        <p:nvSpPr>
          <p:cNvPr id="2" name="Arrow: Down 1">
            <a:extLst>
              <a:ext uri="{FF2B5EF4-FFF2-40B4-BE49-F238E27FC236}">
                <a16:creationId xmlns:a16="http://schemas.microsoft.com/office/drawing/2014/main" id="{DAA1AD24-67C2-B155-D57E-F2C39AC41E09}"/>
              </a:ext>
            </a:extLst>
          </p:cNvPr>
          <p:cNvSpPr/>
          <p:nvPr/>
        </p:nvSpPr>
        <p:spPr>
          <a:xfrm rot="10800000">
            <a:off x="5774732" y="3648382"/>
            <a:ext cx="101999" cy="340053"/>
          </a:xfrm>
          <a:prstGeom prst="downArrow">
            <a:avLst/>
          </a:prstGeom>
          <a:solidFill>
            <a:schemeClr val="accent4"/>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7" name="Arrow: Down 6">
            <a:extLst>
              <a:ext uri="{FF2B5EF4-FFF2-40B4-BE49-F238E27FC236}">
                <a16:creationId xmlns:a16="http://schemas.microsoft.com/office/drawing/2014/main" id="{3E9542BF-ABC1-4ABA-9870-C5A564C37468}"/>
              </a:ext>
            </a:extLst>
          </p:cNvPr>
          <p:cNvSpPr/>
          <p:nvPr/>
        </p:nvSpPr>
        <p:spPr>
          <a:xfrm rot="10800000">
            <a:off x="8394107" y="4096057"/>
            <a:ext cx="101999" cy="340053"/>
          </a:xfrm>
          <a:prstGeom prst="downArrow">
            <a:avLst/>
          </a:prstGeom>
          <a:solidFill>
            <a:schemeClr val="accent4"/>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8" name="Arrow: Down 7">
            <a:extLst>
              <a:ext uri="{FF2B5EF4-FFF2-40B4-BE49-F238E27FC236}">
                <a16:creationId xmlns:a16="http://schemas.microsoft.com/office/drawing/2014/main" id="{F5DDE8BD-B403-1B9C-4A62-81312D3BBE1D}"/>
              </a:ext>
            </a:extLst>
          </p:cNvPr>
          <p:cNvSpPr/>
          <p:nvPr/>
        </p:nvSpPr>
        <p:spPr>
          <a:xfrm rot="10800000">
            <a:off x="9908582" y="5915332"/>
            <a:ext cx="101999" cy="340053"/>
          </a:xfrm>
          <a:prstGeom prst="downArrow">
            <a:avLst/>
          </a:prstGeom>
          <a:solidFill>
            <a:schemeClr val="accent4"/>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665869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73918" y="1542362"/>
            <a:ext cx="10444163" cy="1769550"/>
          </a:xfrm>
        </p:spPr>
        <p:txBody>
          <a:bodyPr/>
          <a:lstStyle/>
          <a:p>
            <a:r>
              <a:rPr lang="en-US" sz="1800" dirty="0"/>
              <a:t>Source originates the packet without any SRH</a:t>
            </a:r>
          </a:p>
          <a:p>
            <a:r>
              <a:rPr lang="en-US" sz="1800" dirty="0"/>
              <a:t>SRH is inserted at ingress</a:t>
            </a:r>
          </a:p>
          <a:p>
            <a:r>
              <a:rPr lang="en-US" sz="1800" i="1" dirty="0">
                <a:solidFill>
                  <a:srgbClr val="7030A0"/>
                </a:solidFill>
              </a:rPr>
              <a:t>SRH is removed prior to deliver the packet to the destination</a:t>
            </a:r>
          </a:p>
          <a:p>
            <a:r>
              <a:rPr lang="en-US" sz="1800" dirty="0"/>
              <a:t>Use case: source is not SRv6 capable</a:t>
            </a:r>
          </a:p>
          <a:p>
            <a:endParaRPr lang="en-US" sz="1800" dirty="0"/>
          </a:p>
        </p:txBody>
      </p:sp>
      <p:sp>
        <p:nvSpPr>
          <p:cNvPr id="6" name="Text Placeholder 5"/>
          <p:cNvSpPr>
            <a:spLocks noGrp="1"/>
          </p:cNvSpPr>
          <p:nvPr>
            <p:ph type="body" sz="quarter" idx="11"/>
          </p:nvPr>
        </p:nvSpPr>
        <p:spPr/>
        <p:txBody>
          <a:bodyPr/>
          <a:lstStyle/>
          <a:p>
            <a:r>
              <a:rPr lang="en-US" dirty="0"/>
              <a:t>Header Insertion at Ingress</a:t>
            </a:r>
          </a:p>
        </p:txBody>
      </p:sp>
      <p:pic>
        <p:nvPicPr>
          <p:cNvPr id="7" name="Picture 6"/>
          <p:cNvPicPr>
            <a:picLocks noChangeAspect="1"/>
          </p:cNvPicPr>
          <p:nvPr/>
        </p:nvPicPr>
        <p:blipFill>
          <a:blip r:embed="rId2"/>
          <a:stretch>
            <a:fillRect/>
          </a:stretch>
        </p:blipFill>
        <p:spPr>
          <a:xfrm>
            <a:off x="1147201" y="3240333"/>
            <a:ext cx="9897598" cy="3566208"/>
          </a:xfrm>
          <a:prstGeom prst="rect">
            <a:avLst/>
          </a:prstGeom>
        </p:spPr>
      </p:pic>
      <p:sp>
        <p:nvSpPr>
          <p:cNvPr id="2" name="Arrow: Down 1">
            <a:extLst>
              <a:ext uri="{FF2B5EF4-FFF2-40B4-BE49-F238E27FC236}">
                <a16:creationId xmlns:a16="http://schemas.microsoft.com/office/drawing/2014/main" id="{C92A4710-B7A2-9049-B829-6F4BD2FBF300}"/>
              </a:ext>
            </a:extLst>
          </p:cNvPr>
          <p:cNvSpPr/>
          <p:nvPr/>
        </p:nvSpPr>
        <p:spPr>
          <a:xfrm rot="10800000">
            <a:off x="5603282" y="3829357"/>
            <a:ext cx="101999" cy="340053"/>
          </a:xfrm>
          <a:prstGeom prst="downArrow">
            <a:avLst/>
          </a:prstGeom>
          <a:solidFill>
            <a:schemeClr val="accent4"/>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 name="Arrow: Down 2">
            <a:extLst>
              <a:ext uri="{FF2B5EF4-FFF2-40B4-BE49-F238E27FC236}">
                <a16:creationId xmlns:a16="http://schemas.microsoft.com/office/drawing/2014/main" id="{FC51E258-14E0-950A-A001-F8F5301F2E74}"/>
              </a:ext>
            </a:extLst>
          </p:cNvPr>
          <p:cNvSpPr/>
          <p:nvPr/>
        </p:nvSpPr>
        <p:spPr>
          <a:xfrm rot="10800000">
            <a:off x="8165507" y="4286557"/>
            <a:ext cx="101999" cy="340053"/>
          </a:xfrm>
          <a:prstGeom prst="downArrow">
            <a:avLst/>
          </a:prstGeom>
          <a:solidFill>
            <a:schemeClr val="accent4"/>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 name="Arrow: Down 3">
            <a:extLst>
              <a:ext uri="{FF2B5EF4-FFF2-40B4-BE49-F238E27FC236}">
                <a16:creationId xmlns:a16="http://schemas.microsoft.com/office/drawing/2014/main" id="{57331B06-A1D8-D484-8F95-23F08B094157}"/>
              </a:ext>
            </a:extLst>
          </p:cNvPr>
          <p:cNvSpPr/>
          <p:nvPr/>
        </p:nvSpPr>
        <p:spPr>
          <a:xfrm rot="10800000">
            <a:off x="9651407" y="6162982"/>
            <a:ext cx="101999" cy="340053"/>
          </a:xfrm>
          <a:prstGeom prst="downArrow">
            <a:avLst/>
          </a:prstGeom>
          <a:solidFill>
            <a:schemeClr val="accent4"/>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29822C89-58C4-A990-2884-64D7666C58A0}"/>
              </a:ext>
            </a:extLst>
          </p:cNvPr>
          <p:cNvCxnSpPr/>
          <p:nvPr/>
        </p:nvCxnSpPr>
        <p:spPr>
          <a:xfrm>
            <a:off x="7419975" y="2595102"/>
            <a:ext cx="942975" cy="3673178"/>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300085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1112719" y="3076182"/>
            <a:ext cx="10307756" cy="3713991"/>
          </a:xfrm>
          <a:prstGeom prst="rect">
            <a:avLst/>
          </a:prstGeom>
        </p:spPr>
      </p:pic>
      <p:sp>
        <p:nvSpPr>
          <p:cNvPr id="5" name="Text Placeholder 4"/>
          <p:cNvSpPr>
            <a:spLocks noGrp="1"/>
          </p:cNvSpPr>
          <p:nvPr>
            <p:ph type="body" sz="quarter" idx="10"/>
          </p:nvPr>
        </p:nvSpPr>
        <p:spPr>
          <a:xfrm>
            <a:off x="873918" y="1542362"/>
            <a:ext cx="10444163" cy="1769550"/>
          </a:xfrm>
        </p:spPr>
        <p:txBody>
          <a:bodyPr/>
          <a:lstStyle/>
          <a:p>
            <a:r>
              <a:rPr lang="en-US" sz="1800" dirty="0"/>
              <a:t>Source originates the packet without any SRH</a:t>
            </a:r>
          </a:p>
          <a:p>
            <a:r>
              <a:rPr lang="en-US" sz="1800" dirty="0"/>
              <a:t>Ingress encapsulates the incoming packet into a new outer IPv6 header followed by the SRH</a:t>
            </a:r>
          </a:p>
          <a:p>
            <a:r>
              <a:rPr lang="en-US" sz="1800" dirty="0"/>
              <a:t>Packet is </a:t>
            </a:r>
            <a:r>
              <a:rPr lang="en-US" sz="1800" dirty="0" err="1"/>
              <a:t>decapsulated</a:t>
            </a:r>
            <a:r>
              <a:rPr lang="en-US" sz="1800" dirty="0"/>
              <a:t> at egress (both outer IPv6 header and SRH are removed)</a:t>
            </a:r>
          </a:p>
          <a:p>
            <a:endParaRPr lang="en-US" sz="1800" dirty="0"/>
          </a:p>
        </p:txBody>
      </p:sp>
      <p:sp>
        <p:nvSpPr>
          <p:cNvPr id="6" name="Text Placeholder 5"/>
          <p:cNvSpPr>
            <a:spLocks noGrp="1"/>
          </p:cNvSpPr>
          <p:nvPr>
            <p:ph type="body" sz="quarter" idx="11"/>
          </p:nvPr>
        </p:nvSpPr>
        <p:spPr/>
        <p:txBody>
          <a:bodyPr/>
          <a:lstStyle/>
          <a:p>
            <a:r>
              <a:rPr lang="en-US" dirty="0"/>
              <a:t>Encapsulation at Ingress</a:t>
            </a:r>
          </a:p>
        </p:txBody>
      </p:sp>
      <p:sp>
        <p:nvSpPr>
          <p:cNvPr id="2" name="Rectangle 1">
            <a:extLst>
              <a:ext uri="{FF2B5EF4-FFF2-40B4-BE49-F238E27FC236}">
                <a16:creationId xmlns:a16="http://schemas.microsoft.com/office/drawing/2014/main" id="{B9973B03-F406-2C4E-4B31-8CB08BEE3DAF}"/>
              </a:ext>
            </a:extLst>
          </p:cNvPr>
          <p:cNvSpPr/>
          <p:nvPr/>
        </p:nvSpPr>
        <p:spPr>
          <a:xfrm>
            <a:off x="1933575" y="3965192"/>
            <a:ext cx="1600200" cy="666750"/>
          </a:xfrm>
          <a:prstGeom prst="rect">
            <a:avLst/>
          </a:prstGeom>
          <a:noFill/>
          <a:ln w="254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8A12725-A869-6927-7AB3-B26CFAF71B99}"/>
              </a:ext>
            </a:extLst>
          </p:cNvPr>
          <p:cNvSpPr/>
          <p:nvPr/>
        </p:nvSpPr>
        <p:spPr>
          <a:xfrm>
            <a:off x="4440356" y="3946142"/>
            <a:ext cx="1600200" cy="666750"/>
          </a:xfrm>
          <a:prstGeom prst="rect">
            <a:avLst/>
          </a:prstGeom>
          <a:noFill/>
          <a:ln w="254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585D963-A11D-29B8-9DE8-986679A5B922}"/>
              </a:ext>
            </a:extLst>
          </p:cNvPr>
          <p:cNvSpPr/>
          <p:nvPr/>
        </p:nvSpPr>
        <p:spPr>
          <a:xfrm>
            <a:off x="8639175" y="5879717"/>
            <a:ext cx="1600200" cy="666750"/>
          </a:xfrm>
          <a:prstGeom prst="rect">
            <a:avLst/>
          </a:prstGeom>
          <a:noFill/>
          <a:ln w="254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E9F206A-48E3-E438-3E8C-DAEA07ED7A9E}"/>
              </a:ext>
            </a:extLst>
          </p:cNvPr>
          <p:cNvSpPr/>
          <p:nvPr/>
        </p:nvSpPr>
        <p:spPr>
          <a:xfrm>
            <a:off x="7073165" y="4433551"/>
            <a:ext cx="1600200" cy="666750"/>
          </a:xfrm>
          <a:prstGeom prst="rect">
            <a:avLst/>
          </a:prstGeom>
          <a:noFill/>
          <a:ln w="254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7AA118A-C83E-7823-8BDC-278E1FC567FD}"/>
              </a:ext>
            </a:extLst>
          </p:cNvPr>
          <p:cNvSpPr txBox="1"/>
          <p:nvPr/>
        </p:nvSpPr>
        <p:spPr>
          <a:xfrm>
            <a:off x="1933575" y="6166154"/>
            <a:ext cx="1428750" cy="380313"/>
          </a:xfrm>
          <a:prstGeom prst="rect">
            <a:avLst/>
          </a:prstGeom>
          <a:noFill/>
          <a:ln w="254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sk-SK"/>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rgbClr val="FFC000"/>
                </a:solidFill>
              </a:rPr>
              <a:t>Unchanged</a:t>
            </a:r>
          </a:p>
        </p:txBody>
      </p:sp>
      <p:sp>
        <p:nvSpPr>
          <p:cNvPr id="11" name="Arrow: Down 10">
            <a:extLst>
              <a:ext uri="{FF2B5EF4-FFF2-40B4-BE49-F238E27FC236}">
                <a16:creationId xmlns:a16="http://schemas.microsoft.com/office/drawing/2014/main" id="{7EF3791B-8BDD-3574-076F-4E9131FF4BF7}"/>
              </a:ext>
            </a:extLst>
          </p:cNvPr>
          <p:cNvSpPr/>
          <p:nvPr/>
        </p:nvSpPr>
        <p:spPr>
          <a:xfrm rot="10800000">
            <a:off x="8537176" y="3986821"/>
            <a:ext cx="101999" cy="340053"/>
          </a:xfrm>
          <a:prstGeom prst="downArrow">
            <a:avLst/>
          </a:prstGeom>
          <a:solidFill>
            <a:schemeClr val="accent4"/>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2" name="Arrow: Down 11">
            <a:extLst>
              <a:ext uri="{FF2B5EF4-FFF2-40B4-BE49-F238E27FC236}">
                <a16:creationId xmlns:a16="http://schemas.microsoft.com/office/drawing/2014/main" id="{DE523F8E-5D35-F489-C2E8-E2F2F947C09F}"/>
              </a:ext>
            </a:extLst>
          </p:cNvPr>
          <p:cNvSpPr/>
          <p:nvPr/>
        </p:nvSpPr>
        <p:spPr>
          <a:xfrm rot="10800000">
            <a:off x="5860457" y="3546089"/>
            <a:ext cx="101999" cy="340053"/>
          </a:xfrm>
          <a:prstGeom prst="downArrow">
            <a:avLst/>
          </a:prstGeom>
          <a:solidFill>
            <a:schemeClr val="accent4"/>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39685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p:txBody>
          <a:bodyPr/>
          <a:lstStyle/>
          <a:p>
            <a:r>
              <a:rPr lang="en-US" dirty="0"/>
              <a:t>How to express an explicit (source routed) path knowing that:</a:t>
            </a:r>
          </a:p>
          <a:p>
            <a:pPr lvl="1"/>
            <a:r>
              <a:rPr lang="en-US" dirty="0"/>
              <a:t>Nodes may represent routers, hosts, servers, application instances, services, chains of services, etc.</a:t>
            </a:r>
          </a:p>
          <a:p>
            <a:pPr lvl="1"/>
            <a:r>
              <a:rPr lang="en-US" dirty="0"/>
              <a:t>A path is encoded into the packet by the originator (or ingress) node using a list of IPv6 addresses</a:t>
            </a:r>
          </a:p>
          <a:p>
            <a:pPr lvl="1"/>
            <a:r>
              <a:rPr lang="en-US" dirty="0"/>
              <a:t>The network may have plurality of nodes not all supporting Segment Routing</a:t>
            </a:r>
          </a:p>
          <a:p>
            <a:pPr lvl="1"/>
            <a:r>
              <a:rPr lang="en-US" dirty="0"/>
              <a:t>A path can be “loose” or “strict”</a:t>
            </a:r>
          </a:p>
          <a:p>
            <a:pPr lvl="2"/>
            <a:r>
              <a:rPr lang="en-US" dirty="0"/>
              <a:t>Likely to be loose…</a:t>
            </a:r>
          </a:p>
          <a:p>
            <a:r>
              <a:rPr lang="en-US" dirty="0"/>
              <a:t>A single mechanism, a single placeholder where the “path” of the packet is expressed</a:t>
            </a:r>
          </a:p>
          <a:p>
            <a:endParaRPr lang="en-US" dirty="0"/>
          </a:p>
        </p:txBody>
      </p:sp>
      <p:sp>
        <p:nvSpPr>
          <p:cNvPr id="6" name="Text Placeholder 5"/>
          <p:cNvSpPr>
            <a:spLocks noGrp="1"/>
          </p:cNvSpPr>
          <p:nvPr>
            <p:ph type="body" sz="quarter" idx="11"/>
          </p:nvPr>
        </p:nvSpPr>
        <p:spPr/>
        <p:txBody>
          <a:bodyPr/>
          <a:lstStyle/>
          <a:p>
            <a:r>
              <a:rPr lang="en-US" dirty="0"/>
              <a:t>Example of Explicit Path</a:t>
            </a:r>
          </a:p>
        </p:txBody>
      </p:sp>
    </p:spTree>
    <p:extLst>
      <p:ext uri="{BB962C8B-B14F-4D97-AF65-F5344CB8AC3E}">
        <p14:creationId xmlns:p14="http://schemas.microsoft.com/office/powerpoint/2010/main" val="7734595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p:txBody>
          <a:bodyPr/>
          <a:lstStyle/>
          <a:p>
            <a:r>
              <a:rPr lang="en-US" sz="2000" dirty="0"/>
              <a:t>In following topology:</a:t>
            </a:r>
          </a:p>
          <a:p>
            <a:r>
              <a:rPr lang="en-US" sz="2000" dirty="0"/>
              <a:t>Q: How to best express path: [A, B, C, F, G, H]</a:t>
            </a:r>
          </a:p>
          <a:p>
            <a:r>
              <a:rPr lang="en-US" sz="2000" dirty="0"/>
              <a:t>Note well: node A has two shortest paths to C (ECMP)</a:t>
            </a:r>
          </a:p>
          <a:p>
            <a:endParaRPr lang="en-US" sz="2000" dirty="0"/>
          </a:p>
          <a:p>
            <a:endParaRPr lang="en-US" sz="2000" dirty="0"/>
          </a:p>
          <a:p>
            <a:endParaRPr lang="en-US" sz="2000" dirty="0"/>
          </a:p>
          <a:p>
            <a:r>
              <a:rPr lang="en-US" sz="2000" dirty="0"/>
              <a:t>A: Source rooted path with segments: [C,F,H]</a:t>
            </a:r>
          </a:p>
          <a:p>
            <a:pPr lvl="1"/>
            <a:r>
              <a:rPr lang="en-US" sz="2000" dirty="0"/>
              <a:t>First segment: set of shortest paths from A to C (ECMP aware)</a:t>
            </a:r>
          </a:p>
          <a:p>
            <a:pPr lvl="1"/>
            <a:r>
              <a:rPr lang="en-US" sz="2000" dirty="0"/>
              <a:t>Second segment: adjacency/link from C to F</a:t>
            </a:r>
          </a:p>
          <a:p>
            <a:pPr lvl="1"/>
            <a:r>
              <a:rPr lang="en-US" sz="2000" dirty="0"/>
              <a:t>Third segment: shortest path from F to H</a:t>
            </a:r>
          </a:p>
          <a:p>
            <a:r>
              <a:rPr lang="en-US" sz="2000" dirty="0"/>
              <a:t>Loose Source Routing</a:t>
            </a:r>
          </a:p>
          <a:p>
            <a:endParaRPr lang="en-US" sz="2000" dirty="0"/>
          </a:p>
        </p:txBody>
      </p:sp>
      <p:sp>
        <p:nvSpPr>
          <p:cNvPr id="6" name="Text Placeholder 5"/>
          <p:cNvSpPr>
            <a:spLocks noGrp="1"/>
          </p:cNvSpPr>
          <p:nvPr>
            <p:ph type="body" sz="quarter" idx="11"/>
          </p:nvPr>
        </p:nvSpPr>
        <p:spPr/>
        <p:txBody>
          <a:bodyPr/>
          <a:lstStyle/>
          <a:p>
            <a:r>
              <a:rPr lang="en-US" dirty="0"/>
              <a:t>Example of Explicit Path</a:t>
            </a:r>
          </a:p>
        </p:txBody>
      </p:sp>
      <p:pic>
        <p:nvPicPr>
          <p:cNvPr id="4" name="Picture 3"/>
          <p:cNvPicPr>
            <a:picLocks noChangeAspect="1"/>
          </p:cNvPicPr>
          <p:nvPr/>
        </p:nvPicPr>
        <p:blipFill>
          <a:blip r:embed="rId2"/>
          <a:stretch>
            <a:fillRect/>
          </a:stretch>
        </p:blipFill>
        <p:spPr>
          <a:xfrm>
            <a:off x="7378308" y="2863211"/>
            <a:ext cx="3774099" cy="1021355"/>
          </a:xfrm>
          <a:prstGeom prst="rect">
            <a:avLst/>
          </a:prstGeom>
        </p:spPr>
      </p:pic>
      <p:pic>
        <p:nvPicPr>
          <p:cNvPr id="7" name="Picture 6"/>
          <p:cNvPicPr>
            <a:picLocks noChangeAspect="1"/>
          </p:cNvPicPr>
          <p:nvPr/>
        </p:nvPicPr>
        <p:blipFill>
          <a:blip r:embed="rId3"/>
          <a:stretch>
            <a:fillRect/>
          </a:stretch>
        </p:blipFill>
        <p:spPr>
          <a:xfrm>
            <a:off x="7378308" y="5117638"/>
            <a:ext cx="3854996" cy="963749"/>
          </a:xfrm>
          <a:prstGeom prst="rect">
            <a:avLst/>
          </a:prstGeom>
        </p:spPr>
      </p:pic>
    </p:spTree>
    <p:extLst>
      <p:ext uri="{BB962C8B-B14F-4D97-AF65-F5344CB8AC3E}">
        <p14:creationId xmlns:p14="http://schemas.microsoft.com/office/powerpoint/2010/main" val="312594953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p:txBody>
          <a:bodyPr/>
          <a:lstStyle/>
          <a:p>
            <a:r>
              <a:rPr lang="en-US" b="1" u="sng" dirty="0">
                <a:solidFill>
                  <a:srgbClr val="7030A0"/>
                </a:solidFill>
              </a:rPr>
              <a:t>Not all nodes needs to be SR capable</a:t>
            </a:r>
          </a:p>
          <a:p>
            <a:r>
              <a:rPr lang="en-US" dirty="0"/>
              <a:t>Example:</a:t>
            </a:r>
          </a:p>
          <a:p>
            <a:pPr lvl="1"/>
            <a:r>
              <a:rPr lang="en-US" dirty="0"/>
              <a:t>Traffic Engineering from A to H through path ABCFGH</a:t>
            </a:r>
          </a:p>
          <a:p>
            <a:pPr lvl="1"/>
            <a:r>
              <a:rPr lang="en-US" dirty="0"/>
              <a:t>Nodes </a:t>
            </a:r>
            <a:r>
              <a:rPr lang="en-US" b="1" dirty="0">
                <a:solidFill>
                  <a:srgbClr val="FFC000"/>
                </a:solidFill>
              </a:rPr>
              <a:t>A</a:t>
            </a:r>
            <a:r>
              <a:rPr lang="en-US" dirty="0"/>
              <a:t>, </a:t>
            </a:r>
            <a:r>
              <a:rPr lang="en-US" b="1" dirty="0">
                <a:solidFill>
                  <a:srgbClr val="FFC000"/>
                </a:solidFill>
              </a:rPr>
              <a:t>C</a:t>
            </a:r>
            <a:r>
              <a:rPr lang="en-US" dirty="0"/>
              <a:t> and </a:t>
            </a:r>
            <a:r>
              <a:rPr lang="en-US" b="1" dirty="0">
                <a:solidFill>
                  <a:srgbClr val="FFC000"/>
                </a:solidFill>
              </a:rPr>
              <a:t>F</a:t>
            </a:r>
            <a:r>
              <a:rPr lang="en-US" dirty="0"/>
              <a:t> are SR capable</a:t>
            </a:r>
          </a:p>
          <a:p>
            <a:pPr lvl="1"/>
            <a:r>
              <a:rPr lang="en-US" dirty="0"/>
              <a:t>Nodes </a:t>
            </a:r>
            <a:r>
              <a:rPr lang="en-US" b="1" dirty="0">
                <a:solidFill>
                  <a:srgbClr val="7030A0"/>
                </a:solidFill>
              </a:rPr>
              <a:t>B</a:t>
            </a:r>
            <a:r>
              <a:rPr lang="en-US" dirty="0"/>
              <a:t>, </a:t>
            </a:r>
            <a:r>
              <a:rPr lang="en-US" b="1" dirty="0">
                <a:solidFill>
                  <a:srgbClr val="7030A0"/>
                </a:solidFill>
              </a:rPr>
              <a:t>D</a:t>
            </a:r>
            <a:r>
              <a:rPr lang="en-US" dirty="0"/>
              <a:t>, </a:t>
            </a:r>
            <a:r>
              <a:rPr lang="en-US" b="1" dirty="0">
                <a:solidFill>
                  <a:srgbClr val="7030A0"/>
                </a:solidFill>
              </a:rPr>
              <a:t>E</a:t>
            </a:r>
            <a:r>
              <a:rPr lang="en-US" dirty="0"/>
              <a:t>, </a:t>
            </a:r>
            <a:r>
              <a:rPr lang="en-US" b="1" dirty="0">
                <a:solidFill>
                  <a:srgbClr val="7030A0"/>
                </a:solidFill>
              </a:rPr>
              <a:t>G</a:t>
            </a:r>
            <a:r>
              <a:rPr lang="en-US" dirty="0"/>
              <a:t> and </a:t>
            </a:r>
            <a:r>
              <a:rPr lang="en-US" b="1" dirty="0">
                <a:solidFill>
                  <a:srgbClr val="7030A0"/>
                </a:solidFill>
              </a:rPr>
              <a:t>H</a:t>
            </a:r>
            <a:r>
              <a:rPr lang="en-US" dirty="0"/>
              <a:t> are plain ipv6 forwarders</a:t>
            </a:r>
          </a:p>
          <a:p>
            <a:endParaRPr lang="en-US" dirty="0"/>
          </a:p>
        </p:txBody>
      </p:sp>
      <p:sp>
        <p:nvSpPr>
          <p:cNvPr id="6" name="Text Placeholder 5"/>
          <p:cNvSpPr>
            <a:spLocks noGrp="1"/>
          </p:cNvSpPr>
          <p:nvPr>
            <p:ph type="body" sz="quarter" idx="11"/>
          </p:nvPr>
        </p:nvSpPr>
        <p:spPr/>
        <p:txBody>
          <a:bodyPr/>
          <a:lstStyle/>
          <a:p>
            <a:r>
              <a:rPr lang="en-US" dirty="0"/>
              <a:t>Interoperability</a:t>
            </a:r>
          </a:p>
        </p:txBody>
      </p:sp>
      <p:pic>
        <p:nvPicPr>
          <p:cNvPr id="4" name="Picture 3"/>
          <p:cNvPicPr>
            <a:picLocks noChangeAspect="1"/>
          </p:cNvPicPr>
          <p:nvPr/>
        </p:nvPicPr>
        <p:blipFill>
          <a:blip r:embed="rId2"/>
          <a:stretch>
            <a:fillRect/>
          </a:stretch>
        </p:blipFill>
        <p:spPr>
          <a:xfrm>
            <a:off x="3538574" y="4162008"/>
            <a:ext cx="5615731" cy="1919379"/>
          </a:xfrm>
          <a:prstGeom prst="rect">
            <a:avLst/>
          </a:prstGeom>
        </p:spPr>
      </p:pic>
    </p:spTree>
    <p:extLst>
      <p:ext uri="{BB962C8B-B14F-4D97-AF65-F5344CB8AC3E}">
        <p14:creationId xmlns:p14="http://schemas.microsoft.com/office/powerpoint/2010/main" val="4309480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p:txBody>
          <a:bodyPr/>
          <a:lstStyle/>
          <a:p>
            <a:r>
              <a:rPr lang="cs-CZ" dirty="0"/>
              <a:t>Inter-</a:t>
            </a:r>
            <a:r>
              <a:rPr lang="cs-CZ" dirty="0" err="1"/>
              <a:t>Domain</a:t>
            </a:r>
            <a:r>
              <a:rPr lang="cs-CZ" dirty="0"/>
              <a:t> SRv6 </a:t>
            </a:r>
            <a:r>
              <a:rPr lang="cs-CZ" dirty="0" err="1"/>
              <a:t>without</a:t>
            </a:r>
            <a:r>
              <a:rPr lang="cs-CZ" dirty="0"/>
              <a:t> SRH</a:t>
            </a:r>
          </a:p>
        </p:txBody>
      </p:sp>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675" y="1542361"/>
            <a:ext cx="11141405" cy="4663844"/>
          </a:xfrm>
          <a:prstGeom prst="rect">
            <a:avLst/>
          </a:prstGeom>
        </p:spPr>
      </p:pic>
    </p:spTree>
    <p:extLst>
      <p:ext uri="{BB962C8B-B14F-4D97-AF65-F5344CB8AC3E}">
        <p14:creationId xmlns:p14="http://schemas.microsoft.com/office/powerpoint/2010/main" val="316274705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p:txBody>
          <a:bodyPr/>
          <a:lstStyle/>
          <a:p>
            <a:r>
              <a:rPr lang="cs-CZ" dirty="0"/>
              <a:t>Inter-</a:t>
            </a:r>
            <a:r>
              <a:rPr lang="cs-CZ" dirty="0" err="1"/>
              <a:t>Domain</a:t>
            </a:r>
            <a:r>
              <a:rPr lang="cs-CZ" dirty="0"/>
              <a:t> SRv6 </a:t>
            </a:r>
            <a:r>
              <a:rPr lang="cs-CZ" dirty="0" err="1"/>
              <a:t>with</a:t>
            </a:r>
            <a:r>
              <a:rPr lang="cs-CZ" dirty="0"/>
              <a:t> SRH</a:t>
            </a:r>
            <a:r>
              <a:rPr lang="en-US" dirty="0"/>
              <a:t> – traffic steering</a:t>
            </a:r>
            <a:endParaRPr lang="cs-CZ" dirty="0"/>
          </a:p>
        </p:txBody>
      </p:sp>
      <p:pic>
        <p:nvPicPr>
          <p:cNvPr id="5" name="Picture 4"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451" y="1542361"/>
            <a:ext cx="11027096" cy="4724809"/>
          </a:xfrm>
          <a:prstGeom prst="rect">
            <a:avLst/>
          </a:prstGeom>
        </p:spPr>
      </p:pic>
    </p:spTree>
    <p:extLst>
      <p:ext uri="{BB962C8B-B14F-4D97-AF65-F5344CB8AC3E}">
        <p14:creationId xmlns:p14="http://schemas.microsoft.com/office/powerpoint/2010/main" val="246079565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7DF76D3A-5E3E-4BC8-8F39-771134FF4322}"/>
              </a:ext>
            </a:extLst>
          </p:cNvPr>
          <p:cNvSpPr>
            <a:spLocks noGrp="1"/>
          </p:cNvSpPr>
          <p:nvPr>
            <p:ph type="body" idx="1"/>
          </p:nvPr>
        </p:nvSpPr>
        <p:spPr/>
        <p:txBody>
          <a:bodyPr/>
          <a:lstStyle/>
          <a:p>
            <a:r>
              <a:rPr lang="en-US" dirty="0"/>
              <a:t>SRv6 SID</a:t>
            </a:r>
            <a:endParaRPr lang="en-US" noProof="0" dirty="0"/>
          </a:p>
        </p:txBody>
      </p:sp>
      <p:sp>
        <p:nvSpPr>
          <p:cNvPr id="2" name="Text Placeholder 1">
            <a:extLst>
              <a:ext uri="{FF2B5EF4-FFF2-40B4-BE49-F238E27FC236}">
                <a16:creationId xmlns:a16="http://schemas.microsoft.com/office/drawing/2014/main" id="{B367786B-A4DD-DB9E-9087-78A451525AAC}"/>
              </a:ext>
            </a:extLst>
          </p:cNvPr>
          <p:cNvSpPr>
            <a:spLocks noGrp="1"/>
          </p:cNvSpPr>
          <p:nvPr>
            <p:ph type="body" sz="quarter" idx="15"/>
          </p:nvPr>
        </p:nvSpPr>
        <p:spPr/>
        <p:txBody>
          <a:bodyPr/>
          <a:lstStyle/>
          <a:p>
            <a:r>
              <a:rPr lang="en-US" dirty="0">
                <a:cs typeface="Calibri" pitchFamily="34" charset="0"/>
              </a:rPr>
              <a:t>SRv6 and service migration</a:t>
            </a:r>
            <a:endParaRPr lang="cs-CZ" dirty="0"/>
          </a:p>
        </p:txBody>
      </p:sp>
      <p:sp>
        <p:nvSpPr>
          <p:cNvPr id="5" name="Zástupný text 4">
            <a:extLst>
              <a:ext uri="{FF2B5EF4-FFF2-40B4-BE49-F238E27FC236}">
                <a16:creationId xmlns:a16="http://schemas.microsoft.com/office/drawing/2014/main" id="{CA46CB7B-0002-4873-B253-4D2438CC3611}"/>
              </a:ext>
            </a:extLst>
          </p:cNvPr>
          <p:cNvSpPr>
            <a:spLocks noGrp="1"/>
          </p:cNvSpPr>
          <p:nvPr>
            <p:ph type="body" sz="quarter" idx="13"/>
          </p:nvPr>
        </p:nvSpPr>
        <p:spPr/>
        <p:txBody>
          <a:bodyPr/>
          <a:lstStyle/>
          <a:p>
            <a:r>
              <a:rPr lang="en-US" dirty="0"/>
              <a:t>Segment Routing over IPv6 dataplane</a:t>
            </a:r>
          </a:p>
        </p:txBody>
      </p:sp>
      <p:sp>
        <p:nvSpPr>
          <p:cNvPr id="6" name="Zástupný text 5">
            <a:extLst>
              <a:ext uri="{FF2B5EF4-FFF2-40B4-BE49-F238E27FC236}">
                <a16:creationId xmlns:a16="http://schemas.microsoft.com/office/drawing/2014/main" id="{955FA430-FA92-4EB5-849C-E3D05AB9B217}"/>
              </a:ext>
            </a:extLst>
          </p:cNvPr>
          <p:cNvSpPr>
            <a:spLocks noGrp="1"/>
          </p:cNvSpPr>
          <p:nvPr>
            <p:ph type="body" sz="quarter" idx="14"/>
          </p:nvPr>
        </p:nvSpPr>
        <p:spPr/>
        <p:txBody>
          <a:bodyPr/>
          <a:lstStyle/>
          <a:p>
            <a:r>
              <a:rPr lang="en-US" dirty="0"/>
              <a:t>Full SID format</a:t>
            </a:r>
          </a:p>
        </p:txBody>
      </p:sp>
    </p:spTree>
    <p:extLst>
      <p:ext uri="{BB962C8B-B14F-4D97-AF65-F5344CB8AC3E}">
        <p14:creationId xmlns:p14="http://schemas.microsoft.com/office/powerpoint/2010/main" val="41321512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function&#10;&#10;AI-generated content may be incorrect.">
            <a:extLst>
              <a:ext uri="{FF2B5EF4-FFF2-40B4-BE49-F238E27FC236}">
                <a16:creationId xmlns:a16="http://schemas.microsoft.com/office/drawing/2014/main" id="{4CD3AA55-AE95-B61D-296E-E87975FCD3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2300" y="599802"/>
            <a:ext cx="7018628" cy="1638442"/>
          </a:xfrm>
          <a:prstGeom prst="rect">
            <a:avLst/>
          </a:prstGeom>
        </p:spPr>
      </p:pic>
      <p:sp>
        <p:nvSpPr>
          <p:cNvPr id="2" name="Text Placeholder 1">
            <a:extLst>
              <a:ext uri="{FF2B5EF4-FFF2-40B4-BE49-F238E27FC236}">
                <a16:creationId xmlns:a16="http://schemas.microsoft.com/office/drawing/2014/main" id="{4F025640-02D5-B273-BBED-37A3EA02508C}"/>
              </a:ext>
            </a:extLst>
          </p:cNvPr>
          <p:cNvSpPr>
            <a:spLocks noGrp="1"/>
          </p:cNvSpPr>
          <p:nvPr>
            <p:ph type="body" sz="quarter" idx="10"/>
          </p:nvPr>
        </p:nvSpPr>
        <p:spPr/>
        <p:txBody>
          <a:bodyPr/>
          <a:lstStyle/>
          <a:p>
            <a:endParaRPr lang="en-US" sz="2000" dirty="0"/>
          </a:p>
          <a:p>
            <a:pPr marL="0" indent="0">
              <a:buNone/>
            </a:pPr>
            <a:endParaRPr lang="en-US" sz="2000" dirty="0"/>
          </a:p>
          <a:p>
            <a:pPr marL="0" indent="0">
              <a:buNone/>
            </a:pPr>
            <a:endParaRPr lang="en-US" sz="2000" dirty="0"/>
          </a:p>
          <a:p>
            <a:r>
              <a:rPr lang="en-US" sz="2000" dirty="0"/>
              <a:t>Guidelines and Restrictions while configuring SRv6</a:t>
            </a:r>
          </a:p>
          <a:p>
            <a:pPr marL="457200" indent="-457200">
              <a:buFont typeface="+mj-lt"/>
              <a:buAutoNum type="arabicPeriod"/>
            </a:pPr>
            <a:r>
              <a:rPr lang="en-US" sz="2000" dirty="0"/>
              <a:t>All routers in the SRv6 domain should have the same SID block (network designator) in their locator</a:t>
            </a:r>
          </a:p>
          <a:p>
            <a:pPr marL="457200" indent="-457200">
              <a:buFont typeface="+mj-lt"/>
              <a:buAutoNum type="arabicPeriod"/>
            </a:pPr>
            <a:r>
              <a:rPr lang="en-US" sz="2000" dirty="0"/>
              <a:t>The locator length should be 64-bits long (Full SID , Format </a:t>
            </a:r>
            <a:r>
              <a:rPr lang="en-US" sz="2000" dirty="0" err="1"/>
              <a:t>F1</a:t>
            </a:r>
            <a:r>
              <a:rPr lang="en-US" sz="2000" dirty="0"/>
              <a:t>).</a:t>
            </a:r>
          </a:p>
          <a:p>
            <a:pPr lvl="1"/>
            <a:r>
              <a:rPr lang="en-US" sz="2000" dirty="0"/>
              <a:t>The SID block portion (</a:t>
            </a:r>
            <a:r>
              <a:rPr lang="en-US" sz="2000" dirty="0" err="1"/>
              <a:t>MSBs</a:t>
            </a:r>
            <a:r>
              <a:rPr lang="en-US" sz="2000" dirty="0"/>
              <a:t>) cannot exceed 40 bits. If this value is less than 40 bits, user should use a pattern of zeros as a filler.</a:t>
            </a:r>
          </a:p>
          <a:p>
            <a:pPr lvl="1"/>
            <a:r>
              <a:rPr lang="en-US" sz="2000" dirty="0"/>
              <a:t>The Node Id portion (</a:t>
            </a:r>
            <a:r>
              <a:rPr lang="en-US" sz="2000" dirty="0" err="1"/>
              <a:t>LSBs</a:t>
            </a:r>
            <a:r>
              <a:rPr lang="en-US" sz="2000" dirty="0"/>
              <a:t>) cannot exceed 24 bits.</a:t>
            </a:r>
          </a:p>
          <a:p>
            <a:pPr marL="457200" indent="-457200">
              <a:buFont typeface="+mj-lt"/>
              <a:buAutoNum type="arabicPeriod"/>
            </a:pPr>
            <a:r>
              <a:rPr lang="en-US" sz="2000" dirty="0"/>
              <a:t>You can configure up to 8 locators to support SRv6 Flexible Algorithm. All locators prefix must share the same SID block (first 40-bits).</a:t>
            </a:r>
          </a:p>
        </p:txBody>
      </p:sp>
      <p:sp>
        <p:nvSpPr>
          <p:cNvPr id="3" name="Text Placeholder 2">
            <a:extLst>
              <a:ext uri="{FF2B5EF4-FFF2-40B4-BE49-F238E27FC236}">
                <a16:creationId xmlns:a16="http://schemas.microsoft.com/office/drawing/2014/main" id="{99FB1348-ACA9-0979-940C-46E4B6FA0D39}"/>
              </a:ext>
            </a:extLst>
          </p:cNvPr>
          <p:cNvSpPr>
            <a:spLocks noGrp="1"/>
          </p:cNvSpPr>
          <p:nvPr>
            <p:ph type="body" sz="quarter" idx="11"/>
          </p:nvPr>
        </p:nvSpPr>
        <p:spPr/>
        <p:txBody>
          <a:bodyPr/>
          <a:lstStyle/>
          <a:p>
            <a:r>
              <a:rPr lang="en-US" dirty="0"/>
              <a:t>SRv6 SID Format (Full SID)</a:t>
            </a:r>
          </a:p>
        </p:txBody>
      </p:sp>
      <p:sp>
        <p:nvSpPr>
          <p:cNvPr id="6" name="Rectangle 5">
            <a:extLst>
              <a:ext uri="{FF2B5EF4-FFF2-40B4-BE49-F238E27FC236}">
                <a16:creationId xmlns:a16="http://schemas.microsoft.com/office/drawing/2014/main" id="{6CA00658-84AA-9BC7-F247-8DF1FEFBBB49}"/>
              </a:ext>
            </a:extLst>
          </p:cNvPr>
          <p:cNvSpPr/>
          <p:nvPr/>
        </p:nvSpPr>
        <p:spPr>
          <a:xfrm>
            <a:off x="557226" y="5633600"/>
            <a:ext cx="4429760" cy="738664"/>
          </a:xfrm>
          <a:prstGeom prst="rect">
            <a:avLst/>
          </a:prstGeom>
          <a:solidFill>
            <a:schemeClr val="bg1">
              <a:lumMod val="95000"/>
            </a:schemeClr>
          </a:solidFill>
          <a:ln>
            <a:solidFill>
              <a:schemeClr val="tx1"/>
            </a:solidFill>
          </a:ln>
          <a:effectLst/>
        </p:spPr>
        <p:txBody>
          <a:bodyPr wrap="square">
            <a:spAutoFit/>
          </a:bodyPr>
          <a:lstStyle/>
          <a:p>
            <a:r>
              <a:rPr lang="sk-SK" sz="1050" dirty="0">
                <a:latin typeface="Consolas" panose="020B0609020204030204" pitchFamily="49" charset="0"/>
              </a:rPr>
              <a:t>Router(</a:t>
            </a:r>
            <a:r>
              <a:rPr lang="sk-SK" sz="1050" dirty="0" err="1">
                <a:latin typeface="Consolas" panose="020B0609020204030204" pitchFamily="49" charset="0"/>
              </a:rPr>
              <a:t>config</a:t>
            </a:r>
            <a:r>
              <a:rPr lang="sk-SK" sz="1050" dirty="0">
                <a:latin typeface="Consolas" panose="020B0609020204030204" pitchFamily="49" charset="0"/>
              </a:rPr>
              <a:t>)#</a:t>
            </a:r>
            <a:r>
              <a:rPr lang="sk-SK" sz="1050" b="1" dirty="0">
                <a:latin typeface="Consolas" panose="020B0609020204030204" pitchFamily="49" charset="0"/>
              </a:rPr>
              <a:t>segment-routing </a:t>
            </a:r>
            <a:r>
              <a:rPr lang="sk-SK" sz="1050" b="1" dirty="0" err="1">
                <a:latin typeface="Consolas" panose="020B0609020204030204" pitchFamily="49" charset="0"/>
              </a:rPr>
              <a:t>srv6</a:t>
            </a:r>
            <a:endParaRPr lang="sk-SK" sz="1050" b="1" dirty="0">
              <a:latin typeface="Consolas" panose="020B0609020204030204" pitchFamily="49" charset="0"/>
            </a:endParaRPr>
          </a:p>
          <a:p>
            <a:r>
              <a:rPr lang="sk-SK" sz="1050" dirty="0">
                <a:latin typeface="Consolas" panose="020B0609020204030204" pitchFamily="49" charset="0"/>
              </a:rPr>
              <a:t>Router(</a:t>
            </a:r>
            <a:r>
              <a:rPr lang="sk-SK" sz="1050" dirty="0" err="1">
                <a:latin typeface="Consolas" panose="020B0609020204030204" pitchFamily="49" charset="0"/>
              </a:rPr>
              <a:t>config-srv6</a:t>
            </a:r>
            <a:r>
              <a:rPr lang="sk-SK" sz="1050" dirty="0">
                <a:latin typeface="Consolas" panose="020B0609020204030204" pitchFamily="49" charset="0"/>
              </a:rPr>
              <a:t>)#</a:t>
            </a:r>
            <a:r>
              <a:rPr lang="sk-SK" sz="1050" b="1" dirty="0" err="1">
                <a:latin typeface="Consolas" panose="020B0609020204030204" pitchFamily="49" charset="0"/>
              </a:rPr>
              <a:t>locators</a:t>
            </a:r>
            <a:endParaRPr lang="sk-SK" sz="1050" b="1" dirty="0">
              <a:latin typeface="Consolas" panose="020B0609020204030204" pitchFamily="49" charset="0"/>
            </a:endParaRPr>
          </a:p>
          <a:p>
            <a:r>
              <a:rPr lang="sk-SK" sz="1050" dirty="0">
                <a:latin typeface="Consolas" panose="020B0609020204030204" pitchFamily="49" charset="0"/>
              </a:rPr>
              <a:t>Router(</a:t>
            </a:r>
            <a:r>
              <a:rPr lang="sk-SK" sz="1050" dirty="0" err="1">
                <a:latin typeface="Consolas" panose="020B0609020204030204" pitchFamily="49" charset="0"/>
              </a:rPr>
              <a:t>config-srv6-locators</a:t>
            </a:r>
            <a:r>
              <a:rPr lang="sk-SK" sz="1050" dirty="0">
                <a:latin typeface="Consolas" panose="020B0609020204030204" pitchFamily="49" charset="0"/>
              </a:rPr>
              <a:t>)#</a:t>
            </a:r>
            <a:r>
              <a:rPr lang="sk-SK" sz="1050" b="1" dirty="0" err="1">
                <a:latin typeface="Consolas" panose="020B0609020204030204" pitchFamily="49" charset="0"/>
              </a:rPr>
              <a:t>locator</a:t>
            </a:r>
            <a:r>
              <a:rPr lang="sk-SK" sz="1050" b="1" dirty="0">
                <a:latin typeface="Consolas" panose="020B0609020204030204" pitchFamily="49" charset="0"/>
              </a:rPr>
              <a:t> </a:t>
            </a:r>
            <a:r>
              <a:rPr lang="sk-SK" sz="1050" b="1" i="1" dirty="0" err="1">
                <a:solidFill>
                  <a:schemeClr val="tx2"/>
                </a:solidFill>
                <a:latin typeface="Consolas" panose="020B0609020204030204" pitchFamily="49" charset="0"/>
              </a:rPr>
              <a:t>myLoc1</a:t>
            </a:r>
            <a:endParaRPr lang="sk-SK" sz="1050" b="1" i="1" dirty="0">
              <a:solidFill>
                <a:schemeClr val="tx2"/>
              </a:solidFill>
              <a:latin typeface="Consolas" panose="020B0609020204030204" pitchFamily="49" charset="0"/>
            </a:endParaRPr>
          </a:p>
          <a:p>
            <a:r>
              <a:rPr lang="sk-SK" sz="1050" dirty="0">
                <a:latin typeface="Consolas" panose="020B0609020204030204" pitchFamily="49" charset="0"/>
              </a:rPr>
              <a:t>Router(</a:t>
            </a:r>
            <a:r>
              <a:rPr lang="sk-SK" sz="1050" dirty="0" err="1">
                <a:latin typeface="Consolas" panose="020B0609020204030204" pitchFamily="49" charset="0"/>
              </a:rPr>
              <a:t>config-srv6-locator</a:t>
            </a:r>
            <a:r>
              <a:rPr lang="sk-SK" sz="1050" dirty="0">
                <a:latin typeface="Consolas" panose="020B0609020204030204" pitchFamily="49" charset="0"/>
              </a:rPr>
              <a:t>)#</a:t>
            </a:r>
            <a:r>
              <a:rPr lang="sk-SK" sz="1050" b="1" dirty="0">
                <a:latin typeface="Consolas" panose="020B0609020204030204" pitchFamily="49" charset="0"/>
              </a:rPr>
              <a:t>prefix </a:t>
            </a:r>
            <a:r>
              <a:rPr lang="sk-SK" sz="1050" b="1" dirty="0" err="1">
                <a:solidFill>
                  <a:schemeClr val="tx2"/>
                </a:solidFill>
                <a:latin typeface="Consolas" panose="020B0609020204030204" pitchFamily="49" charset="0"/>
              </a:rPr>
              <a:t>2001:db8:0:2</a:t>
            </a:r>
            <a:r>
              <a:rPr lang="sk-SK" sz="1050" b="1" dirty="0">
                <a:solidFill>
                  <a:schemeClr val="tx2"/>
                </a:solidFill>
                <a:latin typeface="Consolas" panose="020B0609020204030204" pitchFamily="49" charset="0"/>
              </a:rPr>
              <a:t>::/64</a:t>
            </a:r>
          </a:p>
        </p:txBody>
      </p:sp>
      <p:grpSp>
        <p:nvGrpSpPr>
          <p:cNvPr id="11" name="Group 10">
            <a:extLst>
              <a:ext uri="{FF2B5EF4-FFF2-40B4-BE49-F238E27FC236}">
                <a16:creationId xmlns:a16="http://schemas.microsoft.com/office/drawing/2014/main" id="{00951895-C56B-BA06-22EE-57D1185C9EEE}"/>
              </a:ext>
            </a:extLst>
          </p:cNvPr>
          <p:cNvGrpSpPr/>
          <p:nvPr/>
        </p:nvGrpSpPr>
        <p:grpSpPr>
          <a:xfrm>
            <a:off x="5663585" y="5580018"/>
            <a:ext cx="4977897" cy="678180"/>
            <a:chOff x="5663585" y="5318760"/>
            <a:chExt cx="4977897" cy="678180"/>
          </a:xfrm>
        </p:grpSpPr>
        <p:sp>
          <p:nvSpPr>
            <p:cNvPr id="7" name="TextBox 6">
              <a:extLst>
                <a:ext uri="{FF2B5EF4-FFF2-40B4-BE49-F238E27FC236}">
                  <a16:creationId xmlns:a16="http://schemas.microsoft.com/office/drawing/2014/main" id="{BB4A36E3-8EE1-4693-1EFE-31D9FDF5A837}"/>
                </a:ext>
              </a:extLst>
            </p:cNvPr>
            <p:cNvSpPr txBox="1"/>
            <p:nvPr/>
          </p:nvSpPr>
          <p:spPr>
            <a:xfrm>
              <a:off x="5663585" y="5318760"/>
              <a:ext cx="3889990" cy="678180"/>
            </a:xfrm>
            <a:prstGeom prst="rect">
              <a:avLst/>
            </a:prstGeom>
            <a:solidFill>
              <a:srgbClr val="00B0F0"/>
            </a:solidFill>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endParaRPr kumimoji="0" lang="en-US" sz="2400" b="1" i="0" u="none" strike="noStrike" kern="1200" cap="none" spc="0" normalizeH="0" baseline="0" noProof="0" dirty="0" err="1">
                <a:ln>
                  <a:noFill/>
                </a:ln>
                <a:effectLst/>
                <a:uLnTx/>
                <a:uFillTx/>
                <a:latin typeface="Arial" panose="020B0604020202020204"/>
                <a:ea typeface="+mn-ea"/>
                <a:cs typeface="+mn-cs"/>
              </a:endParaRPr>
            </a:p>
          </p:txBody>
        </p:sp>
        <p:sp>
          <p:nvSpPr>
            <p:cNvPr id="9" name="TextBox 8">
              <a:extLst>
                <a:ext uri="{FF2B5EF4-FFF2-40B4-BE49-F238E27FC236}">
                  <a16:creationId xmlns:a16="http://schemas.microsoft.com/office/drawing/2014/main" id="{1FADD5F0-F578-C38B-4456-0AE37A64E177}"/>
                </a:ext>
              </a:extLst>
            </p:cNvPr>
            <p:cNvSpPr txBox="1"/>
            <p:nvPr/>
          </p:nvSpPr>
          <p:spPr>
            <a:xfrm>
              <a:off x="5746712" y="5451197"/>
              <a:ext cx="2339146" cy="388610"/>
            </a:xfrm>
            <a:prstGeom prst="rect">
              <a:avLst/>
            </a:prstGeom>
            <a:solidFill>
              <a:srgbClr val="36526D"/>
            </a:solidFill>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endParaRPr kumimoji="0" lang="en-US" sz="2400" b="1" i="0" u="none" strike="noStrike" kern="1200" cap="none" spc="0" normalizeH="0" baseline="0" noProof="0" dirty="0" err="1">
                <a:ln>
                  <a:noFill/>
                </a:ln>
                <a:effectLst/>
                <a:uLnTx/>
                <a:uFillTx/>
                <a:latin typeface="Arial" panose="020B0604020202020204"/>
                <a:ea typeface="+mn-ea"/>
                <a:cs typeface="+mn-cs"/>
              </a:endParaRPr>
            </a:p>
          </p:txBody>
        </p:sp>
        <p:sp>
          <p:nvSpPr>
            <p:cNvPr id="10" name="TextBox 9">
              <a:extLst>
                <a:ext uri="{FF2B5EF4-FFF2-40B4-BE49-F238E27FC236}">
                  <a16:creationId xmlns:a16="http://schemas.microsoft.com/office/drawing/2014/main" id="{24B6EDBE-BEB4-7B46-BA1A-C785D73A99CD}"/>
                </a:ext>
              </a:extLst>
            </p:cNvPr>
            <p:cNvSpPr txBox="1"/>
            <p:nvPr/>
          </p:nvSpPr>
          <p:spPr>
            <a:xfrm>
              <a:off x="8085858" y="5451609"/>
              <a:ext cx="1467717" cy="388610"/>
            </a:xfrm>
            <a:prstGeom prst="rect">
              <a:avLst/>
            </a:prstGeom>
            <a:solidFill>
              <a:srgbClr val="658BB2"/>
            </a:solidFill>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endParaRPr kumimoji="0" lang="en-US" sz="2400" b="1" i="0" u="none" strike="noStrike" kern="1200" cap="none" spc="0" normalizeH="0" baseline="0" noProof="0" dirty="0" err="1">
                <a:ln>
                  <a:noFill/>
                </a:ln>
                <a:effectLst/>
                <a:uLnTx/>
                <a:uFillTx/>
                <a:latin typeface="Arial" panose="020B0604020202020204"/>
                <a:ea typeface="+mn-ea"/>
                <a:cs typeface="+mn-cs"/>
              </a:endParaRPr>
            </a:p>
          </p:txBody>
        </p:sp>
        <p:sp>
          <p:nvSpPr>
            <p:cNvPr id="8" name="TextBox 7">
              <a:extLst>
                <a:ext uri="{FF2B5EF4-FFF2-40B4-BE49-F238E27FC236}">
                  <a16:creationId xmlns:a16="http://schemas.microsoft.com/office/drawing/2014/main" id="{BE68401C-024D-2104-B8D4-D69A889E886E}"/>
                </a:ext>
              </a:extLst>
            </p:cNvPr>
            <p:cNvSpPr txBox="1"/>
            <p:nvPr/>
          </p:nvSpPr>
          <p:spPr>
            <a:xfrm>
              <a:off x="5663585" y="5411105"/>
              <a:ext cx="4977897" cy="353282"/>
            </a:xfrm>
            <a:prstGeom prst="rect">
              <a:avLst/>
            </a:prstGeom>
            <a:noFill/>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sk-SK" sz="2800" b="1" dirty="0">
                  <a:solidFill>
                    <a:schemeClr val="bg1"/>
                  </a:solidFill>
                  <a:latin typeface="Consolas" panose="020B0609020204030204" pitchFamily="49" charset="0"/>
                </a:rPr>
                <a:t>2001:</a:t>
              </a:r>
              <a:r>
                <a:rPr lang="en-US" sz="2800" b="1" dirty="0">
                  <a:solidFill>
                    <a:schemeClr val="bg1"/>
                  </a:solidFill>
                  <a:latin typeface="Consolas" panose="020B0609020204030204" pitchFamily="49" charset="0"/>
                </a:rPr>
                <a:t>0</a:t>
              </a:r>
              <a:r>
                <a:rPr lang="sk-SK" sz="2800" b="1" dirty="0" err="1">
                  <a:solidFill>
                    <a:schemeClr val="bg1"/>
                  </a:solidFill>
                  <a:latin typeface="Consolas" panose="020B0609020204030204" pitchFamily="49" charset="0"/>
                </a:rPr>
                <a:t>db8</a:t>
              </a:r>
              <a:r>
                <a:rPr lang="sk-SK" sz="2800" b="1" dirty="0">
                  <a:solidFill>
                    <a:schemeClr val="bg1"/>
                  </a:solidFill>
                  <a:latin typeface="Consolas" panose="020B0609020204030204" pitchFamily="49" charset="0"/>
                </a:rPr>
                <a:t>:</a:t>
              </a:r>
              <a:r>
                <a:rPr lang="en-US" sz="2800" b="1" dirty="0">
                  <a:solidFill>
                    <a:schemeClr val="bg1"/>
                  </a:solidFill>
                  <a:latin typeface="Consolas" panose="020B0609020204030204" pitchFamily="49" charset="0"/>
                </a:rPr>
                <a:t>000</a:t>
              </a:r>
              <a:r>
                <a:rPr lang="sk-SK" sz="2800" b="1" dirty="0">
                  <a:solidFill>
                    <a:schemeClr val="bg1"/>
                  </a:solidFill>
                  <a:latin typeface="Consolas" panose="020B0609020204030204" pitchFamily="49" charset="0"/>
                </a:rPr>
                <a:t>0:</a:t>
              </a:r>
              <a:r>
                <a:rPr lang="en-US" sz="2800" b="1" dirty="0">
                  <a:solidFill>
                    <a:schemeClr val="bg1"/>
                  </a:solidFill>
                  <a:latin typeface="Consolas" panose="020B0609020204030204" pitchFamily="49" charset="0"/>
                </a:rPr>
                <a:t>000</a:t>
              </a:r>
              <a:r>
                <a:rPr lang="sk-SK" sz="2800" b="1" dirty="0">
                  <a:solidFill>
                    <a:schemeClr val="bg1"/>
                  </a:solidFill>
                  <a:latin typeface="Consolas" panose="020B0609020204030204" pitchFamily="49" charset="0"/>
                </a:rPr>
                <a:t>2</a:t>
              </a:r>
              <a:r>
                <a:rPr lang="sk-SK" sz="2800" b="1" dirty="0">
                  <a:latin typeface="Consolas" panose="020B0609020204030204" pitchFamily="49" charset="0"/>
                </a:rPr>
                <a:t>::/64</a:t>
              </a:r>
              <a:endParaRPr kumimoji="0" lang="en-US" sz="2800" b="1" i="0" u="none" strike="noStrike" kern="1200" cap="none" spc="0" normalizeH="0" baseline="0" noProof="0" dirty="0" err="1">
                <a:ln>
                  <a:noFill/>
                </a:ln>
                <a:effectLst/>
                <a:uLnTx/>
                <a:uFillTx/>
                <a:latin typeface="Arial" panose="020B0604020202020204"/>
                <a:ea typeface="+mn-ea"/>
                <a:cs typeface="+mn-cs"/>
              </a:endParaRPr>
            </a:p>
          </p:txBody>
        </p:sp>
      </p:grpSp>
    </p:spTree>
    <p:extLst>
      <p:ext uri="{BB962C8B-B14F-4D97-AF65-F5344CB8AC3E}">
        <p14:creationId xmlns:p14="http://schemas.microsoft.com/office/powerpoint/2010/main" val="61231238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A7B7243-6FBB-2540-621A-25F25B62DFD6}"/>
              </a:ext>
            </a:extLst>
          </p:cNvPr>
          <p:cNvSpPr>
            <a:spLocks noGrp="1"/>
          </p:cNvSpPr>
          <p:nvPr>
            <p:ph type="body" sz="quarter" idx="10"/>
          </p:nvPr>
        </p:nvSpPr>
        <p:spPr/>
        <p:txBody>
          <a:bodyPr/>
          <a:lstStyle/>
          <a:p>
            <a:endParaRPr lang="en-US" dirty="0"/>
          </a:p>
        </p:txBody>
      </p:sp>
      <p:sp>
        <p:nvSpPr>
          <p:cNvPr id="3" name="Text Placeholder 2">
            <a:extLst>
              <a:ext uri="{FF2B5EF4-FFF2-40B4-BE49-F238E27FC236}">
                <a16:creationId xmlns:a16="http://schemas.microsoft.com/office/drawing/2014/main" id="{28E71338-2C7C-9039-7B5D-EB3AF3797A7C}"/>
              </a:ext>
            </a:extLst>
          </p:cNvPr>
          <p:cNvSpPr>
            <a:spLocks noGrp="1"/>
          </p:cNvSpPr>
          <p:nvPr>
            <p:ph type="body" sz="quarter" idx="11"/>
          </p:nvPr>
        </p:nvSpPr>
        <p:spPr/>
        <p:txBody>
          <a:bodyPr/>
          <a:lstStyle/>
          <a:p>
            <a:r>
              <a:rPr lang="en-US" dirty="0"/>
              <a:t>Full SID configuration example – </a:t>
            </a:r>
            <a:r>
              <a:rPr lang="en-US" dirty="0">
                <a:solidFill>
                  <a:schemeClr val="accent5"/>
                </a:solidFill>
              </a:rPr>
              <a:t>IOS-XR</a:t>
            </a:r>
          </a:p>
        </p:txBody>
      </p:sp>
      <p:sp>
        <p:nvSpPr>
          <p:cNvPr id="5" name="Rectangle 4">
            <a:extLst>
              <a:ext uri="{FF2B5EF4-FFF2-40B4-BE49-F238E27FC236}">
                <a16:creationId xmlns:a16="http://schemas.microsoft.com/office/drawing/2014/main" id="{061CAFFC-9529-97EE-5600-0F0DA2A7AED3}"/>
              </a:ext>
            </a:extLst>
          </p:cNvPr>
          <p:cNvSpPr/>
          <p:nvPr/>
        </p:nvSpPr>
        <p:spPr>
          <a:xfrm>
            <a:off x="802641" y="905117"/>
            <a:ext cx="4429760" cy="5424562"/>
          </a:xfrm>
          <a:prstGeom prst="rect">
            <a:avLst/>
          </a:prstGeom>
          <a:solidFill>
            <a:schemeClr val="bg1">
              <a:lumMod val="95000"/>
            </a:schemeClr>
          </a:solidFill>
          <a:ln>
            <a:solidFill>
              <a:schemeClr val="tx1"/>
            </a:solidFill>
          </a:ln>
          <a:effectLst/>
        </p:spPr>
        <p:txBody>
          <a:bodyPr wrap="square">
            <a:spAutoFit/>
          </a:bodyPr>
          <a:lstStyle/>
          <a:p>
            <a:r>
              <a:rPr lang="sk-SK" sz="1050" dirty="0">
                <a:latin typeface="Consolas" panose="020B0609020204030204" pitchFamily="49" charset="0"/>
              </a:rPr>
              <a:t>!</a:t>
            </a:r>
          </a:p>
          <a:p>
            <a:r>
              <a:rPr lang="sk-SK" sz="1050" dirty="0">
                <a:latin typeface="Consolas" panose="020B0609020204030204" pitchFamily="49" charset="0"/>
              </a:rPr>
              <a:t>segment-routing</a:t>
            </a:r>
          </a:p>
          <a:p>
            <a:r>
              <a:rPr lang="sk-SK" sz="1050" dirty="0">
                <a:latin typeface="Consolas" panose="020B0609020204030204" pitchFamily="49" charset="0"/>
              </a:rPr>
              <a:t> srv6</a:t>
            </a:r>
          </a:p>
          <a:p>
            <a:r>
              <a:rPr lang="sk-SK" sz="1050" dirty="0">
                <a:latin typeface="Consolas" panose="020B0609020204030204" pitchFamily="49" charset="0"/>
              </a:rPr>
              <a:t>  </a:t>
            </a:r>
            <a:r>
              <a:rPr lang="sk-SK" sz="1050" dirty="0" err="1">
                <a:latin typeface="Consolas" panose="020B0609020204030204" pitchFamily="49" charset="0"/>
              </a:rPr>
              <a:t>logging</a:t>
            </a:r>
            <a:r>
              <a:rPr lang="sk-SK" sz="1050" dirty="0">
                <a:latin typeface="Consolas" panose="020B0609020204030204" pitchFamily="49" charset="0"/>
              </a:rPr>
              <a:t> </a:t>
            </a:r>
            <a:r>
              <a:rPr lang="sk-SK" sz="1050" dirty="0" err="1">
                <a:latin typeface="Consolas" panose="020B0609020204030204" pitchFamily="49" charset="0"/>
              </a:rPr>
              <a:t>locator</a:t>
            </a:r>
            <a:r>
              <a:rPr lang="sk-SK" sz="1050" dirty="0">
                <a:latin typeface="Consolas" panose="020B0609020204030204" pitchFamily="49" charset="0"/>
              </a:rPr>
              <a:t> status</a:t>
            </a:r>
          </a:p>
          <a:p>
            <a:r>
              <a:rPr lang="sk-SK" sz="1050" dirty="0">
                <a:latin typeface="Consolas" panose="020B0609020204030204" pitchFamily="49" charset="0"/>
              </a:rPr>
              <a:t>  </a:t>
            </a:r>
            <a:r>
              <a:rPr lang="sk-SK" sz="1050" dirty="0" err="1">
                <a:latin typeface="Consolas" panose="020B0609020204030204" pitchFamily="49" charset="0"/>
              </a:rPr>
              <a:t>locators</a:t>
            </a:r>
            <a:endParaRPr lang="sk-SK" sz="1050" dirty="0">
              <a:latin typeface="Consolas" panose="020B0609020204030204" pitchFamily="49" charset="0"/>
            </a:endParaRPr>
          </a:p>
          <a:p>
            <a:r>
              <a:rPr lang="sk-SK" sz="1050" dirty="0">
                <a:latin typeface="Consolas" panose="020B0609020204030204" pitchFamily="49" charset="0"/>
              </a:rPr>
              <a:t>   </a:t>
            </a:r>
            <a:r>
              <a:rPr lang="sk-SK" sz="1050" dirty="0" err="1">
                <a:latin typeface="Consolas" panose="020B0609020204030204" pitchFamily="49" charset="0"/>
              </a:rPr>
              <a:t>locator</a:t>
            </a:r>
            <a:r>
              <a:rPr lang="sk-SK" sz="1050" dirty="0">
                <a:latin typeface="Consolas" panose="020B0609020204030204" pitchFamily="49" charset="0"/>
              </a:rPr>
              <a:t> </a:t>
            </a:r>
            <a:r>
              <a:rPr lang="sk-SK" sz="1050" dirty="0">
                <a:highlight>
                  <a:srgbClr val="FFFF00"/>
                </a:highlight>
                <a:latin typeface="Consolas" panose="020B0609020204030204" pitchFamily="49" charset="0"/>
              </a:rPr>
              <a:t>MyFullLoc01</a:t>
            </a:r>
          </a:p>
          <a:p>
            <a:r>
              <a:rPr lang="sk-SK" sz="1050" dirty="0">
                <a:latin typeface="Consolas" panose="020B0609020204030204" pitchFamily="49" charset="0"/>
              </a:rPr>
              <a:t>    prefix </a:t>
            </a:r>
            <a:r>
              <a:rPr lang="sk-SK" sz="1050" dirty="0">
                <a:highlight>
                  <a:srgbClr val="FFFF00"/>
                </a:highlight>
                <a:latin typeface="Consolas" panose="020B0609020204030204" pitchFamily="49" charset="0"/>
              </a:rPr>
              <a:t>fc00:ab00:2::/64</a:t>
            </a:r>
          </a:p>
          <a:p>
            <a:r>
              <a:rPr lang="sk-SK" sz="1050" dirty="0">
                <a:latin typeface="Consolas" panose="020B0609020204030204" pitchFamily="49" charset="0"/>
              </a:rPr>
              <a:t>!</a:t>
            </a:r>
          </a:p>
          <a:p>
            <a:r>
              <a:rPr lang="sk-SK" sz="1050" dirty="0">
                <a:latin typeface="Consolas" panose="020B0609020204030204" pitchFamily="49" charset="0"/>
              </a:rPr>
              <a:t>router </a:t>
            </a:r>
            <a:r>
              <a:rPr lang="sk-SK" sz="1050" dirty="0" err="1">
                <a:latin typeface="Consolas" panose="020B0609020204030204" pitchFamily="49" charset="0"/>
              </a:rPr>
              <a:t>isis</a:t>
            </a:r>
            <a:r>
              <a:rPr lang="sk-SK" sz="1050" dirty="0">
                <a:latin typeface="Consolas" panose="020B0609020204030204" pitchFamily="49" charset="0"/>
              </a:rPr>
              <a:t> 1</a:t>
            </a:r>
          </a:p>
          <a:p>
            <a:r>
              <a:rPr lang="sk-SK" sz="1050" dirty="0">
                <a:latin typeface="Consolas" panose="020B0609020204030204" pitchFamily="49" charset="0"/>
              </a:rPr>
              <a:t> </a:t>
            </a:r>
            <a:r>
              <a:rPr lang="sk-SK" sz="1050" dirty="0" err="1">
                <a:latin typeface="Consolas" panose="020B0609020204030204" pitchFamily="49" charset="0"/>
              </a:rPr>
              <a:t>is</a:t>
            </a:r>
            <a:r>
              <a:rPr lang="sk-SK" sz="1050" dirty="0">
                <a:latin typeface="Consolas" panose="020B0609020204030204" pitchFamily="49" charset="0"/>
              </a:rPr>
              <a:t>-type level-2-only</a:t>
            </a:r>
          </a:p>
          <a:p>
            <a:r>
              <a:rPr lang="sk-SK" sz="1050" dirty="0">
                <a:latin typeface="Consolas" panose="020B0609020204030204" pitchFamily="49" charset="0"/>
              </a:rPr>
              <a:t> net 49.0001.0000.0000.0002.00</a:t>
            </a:r>
          </a:p>
          <a:p>
            <a:r>
              <a:rPr lang="sk-SK" sz="1050" dirty="0">
                <a:latin typeface="Consolas" panose="020B0609020204030204" pitchFamily="49" charset="0"/>
              </a:rPr>
              <a:t>!</a:t>
            </a:r>
          </a:p>
          <a:p>
            <a:r>
              <a:rPr lang="sk-SK" sz="1050" dirty="0">
                <a:latin typeface="Consolas" panose="020B0609020204030204" pitchFamily="49" charset="0"/>
              </a:rPr>
              <a:t> </a:t>
            </a:r>
            <a:r>
              <a:rPr lang="sk-SK" sz="1050" dirty="0" err="1">
                <a:latin typeface="Consolas" panose="020B0609020204030204" pitchFamily="49" charset="0"/>
              </a:rPr>
              <a:t>address-family</a:t>
            </a:r>
            <a:r>
              <a:rPr lang="sk-SK" sz="1050" dirty="0">
                <a:latin typeface="Consolas" panose="020B0609020204030204" pitchFamily="49" charset="0"/>
              </a:rPr>
              <a:t> ipv6 </a:t>
            </a:r>
            <a:r>
              <a:rPr lang="sk-SK" sz="1050" dirty="0" err="1">
                <a:latin typeface="Consolas" panose="020B0609020204030204" pitchFamily="49" charset="0"/>
              </a:rPr>
              <a:t>unicast</a:t>
            </a:r>
            <a:endParaRPr lang="sk-SK" sz="1050" dirty="0">
              <a:latin typeface="Consolas" panose="020B0609020204030204" pitchFamily="49" charset="0"/>
            </a:endParaRPr>
          </a:p>
          <a:p>
            <a:r>
              <a:rPr lang="sk-SK" sz="1050" dirty="0">
                <a:latin typeface="Consolas" panose="020B0609020204030204" pitchFamily="49" charset="0"/>
              </a:rPr>
              <a:t>  </a:t>
            </a:r>
            <a:r>
              <a:rPr lang="sk-SK" sz="1050" dirty="0" err="1">
                <a:latin typeface="Consolas" panose="020B0609020204030204" pitchFamily="49" charset="0"/>
              </a:rPr>
              <a:t>metric-style</a:t>
            </a:r>
            <a:r>
              <a:rPr lang="sk-SK" sz="1050" dirty="0">
                <a:latin typeface="Consolas" panose="020B0609020204030204" pitchFamily="49" charset="0"/>
              </a:rPr>
              <a:t> </a:t>
            </a:r>
            <a:r>
              <a:rPr lang="sk-SK" sz="1050" dirty="0" err="1">
                <a:latin typeface="Consolas" panose="020B0609020204030204" pitchFamily="49" charset="0"/>
              </a:rPr>
              <a:t>wide</a:t>
            </a:r>
            <a:endParaRPr lang="sk-SK" sz="1050" dirty="0">
              <a:latin typeface="Consolas" panose="020B0609020204030204" pitchFamily="49" charset="0"/>
            </a:endParaRPr>
          </a:p>
          <a:p>
            <a:r>
              <a:rPr lang="sk-SK" sz="1050" dirty="0">
                <a:latin typeface="Consolas" panose="020B0609020204030204" pitchFamily="49" charset="0"/>
              </a:rPr>
              <a:t>  segment-routing srv6</a:t>
            </a:r>
          </a:p>
          <a:p>
            <a:r>
              <a:rPr lang="sk-SK" sz="1050" dirty="0">
                <a:latin typeface="Consolas" panose="020B0609020204030204" pitchFamily="49" charset="0"/>
              </a:rPr>
              <a:t>   </a:t>
            </a:r>
            <a:r>
              <a:rPr lang="sk-SK" sz="1050" dirty="0" err="1">
                <a:latin typeface="Consolas" panose="020B0609020204030204" pitchFamily="49" charset="0"/>
              </a:rPr>
              <a:t>locator</a:t>
            </a:r>
            <a:r>
              <a:rPr lang="sk-SK" sz="1050" dirty="0">
                <a:latin typeface="Consolas" panose="020B0609020204030204" pitchFamily="49" charset="0"/>
              </a:rPr>
              <a:t> </a:t>
            </a:r>
            <a:r>
              <a:rPr lang="sk-SK" sz="1050" dirty="0">
                <a:highlight>
                  <a:srgbClr val="FFFF00"/>
                </a:highlight>
                <a:latin typeface="Consolas" panose="020B0609020204030204" pitchFamily="49" charset="0"/>
              </a:rPr>
              <a:t>MyFullLoc01</a:t>
            </a:r>
          </a:p>
          <a:p>
            <a:r>
              <a:rPr lang="sk-SK" sz="1050" dirty="0">
                <a:latin typeface="Consolas" panose="020B0609020204030204" pitchFamily="49" charset="0"/>
              </a:rPr>
              <a:t>    level 2</a:t>
            </a:r>
          </a:p>
          <a:p>
            <a:r>
              <a:rPr lang="sk-SK" sz="1050" dirty="0">
                <a:latin typeface="Consolas" panose="020B0609020204030204" pitchFamily="49" charset="0"/>
              </a:rPr>
              <a:t>   !</a:t>
            </a:r>
          </a:p>
          <a:p>
            <a:r>
              <a:rPr lang="sk-SK" sz="1050" dirty="0">
                <a:latin typeface="Consolas" panose="020B0609020204030204" pitchFamily="49" charset="0"/>
              </a:rPr>
              <a:t>  !</a:t>
            </a:r>
          </a:p>
          <a:p>
            <a:r>
              <a:rPr lang="sk-SK" sz="1050" dirty="0">
                <a:latin typeface="Consolas" panose="020B0609020204030204" pitchFamily="49" charset="0"/>
              </a:rPr>
              <a:t> !</a:t>
            </a:r>
          </a:p>
          <a:p>
            <a:r>
              <a:rPr lang="sk-SK" sz="1050" dirty="0">
                <a:latin typeface="Consolas" panose="020B0609020204030204" pitchFamily="49" charset="0"/>
              </a:rPr>
              <a:t> interface Loopback0</a:t>
            </a:r>
          </a:p>
          <a:p>
            <a:r>
              <a:rPr lang="sk-SK" sz="1050" dirty="0">
                <a:latin typeface="Consolas" panose="020B0609020204030204" pitchFamily="49" charset="0"/>
              </a:rPr>
              <a:t>  </a:t>
            </a:r>
            <a:r>
              <a:rPr lang="sk-SK" sz="1050" dirty="0" err="1">
                <a:latin typeface="Consolas" panose="020B0609020204030204" pitchFamily="49" charset="0"/>
              </a:rPr>
              <a:t>passive</a:t>
            </a:r>
            <a:endParaRPr lang="sk-SK" sz="1050" dirty="0">
              <a:latin typeface="Consolas" panose="020B0609020204030204" pitchFamily="49" charset="0"/>
            </a:endParaRPr>
          </a:p>
          <a:p>
            <a:r>
              <a:rPr lang="sk-SK" sz="1050" dirty="0">
                <a:latin typeface="Consolas" panose="020B0609020204030204" pitchFamily="49" charset="0"/>
              </a:rPr>
              <a:t>  </a:t>
            </a:r>
            <a:r>
              <a:rPr lang="sk-SK" sz="1050" dirty="0" err="1">
                <a:latin typeface="Consolas" panose="020B0609020204030204" pitchFamily="49" charset="0"/>
              </a:rPr>
              <a:t>circuit</a:t>
            </a:r>
            <a:r>
              <a:rPr lang="sk-SK" sz="1050" dirty="0">
                <a:latin typeface="Consolas" panose="020B0609020204030204" pitchFamily="49" charset="0"/>
              </a:rPr>
              <a:t>-type level-2-only</a:t>
            </a:r>
          </a:p>
          <a:p>
            <a:r>
              <a:rPr lang="sk-SK" sz="1050" dirty="0">
                <a:latin typeface="Consolas" panose="020B0609020204030204" pitchFamily="49" charset="0"/>
              </a:rPr>
              <a:t>  </a:t>
            </a:r>
            <a:r>
              <a:rPr lang="sk-SK" sz="1050" dirty="0" err="1">
                <a:latin typeface="Consolas" panose="020B0609020204030204" pitchFamily="49" charset="0"/>
              </a:rPr>
              <a:t>address-family</a:t>
            </a:r>
            <a:r>
              <a:rPr lang="sk-SK" sz="1050" dirty="0">
                <a:latin typeface="Consolas" panose="020B0609020204030204" pitchFamily="49" charset="0"/>
              </a:rPr>
              <a:t> ipv6 </a:t>
            </a:r>
            <a:r>
              <a:rPr lang="sk-SK" sz="1050" dirty="0" err="1">
                <a:latin typeface="Consolas" panose="020B0609020204030204" pitchFamily="49" charset="0"/>
              </a:rPr>
              <a:t>unicast</a:t>
            </a:r>
            <a:endParaRPr lang="sk-SK" sz="1050" dirty="0">
              <a:latin typeface="Consolas" panose="020B0609020204030204" pitchFamily="49" charset="0"/>
            </a:endParaRPr>
          </a:p>
          <a:p>
            <a:r>
              <a:rPr lang="sk-SK" sz="1050" dirty="0">
                <a:latin typeface="Consolas" panose="020B0609020204030204" pitchFamily="49" charset="0"/>
              </a:rPr>
              <a:t>  !</a:t>
            </a:r>
          </a:p>
          <a:p>
            <a:r>
              <a:rPr lang="sk-SK" sz="1050" dirty="0">
                <a:latin typeface="Consolas" panose="020B0609020204030204" pitchFamily="49" charset="0"/>
              </a:rPr>
              <a:t> !</a:t>
            </a:r>
          </a:p>
          <a:p>
            <a:r>
              <a:rPr lang="sk-SK" sz="1050" dirty="0">
                <a:latin typeface="Consolas" panose="020B0609020204030204" pitchFamily="49" charset="0"/>
              </a:rPr>
              <a:t> interface GigabitEthernet0/0/0/0</a:t>
            </a:r>
          </a:p>
          <a:p>
            <a:r>
              <a:rPr lang="sk-SK" sz="1050" dirty="0">
                <a:latin typeface="Consolas" panose="020B0609020204030204" pitchFamily="49" charset="0"/>
              </a:rPr>
              <a:t>  </a:t>
            </a:r>
            <a:r>
              <a:rPr lang="sk-SK" sz="1050" dirty="0" err="1">
                <a:latin typeface="Consolas" panose="020B0609020204030204" pitchFamily="49" charset="0"/>
              </a:rPr>
              <a:t>circuit</a:t>
            </a:r>
            <a:r>
              <a:rPr lang="sk-SK" sz="1050" dirty="0">
                <a:latin typeface="Consolas" panose="020B0609020204030204" pitchFamily="49" charset="0"/>
              </a:rPr>
              <a:t>-type level-2-only</a:t>
            </a:r>
          </a:p>
          <a:p>
            <a:r>
              <a:rPr lang="sk-SK" sz="1050" dirty="0">
                <a:latin typeface="Consolas" panose="020B0609020204030204" pitchFamily="49" charset="0"/>
              </a:rPr>
              <a:t>  point-to-point</a:t>
            </a:r>
          </a:p>
          <a:p>
            <a:r>
              <a:rPr lang="en-US" sz="1050" dirty="0">
                <a:latin typeface="Consolas" panose="020B0609020204030204" pitchFamily="49" charset="0"/>
              </a:rPr>
              <a:t>  </a:t>
            </a:r>
            <a:r>
              <a:rPr lang="sk-SK" sz="1050" dirty="0" err="1">
                <a:latin typeface="Consolas" panose="020B0609020204030204" pitchFamily="49" charset="0"/>
              </a:rPr>
              <a:t>address-family</a:t>
            </a:r>
            <a:r>
              <a:rPr lang="sk-SK" sz="1050" dirty="0">
                <a:latin typeface="Consolas" panose="020B0609020204030204" pitchFamily="49" charset="0"/>
              </a:rPr>
              <a:t> ipv6 </a:t>
            </a:r>
            <a:r>
              <a:rPr lang="sk-SK" sz="1050" dirty="0" err="1">
                <a:latin typeface="Consolas" panose="020B0609020204030204" pitchFamily="49" charset="0"/>
              </a:rPr>
              <a:t>unicast</a:t>
            </a:r>
            <a:endParaRPr lang="sk-SK" sz="1050" dirty="0">
              <a:latin typeface="Consolas" panose="020B0609020204030204" pitchFamily="49" charset="0"/>
            </a:endParaRPr>
          </a:p>
          <a:p>
            <a:r>
              <a:rPr lang="sk-SK" sz="1050" dirty="0">
                <a:latin typeface="Consolas" panose="020B0609020204030204" pitchFamily="49" charset="0"/>
              </a:rPr>
              <a:t>  !</a:t>
            </a:r>
          </a:p>
          <a:p>
            <a:r>
              <a:rPr lang="sk-SK" sz="1050" dirty="0">
                <a:latin typeface="Consolas" panose="020B0609020204030204" pitchFamily="49" charset="0"/>
              </a:rPr>
              <a:t> !</a:t>
            </a:r>
          </a:p>
          <a:p>
            <a:r>
              <a:rPr lang="sk-SK" sz="1050" dirty="0">
                <a:solidFill>
                  <a:srgbClr val="FF0000"/>
                </a:solidFill>
                <a:latin typeface="Consolas" panose="020B0609020204030204" pitchFamily="49" charset="0"/>
              </a:rPr>
              <a:t> </a:t>
            </a:r>
          </a:p>
        </p:txBody>
      </p:sp>
      <p:sp>
        <p:nvSpPr>
          <p:cNvPr id="6" name="Callout: Line 5">
            <a:extLst>
              <a:ext uri="{FF2B5EF4-FFF2-40B4-BE49-F238E27FC236}">
                <a16:creationId xmlns:a16="http://schemas.microsoft.com/office/drawing/2014/main" id="{C2691CC9-46F7-2B4E-2BBC-F86D15B680C0}"/>
              </a:ext>
            </a:extLst>
          </p:cNvPr>
          <p:cNvSpPr/>
          <p:nvPr/>
        </p:nvSpPr>
        <p:spPr>
          <a:xfrm>
            <a:off x="6095999" y="1107441"/>
            <a:ext cx="1625600" cy="396240"/>
          </a:xfrm>
          <a:prstGeom prst="borderCallout1">
            <a:avLst>
              <a:gd name="adj1" fmla="val 18750"/>
              <a:gd name="adj2" fmla="val -8333"/>
              <a:gd name="adj3" fmla="val 173309"/>
              <a:gd name="adj4" fmla="val -214166"/>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Locator name</a:t>
            </a:r>
          </a:p>
        </p:txBody>
      </p:sp>
      <p:sp>
        <p:nvSpPr>
          <p:cNvPr id="7" name="Callout: Line 6">
            <a:extLst>
              <a:ext uri="{FF2B5EF4-FFF2-40B4-BE49-F238E27FC236}">
                <a16:creationId xmlns:a16="http://schemas.microsoft.com/office/drawing/2014/main" id="{D9A83E66-DB91-2BD1-E81E-AE2A2B78B044}"/>
              </a:ext>
            </a:extLst>
          </p:cNvPr>
          <p:cNvSpPr/>
          <p:nvPr/>
        </p:nvSpPr>
        <p:spPr>
          <a:xfrm>
            <a:off x="6095998" y="1569722"/>
            <a:ext cx="3982721" cy="396240"/>
          </a:xfrm>
          <a:prstGeom prst="borderCallout1">
            <a:avLst>
              <a:gd name="adj1" fmla="val 18750"/>
              <a:gd name="adj2" fmla="val -8333"/>
              <a:gd name="adj3" fmla="val 109207"/>
              <a:gd name="adj4" fmla="val -80493"/>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Locator value in IPv6 address format</a:t>
            </a:r>
          </a:p>
        </p:txBody>
      </p:sp>
      <p:sp>
        <p:nvSpPr>
          <p:cNvPr id="8" name="Callout: Line 7">
            <a:extLst>
              <a:ext uri="{FF2B5EF4-FFF2-40B4-BE49-F238E27FC236}">
                <a16:creationId xmlns:a16="http://schemas.microsoft.com/office/drawing/2014/main" id="{C9B0B2F3-BDFB-4F8F-0886-C16A954D57FC}"/>
              </a:ext>
            </a:extLst>
          </p:cNvPr>
          <p:cNvSpPr/>
          <p:nvPr/>
        </p:nvSpPr>
        <p:spPr>
          <a:xfrm>
            <a:off x="6095998" y="2032003"/>
            <a:ext cx="3464561" cy="396240"/>
          </a:xfrm>
          <a:prstGeom prst="borderCallout1">
            <a:avLst>
              <a:gd name="adj1" fmla="val 18750"/>
              <a:gd name="adj2" fmla="val -8333"/>
              <a:gd name="adj3" fmla="val 73309"/>
              <a:gd name="adj4" fmla="val -120911"/>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Routing protocol for IPv6 routing</a:t>
            </a:r>
          </a:p>
        </p:txBody>
      </p:sp>
    </p:spTree>
    <p:extLst>
      <p:ext uri="{BB962C8B-B14F-4D97-AF65-F5344CB8AC3E}">
        <p14:creationId xmlns:p14="http://schemas.microsoft.com/office/powerpoint/2010/main" val="197345018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8E71338-2C7C-9039-7B5D-EB3AF3797A7C}"/>
              </a:ext>
            </a:extLst>
          </p:cNvPr>
          <p:cNvSpPr>
            <a:spLocks noGrp="1"/>
          </p:cNvSpPr>
          <p:nvPr>
            <p:ph type="body" sz="quarter" idx="11"/>
          </p:nvPr>
        </p:nvSpPr>
        <p:spPr/>
        <p:txBody>
          <a:bodyPr/>
          <a:lstStyle/>
          <a:p>
            <a:r>
              <a:rPr lang="en-US" dirty="0"/>
              <a:t>Full SID show commands example – </a:t>
            </a:r>
            <a:r>
              <a:rPr lang="en-US" dirty="0">
                <a:solidFill>
                  <a:schemeClr val="accent5"/>
                </a:solidFill>
              </a:rPr>
              <a:t>IOS-XR</a:t>
            </a:r>
          </a:p>
        </p:txBody>
      </p:sp>
      <p:sp>
        <p:nvSpPr>
          <p:cNvPr id="5" name="Rectangle 4">
            <a:extLst>
              <a:ext uri="{FF2B5EF4-FFF2-40B4-BE49-F238E27FC236}">
                <a16:creationId xmlns:a16="http://schemas.microsoft.com/office/drawing/2014/main" id="{061CAFFC-9529-97EE-5600-0F0DA2A7AED3}"/>
              </a:ext>
            </a:extLst>
          </p:cNvPr>
          <p:cNvSpPr/>
          <p:nvPr/>
        </p:nvSpPr>
        <p:spPr>
          <a:xfrm>
            <a:off x="-2" y="2875221"/>
            <a:ext cx="9692639" cy="3970318"/>
          </a:xfrm>
          <a:prstGeom prst="rect">
            <a:avLst/>
          </a:prstGeom>
          <a:solidFill>
            <a:schemeClr val="bg1">
              <a:lumMod val="95000"/>
            </a:schemeClr>
          </a:solidFill>
          <a:ln>
            <a:solidFill>
              <a:schemeClr val="tx1"/>
            </a:solidFill>
          </a:ln>
          <a:effectLst/>
        </p:spPr>
        <p:txBody>
          <a:bodyPr wrap="square">
            <a:spAutoFit/>
          </a:bodyPr>
          <a:lstStyle/>
          <a:p>
            <a:r>
              <a:rPr lang="sk-SK" sz="1050" dirty="0">
                <a:latin typeface="Consolas" panose="020B0609020204030204" pitchFamily="49" charset="0"/>
              </a:rPr>
              <a:t>RP/0/RP0/CPU0:R02#sh segment-routing srv6 </a:t>
            </a:r>
            <a:r>
              <a:rPr lang="sk-SK" sz="1050" dirty="0" err="1">
                <a:latin typeface="Consolas" panose="020B0609020204030204" pitchFamily="49" charset="0"/>
              </a:rPr>
              <a:t>locator</a:t>
            </a:r>
            <a:r>
              <a:rPr lang="sk-SK" sz="1050" dirty="0">
                <a:latin typeface="Consolas" panose="020B0609020204030204" pitchFamily="49" charset="0"/>
              </a:rPr>
              <a:t> MyFullLoc01 </a:t>
            </a:r>
          </a:p>
          <a:p>
            <a:r>
              <a:rPr lang="sk-SK" sz="1050" dirty="0" err="1">
                <a:latin typeface="Consolas" panose="020B0609020204030204" pitchFamily="49" charset="0"/>
              </a:rPr>
              <a:t>Name</a:t>
            </a:r>
            <a:r>
              <a:rPr lang="sk-SK" sz="1050" dirty="0">
                <a:latin typeface="Consolas" panose="020B0609020204030204" pitchFamily="49" charset="0"/>
              </a:rPr>
              <a:t>                  ID       </a:t>
            </a:r>
            <a:r>
              <a:rPr lang="sk-SK" sz="1050" dirty="0" err="1">
                <a:latin typeface="Consolas" panose="020B0609020204030204" pitchFamily="49" charset="0"/>
              </a:rPr>
              <a:t>Algo</a:t>
            </a:r>
            <a:r>
              <a:rPr lang="sk-SK" sz="1050" dirty="0">
                <a:latin typeface="Consolas" panose="020B0609020204030204" pitchFamily="49" charset="0"/>
              </a:rPr>
              <a:t>  Prefix                    Status   </a:t>
            </a:r>
            <a:r>
              <a:rPr lang="sk-SK" sz="1050" dirty="0" err="1">
                <a:latin typeface="Consolas" panose="020B0609020204030204" pitchFamily="49" charset="0"/>
              </a:rPr>
              <a:t>Flags</a:t>
            </a:r>
            <a:r>
              <a:rPr lang="sk-SK" sz="1050" dirty="0">
                <a:latin typeface="Consolas" panose="020B0609020204030204" pitchFamily="49" charset="0"/>
              </a:rPr>
              <a:t>   </a:t>
            </a:r>
          </a:p>
          <a:p>
            <a:r>
              <a:rPr lang="sk-SK" sz="1050" dirty="0">
                <a:latin typeface="Consolas" panose="020B0609020204030204" pitchFamily="49" charset="0"/>
              </a:rPr>
              <a:t>--------------------  -------  ----  ------------------------  -------  --------</a:t>
            </a:r>
          </a:p>
          <a:p>
            <a:r>
              <a:rPr lang="sk-SK" sz="1050" dirty="0">
                <a:latin typeface="Consolas" panose="020B0609020204030204" pitchFamily="49" charset="0"/>
              </a:rPr>
              <a:t>MyFullLoc01           3        0     fc00:ab00:2::/64          </a:t>
            </a:r>
            <a:r>
              <a:rPr lang="sk-SK" sz="1050" dirty="0" err="1">
                <a:latin typeface="Consolas" panose="020B0609020204030204" pitchFamily="49" charset="0"/>
              </a:rPr>
              <a:t>Up</a:t>
            </a:r>
            <a:r>
              <a:rPr lang="sk-SK" sz="1050" dirty="0">
                <a:latin typeface="Consolas" panose="020B0609020204030204" pitchFamily="49" charset="0"/>
              </a:rPr>
              <a:t>               </a:t>
            </a:r>
          </a:p>
          <a:p>
            <a:r>
              <a:rPr lang="sk-SK" sz="1050" dirty="0">
                <a:latin typeface="Consolas" panose="020B0609020204030204" pitchFamily="49" charset="0"/>
              </a:rPr>
              <a:t>RP/0/RP0/CPU0:R02#sh segment-routing srv6 </a:t>
            </a:r>
            <a:r>
              <a:rPr lang="sk-SK" sz="1050" dirty="0" err="1">
                <a:latin typeface="Consolas" panose="020B0609020204030204" pitchFamily="49" charset="0"/>
              </a:rPr>
              <a:t>locator</a:t>
            </a:r>
            <a:r>
              <a:rPr lang="sk-SK" sz="1050" dirty="0">
                <a:latin typeface="Consolas" panose="020B0609020204030204" pitchFamily="49" charset="0"/>
              </a:rPr>
              <a:t> MyFullLoc01 detail </a:t>
            </a:r>
          </a:p>
          <a:p>
            <a:r>
              <a:rPr lang="sk-SK" sz="1050" dirty="0" err="1">
                <a:latin typeface="Consolas" panose="020B0609020204030204" pitchFamily="49" charset="0"/>
              </a:rPr>
              <a:t>Name</a:t>
            </a:r>
            <a:r>
              <a:rPr lang="sk-SK" sz="1050" dirty="0">
                <a:latin typeface="Consolas" panose="020B0609020204030204" pitchFamily="49" charset="0"/>
              </a:rPr>
              <a:t>                  ID       </a:t>
            </a:r>
            <a:r>
              <a:rPr lang="sk-SK" sz="1050" dirty="0" err="1">
                <a:latin typeface="Consolas" panose="020B0609020204030204" pitchFamily="49" charset="0"/>
              </a:rPr>
              <a:t>Algo</a:t>
            </a:r>
            <a:r>
              <a:rPr lang="sk-SK" sz="1050" dirty="0">
                <a:latin typeface="Consolas" panose="020B0609020204030204" pitchFamily="49" charset="0"/>
              </a:rPr>
              <a:t>  Prefix                    Status   </a:t>
            </a:r>
            <a:r>
              <a:rPr lang="sk-SK" sz="1050" dirty="0" err="1">
                <a:latin typeface="Consolas" panose="020B0609020204030204" pitchFamily="49" charset="0"/>
              </a:rPr>
              <a:t>Flags</a:t>
            </a:r>
            <a:r>
              <a:rPr lang="sk-SK" sz="1050" dirty="0">
                <a:latin typeface="Consolas" panose="020B0609020204030204" pitchFamily="49" charset="0"/>
              </a:rPr>
              <a:t>   </a:t>
            </a:r>
          </a:p>
          <a:p>
            <a:r>
              <a:rPr lang="sk-SK" sz="1050" dirty="0">
                <a:latin typeface="Consolas" panose="020B0609020204030204" pitchFamily="49" charset="0"/>
              </a:rPr>
              <a:t>--------------------  -------  ----  ------------------------  -------  --------</a:t>
            </a:r>
          </a:p>
          <a:p>
            <a:r>
              <a:rPr lang="sk-SK" sz="1050" dirty="0">
                <a:highlight>
                  <a:srgbClr val="0066FF"/>
                </a:highlight>
                <a:latin typeface="Consolas" panose="020B0609020204030204" pitchFamily="49" charset="0"/>
              </a:rPr>
              <a:t>MyFullLoc01</a:t>
            </a:r>
            <a:r>
              <a:rPr lang="sk-SK" sz="1050" dirty="0">
                <a:latin typeface="Consolas" panose="020B0609020204030204" pitchFamily="49" charset="0"/>
              </a:rPr>
              <a:t>           3        0     </a:t>
            </a:r>
            <a:r>
              <a:rPr lang="sk-SK" sz="1050" dirty="0">
                <a:highlight>
                  <a:srgbClr val="0066FF"/>
                </a:highlight>
                <a:latin typeface="Consolas" panose="020B0609020204030204" pitchFamily="49" charset="0"/>
              </a:rPr>
              <a:t>fc00:ab00:2::/64          </a:t>
            </a:r>
            <a:r>
              <a:rPr lang="sk-SK" sz="1050" dirty="0" err="1">
                <a:latin typeface="Consolas" panose="020B0609020204030204" pitchFamily="49" charset="0"/>
              </a:rPr>
              <a:t>Up</a:t>
            </a:r>
            <a:r>
              <a:rPr lang="sk-SK" sz="1050" dirty="0">
                <a:latin typeface="Consolas" panose="020B0609020204030204" pitchFamily="49" charset="0"/>
              </a:rPr>
              <a:t>               </a:t>
            </a:r>
          </a:p>
          <a:p>
            <a:r>
              <a:rPr lang="sk-SK" sz="1050" dirty="0">
                <a:latin typeface="Consolas" panose="020B0609020204030204" pitchFamily="49" charset="0"/>
              </a:rPr>
              <a:t>  Interface: </a:t>
            </a:r>
          </a:p>
          <a:p>
            <a:r>
              <a:rPr lang="sk-SK" sz="1050" dirty="0">
                <a:latin typeface="Consolas" panose="020B0609020204030204" pitchFamily="49" charset="0"/>
              </a:rPr>
              <a:t>    </a:t>
            </a:r>
            <a:r>
              <a:rPr lang="sk-SK" sz="1050" dirty="0" err="1">
                <a:latin typeface="Consolas" panose="020B0609020204030204" pitchFamily="49" charset="0"/>
              </a:rPr>
              <a:t>Name</a:t>
            </a:r>
            <a:r>
              <a:rPr lang="sk-SK" sz="1050" dirty="0">
                <a:latin typeface="Consolas" panose="020B0609020204030204" pitchFamily="49" charset="0"/>
              </a:rPr>
              <a:t>: srv6-MyFullLoc01</a:t>
            </a:r>
          </a:p>
          <a:p>
            <a:r>
              <a:rPr lang="sk-SK" sz="1050" dirty="0">
                <a:latin typeface="Consolas" panose="020B0609020204030204" pitchFamily="49" charset="0"/>
              </a:rPr>
              <a:t>    IFH : 0x0000002c</a:t>
            </a:r>
          </a:p>
          <a:p>
            <a:r>
              <a:rPr lang="sk-SK" sz="1050" dirty="0">
                <a:latin typeface="Consolas" panose="020B0609020204030204" pitchFamily="49" charset="0"/>
              </a:rPr>
              <a:t>    IPv6 </a:t>
            </a:r>
            <a:r>
              <a:rPr lang="sk-SK" sz="1050" dirty="0" err="1">
                <a:latin typeface="Consolas" panose="020B0609020204030204" pitchFamily="49" charset="0"/>
              </a:rPr>
              <a:t>address</a:t>
            </a:r>
            <a:r>
              <a:rPr lang="sk-SK" sz="1050" dirty="0">
                <a:latin typeface="Consolas" panose="020B0609020204030204" pitchFamily="49" charset="0"/>
              </a:rPr>
              <a:t>: fc00:ab00:2::/64</a:t>
            </a:r>
          </a:p>
          <a:p>
            <a:r>
              <a:rPr lang="sk-SK" sz="1050" dirty="0">
                <a:latin typeface="Consolas" panose="020B0609020204030204" pitchFamily="49" charset="0"/>
              </a:rPr>
              <a:t>  </a:t>
            </a:r>
            <a:r>
              <a:rPr lang="sk-SK" sz="1050" dirty="0" err="1">
                <a:latin typeface="Consolas" panose="020B0609020204030204" pitchFamily="49" charset="0"/>
              </a:rPr>
              <a:t>Number</a:t>
            </a:r>
            <a:r>
              <a:rPr lang="sk-SK" sz="1050" dirty="0">
                <a:latin typeface="Consolas" panose="020B0609020204030204" pitchFamily="49" charset="0"/>
              </a:rPr>
              <a:t> of </a:t>
            </a:r>
            <a:r>
              <a:rPr lang="sk-SK" sz="1050" dirty="0" err="1">
                <a:latin typeface="Consolas" panose="020B0609020204030204" pitchFamily="49" charset="0"/>
              </a:rPr>
              <a:t>SIDs</a:t>
            </a:r>
            <a:r>
              <a:rPr lang="sk-SK" sz="1050" dirty="0">
                <a:latin typeface="Consolas" panose="020B0609020204030204" pitchFamily="49" charset="0"/>
              </a:rPr>
              <a:t>: 3</a:t>
            </a:r>
          </a:p>
          <a:p>
            <a:r>
              <a:rPr lang="sk-SK" sz="1050" dirty="0">
                <a:latin typeface="Consolas" panose="020B0609020204030204" pitchFamily="49" charset="0"/>
              </a:rPr>
              <a:t>  </a:t>
            </a:r>
            <a:r>
              <a:rPr lang="sk-SK" sz="1050" dirty="0" err="1">
                <a:latin typeface="Consolas" panose="020B0609020204030204" pitchFamily="49" charset="0"/>
              </a:rPr>
              <a:t>Created</a:t>
            </a:r>
            <a:r>
              <a:rPr lang="sk-SK" sz="1050" dirty="0">
                <a:latin typeface="Consolas" panose="020B0609020204030204" pitchFamily="49" charset="0"/>
              </a:rPr>
              <a:t>: Nov  5 14:12:55.129 (1d21h </a:t>
            </a:r>
            <a:r>
              <a:rPr lang="sk-SK" sz="1050" dirty="0" err="1">
                <a:latin typeface="Consolas" panose="020B0609020204030204" pitchFamily="49" charset="0"/>
              </a:rPr>
              <a:t>ago</a:t>
            </a:r>
            <a:r>
              <a:rPr lang="sk-SK" sz="1050" dirty="0">
                <a:latin typeface="Consolas" panose="020B0609020204030204" pitchFamily="49" charset="0"/>
              </a:rPr>
              <a:t>)</a:t>
            </a:r>
          </a:p>
          <a:p>
            <a:r>
              <a:rPr lang="sk-SK" sz="1050" dirty="0">
                <a:latin typeface="Consolas" panose="020B0609020204030204" pitchFamily="49" charset="0"/>
              </a:rPr>
              <a:t>RP/0/RP0/CPU0:R02#</a:t>
            </a:r>
            <a:endParaRPr lang="en-US" sz="1050" dirty="0">
              <a:latin typeface="Consolas" panose="020B0609020204030204" pitchFamily="49" charset="0"/>
            </a:endParaRPr>
          </a:p>
          <a:p>
            <a:endParaRPr lang="en-US" sz="1050" dirty="0">
              <a:latin typeface="Consolas" panose="020B0609020204030204" pitchFamily="49" charset="0"/>
            </a:endParaRPr>
          </a:p>
          <a:p>
            <a:r>
              <a:rPr lang="sk-SK" sz="1050" dirty="0">
                <a:latin typeface="Consolas" panose="020B0609020204030204" pitchFamily="49" charset="0"/>
              </a:rPr>
              <a:t>RP/0/RP0/CPU0:R02#sh segment-routing srv6 </a:t>
            </a:r>
            <a:r>
              <a:rPr lang="sk-SK" sz="1050" dirty="0" err="1">
                <a:latin typeface="Consolas" panose="020B0609020204030204" pitchFamily="49" charset="0"/>
              </a:rPr>
              <a:t>locator</a:t>
            </a:r>
            <a:r>
              <a:rPr lang="sk-SK" sz="1050" dirty="0">
                <a:latin typeface="Consolas" panose="020B0609020204030204" pitchFamily="49" charset="0"/>
              </a:rPr>
              <a:t> </a:t>
            </a:r>
            <a:r>
              <a:rPr lang="sk-SK" sz="1050" i="1" dirty="0">
                <a:solidFill>
                  <a:schemeClr val="accent5"/>
                </a:solidFill>
                <a:latin typeface="Consolas" panose="020B0609020204030204" pitchFamily="49" charset="0"/>
              </a:rPr>
              <a:t>MyFullLoc01</a:t>
            </a:r>
            <a:r>
              <a:rPr lang="sk-SK" sz="1050" dirty="0">
                <a:latin typeface="Consolas" panose="020B0609020204030204" pitchFamily="49" charset="0"/>
              </a:rPr>
              <a:t> </a:t>
            </a:r>
            <a:r>
              <a:rPr lang="sk-SK" sz="1050" dirty="0" err="1">
                <a:latin typeface="Consolas" panose="020B0609020204030204" pitchFamily="49" charset="0"/>
              </a:rPr>
              <a:t>sid</a:t>
            </a:r>
            <a:r>
              <a:rPr lang="sk-SK" sz="1050" dirty="0">
                <a:latin typeface="Consolas" panose="020B0609020204030204" pitchFamily="49" charset="0"/>
              </a:rPr>
              <a:t> </a:t>
            </a:r>
          </a:p>
          <a:p>
            <a:r>
              <a:rPr lang="sk-SK" sz="1050" dirty="0">
                <a:latin typeface="Consolas" panose="020B0609020204030204" pitchFamily="49" charset="0"/>
              </a:rPr>
              <a:t>SID                         </a:t>
            </a:r>
            <a:r>
              <a:rPr lang="sk-SK" sz="1050" dirty="0" err="1">
                <a:latin typeface="Consolas" panose="020B0609020204030204" pitchFamily="49" charset="0"/>
              </a:rPr>
              <a:t>Behavior</a:t>
            </a:r>
            <a:r>
              <a:rPr lang="sk-SK" sz="1050" dirty="0">
                <a:latin typeface="Consolas" panose="020B0609020204030204" pitchFamily="49" charset="0"/>
              </a:rPr>
              <a:t>          </a:t>
            </a:r>
            <a:r>
              <a:rPr lang="sk-SK" sz="1050" dirty="0" err="1">
                <a:latin typeface="Consolas" panose="020B0609020204030204" pitchFamily="49" charset="0"/>
              </a:rPr>
              <a:t>Context</a:t>
            </a:r>
            <a:r>
              <a:rPr lang="sk-SK" sz="1050" dirty="0">
                <a:latin typeface="Consolas" panose="020B0609020204030204" pitchFamily="49" charset="0"/>
              </a:rPr>
              <a:t>                           </a:t>
            </a:r>
            <a:r>
              <a:rPr lang="sk-SK" sz="1050" dirty="0" err="1">
                <a:latin typeface="Consolas" panose="020B0609020204030204" pitchFamily="49" charset="0"/>
              </a:rPr>
              <a:t>Owner</a:t>
            </a:r>
            <a:r>
              <a:rPr lang="sk-SK" sz="1050" dirty="0">
                <a:latin typeface="Consolas" panose="020B0609020204030204" pitchFamily="49" charset="0"/>
              </a:rPr>
              <a:t>               State  RW</a:t>
            </a:r>
          </a:p>
          <a:p>
            <a:r>
              <a:rPr lang="sk-SK" sz="1050" dirty="0">
                <a:latin typeface="Consolas" panose="020B0609020204030204" pitchFamily="49" charset="0"/>
              </a:rPr>
              <a:t>--------------------------  ----------------  --------------------------------  ------------------  -----  --</a:t>
            </a:r>
          </a:p>
          <a:p>
            <a:r>
              <a:rPr lang="sk-SK" sz="1050" dirty="0">
                <a:highlight>
                  <a:srgbClr val="0066FF"/>
                </a:highlight>
                <a:latin typeface="Consolas" panose="020B0609020204030204" pitchFamily="49" charset="0"/>
              </a:rPr>
              <a:t>fc00:ab00:2:0:</a:t>
            </a:r>
            <a:r>
              <a:rPr lang="sk-SK" sz="1050" dirty="0">
                <a:highlight>
                  <a:srgbClr val="00FF00"/>
                </a:highlight>
                <a:latin typeface="Consolas" panose="020B0609020204030204" pitchFamily="49" charset="0"/>
              </a:rPr>
              <a:t>1::           </a:t>
            </a:r>
            <a:r>
              <a:rPr lang="sk-SK" sz="1050" dirty="0">
                <a:latin typeface="Consolas" panose="020B0609020204030204" pitchFamily="49" charset="0"/>
              </a:rPr>
              <a:t>End (PSP/USD)     'default':1                       </a:t>
            </a:r>
            <a:r>
              <a:rPr lang="sk-SK" sz="1050" dirty="0" err="1">
                <a:latin typeface="Consolas" panose="020B0609020204030204" pitchFamily="49" charset="0"/>
              </a:rPr>
              <a:t>sidmgr</a:t>
            </a:r>
            <a:r>
              <a:rPr lang="sk-SK" sz="1050" dirty="0">
                <a:latin typeface="Consolas" panose="020B0609020204030204" pitchFamily="49" charset="0"/>
              </a:rPr>
              <a:t>              </a:t>
            </a:r>
            <a:r>
              <a:rPr lang="sk-SK" sz="1050" dirty="0" err="1">
                <a:latin typeface="Consolas" panose="020B0609020204030204" pitchFamily="49" charset="0"/>
              </a:rPr>
              <a:t>InUse</a:t>
            </a:r>
            <a:r>
              <a:rPr lang="sk-SK" sz="1050" dirty="0">
                <a:latin typeface="Consolas" panose="020B0609020204030204" pitchFamily="49" charset="0"/>
              </a:rPr>
              <a:t>  Y </a:t>
            </a:r>
          </a:p>
          <a:p>
            <a:r>
              <a:rPr lang="sk-SK" sz="1050" dirty="0">
                <a:highlight>
                  <a:srgbClr val="0066FF"/>
                </a:highlight>
                <a:latin typeface="Consolas" panose="020B0609020204030204" pitchFamily="49" charset="0"/>
              </a:rPr>
              <a:t>fc00:ab00:2:0:</a:t>
            </a:r>
            <a:r>
              <a:rPr lang="sk-SK" sz="1050" dirty="0">
                <a:highlight>
                  <a:srgbClr val="00FF00"/>
                </a:highlight>
                <a:latin typeface="Consolas" panose="020B0609020204030204" pitchFamily="49" charset="0"/>
              </a:rPr>
              <a:t>40::          </a:t>
            </a:r>
            <a:r>
              <a:rPr lang="sk-SK" sz="1050" dirty="0" err="1">
                <a:latin typeface="Consolas" panose="020B0609020204030204" pitchFamily="49" charset="0"/>
              </a:rPr>
              <a:t>End.X</a:t>
            </a:r>
            <a:r>
              <a:rPr lang="sk-SK" sz="1050" dirty="0">
                <a:latin typeface="Consolas" panose="020B0609020204030204" pitchFamily="49" charset="0"/>
              </a:rPr>
              <a:t> (PSP/USD)   [Gi0/0/0/0, </a:t>
            </a:r>
            <a:r>
              <a:rPr lang="sk-SK" sz="1050" dirty="0" err="1">
                <a:latin typeface="Consolas" panose="020B0609020204030204" pitchFamily="49" charset="0"/>
              </a:rPr>
              <a:t>Link-Local</a:t>
            </a:r>
            <a:r>
              <a:rPr lang="sk-SK" sz="1050" dirty="0">
                <a:latin typeface="Consolas" panose="020B0609020204030204" pitchFamily="49" charset="0"/>
              </a:rPr>
              <a:t>]           isis-1              </a:t>
            </a:r>
            <a:r>
              <a:rPr lang="sk-SK" sz="1050" dirty="0" err="1">
                <a:latin typeface="Consolas" panose="020B0609020204030204" pitchFamily="49" charset="0"/>
              </a:rPr>
              <a:t>InUse</a:t>
            </a:r>
            <a:r>
              <a:rPr lang="sk-SK" sz="1050" dirty="0">
                <a:latin typeface="Consolas" panose="020B0609020204030204" pitchFamily="49" charset="0"/>
              </a:rPr>
              <a:t>  Y </a:t>
            </a:r>
          </a:p>
          <a:p>
            <a:r>
              <a:rPr lang="sk-SK" sz="1050" dirty="0">
                <a:highlight>
                  <a:srgbClr val="0066FF"/>
                </a:highlight>
                <a:latin typeface="Consolas" panose="020B0609020204030204" pitchFamily="49" charset="0"/>
              </a:rPr>
              <a:t>fc00:ab00:2:0:</a:t>
            </a:r>
            <a:r>
              <a:rPr lang="sk-SK" sz="1050" dirty="0">
                <a:highlight>
                  <a:srgbClr val="00FF00"/>
                </a:highlight>
                <a:latin typeface="Consolas" panose="020B0609020204030204" pitchFamily="49" charset="0"/>
              </a:rPr>
              <a:t>41::          </a:t>
            </a:r>
            <a:r>
              <a:rPr lang="sk-SK" sz="1050" dirty="0" err="1">
                <a:latin typeface="Consolas" panose="020B0609020204030204" pitchFamily="49" charset="0"/>
              </a:rPr>
              <a:t>End.X</a:t>
            </a:r>
            <a:r>
              <a:rPr lang="sk-SK" sz="1050" dirty="0">
                <a:latin typeface="Consolas" panose="020B0609020204030204" pitchFamily="49" charset="0"/>
              </a:rPr>
              <a:t> (PSP/USD)   [Gi0/0/0/2, </a:t>
            </a:r>
            <a:r>
              <a:rPr lang="sk-SK" sz="1050" dirty="0" err="1">
                <a:latin typeface="Consolas" panose="020B0609020204030204" pitchFamily="49" charset="0"/>
              </a:rPr>
              <a:t>Link-Local</a:t>
            </a:r>
            <a:r>
              <a:rPr lang="sk-SK" sz="1050" dirty="0">
                <a:latin typeface="Consolas" panose="020B0609020204030204" pitchFamily="49" charset="0"/>
              </a:rPr>
              <a:t>]           isis-1              </a:t>
            </a:r>
            <a:r>
              <a:rPr lang="sk-SK" sz="1050" dirty="0" err="1">
                <a:latin typeface="Consolas" panose="020B0609020204030204" pitchFamily="49" charset="0"/>
              </a:rPr>
              <a:t>InUse</a:t>
            </a:r>
            <a:r>
              <a:rPr lang="sk-SK" sz="1050" dirty="0">
                <a:latin typeface="Consolas" panose="020B0609020204030204" pitchFamily="49" charset="0"/>
              </a:rPr>
              <a:t>  Y </a:t>
            </a:r>
          </a:p>
          <a:p>
            <a:r>
              <a:rPr lang="sk-SK" sz="1050" dirty="0">
                <a:highlight>
                  <a:srgbClr val="0066FF"/>
                </a:highlight>
                <a:latin typeface="Consolas" panose="020B0609020204030204" pitchFamily="49" charset="0"/>
              </a:rPr>
              <a:t>fc00:ab00:2:0:</a:t>
            </a:r>
            <a:r>
              <a:rPr lang="sk-SK" sz="1050" dirty="0">
                <a:highlight>
                  <a:srgbClr val="00FF00"/>
                </a:highlight>
                <a:latin typeface="Consolas" panose="020B0609020204030204" pitchFamily="49" charset="0"/>
              </a:rPr>
              <a:t>42::          </a:t>
            </a:r>
            <a:r>
              <a:rPr lang="sk-SK" sz="1050" dirty="0" err="1">
                <a:latin typeface="Consolas" panose="020B0609020204030204" pitchFamily="49" charset="0"/>
              </a:rPr>
              <a:t>End.X</a:t>
            </a:r>
            <a:r>
              <a:rPr lang="sk-SK" sz="1050" dirty="0">
                <a:latin typeface="Consolas" panose="020B0609020204030204" pitchFamily="49" charset="0"/>
              </a:rPr>
              <a:t> (PSP/USD)   [Gi0/0/0/4, </a:t>
            </a:r>
            <a:r>
              <a:rPr lang="sk-SK" sz="1050" dirty="0" err="1">
                <a:latin typeface="Consolas" panose="020B0609020204030204" pitchFamily="49" charset="0"/>
              </a:rPr>
              <a:t>Link-Local</a:t>
            </a:r>
            <a:r>
              <a:rPr lang="sk-SK" sz="1050" dirty="0">
                <a:latin typeface="Consolas" panose="020B0609020204030204" pitchFamily="49" charset="0"/>
              </a:rPr>
              <a:t>]           isis-1              </a:t>
            </a:r>
            <a:r>
              <a:rPr lang="sk-SK" sz="1050" dirty="0" err="1">
                <a:latin typeface="Consolas" panose="020B0609020204030204" pitchFamily="49" charset="0"/>
              </a:rPr>
              <a:t>InUse</a:t>
            </a:r>
            <a:r>
              <a:rPr lang="sk-SK" sz="1050" dirty="0">
                <a:latin typeface="Consolas" panose="020B0609020204030204" pitchFamily="49" charset="0"/>
              </a:rPr>
              <a:t>  Y </a:t>
            </a:r>
          </a:p>
          <a:p>
            <a:r>
              <a:rPr lang="sk-SK" sz="1050" dirty="0">
                <a:latin typeface="Consolas" panose="020B0609020204030204" pitchFamily="49" charset="0"/>
              </a:rPr>
              <a:t>RP/0/RP0/CPU0:R02#</a:t>
            </a:r>
            <a:endParaRPr lang="sk-SK" sz="1050" dirty="0">
              <a:solidFill>
                <a:srgbClr val="FF0000"/>
              </a:solidFill>
              <a:latin typeface="Consolas" panose="020B0609020204030204" pitchFamily="49" charset="0"/>
            </a:endParaRPr>
          </a:p>
        </p:txBody>
      </p:sp>
      <p:sp>
        <p:nvSpPr>
          <p:cNvPr id="4" name="Rectangle 3">
            <a:extLst>
              <a:ext uri="{FF2B5EF4-FFF2-40B4-BE49-F238E27FC236}">
                <a16:creationId xmlns:a16="http://schemas.microsoft.com/office/drawing/2014/main" id="{A630B5D0-863F-4D33-F294-8B27D28BF2A5}"/>
              </a:ext>
            </a:extLst>
          </p:cNvPr>
          <p:cNvSpPr/>
          <p:nvPr/>
        </p:nvSpPr>
        <p:spPr>
          <a:xfrm>
            <a:off x="6095999" y="939338"/>
            <a:ext cx="5943600" cy="4708981"/>
          </a:xfrm>
          <a:prstGeom prst="rect">
            <a:avLst/>
          </a:prstGeom>
          <a:solidFill>
            <a:schemeClr val="bg1">
              <a:lumMod val="95000"/>
            </a:schemeClr>
          </a:solidFill>
          <a:ln>
            <a:solidFill>
              <a:schemeClr val="tx1"/>
            </a:solidFill>
          </a:ln>
          <a:effectLst/>
        </p:spPr>
        <p:txBody>
          <a:bodyPr wrap="square">
            <a:spAutoFit/>
          </a:bodyPr>
          <a:lstStyle/>
          <a:p>
            <a:r>
              <a:rPr lang="sk-SK" sz="1000" dirty="0">
                <a:latin typeface="Consolas" panose="020B0609020204030204" pitchFamily="49" charset="0"/>
              </a:rPr>
              <a:t>RP/0/RP0/CPU0:R02#sh segment-routing srv6 </a:t>
            </a:r>
            <a:r>
              <a:rPr lang="sk-SK" sz="1000" dirty="0" err="1">
                <a:latin typeface="Consolas" panose="020B0609020204030204" pitchFamily="49" charset="0"/>
              </a:rPr>
              <a:t>locator</a:t>
            </a:r>
            <a:r>
              <a:rPr lang="sk-SK" sz="1000" dirty="0">
                <a:latin typeface="Consolas" panose="020B0609020204030204" pitchFamily="49" charset="0"/>
              </a:rPr>
              <a:t> MyFullLoc01 </a:t>
            </a:r>
            <a:r>
              <a:rPr lang="sk-SK" sz="1000" dirty="0" err="1">
                <a:latin typeface="Consolas" panose="020B0609020204030204" pitchFamily="49" charset="0"/>
              </a:rPr>
              <a:t>internal</a:t>
            </a:r>
            <a:r>
              <a:rPr lang="sk-SK" sz="1000" dirty="0">
                <a:latin typeface="Consolas" panose="020B0609020204030204" pitchFamily="49" charset="0"/>
              </a:rPr>
              <a:t> </a:t>
            </a:r>
          </a:p>
          <a:p>
            <a:r>
              <a:rPr lang="sk-SK" sz="1000" dirty="0" err="1">
                <a:latin typeface="Consolas" panose="020B0609020204030204" pitchFamily="49" charset="0"/>
              </a:rPr>
              <a:t>Thu</a:t>
            </a:r>
            <a:r>
              <a:rPr lang="sk-SK" sz="1000" dirty="0">
                <a:latin typeface="Consolas" panose="020B0609020204030204" pitchFamily="49" charset="0"/>
              </a:rPr>
              <a:t> Nov  7 11:26:11.810 UTC</a:t>
            </a:r>
          </a:p>
          <a:p>
            <a:r>
              <a:rPr lang="sk-SK" sz="1000" dirty="0" err="1">
                <a:latin typeface="Consolas" panose="020B0609020204030204" pitchFamily="49" charset="0"/>
              </a:rPr>
              <a:t>Name</a:t>
            </a:r>
            <a:r>
              <a:rPr lang="sk-SK" sz="1000" dirty="0">
                <a:latin typeface="Consolas" panose="020B0609020204030204" pitchFamily="49" charset="0"/>
              </a:rPr>
              <a:t>                  ID       </a:t>
            </a:r>
            <a:r>
              <a:rPr lang="sk-SK" sz="1000" dirty="0" err="1">
                <a:latin typeface="Consolas" panose="020B0609020204030204" pitchFamily="49" charset="0"/>
              </a:rPr>
              <a:t>Algo</a:t>
            </a:r>
            <a:r>
              <a:rPr lang="sk-SK" sz="1000" dirty="0">
                <a:latin typeface="Consolas" panose="020B0609020204030204" pitchFamily="49" charset="0"/>
              </a:rPr>
              <a:t>  Prefix                    Status   </a:t>
            </a:r>
            <a:r>
              <a:rPr lang="sk-SK" sz="1000" dirty="0" err="1">
                <a:latin typeface="Consolas" panose="020B0609020204030204" pitchFamily="49" charset="0"/>
              </a:rPr>
              <a:t>Flags</a:t>
            </a:r>
            <a:r>
              <a:rPr lang="sk-SK" sz="1000" dirty="0">
                <a:latin typeface="Consolas" panose="020B0609020204030204" pitchFamily="49" charset="0"/>
              </a:rPr>
              <a:t>   </a:t>
            </a:r>
          </a:p>
          <a:p>
            <a:r>
              <a:rPr lang="sk-SK" sz="1000" dirty="0">
                <a:latin typeface="Consolas" panose="020B0609020204030204" pitchFamily="49" charset="0"/>
              </a:rPr>
              <a:t>--------------------  -------  ----  ------------------------  -------  --------</a:t>
            </a:r>
          </a:p>
          <a:p>
            <a:r>
              <a:rPr lang="sk-SK" sz="1000" dirty="0">
                <a:latin typeface="Consolas" panose="020B0609020204030204" pitchFamily="49" charset="0"/>
              </a:rPr>
              <a:t>MyFullLoc01           3        0     fc00:ab00:2::/64          </a:t>
            </a:r>
            <a:r>
              <a:rPr lang="sk-SK" sz="1000" dirty="0" err="1">
                <a:latin typeface="Consolas" panose="020B0609020204030204" pitchFamily="49" charset="0"/>
              </a:rPr>
              <a:t>Up</a:t>
            </a:r>
            <a:r>
              <a:rPr lang="sk-SK" sz="1000" dirty="0">
                <a:latin typeface="Consolas" panose="020B0609020204030204" pitchFamily="49" charset="0"/>
              </a:rPr>
              <a:t>               </a:t>
            </a:r>
          </a:p>
          <a:p>
            <a:r>
              <a:rPr lang="sk-SK" sz="1000" dirty="0">
                <a:latin typeface="Consolas" panose="020B0609020204030204" pitchFamily="49" charset="0"/>
              </a:rPr>
              <a:t>  Index: 3</a:t>
            </a:r>
          </a:p>
          <a:p>
            <a:r>
              <a:rPr lang="sk-SK" sz="1000" dirty="0">
                <a:latin typeface="Consolas" panose="020B0609020204030204" pitchFamily="49" charset="0"/>
              </a:rPr>
              <a:t>  </a:t>
            </a:r>
            <a:r>
              <a:rPr lang="sk-SK" sz="1000" dirty="0" err="1">
                <a:latin typeface="Consolas" panose="020B0609020204030204" pitchFamily="49" charset="0"/>
              </a:rPr>
              <a:t>Flags</a:t>
            </a:r>
            <a:r>
              <a:rPr lang="sk-SK" sz="1000" dirty="0">
                <a:latin typeface="Consolas" panose="020B0609020204030204" pitchFamily="49" charset="0"/>
              </a:rPr>
              <a:t>: 0x0</a:t>
            </a:r>
          </a:p>
          <a:p>
            <a:r>
              <a:rPr lang="sk-SK" sz="1000" dirty="0">
                <a:latin typeface="Consolas" panose="020B0609020204030204" pitchFamily="49" charset="0"/>
              </a:rPr>
              <a:t>  </a:t>
            </a:r>
            <a:r>
              <a:rPr lang="sk-SK" sz="1000" dirty="0" err="1">
                <a:latin typeface="Consolas" panose="020B0609020204030204" pitchFamily="49" charset="0"/>
              </a:rPr>
              <a:t>Format</a:t>
            </a:r>
            <a:r>
              <a:rPr lang="sk-SK" sz="1000" dirty="0">
                <a:latin typeface="Consolas" panose="020B0609020204030204" pitchFamily="49" charset="0"/>
              </a:rPr>
              <a:t>: base &lt;40B/24N/16F/8A&gt; (1)</a:t>
            </a:r>
          </a:p>
          <a:p>
            <a:r>
              <a:rPr lang="sk-SK" sz="1000" dirty="0">
                <a:latin typeface="Consolas" panose="020B0609020204030204" pitchFamily="49" charset="0"/>
              </a:rPr>
              <a:t>  FSM state: UP</a:t>
            </a:r>
          </a:p>
          <a:p>
            <a:r>
              <a:rPr lang="sk-SK" sz="1000" dirty="0">
                <a:latin typeface="Consolas" panose="020B0609020204030204" pitchFamily="49" charset="0"/>
              </a:rPr>
              <a:t>  </a:t>
            </a:r>
            <a:r>
              <a:rPr lang="sk-SK" sz="1000" dirty="0" err="1">
                <a:latin typeface="Consolas" panose="020B0609020204030204" pitchFamily="49" charset="0"/>
              </a:rPr>
              <a:t>Global</a:t>
            </a:r>
            <a:r>
              <a:rPr lang="sk-SK" sz="1000" dirty="0">
                <a:latin typeface="Consolas" panose="020B0609020204030204" pitchFamily="49" charset="0"/>
              </a:rPr>
              <a:t> OOR State: </a:t>
            </a:r>
            <a:r>
              <a:rPr lang="sk-SK" sz="1000" dirty="0" err="1">
                <a:latin typeface="Consolas" panose="020B0609020204030204" pitchFamily="49" charset="0"/>
              </a:rPr>
              <a:t>Resource</a:t>
            </a:r>
            <a:r>
              <a:rPr lang="sk-SK" sz="1000" dirty="0">
                <a:latin typeface="Consolas" panose="020B0609020204030204" pitchFamily="49" charset="0"/>
              </a:rPr>
              <a:t> </a:t>
            </a:r>
            <a:r>
              <a:rPr lang="sk-SK" sz="1000" dirty="0" err="1">
                <a:latin typeface="Consolas" panose="020B0609020204030204" pitchFamily="49" charset="0"/>
              </a:rPr>
              <a:t>Available</a:t>
            </a:r>
            <a:endParaRPr lang="sk-SK" sz="1000" dirty="0">
              <a:latin typeface="Consolas" panose="020B0609020204030204" pitchFamily="49" charset="0"/>
            </a:endParaRPr>
          </a:p>
          <a:p>
            <a:r>
              <a:rPr lang="sk-SK" sz="1000" dirty="0">
                <a:latin typeface="Consolas" panose="020B0609020204030204" pitchFamily="49" charset="0"/>
              </a:rPr>
              <a:t>  </a:t>
            </a:r>
            <a:r>
              <a:rPr lang="sk-SK" sz="1000" dirty="0" err="1">
                <a:latin typeface="Consolas" panose="020B0609020204030204" pitchFamily="49" charset="0"/>
              </a:rPr>
              <a:t>Local</a:t>
            </a:r>
            <a:r>
              <a:rPr lang="sk-SK" sz="1000" dirty="0">
                <a:latin typeface="Consolas" panose="020B0609020204030204" pitchFamily="49" charset="0"/>
              </a:rPr>
              <a:t> SID OOR State: </a:t>
            </a:r>
            <a:r>
              <a:rPr lang="sk-SK" sz="1000" dirty="0" err="1">
                <a:latin typeface="Consolas" panose="020B0609020204030204" pitchFamily="49" charset="0"/>
              </a:rPr>
              <a:t>Resource</a:t>
            </a:r>
            <a:r>
              <a:rPr lang="sk-SK" sz="1000" dirty="0">
                <a:latin typeface="Consolas" panose="020B0609020204030204" pitchFamily="49" charset="0"/>
              </a:rPr>
              <a:t> </a:t>
            </a:r>
            <a:r>
              <a:rPr lang="sk-SK" sz="1000" dirty="0" err="1">
                <a:latin typeface="Consolas" panose="020B0609020204030204" pitchFamily="49" charset="0"/>
              </a:rPr>
              <a:t>Available</a:t>
            </a:r>
            <a:endParaRPr lang="sk-SK" sz="1000" dirty="0">
              <a:latin typeface="Consolas" panose="020B0609020204030204" pitchFamily="49" charset="0"/>
            </a:endParaRPr>
          </a:p>
          <a:p>
            <a:r>
              <a:rPr lang="sk-SK" sz="1000" dirty="0">
                <a:latin typeface="Consolas" panose="020B0609020204030204" pitchFamily="49" charset="0"/>
              </a:rPr>
              <a:t>  Interface: </a:t>
            </a:r>
          </a:p>
          <a:p>
            <a:r>
              <a:rPr lang="sk-SK" sz="1000" dirty="0">
                <a:latin typeface="Consolas" panose="020B0609020204030204" pitchFamily="49" charset="0"/>
              </a:rPr>
              <a:t>    </a:t>
            </a:r>
            <a:r>
              <a:rPr lang="sk-SK" sz="1000" dirty="0" err="1">
                <a:latin typeface="Consolas" panose="020B0609020204030204" pitchFamily="49" charset="0"/>
              </a:rPr>
              <a:t>Name</a:t>
            </a:r>
            <a:r>
              <a:rPr lang="sk-SK" sz="1000" dirty="0">
                <a:latin typeface="Consolas" panose="020B0609020204030204" pitchFamily="49" charset="0"/>
              </a:rPr>
              <a:t>: srv6-MyFullLoc01</a:t>
            </a:r>
          </a:p>
          <a:p>
            <a:r>
              <a:rPr lang="sk-SK" sz="1000" dirty="0">
                <a:latin typeface="Consolas" panose="020B0609020204030204" pitchFamily="49" charset="0"/>
              </a:rPr>
              <a:t>    IFH : 0x0000002c</a:t>
            </a:r>
          </a:p>
          <a:p>
            <a:r>
              <a:rPr lang="sk-SK" sz="1000" dirty="0">
                <a:latin typeface="Consolas" panose="020B0609020204030204" pitchFamily="49" charset="0"/>
              </a:rPr>
              <a:t>    IPv6 </a:t>
            </a:r>
            <a:r>
              <a:rPr lang="sk-SK" sz="1000" dirty="0" err="1">
                <a:latin typeface="Consolas" panose="020B0609020204030204" pitchFamily="49" charset="0"/>
              </a:rPr>
              <a:t>address</a:t>
            </a:r>
            <a:r>
              <a:rPr lang="sk-SK" sz="1000" dirty="0">
                <a:latin typeface="Consolas" panose="020B0609020204030204" pitchFamily="49" charset="0"/>
              </a:rPr>
              <a:t>: fc00:ab00:2::/64 (IM </a:t>
            </a:r>
            <a:r>
              <a:rPr lang="sk-SK" sz="1000" dirty="0" err="1">
                <a:latin typeface="Consolas" panose="020B0609020204030204" pitchFamily="49" charset="0"/>
              </a:rPr>
              <a:t>notified</a:t>
            </a:r>
            <a:r>
              <a:rPr lang="sk-SK" sz="1000" dirty="0">
                <a:latin typeface="Consolas" panose="020B0609020204030204" pitchFamily="49" charset="0"/>
              </a:rPr>
              <a:t>: fc00:ab00:2::/64)</a:t>
            </a:r>
          </a:p>
          <a:p>
            <a:r>
              <a:rPr lang="sk-SK" sz="1000" dirty="0">
                <a:latin typeface="Consolas" panose="020B0609020204030204" pitchFamily="49" charset="0"/>
              </a:rPr>
              <a:t>    </a:t>
            </a:r>
            <a:r>
              <a:rPr lang="sk-SK" sz="1000" dirty="0" err="1">
                <a:latin typeface="Consolas" panose="020B0609020204030204" pitchFamily="49" charset="0"/>
              </a:rPr>
              <a:t>Algo</a:t>
            </a:r>
            <a:r>
              <a:rPr lang="sk-SK" sz="1000" dirty="0">
                <a:latin typeface="Consolas" panose="020B0609020204030204" pitchFamily="49" charset="0"/>
              </a:rPr>
              <a:t>: 0 (IM </a:t>
            </a:r>
            <a:r>
              <a:rPr lang="sk-SK" sz="1000" dirty="0" err="1">
                <a:latin typeface="Consolas" panose="020B0609020204030204" pitchFamily="49" charset="0"/>
              </a:rPr>
              <a:t>notified</a:t>
            </a:r>
            <a:r>
              <a:rPr lang="sk-SK" sz="1000" dirty="0">
                <a:latin typeface="Consolas" panose="020B0609020204030204" pitchFamily="49" charset="0"/>
              </a:rPr>
              <a:t>: 0)</a:t>
            </a:r>
          </a:p>
          <a:p>
            <a:r>
              <a:rPr lang="sk-SK" sz="1000" dirty="0">
                <a:latin typeface="Consolas" panose="020B0609020204030204" pitchFamily="49" charset="0"/>
              </a:rPr>
              <a:t>  </a:t>
            </a:r>
            <a:r>
              <a:rPr lang="sk-SK" sz="1000" dirty="0" err="1">
                <a:latin typeface="Consolas" panose="020B0609020204030204" pitchFamily="49" charset="0"/>
              </a:rPr>
              <a:t>Number</a:t>
            </a:r>
            <a:r>
              <a:rPr lang="sk-SK" sz="1000" dirty="0">
                <a:latin typeface="Consolas" panose="020B0609020204030204" pitchFamily="49" charset="0"/>
              </a:rPr>
              <a:t> of </a:t>
            </a:r>
            <a:r>
              <a:rPr lang="sk-SK" sz="1000" dirty="0" err="1">
                <a:latin typeface="Consolas" panose="020B0609020204030204" pitchFamily="49" charset="0"/>
              </a:rPr>
              <a:t>SIDs</a:t>
            </a:r>
            <a:r>
              <a:rPr lang="sk-SK" sz="1000" dirty="0">
                <a:latin typeface="Consolas" panose="020B0609020204030204" pitchFamily="49" charset="0"/>
              </a:rPr>
              <a:t>: 3</a:t>
            </a:r>
          </a:p>
          <a:p>
            <a:r>
              <a:rPr lang="sk-SK" sz="1000" dirty="0">
                <a:latin typeface="Consolas" panose="020B0609020204030204" pitchFamily="49" charset="0"/>
              </a:rPr>
              <a:t>  </a:t>
            </a:r>
            <a:r>
              <a:rPr lang="sk-SK" sz="1000" dirty="0" err="1">
                <a:latin typeface="Consolas" panose="020B0609020204030204" pitchFamily="49" charset="0"/>
              </a:rPr>
              <a:t>Chkpt</a:t>
            </a:r>
            <a:r>
              <a:rPr lang="sk-SK" sz="1000" dirty="0">
                <a:latin typeface="Consolas" panose="020B0609020204030204" pitchFamily="49" charset="0"/>
              </a:rPr>
              <a:t> </a:t>
            </a:r>
            <a:r>
              <a:rPr lang="sk-SK" sz="1000" dirty="0" err="1">
                <a:latin typeface="Consolas" panose="020B0609020204030204" pitchFamily="49" charset="0"/>
              </a:rPr>
              <a:t>Obj</a:t>
            </a:r>
            <a:r>
              <a:rPr lang="sk-SK" sz="1000" dirty="0">
                <a:latin typeface="Consolas" panose="020B0609020204030204" pitchFamily="49" charset="0"/>
              </a:rPr>
              <a:t> ID: 0x2f60</a:t>
            </a:r>
          </a:p>
          <a:p>
            <a:r>
              <a:rPr lang="sk-SK" sz="1000" dirty="0">
                <a:latin typeface="Consolas" panose="020B0609020204030204" pitchFamily="49" charset="0"/>
              </a:rPr>
              <a:t>  </a:t>
            </a:r>
            <a:r>
              <a:rPr lang="sk-SK" sz="1000" dirty="0" err="1">
                <a:latin typeface="Consolas" panose="020B0609020204030204" pitchFamily="49" charset="0"/>
              </a:rPr>
              <a:t>Number</a:t>
            </a:r>
            <a:r>
              <a:rPr lang="sk-SK" sz="1000" dirty="0">
                <a:latin typeface="Consolas" panose="020B0609020204030204" pitchFamily="49" charset="0"/>
              </a:rPr>
              <a:t> of SID CTX: 4</a:t>
            </a:r>
          </a:p>
          <a:p>
            <a:r>
              <a:rPr lang="sk-SK" sz="1000" dirty="0">
                <a:latin typeface="Consolas" panose="020B0609020204030204" pitchFamily="49" charset="0"/>
              </a:rPr>
              <a:t>  </a:t>
            </a:r>
            <a:r>
              <a:rPr lang="sk-SK" sz="1000" dirty="0" err="1">
                <a:latin typeface="Consolas" panose="020B0609020204030204" pitchFamily="49" charset="0"/>
              </a:rPr>
              <a:t>Number</a:t>
            </a:r>
            <a:r>
              <a:rPr lang="sk-SK" sz="1000" dirty="0">
                <a:latin typeface="Consolas" panose="020B0609020204030204" pitchFamily="49" charset="0"/>
              </a:rPr>
              <a:t> of Auto </a:t>
            </a:r>
            <a:r>
              <a:rPr lang="sk-SK" sz="1000" dirty="0" err="1">
                <a:latin typeface="Consolas" panose="020B0609020204030204" pitchFamily="49" charset="0"/>
              </a:rPr>
              <a:t>SIDs</a:t>
            </a:r>
            <a:r>
              <a:rPr lang="sk-SK" sz="1000" dirty="0">
                <a:latin typeface="Consolas" panose="020B0609020204030204" pitchFamily="49" charset="0"/>
              </a:rPr>
              <a:t>: 1</a:t>
            </a:r>
          </a:p>
          <a:p>
            <a:r>
              <a:rPr lang="sk-SK" sz="1000" dirty="0">
                <a:latin typeface="Consolas" panose="020B0609020204030204" pitchFamily="49" charset="0"/>
              </a:rPr>
              <a:t>  TI </a:t>
            </a:r>
            <a:r>
              <a:rPr lang="sk-SK" sz="1000" dirty="0" err="1">
                <a:latin typeface="Consolas" panose="020B0609020204030204" pitchFamily="49" charset="0"/>
              </a:rPr>
              <a:t>Object</a:t>
            </a:r>
            <a:r>
              <a:rPr lang="sk-SK" sz="1000" dirty="0">
                <a:latin typeface="Consolas" panose="020B0609020204030204" pitchFamily="49" charset="0"/>
              </a:rPr>
              <a:t>:</a:t>
            </a:r>
          </a:p>
          <a:p>
            <a:r>
              <a:rPr lang="sk-SK" sz="1000" dirty="0">
                <a:latin typeface="Consolas" panose="020B0609020204030204" pitchFamily="49" charset="0"/>
              </a:rPr>
              <a:t>    Type: </a:t>
            </a:r>
            <a:r>
              <a:rPr lang="sk-SK" sz="1000" dirty="0" err="1">
                <a:latin typeface="Consolas" panose="020B0609020204030204" pitchFamily="49" charset="0"/>
              </a:rPr>
              <a:t>Entry</a:t>
            </a:r>
            <a:endParaRPr lang="sk-SK" sz="1000" dirty="0">
              <a:latin typeface="Consolas" panose="020B0609020204030204" pitchFamily="49" charset="0"/>
            </a:endParaRPr>
          </a:p>
          <a:p>
            <a:r>
              <a:rPr lang="sk-SK" sz="1000" dirty="0">
                <a:latin typeface="Consolas" panose="020B0609020204030204" pitchFamily="49" charset="0"/>
              </a:rPr>
              <a:t>    </a:t>
            </a:r>
            <a:r>
              <a:rPr lang="sk-SK" sz="1000" dirty="0" err="1">
                <a:latin typeface="Consolas" panose="020B0609020204030204" pitchFamily="49" charset="0"/>
              </a:rPr>
              <a:t>Ptr</a:t>
            </a:r>
            <a:r>
              <a:rPr lang="sk-SK" sz="1000" dirty="0">
                <a:latin typeface="Consolas" panose="020B0609020204030204" pitchFamily="49" charset="0"/>
              </a:rPr>
              <a:t>: 0x139839370908128, </a:t>
            </a:r>
            <a:r>
              <a:rPr lang="sk-SK" sz="1000" dirty="0" err="1">
                <a:latin typeface="Consolas" panose="020B0609020204030204" pitchFamily="49" charset="0"/>
              </a:rPr>
              <a:t>Producer</a:t>
            </a:r>
            <a:r>
              <a:rPr lang="sk-SK" sz="1000" dirty="0">
                <a:latin typeface="Consolas" panose="020B0609020204030204" pitchFamily="49" charset="0"/>
              </a:rPr>
              <a:t> ID: 0</a:t>
            </a:r>
          </a:p>
          <a:p>
            <a:r>
              <a:rPr lang="sk-SK" sz="1000" dirty="0">
                <a:latin typeface="Consolas" panose="020B0609020204030204" pitchFamily="49" charset="0"/>
              </a:rPr>
              <a:t>    </a:t>
            </a:r>
            <a:r>
              <a:rPr lang="sk-SK" sz="1000" dirty="0" err="1">
                <a:latin typeface="Consolas" panose="020B0609020204030204" pitchFamily="49" charset="0"/>
              </a:rPr>
              <a:t>Flags</a:t>
            </a:r>
            <a:r>
              <a:rPr lang="sk-SK" sz="1000" dirty="0">
                <a:latin typeface="Consolas" panose="020B0609020204030204" pitchFamily="49" charset="0"/>
              </a:rPr>
              <a:t>: </a:t>
            </a:r>
          </a:p>
          <a:p>
            <a:r>
              <a:rPr lang="sk-SK" sz="1000" dirty="0">
                <a:latin typeface="Consolas" panose="020B0609020204030204" pitchFamily="49" charset="0"/>
              </a:rPr>
              <a:t>      </a:t>
            </a:r>
            <a:r>
              <a:rPr lang="sk-SK" sz="1000" dirty="0" err="1">
                <a:latin typeface="Consolas" panose="020B0609020204030204" pitchFamily="49" charset="0"/>
              </a:rPr>
              <a:t>Generic</a:t>
            </a:r>
            <a:r>
              <a:rPr lang="sk-SK" sz="1000" dirty="0">
                <a:latin typeface="Consolas" panose="020B0609020204030204" pitchFamily="49" charset="0"/>
              </a:rPr>
              <a:t>:  0x0 ()</a:t>
            </a:r>
          </a:p>
          <a:p>
            <a:r>
              <a:rPr lang="sk-SK" sz="1000" dirty="0">
                <a:latin typeface="Consolas" panose="020B0609020204030204" pitchFamily="49" charset="0"/>
              </a:rPr>
              <a:t>      </a:t>
            </a:r>
            <a:r>
              <a:rPr lang="sk-SK" sz="1000" dirty="0" err="1">
                <a:latin typeface="Consolas" panose="020B0609020204030204" pitchFamily="49" charset="0"/>
              </a:rPr>
              <a:t>Specific</a:t>
            </a:r>
            <a:r>
              <a:rPr lang="sk-SK" sz="1000" dirty="0">
                <a:latin typeface="Consolas" panose="020B0609020204030204" pitchFamily="49" charset="0"/>
              </a:rPr>
              <a:t>: 0x0 ()</a:t>
            </a:r>
          </a:p>
          <a:p>
            <a:r>
              <a:rPr lang="sk-SK" sz="1000" dirty="0">
                <a:latin typeface="Consolas" panose="020B0609020204030204" pitchFamily="49" charset="0"/>
              </a:rPr>
              <a:t>    </a:t>
            </a:r>
            <a:r>
              <a:rPr lang="sk-SK" sz="1000" dirty="0" err="1">
                <a:latin typeface="Consolas" panose="020B0609020204030204" pitchFamily="49" charset="0"/>
              </a:rPr>
              <a:t>Modified</a:t>
            </a:r>
            <a:r>
              <a:rPr lang="sk-SK" sz="1000" dirty="0">
                <a:latin typeface="Consolas" panose="020B0609020204030204" pitchFamily="49" charset="0"/>
              </a:rPr>
              <a:t>: </a:t>
            </a:r>
            <a:r>
              <a:rPr lang="sk-SK" sz="1000" dirty="0" err="1">
                <a:latin typeface="Consolas" panose="020B0609020204030204" pitchFamily="49" charset="0"/>
              </a:rPr>
              <a:t>Tue</a:t>
            </a:r>
            <a:r>
              <a:rPr lang="sk-SK" sz="1000" dirty="0">
                <a:latin typeface="Consolas" panose="020B0609020204030204" pitchFamily="49" charset="0"/>
              </a:rPr>
              <a:t> Nov 05 14:12:54 UTC 2024 (1d21h </a:t>
            </a:r>
            <a:r>
              <a:rPr lang="sk-SK" sz="1000" dirty="0" err="1">
                <a:latin typeface="Consolas" panose="020B0609020204030204" pitchFamily="49" charset="0"/>
              </a:rPr>
              <a:t>ago</a:t>
            </a:r>
            <a:r>
              <a:rPr lang="sk-SK" sz="1000" dirty="0">
                <a:latin typeface="Consolas" panose="020B0609020204030204" pitchFamily="49" charset="0"/>
              </a:rPr>
              <a:t>)</a:t>
            </a:r>
          </a:p>
          <a:p>
            <a:r>
              <a:rPr lang="sk-SK" sz="1000" dirty="0">
                <a:latin typeface="Consolas" panose="020B0609020204030204" pitchFamily="49" charset="0"/>
              </a:rPr>
              <a:t>  </a:t>
            </a:r>
            <a:r>
              <a:rPr lang="sk-SK" sz="1000" dirty="0" err="1">
                <a:latin typeface="Consolas" panose="020B0609020204030204" pitchFamily="49" charset="0"/>
              </a:rPr>
              <a:t>Created</a:t>
            </a:r>
            <a:r>
              <a:rPr lang="sk-SK" sz="1000" dirty="0">
                <a:latin typeface="Consolas" panose="020B0609020204030204" pitchFamily="49" charset="0"/>
              </a:rPr>
              <a:t>: Nov  5 14:12:55.129 (1d21h </a:t>
            </a:r>
            <a:r>
              <a:rPr lang="sk-SK" sz="1000" dirty="0" err="1">
                <a:latin typeface="Consolas" panose="020B0609020204030204" pitchFamily="49" charset="0"/>
              </a:rPr>
              <a:t>ago</a:t>
            </a:r>
            <a:r>
              <a:rPr lang="sk-SK" sz="1000" dirty="0">
                <a:latin typeface="Consolas" panose="020B0609020204030204" pitchFamily="49" charset="0"/>
              </a:rPr>
              <a:t>)</a:t>
            </a:r>
          </a:p>
          <a:p>
            <a:r>
              <a:rPr lang="sk-SK" sz="1000" dirty="0">
                <a:latin typeface="Consolas" panose="020B0609020204030204" pitchFamily="49" charset="0"/>
              </a:rPr>
              <a:t>  Event </a:t>
            </a:r>
            <a:r>
              <a:rPr lang="sk-SK" sz="1000" dirty="0" err="1">
                <a:latin typeface="Consolas" panose="020B0609020204030204" pitchFamily="49" charset="0"/>
              </a:rPr>
              <a:t>history</a:t>
            </a:r>
            <a:r>
              <a:rPr lang="sk-SK" sz="1000" dirty="0">
                <a:latin typeface="Consolas" panose="020B0609020204030204" pitchFamily="49" charset="0"/>
              </a:rPr>
              <a:t>:</a:t>
            </a:r>
          </a:p>
          <a:p>
            <a:r>
              <a:rPr lang="sk-SK" sz="1000" dirty="0">
                <a:latin typeface="Consolas" panose="020B0609020204030204" pitchFamily="49" charset="0"/>
              </a:rPr>
              <a:t>    </a:t>
            </a:r>
            <a:r>
              <a:rPr lang="en-US" sz="1000" dirty="0">
                <a:latin typeface="Consolas" panose="020B0609020204030204" pitchFamily="49" charset="0"/>
              </a:rPr>
              <a:t>-- cut --</a:t>
            </a:r>
            <a:endParaRPr lang="sk-SK" sz="1000" dirty="0">
              <a:latin typeface="Consolas" panose="020B0609020204030204" pitchFamily="49" charset="0"/>
            </a:endParaRPr>
          </a:p>
        </p:txBody>
      </p:sp>
      <p:sp>
        <p:nvSpPr>
          <p:cNvPr id="9" name="Callout: Line 8">
            <a:extLst>
              <a:ext uri="{FF2B5EF4-FFF2-40B4-BE49-F238E27FC236}">
                <a16:creationId xmlns:a16="http://schemas.microsoft.com/office/drawing/2014/main" id="{BA357B8D-B1DE-8A1F-6DD4-B0DD3AB21870}"/>
              </a:ext>
            </a:extLst>
          </p:cNvPr>
          <p:cNvSpPr/>
          <p:nvPr/>
        </p:nvSpPr>
        <p:spPr>
          <a:xfrm>
            <a:off x="3708399" y="1210680"/>
            <a:ext cx="2275839" cy="255698"/>
          </a:xfrm>
          <a:prstGeom prst="borderCallout1">
            <a:avLst>
              <a:gd name="adj1" fmla="val 18750"/>
              <a:gd name="adj2" fmla="val -8333"/>
              <a:gd name="adj3" fmla="val 894320"/>
              <a:gd name="adj4" fmla="val -44969"/>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Configured Locators</a:t>
            </a:r>
          </a:p>
        </p:txBody>
      </p:sp>
      <p:sp>
        <p:nvSpPr>
          <p:cNvPr id="10" name="Callout: Line 9">
            <a:extLst>
              <a:ext uri="{FF2B5EF4-FFF2-40B4-BE49-F238E27FC236}">
                <a16:creationId xmlns:a16="http://schemas.microsoft.com/office/drawing/2014/main" id="{73EE34BA-D191-4676-F933-6396E9C4F07C}"/>
              </a:ext>
            </a:extLst>
          </p:cNvPr>
          <p:cNvSpPr/>
          <p:nvPr/>
        </p:nvSpPr>
        <p:spPr>
          <a:xfrm>
            <a:off x="2123438" y="856061"/>
            <a:ext cx="3860800" cy="255698"/>
          </a:xfrm>
          <a:prstGeom prst="borderCallout1">
            <a:avLst>
              <a:gd name="adj1" fmla="val 18750"/>
              <a:gd name="adj2" fmla="val -8333"/>
              <a:gd name="adj3" fmla="val 1935361"/>
              <a:gd name="adj4" fmla="val -35012"/>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SIDs associated with </a:t>
            </a:r>
            <a:r>
              <a:rPr lang="en-US" i="1" dirty="0">
                <a:solidFill>
                  <a:schemeClr val="accent5"/>
                </a:solidFill>
              </a:rPr>
              <a:t>MyFullLoc01</a:t>
            </a:r>
          </a:p>
        </p:txBody>
      </p:sp>
      <p:grpSp>
        <p:nvGrpSpPr>
          <p:cNvPr id="2" name="Group 1">
            <a:extLst>
              <a:ext uri="{FF2B5EF4-FFF2-40B4-BE49-F238E27FC236}">
                <a16:creationId xmlns:a16="http://schemas.microsoft.com/office/drawing/2014/main" id="{E7B690D3-0A7E-59C6-700F-31C02DB1B405}"/>
              </a:ext>
            </a:extLst>
          </p:cNvPr>
          <p:cNvGrpSpPr/>
          <p:nvPr/>
        </p:nvGrpSpPr>
        <p:grpSpPr>
          <a:xfrm>
            <a:off x="3429001" y="2042950"/>
            <a:ext cx="2463799" cy="255698"/>
            <a:chOff x="1959430" y="2177143"/>
            <a:chExt cx="3243940" cy="413657"/>
          </a:xfrm>
        </p:grpSpPr>
        <p:sp>
          <p:nvSpPr>
            <p:cNvPr id="6" name="TextBox 5">
              <a:extLst>
                <a:ext uri="{FF2B5EF4-FFF2-40B4-BE49-F238E27FC236}">
                  <a16:creationId xmlns:a16="http://schemas.microsoft.com/office/drawing/2014/main" id="{554AE753-35C8-851B-477E-D6B08DECE95C}"/>
                </a:ext>
              </a:extLst>
            </p:cNvPr>
            <p:cNvSpPr txBox="1"/>
            <p:nvPr/>
          </p:nvSpPr>
          <p:spPr>
            <a:xfrm>
              <a:off x="1959430" y="2177143"/>
              <a:ext cx="1621970" cy="413657"/>
            </a:xfrm>
            <a:prstGeom prst="rect">
              <a:avLst/>
            </a:prstGeom>
            <a:solidFill>
              <a:srgbClr val="0066FF"/>
            </a:solidFill>
            <a:ln w="12700">
              <a:solidFill>
                <a:schemeClr val="accent1">
                  <a:shade val="15000"/>
                </a:schemeClr>
              </a:solidFill>
            </a:ln>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400" i="0" u="none" strike="noStrike" kern="1200" cap="none" spc="0" normalizeH="0" baseline="0" noProof="0" dirty="0">
                  <a:ln>
                    <a:noFill/>
                  </a:ln>
                  <a:solidFill>
                    <a:schemeClr val="tx1"/>
                  </a:solidFill>
                  <a:effectLst/>
                  <a:uLnTx/>
                  <a:uFillTx/>
                  <a:latin typeface="Arial" panose="020B0604020202020204"/>
                  <a:ea typeface="+mn-ea"/>
                  <a:cs typeface="+mn-cs"/>
                </a:rPr>
                <a:t>Locator </a:t>
              </a:r>
            </a:p>
          </p:txBody>
        </p:sp>
        <p:sp>
          <p:nvSpPr>
            <p:cNvPr id="7" name="TextBox 6">
              <a:extLst>
                <a:ext uri="{FF2B5EF4-FFF2-40B4-BE49-F238E27FC236}">
                  <a16:creationId xmlns:a16="http://schemas.microsoft.com/office/drawing/2014/main" id="{40A7E109-4F71-E4B9-6E94-48967248E9B8}"/>
                </a:ext>
              </a:extLst>
            </p:cNvPr>
            <p:cNvSpPr txBox="1"/>
            <p:nvPr/>
          </p:nvSpPr>
          <p:spPr>
            <a:xfrm>
              <a:off x="3581400" y="2177143"/>
              <a:ext cx="1621970" cy="413657"/>
            </a:xfrm>
            <a:prstGeom prst="rect">
              <a:avLst/>
            </a:prstGeom>
            <a:solidFill>
              <a:srgbClr val="00FF00"/>
            </a:solidFill>
            <a:ln w="12700">
              <a:solidFill>
                <a:schemeClr val="accent1">
                  <a:shade val="15000"/>
                </a:schemeClr>
              </a:solidFill>
            </a:ln>
          </p:spPr>
          <p:txBody>
            <a:bodyPr vert="horz" wrap="none" lIns="91440" tIns="45720" rIns="91440" bIns="45720" rtlCol="0">
              <a:noAutofit/>
            </a:bodyPr>
            <a:lstStyle>
              <a:defPPr>
                <a:defRPr lang="sk-SK"/>
              </a:defPPr>
              <a:lvl1pPr marR="0" indent="0" algn="ctr" fontAlgn="auto">
                <a:lnSpc>
                  <a:spcPct val="90000"/>
                </a:lnSpc>
                <a:spcBef>
                  <a:spcPts val="1000"/>
                </a:spcBef>
                <a:spcAft>
                  <a:spcPts val="0"/>
                </a:spcAft>
                <a:buClrTx/>
                <a:buSzTx/>
                <a:buFont typeface="Arial" panose="020B0604020202020204" pitchFamily="34" charset="0"/>
                <a:buNone/>
                <a:tabLst/>
                <a:defRPr kumimoji="0" sz="2400" i="0" u="none" strike="noStrike" cap="none" spc="0" normalizeH="0" baseline="0">
                  <a:ln>
                    <a:noFill/>
                  </a:ln>
                  <a:effectLst/>
                  <a:uLnTx/>
                  <a:uFillTx/>
                  <a:latin typeface="Arial" panose="020B0604020202020204"/>
                </a:defRPr>
              </a:lvl1pPr>
            </a:lstStyle>
            <a:p>
              <a:r>
                <a:rPr lang="en-US" sz="1400" dirty="0"/>
                <a:t>Function (</a:t>
              </a:r>
              <a:r>
                <a:rPr lang="cs-CZ" sz="1400" dirty="0"/>
                <a:t>A</a:t>
              </a:r>
              <a:r>
                <a:rPr lang="en-US" sz="1400" dirty="0" err="1"/>
                <a:t>rg</a:t>
              </a:r>
              <a:r>
                <a:rPr lang="en-US" sz="1400" dirty="0"/>
                <a:t>)</a:t>
              </a:r>
            </a:p>
          </p:txBody>
        </p:sp>
      </p:grpSp>
    </p:spTree>
    <p:extLst>
      <p:ext uri="{BB962C8B-B14F-4D97-AF65-F5344CB8AC3E}">
        <p14:creationId xmlns:p14="http://schemas.microsoft.com/office/powerpoint/2010/main" val="188692071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2C8C810-2CB6-E947-7135-6DE4DB5D497E}"/>
              </a:ext>
            </a:extLst>
          </p:cNvPr>
          <p:cNvSpPr>
            <a:spLocks noGrp="1"/>
          </p:cNvSpPr>
          <p:nvPr>
            <p:ph type="body" sz="quarter" idx="11"/>
          </p:nvPr>
        </p:nvSpPr>
        <p:spPr/>
        <p:txBody>
          <a:bodyPr/>
          <a:lstStyle/>
          <a:p>
            <a:r>
              <a:rPr lang="en-US" dirty="0"/>
              <a:t>Full SID</a:t>
            </a:r>
          </a:p>
        </p:txBody>
      </p:sp>
      <p:cxnSp>
        <p:nvCxnSpPr>
          <p:cNvPr id="17" name="Straight Arrow Connector 16">
            <a:extLst>
              <a:ext uri="{FF2B5EF4-FFF2-40B4-BE49-F238E27FC236}">
                <a16:creationId xmlns:a16="http://schemas.microsoft.com/office/drawing/2014/main" id="{33E3A1F2-97F8-DA6A-3BF4-2AADBDA7B990}"/>
              </a:ext>
            </a:extLst>
          </p:cNvPr>
          <p:cNvCxnSpPr>
            <a:cxnSpLocks/>
          </p:cNvCxnSpPr>
          <p:nvPr/>
        </p:nvCxnSpPr>
        <p:spPr>
          <a:xfrm>
            <a:off x="4773168" y="1790412"/>
            <a:ext cx="1444751" cy="22969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14FA83B6-F9AF-8857-BD09-EBA0577B0521}"/>
              </a:ext>
            </a:extLst>
          </p:cNvPr>
          <p:cNvSpPr/>
          <p:nvPr/>
        </p:nvSpPr>
        <p:spPr>
          <a:xfrm>
            <a:off x="0" y="4765119"/>
            <a:ext cx="8613647" cy="2092881"/>
          </a:xfrm>
          <a:prstGeom prst="rect">
            <a:avLst/>
          </a:prstGeom>
          <a:solidFill>
            <a:schemeClr val="bg1">
              <a:lumMod val="95000"/>
            </a:schemeClr>
          </a:solidFill>
          <a:ln>
            <a:solidFill>
              <a:schemeClr val="tx1"/>
            </a:solidFill>
          </a:ln>
          <a:effectLst/>
        </p:spPr>
        <p:txBody>
          <a:bodyPr wrap="square">
            <a:spAutoFit/>
          </a:bodyPr>
          <a:lstStyle/>
          <a:p>
            <a:r>
              <a:rPr lang="sk-SK" sz="1000" dirty="0">
                <a:latin typeface="Consolas" panose="020B0609020204030204" pitchFamily="49" charset="0"/>
              </a:rPr>
              <a:t>RP/0/RP0/CPU0:R01#</a:t>
            </a:r>
            <a:r>
              <a:rPr lang="sk-SK" sz="1000" b="1" dirty="0">
                <a:latin typeface="Consolas" panose="020B0609020204030204" pitchFamily="49" charset="0"/>
              </a:rPr>
              <a:t>show segment-routing srv6 </a:t>
            </a:r>
            <a:r>
              <a:rPr lang="sk-SK" sz="1000" b="1" dirty="0" err="1">
                <a:latin typeface="Consolas" panose="020B0609020204030204" pitchFamily="49" charset="0"/>
              </a:rPr>
              <a:t>locator</a:t>
            </a:r>
            <a:r>
              <a:rPr lang="sk-SK" sz="1000" b="1" dirty="0">
                <a:latin typeface="Consolas" panose="020B0609020204030204" pitchFamily="49" charset="0"/>
              </a:rPr>
              <a:t> </a:t>
            </a:r>
          </a:p>
          <a:p>
            <a:r>
              <a:rPr lang="sk-SK" sz="1000" dirty="0" err="1">
                <a:latin typeface="Consolas" panose="020B0609020204030204" pitchFamily="49" charset="0"/>
              </a:rPr>
              <a:t>Name</a:t>
            </a:r>
            <a:r>
              <a:rPr lang="sk-SK" sz="1000" dirty="0">
                <a:latin typeface="Consolas" panose="020B0609020204030204" pitchFamily="49" charset="0"/>
              </a:rPr>
              <a:t>                  ID       </a:t>
            </a:r>
            <a:r>
              <a:rPr lang="sk-SK" sz="1000" dirty="0" err="1">
                <a:latin typeface="Consolas" panose="020B0609020204030204" pitchFamily="49" charset="0"/>
              </a:rPr>
              <a:t>Algo</a:t>
            </a:r>
            <a:r>
              <a:rPr lang="sk-SK" sz="1000" dirty="0">
                <a:latin typeface="Consolas" panose="020B0609020204030204" pitchFamily="49" charset="0"/>
              </a:rPr>
              <a:t>  Prefix                    Status   </a:t>
            </a:r>
            <a:r>
              <a:rPr lang="sk-SK" sz="1000" dirty="0" err="1">
                <a:latin typeface="Consolas" panose="020B0609020204030204" pitchFamily="49" charset="0"/>
              </a:rPr>
              <a:t>Flags</a:t>
            </a:r>
            <a:r>
              <a:rPr lang="sk-SK" sz="1000" dirty="0">
                <a:latin typeface="Consolas" panose="020B0609020204030204" pitchFamily="49" charset="0"/>
              </a:rPr>
              <a:t>   </a:t>
            </a:r>
          </a:p>
          <a:p>
            <a:r>
              <a:rPr lang="sk-SK" sz="1000" dirty="0">
                <a:latin typeface="Consolas" panose="020B0609020204030204" pitchFamily="49" charset="0"/>
              </a:rPr>
              <a:t>--------------------  -------  ----  ------------------------  -------  --------</a:t>
            </a:r>
          </a:p>
          <a:p>
            <a:r>
              <a:rPr lang="sk-SK" sz="1000" dirty="0">
                <a:latin typeface="Consolas" panose="020B0609020204030204" pitchFamily="49" charset="0"/>
              </a:rPr>
              <a:t>MyFullLoc01           1        0     fc00:ab00:1::/64          </a:t>
            </a:r>
            <a:r>
              <a:rPr lang="sk-SK" sz="1000" dirty="0" err="1">
                <a:latin typeface="Consolas" panose="020B0609020204030204" pitchFamily="49" charset="0"/>
              </a:rPr>
              <a:t>Up</a:t>
            </a:r>
            <a:r>
              <a:rPr lang="sk-SK" sz="1000" dirty="0">
                <a:latin typeface="Consolas" panose="020B0609020204030204" pitchFamily="49" charset="0"/>
              </a:rPr>
              <a:t>               </a:t>
            </a:r>
          </a:p>
          <a:p>
            <a:r>
              <a:rPr lang="sk-SK" sz="1000" dirty="0">
                <a:latin typeface="Consolas" panose="020B0609020204030204" pitchFamily="49" charset="0"/>
              </a:rPr>
              <a:t>RP/0/RP0/CPU0:R01#</a:t>
            </a:r>
            <a:r>
              <a:rPr lang="sk-SK" sz="1000" b="1" dirty="0">
                <a:latin typeface="Consolas" panose="020B0609020204030204" pitchFamily="49" charset="0"/>
              </a:rPr>
              <a:t>show segment-routing srv6 </a:t>
            </a:r>
            <a:r>
              <a:rPr lang="sk-SK" sz="1000" b="1" dirty="0" err="1">
                <a:latin typeface="Consolas" panose="020B0609020204030204" pitchFamily="49" charset="0"/>
              </a:rPr>
              <a:t>sid</a:t>
            </a:r>
            <a:r>
              <a:rPr lang="sk-SK" sz="1000" b="1" dirty="0">
                <a:latin typeface="Consolas" panose="020B0609020204030204" pitchFamily="49" charset="0"/>
              </a:rPr>
              <a:t> </a:t>
            </a:r>
            <a:r>
              <a:rPr lang="sk-SK" sz="1000" b="1" dirty="0" err="1">
                <a:latin typeface="Consolas" panose="020B0609020204030204" pitchFamily="49" charset="0"/>
              </a:rPr>
              <a:t>all</a:t>
            </a:r>
            <a:r>
              <a:rPr lang="sk-SK" sz="1000" b="1" dirty="0">
                <a:latin typeface="Consolas" panose="020B0609020204030204" pitchFamily="49" charset="0"/>
              </a:rPr>
              <a:t> </a:t>
            </a:r>
          </a:p>
          <a:p>
            <a:endParaRPr lang="sk-SK" sz="1000" dirty="0">
              <a:latin typeface="Consolas" panose="020B0609020204030204" pitchFamily="49" charset="0"/>
            </a:endParaRPr>
          </a:p>
          <a:p>
            <a:r>
              <a:rPr lang="sk-SK" sz="1000" dirty="0">
                <a:latin typeface="Consolas" panose="020B0609020204030204" pitchFamily="49" charset="0"/>
              </a:rPr>
              <a:t>*** </a:t>
            </a:r>
            <a:r>
              <a:rPr lang="sk-SK" sz="1000" dirty="0" err="1">
                <a:latin typeface="Consolas" panose="020B0609020204030204" pitchFamily="49" charset="0"/>
              </a:rPr>
              <a:t>Locator</a:t>
            </a:r>
            <a:r>
              <a:rPr lang="sk-SK" sz="1000" dirty="0">
                <a:latin typeface="Consolas" panose="020B0609020204030204" pitchFamily="49" charset="0"/>
              </a:rPr>
              <a:t>: 'MyFullLoc01' *** </a:t>
            </a:r>
          </a:p>
          <a:p>
            <a:endParaRPr lang="sk-SK" sz="1000" dirty="0">
              <a:latin typeface="Consolas" panose="020B0609020204030204" pitchFamily="49" charset="0"/>
            </a:endParaRPr>
          </a:p>
          <a:p>
            <a:r>
              <a:rPr lang="sk-SK" sz="1000" dirty="0">
                <a:latin typeface="Consolas" panose="020B0609020204030204" pitchFamily="49" charset="0"/>
              </a:rPr>
              <a:t>SID                         </a:t>
            </a:r>
            <a:r>
              <a:rPr lang="sk-SK" sz="1000" dirty="0" err="1">
                <a:latin typeface="Consolas" panose="020B0609020204030204" pitchFamily="49" charset="0"/>
              </a:rPr>
              <a:t>Behavior</a:t>
            </a:r>
            <a:r>
              <a:rPr lang="sk-SK" sz="1000" dirty="0">
                <a:latin typeface="Consolas" panose="020B0609020204030204" pitchFamily="49" charset="0"/>
              </a:rPr>
              <a:t>          </a:t>
            </a:r>
            <a:r>
              <a:rPr lang="sk-SK" sz="1000" dirty="0" err="1">
                <a:latin typeface="Consolas" panose="020B0609020204030204" pitchFamily="49" charset="0"/>
              </a:rPr>
              <a:t>Context</a:t>
            </a:r>
            <a:r>
              <a:rPr lang="sk-SK" sz="1000" dirty="0">
                <a:latin typeface="Consolas" panose="020B0609020204030204" pitchFamily="49" charset="0"/>
              </a:rPr>
              <a:t>                           </a:t>
            </a:r>
            <a:r>
              <a:rPr lang="sk-SK" sz="1000" dirty="0" err="1">
                <a:latin typeface="Consolas" panose="020B0609020204030204" pitchFamily="49" charset="0"/>
              </a:rPr>
              <a:t>Owner</a:t>
            </a:r>
            <a:r>
              <a:rPr lang="sk-SK" sz="1000" dirty="0">
                <a:latin typeface="Consolas" panose="020B0609020204030204" pitchFamily="49" charset="0"/>
              </a:rPr>
              <a:t>               State  RW</a:t>
            </a:r>
          </a:p>
          <a:p>
            <a:r>
              <a:rPr lang="sk-SK" sz="1000" dirty="0">
                <a:latin typeface="Consolas" panose="020B0609020204030204" pitchFamily="49" charset="0"/>
              </a:rPr>
              <a:t>--------------------------  ----------------  --------------------------------  ------------------  -----  --</a:t>
            </a:r>
          </a:p>
          <a:p>
            <a:r>
              <a:rPr lang="sk-SK" sz="1000" dirty="0">
                <a:highlight>
                  <a:srgbClr val="00FF00"/>
                </a:highlight>
                <a:latin typeface="Consolas" panose="020B0609020204030204" pitchFamily="49" charset="0"/>
              </a:rPr>
              <a:t>fc00:ab00:1:0:1::           End (PSP/USD)     'default':1                       </a:t>
            </a:r>
            <a:r>
              <a:rPr lang="sk-SK" sz="1000" dirty="0" err="1">
                <a:highlight>
                  <a:srgbClr val="00FF00"/>
                </a:highlight>
                <a:latin typeface="Consolas" panose="020B0609020204030204" pitchFamily="49" charset="0"/>
              </a:rPr>
              <a:t>sidmgr</a:t>
            </a:r>
            <a:r>
              <a:rPr lang="sk-SK" sz="1000" dirty="0">
                <a:highlight>
                  <a:srgbClr val="00FF00"/>
                </a:highlight>
                <a:latin typeface="Consolas" panose="020B0609020204030204" pitchFamily="49" charset="0"/>
              </a:rPr>
              <a:t>              </a:t>
            </a:r>
            <a:r>
              <a:rPr lang="sk-SK" sz="1000" dirty="0" err="1">
                <a:highlight>
                  <a:srgbClr val="00FF00"/>
                </a:highlight>
                <a:latin typeface="Consolas" panose="020B0609020204030204" pitchFamily="49" charset="0"/>
              </a:rPr>
              <a:t>InUse</a:t>
            </a:r>
            <a:r>
              <a:rPr lang="sk-SK" sz="1000" dirty="0">
                <a:highlight>
                  <a:srgbClr val="00FF00"/>
                </a:highlight>
                <a:latin typeface="Consolas" panose="020B0609020204030204" pitchFamily="49" charset="0"/>
              </a:rPr>
              <a:t>  Y </a:t>
            </a:r>
          </a:p>
          <a:p>
            <a:r>
              <a:rPr lang="sk-SK" sz="1000" dirty="0">
                <a:highlight>
                  <a:srgbClr val="00FF00"/>
                </a:highlight>
                <a:latin typeface="Consolas" panose="020B0609020204030204" pitchFamily="49" charset="0"/>
              </a:rPr>
              <a:t>fc00:ab00:1:0:40::          </a:t>
            </a:r>
            <a:r>
              <a:rPr lang="sk-SK" sz="1000" dirty="0" err="1">
                <a:highlight>
                  <a:srgbClr val="00FF00"/>
                </a:highlight>
                <a:latin typeface="Consolas" panose="020B0609020204030204" pitchFamily="49" charset="0"/>
              </a:rPr>
              <a:t>End.X</a:t>
            </a:r>
            <a:r>
              <a:rPr lang="sk-SK" sz="1000" dirty="0">
                <a:highlight>
                  <a:srgbClr val="00FF00"/>
                </a:highlight>
                <a:latin typeface="Consolas" panose="020B0609020204030204" pitchFamily="49" charset="0"/>
              </a:rPr>
              <a:t> (PSP/USD)   [Gi0/0/0/0, </a:t>
            </a:r>
            <a:r>
              <a:rPr lang="sk-SK" sz="1000" dirty="0" err="1">
                <a:highlight>
                  <a:srgbClr val="00FF00"/>
                </a:highlight>
                <a:latin typeface="Consolas" panose="020B0609020204030204" pitchFamily="49" charset="0"/>
              </a:rPr>
              <a:t>Link-Local</a:t>
            </a:r>
            <a:r>
              <a:rPr lang="sk-SK" sz="1000" dirty="0">
                <a:highlight>
                  <a:srgbClr val="00FF00"/>
                </a:highlight>
                <a:latin typeface="Consolas" panose="020B0609020204030204" pitchFamily="49" charset="0"/>
              </a:rPr>
              <a:t>]           isis-1              </a:t>
            </a:r>
            <a:r>
              <a:rPr lang="sk-SK" sz="1000" dirty="0" err="1">
                <a:highlight>
                  <a:srgbClr val="00FF00"/>
                </a:highlight>
                <a:latin typeface="Consolas" panose="020B0609020204030204" pitchFamily="49" charset="0"/>
              </a:rPr>
              <a:t>InUse</a:t>
            </a:r>
            <a:r>
              <a:rPr lang="sk-SK" sz="1000" dirty="0">
                <a:highlight>
                  <a:srgbClr val="00FF00"/>
                </a:highlight>
                <a:latin typeface="Consolas" panose="020B0609020204030204" pitchFamily="49" charset="0"/>
              </a:rPr>
              <a:t>  Y </a:t>
            </a:r>
          </a:p>
          <a:p>
            <a:r>
              <a:rPr lang="sk-SK" sz="1000" dirty="0">
                <a:latin typeface="Consolas" panose="020B0609020204030204" pitchFamily="49" charset="0"/>
              </a:rPr>
              <a:t>RP/0/RP0/CPU0:R01#</a:t>
            </a:r>
            <a:endParaRPr lang="sk-SK" sz="1000" dirty="0">
              <a:solidFill>
                <a:srgbClr val="FF0000"/>
              </a:solidFill>
              <a:latin typeface="Consolas" panose="020B0609020204030204" pitchFamily="49" charset="0"/>
            </a:endParaRPr>
          </a:p>
        </p:txBody>
      </p:sp>
      <p:pic>
        <p:nvPicPr>
          <p:cNvPr id="23" name="Picture 22" descr="A diagram of a network&#10;&#10;Description automatically generated">
            <a:extLst>
              <a:ext uri="{FF2B5EF4-FFF2-40B4-BE49-F238E27FC236}">
                <a16:creationId xmlns:a16="http://schemas.microsoft.com/office/drawing/2014/main" id="{D85336B3-FEBA-AABA-3898-FABD567975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4718" y="44814"/>
            <a:ext cx="9257282" cy="1713245"/>
          </a:xfrm>
          <a:prstGeom prst="rect">
            <a:avLst/>
          </a:prstGeom>
        </p:spPr>
      </p:pic>
      <p:sp>
        <p:nvSpPr>
          <p:cNvPr id="21" name="Rectangle 20">
            <a:extLst>
              <a:ext uri="{FF2B5EF4-FFF2-40B4-BE49-F238E27FC236}">
                <a16:creationId xmlns:a16="http://schemas.microsoft.com/office/drawing/2014/main" id="{0F650007-BBAE-8DD1-5CC0-090B2134B029}"/>
              </a:ext>
            </a:extLst>
          </p:cNvPr>
          <p:cNvSpPr/>
          <p:nvPr/>
        </p:nvSpPr>
        <p:spPr>
          <a:xfrm>
            <a:off x="4920234" y="409575"/>
            <a:ext cx="642366" cy="701769"/>
          </a:xfrm>
          <a:prstGeom prst="rect">
            <a:avLst/>
          </a:prstGeom>
          <a:noFill/>
          <a:ln w="254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A230AD45-DE09-0369-F10B-30642BF7FAB6}"/>
              </a:ext>
            </a:extLst>
          </p:cNvPr>
          <p:cNvSpPr>
            <a:spLocks noGrp="1"/>
          </p:cNvSpPr>
          <p:nvPr>
            <p:ph type="body" sz="quarter" idx="10"/>
          </p:nvPr>
        </p:nvSpPr>
        <p:spPr>
          <a:xfrm>
            <a:off x="110490" y="1437211"/>
            <a:ext cx="4809744" cy="2182098"/>
          </a:xfrm>
        </p:spPr>
        <p:txBody>
          <a:bodyPr/>
          <a:lstStyle/>
          <a:p>
            <a:r>
              <a:rPr lang="en-US" sz="1400" dirty="0"/>
              <a:t>R01: </a:t>
            </a:r>
            <a:r>
              <a:rPr lang="en-US" sz="1400" dirty="0">
                <a:highlight>
                  <a:srgbClr val="FFFF00"/>
                </a:highlight>
              </a:rPr>
              <a:t>Lo0=2001:9999::1/128</a:t>
            </a:r>
            <a:r>
              <a:rPr lang="en-US" sz="1400" dirty="0"/>
              <a:t>; </a:t>
            </a:r>
            <a:r>
              <a:rPr lang="en-US" sz="1400" dirty="0">
                <a:highlight>
                  <a:srgbClr val="00FF00"/>
                </a:highlight>
              </a:rPr>
              <a:t>Locator=fc00:ab00:1::/64</a:t>
            </a:r>
            <a:r>
              <a:rPr lang="en-US" sz="1400" dirty="0"/>
              <a:t>; NET=49.0001.0000.0000.0001.00</a:t>
            </a:r>
          </a:p>
          <a:p>
            <a:r>
              <a:rPr lang="en-US" sz="1400" dirty="0"/>
              <a:t>R02: </a:t>
            </a:r>
            <a:r>
              <a:rPr lang="en-US" sz="1400" dirty="0">
                <a:highlight>
                  <a:srgbClr val="00FFFF"/>
                </a:highlight>
              </a:rPr>
              <a:t>Lo0=2001:9999::2/128</a:t>
            </a:r>
            <a:r>
              <a:rPr lang="en-US" sz="1400" dirty="0"/>
              <a:t>; </a:t>
            </a:r>
            <a:r>
              <a:rPr lang="en-US" sz="1400" dirty="0">
                <a:highlight>
                  <a:srgbClr val="FF00FF"/>
                </a:highlight>
              </a:rPr>
              <a:t>Locator=fc00:ab00:2::/64</a:t>
            </a:r>
            <a:r>
              <a:rPr lang="en-US" sz="1400" dirty="0"/>
              <a:t>; NET=49.0001.0000.0000.0002.00</a:t>
            </a:r>
          </a:p>
          <a:p>
            <a:r>
              <a:rPr lang="en-US" sz="1400" dirty="0"/>
              <a:t>R03: </a:t>
            </a:r>
            <a:r>
              <a:rPr lang="en-US" sz="1400" dirty="0">
                <a:solidFill>
                  <a:schemeClr val="bg1"/>
                </a:solidFill>
                <a:highlight>
                  <a:srgbClr val="0000FF"/>
                </a:highlight>
              </a:rPr>
              <a:t>Lo0=2001:9999::3/128</a:t>
            </a:r>
            <a:r>
              <a:rPr lang="en-US" sz="1400" dirty="0"/>
              <a:t>; </a:t>
            </a:r>
            <a:r>
              <a:rPr lang="en-US" sz="1400" dirty="0">
                <a:highlight>
                  <a:srgbClr val="FF0000"/>
                </a:highlight>
              </a:rPr>
              <a:t>Locator=fc00:ab00:3::/64</a:t>
            </a:r>
            <a:r>
              <a:rPr lang="en-US" sz="1400" dirty="0"/>
              <a:t>; NET=49.0001.0000.0000.0003.00</a:t>
            </a:r>
          </a:p>
          <a:p>
            <a:r>
              <a:rPr lang="en-US" sz="1400" dirty="0"/>
              <a:t>R04: </a:t>
            </a:r>
            <a:r>
              <a:rPr lang="en-US" sz="1400" dirty="0">
                <a:solidFill>
                  <a:schemeClr val="bg1"/>
                </a:solidFill>
                <a:highlight>
                  <a:srgbClr val="000080"/>
                </a:highlight>
              </a:rPr>
              <a:t>Lo0=2001:9999::4/128</a:t>
            </a:r>
            <a:r>
              <a:rPr lang="en-US" sz="1400" dirty="0"/>
              <a:t>; </a:t>
            </a:r>
            <a:r>
              <a:rPr lang="en-US" sz="1400" dirty="0">
                <a:highlight>
                  <a:srgbClr val="008080"/>
                </a:highlight>
              </a:rPr>
              <a:t>Locator=fc00:ab00:4::/64</a:t>
            </a:r>
            <a:r>
              <a:rPr lang="en-US" sz="1400" dirty="0"/>
              <a:t>; NET=49.0001.0000.0000.0004.00</a:t>
            </a:r>
          </a:p>
          <a:p>
            <a:endParaRPr lang="en-US" sz="1400" dirty="0"/>
          </a:p>
        </p:txBody>
      </p:sp>
      <p:sp>
        <p:nvSpPr>
          <p:cNvPr id="7" name="Rectangle 6">
            <a:extLst>
              <a:ext uri="{FF2B5EF4-FFF2-40B4-BE49-F238E27FC236}">
                <a16:creationId xmlns:a16="http://schemas.microsoft.com/office/drawing/2014/main" id="{0967F153-BAB2-037A-945A-78B4F6704383}"/>
              </a:ext>
            </a:extLst>
          </p:cNvPr>
          <p:cNvSpPr/>
          <p:nvPr/>
        </p:nvSpPr>
        <p:spPr>
          <a:xfrm>
            <a:off x="6217919" y="1726483"/>
            <a:ext cx="5974081" cy="3785652"/>
          </a:xfrm>
          <a:prstGeom prst="rect">
            <a:avLst/>
          </a:prstGeom>
          <a:solidFill>
            <a:schemeClr val="bg1">
              <a:lumMod val="95000"/>
            </a:schemeClr>
          </a:solidFill>
          <a:ln>
            <a:solidFill>
              <a:schemeClr val="tx1"/>
            </a:solidFill>
          </a:ln>
          <a:effectLst/>
        </p:spPr>
        <p:txBody>
          <a:bodyPr wrap="square">
            <a:spAutoFit/>
          </a:bodyPr>
          <a:lstStyle/>
          <a:p>
            <a:r>
              <a:rPr lang="sk-SK" sz="1000" dirty="0">
                <a:latin typeface="Consolas" panose="020B0609020204030204" pitchFamily="49" charset="0"/>
              </a:rPr>
              <a:t>RP/0/RP0/CPU0:</a:t>
            </a:r>
            <a:r>
              <a:rPr lang="sk-SK" sz="1000" b="1" dirty="0">
                <a:latin typeface="Consolas" panose="020B0609020204030204" pitchFamily="49" charset="0"/>
              </a:rPr>
              <a:t>R01</a:t>
            </a:r>
            <a:r>
              <a:rPr lang="sk-SK" sz="1000" dirty="0">
                <a:latin typeface="Consolas" panose="020B0609020204030204" pitchFamily="49" charset="0"/>
              </a:rPr>
              <a:t>#sh </a:t>
            </a:r>
            <a:r>
              <a:rPr lang="sk-SK" sz="1000" dirty="0" err="1">
                <a:latin typeface="Consolas" panose="020B0609020204030204" pitchFamily="49" charset="0"/>
              </a:rPr>
              <a:t>route</a:t>
            </a:r>
            <a:r>
              <a:rPr lang="sk-SK" sz="1000" dirty="0">
                <a:latin typeface="Consolas" panose="020B0609020204030204" pitchFamily="49" charset="0"/>
              </a:rPr>
              <a:t> ipv6</a:t>
            </a:r>
          </a:p>
          <a:p>
            <a:r>
              <a:rPr lang="en-US" sz="1000" dirty="0">
                <a:latin typeface="Consolas" panose="020B0609020204030204" pitchFamily="49" charset="0"/>
              </a:rPr>
              <a:t>-- Cut --</a:t>
            </a:r>
            <a:endParaRPr lang="sk-SK" sz="1000" dirty="0">
              <a:latin typeface="Consolas" panose="020B0609020204030204" pitchFamily="49" charset="0"/>
            </a:endParaRPr>
          </a:p>
          <a:p>
            <a:r>
              <a:rPr lang="sk-SK" sz="1000" dirty="0">
                <a:latin typeface="Consolas" panose="020B0609020204030204" pitchFamily="49" charset="0"/>
              </a:rPr>
              <a:t>L    ::ffff:127.0.0.0/104 </a:t>
            </a:r>
          </a:p>
          <a:p>
            <a:r>
              <a:rPr lang="sk-SK" sz="1000" dirty="0">
                <a:latin typeface="Consolas" panose="020B0609020204030204" pitchFamily="49" charset="0"/>
              </a:rPr>
              <a:t>      [0/0] </a:t>
            </a:r>
            <a:r>
              <a:rPr lang="sk-SK" sz="1000" dirty="0" err="1">
                <a:latin typeface="Consolas" panose="020B0609020204030204" pitchFamily="49" charset="0"/>
              </a:rPr>
              <a:t>via</a:t>
            </a:r>
            <a:r>
              <a:rPr lang="sk-SK" sz="1000" dirty="0">
                <a:latin typeface="Consolas" panose="020B0609020204030204" pitchFamily="49" charset="0"/>
              </a:rPr>
              <a:t> ::, 02:46:07</a:t>
            </a:r>
          </a:p>
          <a:p>
            <a:r>
              <a:rPr lang="sk-SK" sz="1000" dirty="0">
                <a:highlight>
                  <a:srgbClr val="FFFF00"/>
                </a:highlight>
                <a:latin typeface="Consolas" panose="020B0609020204030204" pitchFamily="49" charset="0"/>
              </a:rPr>
              <a:t>L    2001:9999::1/128 </a:t>
            </a:r>
            <a:r>
              <a:rPr lang="sk-SK" sz="1000" dirty="0" err="1">
                <a:highlight>
                  <a:srgbClr val="FFFF00"/>
                </a:highlight>
                <a:latin typeface="Consolas" panose="020B0609020204030204" pitchFamily="49" charset="0"/>
              </a:rPr>
              <a:t>is</a:t>
            </a:r>
            <a:r>
              <a:rPr lang="sk-SK" sz="1000" dirty="0">
                <a:highlight>
                  <a:srgbClr val="FFFF00"/>
                </a:highlight>
                <a:latin typeface="Consolas" panose="020B0609020204030204" pitchFamily="49" charset="0"/>
              </a:rPr>
              <a:t> </a:t>
            </a:r>
            <a:r>
              <a:rPr lang="sk-SK" sz="1000" dirty="0" err="1">
                <a:highlight>
                  <a:srgbClr val="FFFF00"/>
                </a:highlight>
                <a:latin typeface="Consolas" panose="020B0609020204030204" pitchFamily="49" charset="0"/>
              </a:rPr>
              <a:t>directly</a:t>
            </a:r>
            <a:r>
              <a:rPr lang="sk-SK" sz="1000" dirty="0">
                <a:highlight>
                  <a:srgbClr val="FFFF00"/>
                </a:highlight>
                <a:latin typeface="Consolas" panose="020B0609020204030204" pitchFamily="49" charset="0"/>
              </a:rPr>
              <a:t> </a:t>
            </a:r>
            <a:r>
              <a:rPr lang="sk-SK" sz="1000" dirty="0" err="1">
                <a:highlight>
                  <a:srgbClr val="FFFF00"/>
                </a:highlight>
                <a:latin typeface="Consolas" panose="020B0609020204030204" pitchFamily="49" charset="0"/>
              </a:rPr>
              <a:t>connected</a:t>
            </a:r>
            <a:r>
              <a:rPr lang="sk-SK" sz="1000" dirty="0">
                <a:highlight>
                  <a:srgbClr val="FFFF00"/>
                </a:highlight>
                <a:latin typeface="Consolas" panose="020B0609020204030204" pitchFamily="49" charset="0"/>
              </a:rPr>
              <a:t>,</a:t>
            </a:r>
          </a:p>
          <a:p>
            <a:r>
              <a:rPr lang="sk-SK" sz="1000" dirty="0">
                <a:highlight>
                  <a:srgbClr val="FFFF00"/>
                </a:highlight>
                <a:latin typeface="Consolas" panose="020B0609020204030204" pitchFamily="49" charset="0"/>
              </a:rPr>
              <a:t>      01:54:38, Loopback0</a:t>
            </a:r>
          </a:p>
          <a:p>
            <a:r>
              <a:rPr lang="sk-SK" sz="1000" dirty="0">
                <a:highlight>
                  <a:srgbClr val="00FFFF"/>
                </a:highlight>
                <a:latin typeface="Consolas" panose="020B0609020204030204" pitchFamily="49" charset="0"/>
              </a:rPr>
              <a:t>i L2 2001:9999::2/128 </a:t>
            </a:r>
          </a:p>
          <a:p>
            <a:r>
              <a:rPr lang="sk-SK" sz="1000" dirty="0">
                <a:highlight>
                  <a:srgbClr val="00FFFF"/>
                </a:highlight>
                <a:latin typeface="Consolas" panose="020B0609020204030204" pitchFamily="49" charset="0"/>
              </a:rPr>
              <a:t>      [115/10] </a:t>
            </a:r>
            <a:r>
              <a:rPr lang="sk-SK" sz="1000" dirty="0" err="1">
                <a:highlight>
                  <a:srgbClr val="00FFFF"/>
                </a:highlight>
                <a:latin typeface="Consolas" panose="020B0609020204030204" pitchFamily="49" charset="0"/>
              </a:rPr>
              <a:t>via</a:t>
            </a:r>
            <a:r>
              <a:rPr lang="sk-SK" sz="1000" dirty="0">
                <a:highlight>
                  <a:srgbClr val="00FFFF"/>
                </a:highlight>
                <a:latin typeface="Consolas" panose="020B0609020204030204" pitchFamily="49" charset="0"/>
              </a:rPr>
              <a:t> fe80::5054:ff:fe17:af75, 01:53:07, GigabitEthernet0/0/0/0</a:t>
            </a:r>
          </a:p>
          <a:p>
            <a:r>
              <a:rPr lang="sk-SK" sz="1000" dirty="0">
                <a:solidFill>
                  <a:schemeClr val="bg1"/>
                </a:solidFill>
                <a:highlight>
                  <a:srgbClr val="0000FF"/>
                </a:highlight>
                <a:latin typeface="Consolas" panose="020B0609020204030204" pitchFamily="49" charset="0"/>
              </a:rPr>
              <a:t>i L2 2001:9999::3/128 </a:t>
            </a:r>
          </a:p>
          <a:p>
            <a:r>
              <a:rPr lang="sk-SK" sz="1000" dirty="0">
                <a:solidFill>
                  <a:schemeClr val="bg1"/>
                </a:solidFill>
                <a:highlight>
                  <a:srgbClr val="0000FF"/>
                </a:highlight>
                <a:latin typeface="Consolas" panose="020B0609020204030204" pitchFamily="49" charset="0"/>
              </a:rPr>
              <a:t>      [115/20] </a:t>
            </a:r>
            <a:r>
              <a:rPr lang="sk-SK" sz="1000" dirty="0" err="1">
                <a:solidFill>
                  <a:schemeClr val="bg1"/>
                </a:solidFill>
                <a:highlight>
                  <a:srgbClr val="0000FF"/>
                </a:highlight>
                <a:latin typeface="Consolas" panose="020B0609020204030204" pitchFamily="49" charset="0"/>
              </a:rPr>
              <a:t>via</a:t>
            </a:r>
            <a:r>
              <a:rPr lang="sk-SK" sz="1000" dirty="0">
                <a:solidFill>
                  <a:schemeClr val="bg1"/>
                </a:solidFill>
                <a:highlight>
                  <a:srgbClr val="0000FF"/>
                </a:highlight>
                <a:latin typeface="Consolas" panose="020B0609020204030204" pitchFamily="49" charset="0"/>
              </a:rPr>
              <a:t> fe80::5054:ff:fe17:af75, 01:51:57, GigabitEthernet0/0/0/0</a:t>
            </a:r>
          </a:p>
          <a:p>
            <a:r>
              <a:rPr lang="sk-SK" sz="1000" dirty="0">
                <a:solidFill>
                  <a:schemeClr val="bg1"/>
                </a:solidFill>
                <a:highlight>
                  <a:srgbClr val="000080"/>
                </a:highlight>
                <a:latin typeface="Consolas" panose="020B0609020204030204" pitchFamily="49" charset="0"/>
              </a:rPr>
              <a:t>i L2 2001:9999::4/128 </a:t>
            </a:r>
          </a:p>
          <a:p>
            <a:r>
              <a:rPr lang="sk-SK" sz="1000" dirty="0">
                <a:solidFill>
                  <a:schemeClr val="bg1"/>
                </a:solidFill>
                <a:highlight>
                  <a:srgbClr val="000080"/>
                </a:highlight>
                <a:latin typeface="Consolas" panose="020B0609020204030204" pitchFamily="49" charset="0"/>
              </a:rPr>
              <a:t>      [115/20] </a:t>
            </a:r>
            <a:r>
              <a:rPr lang="sk-SK" sz="1000" dirty="0" err="1">
                <a:solidFill>
                  <a:schemeClr val="bg1"/>
                </a:solidFill>
                <a:highlight>
                  <a:srgbClr val="000080"/>
                </a:highlight>
                <a:latin typeface="Consolas" panose="020B0609020204030204" pitchFamily="49" charset="0"/>
              </a:rPr>
              <a:t>via</a:t>
            </a:r>
            <a:r>
              <a:rPr lang="sk-SK" sz="1000" dirty="0">
                <a:solidFill>
                  <a:schemeClr val="bg1"/>
                </a:solidFill>
                <a:highlight>
                  <a:srgbClr val="000080"/>
                </a:highlight>
                <a:latin typeface="Consolas" panose="020B0609020204030204" pitchFamily="49" charset="0"/>
              </a:rPr>
              <a:t> fe80::5054:ff:fe17:af75, 01:50:30, GigabitEthernet0/0/0/0</a:t>
            </a:r>
          </a:p>
          <a:p>
            <a:r>
              <a:rPr lang="sk-SK" sz="1000" dirty="0">
                <a:highlight>
                  <a:srgbClr val="00FF00"/>
                </a:highlight>
                <a:latin typeface="Consolas" panose="020B0609020204030204" pitchFamily="49" charset="0"/>
              </a:rPr>
              <a:t>L    fc00:ab00:1:0:1::/128, SRv6 </a:t>
            </a:r>
            <a:r>
              <a:rPr lang="sk-SK" sz="1000" dirty="0" err="1">
                <a:highlight>
                  <a:srgbClr val="00FF00"/>
                </a:highlight>
                <a:latin typeface="Consolas" panose="020B0609020204030204" pitchFamily="49" charset="0"/>
              </a:rPr>
              <a:t>Endpoint</a:t>
            </a:r>
            <a:r>
              <a:rPr lang="sk-SK" sz="1000" dirty="0">
                <a:highlight>
                  <a:srgbClr val="00FF00"/>
                </a:highlight>
                <a:latin typeface="Consolas" panose="020B0609020204030204" pitchFamily="49" charset="0"/>
              </a:rPr>
              <a:t> End (PSP/USD) </a:t>
            </a:r>
          </a:p>
          <a:p>
            <a:r>
              <a:rPr lang="sk-SK" sz="1000" dirty="0">
                <a:highlight>
                  <a:srgbClr val="00FF00"/>
                </a:highlight>
                <a:latin typeface="Consolas" panose="020B0609020204030204" pitchFamily="49" charset="0"/>
              </a:rPr>
              <a:t>      [0/0] </a:t>
            </a:r>
            <a:r>
              <a:rPr lang="sk-SK" sz="1000" dirty="0" err="1">
                <a:highlight>
                  <a:srgbClr val="00FF00"/>
                </a:highlight>
                <a:latin typeface="Consolas" panose="020B0609020204030204" pitchFamily="49" charset="0"/>
              </a:rPr>
              <a:t>via</a:t>
            </a:r>
            <a:r>
              <a:rPr lang="sk-SK" sz="1000" dirty="0">
                <a:highlight>
                  <a:srgbClr val="00FF00"/>
                </a:highlight>
                <a:latin typeface="Consolas" panose="020B0609020204030204" pitchFamily="49" charset="0"/>
              </a:rPr>
              <a:t> ::, 02:48:04</a:t>
            </a:r>
          </a:p>
          <a:p>
            <a:r>
              <a:rPr lang="sk-SK" sz="1000" dirty="0">
                <a:highlight>
                  <a:srgbClr val="00FF00"/>
                </a:highlight>
                <a:latin typeface="Consolas" panose="020B0609020204030204" pitchFamily="49" charset="0"/>
              </a:rPr>
              <a:t>L    fc00:ab00:1:0:40::/128, SRv6 </a:t>
            </a:r>
            <a:r>
              <a:rPr lang="sk-SK" sz="1000" dirty="0" err="1">
                <a:highlight>
                  <a:srgbClr val="00FF00"/>
                </a:highlight>
                <a:latin typeface="Consolas" panose="020B0609020204030204" pitchFamily="49" charset="0"/>
              </a:rPr>
              <a:t>Endpoint</a:t>
            </a:r>
            <a:r>
              <a:rPr lang="sk-SK" sz="1000" dirty="0">
                <a:highlight>
                  <a:srgbClr val="00FF00"/>
                </a:highlight>
                <a:latin typeface="Consolas" panose="020B0609020204030204" pitchFamily="49" charset="0"/>
              </a:rPr>
              <a:t> </a:t>
            </a:r>
            <a:r>
              <a:rPr lang="sk-SK" sz="1000" dirty="0" err="1">
                <a:highlight>
                  <a:srgbClr val="00FF00"/>
                </a:highlight>
                <a:latin typeface="Consolas" panose="020B0609020204030204" pitchFamily="49" charset="0"/>
              </a:rPr>
              <a:t>End.X</a:t>
            </a:r>
            <a:r>
              <a:rPr lang="sk-SK" sz="1000" dirty="0">
                <a:highlight>
                  <a:srgbClr val="00FF00"/>
                </a:highlight>
                <a:latin typeface="Consolas" panose="020B0609020204030204" pitchFamily="49" charset="0"/>
              </a:rPr>
              <a:t> (PSP/USD) </a:t>
            </a:r>
          </a:p>
          <a:p>
            <a:r>
              <a:rPr lang="sk-SK" sz="1000" dirty="0">
                <a:highlight>
                  <a:srgbClr val="00FF00"/>
                </a:highlight>
                <a:latin typeface="Consolas" panose="020B0609020204030204" pitchFamily="49" charset="0"/>
              </a:rPr>
              <a:t>      [0/0] </a:t>
            </a:r>
            <a:r>
              <a:rPr lang="sk-SK" sz="1000" dirty="0" err="1">
                <a:highlight>
                  <a:srgbClr val="00FF00"/>
                </a:highlight>
                <a:latin typeface="Consolas" panose="020B0609020204030204" pitchFamily="49" charset="0"/>
              </a:rPr>
              <a:t>via</a:t>
            </a:r>
            <a:r>
              <a:rPr lang="sk-SK" sz="1000" dirty="0">
                <a:highlight>
                  <a:srgbClr val="00FF00"/>
                </a:highlight>
                <a:latin typeface="Consolas" panose="020B0609020204030204" pitchFamily="49" charset="0"/>
              </a:rPr>
              <a:t> fe80::5054:ff:fe17:af75, 02:45:19, GigabitEthernet0/0/0/0</a:t>
            </a:r>
          </a:p>
          <a:p>
            <a:r>
              <a:rPr lang="sk-SK" sz="1000" dirty="0">
                <a:highlight>
                  <a:srgbClr val="FF00FF"/>
                </a:highlight>
                <a:latin typeface="Consolas" panose="020B0609020204030204" pitchFamily="49" charset="0"/>
              </a:rPr>
              <a:t>i L2 fc00:ab00:2::/64 </a:t>
            </a:r>
          </a:p>
          <a:p>
            <a:r>
              <a:rPr lang="sk-SK" sz="1000" dirty="0">
                <a:highlight>
                  <a:srgbClr val="FF00FF"/>
                </a:highlight>
                <a:latin typeface="Consolas" panose="020B0609020204030204" pitchFamily="49" charset="0"/>
              </a:rPr>
              <a:t>      [115/11] </a:t>
            </a:r>
            <a:r>
              <a:rPr lang="sk-SK" sz="1000" dirty="0" err="1">
                <a:highlight>
                  <a:srgbClr val="FF00FF"/>
                </a:highlight>
                <a:latin typeface="Consolas" panose="020B0609020204030204" pitchFamily="49" charset="0"/>
              </a:rPr>
              <a:t>via</a:t>
            </a:r>
            <a:r>
              <a:rPr lang="sk-SK" sz="1000" dirty="0">
                <a:highlight>
                  <a:srgbClr val="FF00FF"/>
                </a:highlight>
                <a:latin typeface="Consolas" panose="020B0609020204030204" pitchFamily="49" charset="0"/>
              </a:rPr>
              <a:t> fe80::5054:ff:fe17:af75, 01:53:07, GigabitEthernet0/0/0/0</a:t>
            </a:r>
          </a:p>
          <a:p>
            <a:r>
              <a:rPr lang="sk-SK" sz="1000" dirty="0">
                <a:highlight>
                  <a:srgbClr val="FF0000"/>
                </a:highlight>
                <a:latin typeface="Consolas" panose="020B0609020204030204" pitchFamily="49" charset="0"/>
              </a:rPr>
              <a:t>i L2 fc00:ab00:3::/64 </a:t>
            </a:r>
          </a:p>
          <a:p>
            <a:r>
              <a:rPr lang="sk-SK" sz="1000" dirty="0">
                <a:highlight>
                  <a:srgbClr val="FF0000"/>
                </a:highlight>
                <a:latin typeface="Consolas" panose="020B0609020204030204" pitchFamily="49" charset="0"/>
              </a:rPr>
              <a:t>      [115/21] </a:t>
            </a:r>
            <a:r>
              <a:rPr lang="sk-SK" sz="1000" dirty="0" err="1">
                <a:highlight>
                  <a:srgbClr val="FF0000"/>
                </a:highlight>
                <a:latin typeface="Consolas" panose="020B0609020204030204" pitchFamily="49" charset="0"/>
              </a:rPr>
              <a:t>via</a:t>
            </a:r>
            <a:r>
              <a:rPr lang="sk-SK" sz="1000" dirty="0">
                <a:highlight>
                  <a:srgbClr val="FF0000"/>
                </a:highlight>
                <a:latin typeface="Consolas" panose="020B0609020204030204" pitchFamily="49" charset="0"/>
              </a:rPr>
              <a:t> fe80::5054:ff:fe17:af75, 01:51:57, GigabitEthernet0/0/0/0</a:t>
            </a:r>
          </a:p>
          <a:p>
            <a:r>
              <a:rPr lang="sk-SK" sz="1000" dirty="0">
                <a:highlight>
                  <a:srgbClr val="008080"/>
                </a:highlight>
                <a:latin typeface="Consolas" panose="020B0609020204030204" pitchFamily="49" charset="0"/>
              </a:rPr>
              <a:t>i L2 fc00:ab00:4::/64 </a:t>
            </a:r>
          </a:p>
          <a:p>
            <a:r>
              <a:rPr lang="sk-SK" sz="1000" dirty="0">
                <a:highlight>
                  <a:srgbClr val="008080"/>
                </a:highlight>
                <a:latin typeface="Consolas" panose="020B0609020204030204" pitchFamily="49" charset="0"/>
              </a:rPr>
              <a:t>      [115/21] </a:t>
            </a:r>
            <a:r>
              <a:rPr lang="sk-SK" sz="1000" dirty="0" err="1">
                <a:highlight>
                  <a:srgbClr val="008080"/>
                </a:highlight>
                <a:latin typeface="Consolas" panose="020B0609020204030204" pitchFamily="49" charset="0"/>
              </a:rPr>
              <a:t>via</a:t>
            </a:r>
            <a:r>
              <a:rPr lang="sk-SK" sz="1000" dirty="0">
                <a:highlight>
                  <a:srgbClr val="008080"/>
                </a:highlight>
                <a:latin typeface="Consolas" panose="020B0609020204030204" pitchFamily="49" charset="0"/>
              </a:rPr>
              <a:t> fe80::5054:ff:fe17:af75, 01:50:30, GigabitEthernet0/0/0/0</a:t>
            </a:r>
          </a:p>
          <a:p>
            <a:r>
              <a:rPr lang="en-US" sz="1000" dirty="0">
                <a:highlight>
                  <a:srgbClr val="008080"/>
                </a:highlight>
                <a:latin typeface="Consolas" panose="020B0609020204030204" pitchFamily="49" charset="0"/>
              </a:rPr>
              <a:t>-- Cut --</a:t>
            </a:r>
            <a:endParaRPr lang="sk-SK" sz="1000" dirty="0">
              <a:highlight>
                <a:srgbClr val="008080"/>
              </a:highlight>
              <a:latin typeface="Consolas" panose="020B0609020204030204" pitchFamily="49" charset="0"/>
            </a:endParaRPr>
          </a:p>
          <a:p>
            <a:r>
              <a:rPr lang="sk-SK" sz="1000" dirty="0">
                <a:latin typeface="Consolas" panose="020B0609020204030204" pitchFamily="49" charset="0"/>
              </a:rPr>
              <a:t>RP/0/RP0/CPU0:R01# </a:t>
            </a:r>
            <a:endParaRPr lang="sk-SK" sz="10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411712935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2C8C810-2CB6-E947-7135-6DE4DB5D497E}"/>
              </a:ext>
            </a:extLst>
          </p:cNvPr>
          <p:cNvSpPr>
            <a:spLocks noGrp="1"/>
          </p:cNvSpPr>
          <p:nvPr>
            <p:ph type="body" sz="quarter" idx="11"/>
          </p:nvPr>
        </p:nvSpPr>
        <p:spPr/>
        <p:txBody>
          <a:bodyPr/>
          <a:lstStyle/>
          <a:p>
            <a:r>
              <a:rPr lang="en-US" dirty="0"/>
              <a:t>Full SID</a:t>
            </a:r>
          </a:p>
        </p:txBody>
      </p:sp>
      <p:sp>
        <p:nvSpPr>
          <p:cNvPr id="19" name="Rectangle 18">
            <a:extLst>
              <a:ext uri="{FF2B5EF4-FFF2-40B4-BE49-F238E27FC236}">
                <a16:creationId xmlns:a16="http://schemas.microsoft.com/office/drawing/2014/main" id="{14FA83B6-F9AF-8857-BD09-EBA0577B0521}"/>
              </a:ext>
            </a:extLst>
          </p:cNvPr>
          <p:cNvSpPr/>
          <p:nvPr/>
        </p:nvSpPr>
        <p:spPr>
          <a:xfrm>
            <a:off x="0" y="4457343"/>
            <a:ext cx="8613647" cy="2400657"/>
          </a:xfrm>
          <a:prstGeom prst="rect">
            <a:avLst/>
          </a:prstGeom>
          <a:solidFill>
            <a:schemeClr val="bg1">
              <a:lumMod val="95000"/>
            </a:schemeClr>
          </a:solidFill>
          <a:ln>
            <a:solidFill>
              <a:schemeClr val="tx1"/>
            </a:solidFill>
          </a:ln>
          <a:effectLst/>
        </p:spPr>
        <p:txBody>
          <a:bodyPr wrap="square">
            <a:spAutoFit/>
          </a:bodyPr>
          <a:lstStyle/>
          <a:p>
            <a:r>
              <a:rPr lang="sk-SK" sz="1000" dirty="0">
                <a:latin typeface="Consolas" panose="020B0609020204030204" pitchFamily="49" charset="0"/>
              </a:rPr>
              <a:t>RP/0/RP0/CPU0:R02#show segment-routing srv6 </a:t>
            </a:r>
            <a:r>
              <a:rPr lang="sk-SK" sz="1000" dirty="0" err="1">
                <a:latin typeface="Consolas" panose="020B0609020204030204" pitchFamily="49" charset="0"/>
              </a:rPr>
              <a:t>locator</a:t>
            </a:r>
            <a:r>
              <a:rPr lang="sk-SK" sz="1000" dirty="0">
                <a:latin typeface="Consolas" panose="020B0609020204030204" pitchFamily="49" charset="0"/>
              </a:rPr>
              <a:t> </a:t>
            </a:r>
          </a:p>
          <a:p>
            <a:r>
              <a:rPr lang="sk-SK" sz="1000" dirty="0" err="1">
                <a:latin typeface="Consolas" panose="020B0609020204030204" pitchFamily="49" charset="0"/>
              </a:rPr>
              <a:t>Name</a:t>
            </a:r>
            <a:r>
              <a:rPr lang="sk-SK" sz="1000" dirty="0">
                <a:latin typeface="Consolas" panose="020B0609020204030204" pitchFamily="49" charset="0"/>
              </a:rPr>
              <a:t>                  ID       </a:t>
            </a:r>
            <a:r>
              <a:rPr lang="sk-SK" sz="1000" dirty="0" err="1">
                <a:latin typeface="Consolas" panose="020B0609020204030204" pitchFamily="49" charset="0"/>
              </a:rPr>
              <a:t>Algo</a:t>
            </a:r>
            <a:r>
              <a:rPr lang="sk-SK" sz="1000" dirty="0">
                <a:latin typeface="Consolas" panose="020B0609020204030204" pitchFamily="49" charset="0"/>
              </a:rPr>
              <a:t>  Prefix                    Status   </a:t>
            </a:r>
            <a:r>
              <a:rPr lang="sk-SK" sz="1000" dirty="0" err="1">
                <a:latin typeface="Consolas" panose="020B0609020204030204" pitchFamily="49" charset="0"/>
              </a:rPr>
              <a:t>Flags</a:t>
            </a:r>
            <a:r>
              <a:rPr lang="sk-SK" sz="1000" dirty="0">
                <a:latin typeface="Consolas" panose="020B0609020204030204" pitchFamily="49" charset="0"/>
              </a:rPr>
              <a:t>   </a:t>
            </a:r>
          </a:p>
          <a:p>
            <a:r>
              <a:rPr lang="sk-SK" sz="1000" dirty="0">
                <a:latin typeface="Consolas" panose="020B0609020204030204" pitchFamily="49" charset="0"/>
              </a:rPr>
              <a:t>--------------------  -------  ----  ------------------------  -------  --------</a:t>
            </a:r>
          </a:p>
          <a:p>
            <a:r>
              <a:rPr lang="sk-SK" sz="1000" dirty="0">
                <a:latin typeface="Consolas" panose="020B0609020204030204" pitchFamily="49" charset="0"/>
              </a:rPr>
              <a:t>MyFullLoc01           1        0     fc00:ab00:2::/64          </a:t>
            </a:r>
            <a:r>
              <a:rPr lang="sk-SK" sz="1000" dirty="0" err="1">
                <a:latin typeface="Consolas" panose="020B0609020204030204" pitchFamily="49" charset="0"/>
              </a:rPr>
              <a:t>Up</a:t>
            </a:r>
            <a:r>
              <a:rPr lang="sk-SK" sz="1000" dirty="0">
                <a:latin typeface="Consolas" panose="020B0609020204030204" pitchFamily="49" charset="0"/>
              </a:rPr>
              <a:t>               </a:t>
            </a:r>
          </a:p>
          <a:p>
            <a:r>
              <a:rPr lang="sk-SK" sz="1000" dirty="0">
                <a:latin typeface="Consolas" panose="020B0609020204030204" pitchFamily="49" charset="0"/>
              </a:rPr>
              <a:t>RP/0/RP0/CPU0:R02#show segment-routing srv6 </a:t>
            </a:r>
            <a:r>
              <a:rPr lang="sk-SK" sz="1000" dirty="0" err="1">
                <a:latin typeface="Consolas" panose="020B0609020204030204" pitchFamily="49" charset="0"/>
              </a:rPr>
              <a:t>sid</a:t>
            </a:r>
            <a:r>
              <a:rPr lang="sk-SK" sz="1000" dirty="0">
                <a:latin typeface="Consolas" panose="020B0609020204030204" pitchFamily="49" charset="0"/>
              </a:rPr>
              <a:t> </a:t>
            </a:r>
            <a:r>
              <a:rPr lang="sk-SK" sz="1000" dirty="0" err="1">
                <a:latin typeface="Consolas" panose="020B0609020204030204" pitchFamily="49" charset="0"/>
              </a:rPr>
              <a:t>all</a:t>
            </a:r>
            <a:r>
              <a:rPr lang="sk-SK" sz="1000" dirty="0">
                <a:latin typeface="Consolas" panose="020B0609020204030204" pitchFamily="49" charset="0"/>
              </a:rPr>
              <a:t> </a:t>
            </a:r>
          </a:p>
          <a:p>
            <a:endParaRPr lang="sk-SK" sz="1000" dirty="0">
              <a:latin typeface="Consolas" panose="020B0609020204030204" pitchFamily="49" charset="0"/>
            </a:endParaRPr>
          </a:p>
          <a:p>
            <a:r>
              <a:rPr lang="sk-SK" sz="1000" dirty="0">
                <a:latin typeface="Consolas" panose="020B0609020204030204" pitchFamily="49" charset="0"/>
              </a:rPr>
              <a:t>*** </a:t>
            </a:r>
            <a:r>
              <a:rPr lang="sk-SK" sz="1000" dirty="0" err="1">
                <a:latin typeface="Consolas" panose="020B0609020204030204" pitchFamily="49" charset="0"/>
              </a:rPr>
              <a:t>Locator</a:t>
            </a:r>
            <a:r>
              <a:rPr lang="sk-SK" sz="1000" dirty="0">
                <a:latin typeface="Consolas" panose="020B0609020204030204" pitchFamily="49" charset="0"/>
              </a:rPr>
              <a:t>: 'MyFullLoc01' *** </a:t>
            </a:r>
          </a:p>
          <a:p>
            <a:endParaRPr lang="sk-SK" sz="1000" dirty="0">
              <a:latin typeface="Consolas" panose="020B0609020204030204" pitchFamily="49" charset="0"/>
            </a:endParaRPr>
          </a:p>
          <a:p>
            <a:r>
              <a:rPr lang="sk-SK" sz="1000" dirty="0">
                <a:latin typeface="Consolas" panose="020B0609020204030204" pitchFamily="49" charset="0"/>
              </a:rPr>
              <a:t>SID                         </a:t>
            </a:r>
            <a:r>
              <a:rPr lang="sk-SK" sz="1000" dirty="0" err="1">
                <a:latin typeface="Consolas" panose="020B0609020204030204" pitchFamily="49" charset="0"/>
              </a:rPr>
              <a:t>Behavior</a:t>
            </a:r>
            <a:r>
              <a:rPr lang="sk-SK" sz="1000" dirty="0">
                <a:latin typeface="Consolas" panose="020B0609020204030204" pitchFamily="49" charset="0"/>
              </a:rPr>
              <a:t>          </a:t>
            </a:r>
            <a:r>
              <a:rPr lang="sk-SK" sz="1000" dirty="0" err="1">
                <a:latin typeface="Consolas" panose="020B0609020204030204" pitchFamily="49" charset="0"/>
              </a:rPr>
              <a:t>Context</a:t>
            </a:r>
            <a:r>
              <a:rPr lang="sk-SK" sz="1000" dirty="0">
                <a:latin typeface="Consolas" panose="020B0609020204030204" pitchFamily="49" charset="0"/>
              </a:rPr>
              <a:t>                           </a:t>
            </a:r>
            <a:r>
              <a:rPr lang="sk-SK" sz="1000" dirty="0" err="1">
                <a:latin typeface="Consolas" panose="020B0609020204030204" pitchFamily="49" charset="0"/>
              </a:rPr>
              <a:t>Owner</a:t>
            </a:r>
            <a:r>
              <a:rPr lang="sk-SK" sz="1000" dirty="0">
                <a:latin typeface="Consolas" panose="020B0609020204030204" pitchFamily="49" charset="0"/>
              </a:rPr>
              <a:t>               State  RW</a:t>
            </a:r>
          </a:p>
          <a:p>
            <a:r>
              <a:rPr lang="sk-SK" sz="1000" dirty="0">
                <a:latin typeface="Consolas" panose="020B0609020204030204" pitchFamily="49" charset="0"/>
              </a:rPr>
              <a:t>--------------------------  ----------------  --------------------------------  ------------------  -----  --</a:t>
            </a:r>
          </a:p>
          <a:p>
            <a:r>
              <a:rPr lang="sk-SK" sz="1000" dirty="0">
                <a:highlight>
                  <a:srgbClr val="FF00FF"/>
                </a:highlight>
                <a:latin typeface="Consolas" panose="020B0609020204030204" pitchFamily="49" charset="0"/>
              </a:rPr>
              <a:t>fc00:ab00:2:0:1::           End (PSP/USD)     'default':1                       </a:t>
            </a:r>
            <a:r>
              <a:rPr lang="sk-SK" sz="1000" dirty="0" err="1">
                <a:highlight>
                  <a:srgbClr val="FF00FF"/>
                </a:highlight>
                <a:latin typeface="Consolas" panose="020B0609020204030204" pitchFamily="49" charset="0"/>
              </a:rPr>
              <a:t>sidmgr</a:t>
            </a:r>
            <a:r>
              <a:rPr lang="sk-SK" sz="1000" dirty="0">
                <a:highlight>
                  <a:srgbClr val="FF00FF"/>
                </a:highlight>
                <a:latin typeface="Consolas" panose="020B0609020204030204" pitchFamily="49" charset="0"/>
              </a:rPr>
              <a:t>              </a:t>
            </a:r>
            <a:r>
              <a:rPr lang="sk-SK" sz="1000" dirty="0" err="1">
                <a:highlight>
                  <a:srgbClr val="FF00FF"/>
                </a:highlight>
                <a:latin typeface="Consolas" panose="020B0609020204030204" pitchFamily="49" charset="0"/>
              </a:rPr>
              <a:t>InUse</a:t>
            </a:r>
            <a:r>
              <a:rPr lang="sk-SK" sz="1000" dirty="0">
                <a:highlight>
                  <a:srgbClr val="FF00FF"/>
                </a:highlight>
                <a:latin typeface="Consolas" panose="020B0609020204030204" pitchFamily="49" charset="0"/>
              </a:rPr>
              <a:t>  Y </a:t>
            </a:r>
          </a:p>
          <a:p>
            <a:r>
              <a:rPr lang="sk-SK" sz="1000" dirty="0">
                <a:highlight>
                  <a:srgbClr val="FF00FF"/>
                </a:highlight>
                <a:latin typeface="Consolas" panose="020B0609020204030204" pitchFamily="49" charset="0"/>
              </a:rPr>
              <a:t>fc00:ab00:2:0:40::          </a:t>
            </a:r>
            <a:r>
              <a:rPr lang="sk-SK" sz="1000" dirty="0" err="1">
                <a:highlight>
                  <a:srgbClr val="FF00FF"/>
                </a:highlight>
                <a:latin typeface="Consolas" panose="020B0609020204030204" pitchFamily="49" charset="0"/>
              </a:rPr>
              <a:t>End.X</a:t>
            </a:r>
            <a:r>
              <a:rPr lang="sk-SK" sz="1000" dirty="0">
                <a:highlight>
                  <a:srgbClr val="FF00FF"/>
                </a:highlight>
                <a:latin typeface="Consolas" panose="020B0609020204030204" pitchFamily="49" charset="0"/>
              </a:rPr>
              <a:t> (PSP/USD)   [Gi0/0/0/2, </a:t>
            </a:r>
            <a:r>
              <a:rPr lang="sk-SK" sz="1000" dirty="0" err="1">
                <a:highlight>
                  <a:srgbClr val="FF00FF"/>
                </a:highlight>
                <a:latin typeface="Consolas" panose="020B0609020204030204" pitchFamily="49" charset="0"/>
              </a:rPr>
              <a:t>Link-Local</a:t>
            </a:r>
            <a:r>
              <a:rPr lang="sk-SK" sz="1000" dirty="0">
                <a:highlight>
                  <a:srgbClr val="FF00FF"/>
                </a:highlight>
                <a:latin typeface="Consolas" panose="020B0609020204030204" pitchFamily="49" charset="0"/>
              </a:rPr>
              <a:t>]           isis-1              </a:t>
            </a:r>
            <a:r>
              <a:rPr lang="sk-SK" sz="1000" dirty="0" err="1">
                <a:highlight>
                  <a:srgbClr val="FF00FF"/>
                </a:highlight>
                <a:latin typeface="Consolas" panose="020B0609020204030204" pitchFamily="49" charset="0"/>
              </a:rPr>
              <a:t>InUse</a:t>
            </a:r>
            <a:r>
              <a:rPr lang="sk-SK" sz="1000" dirty="0">
                <a:highlight>
                  <a:srgbClr val="FF00FF"/>
                </a:highlight>
                <a:latin typeface="Consolas" panose="020B0609020204030204" pitchFamily="49" charset="0"/>
              </a:rPr>
              <a:t>  Y </a:t>
            </a:r>
          </a:p>
          <a:p>
            <a:r>
              <a:rPr lang="sk-SK" sz="1000" dirty="0">
                <a:highlight>
                  <a:srgbClr val="FF00FF"/>
                </a:highlight>
                <a:latin typeface="Consolas" panose="020B0609020204030204" pitchFamily="49" charset="0"/>
              </a:rPr>
              <a:t>fc00:ab00:2:0:41::          </a:t>
            </a:r>
            <a:r>
              <a:rPr lang="sk-SK" sz="1000" dirty="0" err="1">
                <a:highlight>
                  <a:srgbClr val="FF00FF"/>
                </a:highlight>
                <a:latin typeface="Consolas" panose="020B0609020204030204" pitchFamily="49" charset="0"/>
              </a:rPr>
              <a:t>End.X</a:t>
            </a:r>
            <a:r>
              <a:rPr lang="sk-SK" sz="1000" dirty="0">
                <a:highlight>
                  <a:srgbClr val="FF00FF"/>
                </a:highlight>
                <a:latin typeface="Consolas" panose="020B0609020204030204" pitchFamily="49" charset="0"/>
              </a:rPr>
              <a:t> (PSP/USD)   [Gi0/0/0/0, </a:t>
            </a:r>
            <a:r>
              <a:rPr lang="sk-SK" sz="1000" dirty="0" err="1">
                <a:highlight>
                  <a:srgbClr val="FF00FF"/>
                </a:highlight>
                <a:latin typeface="Consolas" panose="020B0609020204030204" pitchFamily="49" charset="0"/>
              </a:rPr>
              <a:t>Link-Local</a:t>
            </a:r>
            <a:r>
              <a:rPr lang="sk-SK" sz="1000" dirty="0">
                <a:highlight>
                  <a:srgbClr val="FF00FF"/>
                </a:highlight>
                <a:latin typeface="Consolas" panose="020B0609020204030204" pitchFamily="49" charset="0"/>
              </a:rPr>
              <a:t>]           isis-1              </a:t>
            </a:r>
            <a:r>
              <a:rPr lang="sk-SK" sz="1000" dirty="0" err="1">
                <a:highlight>
                  <a:srgbClr val="FF00FF"/>
                </a:highlight>
                <a:latin typeface="Consolas" panose="020B0609020204030204" pitchFamily="49" charset="0"/>
              </a:rPr>
              <a:t>InUse</a:t>
            </a:r>
            <a:r>
              <a:rPr lang="sk-SK" sz="1000" dirty="0">
                <a:highlight>
                  <a:srgbClr val="FF00FF"/>
                </a:highlight>
                <a:latin typeface="Consolas" panose="020B0609020204030204" pitchFamily="49" charset="0"/>
              </a:rPr>
              <a:t>  Y </a:t>
            </a:r>
          </a:p>
          <a:p>
            <a:r>
              <a:rPr lang="sk-SK" sz="1000" dirty="0">
                <a:highlight>
                  <a:srgbClr val="FF00FF"/>
                </a:highlight>
                <a:latin typeface="Consolas" panose="020B0609020204030204" pitchFamily="49" charset="0"/>
              </a:rPr>
              <a:t>fc00:ab00:2:0:42::          </a:t>
            </a:r>
            <a:r>
              <a:rPr lang="sk-SK" sz="1000" dirty="0" err="1">
                <a:highlight>
                  <a:srgbClr val="FF00FF"/>
                </a:highlight>
                <a:latin typeface="Consolas" panose="020B0609020204030204" pitchFamily="49" charset="0"/>
              </a:rPr>
              <a:t>End.X</a:t>
            </a:r>
            <a:r>
              <a:rPr lang="sk-SK" sz="1000" dirty="0">
                <a:highlight>
                  <a:srgbClr val="FF00FF"/>
                </a:highlight>
                <a:latin typeface="Consolas" panose="020B0609020204030204" pitchFamily="49" charset="0"/>
              </a:rPr>
              <a:t> (PSP/USD)   [Gi0/0/0/4, </a:t>
            </a:r>
            <a:r>
              <a:rPr lang="sk-SK" sz="1000" dirty="0" err="1">
                <a:highlight>
                  <a:srgbClr val="FF00FF"/>
                </a:highlight>
                <a:latin typeface="Consolas" panose="020B0609020204030204" pitchFamily="49" charset="0"/>
              </a:rPr>
              <a:t>Link-Local</a:t>
            </a:r>
            <a:r>
              <a:rPr lang="sk-SK" sz="1000" dirty="0">
                <a:highlight>
                  <a:srgbClr val="FF00FF"/>
                </a:highlight>
                <a:latin typeface="Consolas" panose="020B0609020204030204" pitchFamily="49" charset="0"/>
              </a:rPr>
              <a:t>]           isis-1              </a:t>
            </a:r>
            <a:r>
              <a:rPr lang="sk-SK" sz="1000" dirty="0" err="1">
                <a:highlight>
                  <a:srgbClr val="FF00FF"/>
                </a:highlight>
                <a:latin typeface="Consolas" panose="020B0609020204030204" pitchFamily="49" charset="0"/>
              </a:rPr>
              <a:t>InUse</a:t>
            </a:r>
            <a:r>
              <a:rPr lang="sk-SK" sz="1000" dirty="0">
                <a:highlight>
                  <a:srgbClr val="FF00FF"/>
                </a:highlight>
                <a:latin typeface="Consolas" panose="020B0609020204030204" pitchFamily="49" charset="0"/>
              </a:rPr>
              <a:t>  Y </a:t>
            </a:r>
          </a:p>
          <a:p>
            <a:r>
              <a:rPr lang="sk-SK" sz="1000" dirty="0">
                <a:latin typeface="Consolas" panose="020B0609020204030204" pitchFamily="49" charset="0"/>
              </a:rPr>
              <a:t>RP/0/RP0/CPU0:R02#</a:t>
            </a:r>
            <a:endParaRPr lang="sk-SK" sz="1000" dirty="0">
              <a:solidFill>
                <a:srgbClr val="FF0000"/>
              </a:solidFill>
              <a:latin typeface="Consolas" panose="020B0609020204030204" pitchFamily="49" charset="0"/>
            </a:endParaRPr>
          </a:p>
        </p:txBody>
      </p:sp>
      <p:pic>
        <p:nvPicPr>
          <p:cNvPr id="23" name="Picture 22" descr="A diagram of a network&#10;&#10;Description automatically generated">
            <a:extLst>
              <a:ext uri="{FF2B5EF4-FFF2-40B4-BE49-F238E27FC236}">
                <a16:creationId xmlns:a16="http://schemas.microsoft.com/office/drawing/2014/main" id="{D85336B3-FEBA-AABA-3898-FABD567975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4718" y="44814"/>
            <a:ext cx="9257282" cy="1713245"/>
          </a:xfrm>
          <a:prstGeom prst="rect">
            <a:avLst/>
          </a:prstGeom>
        </p:spPr>
      </p:pic>
      <p:sp>
        <p:nvSpPr>
          <p:cNvPr id="21" name="Rectangle 20">
            <a:extLst>
              <a:ext uri="{FF2B5EF4-FFF2-40B4-BE49-F238E27FC236}">
                <a16:creationId xmlns:a16="http://schemas.microsoft.com/office/drawing/2014/main" id="{0F650007-BBAE-8DD1-5CC0-090B2134B029}"/>
              </a:ext>
            </a:extLst>
          </p:cNvPr>
          <p:cNvSpPr/>
          <p:nvPr/>
        </p:nvSpPr>
        <p:spPr>
          <a:xfrm>
            <a:off x="6611874" y="397064"/>
            <a:ext cx="642366" cy="701769"/>
          </a:xfrm>
          <a:prstGeom prst="rect">
            <a:avLst/>
          </a:prstGeom>
          <a:noFill/>
          <a:ln w="254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A230AD45-DE09-0369-F10B-30642BF7FAB6}"/>
              </a:ext>
            </a:extLst>
          </p:cNvPr>
          <p:cNvSpPr>
            <a:spLocks noGrp="1"/>
          </p:cNvSpPr>
          <p:nvPr>
            <p:ph type="body" sz="quarter" idx="10"/>
          </p:nvPr>
        </p:nvSpPr>
        <p:spPr>
          <a:xfrm>
            <a:off x="110490" y="1437211"/>
            <a:ext cx="4809744" cy="2182098"/>
          </a:xfrm>
        </p:spPr>
        <p:txBody>
          <a:bodyPr/>
          <a:lstStyle/>
          <a:p>
            <a:r>
              <a:rPr lang="en-US" sz="1400" dirty="0"/>
              <a:t>R01: </a:t>
            </a:r>
            <a:r>
              <a:rPr lang="en-US" sz="1400" dirty="0">
                <a:highlight>
                  <a:srgbClr val="FFFF00"/>
                </a:highlight>
              </a:rPr>
              <a:t>Lo0=2001:9999::1/128</a:t>
            </a:r>
            <a:r>
              <a:rPr lang="en-US" sz="1400" dirty="0"/>
              <a:t>; </a:t>
            </a:r>
            <a:r>
              <a:rPr lang="en-US" sz="1400" dirty="0">
                <a:highlight>
                  <a:srgbClr val="00FF00"/>
                </a:highlight>
              </a:rPr>
              <a:t>Locator=fc00:ab00:1::/64</a:t>
            </a:r>
            <a:r>
              <a:rPr lang="en-US" sz="1400" dirty="0"/>
              <a:t>; NET=49.0001.0000.0000.0001.00</a:t>
            </a:r>
          </a:p>
          <a:p>
            <a:r>
              <a:rPr lang="en-US" sz="1400" dirty="0"/>
              <a:t>R02: </a:t>
            </a:r>
            <a:r>
              <a:rPr lang="en-US" sz="1400" dirty="0">
                <a:highlight>
                  <a:srgbClr val="00FFFF"/>
                </a:highlight>
              </a:rPr>
              <a:t>Lo0=2001:9999::2/128</a:t>
            </a:r>
            <a:r>
              <a:rPr lang="en-US" sz="1400" dirty="0"/>
              <a:t>; </a:t>
            </a:r>
            <a:r>
              <a:rPr lang="en-US" sz="1400" dirty="0">
                <a:highlight>
                  <a:srgbClr val="FF00FF"/>
                </a:highlight>
              </a:rPr>
              <a:t>Locator=fc00:ab00:2::/64</a:t>
            </a:r>
            <a:r>
              <a:rPr lang="en-US" sz="1400" dirty="0"/>
              <a:t>; NET=49.0001.0000.0000.0002.00</a:t>
            </a:r>
          </a:p>
          <a:p>
            <a:r>
              <a:rPr lang="en-US" sz="1400" dirty="0"/>
              <a:t>R03: </a:t>
            </a:r>
            <a:r>
              <a:rPr lang="en-US" sz="1400" dirty="0">
                <a:solidFill>
                  <a:schemeClr val="bg1"/>
                </a:solidFill>
                <a:highlight>
                  <a:srgbClr val="0000FF"/>
                </a:highlight>
              </a:rPr>
              <a:t>Lo0=2001:9999::3/128</a:t>
            </a:r>
            <a:r>
              <a:rPr lang="en-US" sz="1400" dirty="0"/>
              <a:t>; </a:t>
            </a:r>
            <a:r>
              <a:rPr lang="en-US" sz="1400" dirty="0">
                <a:highlight>
                  <a:srgbClr val="FF0000"/>
                </a:highlight>
              </a:rPr>
              <a:t>Locator=fc00:ab00:3::/64</a:t>
            </a:r>
            <a:r>
              <a:rPr lang="en-US" sz="1400" dirty="0"/>
              <a:t>; NET=49.0001.0000.0000.0003.00</a:t>
            </a:r>
          </a:p>
          <a:p>
            <a:r>
              <a:rPr lang="en-US" sz="1400" dirty="0"/>
              <a:t>R04: </a:t>
            </a:r>
            <a:r>
              <a:rPr lang="en-US" sz="1400" dirty="0">
                <a:solidFill>
                  <a:schemeClr val="bg1"/>
                </a:solidFill>
                <a:highlight>
                  <a:srgbClr val="000080"/>
                </a:highlight>
              </a:rPr>
              <a:t>Lo0=2001:9999::4/128</a:t>
            </a:r>
            <a:r>
              <a:rPr lang="en-US" sz="1400" dirty="0"/>
              <a:t>; </a:t>
            </a:r>
            <a:r>
              <a:rPr lang="en-US" sz="1400" dirty="0">
                <a:highlight>
                  <a:srgbClr val="008080"/>
                </a:highlight>
              </a:rPr>
              <a:t>Locator=fc00:ab00:4::/64</a:t>
            </a:r>
            <a:r>
              <a:rPr lang="en-US" sz="1400" dirty="0"/>
              <a:t>; NET=49.0001.0000.0000.0004.00</a:t>
            </a:r>
          </a:p>
          <a:p>
            <a:endParaRPr lang="en-US" sz="1400" dirty="0"/>
          </a:p>
        </p:txBody>
      </p:sp>
      <p:sp>
        <p:nvSpPr>
          <p:cNvPr id="7" name="Rectangle 6">
            <a:extLst>
              <a:ext uri="{FF2B5EF4-FFF2-40B4-BE49-F238E27FC236}">
                <a16:creationId xmlns:a16="http://schemas.microsoft.com/office/drawing/2014/main" id="{0967F153-BAB2-037A-945A-78B4F6704383}"/>
              </a:ext>
            </a:extLst>
          </p:cNvPr>
          <p:cNvSpPr/>
          <p:nvPr/>
        </p:nvSpPr>
        <p:spPr>
          <a:xfrm>
            <a:off x="6217919" y="1726483"/>
            <a:ext cx="5974081" cy="4401205"/>
          </a:xfrm>
          <a:prstGeom prst="rect">
            <a:avLst/>
          </a:prstGeom>
          <a:solidFill>
            <a:schemeClr val="bg1">
              <a:lumMod val="95000"/>
            </a:schemeClr>
          </a:solidFill>
          <a:ln>
            <a:solidFill>
              <a:schemeClr val="tx1"/>
            </a:solidFill>
          </a:ln>
          <a:effectLst/>
        </p:spPr>
        <p:txBody>
          <a:bodyPr wrap="square">
            <a:spAutoFit/>
          </a:bodyPr>
          <a:lstStyle/>
          <a:p>
            <a:r>
              <a:rPr lang="sk-SK" sz="1000" dirty="0">
                <a:latin typeface="Consolas" panose="020B0609020204030204" pitchFamily="49" charset="0"/>
              </a:rPr>
              <a:t>RP/0/RP0/CPU0:</a:t>
            </a:r>
            <a:r>
              <a:rPr lang="sk-SK" sz="1000" b="1" dirty="0">
                <a:latin typeface="Consolas" panose="020B0609020204030204" pitchFamily="49" charset="0"/>
              </a:rPr>
              <a:t>R02</a:t>
            </a:r>
            <a:r>
              <a:rPr lang="sk-SK" sz="1000" dirty="0">
                <a:latin typeface="Consolas" panose="020B0609020204030204" pitchFamily="49" charset="0"/>
              </a:rPr>
              <a:t>#sh </a:t>
            </a:r>
            <a:r>
              <a:rPr lang="sk-SK" sz="1000" dirty="0" err="1">
                <a:latin typeface="Consolas" panose="020B0609020204030204" pitchFamily="49" charset="0"/>
              </a:rPr>
              <a:t>route</a:t>
            </a:r>
            <a:r>
              <a:rPr lang="sk-SK" sz="1000" dirty="0">
                <a:latin typeface="Consolas" panose="020B0609020204030204" pitchFamily="49" charset="0"/>
              </a:rPr>
              <a:t> ipv6</a:t>
            </a:r>
          </a:p>
          <a:p>
            <a:r>
              <a:rPr lang="sk-SK" sz="1000" dirty="0">
                <a:latin typeface="Consolas" panose="020B0609020204030204" pitchFamily="49" charset="0"/>
              </a:rPr>
              <a:t>-- </a:t>
            </a:r>
            <a:r>
              <a:rPr lang="sk-SK" sz="1000" dirty="0" err="1">
                <a:latin typeface="Consolas" panose="020B0609020204030204" pitchFamily="49" charset="0"/>
              </a:rPr>
              <a:t>Cut</a:t>
            </a:r>
            <a:r>
              <a:rPr lang="sk-SK" sz="1000" dirty="0">
                <a:latin typeface="Consolas" panose="020B0609020204030204" pitchFamily="49" charset="0"/>
              </a:rPr>
              <a:t> --</a:t>
            </a:r>
          </a:p>
          <a:p>
            <a:r>
              <a:rPr lang="sk-SK" sz="1000" dirty="0">
                <a:latin typeface="Consolas" panose="020B0609020204030204" pitchFamily="49" charset="0"/>
              </a:rPr>
              <a:t>L    ::ffff:127.0.0.0/104 </a:t>
            </a:r>
          </a:p>
          <a:p>
            <a:r>
              <a:rPr lang="sk-SK" sz="1000" dirty="0">
                <a:latin typeface="Consolas" panose="020B0609020204030204" pitchFamily="49" charset="0"/>
              </a:rPr>
              <a:t>      [0/0] </a:t>
            </a:r>
            <a:r>
              <a:rPr lang="sk-SK" sz="1000" dirty="0" err="1">
                <a:latin typeface="Consolas" panose="020B0609020204030204" pitchFamily="49" charset="0"/>
              </a:rPr>
              <a:t>via</a:t>
            </a:r>
            <a:r>
              <a:rPr lang="sk-SK" sz="1000" dirty="0">
                <a:latin typeface="Consolas" panose="020B0609020204030204" pitchFamily="49" charset="0"/>
              </a:rPr>
              <a:t> ::, 03:21:51</a:t>
            </a:r>
          </a:p>
          <a:p>
            <a:r>
              <a:rPr lang="sk-SK" sz="1000" dirty="0">
                <a:highlight>
                  <a:srgbClr val="FFFF00"/>
                </a:highlight>
                <a:latin typeface="Consolas" panose="020B0609020204030204" pitchFamily="49" charset="0"/>
              </a:rPr>
              <a:t>i L2 2001:9999::1/128 </a:t>
            </a:r>
          </a:p>
          <a:p>
            <a:r>
              <a:rPr lang="sk-SK" sz="1000" dirty="0">
                <a:highlight>
                  <a:srgbClr val="FFFF00"/>
                </a:highlight>
                <a:latin typeface="Consolas" panose="020B0609020204030204" pitchFamily="49" charset="0"/>
              </a:rPr>
              <a:t>      [115/10] </a:t>
            </a:r>
            <a:r>
              <a:rPr lang="sk-SK" sz="1000" dirty="0" err="1">
                <a:highlight>
                  <a:srgbClr val="FFFF00"/>
                </a:highlight>
                <a:latin typeface="Consolas" panose="020B0609020204030204" pitchFamily="49" charset="0"/>
              </a:rPr>
              <a:t>via</a:t>
            </a:r>
            <a:r>
              <a:rPr lang="sk-SK" sz="1000" dirty="0">
                <a:highlight>
                  <a:srgbClr val="FFFF00"/>
                </a:highlight>
                <a:latin typeface="Consolas" panose="020B0609020204030204" pitchFamily="49" charset="0"/>
              </a:rPr>
              <a:t> fe80::5054:ff:fe14:94d4, 02:29:44, GigabitEthernet0/0/0/0</a:t>
            </a:r>
          </a:p>
          <a:p>
            <a:r>
              <a:rPr lang="sk-SK" sz="1000" dirty="0">
                <a:highlight>
                  <a:srgbClr val="00FFFF"/>
                </a:highlight>
                <a:latin typeface="Consolas" panose="020B0609020204030204" pitchFamily="49" charset="0"/>
              </a:rPr>
              <a:t>L    2001:9999::2/128 </a:t>
            </a:r>
            <a:r>
              <a:rPr lang="sk-SK" sz="1000" dirty="0" err="1">
                <a:highlight>
                  <a:srgbClr val="00FFFF"/>
                </a:highlight>
                <a:latin typeface="Consolas" panose="020B0609020204030204" pitchFamily="49" charset="0"/>
              </a:rPr>
              <a:t>is</a:t>
            </a:r>
            <a:r>
              <a:rPr lang="sk-SK" sz="1000" dirty="0">
                <a:highlight>
                  <a:srgbClr val="00FFFF"/>
                </a:highlight>
                <a:latin typeface="Consolas" panose="020B0609020204030204" pitchFamily="49" charset="0"/>
              </a:rPr>
              <a:t> </a:t>
            </a:r>
            <a:r>
              <a:rPr lang="sk-SK" sz="1000" dirty="0" err="1">
                <a:highlight>
                  <a:srgbClr val="00FFFF"/>
                </a:highlight>
                <a:latin typeface="Consolas" panose="020B0609020204030204" pitchFamily="49" charset="0"/>
              </a:rPr>
              <a:t>directly</a:t>
            </a:r>
            <a:r>
              <a:rPr lang="sk-SK" sz="1000" dirty="0">
                <a:highlight>
                  <a:srgbClr val="00FFFF"/>
                </a:highlight>
                <a:latin typeface="Consolas" panose="020B0609020204030204" pitchFamily="49" charset="0"/>
              </a:rPr>
              <a:t> </a:t>
            </a:r>
            <a:r>
              <a:rPr lang="sk-SK" sz="1000" dirty="0" err="1">
                <a:highlight>
                  <a:srgbClr val="00FFFF"/>
                </a:highlight>
                <a:latin typeface="Consolas" panose="020B0609020204030204" pitchFamily="49" charset="0"/>
              </a:rPr>
              <a:t>connected</a:t>
            </a:r>
            <a:r>
              <a:rPr lang="sk-SK" sz="1000" dirty="0">
                <a:highlight>
                  <a:srgbClr val="00FFFF"/>
                </a:highlight>
                <a:latin typeface="Consolas" panose="020B0609020204030204" pitchFamily="49" charset="0"/>
              </a:rPr>
              <a:t>,</a:t>
            </a:r>
          </a:p>
          <a:p>
            <a:r>
              <a:rPr lang="sk-SK" sz="1000" dirty="0">
                <a:highlight>
                  <a:srgbClr val="00FFFF"/>
                </a:highlight>
                <a:latin typeface="Consolas" panose="020B0609020204030204" pitchFamily="49" charset="0"/>
              </a:rPr>
              <a:t>      02:28:14, Loopback0</a:t>
            </a:r>
          </a:p>
          <a:p>
            <a:r>
              <a:rPr lang="sk-SK" sz="1000" dirty="0">
                <a:solidFill>
                  <a:schemeClr val="bg1"/>
                </a:solidFill>
                <a:highlight>
                  <a:srgbClr val="0000FF"/>
                </a:highlight>
                <a:latin typeface="Consolas" panose="020B0609020204030204" pitchFamily="49" charset="0"/>
              </a:rPr>
              <a:t>i L2 2001:9999::3/128 </a:t>
            </a:r>
          </a:p>
          <a:p>
            <a:r>
              <a:rPr lang="sk-SK" sz="1000" dirty="0">
                <a:solidFill>
                  <a:schemeClr val="bg1"/>
                </a:solidFill>
                <a:highlight>
                  <a:srgbClr val="0000FF"/>
                </a:highlight>
                <a:latin typeface="Consolas" panose="020B0609020204030204" pitchFamily="49" charset="0"/>
              </a:rPr>
              <a:t>      [115/10] </a:t>
            </a:r>
            <a:r>
              <a:rPr lang="sk-SK" sz="1000" dirty="0" err="1">
                <a:solidFill>
                  <a:schemeClr val="bg1"/>
                </a:solidFill>
                <a:highlight>
                  <a:srgbClr val="0000FF"/>
                </a:highlight>
                <a:latin typeface="Consolas" panose="020B0609020204030204" pitchFamily="49" charset="0"/>
              </a:rPr>
              <a:t>via</a:t>
            </a:r>
            <a:r>
              <a:rPr lang="sk-SK" sz="1000" dirty="0">
                <a:solidFill>
                  <a:schemeClr val="bg1"/>
                </a:solidFill>
                <a:highlight>
                  <a:srgbClr val="0000FF"/>
                </a:highlight>
                <a:latin typeface="Consolas" panose="020B0609020204030204" pitchFamily="49" charset="0"/>
              </a:rPr>
              <a:t> fe80::5054:ff:fe1c:96f4, 02:27:03, GigabitEthernet0/0/0/2</a:t>
            </a:r>
          </a:p>
          <a:p>
            <a:r>
              <a:rPr lang="sk-SK" sz="1000" dirty="0">
                <a:solidFill>
                  <a:schemeClr val="bg1"/>
                </a:solidFill>
                <a:highlight>
                  <a:srgbClr val="000080"/>
                </a:highlight>
                <a:latin typeface="Consolas" panose="020B0609020204030204" pitchFamily="49" charset="0"/>
              </a:rPr>
              <a:t>i L2 2001:9999::4/128 </a:t>
            </a:r>
          </a:p>
          <a:p>
            <a:r>
              <a:rPr lang="sk-SK" sz="1000" dirty="0">
                <a:solidFill>
                  <a:schemeClr val="bg1"/>
                </a:solidFill>
                <a:highlight>
                  <a:srgbClr val="000080"/>
                </a:highlight>
                <a:latin typeface="Consolas" panose="020B0609020204030204" pitchFamily="49" charset="0"/>
              </a:rPr>
              <a:t>      [115/10] </a:t>
            </a:r>
            <a:r>
              <a:rPr lang="sk-SK" sz="1000" dirty="0" err="1">
                <a:solidFill>
                  <a:schemeClr val="bg1"/>
                </a:solidFill>
                <a:highlight>
                  <a:srgbClr val="000080"/>
                </a:highlight>
                <a:latin typeface="Consolas" panose="020B0609020204030204" pitchFamily="49" charset="0"/>
              </a:rPr>
              <a:t>via</a:t>
            </a:r>
            <a:r>
              <a:rPr lang="sk-SK" sz="1000" dirty="0">
                <a:solidFill>
                  <a:schemeClr val="bg1"/>
                </a:solidFill>
                <a:highlight>
                  <a:srgbClr val="000080"/>
                </a:highlight>
                <a:latin typeface="Consolas" panose="020B0609020204030204" pitchFamily="49" charset="0"/>
              </a:rPr>
              <a:t> fe80::5054:ff:fe09:6ab0, 02:25:36, GigabitEthernet0/0/0/4</a:t>
            </a:r>
          </a:p>
          <a:p>
            <a:r>
              <a:rPr lang="sk-SK" sz="1000" dirty="0">
                <a:highlight>
                  <a:srgbClr val="00FF00"/>
                </a:highlight>
                <a:latin typeface="Consolas" panose="020B0609020204030204" pitchFamily="49" charset="0"/>
              </a:rPr>
              <a:t>i L2 fc00:ab00:1::/64 </a:t>
            </a:r>
          </a:p>
          <a:p>
            <a:r>
              <a:rPr lang="sk-SK" sz="1000" dirty="0">
                <a:highlight>
                  <a:srgbClr val="00FF00"/>
                </a:highlight>
                <a:latin typeface="Consolas" panose="020B0609020204030204" pitchFamily="49" charset="0"/>
              </a:rPr>
              <a:t>      [115/11] </a:t>
            </a:r>
            <a:r>
              <a:rPr lang="sk-SK" sz="1000" dirty="0" err="1">
                <a:highlight>
                  <a:srgbClr val="00FF00"/>
                </a:highlight>
                <a:latin typeface="Consolas" panose="020B0609020204030204" pitchFamily="49" charset="0"/>
              </a:rPr>
              <a:t>via</a:t>
            </a:r>
            <a:r>
              <a:rPr lang="sk-SK" sz="1000" dirty="0">
                <a:highlight>
                  <a:srgbClr val="00FF00"/>
                </a:highlight>
                <a:latin typeface="Consolas" panose="020B0609020204030204" pitchFamily="49" charset="0"/>
              </a:rPr>
              <a:t> fe80::5054:ff:fe14:94d4, 02:29:44, GigabitEthernet0/0/0/0</a:t>
            </a:r>
          </a:p>
          <a:p>
            <a:r>
              <a:rPr lang="sk-SK" sz="1000" dirty="0">
                <a:highlight>
                  <a:srgbClr val="FF00FF"/>
                </a:highlight>
                <a:latin typeface="Consolas" panose="020B0609020204030204" pitchFamily="49" charset="0"/>
              </a:rPr>
              <a:t>L    fc00:ab00:2:0:1::/128, SRv6 </a:t>
            </a:r>
            <a:r>
              <a:rPr lang="sk-SK" sz="1000" dirty="0" err="1">
                <a:highlight>
                  <a:srgbClr val="FF00FF"/>
                </a:highlight>
                <a:latin typeface="Consolas" panose="020B0609020204030204" pitchFamily="49" charset="0"/>
              </a:rPr>
              <a:t>Endpoint</a:t>
            </a:r>
            <a:r>
              <a:rPr lang="sk-SK" sz="1000" dirty="0">
                <a:highlight>
                  <a:srgbClr val="FF00FF"/>
                </a:highlight>
                <a:latin typeface="Consolas" panose="020B0609020204030204" pitchFamily="49" charset="0"/>
              </a:rPr>
              <a:t> End (PSP/USD) </a:t>
            </a:r>
          </a:p>
          <a:p>
            <a:r>
              <a:rPr lang="sk-SK" sz="1000" dirty="0">
                <a:highlight>
                  <a:srgbClr val="FF00FF"/>
                </a:highlight>
                <a:latin typeface="Consolas" panose="020B0609020204030204" pitchFamily="49" charset="0"/>
              </a:rPr>
              <a:t>      [0/0] </a:t>
            </a:r>
            <a:r>
              <a:rPr lang="sk-SK" sz="1000" dirty="0" err="1">
                <a:highlight>
                  <a:srgbClr val="FF00FF"/>
                </a:highlight>
                <a:latin typeface="Consolas" panose="020B0609020204030204" pitchFamily="49" charset="0"/>
              </a:rPr>
              <a:t>via</a:t>
            </a:r>
            <a:r>
              <a:rPr lang="sk-SK" sz="1000" dirty="0">
                <a:highlight>
                  <a:srgbClr val="FF00FF"/>
                </a:highlight>
                <a:latin typeface="Consolas" panose="020B0609020204030204" pitchFamily="49" charset="0"/>
              </a:rPr>
              <a:t> ::, 03:23:20</a:t>
            </a:r>
          </a:p>
          <a:p>
            <a:r>
              <a:rPr lang="sk-SK" sz="1000" dirty="0">
                <a:highlight>
                  <a:srgbClr val="FF00FF"/>
                </a:highlight>
                <a:latin typeface="Consolas" panose="020B0609020204030204" pitchFamily="49" charset="0"/>
              </a:rPr>
              <a:t>L    fc00:ab00:2:0:40::/128, SRv6 </a:t>
            </a:r>
            <a:r>
              <a:rPr lang="sk-SK" sz="1000" dirty="0" err="1">
                <a:highlight>
                  <a:srgbClr val="FF00FF"/>
                </a:highlight>
                <a:latin typeface="Consolas" panose="020B0609020204030204" pitchFamily="49" charset="0"/>
              </a:rPr>
              <a:t>Endpoint</a:t>
            </a:r>
            <a:r>
              <a:rPr lang="sk-SK" sz="1000" dirty="0">
                <a:highlight>
                  <a:srgbClr val="FF00FF"/>
                </a:highlight>
                <a:latin typeface="Consolas" panose="020B0609020204030204" pitchFamily="49" charset="0"/>
              </a:rPr>
              <a:t> </a:t>
            </a:r>
            <a:r>
              <a:rPr lang="sk-SK" sz="1000" dirty="0" err="1">
                <a:highlight>
                  <a:srgbClr val="FF00FF"/>
                </a:highlight>
                <a:latin typeface="Consolas" panose="020B0609020204030204" pitchFamily="49" charset="0"/>
              </a:rPr>
              <a:t>End.X</a:t>
            </a:r>
            <a:r>
              <a:rPr lang="sk-SK" sz="1000" dirty="0">
                <a:highlight>
                  <a:srgbClr val="FF00FF"/>
                </a:highlight>
                <a:latin typeface="Consolas" panose="020B0609020204030204" pitchFamily="49" charset="0"/>
              </a:rPr>
              <a:t> (PSP/USD) </a:t>
            </a:r>
          </a:p>
          <a:p>
            <a:r>
              <a:rPr lang="sk-SK" sz="1000" dirty="0">
                <a:highlight>
                  <a:srgbClr val="FF00FF"/>
                </a:highlight>
                <a:latin typeface="Consolas" panose="020B0609020204030204" pitchFamily="49" charset="0"/>
              </a:rPr>
              <a:t>      [0/0] </a:t>
            </a:r>
            <a:r>
              <a:rPr lang="sk-SK" sz="1000" dirty="0" err="1">
                <a:highlight>
                  <a:srgbClr val="FF00FF"/>
                </a:highlight>
                <a:latin typeface="Consolas" panose="020B0609020204030204" pitchFamily="49" charset="0"/>
              </a:rPr>
              <a:t>via</a:t>
            </a:r>
            <a:r>
              <a:rPr lang="sk-SK" sz="1000" dirty="0">
                <a:highlight>
                  <a:srgbClr val="FF00FF"/>
                </a:highlight>
                <a:latin typeface="Consolas" panose="020B0609020204030204" pitchFamily="49" charset="0"/>
              </a:rPr>
              <a:t> fe80::5054:ff:fe1c:96f4, 03:20:25, GigabitEthernet0/0/0/2</a:t>
            </a:r>
          </a:p>
          <a:p>
            <a:r>
              <a:rPr lang="sk-SK" sz="1000" dirty="0">
                <a:highlight>
                  <a:srgbClr val="FF00FF"/>
                </a:highlight>
                <a:latin typeface="Consolas" panose="020B0609020204030204" pitchFamily="49" charset="0"/>
              </a:rPr>
              <a:t>L    fc00:ab00:2:0:41::/128, SRv6 </a:t>
            </a:r>
            <a:r>
              <a:rPr lang="sk-SK" sz="1000" dirty="0" err="1">
                <a:highlight>
                  <a:srgbClr val="FF00FF"/>
                </a:highlight>
                <a:latin typeface="Consolas" panose="020B0609020204030204" pitchFamily="49" charset="0"/>
              </a:rPr>
              <a:t>Endpoint</a:t>
            </a:r>
            <a:r>
              <a:rPr lang="sk-SK" sz="1000" dirty="0">
                <a:highlight>
                  <a:srgbClr val="FF00FF"/>
                </a:highlight>
                <a:latin typeface="Consolas" panose="020B0609020204030204" pitchFamily="49" charset="0"/>
              </a:rPr>
              <a:t> </a:t>
            </a:r>
            <a:r>
              <a:rPr lang="sk-SK" sz="1000" dirty="0" err="1">
                <a:highlight>
                  <a:srgbClr val="FF00FF"/>
                </a:highlight>
                <a:latin typeface="Consolas" panose="020B0609020204030204" pitchFamily="49" charset="0"/>
              </a:rPr>
              <a:t>End.X</a:t>
            </a:r>
            <a:r>
              <a:rPr lang="sk-SK" sz="1000" dirty="0">
                <a:highlight>
                  <a:srgbClr val="FF00FF"/>
                </a:highlight>
                <a:latin typeface="Consolas" panose="020B0609020204030204" pitchFamily="49" charset="0"/>
              </a:rPr>
              <a:t> (PSP/USD) </a:t>
            </a:r>
          </a:p>
          <a:p>
            <a:r>
              <a:rPr lang="sk-SK" sz="1000" dirty="0">
                <a:highlight>
                  <a:srgbClr val="FF00FF"/>
                </a:highlight>
                <a:latin typeface="Consolas" panose="020B0609020204030204" pitchFamily="49" charset="0"/>
              </a:rPr>
              <a:t>      [0/0] </a:t>
            </a:r>
            <a:r>
              <a:rPr lang="sk-SK" sz="1000" dirty="0" err="1">
                <a:highlight>
                  <a:srgbClr val="FF00FF"/>
                </a:highlight>
                <a:latin typeface="Consolas" panose="020B0609020204030204" pitchFamily="49" charset="0"/>
              </a:rPr>
              <a:t>via</a:t>
            </a:r>
            <a:r>
              <a:rPr lang="sk-SK" sz="1000" dirty="0">
                <a:highlight>
                  <a:srgbClr val="FF00FF"/>
                </a:highlight>
                <a:latin typeface="Consolas" panose="020B0609020204030204" pitchFamily="49" charset="0"/>
              </a:rPr>
              <a:t> fe80::5054:ff:fe14:94d4, 03:20:25, GigabitEthernet0/0/0/0</a:t>
            </a:r>
          </a:p>
          <a:p>
            <a:r>
              <a:rPr lang="sk-SK" sz="1000" dirty="0">
                <a:highlight>
                  <a:srgbClr val="FF00FF"/>
                </a:highlight>
                <a:latin typeface="Consolas" panose="020B0609020204030204" pitchFamily="49" charset="0"/>
              </a:rPr>
              <a:t>L    fc00:ab00:2:0:42::/128, SRv6 </a:t>
            </a:r>
            <a:r>
              <a:rPr lang="sk-SK" sz="1000" dirty="0" err="1">
                <a:highlight>
                  <a:srgbClr val="FF00FF"/>
                </a:highlight>
                <a:latin typeface="Consolas" panose="020B0609020204030204" pitchFamily="49" charset="0"/>
              </a:rPr>
              <a:t>Endpoint</a:t>
            </a:r>
            <a:r>
              <a:rPr lang="sk-SK" sz="1000" dirty="0">
                <a:highlight>
                  <a:srgbClr val="FF00FF"/>
                </a:highlight>
                <a:latin typeface="Consolas" panose="020B0609020204030204" pitchFamily="49" charset="0"/>
              </a:rPr>
              <a:t> </a:t>
            </a:r>
            <a:r>
              <a:rPr lang="sk-SK" sz="1000" dirty="0" err="1">
                <a:highlight>
                  <a:srgbClr val="FF00FF"/>
                </a:highlight>
                <a:latin typeface="Consolas" panose="020B0609020204030204" pitchFamily="49" charset="0"/>
              </a:rPr>
              <a:t>End.X</a:t>
            </a:r>
            <a:r>
              <a:rPr lang="sk-SK" sz="1000" dirty="0">
                <a:highlight>
                  <a:srgbClr val="FF00FF"/>
                </a:highlight>
                <a:latin typeface="Consolas" panose="020B0609020204030204" pitchFamily="49" charset="0"/>
              </a:rPr>
              <a:t> (PSP/USD) </a:t>
            </a:r>
          </a:p>
          <a:p>
            <a:r>
              <a:rPr lang="sk-SK" sz="1000" dirty="0">
                <a:highlight>
                  <a:srgbClr val="FF00FF"/>
                </a:highlight>
                <a:latin typeface="Consolas" panose="020B0609020204030204" pitchFamily="49" charset="0"/>
              </a:rPr>
              <a:t>      [0/0] </a:t>
            </a:r>
            <a:r>
              <a:rPr lang="sk-SK" sz="1000" dirty="0" err="1">
                <a:highlight>
                  <a:srgbClr val="FF00FF"/>
                </a:highlight>
                <a:latin typeface="Consolas" panose="020B0609020204030204" pitchFamily="49" charset="0"/>
              </a:rPr>
              <a:t>via</a:t>
            </a:r>
            <a:r>
              <a:rPr lang="sk-SK" sz="1000" dirty="0">
                <a:highlight>
                  <a:srgbClr val="FF00FF"/>
                </a:highlight>
                <a:latin typeface="Consolas" panose="020B0609020204030204" pitchFamily="49" charset="0"/>
              </a:rPr>
              <a:t> fe80::5054:ff:fe09:6ab0, 03:17:50, GigabitEthernet0/0/0/4</a:t>
            </a:r>
          </a:p>
          <a:p>
            <a:r>
              <a:rPr lang="sk-SK" sz="1000" dirty="0">
                <a:highlight>
                  <a:srgbClr val="FF0000"/>
                </a:highlight>
                <a:latin typeface="Consolas" panose="020B0609020204030204" pitchFamily="49" charset="0"/>
              </a:rPr>
              <a:t>i L2 fc00:ab00:3::/64 </a:t>
            </a:r>
          </a:p>
          <a:p>
            <a:r>
              <a:rPr lang="sk-SK" sz="1000" dirty="0">
                <a:highlight>
                  <a:srgbClr val="FF0000"/>
                </a:highlight>
                <a:latin typeface="Consolas" panose="020B0609020204030204" pitchFamily="49" charset="0"/>
              </a:rPr>
              <a:t>      [115/11] </a:t>
            </a:r>
            <a:r>
              <a:rPr lang="sk-SK" sz="1000" dirty="0" err="1">
                <a:highlight>
                  <a:srgbClr val="FF0000"/>
                </a:highlight>
                <a:latin typeface="Consolas" panose="020B0609020204030204" pitchFamily="49" charset="0"/>
              </a:rPr>
              <a:t>via</a:t>
            </a:r>
            <a:r>
              <a:rPr lang="sk-SK" sz="1000" dirty="0">
                <a:highlight>
                  <a:srgbClr val="FF0000"/>
                </a:highlight>
                <a:latin typeface="Consolas" panose="020B0609020204030204" pitchFamily="49" charset="0"/>
              </a:rPr>
              <a:t> fe80::5054:ff:fe1c:96f4, 02:27:03, GigabitEthernet0/0/0/2</a:t>
            </a:r>
          </a:p>
          <a:p>
            <a:r>
              <a:rPr lang="sk-SK" sz="1000" dirty="0">
                <a:highlight>
                  <a:srgbClr val="008080"/>
                </a:highlight>
                <a:latin typeface="Consolas" panose="020B0609020204030204" pitchFamily="49" charset="0"/>
              </a:rPr>
              <a:t>i L2 fc00:ab00:4::/64 </a:t>
            </a:r>
          </a:p>
          <a:p>
            <a:r>
              <a:rPr lang="sk-SK" sz="1000" dirty="0">
                <a:highlight>
                  <a:srgbClr val="008080"/>
                </a:highlight>
                <a:latin typeface="Consolas" panose="020B0609020204030204" pitchFamily="49" charset="0"/>
              </a:rPr>
              <a:t>      [115/11] </a:t>
            </a:r>
            <a:r>
              <a:rPr lang="sk-SK" sz="1000" dirty="0" err="1">
                <a:highlight>
                  <a:srgbClr val="008080"/>
                </a:highlight>
                <a:latin typeface="Consolas" panose="020B0609020204030204" pitchFamily="49" charset="0"/>
              </a:rPr>
              <a:t>via</a:t>
            </a:r>
            <a:r>
              <a:rPr lang="sk-SK" sz="1000" dirty="0">
                <a:highlight>
                  <a:srgbClr val="008080"/>
                </a:highlight>
                <a:latin typeface="Consolas" panose="020B0609020204030204" pitchFamily="49" charset="0"/>
              </a:rPr>
              <a:t> fe80::5054:ff:fe09:6ab0, 02:25:36, GigabitEthernet0/0/0/4</a:t>
            </a:r>
          </a:p>
          <a:p>
            <a:r>
              <a:rPr lang="sk-SK" sz="1000" dirty="0">
                <a:latin typeface="Consolas" panose="020B0609020204030204" pitchFamily="49" charset="0"/>
              </a:rPr>
              <a:t>-- </a:t>
            </a:r>
            <a:r>
              <a:rPr lang="sk-SK" sz="1000" dirty="0" err="1">
                <a:latin typeface="Consolas" panose="020B0609020204030204" pitchFamily="49" charset="0"/>
              </a:rPr>
              <a:t>Cut</a:t>
            </a:r>
            <a:r>
              <a:rPr lang="sk-SK" sz="1000" dirty="0">
                <a:latin typeface="Consolas" panose="020B0609020204030204" pitchFamily="49" charset="0"/>
              </a:rPr>
              <a:t> --</a:t>
            </a:r>
          </a:p>
          <a:p>
            <a:r>
              <a:rPr lang="sk-SK" sz="1000" dirty="0">
                <a:latin typeface="Consolas" panose="020B0609020204030204" pitchFamily="49" charset="0"/>
              </a:rPr>
              <a:t>RP/0/RP0/CPU0:R02#</a:t>
            </a:r>
            <a:endParaRPr lang="sk-SK" sz="1000" dirty="0">
              <a:solidFill>
                <a:srgbClr val="FF0000"/>
              </a:solidFill>
              <a:latin typeface="Consolas" panose="020B0609020204030204" pitchFamily="49" charset="0"/>
            </a:endParaRPr>
          </a:p>
        </p:txBody>
      </p:sp>
      <p:cxnSp>
        <p:nvCxnSpPr>
          <p:cNvPr id="17" name="Straight Arrow Connector 16">
            <a:extLst>
              <a:ext uri="{FF2B5EF4-FFF2-40B4-BE49-F238E27FC236}">
                <a16:creationId xmlns:a16="http://schemas.microsoft.com/office/drawing/2014/main" id="{33E3A1F2-97F8-DA6A-3BF4-2AADBDA7B990}"/>
              </a:ext>
            </a:extLst>
          </p:cNvPr>
          <p:cNvCxnSpPr>
            <a:cxnSpLocks/>
          </p:cNvCxnSpPr>
          <p:nvPr/>
        </p:nvCxnSpPr>
        <p:spPr>
          <a:xfrm>
            <a:off x="4828032" y="2296430"/>
            <a:ext cx="1389887" cy="18470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673928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2C8C810-2CB6-E947-7135-6DE4DB5D497E}"/>
              </a:ext>
            </a:extLst>
          </p:cNvPr>
          <p:cNvSpPr>
            <a:spLocks noGrp="1"/>
          </p:cNvSpPr>
          <p:nvPr>
            <p:ph type="body" sz="quarter" idx="11"/>
          </p:nvPr>
        </p:nvSpPr>
        <p:spPr/>
        <p:txBody>
          <a:bodyPr/>
          <a:lstStyle/>
          <a:p>
            <a:r>
              <a:rPr lang="en-US" dirty="0"/>
              <a:t>Full SID</a:t>
            </a:r>
          </a:p>
        </p:txBody>
      </p:sp>
      <p:sp>
        <p:nvSpPr>
          <p:cNvPr id="19" name="Rectangle 18">
            <a:extLst>
              <a:ext uri="{FF2B5EF4-FFF2-40B4-BE49-F238E27FC236}">
                <a16:creationId xmlns:a16="http://schemas.microsoft.com/office/drawing/2014/main" id="{14FA83B6-F9AF-8857-BD09-EBA0577B0521}"/>
              </a:ext>
            </a:extLst>
          </p:cNvPr>
          <p:cNvSpPr/>
          <p:nvPr/>
        </p:nvSpPr>
        <p:spPr>
          <a:xfrm>
            <a:off x="0" y="4611231"/>
            <a:ext cx="8613647" cy="2246769"/>
          </a:xfrm>
          <a:prstGeom prst="rect">
            <a:avLst/>
          </a:prstGeom>
          <a:solidFill>
            <a:schemeClr val="bg1">
              <a:lumMod val="95000"/>
            </a:schemeClr>
          </a:solidFill>
          <a:ln>
            <a:solidFill>
              <a:schemeClr val="tx1"/>
            </a:solidFill>
          </a:ln>
          <a:effectLst/>
        </p:spPr>
        <p:txBody>
          <a:bodyPr wrap="square">
            <a:spAutoFit/>
          </a:bodyPr>
          <a:lstStyle/>
          <a:p>
            <a:r>
              <a:rPr lang="sk-SK" sz="1000" dirty="0">
                <a:latin typeface="Consolas" panose="020B0609020204030204" pitchFamily="49" charset="0"/>
              </a:rPr>
              <a:t>RP/0/RP0/CPU0:R03#show segment-routing srv6 </a:t>
            </a:r>
            <a:r>
              <a:rPr lang="sk-SK" sz="1000" dirty="0" err="1">
                <a:latin typeface="Consolas" panose="020B0609020204030204" pitchFamily="49" charset="0"/>
              </a:rPr>
              <a:t>locator</a:t>
            </a:r>
            <a:r>
              <a:rPr lang="sk-SK" sz="1000" dirty="0">
                <a:latin typeface="Consolas" panose="020B0609020204030204" pitchFamily="49" charset="0"/>
              </a:rPr>
              <a:t> </a:t>
            </a:r>
          </a:p>
          <a:p>
            <a:r>
              <a:rPr lang="sk-SK" sz="1000" dirty="0" err="1">
                <a:latin typeface="Consolas" panose="020B0609020204030204" pitchFamily="49" charset="0"/>
              </a:rPr>
              <a:t>Name</a:t>
            </a:r>
            <a:r>
              <a:rPr lang="sk-SK" sz="1000" dirty="0">
                <a:latin typeface="Consolas" panose="020B0609020204030204" pitchFamily="49" charset="0"/>
              </a:rPr>
              <a:t>                  ID       </a:t>
            </a:r>
            <a:r>
              <a:rPr lang="sk-SK" sz="1000" dirty="0" err="1">
                <a:latin typeface="Consolas" panose="020B0609020204030204" pitchFamily="49" charset="0"/>
              </a:rPr>
              <a:t>Algo</a:t>
            </a:r>
            <a:r>
              <a:rPr lang="sk-SK" sz="1000" dirty="0">
                <a:latin typeface="Consolas" panose="020B0609020204030204" pitchFamily="49" charset="0"/>
              </a:rPr>
              <a:t>  Prefix                    Status   </a:t>
            </a:r>
            <a:r>
              <a:rPr lang="sk-SK" sz="1000" dirty="0" err="1">
                <a:latin typeface="Consolas" panose="020B0609020204030204" pitchFamily="49" charset="0"/>
              </a:rPr>
              <a:t>Flags</a:t>
            </a:r>
            <a:r>
              <a:rPr lang="sk-SK" sz="1000" dirty="0">
                <a:latin typeface="Consolas" panose="020B0609020204030204" pitchFamily="49" charset="0"/>
              </a:rPr>
              <a:t>   </a:t>
            </a:r>
          </a:p>
          <a:p>
            <a:r>
              <a:rPr lang="sk-SK" sz="1000" dirty="0">
                <a:latin typeface="Consolas" panose="020B0609020204030204" pitchFamily="49" charset="0"/>
              </a:rPr>
              <a:t>--------------------  -------  ----  ------------------------  -------  --------</a:t>
            </a:r>
          </a:p>
          <a:p>
            <a:r>
              <a:rPr lang="sk-SK" sz="1000" dirty="0">
                <a:latin typeface="Consolas" panose="020B0609020204030204" pitchFamily="49" charset="0"/>
              </a:rPr>
              <a:t>MyFullLoc01           1        0     fc00:ab00:3::/64          </a:t>
            </a:r>
            <a:r>
              <a:rPr lang="sk-SK" sz="1000" dirty="0" err="1">
                <a:latin typeface="Consolas" panose="020B0609020204030204" pitchFamily="49" charset="0"/>
              </a:rPr>
              <a:t>Up</a:t>
            </a:r>
            <a:r>
              <a:rPr lang="sk-SK" sz="1000" dirty="0">
                <a:latin typeface="Consolas" panose="020B0609020204030204" pitchFamily="49" charset="0"/>
              </a:rPr>
              <a:t>               </a:t>
            </a:r>
          </a:p>
          <a:p>
            <a:r>
              <a:rPr lang="sk-SK" sz="1000" dirty="0">
                <a:latin typeface="Consolas" panose="020B0609020204030204" pitchFamily="49" charset="0"/>
              </a:rPr>
              <a:t>RP/0/RP0/CPU0:R03#show segment-routing srv6 </a:t>
            </a:r>
            <a:r>
              <a:rPr lang="sk-SK" sz="1000" dirty="0" err="1">
                <a:latin typeface="Consolas" panose="020B0609020204030204" pitchFamily="49" charset="0"/>
              </a:rPr>
              <a:t>sid</a:t>
            </a:r>
            <a:r>
              <a:rPr lang="sk-SK" sz="1000" dirty="0">
                <a:latin typeface="Consolas" panose="020B0609020204030204" pitchFamily="49" charset="0"/>
              </a:rPr>
              <a:t> </a:t>
            </a:r>
            <a:r>
              <a:rPr lang="sk-SK" sz="1000" dirty="0" err="1">
                <a:latin typeface="Consolas" panose="020B0609020204030204" pitchFamily="49" charset="0"/>
              </a:rPr>
              <a:t>all</a:t>
            </a:r>
            <a:r>
              <a:rPr lang="sk-SK" sz="1000" dirty="0">
                <a:latin typeface="Consolas" panose="020B0609020204030204" pitchFamily="49" charset="0"/>
              </a:rPr>
              <a:t> </a:t>
            </a:r>
          </a:p>
          <a:p>
            <a:endParaRPr lang="sk-SK" sz="1000" dirty="0">
              <a:latin typeface="Consolas" panose="020B0609020204030204" pitchFamily="49" charset="0"/>
            </a:endParaRPr>
          </a:p>
          <a:p>
            <a:r>
              <a:rPr lang="sk-SK" sz="1000" dirty="0">
                <a:latin typeface="Consolas" panose="020B0609020204030204" pitchFamily="49" charset="0"/>
              </a:rPr>
              <a:t>*** </a:t>
            </a:r>
            <a:r>
              <a:rPr lang="sk-SK" sz="1000" dirty="0" err="1">
                <a:latin typeface="Consolas" panose="020B0609020204030204" pitchFamily="49" charset="0"/>
              </a:rPr>
              <a:t>Locator</a:t>
            </a:r>
            <a:r>
              <a:rPr lang="sk-SK" sz="1000" dirty="0">
                <a:latin typeface="Consolas" panose="020B0609020204030204" pitchFamily="49" charset="0"/>
              </a:rPr>
              <a:t>: 'MyFullLoc01' *** </a:t>
            </a:r>
          </a:p>
          <a:p>
            <a:endParaRPr lang="sk-SK" sz="1000" dirty="0">
              <a:latin typeface="Consolas" panose="020B0609020204030204" pitchFamily="49" charset="0"/>
            </a:endParaRPr>
          </a:p>
          <a:p>
            <a:r>
              <a:rPr lang="sk-SK" sz="1000" dirty="0">
                <a:latin typeface="Consolas" panose="020B0609020204030204" pitchFamily="49" charset="0"/>
              </a:rPr>
              <a:t>SID                         </a:t>
            </a:r>
            <a:r>
              <a:rPr lang="sk-SK" sz="1000" dirty="0" err="1">
                <a:latin typeface="Consolas" panose="020B0609020204030204" pitchFamily="49" charset="0"/>
              </a:rPr>
              <a:t>Behavior</a:t>
            </a:r>
            <a:r>
              <a:rPr lang="sk-SK" sz="1000" dirty="0">
                <a:latin typeface="Consolas" panose="020B0609020204030204" pitchFamily="49" charset="0"/>
              </a:rPr>
              <a:t>          </a:t>
            </a:r>
            <a:r>
              <a:rPr lang="sk-SK" sz="1000" dirty="0" err="1">
                <a:latin typeface="Consolas" panose="020B0609020204030204" pitchFamily="49" charset="0"/>
              </a:rPr>
              <a:t>Context</a:t>
            </a:r>
            <a:r>
              <a:rPr lang="sk-SK" sz="1000" dirty="0">
                <a:latin typeface="Consolas" panose="020B0609020204030204" pitchFamily="49" charset="0"/>
              </a:rPr>
              <a:t>                           </a:t>
            </a:r>
            <a:r>
              <a:rPr lang="sk-SK" sz="1000" dirty="0" err="1">
                <a:latin typeface="Consolas" panose="020B0609020204030204" pitchFamily="49" charset="0"/>
              </a:rPr>
              <a:t>Owner</a:t>
            </a:r>
            <a:r>
              <a:rPr lang="sk-SK" sz="1000" dirty="0">
                <a:latin typeface="Consolas" panose="020B0609020204030204" pitchFamily="49" charset="0"/>
              </a:rPr>
              <a:t>               State  RW</a:t>
            </a:r>
          </a:p>
          <a:p>
            <a:r>
              <a:rPr lang="sk-SK" sz="1000" dirty="0">
                <a:latin typeface="Consolas" panose="020B0609020204030204" pitchFamily="49" charset="0"/>
              </a:rPr>
              <a:t>--------------------------  ----------------  --------------------------------  ------------------  -----  --</a:t>
            </a:r>
          </a:p>
          <a:p>
            <a:r>
              <a:rPr lang="sk-SK" sz="1000" dirty="0">
                <a:highlight>
                  <a:srgbClr val="FF0000"/>
                </a:highlight>
                <a:latin typeface="Consolas" panose="020B0609020204030204" pitchFamily="49" charset="0"/>
              </a:rPr>
              <a:t>fc00:ab00:3:0:1::           End (PSP/USD)     'default':1                       </a:t>
            </a:r>
            <a:r>
              <a:rPr lang="sk-SK" sz="1000" dirty="0" err="1">
                <a:highlight>
                  <a:srgbClr val="FF0000"/>
                </a:highlight>
                <a:latin typeface="Consolas" panose="020B0609020204030204" pitchFamily="49" charset="0"/>
              </a:rPr>
              <a:t>sidmgr</a:t>
            </a:r>
            <a:r>
              <a:rPr lang="sk-SK" sz="1000" dirty="0">
                <a:highlight>
                  <a:srgbClr val="FF0000"/>
                </a:highlight>
                <a:latin typeface="Consolas" panose="020B0609020204030204" pitchFamily="49" charset="0"/>
              </a:rPr>
              <a:t>              </a:t>
            </a:r>
            <a:r>
              <a:rPr lang="sk-SK" sz="1000" dirty="0" err="1">
                <a:highlight>
                  <a:srgbClr val="FF0000"/>
                </a:highlight>
                <a:latin typeface="Consolas" panose="020B0609020204030204" pitchFamily="49" charset="0"/>
              </a:rPr>
              <a:t>InUse</a:t>
            </a:r>
            <a:r>
              <a:rPr lang="sk-SK" sz="1000" dirty="0">
                <a:highlight>
                  <a:srgbClr val="FF0000"/>
                </a:highlight>
                <a:latin typeface="Consolas" panose="020B0609020204030204" pitchFamily="49" charset="0"/>
              </a:rPr>
              <a:t>  Y </a:t>
            </a:r>
          </a:p>
          <a:p>
            <a:r>
              <a:rPr lang="sk-SK" sz="1000" dirty="0">
                <a:highlight>
                  <a:srgbClr val="FF0000"/>
                </a:highlight>
                <a:latin typeface="Consolas" panose="020B0609020204030204" pitchFamily="49" charset="0"/>
              </a:rPr>
              <a:t>fc00:ab00:3:0:40::          </a:t>
            </a:r>
            <a:r>
              <a:rPr lang="sk-SK" sz="1000" dirty="0" err="1">
                <a:highlight>
                  <a:srgbClr val="FF0000"/>
                </a:highlight>
                <a:latin typeface="Consolas" panose="020B0609020204030204" pitchFamily="49" charset="0"/>
              </a:rPr>
              <a:t>End.X</a:t>
            </a:r>
            <a:r>
              <a:rPr lang="sk-SK" sz="1000" dirty="0">
                <a:highlight>
                  <a:srgbClr val="FF0000"/>
                </a:highlight>
                <a:latin typeface="Consolas" panose="020B0609020204030204" pitchFamily="49" charset="0"/>
              </a:rPr>
              <a:t> (PSP/USD)   [Gi0/0/0/2, </a:t>
            </a:r>
            <a:r>
              <a:rPr lang="sk-SK" sz="1000" dirty="0" err="1">
                <a:highlight>
                  <a:srgbClr val="FF0000"/>
                </a:highlight>
                <a:latin typeface="Consolas" panose="020B0609020204030204" pitchFamily="49" charset="0"/>
              </a:rPr>
              <a:t>Link-Local</a:t>
            </a:r>
            <a:r>
              <a:rPr lang="sk-SK" sz="1000" dirty="0">
                <a:highlight>
                  <a:srgbClr val="FF0000"/>
                </a:highlight>
                <a:latin typeface="Consolas" panose="020B0609020204030204" pitchFamily="49" charset="0"/>
              </a:rPr>
              <a:t>]           isis-1              </a:t>
            </a:r>
            <a:r>
              <a:rPr lang="sk-SK" sz="1000" dirty="0" err="1">
                <a:highlight>
                  <a:srgbClr val="FF0000"/>
                </a:highlight>
                <a:latin typeface="Consolas" panose="020B0609020204030204" pitchFamily="49" charset="0"/>
              </a:rPr>
              <a:t>InUse</a:t>
            </a:r>
            <a:r>
              <a:rPr lang="sk-SK" sz="1000" dirty="0">
                <a:highlight>
                  <a:srgbClr val="FF0000"/>
                </a:highlight>
                <a:latin typeface="Consolas" panose="020B0609020204030204" pitchFamily="49" charset="0"/>
              </a:rPr>
              <a:t>  Y </a:t>
            </a:r>
          </a:p>
          <a:p>
            <a:r>
              <a:rPr lang="sk-SK" sz="1000" dirty="0">
                <a:highlight>
                  <a:srgbClr val="FF0000"/>
                </a:highlight>
                <a:latin typeface="Consolas" panose="020B0609020204030204" pitchFamily="49" charset="0"/>
              </a:rPr>
              <a:t>fc00:ab00:3:0:41::          </a:t>
            </a:r>
            <a:r>
              <a:rPr lang="sk-SK" sz="1000" dirty="0" err="1">
                <a:highlight>
                  <a:srgbClr val="FF0000"/>
                </a:highlight>
                <a:latin typeface="Consolas" panose="020B0609020204030204" pitchFamily="49" charset="0"/>
              </a:rPr>
              <a:t>End.X</a:t>
            </a:r>
            <a:r>
              <a:rPr lang="sk-SK" sz="1000" dirty="0">
                <a:highlight>
                  <a:srgbClr val="FF0000"/>
                </a:highlight>
                <a:latin typeface="Consolas" panose="020B0609020204030204" pitchFamily="49" charset="0"/>
              </a:rPr>
              <a:t> (PSP/USD)   [Gi0/0/0/3, </a:t>
            </a:r>
            <a:r>
              <a:rPr lang="sk-SK" sz="1000" dirty="0" err="1">
                <a:highlight>
                  <a:srgbClr val="FF0000"/>
                </a:highlight>
                <a:latin typeface="Consolas" panose="020B0609020204030204" pitchFamily="49" charset="0"/>
              </a:rPr>
              <a:t>Link-Local</a:t>
            </a:r>
            <a:r>
              <a:rPr lang="sk-SK" sz="1000" dirty="0">
                <a:highlight>
                  <a:srgbClr val="FF0000"/>
                </a:highlight>
                <a:latin typeface="Consolas" panose="020B0609020204030204" pitchFamily="49" charset="0"/>
              </a:rPr>
              <a:t>]           isis-1              </a:t>
            </a:r>
            <a:r>
              <a:rPr lang="sk-SK" sz="1000" dirty="0" err="1">
                <a:highlight>
                  <a:srgbClr val="FF0000"/>
                </a:highlight>
                <a:latin typeface="Consolas" panose="020B0609020204030204" pitchFamily="49" charset="0"/>
              </a:rPr>
              <a:t>InUse</a:t>
            </a:r>
            <a:r>
              <a:rPr lang="sk-SK" sz="1000" dirty="0">
                <a:highlight>
                  <a:srgbClr val="FF0000"/>
                </a:highlight>
                <a:latin typeface="Consolas" panose="020B0609020204030204" pitchFamily="49" charset="0"/>
              </a:rPr>
              <a:t>  Y </a:t>
            </a:r>
          </a:p>
          <a:p>
            <a:r>
              <a:rPr lang="sk-SK" sz="1000" dirty="0">
                <a:latin typeface="Consolas" panose="020B0609020204030204" pitchFamily="49" charset="0"/>
              </a:rPr>
              <a:t>RP/0/RP0/CPU0:R03#</a:t>
            </a:r>
            <a:endParaRPr lang="sk-SK" sz="1000" dirty="0">
              <a:solidFill>
                <a:srgbClr val="FF0000"/>
              </a:solidFill>
              <a:latin typeface="Consolas" panose="020B0609020204030204" pitchFamily="49" charset="0"/>
            </a:endParaRPr>
          </a:p>
        </p:txBody>
      </p:sp>
      <p:pic>
        <p:nvPicPr>
          <p:cNvPr id="23" name="Picture 22" descr="A diagram of a network&#10;&#10;Description automatically generated">
            <a:extLst>
              <a:ext uri="{FF2B5EF4-FFF2-40B4-BE49-F238E27FC236}">
                <a16:creationId xmlns:a16="http://schemas.microsoft.com/office/drawing/2014/main" id="{D85336B3-FEBA-AABA-3898-FABD567975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4718" y="44814"/>
            <a:ext cx="9257282" cy="1713245"/>
          </a:xfrm>
          <a:prstGeom prst="rect">
            <a:avLst/>
          </a:prstGeom>
        </p:spPr>
      </p:pic>
      <p:sp>
        <p:nvSpPr>
          <p:cNvPr id="21" name="Rectangle 20">
            <a:extLst>
              <a:ext uri="{FF2B5EF4-FFF2-40B4-BE49-F238E27FC236}">
                <a16:creationId xmlns:a16="http://schemas.microsoft.com/office/drawing/2014/main" id="{0F650007-BBAE-8DD1-5CC0-090B2134B029}"/>
              </a:ext>
            </a:extLst>
          </p:cNvPr>
          <p:cNvSpPr/>
          <p:nvPr/>
        </p:nvSpPr>
        <p:spPr>
          <a:xfrm>
            <a:off x="7913751" y="1014333"/>
            <a:ext cx="642366" cy="701769"/>
          </a:xfrm>
          <a:prstGeom prst="rect">
            <a:avLst/>
          </a:prstGeom>
          <a:noFill/>
          <a:ln w="254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A230AD45-DE09-0369-F10B-30642BF7FAB6}"/>
              </a:ext>
            </a:extLst>
          </p:cNvPr>
          <p:cNvSpPr>
            <a:spLocks noGrp="1"/>
          </p:cNvSpPr>
          <p:nvPr>
            <p:ph type="body" sz="quarter" idx="10"/>
          </p:nvPr>
        </p:nvSpPr>
        <p:spPr>
          <a:xfrm>
            <a:off x="110490" y="1437211"/>
            <a:ext cx="4809744" cy="2182098"/>
          </a:xfrm>
        </p:spPr>
        <p:txBody>
          <a:bodyPr/>
          <a:lstStyle/>
          <a:p>
            <a:r>
              <a:rPr lang="en-US" sz="1400" dirty="0"/>
              <a:t>R01: </a:t>
            </a:r>
            <a:r>
              <a:rPr lang="en-US" sz="1400" dirty="0">
                <a:highlight>
                  <a:srgbClr val="FFFF00"/>
                </a:highlight>
              </a:rPr>
              <a:t>Lo0=2001:9999::1/128</a:t>
            </a:r>
            <a:r>
              <a:rPr lang="en-US" sz="1400" dirty="0"/>
              <a:t>; </a:t>
            </a:r>
            <a:r>
              <a:rPr lang="en-US" sz="1400" dirty="0">
                <a:highlight>
                  <a:srgbClr val="00FF00"/>
                </a:highlight>
              </a:rPr>
              <a:t>Locator=fc00:ab00:1::/64</a:t>
            </a:r>
            <a:r>
              <a:rPr lang="en-US" sz="1400" dirty="0"/>
              <a:t>; NET=49.0001.0000.0000.0001.00</a:t>
            </a:r>
          </a:p>
          <a:p>
            <a:r>
              <a:rPr lang="en-US" sz="1400" dirty="0"/>
              <a:t>R02: </a:t>
            </a:r>
            <a:r>
              <a:rPr lang="en-US" sz="1400" dirty="0">
                <a:highlight>
                  <a:srgbClr val="00FFFF"/>
                </a:highlight>
              </a:rPr>
              <a:t>Lo0=2001:9999::2/128</a:t>
            </a:r>
            <a:r>
              <a:rPr lang="en-US" sz="1400" dirty="0"/>
              <a:t>; </a:t>
            </a:r>
            <a:r>
              <a:rPr lang="en-US" sz="1400" dirty="0">
                <a:highlight>
                  <a:srgbClr val="FF00FF"/>
                </a:highlight>
              </a:rPr>
              <a:t>Locator=fc00:ab00:2::/64</a:t>
            </a:r>
            <a:r>
              <a:rPr lang="en-US" sz="1400" dirty="0"/>
              <a:t>; NET=49.0001.0000.0000.0002.00</a:t>
            </a:r>
          </a:p>
          <a:p>
            <a:r>
              <a:rPr lang="en-US" sz="1400" dirty="0"/>
              <a:t>R03: </a:t>
            </a:r>
            <a:r>
              <a:rPr lang="en-US" sz="1400" dirty="0">
                <a:solidFill>
                  <a:schemeClr val="bg1"/>
                </a:solidFill>
                <a:highlight>
                  <a:srgbClr val="0000FF"/>
                </a:highlight>
              </a:rPr>
              <a:t>Lo0=2001:9999::3/128</a:t>
            </a:r>
            <a:r>
              <a:rPr lang="en-US" sz="1400" dirty="0"/>
              <a:t>; </a:t>
            </a:r>
            <a:r>
              <a:rPr lang="en-US" sz="1400" dirty="0">
                <a:highlight>
                  <a:srgbClr val="FF0000"/>
                </a:highlight>
              </a:rPr>
              <a:t>Locator=fc00:ab00:3::/64</a:t>
            </a:r>
            <a:r>
              <a:rPr lang="en-US" sz="1400" dirty="0"/>
              <a:t>; NET=49.0001.0000.0000.0003.00</a:t>
            </a:r>
          </a:p>
          <a:p>
            <a:r>
              <a:rPr lang="en-US" sz="1400" dirty="0"/>
              <a:t>R04: </a:t>
            </a:r>
            <a:r>
              <a:rPr lang="en-US" sz="1400" dirty="0">
                <a:solidFill>
                  <a:schemeClr val="bg1"/>
                </a:solidFill>
                <a:highlight>
                  <a:srgbClr val="000080"/>
                </a:highlight>
              </a:rPr>
              <a:t>Lo0=2001:9999::4/128</a:t>
            </a:r>
            <a:r>
              <a:rPr lang="en-US" sz="1400" dirty="0"/>
              <a:t>; </a:t>
            </a:r>
            <a:r>
              <a:rPr lang="en-US" sz="1400" dirty="0">
                <a:highlight>
                  <a:srgbClr val="008080"/>
                </a:highlight>
              </a:rPr>
              <a:t>Locator=fc00:ab00:4::/64</a:t>
            </a:r>
            <a:r>
              <a:rPr lang="en-US" sz="1400" dirty="0"/>
              <a:t>; NET=49.0001.0000.0000.0004.00</a:t>
            </a:r>
          </a:p>
          <a:p>
            <a:endParaRPr lang="en-US" sz="1400" dirty="0"/>
          </a:p>
        </p:txBody>
      </p:sp>
      <p:sp>
        <p:nvSpPr>
          <p:cNvPr id="7" name="Rectangle 6">
            <a:extLst>
              <a:ext uri="{FF2B5EF4-FFF2-40B4-BE49-F238E27FC236}">
                <a16:creationId xmlns:a16="http://schemas.microsoft.com/office/drawing/2014/main" id="{0967F153-BAB2-037A-945A-78B4F6704383}"/>
              </a:ext>
            </a:extLst>
          </p:cNvPr>
          <p:cNvSpPr/>
          <p:nvPr/>
        </p:nvSpPr>
        <p:spPr>
          <a:xfrm>
            <a:off x="6217919" y="1726483"/>
            <a:ext cx="5974081" cy="4247317"/>
          </a:xfrm>
          <a:prstGeom prst="rect">
            <a:avLst/>
          </a:prstGeom>
          <a:solidFill>
            <a:schemeClr val="bg1">
              <a:lumMod val="95000"/>
            </a:schemeClr>
          </a:solidFill>
          <a:ln>
            <a:solidFill>
              <a:schemeClr val="tx1"/>
            </a:solidFill>
          </a:ln>
          <a:effectLst/>
        </p:spPr>
        <p:txBody>
          <a:bodyPr wrap="square">
            <a:spAutoFit/>
          </a:bodyPr>
          <a:lstStyle/>
          <a:p>
            <a:r>
              <a:rPr lang="sk-SK" sz="1000" dirty="0">
                <a:latin typeface="Consolas" panose="020B0609020204030204" pitchFamily="49" charset="0"/>
              </a:rPr>
              <a:t>RP/0/RP0/CPU0:</a:t>
            </a:r>
            <a:r>
              <a:rPr lang="sk-SK" sz="1000" b="1" dirty="0">
                <a:latin typeface="Consolas" panose="020B0609020204030204" pitchFamily="49" charset="0"/>
              </a:rPr>
              <a:t>R03</a:t>
            </a:r>
            <a:r>
              <a:rPr lang="sk-SK" sz="1000" dirty="0">
                <a:latin typeface="Consolas" panose="020B0609020204030204" pitchFamily="49" charset="0"/>
              </a:rPr>
              <a:t>#sh </a:t>
            </a:r>
            <a:r>
              <a:rPr lang="sk-SK" sz="1000" dirty="0" err="1">
                <a:latin typeface="Consolas" panose="020B0609020204030204" pitchFamily="49" charset="0"/>
              </a:rPr>
              <a:t>route</a:t>
            </a:r>
            <a:r>
              <a:rPr lang="sk-SK" sz="1000" dirty="0">
                <a:latin typeface="Consolas" panose="020B0609020204030204" pitchFamily="49" charset="0"/>
              </a:rPr>
              <a:t> ipv6</a:t>
            </a:r>
          </a:p>
          <a:p>
            <a:r>
              <a:rPr lang="en-US" sz="1000" dirty="0">
                <a:latin typeface="Consolas" panose="020B0609020204030204" pitchFamily="49" charset="0"/>
              </a:rPr>
              <a:t>-- Cut --</a:t>
            </a:r>
            <a:endParaRPr lang="sk-SK" sz="1000" dirty="0">
              <a:latin typeface="Consolas" panose="020B0609020204030204" pitchFamily="49" charset="0"/>
            </a:endParaRPr>
          </a:p>
          <a:p>
            <a:r>
              <a:rPr lang="sk-SK" sz="1000" dirty="0">
                <a:latin typeface="Consolas" panose="020B0609020204030204" pitchFamily="49" charset="0"/>
              </a:rPr>
              <a:t>L    ::ffff:127.0.0.0/104 </a:t>
            </a:r>
          </a:p>
          <a:p>
            <a:r>
              <a:rPr lang="sk-SK" sz="1000" dirty="0">
                <a:latin typeface="Consolas" panose="020B0609020204030204" pitchFamily="49" charset="0"/>
              </a:rPr>
              <a:t>      [0/0] </a:t>
            </a:r>
            <a:r>
              <a:rPr lang="sk-SK" sz="1000" dirty="0" err="1">
                <a:latin typeface="Consolas" panose="020B0609020204030204" pitchFamily="49" charset="0"/>
              </a:rPr>
              <a:t>via</a:t>
            </a:r>
            <a:r>
              <a:rPr lang="sk-SK" sz="1000" dirty="0">
                <a:latin typeface="Consolas" panose="020B0609020204030204" pitchFamily="49" charset="0"/>
              </a:rPr>
              <a:t> ::, 03:47:48</a:t>
            </a:r>
          </a:p>
          <a:p>
            <a:r>
              <a:rPr lang="sk-SK" sz="1000" dirty="0">
                <a:highlight>
                  <a:srgbClr val="FFFF00"/>
                </a:highlight>
                <a:latin typeface="Consolas" panose="020B0609020204030204" pitchFamily="49" charset="0"/>
              </a:rPr>
              <a:t>i L2 2001:9999::1/128 </a:t>
            </a:r>
          </a:p>
          <a:p>
            <a:r>
              <a:rPr lang="sk-SK" sz="1000" dirty="0">
                <a:highlight>
                  <a:srgbClr val="FFFF00"/>
                </a:highlight>
                <a:latin typeface="Consolas" panose="020B0609020204030204" pitchFamily="49" charset="0"/>
              </a:rPr>
              <a:t>      [115/20] </a:t>
            </a:r>
            <a:r>
              <a:rPr lang="sk-SK" sz="1000" dirty="0" err="1">
                <a:highlight>
                  <a:srgbClr val="FFFF00"/>
                </a:highlight>
                <a:latin typeface="Consolas" panose="020B0609020204030204" pitchFamily="49" charset="0"/>
              </a:rPr>
              <a:t>via</a:t>
            </a:r>
            <a:r>
              <a:rPr lang="sk-SK" sz="1000" dirty="0">
                <a:highlight>
                  <a:srgbClr val="FFFF00"/>
                </a:highlight>
                <a:latin typeface="Consolas" panose="020B0609020204030204" pitchFamily="49" charset="0"/>
              </a:rPr>
              <a:t> fe80::5054:ff:fe03:dd9a, 02:55:45, GigabitEthernet0/0/0/2</a:t>
            </a:r>
          </a:p>
          <a:p>
            <a:r>
              <a:rPr lang="sk-SK" sz="1000" dirty="0">
                <a:highlight>
                  <a:srgbClr val="00FFFF"/>
                </a:highlight>
                <a:latin typeface="Consolas" panose="020B0609020204030204" pitchFamily="49" charset="0"/>
              </a:rPr>
              <a:t>i L2 2001:9999::2/128 </a:t>
            </a:r>
          </a:p>
          <a:p>
            <a:r>
              <a:rPr lang="sk-SK" sz="1000" dirty="0">
                <a:highlight>
                  <a:srgbClr val="00FFFF"/>
                </a:highlight>
                <a:latin typeface="Consolas" panose="020B0609020204030204" pitchFamily="49" charset="0"/>
              </a:rPr>
              <a:t>      [115/10] </a:t>
            </a:r>
            <a:r>
              <a:rPr lang="sk-SK" sz="1000" dirty="0" err="1">
                <a:highlight>
                  <a:srgbClr val="00FFFF"/>
                </a:highlight>
                <a:latin typeface="Consolas" panose="020B0609020204030204" pitchFamily="49" charset="0"/>
              </a:rPr>
              <a:t>via</a:t>
            </a:r>
            <a:r>
              <a:rPr lang="sk-SK" sz="1000" dirty="0">
                <a:highlight>
                  <a:srgbClr val="00FFFF"/>
                </a:highlight>
                <a:latin typeface="Consolas" panose="020B0609020204030204" pitchFamily="49" charset="0"/>
              </a:rPr>
              <a:t> fe80::5054:ff:fe03:dd9a, 02:54:15, GigabitEthernet0/0/0/2</a:t>
            </a:r>
          </a:p>
          <a:p>
            <a:r>
              <a:rPr lang="sk-SK" sz="1000" dirty="0">
                <a:solidFill>
                  <a:schemeClr val="bg1"/>
                </a:solidFill>
                <a:highlight>
                  <a:srgbClr val="0000FF"/>
                </a:highlight>
                <a:latin typeface="Consolas" panose="020B0609020204030204" pitchFamily="49" charset="0"/>
              </a:rPr>
              <a:t>L    2001:9999::3/128 </a:t>
            </a:r>
            <a:r>
              <a:rPr lang="sk-SK" sz="1000" dirty="0" err="1">
                <a:solidFill>
                  <a:schemeClr val="bg1"/>
                </a:solidFill>
                <a:highlight>
                  <a:srgbClr val="0000FF"/>
                </a:highlight>
                <a:latin typeface="Consolas" panose="020B0609020204030204" pitchFamily="49" charset="0"/>
              </a:rPr>
              <a:t>is</a:t>
            </a:r>
            <a:r>
              <a:rPr lang="sk-SK" sz="1000" dirty="0">
                <a:solidFill>
                  <a:schemeClr val="bg1"/>
                </a:solidFill>
                <a:highlight>
                  <a:srgbClr val="0000FF"/>
                </a:highlight>
                <a:latin typeface="Consolas" panose="020B0609020204030204" pitchFamily="49" charset="0"/>
              </a:rPr>
              <a:t> </a:t>
            </a:r>
            <a:r>
              <a:rPr lang="sk-SK" sz="1000" dirty="0" err="1">
                <a:solidFill>
                  <a:schemeClr val="bg1"/>
                </a:solidFill>
                <a:highlight>
                  <a:srgbClr val="0000FF"/>
                </a:highlight>
                <a:latin typeface="Consolas" panose="020B0609020204030204" pitchFamily="49" charset="0"/>
              </a:rPr>
              <a:t>directly</a:t>
            </a:r>
            <a:r>
              <a:rPr lang="sk-SK" sz="1000" dirty="0">
                <a:solidFill>
                  <a:schemeClr val="bg1"/>
                </a:solidFill>
                <a:highlight>
                  <a:srgbClr val="0000FF"/>
                </a:highlight>
                <a:latin typeface="Consolas" panose="020B0609020204030204" pitchFamily="49" charset="0"/>
              </a:rPr>
              <a:t> </a:t>
            </a:r>
            <a:r>
              <a:rPr lang="sk-SK" sz="1000" dirty="0" err="1">
                <a:solidFill>
                  <a:schemeClr val="bg1"/>
                </a:solidFill>
                <a:highlight>
                  <a:srgbClr val="0000FF"/>
                </a:highlight>
                <a:latin typeface="Consolas" panose="020B0609020204030204" pitchFamily="49" charset="0"/>
              </a:rPr>
              <a:t>connected</a:t>
            </a:r>
            <a:r>
              <a:rPr lang="sk-SK" sz="1000" dirty="0">
                <a:solidFill>
                  <a:schemeClr val="bg1"/>
                </a:solidFill>
                <a:highlight>
                  <a:srgbClr val="0000FF"/>
                </a:highlight>
                <a:latin typeface="Consolas" panose="020B0609020204030204" pitchFamily="49" charset="0"/>
              </a:rPr>
              <a:t>,</a:t>
            </a:r>
          </a:p>
          <a:p>
            <a:r>
              <a:rPr lang="sk-SK" sz="1000" dirty="0">
                <a:solidFill>
                  <a:schemeClr val="bg1"/>
                </a:solidFill>
                <a:highlight>
                  <a:srgbClr val="0000FF"/>
                </a:highlight>
                <a:latin typeface="Consolas" panose="020B0609020204030204" pitchFamily="49" charset="0"/>
              </a:rPr>
              <a:t>      02:53:05, Loopback0</a:t>
            </a:r>
          </a:p>
          <a:p>
            <a:r>
              <a:rPr lang="sk-SK" sz="1000" dirty="0">
                <a:solidFill>
                  <a:schemeClr val="bg1"/>
                </a:solidFill>
                <a:highlight>
                  <a:srgbClr val="000080"/>
                </a:highlight>
                <a:latin typeface="Consolas" panose="020B0609020204030204" pitchFamily="49" charset="0"/>
              </a:rPr>
              <a:t>i L2 2001:9999::4/128 </a:t>
            </a:r>
          </a:p>
          <a:p>
            <a:r>
              <a:rPr lang="sk-SK" sz="1000" dirty="0">
                <a:solidFill>
                  <a:schemeClr val="bg1"/>
                </a:solidFill>
                <a:highlight>
                  <a:srgbClr val="000080"/>
                </a:highlight>
                <a:latin typeface="Consolas" panose="020B0609020204030204" pitchFamily="49" charset="0"/>
              </a:rPr>
              <a:t>      [115/10] </a:t>
            </a:r>
            <a:r>
              <a:rPr lang="sk-SK" sz="1000" dirty="0" err="1">
                <a:solidFill>
                  <a:schemeClr val="bg1"/>
                </a:solidFill>
                <a:highlight>
                  <a:srgbClr val="000080"/>
                </a:highlight>
                <a:latin typeface="Consolas" panose="020B0609020204030204" pitchFamily="49" charset="0"/>
              </a:rPr>
              <a:t>via</a:t>
            </a:r>
            <a:r>
              <a:rPr lang="sk-SK" sz="1000" dirty="0">
                <a:solidFill>
                  <a:schemeClr val="bg1"/>
                </a:solidFill>
                <a:highlight>
                  <a:srgbClr val="000080"/>
                </a:highlight>
                <a:latin typeface="Consolas" panose="020B0609020204030204" pitchFamily="49" charset="0"/>
              </a:rPr>
              <a:t> fe80::5054:ff:fe11:2f5e, 02:51:37, GigabitEthernet0/0/0/3</a:t>
            </a:r>
          </a:p>
          <a:p>
            <a:r>
              <a:rPr lang="sk-SK" sz="1000" dirty="0">
                <a:highlight>
                  <a:srgbClr val="00FF00"/>
                </a:highlight>
                <a:latin typeface="Consolas" panose="020B0609020204030204" pitchFamily="49" charset="0"/>
              </a:rPr>
              <a:t>i L2 fc00:ab00:1::/64 </a:t>
            </a:r>
          </a:p>
          <a:p>
            <a:r>
              <a:rPr lang="sk-SK" sz="1000" dirty="0">
                <a:highlight>
                  <a:srgbClr val="00FF00"/>
                </a:highlight>
                <a:latin typeface="Consolas" panose="020B0609020204030204" pitchFamily="49" charset="0"/>
              </a:rPr>
              <a:t>      [115/21] </a:t>
            </a:r>
            <a:r>
              <a:rPr lang="sk-SK" sz="1000" dirty="0" err="1">
                <a:highlight>
                  <a:srgbClr val="00FF00"/>
                </a:highlight>
                <a:latin typeface="Consolas" panose="020B0609020204030204" pitchFamily="49" charset="0"/>
              </a:rPr>
              <a:t>via</a:t>
            </a:r>
            <a:r>
              <a:rPr lang="sk-SK" sz="1000" dirty="0">
                <a:highlight>
                  <a:srgbClr val="00FF00"/>
                </a:highlight>
                <a:latin typeface="Consolas" panose="020B0609020204030204" pitchFamily="49" charset="0"/>
              </a:rPr>
              <a:t> fe80::5054:ff:fe03:dd9a, 02:55:45, GigabitEthernet0/0/0/2</a:t>
            </a:r>
          </a:p>
          <a:p>
            <a:r>
              <a:rPr lang="sk-SK" sz="1000" dirty="0">
                <a:highlight>
                  <a:srgbClr val="FF00FF"/>
                </a:highlight>
                <a:latin typeface="Consolas" panose="020B0609020204030204" pitchFamily="49" charset="0"/>
              </a:rPr>
              <a:t>i L2 fc00:ab00:2::/64 </a:t>
            </a:r>
          </a:p>
          <a:p>
            <a:r>
              <a:rPr lang="sk-SK" sz="1000" dirty="0">
                <a:highlight>
                  <a:srgbClr val="FF00FF"/>
                </a:highlight>
                <a:latin typeface="Consolas" panose="020B0609020204030204" pitchFamily="49" charset="0"/>
              </a:rPr>
              <a:t>      [115/11] </a:t>
            </a:r>
            <a:r>
              <a:rPr lang="sk-SK" sz="1000" dirty="0" err="1">
                <a:highlight>
                  <a:srgbClr val="FF00FF"/>
                </a:highlight>
                <a:latin typeface="Consolas" panose="020B0609020204030204" pitchFamily="49" charset="0"/>
              </a:rPr>
              <a:t>via</a:t>
            </a:r>
            <a:r>
              <a:rPr lang="sk-SK" sz="1000" dirty="0">
                <a:highlight>
                  <a:srgbClr val="FF00FF"/>
                </a:highlight>
                <a:latin typeface="Consolas" panose="020B0609020204030204" pitchFamily="49" charset="0"/>
              </a:rPr>
              <a:t> fe80::5054:ff:fe03:dd9a, 02:54:15, GigabitEthernet0/0/0/2</a:t>
            </a:r>
          </a:p>
          <a:p>
            <a:r>
              <a:rPr lang="sk-SK" sz="1000" dirty="0">
                <a:highlight>
                  <a:srgbClr val="FF0000"/>
                </a:highlight>
                <a:latin typeface="Consolas" panose="020B0609020204030204" pitchFamily="49" charset="0"/>
              </a:rPr>
              <a:t>L    fc00:ab00:3:0:1::/128, SRv6 </a:t>
            </a:r>
            <a:r>
              <a:rPr lang="sk-SK" sz="1000" dirty="0" err="1">
                <a:highlight>
                  <a:srgbClr val="FF0000"/>
                </a:highlight>
                <a:latin typeface="Consolas" panose="020B0609020204030204" pitchFamily="49" charset="0"/>
              </a:rPr>
              <a:t>Endpoint</a:t>
            </a:r>
            <a:r>
              <a:rPr lang="sk-SK" sz="1000" dirty="0">
                <a:highlight>
                  <a:srgbClr val="FF0000"/>
                </a:highlight>
                <a:latin typeface="Consolas" panose="020B0609020204030204" pitchFamily="49" charset="0"/>
              </a:rPr>
              <a:t> End (PSP/USD) </a:t>
            </a:r>
          </a:p>
          <a:p>
            <a:r>
              <a:rPr lang="sk-SK" sz="1000" dirty="0">
                <a:highlight>
                  <a:srgbClr val="FF0000"/>
                </a:highlight>
                <a:latin typeface="Consolas" panose="020B0609020204030204" pitchFamily="49" charset="0"/>
              </a:rPr>
              <a:t>      [0/0] </a:t>
            </a:r>
            <a:r>
              <a:rPr lang="sk-SK" sz="1000" dirty="0" err="1">
                <a:highlight>
                  <a:srgbClr val="FF0000"/>
                </a:highlight>
                <a:latin typeface="Consolas" panose="020B0609020204030204" pitchFamily="49" charset="0"/>
              </a:rPr>
              <a:t>via</a:t>
            </a:r>
            <a:r>
              <a:rPr lang="sk-SK" sz="1000" dirty="0">
                <a:highlight>
                  <a:srgbClr val="FF0000"/>
                </a:highlight>
                <a:latin typeface="Consolas" panose="020B0609020204030204" pitchFamily="49" charset="0"/>
              </a:rPr>
              <a:t> ::, 03:49:21</a:t>
            </a:r>
          </a:p>
          <a:p>
            <a:r>
              <a:rPr lang="sk-SK" sz="1000" dirty="0">
                <a:highlight>
                  <a:srgbClr val="FF0000"/>
                </a:highlight>
                <a:latin typeface="Consolas" panose="020B0609020204030204" pitchFamily="49" charset="0"/>
              </a:rPr>
              <a:t>L    fc00:ab00:3:0:40::/128, SRv6 </a:t>
            </a:r>
            <a:r>
              <a:rPr lang="sk-SK" sz="1000" dirty="0" err="1">
                <a:highlight>
                  <a:srgbClr val="FF0000"/>
                </a:highlight>
                <a:latin typeface="Consolas" panose="020B0609020204030204" pitchFamily="49" charset="0"/>
              </a:rPr>
              <a:t>Endpoint</a:t>
            </a:r>
            <a:r>
              <a:rPr lang="sk-SK" sz="1000" dirty="0">
                <a:highlight>
                  <a:srgbClr val="FF0000"/>
                </a:highlight>
                <a:latin typeface="Consolas" panose="020B0609020204030204" pitchFamily="49" charset="0"/>
              </a:rPr>
              <a:t> </a:t>
            </a:r>
            <a:r>
              <a:rPr lang="sk-SK" sz="1000" dirty="0" err="1">
                <a:highlight>
                  <a:srgbClr val="FF0000"/>
                </a:highlight>
                <a:latin typeface="Consolas" panose="020B0609020204030204" pitchFamily="49" charset="0"/>
              </a:rPr>
              <a:t>End.X</a:t>
            </a:r>
            <a:r>
              <a:rPr lang="sk-SK" sz="1000" dirty="0">
                <a:highlight>
                  <a:srgbClr val="FF0000"/>
                </a:highlight>
                <a:latin typeface="Consolas" panose="020B0609020204030204" pitchFamily="49" charset="0"/>
              </a:rPr>
              <a:t> (PSP/USD) </a:t>
            </a:r>
          </a:p>
          <a:p>
            <a:r>
              <a:rPr lang="sk-SK" sz="1000" dirty="0">
                <a:highlight>
                  <a:srgbClr val="FF0000"/>
                </a:highlight>
                <a:latin typeface="Consolas" panose="020B0609020204030204" pitchFamily="49" charset="0"/>
              </a:rPr>
              <a:t>      [0/0] </a:t>
            </a:r>
            <a:r>
              <a:rPr lang="sk-SK" sz="1000" dirty="0" err="1">
                <a:highlight>
                  <a:srgbClr val="FF0000"/>
                </a:highlight>
                <a:latin typeface="Consolas" panose="020B0609020204030204" pitchFamily="49" charset="0"/>
              </a:rPr>
              <a:t>via</a:t>
            </a:r>
            <a:r>
              <a:rPr lang="sk-SK" sz="1000" dirty="0">
                <a:highlight>
                  <a:srgbClr val="FF0000"/>
                </a:highlight>
                <a:latin typeface="Consolas" panose="020B0609020204030204" pitchFamily="49" charset="0"/>
              </a:rPr>
              <a:t> fe80::5054:ff:fe03:dd9a, 03:46:26, GigabitEthernet0/0/0/2</a:t>
            </a:r>
          </a:p>
          <a:p>
            <a:r>
              <a:rPr lang="sk-SK" sz="1000" dirty="0">
                <a:highlight>
                  <a:srgbClr val="FF0000"/>
                </a:highlight>
                <a:latin typeface="Consolas" panose="020B0609020204030204" pitchFamily="49" charset="0"/>
              </a:rPr>
              <a:t>L    fc00:ab00:3:0:41::/128, SRv6 </a:t>
            </a:r>
            <a:r>
              <a:rPr lang="sk-SK" sz="1000" dirty="0" err="1">
                <a:highlight>
                  <a:srgbClr val="FF0000"/>
                </a:highlight>
                <a:latin typeface="Consolas" panose="020B0609020204030204" pitchFamily="49" charset="0"/>
              </a:rPr>
              <a:t>Endpoint</a:t>
            </a:r>
            <a:r>
              <a:rPr lang="sk-SK" sz="1000" dirty="0">
                <a:highlight>
                  <a:srgbClr val="FF0000"/>
                </a:highlight>
                <a:latin typeface="Consolas" panose="020B0609020204030204" pitchFamily="49" charset="0"/>
              </a:rPr>
              <a:t> </a:t>
            </a:r>
            <a:r>
              <a:rPr lang="sk-SK" sz="1000" dirty="0" err="1">
                <a:highlight>
                  <a:srgbClr val="FF0000"/>
                </a:highlight>
                <a:latin typeface="Consolas" panose="020B0609020204030204" pitchFamily="49" charset="0"/>
              </a:rPr>
              <a:t>End.X</a:t>
            </a:r>
            <a:r>
              <a:rPr lang="sk-SK" sz="1000" dirty="0">
                <a:highlight>
                  <a:srgbClr val="FF0000"/>
                </a:highlight>
                <a:latin typeface="Consolas" panose="020B0609020204030204" pitchFamily="49" charset="0"/>
              </a:rPr>
              <a:t> (PSP/USD) </a:t>
            </a:r>
          </a:p>
          <a:p>
            <a:r>
              <a:rPr lang="sk-SK" sz="1000" dirty="0">
                <a:highlight>
                  <a:srgbClr val="FF0000"/>
                </a:highlight>
                <a:latin typeface="Consolas" panose="020B0609020204030204" pitchFamily="49" charset="0"/>
              </a:rPr>
              <a:t>      [0/0] </a:t>
            </a:r>
            <a:r>
              <a:rPr lang="sk-SK" sz="1000" dirty="0" err="1">
                <a:highlight>
                  <a:srgbClr val="FF0000"/>
                </a:highlight>
                <a:latin typeface="Consolas" panose="020B0609020204030204" pitchFamily="49" charset="0"/>
              </a:rPr>
              <a:t>via</a:t>
            </a:r>
            <a:r>
              <a:rPr lang="sk-SK" sz="1000" dirty="0">
                <a:highlight>
                  <a:srgbClr val="FF0000"/>
                </a:highlight>
                <a:latin typeface="Consolas" panose="020B0609020204030204" pitchFamily="49" charset="0"/>
              </a:rPr>
              <a:t> fe80::5054:ff:fe11:2f5e, 03:43:51, GigabitEthernet0/0/0/3</a:t>
            </a:r>
          </a:p>
          <a:p>
            <a:r>
              <a:rPr lang="sk-SK" sz="1000" dirty="0">
                <a:highlight>
                  <a:srgbClr val="008080"/>
                </a:highlight>
                <a:latin typeface="Consolas" panose="020B0609020204030204" pitchFamily="49" charset="0"/>
              </a:rPr>
              <a:t>i L2 fc00:ab00:4::/64 </a:t>
            </a:r>
          </a:p>
          <a:p>
            <a:r>
              <a:rPr lang="sk-SK" sz="1000" dirty="0">
                <a:highlight>
                  <a:srgbClr val="008080"/>
                </a:highlight>
                <a:latin typeface="Consolas" panose="020B0609020204030204" pitchFamily="49" charset="0"/>
              </a:rPr>
              <a:t>      [115/11] </a:t>
            </a:r>
            <a:r>
              <a:rPr lang="sk-SK" sz="1000" dirty="0" err="1">
                <a:highlight>
                  <a:srgbClr val="008080"/>
                </a:highlight>
                <a:latin typeface="Consolas" panose="020B0609020204030204" pitchFamily="49" charset="0"/>
              </a:rPr>
              <a:t>via</a:t>
            </a:r>
            <a:r>
              <a:rPr lang="sk-SK" sz="1000" dirty="0">
                <a:highlight>
                  <a:srgbClr val="008080"/>
                </a:highlight>
                <a:latin typeface="Consolas" panose="020B0609020204030204" pitchFamily="49" charset="0"/>
              </a:rPr>
              <a:t> fe80::5054:ff:fe11:2f5e, 02:51:37, GigabitEthernet0/0/0/3</a:t>
            </a:r>
          </a:p>
          <a:p>
            <a:r>
              <a:rPr lang="en-US" sz="1000" dirty="0">
                <a:latin typeface="Consolas" panose="020B0609020204030204" pitchFamily="49" charset="0"/>
              </a:rPr>
              <a:t>-- Cut --</a:t>
            </a:r>
            <a:endParaRPr lang="sk-SK" sz="1000" dirty="0">
              <a:latin typeface="Consolas" panose="020B0609020204030204" pitchFamily="49" charset="0"/>
            </a:endParaRPr>
          </a:p>
          <a:p>
            <a:r>
              <a:rPr lang="sk-SK" sz="1000" dirty="0">
                <a:latin typeface="Consolas" panose="020B0609020204030204" pitchFamily="49" charset="0"/>
              </a:rPr>
              <a:t>RP/0/RP0/CPU0:R03#</a:t>
            </a:r>
            <a:endParaRPr lang="sk-SK" sz="1000" dirty="0">
              <a:solidFill>
                <a:srgbClr val="FF0000"/>
              </a:solidFill>
              <a:latin typeface="Consolas" panose="020B0609020204030204" pitchFamily="49" charset="0"/>
            </a:endParaRPr>
          </a:p>
        </p:txBody>
      </p:sp>
      <p:cxnSp>
        <p:nvCxnSpPr>
          <p:cNvPr id="17" name="Straight Arrow Connector 16">
            <a:extLst>
              <a:ext uri="{FF2B5EF4-FFF2-40B4-BE49-F238E27FC236}">
                <a16:creationId xmlns:a16="http://schemas.microsoft.com/office/drawing/2014/main" id="{33E3A1F2-97F8-DA6A-3BF4-2AADBDA7B990}"/>
              </a:ext>
            </a:extLst>
          </p:cNvPr>
          <p:cNvCxnSpPr>
            <a:cxnSpLocks/>
          </p:cNvCxnSpPr>
          <p:nvPr/>
        </p:nvCxnSpPr>
        <p:spPr>
          <a:xfrm>
            <a:off x="4874133" y="2854214"/>
            <a:ext cx="1389887" cy="18470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208030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2C8C810-2CB6-E947-7135-6DE4DB5D497E}"/>
              </a:ext>
            </a:extLst>
          </p:cNvPr>
          <p:cNvSpPr>
            <a:spLocks noGrp="1"/>
          </p:cNvSpPr>
          <p:nvPr>
            <p:ph type="body" sz="quarter" idx="11"/>
          </p:nvPr>
        </p:nvSpPr>
        <p:spPr/>
        <p:txBody>
          <a:bodyPr/>
          <a:lstStyle/>
          <a:p>
            <a:r>
              <a:rPr lang="en-US" dirty="0"/>
              <a:t>Full SID</a:t>
            </a:r>
          </a:p>
        </p:txBody>
      </p:sp>
      <p:sp>
        <p:nvSpPr>
          <p:cNvPr id="19" name="Rectangle 18">
            <a:extLst>
              <a:ext uri="{FF2B5EF4-FFF2-40B4-BE49-F238E27FC236}">
                <a16:creationId xmlns:a16="http://schemas.microsoft.com/office/drawing/2014/main" id="{14FA83B6-F9AF-8857-BD09-EBA0577B0521}"/>
              </a:ext>
            </a:extLst>
          </p:cNvPr>
          <p:cNvSpPr/>
          <p:nvPr/>
        </p:nvSpPr>
        <p:spPr>
          <a:xfrm>
            <a:off x="0" y="4290994"/>
            <a:ext cx="8613647" cy="2554545"/>
          </a:xfrm>
          <a:prstGeom prst="rect">
            <a:avLst/>
          </a:prstGeom>
          <a:solidFill>
            <a:schemeClr val="bg1">
              <a:lumMod val="95000"/>
            </a:schemeClr>
          </a:solidFill>
          <a:ln>
            <a:solidFill>
              <a:schemeClr val="tx1"/>
            </a:solidFill>
          </a:ln>
          <a:effectLst/>
        </p:spPr>
        <p:txBody>
          <a:bodyPr wrap="square">
            <a:spAutoFit/>
          </a:bodyPr>
          <a:lstStyle/>
          <a:p>
            <a:r>
              <a:rPr lang="sk-SK" sz="1000" dirty="0">
                <a:latin typeface="Consolas" panose="020B0609020204030204" pitchFamily="49" charset="0"/>
              </a:rPr>
              <a:t>RP/0/RP0/CPU0:R04#sh segment-routing srv6 </a:t>
            </a:r>
            <a:r>
              <a:rPr lang="sk-SK" sz="1000" dirty="0" err="1">
                <a:latin typeface="Consolas" panose="020B0609020204030204" pitchFamily="49" charset="0"/>
              </a:rPr>
              <a:t>locator</a:t>
            </a:r>
            <a:r>
              <a:rPr lang="sk-SK" sz="1000" dirty="0">
                <a:latin typeface="Consolas" panose="020B0609020204030204" pitchFamily="49" charset="0"/>
              </a:rPr>
              <a:t> </a:t>
            </a:r>
          </a:p>
          <a:p>
            <a:r>
              <a:rPr lang="sk-SK" sz="1000" dirty="0" err="1">
                <a:latin typeface="Consolas" panose="020B0609020204030204" pitchFamily="49" charset="0"/>
              </a:rPr>
              <a:t>Wed</a:t>
            </a:r>
            <a:r>
              <a:rPr lang="sk-SK" sz="1000" dirty="0">
                <a:latin typeface="Consolas" panose="020B0609020204030204" pitchFamily="49" charset="0"/>
              </a:rPr>
              <a:t> </a:t>
            </a:r>
            <a:r>
              <a:rPr lang="sk-SK" sz="1000" dirty="0" err="1">
                <a:latin typeface="Consolas" panose="020B0609020204030204" pitchFamily="49" charset="0"/>
              </a:rPr>
              <a:t>Oct</a:t>
            </a:r>
            <a:r>
              <a:rPr lang="sk-SK" sz="1000" dirty="0">
                <a:latin typeface="Consolas" panose="020B0609020204030204" pitchFamily="49" charset="0"/>
              </a:rPr>
              <a:t>  2 13:11:57.420 UTC</a:t>
            </a:r>
          </a:p>
          <a:p>
            <a:r>
              <a:rPr lang="sk-SK" sz="1000" dirty="0" err="1">
                <a:latin typeface="Consolas" panose="020B0609020204030204" pitchFamily="49" charset="0"/>
              </a:rPr>
              <a:t>Name</a:t>
            </a:r>
            <a:r>
              <a:rPr lang="sk-SK" sz="1000" dirty="0">
                <a:latin typeface="Consolas" panose="020B0609020204030204" pitchFamily="49" charset="0"/>
              </a:rPr>
              <a:t>                  ID       </a:t>
            </a:r>
            <a:r>
              <a:rPr lang="sk-SK" sz="1000" dirty="0" err="1">
                <a:latin typeface="Consolas" panose="020B0609020204030204" pitchFamily="49" charset="0"/>
              </a:rPr>
              <a:t>Algo</a:t>
            </a:r>
            <a:r>
              <a:rPr lang="sk-SK" sz="1000" dirty="0">
                <a:latin typeface="Consolas" panose="020B0609020204030204" pitchFamily="49" charset="0"/>
              </a:rPr>
              <a:t>  Prefix                    Status   </a:t>
            </a:r>
            <a:r>
              <a:rPr lang="sk-SK" sz="1000" dirty="0" err="1">
                <a:latin typeface="Consolas" panose="020B0609020204030204" pitchFamily="49" charset="0"/>
              </a:rPr>
              <a:t>Flags</a:t>
            </a:r>
            <a:r>
              <a:rPr lang="sk-SK" sz="1000" dirty="0">
                <a:latin typeface="Consolas" panose="020B0609020204030204" pitchFamily="49" charset="0"/>
              </a:rPr>
              <a:t>   </a:t>
            </a:r>
          </a:p>
          <a:p>
            <a:r>
              <a:rPr lang="sk-SK" sz="1000" dirty="0">
                <a:latin typeface="Consolas" panose="020B0609020204030204" pitchFamily="49" charset="0"/>
              </a:rPr>
              <a:t>--------------------  -------  ----  ------------------------  -------  --------</a:t>
            </a:r>
          </a:p>
          <a:p>
            <a:r>
              <a:rPr lang="sk-SK" sz="1000" dirty="0">
                <a:latin typeface="Consolas" panose="020B0609020204030204" pitchFamily="49" charset="0"/>
              </a:rPr>
              <a:t>MyFullLoc01           1        0     fc00:ab00:4::/64          </a:t>
            </a:r>
            <a:r>
              <a:rPr lang="sk-SK" sz="1000" dirty="0" err="1">
                <a:latin typeface="Consolas" panose="020B0609020204030204" pitchFamily="49" charset="0"/>
              </a:rPr>
              <a:t>Up</a:t>
            </a:r>
            <a:r>
              <a:rPr lang="sk-SK" sz="1000" dirty="0">
                <a:latin typeface="Consolas" panose="020B0609020204030204" pitchFamily="49" charset="0"/>
              </a:rPr>
              <a:t>               </a:t>
            </a:r>
          </a:p>
          <a:p>
            <a:r>
              <a:rPr lang="sk-SK" sz="1000" dirty="0">
                <a:latin typeface="Consolas" panose="020B0609020204030204" pitchFamily="49" charset="0"/>
              </a:rPr>
              <a:t>RP/0/RP0/CPU0:R04#sh segment-routing srv6 </a:t>
            </a:r>
            <a:r>
              <a:rPr lang="sk-SK" sz="1000" dirty="0" err="1">
                <a:latin typeface="Consolas" panose="020B0609020204030204" pitchFamily="49" charset="0"/>
              </a:rPr>
              <a:t>sid</a:t>
            </a:r>
            <a:r>
              <a:rPr lang="sk-SK" sz="1000" dirty="0">
                <a:latin typeface="Consolas" panose="020B0609020204030204" pitchFamily="49" charset="0"/>
              </a:rPr>
              <a:t> </a:t>
            </a:r>
            <a:r>
              <a:rPr lang="sk-SK" sz="1000" dirty="0" err="1">
                <a:latin typeface="Consolas" panose="020B0609020204030204" pitchFamily="49" charset="0"/>
              </a:rPr>
              <a:t>all</a:t>
            </a:r>
            <a:r>
              <a:rPr lang="sk-SK" sz="1000" dirty="0">
                <a:latin typeface="Consolas" panose="020B0609020204030204" pitchFamily="49" charset="0"/>
              </a:rPr>
              <a:t> </a:t>
            </a:r>
          </a:p>
          <a:p>
            <a:r>
              <a:rPr lang="sk-SK" sz="1000" dirty="0" err="1">
                <a:latin typeface="Consolas" panose="020B0609020204030204" pitchFamily="49" charset="0"/>
              </a:rPr>
              <a:t>Wed</a:t>
            </a:r>
            <a:r>
              <a:rPr lang="sk-SK" sz="1000" dirty="0">
                <a:latin typeface="Consolas" panose="020B0609020204030204" pitchFamily="49" charset="0"/>
              </a:rPr>
              <a:t> </a:t>
            </a:r>
            <a:r>
              <a:rPr lang="sk-SK" sz="1000" dirty="0" err="1">
                <a:latin typeface="Consolas" panose="020B0609020204030204" pitchFamily="49" charset="0"/>
              </a:rPr>
              <a:t>Oct</a:t>
            </a:r>
            <a:r>
              <a:rPr lang="sk-SK" sz="1000" dirty="0">
                <a:latin typeface="Consolas" panose="020B0609020204030204" pitchFamily="49" charset="0"/>
              </a:rPr>
              <a:t>  2 13:12:02.846 UTC</a:t>
            </a:r>
          </a:p>
          <a:p>
            <a:endParaRPr lang="sk-SK" sz="1000" dirty="0">
              <a:latin typeface="Consolas" panose="020B0609020204030204" pitchFamily="49" charset="0"/>
            </a:endParaRPr>
          </a:p>
          <a:p>
            <a:r>
              <a:rPr lang="sk-SK" sz="1000" dirty="0">
                <a:latin typeface="Consolas" panose="020B0609020204030204" pitchFamily="49" charset="0"/>
              </a:rPr>
              <a:t>*** </a:t>
            </a:r>
            <a:r>
              <a:rPr lang="sk-SK" sz="1000" dirty="0" err="1">
                <a:latin typeface="Consolas" panose="020B0609020204030204" pitchFamily="49" charset="0"/>
              </a:rPr>
              <a:t>Locator</a:t>
            </a:r>
            <a:r>
              <a:rPr lang="sk-SK" sz="1000" dirty="0">
                <a:latin typeface="Consolas" panose="020B0609020204030204" pitchFamily="49" charset="0"/>
              </a:rPr>
              <a:t>: 'MyFullLoc01' *** </a:t>
            </a:r>
          </a:p>
          <a:p>
            <a:endParaRPr lang="sk-SK" sz="1000" dirty="0">
              <a:latin typeface="Consolas" panose="020B0609020204030204" pitchFamily="49" charset="0"/>
            </a:endParaRPr>
          </a:p>
          <a:p>
            <a:r>
              <a:rPr lang="sk-SK" sz="1000" dirty="0">
                <a:latin typeface="Consolas" panose="020B0609020204030204" pitchFamily="49" charset="0"/>
              </a:rPr>
              <a:t>SID                         </a:t>
            </a:r>
            <a:r>
              <a:rPr lang="sk-SK" sz="1000" dirty="0" err="1">
                <a:latin typeface="Consolas" panose="020B0609020204030204" pitchFamily="49" charset="0"/>
              </a:rPr>
              <a:t>Behavior</a:t>
            </a:r>
            <a:r>
              <a:rPr lang="sk-SK" sz="1000" dirty="0">
                <a:latin typeface="Consolas" panose="020B0609020204030204" pitchFamily="49" charset="0"/>
              </a:rPr>
              <a:t>          </a:t>
            </a:r>
            <a:r>
              <a:rPr lang="sk-SK" sz="1000" dirty="0" err="1">
                <a:latin typeface="Consolas" panose="020B0609020204030204" pitchFamily="49" charset="0"/>
              </a:rPr>
              <a:t>Context</a:t>
            </a:r>
            <a:r>
              <a:rPr lang="sk-SK" sz="1000" dirty="0">
                <a:latin typeface="Consolas" panose="020B0609020204030204" pitchFamily="49" charset="0"/>
              </a:rPr>
              <a:t>                           </a:t>
            </a:r>
            <a:r>
              <a:rPr lang="sk-SK" sz="1000" dirty="0" err="1">
                <a:latin typeface="Consolas" panose="020B0609020204030204" pitchFamily="49" charset="0"/>
              </a:rPr>
              <a:t>Owner</a:t>
            </a:r>
            <a:r>
              <a:rPr lang="sk-SK" sz="1000" dirty="0">
                <a:latin typeface="Consolas" panose="020B0609020204030204" pitchFamily="49" charset="0"/>
              </a:rPr>
              <a:t>               State  RW</a:t>
            </a:r>
          </a:p>
          <a:p>
            <a:r>
              <a:rPr lang="sk-SK" sz="1000" dirty="0">
                <a:latin typeface="Consolas" panose="020B0609020204030204" pitchFamily="49" charset="0"/>
              </a:rPr>
              <a:t>--------------------------  ----------------  --------------------------------  ------------------  -----  --</a:t>
            </a:r>
          </a:p>
          <a:p>
            <a:r>
              <a:rPr lang="sk-SK" sz="1000" dirty="0">
                <a:highlight>
                  <a:srgbClr val="008080"/>
                </a:highlight>
                <a:latin typeface="Consolas" panose="020B0609020204030204" pitchFamily="49" charset="0"/>
              </a:rPr>
              <a:t>fc00:ab00:4:0:1::           End (PSP/USD)     'default':1                       </a:t>
            </a:r>
            <a:r>
              <a:rPr lang="sk-SK" sz="1000" dirty="0" err="1">
                <a:highlight>
                  <a:srgbClr val="008080"/>
                </a:highlight>
                <a:latin typeface="Consolas" panose="020B0609020204030204" pitchFamily="49" charset="0"/>
              </a:rPr>
              <a:t>sidmgr</a:t>
            </a:r>
            <a:r>
              <a:rPr lang="sk-SK" sz="1000" dirty="0">
                <a:highlight>
                  <a:srgbClr val="008080"/>
                </a:highlight>
                <a:latin typeface="Consolas" panose="020B0609020204030204" pitchFamily="49" charset="0"/>
              </a:rPr>
              <a:t>              </a:t>
            </a:r>
            <a:r>
              <a:rPr lang="sk-SK" sz="1000" dirty="0" err="1">
                <a:highlight>
                  <a:srgbClr val="008080"/>
                </a:highlight>
                <a:latin typeface="Consolas" panose="020B0609020204030204" pitchFamily="49" charset="0"/>
              </a:rPr>
              <a:t>InUse</a:t>
            </a:r>
            <a:r>
              <a:rPr lang="sk-SK" sz="1000" dirty="0">
                <a:highlight>
                  <a:srgbClr val="008080"/>
                </a:highlight>
                <a:latin typeface="Consolas" panose="020B0609020204030204" pitchFamily="49" charset="0"/>
              </a:rPr>
              <a:t>  Y </a:t>
            </a:r>
          </a:p>
          <a:p>
            <a:r>
              <a:rPr lang="sk-SK" sz="1000" dirty="0">
                <a:highlight>
                  <a:srgbClr val="008080"/>
                </a:highlight>
                <a:latin typeface="Consolas" panose="020B0609020204030204" pitchFamily="49" charset="0"/>
              </a:rPr>
              <a:t>fc00:ab00:4:0:40::          </a:t>
            </a:r>
            <a:r>
              <a:rPr lang="sk-SK" sz="1000" dirty="0" err="1">
                <a:highlight>
                  <a:srgbClr val="008080"/>
                </a:highlight>
                <a:latin typeface="Consolas" panose="020B0609020204030204" pitchFamily="49" charset="0"/>
              </a:rPr>
              <a:t>End.X</a:t>
            </a:r>
            <a:r>
              <a:rPr lang="sk-SK" sz="1000" dirty="0">
                <a:highlight>
                  <a:srgbClr val="008080"/>
                </a:highlight>
                <a:latin typeface="Consolas" panose="020B0609020204030204" pitchFamily="49" charset="0"/>
              </a:rPr>
              <a:t> (PSP/USD)   [Gi0/0/0/4, </a:t>
            </a:r>
            <a:r>
              <a:rPr lang="sk-SK" sz="1000" dirty="0" err="1">
                <a:highlight>
                  <a:srgbClr val="008080"/>
                </a:highlight>
                <a:latin typeface="Consolas" panose="020B0609020204030204" pitchFamily="49" charset="0"/>
              </a:rPr>
              <a:t>Link-Local</a:t>
            </a:r>
            <a:r>
              <a:rPr lang="sk-SK" sz="1000" dirty="0">
                <a:highlight>
                  <a:srgbClr val="008080"/>
                </a:highlight>
                <a:latin typeface="Consolas" panose="020B0609020204030204" pitchFamily="49" charset="0"/>
              </a:rPr>
              <a:t>]           isis-1              </a:t>
            </a:r>
            <a:r>
              <a:rPr lang="sk-SK" sz="1000" dirty="0" err="1">
                <a:highlight>
                  <a:srgbClr val="008080"/>
                </a:highlight>
                <a:latin typeface="Consolas" panose="020B0609020204030204" pitchFamily="49" charset="0"/>
              </a:rPr>
              <a:t>InUse</a:t>
            </a:r>
            <a:r>
              <a:rPr lang="sk-SK" sz="1000" dirty="0">
                <a:highlight>
                  <a:srgbClr val="008080"/>
                </a:highlight>
                <a:latin typeface="Consolas" panose="020B0609020204030204" pitchFamily="49" charset="0"/>
              </a:rPr>
              <a:t>  Y </a:t>
            </a:r>
          </a:p>
          <a:p>
            <a:r>
              <a:rPr lang="sk-SK" sz="1000" dirty="0">
                <a:highlight>
                  <a:srgbClr val="008080"/>
                </a:highlight>
                <a:latin typeface="Consolas" panose="020B0609020204030204" pitchFamily="49" charset="0"/>
              </a:rPr>
              <a:t>fc00:ab00:4:0:41::          </a:t>
            </a:r>
            <a:r>
              <a:rPr lang="sk-SK" sz="1000" dirty="0" err="1">
                <a:highlight>
                  <a:srgbClr val="008080"/>
                </a:highlight>
                <a:latin typeface="Consolas" panose="020B0609020204030204" pitchFamily="49" charset="0"/>
              </a:rPr>
              <a:t>End.X</a:t>
            </a:r>
            <a:r>
              <a:rPr lang="sk-SK" sz="1000" dirty="0">
                <a:highlight>
                  <a:srgbClr val="008080"/>
                </a:highlight>
                <a:latin typeface="Consolas" panose="020B0609020204030204" pitchFamily="49" charset="0"/>
              </a:rPr>
              <a:t> (PSP/USD)   [Gi0/0/0/3, </a:t>
            </a:r>
            <a:r>
              <a:rPr lang="sk-SK" sz="1000" dirty="0" err="1">
                <a:highlight>
                  <a:srgbClr val="008080"/>
                </a:highlight>
                <a:latin typeface="Consolas" panose="020B0609020204030204" pitchFamily="49" charset="0"/>
              </a:rPr>
              <a:t>Link-Local</a:t>
            </a:r>
            <a:r>
              <a:rPr lang="sk-SK" sz="1000" dirty="0">
                <a:highlight>
                  <a:srgbClr val="008080"/>
                </a:highlight>
                <a:latin typeface="Consolas" panose="020B0609020204030204" pitchFamily="49" charset="0"/>
              </a:rPr>
              <a:t>]           isis-1              </a:t>
            </a:r>
            <a:r>
              <a:rPr lang="sk-SK" sz="1000" dirty="0" err="1">
                <a:highlight>
                  <a:srgbClr val="008080"/>
                </a:highlight>
                <a:latin typeface="Consolas" panose="020B0609020204030204" pitchFamily="49" charset="0"/>
              </a:rPr>
              <a:t>InUse</a:t>
            </a:r>
            <a:r>
              <a:rPr lang="sk-SK" sz="1000" dirty="0">
                <a:highlight>
                  <a:srgbClr val="008080"/>
                </a:highlight>
                <a:latin typeface="Consolas" panose="020B0609020204030204" pitchFamily="49" charset="0"/>
              </a:rPr>
              <a:t>  Y </a:t>
            </a:r>
          </a:p>
          <a:p>
            <a:r>
              <a:rPr lang="sk-SK" sz="1000" dirty="0">
                <a:latin typeface="Consolas" panose="020B0609020204030204" pitchFamily="49" charset="0"/>
              </a:rPr>
              <a:t>RP/0/RP0/CPU0:R04#</a:t>
            </a:r>
            <a:endParaRPr lang="sk-SK" sz="1000" dirty="0">
              <a:solidFill>
                <a:srgbClr val="FF0000"/>
              </a:solidFill>
              <a:latin typeface="Consolas" panose="020B0609020204030204" pitchFamily="49" charset="0"/>
            </a:endParaRPr>
          </a:p>
        </p:txBody>
      </p:sp>
      <p:pic>
        <p:nvPicPr>
          <p:cNvPr id="23" name="Picture 22" descr="A diagram of a network&#10;&#10;Description automatically generated">
            <a:extLst>
              <a:ext uri="{FF2B5EF4-FFF2-40B4-BE49-F238E27FC236}">
                <a16:creationId xmlns:a16="http://schemas.microsoft.com/office/drawing/2014/main" id="{D85336B3-FEBA-AABA-3898-FABD567975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4718" y="44814"/>
            <a:ext cx="9257282" cy="1713245"/>
          </a:xfrm>
          <a:prstGeom prst="rect">
            <a:avLst/>
          </a:prstGeom>
        </p:spPr>
      </p:pic>
      <p:sp>
        <p:nvSpPr>
          <p:cNvPr id="21" name="Rectangle 20">
            <a:extLst>
              <a:ext uri="{FF2B5EF4-FFF2-40B4-BE49-F238E27FC236}">
                <a16:creationId xmlns:a16="http://schemas.microsoft.com/office/drawing/2014/main" id="{0F650007-BBAE-8DD1-5CC0-090B2134B029}"/>
              </a:ext>
            </a:extLst>
          </p:cNvPr>
          <p:cNvSpPr/>
          <p:nvPr/>
        </p:nvSpPr>
        <p:spPr>
          <a:xfrm>
            <a:off x="9204959" y="434593"/>
            <a:ext cx="642366" cy="701769"/>
          </a:xfrm>
          <a:prstGeom prst="rect">
            <a:avLst/>
          </a:prstGeom>
          <a:noFill/>
          <a:ln w="254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A230AD45-DE09-0369-F10B-30642BF7FAB6}"/>
              </a:ext>
            </a:extLst>
          </p:cNvPr>
          <p:cNvSpPr>
            <a:spLocks noGrp="1"/>
          </p:cNvSpPr>
          <p:nvPr>
            <p:ph type="body" sz="quarter" idx="10"/>
          </p:nvPr>
        </p:nvSpPr>
        <p:spPr>
          <a:xfrm>
            <a:off x="110490" y="1437211"/>
            <a:ext cx="4809744" cy="2182098"/>
          </a:xfrm>
        </p:spPr>
        <p:txBody>
          <a:bodyPr/>
          <a:lstStyle/>
          <a:p>
            <a:r>
              <a:rPr lang="en-US" sz="1400" dirty="0"/>
              <a:t>R01: </a:t>
            </a:r>
            <a:r>
              <a:rPr lang="en-US" sz="1400" dirty="0">
                <a:highlight>
                  <a:srgbClr val="FFFF00"/>
                </a:highlight>
              </a:rPr>
              <a:t>Lo0=2001:9999::1/128</a:t>
            </a:r>
            <a:r>
              <a:rPr lang="en-US" sz="1400" dirty="0"/>
              <a:t>; </a:t>
            </a:r>
            <a:r>
              <a:rPr lang="en-US" sz="1400" dirty="0">
                <a:highlight>
                  <a:srgbClr val="00FF00"/>
                </a:highlight>
              </a:rPr>
              <a:t>Locator=fc00:ab00:1::/64</a:t>
            </a:r>
            <a:r>
              <a:rPr lang="en-US" sz="1400" dirty="0"/>
              <a:t>; NET=49.0001.0000.0000.0001.00</a:t>
            </a:r>
          </a:p>
          <a:p>
            <a:r>
              <a:rPr lang="en-US" sz="1400" dirty="0"/>
              <a:t>R02: </a:t>
            </a:r>
            <a:r>
              <a:rPr lang="en-US" sz="1400" dirty="0">
                <a:highlight>
                  <a:srgbClr val="00FFFF"/>
                </a:highlight>
              </a:rPr>
              <a:t>Lo0=2001:9999::2/128</a:t>
            </a:r>
            <a:r>
              <a:rPr lang="en-US" sz="1400" dirty="0"/>
              <a:t>; </a:t>
            </a:r>
            <a:r>
              <a:rPr lang="en-US" sz="1400" dirty="0">
                <a:highlight>
                  <a:srgbClr val="FF00FF"/>
                </a:highlight>
              </a:rPr>
              <a:t>Locator=fc00:ab00:2::/64</a:t>
            </a:r>
            <a:r>
              <a:rPr lang="en-US" sz="1400" dirty="0"/>
              <a:t>; NET=49.0001.0000.0000.0002.00</a:t>
            </a:r>
          </a:p>
          <a:p>
            <a:r>
              <a:rPr lang="en-US" sz="1400" dirty="0"/>
              <a:t>R03: </a:t>
            </a:r>
            <a:r>
              <a:rPr lang="en-US" sz="1400" dirty="0">
                <a:solidFill>
                  <a:schemeClr val="bg1"/>
                </a:solidFill>
                <a:highlight>
                  <a:srgbClr val="0000FF"/>
                </a:highlight>
              </a:rPr>
              <a:t>Lo0=2001:9999::3/128</a:t>
            </a:r>
            <a:r>
              <a:rPr lang="en-US" sz="1400" dirty="0"/>
              <a:t>; </a:t>
            </a:r>
            <a:r>
              <a:rPr lang="en-US" sz="1400" dirty="0">
                <a:highlight>
                  <a:srgbClr val="FF0000"/>
                </a:highlight>
              </a:rPr>
              <a:t>Locator=fc00:ab00:3::/64</a:t>
            </a:r>
            <a:r>
              <a:rPr lang="en-US" sz="1400" dirty="0"/>
              <a:t>; NET=49.0001.0000.0000.0003.00</a:t>
            </a:r>
          </a:p>
          <a:p>
            <a:r>
              <a:rPr lang="en-US" sz="1400" dirty="0"/>
              <a:t>R04: </a:t>
            </a:r>
            <a:r>
              <a:rPr lang="en-US" sz="1400" dirty="0">
                <a:solidFill>
                  <a:schemeClr val="bg1"/>
                </a:solidFill>
                <a:highlight>
                  <a:srgbClr val="000080"/>
                </a:highlight>
              </a:rPr>
              <a:t>Lo0=2001:9999::4/128</a:t>
            </a:r>
            <a:r>
              <a:rPr lang="en-US" sz="1400" dirty="0"/>
              <a:t>; </a:t>
            </a:r>
            <a:r>
              <a:rPr lang="en-US" sz="1400" dirty="0">
                <a:highlight>
                  <a:srgbClr val="008080"/>
                </a:highlight>
              </a:rPr>
              <a:t>Locator=fc00:ab00:4::/64</a:t>
            </a:r>
            <a:r>
              <a:rPr lang="en-US" sz="1400" dirty="0"/>
              <a:t>; NET=49.0001.0000.0000.0004.00</a:t>
            </a:r>
          </a:p>
          <a:p>
            <a:endParaRPr lang="en-US" sz="1400" dirty="0"/>
          </a:p>
        </p:txBody>
      </p:sp>
      <p:sp>
        <p:nvSpPr>
          <p:cNvPr id="7" name="Rectangle 6">
            <a:extLst>
              <a:ext uri="{FF2B5EF4-FFF2-40B4-BE49-F238E27FC236}">
                <a16:creationId xmlns:a16="http://schemas.microsoft.com/office/drawing/2014/main" id="{0967F153-BAB2-037A-945A-78B4F6704383}"/>
              </a:ext>
            </a:extLst>
          </p:cNvPr>
          <p:cNvSpPr/>
          <p:nvPr/>
        </p:nvSpPr>
        <p:spPr>
          <a:xfrm>
            <a:off x="6217919" y="1726483"/>
            <a:ext cx="5974081" cy="4247317"/>
          </a:xfrm>
          <a:prstGeom prst="rect">
            <a:avLst/>
          </a:prstGeom>
          <a:solidFill>
            <a:schemeClr val="bg1">
              <a:lumMod val="95000"/>
            </a:schemeClr>
          </a:solidFill>
          <a:ln>
            <a:solidFill>
              <a:schemeClr val="tx1"/>
            </a:solidFill>
          </a:ln>
          <a:effectLst/>
        </p:spPr>
        <p:txBody>
          <a:bodyPr wrap="square">
            <a:spAutoFit/>
          </a:bodyPr>
          <a:lstStyle/>
          <a:p>
            <a:r>
              <a:rPr lang="sk-SK" sz="1000" dirty="0">
                <a:latin typeface="Consolas" panose="020B0609020204030204" pitchFamily="49" charset="0"/>
              </a:rPr>
              <a:t>RP/0/RP0/CPU0:</a:t>
            </a:r>
            <a:r>
              <a:rPr lang="sk-SK" sz="1000" b="1" dirty="0">
                <a:latin typeface="Consolas" panose="020B0609020204030204" pitchFamily="49" charset="0"/>
              </a:rPr>
              <a:t>R04</a:t>
            </a:r>
            <a:r>
              <a:rPr lang="sk-SK" sz="1000" dirty="0">
                <a:latin typeface="Consolas" panose="020B0609020204030204" pitchFamily="49" charset="0"/>
              </a:rPr>
              <a:t>#sh </a:t>
            </a:r>
            <a:r>
              <a:rPr lang="sk-SK" sz="1000" dirty="0" err="1">
                <a:latin typeface="Consolas" panose="020B0609020204030204" pitchFamily="49" charset="0"/>
              </a:rPr>
              <a:t>route</a:t>
            </a:r>
            <a:r>
              <a:rPr lang="sk-SK" sz="1000" dirty="0">
                <a:latin typeface="Consolas" panose="020B0609020204030204" pitchFamily="49" charset="0"/>
              </a:rPr>
              <a:t> ipv6</a:t>
            </a:r>
          </a:p>
          <a:p>
            <a:r>
              <a:rPr lang="en-US" sz="1000" dirty="0">
                <a:latin typeface="Consolas" panose="020B0609020204030204" pitchFamily="49" charset="0"/>
              </a:rPr>
              <a:t>-- Cut --</a:t>
            </a:r>
            <a:endParaRPr lang="sk-SK" sz="1000" dirty="0">
              <a:latin typeface="Consolas" panose="020B0609020204030204" pitchFamily="49" charset="0"/>
            </a:endParaRPr>
          </a:p>
          <a:p>
            <a:r>
              <a:rPr lang="sk-SK" sz="1000" dirty="0">
                <a:latin typeface="Consolas" panose="020B0609020204030204" pitchFamily="49" charset="0"/>
              </a:rPr>
              <a:t>L    ::ffff:127.0.0.0/104 </a:t>
            </a:r>
          </a:p>
          <a:p>
            <a:r>
              <a:rPr lang="sk-SK" sz="1000" dirty="0">
                <a:latin typeface="Consolas" panose="020B0609020204030204" pitchFamily="49" charset="0"/>
              </a:rPr>
              <a:t>      [0/0] </a:t>
            </a:r>
            <a:r>
              <a:rPr lang="sk-SK" sz="1000" dirty="0" err="1">
                <a:latin typeface="Consolas" panose="020B0609020204030204" pitchFamily="49" charset="0"/>
              </a:rPr>
              <a:t>via</a:t>
            </a:r>
            <a:r>
              <a:rPr lang="sk-SK" sz="1000" dirty="0">
                <a:latin typeface="Consolas" panose="020B0609020204030204" pitchFamily="49" charset="0"/>
              </a:rPr>
              <a:t> ::, 04:39:49</a:t>
            </a:r>
          </a:p>
          <a:p>
            <a:r>
              <a:rPr lang="sk-SK" sz="1000" dirty="0">
                <a:highlight>
                  <a:srgbClr val="FFFF00"/>
                </a:highlight>
                <a:latin typeface="Consolas" panose="020B0609020204030204" pitchFamily="49" charset="0"/>
              </a:rPr>
              <a:t>i L2 2001:9999::1/128 </a:t>
            </a:r>
          </a:p>
          <a:p>
            <a:r>
              <a:rPr lang="sk-SK" sz="1000" dirty="0">
                <a:highlight>
                  <a:srgbClr val="FFFF00"/>
                </a:highlight>
                <a:latin typeface="Consolas" panose="020B0609020204030204" pitchFamily="49" charset="0"/>
              </a:rPr>
              <a:t>      [115/20] </a:t>
            </a:r>
            <a:r>
              <a:rPr lang="sk-SK" sz="1000" dirty="0" err="1">
                <a:highlight>
                  <a:srgbClr val="FFFF00"/>
                </a:highlight>
                <a:latin typeface="Consolas" panose="020B0609020204030204" pitchFamily="49" charset="0"/>
              </a:rPr>
              <a:t>via</a:t>
            </a:r>
            <a:r>
              <a:rPr lang="sk-SK" sz="1000" dirty="0">
                <a:highlight>
                  <a:srgbClr val="FFFF00"/>
                </a:highlight>
                <a:latin typeface="Consolas" panose="020B0609020204030204" pitchFamily="49" charset="0"/>
              </a:rPr>
              <a:t> fe80::5054:ff:fe05:ee55, 03:50:33, GigabitEthernet0/0/0/4</a:t>
            </a:r>
          </a:p>
          <a:p>
            <a:r>
              <a:rPr lang="sk-SK" sz="1000" dirty="0">
                <a:highlight>
                  <a:srgbClr val="00FFFF"/>
                </a:highlight>
                <a:latin typeface="Consolas" panose="020B0609020204030204" pitchFamily="49" charset="0"/>
              </a:rPr>
              <a:t>i L2 2001:9999::2/128 </a:t>
            </a:r>
          </a:p>
          <a:p>
            <a:r>
              <a:rPr lang="sk-SK" sz="1000" dirty="0">
                <a:highlight>
                  <a:srgbClr val="00FFFF"/>
                </a:highlight>
                <a:latin typeface="Consolas" panose="020B0609020204030204" pitchFamily="49" charset="0"/>
              </a:rPr>
              <a:t>      [115/10] </a:t>
            </a:r>
            <a:r>
              <a:rPr lang="sk-SK" sz="1000" dirty="0" err="1">
                <a:highlight>
                  <a:srgbClr val="00FFFF"/>
                </a:highlight>
                <a:latin typeface="Consolas" panose="020B0609020204030204" pitchFamily="49" charset="0"/>
              </a:rPr>
              <a:t>via</a:t>
            </a:r>
            <a:r>
              <a:rPr lang="sk-SK" sz="1000" dirty="0">
                <a:highlight>
                  <a:srgbClr val="00FFFF"/>
                </a:highlight>
                <a:latin typeface="Consolas" panose="020B0609020204030204" pitchFamily="49" charset="0"/>
              </a:rPr>
              <a:t> fe80::5054:ff:fe05:ee55, 03:49:03, GigabitEthernet0/0/0/4</a:t>
            </a:r>
          </a:p>
          <a:p>
            <a:r>
              <a:rPr lang="sk-SK" sz="1000" dirty="0">
                <a:solidFill>
                  <a:schemeClr val="bg1"/>
                </a:solidFill>
                <a:highlight>
                  <a:srgbClr val="0000FF"/>
                </a:highlight>
                <a:latin typeface="Consolas" panose="020B0609020204030204" pitchFamily="49" charset="0"/>
              </a:rPr>
              <a:t>i L2 2001:9999::3/128 </a:t>
            </a:r>
          </a:p>
          <a:p>
            <a:r>
              <a:rPr lang="sk-SK" sz="1000" dirty="0">
                <a:solidFill>
                  <a:schemeClr val="bg1"/>
                </a:solidFill>
                <a:highlight>
                  <a:srgbClr val="0000FF"/>
                </a:highlight>
                <a:latin typeface="Consolas" panose="020B0609020204030204" pitchFamily="49" charset="0"/>
              </a:rPr>
              <a:t>      [115/10] </a:t>
            </a:r>
            <a:r>
              <a:rPr lang="sk-SK" sz="1000" dirty="0" err="1">
                <a:solidFill>
                  <a:schemeClr val="bg1"/>
                </a:solidFill>
                <a:highlight>
                  <a:srgbClr val="0000FF"/>
                </a:highlight>
                <a:latin typeface="Consolas" panose="020B0609020204030204" pitchFamily="49" charset="0"/>
              </a:rPr>
              <a:t>via</a:t>
            </a:r>
            <a:r>
              <a:rPr lang="sk-SK" sz="1000" dirty="0">
                <a:solidFill>
                  <a:schemeClr val="bg1"/>
                </a:solidFill>
                <a:highlight>
                  <a:srgbClr val="0000FF"/>
                </a:highlight>
                <a:latin typeface="Consolas" panose="020B0609020204030204" pitchFamily="49" charset="0"/>
              </a:rPr>
              <a:t> fe80::5054:ff:fe1f:b0f5, 03:47:53, GigabitEthernet0/0/0/3</a:t>
            </a:r>
          </a:p>
          <a:p>
            <a:r>
              <a:rPr lang="sk-SK" sz="1000" dirty="0">
                <a:solidFill>
                  <a:schemeClr val="bg1"/>
                </a:solidFill>
                <a:highlight>
                  <a:srgbClr val="000080"/>
                </a:highlight>
                <a:latin typeface="Consolas" panose="020B0609020204030204" pitchFamily="49" charset="0"/>
              </a:rPr>
              <a:t>L    2001:9999::4/128 </a:t>
            </a:r>
            <a:r>
              <a:rPr lang="sk-SK" sz="1000" dirty="0" err="1">
                <a:solidFill>
                  <a:schemeClr val="bg1"/>
                </a:solidFill>
                <a:highlight>
                  <a:srgbClr val="000080"/>
                </a:highlight>
                <a:latin typeface="Consolas" panose="020B0609020204030204" pitchFamily="49" charset="0"/>
              </a:rPr>
              <a:t>is</a:t>
            </a:r>
            <a:r>
              <a:rPr lang="sk-SK" sz="1000" dirty="0">
                <a:solidFill>
                  <a:schemeClr val="bg1"/>
                </a:solidFill>
                <a:highlight>
                  <a:srgbClr val="000080"/>
                </a:highlight>
                <a:latin typeface="Consolas" panose="020B0609020204030204" pitchFamily="49" charset="0"/>
              </a:rPr>
              <a:t> </a:t>
            </a:r>
            <a:r>
              <a:rPr lang="sk-SK" sz="1000" dirty="0" err="1">
                <a:solidFill>
                  <a:schemeClr val="bg1"/>
                </a:solidFill>
                <a:highlight>
                  <a:srgbClr val="000080"/>
                </a:highlight>
                <a:latin typeface="Consolas" panose="020B0609020204030204" pitchFamily="49" charset="0"/>
              </a:rPr>
              <a:t>directly</a:t>
            </a:r>
            <a:r>
              <a:rPr lang="sk-SK" sz="1000" dirty="0">
                <a:solidFill>
                  <a:schemeClr val="bg1"/>
                </a:solidFill>
                <a:highlight>
                  <a:srgbClr val="000080"/>
                </a:highlight>
                <a:latin typeface="Consolas" panose="020B0609020204030204" pitchFamily="49" charset="0"/>
              </a:rPr>
              <a:t> </a:t>
            </a:r>
            <a:r>
              <a:rPr lang="sk-SK" sz="1000" dirty="0" err="1">
                <a:solidFill>
                  <a:schemeClr val="bg1"/>
                </a:solidFill>
                <a:highlight>
                  <a:srgbClr val="000080"/>
                </a:highlight>
                <a:latin typeface="Consolas" panose="020B0609020204030204" pitchFamily="49" charset="0"/>
              </a:rPr>
              <a:t>connected</a:t>
            </a:r>
            <a:r>
              <a:rPr lang="sk-SK" sz="1000" dirty="0">
                <a:solidFill>
                  <a:schemeClr val="bg1"/>
                </a:solidFill>
                <a:highlight>
                  <a:srgbClr val="000080"/>
                </a:highlight>
                <a:latin typeface="Consolas" panose="020B0609020204030204" pitchFamily="49" charset="0"/>
              </a:rPr>
              <a:t>,</a:t>
            </a:r>
          </a:p>
          <a:p>
            <a:r>
              <a:rPr lang="sk-SK" sz="1000" dirty="0">
                <a:solidFill>
                  <a:schemeClr val="bg1"/>
                </a:solidFill>
                <a:highlight>
                  <a:srgbClr val="000080"/>
                </a:highlight>
                <a:latin typeface="Consolas" panose="020B0609020204030204" pitchFamily="49" charset="0"/>
              </a:rPr>
              <a:t>      03:46:26, Loopback0</a:t>
            </a:r>
          </a:p>
          <a:p>
            <a:r>
              <a:rPr lang="sk-SK" sz="1000" dirty="0">
                <a:highlight>
                  <a:srgbClr val="00FF00"/>
                </a:highlight>
                <a:latin typeface="Consolas" panose="020B0609020204030204" pitchFamily="49" charset="0"/>
              </a:rPr>
              <a:t>i L2 fc00:ab00:1::/64 </a:t>
            </a:r>
          </a:p>
          <a:p>
            <a:r>
              <a:rPr lang="sk-SK" sz="1000" dirty="0">
                <a:highlight>
                  <a:srgbClr val="00FF00"/>
                </a:highlight>
                <a:latin typeface="Consolas" panose="020B0609020204030204" pitchFamily="49" charset="0"/>
              </a:rPr>
              <a:t>      [115/21] </a:t>
            </a:r>
            <a:r>
              <a:rPr lang="sk-SK" sz="1000" dirty="0" err="1">
                <a:highlight>
                  <a:srgbClr val="00FF00"/>
                </a:highlight>
                <a:latin typeface="Consolas" panose="020B0609020204030204" pitchFamily="49" charset="0"/>
              </a:rPr>
              <a:t>via</a:t>
            </a:r>
            <a:r>
              <a:rPr lang="sk-SK" sz="1000" dirty="0">
                <a:highlight>
                  <a:srgbClr val="00FF00"/>
                </a:highlight>
                <a:latin typeface="Consolas" panose="020B0609020204030204" pitchFamily="49" charset="0"/>
              </a:rPr>
              <a:t> fe80::5054:ff:fe05:ee55, 03:50:33, GigabitEthernet0/0/0/4</a:t>
            </a:r>
          </a:p>
          <a:p>
            <a:r>
              <a:rPr lang="sk-SK" sz="1000" dirty="0">
                <a:highlight>
                  <a:srgbClr val="FF00FF"/>
                </a:highlight>
                <a:latin typeface="Consolas" panose="020B0609020204030204" pitchFamily="49" charset="0"/>
              </a:rPr>
              <a:t>i L2 fc00:ab00:2::/64 </a:t>
            </a:r>
          </a:p>
          <a:p>
            <a:r>
              <a:rPr lang="sk-SK" sz="1000" dirty="0">
                <a:highlight>
                  <a:srgbClr val="FF00FF"/>
                </a:highlight>
                <a:latin typeface="Consolas" panose="020B0609020204030204" pitchFamily="49" charset="0"/>
              </a:rPr>
              <a:t>      [115/11] </a:t>
            </a:r>
            <a:r>
              <a:rPr lang="sk-SK" sz="1000" dirty="0" err="1">
                <a:highlight>
                  <a:srgbClr val="FF00FF"/>
                </a:highlight>
                <a:latin typeface="Consolas" panose="020B0609020204030204" pitchFamily="49" charset="0"/>
              </a:rPr>
              <a:t>via</a:t>
            </a:r>
            <a:r>
              <a:rPr lang="sk-SK" sz="1000" dirty="0">
                <a:highlight>
                  <a:srgbClr val="FF00FF"/>
                </a:highlight>
                <a:latin typeface="Consolas" panose="020B0609020204030204" pitchFamily="49" charset="0"/>
              </a:rPr>
              <a:t> fe80::5054:ff:fe05:ee55, 03:49:03, GigabitEthernet0/0/0/4</a:t>
            </a:r>
          </a:p>
          <a:p>
            <a:r>
              <a:rPr lang="sk-SK" sz="1000" dirty="0">
                <a:highlight>
                  <a:srgbClr val="FF0000"/>
                </a:highlight>
                <a:latin typeface="Consolas" panose="020B0609020204030204" pitchFamily="49" charset="0"/>
              </a:rPr>
              <a:t>i L2 fc00:ab00:3::/64 </a:t>
            </a:r>
          </a:p>
          <a:p>
            <a:r>
              <a:rPr lang="sk-SK" sz="1000" dirty="0">
                <a:highlight>
                  <a:srgbClr val="FF0000"/>
                </a:highlight>
                <a:latin typeface="Consolas" panose="020B0609020204030204" pitchFamily="49" charset="0"/>
              </a:rPr>
              <a:t>      [115/11] </a:t>
            </a:r>
            <a:r>
              <a:rPr lang="sk-SK" sz="1000" dirty="0" err="1">
                <a:highlight>
                  <a:srgbClr val="FF0000"/>
                </a:highlight>
                <a:latin typeface="Consolas" panose="020B0609020204030204" pitchFamily="49" charset="0"/>
              </a:rPr>
              <a:t>via</a:t>
            </a:r>
            <a:r>
              <a:rPr lang="sk-SK" sz="1000" dirty="0">
                <a:highlight>
                  <a:srgbClr val="FF0000"/>
                </a:highlight>
                <a:latin typeface="Consolas" panose="020B0609020204030204" pitchFamily="49" charset="0"/>
              </a:rPr>
              <a:t> fe80::5054:ff:fe1f:b0f5, 03:47:53, GigabitEthernet0/0/0/3</a:t>
            </a:r>
          </a:p>
          <a:p>
            <a:r>
              <a:rPr lang="sk-SK" sz="1000" dirty="0">
                <a:highlight>
                  <a:srgbClr val="008080"/>
                </a:highlight>
                <a:latin typeface="Consolas" panose="020B0609020204030204" pitchFamily="49" charset="0"/>
              </a:rPr>
              <a:t>L    fc00:ab00:4:0:1::/128, SRv6 </a:t>
            </a:r>
            <a:r>
              <a:rPr lang="sk-SK" sz="1000" dirty="0" err="1">
                <a:highlight>
                  <a:srgbClr val="008080"/>
                </a:highlight>
                <a:latin typeface="Consolas" panose="020B0609020204030204" pitchFamily="49" charset="0"/>
              </a:rPr>
              <a:t>Endpoint</a:t>
            </a:r>
            <a:r>
              <a:rPr lang="sk-SK" sz="1000" dirty="0">
                <a:highlight>
                  <a:srgbClr val="008080"/>
                </a:highlight>
                <a:latin typeface="Consolas" panose="020B0609020204030204" pitchFamily="49" charset="0"/>
              </a:rPr>
              <a:t> End (PSP/USD) </a:t>
            </a:r>
          </a:p>
          <a:p>
            <a:r>
              <a:rPr lang="sk-SK" sz="1000" dirty="0">
                <a:highlight>
                  <a:srgbClr val="008080"/>
                </a:highlight>
                <a:latin typeface="Consolas" panose="020B0609020204030204" pitchFamily="49" charset="0"/>
              </a:rPr>
              <a:t>      [0/0] </a:t>
            </a:r>
            <a:r>
              <a:rPr lang="sk-SK" sz="1000" dirty="0" err="1">
                <a:highlight>
                  <a:srgbClr val="008080"/>
                </a:highlight>
                <a:latin typeface="Consolas" panose="020B0609020204030204" pitchFamily="49" charset="0"/>
              </a:rPr>
              <a:t>via</a:t>
            </a:r>
            <a:r>
              <a:rPr lang="sk-SK" sz="1000" dirty="0">
                <a:highlight>
                  <a:srgbClr val="008080"/>
                </a:highlight>
                <a:latin typeface="Consolas" panose="020B0609020204030204" pitchFamily="49" charset="0"/>
              </a:rPr>
              <a:t> ::, 04:43:52</a:t>
            </a:r>
          </a:p>
          <a:p>
            <a:r>
              <a:rPr lang="sk-SK" sz="1000" dirty="0">
                <a:highlight>
                  <a:srgbClr val="008080"/>
                </a:highlight>
                <a:latin typeface="Consolas" panose="020B0609020204030204" pitchFamily="49" charset="0"/>
              </a:rPr>
              <a:t>L    fc00:ab00:4:0:40::/128, SRv6 </a:t>
            </a:r>
            <a:r>
              <a:rPr lang="sk-SK" sz="1000" dirty="0" err="1">
                <a:highlight>
                  <a:srgbClr val="008080"/>
                </a:highlight>
                <a:latin typeface="Consolas" panose="020B0609020204030204" pitchFamily="49" charset="0"/>
              </a:rPr>
              <a:t>Endpoint</a:t>
            </a:r>
            <a:r>
              <a:rPr lang="sk-SK" sz="1000" dirty="0">
                <a:highlight>
                  <a:srgbClr val="008080"/>
                </a:highlight>
                <a:latin typeface="Consolas" panose="020B0609020204030204" pitchFamily="49" charset="0"/>
              </a:rPr>
              <a:t> </a:t>
            </a:r>
            <a:r>
              <a:rPr lang="sk-SK" sz="1000" dirty="0" err="1">
                <a:highlight>
                  <a:srgbClr val="008080"/>
                </a:highlight>
                <a:latin typeface="Consolas" panose="020B0609020204030204" pitchFamily="49" charset="0"/>
              </a:rPr>
              <a:t>End.X</a:t>
            </a:r>
            <a:r>
              <a:rPr lang="sk-SK" sz="1000" dirty="0">
                <a:highlight>
                  <a:srgbClr val="008080"/>
                </a:highlight>
                <a:latin typeface="Consolas" panose="020B0609020204030204" pitchFamily="49" charset="0"/>
              </a:rPr>
              <a:t> (PSP/USD) </a:t>
            </a:r>
          </a:p>
          <a:p>
            <a:r>
              <a:rPr lang="sk-SK" sz="1000" dirty="0">
                <a:highlight>
                  <a:srgbClr val="008080"/>
                </a:highlight>
                <a:latin typeface="Consolas" panose="020B0609020204030204" pitchFamily="49" charset="0"/>
              </a:rPr>
              <a:t>      [0/0] </a:t>
            </a:r>
            <a:r>
              <a:rPr lang="sk-SK" sz="1000" dirty="0" err="1">
                <a:highlight>
                  <a:srgbClr val="008080"/>
                </a:highlight>
                <a:latin typeface="Consolas" panose="020B0609020204030204" pitchFamily="49" charset="0"/>
              </a:rPr>
              <a:t>via</a:t>
            </a:r>
            <a:r>
              <a:rPr lang="sk-SK" sz="1000" dirty="0">
                <a:highlight>
                  <a:srgbClr val="008080"/>
                </a:highlight>
                <a:latin typeface="Consolas" panose="020B0609020204030204" pitchFamily="49" charset="0"/>
              </a:rPr>
              <a:t> fe80::5054:ff:fe05:ee55, 04:38:40, GigabitEthernet0/0/0/4</a:t>
            </a:r>
          </a:p>
          <a:p>
            <a:r>
              <a:rPr lang="sk-SK" sz="1000" dirty="0">
                <a:highlight>
                  <a:srgbClr val="008080"/>
                </a:highlight>
                <a:latin typeface="Consolas" panose="020B0609020204030204" pitchFamily="49" charset="0"/>
              </a:rPr>
              <a:t>L    fc00:ab00:4:0:41::/128, SRv6 </a:t>
            </a:r>
            <a:r>
              <a:rPr lang="sk-SK" sz="1000" dirty="0" err="1">
                <a:highlight>
                  <a:srgbClr val="008080"/>
                </a:highlight>
                <a:latin typeface="Consolas" panose="020B0609020204030204" pitchFamily="49" charset="0"/>
              </a:rPr>
              <a:t>Endpoint</a:t>
            </a:r>
            <a:r>
              <a:rPr lang="sk-SK" sz="1000" dirty="0">
                <a:highlight>
                  <a:srgbClr val="008080"/>
                </a:highlight>
                <a:latin typeface="Consolas" panose="020B0609020204030204" pitchFamily="49" charset="0"/>
              </a:rPr>
              <a:t> </a:t>
            </a:r>
            <a:r>
              <a:rPr lang="sk-SK" sz="1000" dirty="0" err="1">
                <a:highlight>
                  <a:srgbClr val="008080"/>
                </a:highlight>
                <a:latin typeface="Consolas" panose="020B0609020204030204" pitchFamily="49" charset="0"/>
              </a:rPr>
              <a:t>End.X</a:t>
            </a:r>
            <a:r>
              <a:rPr lang="sk-SK" sz="1000" dirty="0">
                <a:highlight>
                  <a:srgbClr val="008080"/>
                </a:highlight>
                <a:latin typeface="Consolas" panose="020B0609020204030204" pitchFamily="49" charset="0"/>
              </a:rPr>
              <a:t> (PSP/USD) </a:t>
            </a:r>
          </a:p>
          <a:p>
            <a:r>
              <a:rPr lang="sk-SK" sz="1000" dirty="0">
                <a:highlight>
                  <a:srgbClr val="008080"/>
                </a:highlight>
                <a:latin typeface="Consolas" panose="020B0609020204030204" pitchFamily="49" charset="0"/>
              </a:rPr>
              <a:t>      [0/0] </a:t>
            </a:r>
            <a:r>
              <a:rPr lang="sk-SK" sz="1000" dirty="0" err="1">
                <a:highlight>
                  <a:srgbClr val="008080"/>
                </a:highlight>
                <a:latin typeface="Consolas" panose="020B0609020204030204" pitchFamily="49" charset="0"/>
              </a:rPr>
              <a:t>via</a:t>
            </a:r>
            <a:r>
              <a:rPr lang="sk-SK" sz="1000" dirty="0">
                <a:highlight>
                  <a:srgbClr val="008080"/>
                </a:highlight>
                <a:latin typeface="Consolas" panose="020B0609020204030204" pitchFamily="49" charset="0"/>
              </a:rPr>
              <a:t> fe80::5054:ff:fe1f:b0f5, 04:38:40, GigabitEthernet0/0/0/3</a:t>
            </a:r>
          </a:p>
          <a:p>
            <a:r>
              <a:rPr lang="en-US" sz="1000" dirty="0">
                <a:latin typeface="Consolas" panose="020B0609020204030204" pitchFamily="49" charset="0"/>
              </a:rPr>
              <a:t>-- Cut --</a:t>
            </a:r>
            <a:endParaRPr lang="sk-SK" sz="1000" dirty="0">
              <a:latin typeface="Consolas" panose="020B0609020204030204" pitchFamily="49" charset="0"/>
            </a:endParaRPr>
          </a:p>
          <a:p>
            <a:r>
              <a:rPr lang="sk-SK" sz="1000" dirty="0">
                <a:latin typeface="Consolas" panose="020B0609020204030204" pitchFamily="49" charset="0"/>
              </a:rPr>
              <a:t>RP/0/RP0/CPU0:R04# </a:t>
            </a:r>
            <a:endParaRPr lang="sk-SK" sz="1000" dirty="0">
              <a:solidFill>
                <a:srgbClr val="FF0000"/>
              </a:solidFill>
              <a:latin typeface="Consolas" panose="020B0609020204030204" pitchFamily="49" charset="0"/>
            </a:endParaRPr>
          </a:p>
        </p:txBody>
      </p:sp>
      <p:cxnSp>
        <p:nvCxnSpPr>
          <p:cNvPr id="17" name="Straight Arrow Connector 16">
            <a:extLst>
              <a:ext uri="{FF2B5EF4-FFF2-40B4-BE49-F238E27FC236}">
                <a16:creationId xmlns:a16="http://schemas.microsoft.com/office/drawing/2014/main" id="{33E3A1F2-97F8-DA6A-3BF4-2AADBDA7B990}"/>
              </a:ext>
            </a:extLst>
          </p:cNvPr>
          <p:cNvCxnSpPr>
            <a:cxnSpLocks/>
          </p:cNvCxnSpPr>
          <p:nvPr/>
        </p:nvCxnSpPr>
        <p:spPr>
          <a:xfrm>
            <a:off x="4874133" y="3318413"/>
            <a:ext cx="1389887" cy="13828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474137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C15D550-6399-EBDA-DB44-86F60482332F}"/>
              </a:ext>
            </a:extLst>
          </p:cNvPr>
          <p:cNvSpPr>
            <a:spLocks noGrp="1"/>
          </p:cNvSpPr>
          <p:nvPr>
            <p:ph type="body" sz="quarter" idx="10"/>
          </p:nvPr>
        </p:nvSpPr>
        <p:spPr/>
        <p:txBody>
          <a:bodyPr/>
          <a:lstStyle/>
          <a:p>
            <a:r>
              <a:rPr lang="en-US" dirty="0"/>
              <a:t>Configuring Encapsulation Parameters</a:t>
            </a:r>
          </a:p>
          <a:p>
            <a:pPr lvl="1"/>
            <a:r>
              <a:rPr lang="en-US" dirty="0"/>
              <a:t> </a:t>
            </a:r>
            <a:r>
              <a:rPr lang="en-US" sz="2000" b="1" dirty="0">
                <a:latin typeface="Consolas" panose="020B0609020204030204" pitchFamily="49" charset="0"/>
              </a:rPr>
              <a:t>segment-routing srv6 encapsulation source-address </a:t>
            </a:r>
            <a:r>
              <a:rPr lang="en-US" sz="2000" i="1" dirty="0">
                <a:latin typeface="Consolas" panose="020B0609020204030204" pitchFamily="49" charset="0"/>
              </a:rPr>
              <a:t>ipv6-add</a:t>
            </a:r>
          </a:p>
          <a:p>
            <a:pPr lvl="2"/>
            <a:r>
              <a:rPr lang="en-US" dirty="0"/>
              <a:t>Source Address of outer encapsulating IPv6 header.</a:t>
            </a:r>
          </a:p>
          <a:p>
            <a:pPr lvl="2"/>
            <a:r>
              <a:rPr lang="en-US" dirty="0"/>
              <a:t>The default source address for encapsulation is one of the loopback addresses.</a:t>
            </a:r>
          </a:p>
          <a:p>
            <a:pPr lvl="1"/>
            <a:r>
              <a:rPr lang="en-US" sz="2000" b="1" dirty="0">
                <a:latin typeface="Consolas" panose="020B0609020204030204" pitchFamily="49" charset="0"/>
              </a:rPr>
              <a:t>segment-routing srv6 encapsulation hop-limit </a:t>
            </a:r>
            <a:r>
              <a:rPr lang="en-US" sz="2000" dirty="0">
                <a:latin typeface="Consolas" panose="020B0609020204030204" pitchFamily="49" charset="0"/>
              </a:rPr>
              <a:t>{</a:t>
            </a:r>
            <a:r>
              <a:rPr lang="en-US" sz="2000" i="1" dirty="0">
                <a:latin typeface="Consolas" panose="020B0609020204030204" pitchFamily="49" charset="0"/>
              </a:rPr>
              <a:t>count</a:t>
            </a:r>
            <a:r>
              <a:rPr lang="en-US" sz="2000" b="1" dirty="0">
                <a:latin typeface="Consolas" panose="020B0609020204030204" pitchFamily="49" charset="0"/>
              </a:rPr>
              <a:t> </a:t>
            </a:r>
            <a:r>
              <a:rPr lang="en-US" sz="2000" dirty="0">
                <a:latin typeface="Consolas" panose="020B0609020204030204" pitchFamily="49" charset="0"/>
              </a:rPr>
              <a:t>|</a:t>
            </a:r>
            <a:r>
              <a:rPr lang="en-US" sz="2000" b="1" dirty="0">
                <a:latin typeface="Consolas" panose="020B0609020204030204" pitchFamily="49" charset="0"/>
              </a:rPr>
              <a:t> propagate</a:t>
            </a:r>
            <a:r>
              <a:rPr lang="en-US" sz="2000" dirty="0">
                <a:latin typeface="Consolas" panose="020B0609020204030204" pitchFamily="49" charset="0"/>
              </a:rPr>
              <a:t>}</a:t>
            </a:r>
          </a:p>
          <a:p>
            <a:pPr lvl="2"/>
            <a:r>
              <a:rPr lang="en-US" dirty="0"/>
              <a:t>The hop limit of outer-encapsulating IPv6 header. </a:t>
            </a:r>
          </a:p>
          <a:p>
            <a:pPr lvl="2"/>
            <a:r>
              <a:rPr lang="en-US" dirty="0"/>
              <a:t>The default = 255; valid range is from 1 to 255</a:t>
            </a:r>
          </a:p>
          <a:p>
            <a:pPr lvl="2"/>
            <a:r>
              <a:rPr lang="en-US" dirty="0"/>
              <a:t>Use </a:t>
            </a:r>
            <a:r>
              <a:rPr lang="en-US" b="1" dirty="0">
                <a:latin typeface="Consolas" panose="020B0609020204030204" pitchFamily="49" charset="0"/>
              </a:rPr>
              <a:t>propagate</a:t>
            </a:r>
            <a:r>
              <a:rPr lang="en-US" dirty="0"/>
              <a:t> to set the hop-limit value by propagation (from incoming packet/frame). </a:t>
            </a:r>
          </a:p>
          <a:p>
            <a:endParaRPr lang="en-US" dirty="0"/>
          </a:p>
          <a:p>
            <a:endParaRPr lang="en-US" dirty="0"/>
          </a:p>
        </p:txBody>
      </p:sp>
      <p:sp>
        <p:nvSpPr>
          <p:cNvPr id="3" name="Text Placeholder 2">
            <a:extLst>
              <a:ext uri="{FF2B5EF4-FFF2-40B4-BE49-F238E27FC236}">
                <a16:creationId xmlns:a16="http://schemas.microsoft.com/office/drawing/2014/main" id="{9AF44734-4F7D-474C-9133-2E04DB2890D3}"/>
              </a:ext>
            </a:extLst>
          </p:cNvPr>
          <p:cNvSpPr>
            <a:spLocks noGrp="1"/>
          </p:cNvSpPr>
          <p:nvPr>
            <p:ph type="body" sz="quarter" idx="11"/>
          </p:nvPr>
        </p:nvSpPr>
        <p:spPr/>
        <p:txBody>
          <a:bodyPr/>
          <a:lstStyle/>
          <a:p>
            <a:r>
              <a:rPr lang="en-US" dirty="0"/>
              <a:t>Optional config</a:t>
            </a:r>
          </a:p>
        </p:txBody>
      </p:sp>
      <p:sp>
        <p:nvSpPr>
          <p:cNvPr id="4" name="Rectangle 3">
            <a:extLst>
              <a:ext uri="{FF2B5EF4-FFF2-40B4-BE49-F238E27FC236}">
                <a16:creationId xmlns:a16="http://schemas.microsoft.com/office/drawing/2014/main" id="{63052837-84EF-8772-BB13-42F199664B2E}"/>
              </a:ext>
            </a:extLst>
          </p:cNvPr>
          <p:cNvSpPr/>
          <p:nvPr/>
        </p:nvSpPr>
        <p:spPr>
          <a:xfrm>
            <a:off x="1235948" y="5364664"/>
            <a:ext cx="8613647" cy="923330"/>
          </a:xfrm>
          <a:prstGeom prst="rect">
            <a:avLst/>
          </a:prstGeom>
          <a:solidFill>
            <a:schemeClr val="bg1">
              <a:lumMod val="95000"/>
            </a:schemeClr>
          </a:solidFill>
          <a:ln>
            <a:solidFill>
              <a:schemeClr val="tx1"/>
            </a:solidFill>
          </a:ln>
          <a:effectLst/>
        </p:spPr>
        <p:txBody>
          <a:bodyPr wrap="square">
            <a:spAutoFit/>
          </a:bodyPr>
          <a:lstStyle/>
          <a:p>
            <a:r>
              <a:rPr lang="sk-SK" dirty="0">
                <a:latin typeface="Consolas" panose="020B0609020204030204" pitchFamily="49" charset="0"/>
              </a:rPr>
              <a:t>Router(</a:t>
            </a:r>
            <a:r>
              <a:rPr lang="sk-SK" dirty="0" err="1">
                <a:latin typeface="Consolas" panose="020B0609020204030204" pitchFamily="49" charset="0"/>
              </a:rPr>
              <a:t>config</a:t>
            </a:r>
            <a:r>
              <a:rPr lang="sk-SK" dirty="0">
                <a:latin typeface="Consolas" panose="020B0609020204030204" pitchFamily="49" charset="0"/>
              </a:rPr>
              <a:t>)# segment-routing </a:t>
            </a:r>
            <a:r>
              <a:rPr lang="sk-SK" dirty="0" err="1">
                <a:latin typeface="Consolas" panose="020B0609020204030204" pitchFamily="49" charset="0"/>
              </a:rPr>
              <a:t>srv6</a:t>
            </a:r>
            <a:endParaRPr lang="sk-SK" dirty="0">
              <a:latin typeface="Consolas" panose="020B0609020204030204" pitchFamily="49" charset="0"/>
            </a:endParaRPr>
          </a:p>
          <a:p>
            <a:r>
              <a:rPr lang="sk-SK" dirty="0">
                <a:latin typeface="Consolas" panose="020B0609020204030204" pitchFamily="49" charset="0"/>
              </a:rPr>
              <a:t>Router(</a:t>
            </a:r>
            <a:r>
              <a:rPr lang="sk-SK" dirty="0" err="1">
                <a:latin typeface="Consolas" panose="020B0609020204030204" pitchFamily="49" charset="0"/>
              </a:rPr>
              <a:t>config-srv6</a:t>
            </a:r>
            <a:r>
              <a:rPr lang="sk-SK" dirty="0">
                <a:latin typeface="Consolas" panose="020B0609020204030204" pitchFamily="49" charset="0"/>
              </a:rPr>
              <a:t>)# </a:t>
            </a:r>
            <a:r>
              <a:rPr lang="sk-SK" b="1" dirty="0" err="1">
                <a:latin typeface="Consolas" panose="020B0609020204030204" pitchFamily="49" charset="0"/>
              </a:rPr>
              <a:t>encapsulation</a:t>
            </a:r>
            <a:r>
              <a:rPr lang="sk-SK" b="1" dirty="0">
                <a:latin typeface="Consolas" panose="020B0609020204030204" pitchFamily="49" charset="0"/>
              </a:rPr>
              <a:t> </a:t>
            </a:r>
            <a:r>
              <a:rPr lang="sk-SK" b="1" dirty="0" err="1">
                <a:latin typeface="Consolas" panose="020B0609020204030204" pitchFamily="49" charset="0"/>
              </a:rPr>
              <a:t>source-address</a:t>
            </a:r>
            <a:r>
              <a:rPr lang="sk-SK" b="1" dirty="0">
                <a:latin typeface="Consolas" panose="020B0609020204030204" pitchFamily="49" charset="0"/>
              </a:rPr>
              <a:t> </a:t>
            </a:r>
            <a:r>
              <a:rPr lang="sk-SK" dirty="0">
                <a:solidFill>
                  <a:schemeClr val="accent1"/>
                </a:solidFill>
                <a:latin typeface="Consolas" panose="020B0609020204030204" pitchFamily="49" charset="0"/>
              </a:rPr>
              <a:t>1::1</a:t>
            </a:r>
          </a:p>
          <a:p>
            <a:r>
              <a:rPr lang="sk-SK" dirty="0">
                <a:latin typeface="Consolas" panose="020B0609020204030204" pitchFamily="49" charset="0"/>
              </a:rPr>
              <a:t>Router(</a:t>
            </a:r>
            <a:r>
              <a:rPr lang="sk-SK" dirty="0" err="1">
                <a:latin typeface="Consolas" panose="020B0609020204030204" pitchFamily="49" charset="0"/>
              </a:rPr>
              <a:t>config-srv6</a:t>
            </a:r>
            <a:r>
              <a:rPr lang="sk-SK" dirty="0">
                <a:latin typeface="Consolas" panose="020B0609020204030204" pitchFamily="49" charset="0"/>
              </a:rPr>
              <a:t>)# </a:t>
            </a:r>
            <a:r>
              <a:rPr lang="sk-SK" b="1" dirty="0">
                <a:latin typeface="Consolas" panose="020B0609020204030204" pitchFamily="49" charset="0"/>
              </a:rPr>
              <a:t>hop-limit</a:t>
            </a:r>
            <a:r>
              <a:rPr lang="sk-SK" dirty="0">
                <a:latin typeface="Consolas" panose="020B0609020204030204" pitchFamily="49" charset="0"/>
              </a:rPr>
              <a:t> </a:t>
            </a:r>
            <a:r>
              <a:rPr lang="sk-SK" dirty="0">
                <a:solidFill>
                  <a:schemeClr val="accent1"/>
                </a:solidFill>
                <a:latin typeface="Consolas" panose="020B0609020204030204" pitchFamily="49" charset="0"/>
              </a:rPr>
              <a:t>60</a:t>
            </a:r>
          </a:p>
        </p:txBody>
      </p:sp>
    </p:spTree>
    <p:extLst>
      <p:ext uri="{BB962C8B-B14F-4D97-AF65-F5344CB8AC3E}">
        <p14:creationId xmlns:p14="http://schemas.microsoft.com/office/powerpoint/2010/main" val="388582978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C15D550-6399-EBDA-DB44-86F60482332F}"/>
              </a:ext>
            </a:extLst>
          </p:cNvPr>
          <p:cNvSpPr>
            <a:spLocks noGrp="1"/>
          </p:cNvSpPr>
          <p:nvPr>
            <p:ph type="body" sz="quarter" idx="10"/>
          </p:nvPr>
        </p:nvSpPr>
        <p:spPr/>
        <p:txBody>
          <a:bodyPr/>
          <a:lstStyle/>
          <a:p>
            <a:r>
              <a:rPr lang="en-US" dirty="0"/>
              <a:t>Enabling Syslog Logging for Locator Status Changes</a:t>
            </a:r>
          </a:p>
          <a:p>
            <a:pPr lvl="1"/>
            <a:r>
              <a:rPr lang="en-US" dirty="0"/>
              <a:t> </a:t>
            </a:r>
            <a:r>
              <a:rPr lang="en-US" sz="2000" b="1" dirty="0">
                <a:latin typeface="Consolas" panose="020B0609020204030204" pitchFamily="49" charset="0"/>
              </a:rPr>
              <a:t>logging locator status</a:t>
            </a:r>
            <a:endParaRPr lang="en-US" sz="2000" i="1" dirty="0">
              <a:latin typeface="Consolas" panose="020B0609020204030204" pitchFamily="49" charset="0"/>
            </a:endParaRPr>
          </a:p>
          <a:p>
            <a:endParaRPr lang="en-US" dirty="0"/>
          </a:p>
          <a:p>
            <a:pPr marL="0" indent="0">
              <a:buNone/>
            </a:pPr>
            <a:endParaRPr lang="en-US" dirty="0"/>
          </a:p>
          <a:p>
            <a:endParaRPr lang="en-US" dirty="0"/>
          </a:p>
        </p:txBody>
      </p:sp>
      <p:sp>
        <p:nvSpPr>
          <p:cNvPr id="3" name="Text Placeholder 2">
            <a:extLst>
              <a:ext uri="{FF2B5EF4-FFF2-40B4-BE49-F238E27FC236}">
                <a16:creationId xmlns:a16="http://schemas.microsoft.com/office/drawing/2014/main" id="{9AF44734-4F7D-474C-9133-2E04DB2890D3}"/>
              </a:ext>
            </a:extLst>
          </p:cNvPr>
          <p:cNvSpPr>
            <a:spLocks noGrp="1"/>
          </p:cNvSpPr>
          <p:nvPr>
            <p:ph type="body" sz="quarter" idx="11"/>
          </p:nvPr>
        </p:nvSpPr>
        <p:spPr/>
        <p:txBody>
          <a:bodyPr/>
          <a:lstStyle/>
          <a:p>
            <a:r>
              <a:rPr lang="en-US" dirty="0"/>
              <a:t>Optional config</a:t>
            </a:r>
          </a:p>
        </p:txBody>
      </p:sp>
      <p:sp>
        <p:nvSpPr>
          <p:cNvPr id="4" name="Rectangle 3">
            <a:extLst>
              <a:ext uri="{FF2B5EF4-FFF2-40B4-BE49-F238E27FC236}">
                <a16:creationId xmlns:a16="http://schemas.microsoft.com/office/drawing/2014/main" id="{63052837-84EF-8772-BB13-42F199664B2E}"/>
              </a:ext>
            </a:extLst>
          </p:cNvPr>
          <p:cNvSpPr/>
          <p:nvPr/>
        </p:nvSpPr>
        <p:spPr>
          <a:xfrm>
            <a:off x="1165609" y="2063597"/>
            <a:ext cx="8613647" cy="646331"/>
          </a:xfrm>
          <a:prstGeom prst="rect">
            <a:avLst/>
          </a:prstGeom>
          <a:solidFill>
            <a:schemeClr val="bg1">
              <a:lumMod val="95000"/>
            </a:schemeClr>
          </a:solidFill>
          <a:ln>
            <a:solidFill>
              <a:schemeClr val="tx1"/>
            </a:solidFill>
          </a:ln>
          <a:effectLst/>
        </p:spPr>
        <p:txBody>
          <a:bodyPr wrap="square">
            <a:spAutoFit/>
          </a:bodyPr>
          <a:lstStyle/>
          <a:p>
            <a:r>
              <a:rPr lang="en-US" dirty="0">
                <a:latin typeface="Consolas" panose="020B0609020204030204" pitchFamily="49" charset="0"/>
              </a:rPr>
              <a:t>Router(config)# segment-routing srv6</a:t>
            </a:r>
          </a:p>
          <a:p>
            <a:r>
              <a:rPr lang="en-US" dirty="0">
                <a:latin typeface="Consolas" panose="020B0609020204030204" pitchFamily="49" charset="0"/>
              </a:rPr>
              <a:t>Router(config-</a:t>
            </a:r>
            <a:r>
              <a:rPr lang="en-US" dirty="0" err="1">
                <a:latin typeface="Consolas" panose="020B0609020204030204" pitchFamily="49" charset="0"/>
              </a:rPr>
              <a:t>srv6</a:t>
            </a:r>
            <a:r>
              <a:rPr lang="en-US" dirty="0">
                <a:latin typeface="Consolas" panose="020B0609020204030204" pitchFamily="49" charset="0"/>
              </a:rPr>
              <a:t>)# </a:t>
            </a:r>
            <a:r>
              <a:rPr lang="en-US" b="1" dirty="0">
                <a:latin typeface="Consolas" panose="020B0609020204030204" pitchFamily="49" charset="0"/>
              </a:rPr>
              <a:t>logging locator status</a:t>
            </a:r>
            <a:endParaRPr lang="sk-SK" b="1"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356992870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C15D550-6399-EBDA-DB44-86F60482332F}"/>
              </a:ext>
            </a:extLst>
          </p:cNvPr>
          <p:cNvSpPr>
            <a:spLocks noGrp="1"/>
          </p:cNvSpPr>
          <p:nvPr>
            <p:ph type="body" sz="quarter" idx="10"/>
          </p:nvPr>
        </p:nvSpPr>
        <p:spPr/>
        <p:txBody>
          <a:bodyPr/>
          <a:lstStyle/>
          <a:p>
            <a:endParaRPr lang="en-US" dirty="0"/>
          </a:p>
          <a:p>
            <a:pPr marL="0" indent="0">
              <a:buNone/>
            </a:pPr>
            <a:endParaRPr lang="en-US" dirty="0"/>
          </a:p>
          <a:p>
            <a:endParaRPr lang="en-US" dirty="0"/>
          </a:p>
        </p:txBody>
      </p:sp>
      <p:sp>
        <p:nvSpPr>
          <p:cNvPr id="3" name="Text Placeholder 2">
            <a:extLst>
              <a:ext uri="{FF2B5EF4-FFF2-40B4-BE49-F238E27FC236}">
                <a16:creationId xmlns:a16="http://schemas.microsoft.com/office/drawing/2014/main" id="{9AF44734-4F7D-474C-9133-2E04DB2890D3}"/>
              </a:ext>
            </a:extLst>
          </p:cNvPr>
          <p:cNvSpPr>
            <a:spLocks noGrp="1"/>
          </p:cNvSpPr>
          <p:nvPr>
            <p:ph type="body" sz="quarter" idx="11"/>
          </p:nvPr>
        </p:nvSpPr>
        <p:spPr/>
        <p:txBody>
          <a:bodyPr/>
          <a:lstStyle/>
          <a:p>
            <a:r>
              <a:rPr lang="en-US" dirty="0"/>
              <a:t>SRv6 Manager - show</a:t>
            </a:r>
          </a:p>
        </p:txBody>
      </p:sp>
      <p:sp>
        <p:nvSpPr>
          <p:cNvPr id="4" name="Rectangle 3">
            <a:extLst>
              <a:ext uri="{FF2B5EF4-FFF2-40B4-BE49-F238E27FC236}">
                <a16:creationId xmlns:a16="http://schemas.microsoft.com/office/drawing/2014/main" id="{63052837-84EF-8772-BB13-42F199664B2E}"/>
              </a:ext>
            </a:extLst>
          </p:cNvPr>
          <p:cNvSpPr/>
          <p:nvPr/>
        </p:nvSpPr>
        <p:spPr>
          <a:xfrm>
            <a:off x="462225" y="760174"/>
            <a:ext cx="4343172" cy="6017032"/>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Router# </a:t>
            </a:r>
            <a:r>
              <a:rPr lang="en-US" sz="1100" b="1" dirty="0">
                <a:latin typeface="Consolas" panose="020B0609020204030204" pitchFamily="49" charset="0"/>
              </a:rPr>
              <a:t>show segment-routing srv6 manager </a:t>
            </a:r>
          </a:p>
          <a:p>
            <a:r>
              <a:rPr lang="en-US" sz="1100" dirty="0">
                <a:latin typeface="Consolas" panose="020B0609020204030204" pitchFamily="49" charset="0"/>
              </a:rPr>
              <a:t>Parameters:</a:t>
            </a:r>
          </a:p>
          <a:p>
            <a:r>
              <a:rPr lang="en-US" sz="1100" dirty="0">
                <a:latin typeface="Consolas" panose="020B0609020204030204" pitchFamily="49" charset="0"/>
              </a:rPr>
              <a:t>  Parameters:</a:t>
            </a:r>
          </a:p>
          <a:p>
            <a:r>
              <a:rPr lang="en-US" sz="1100" dirty="0">
                <a:latin typeface="Consolas" panose="020B0609020204030204" pitchFamily="49" charset="0"/>
              </a:rPr>
              <a:t>  SRv6 Enabled: Yes</a:t>
            </a:r>
          </a:p>
          <a:p>
            <a:r>
              <a:rPr lang="en-US" sz="1100" dirty="0">
                <a:latin typeface="Consolas" panose="020B0609020204030204" pitchFamily="49" charset="0"/>
              </a:rPr>
              <a:t>  SRv6 Operational Mode:</a:t>
            </a:r>
          </a:p>
          <a:p>
            <a:r>
              <a:rPr lang="en-US" sz="1100" dirty="0">
                <a:latin typeface="Consolas" panose="020B0609020204030204" pitchFamily="49" charset="0"/>
              </a:rPr>
              <a:t>    Base:</a:t>
            </a:r>
          </a:p>
          <a:p>
            <a:r>
              <a:rPr lang="en-US" sz="1100" dirty="0">
                <a:latin typeface="Consolas" panose="020B0609020204030204" pitchFamily="49" charset="0"/>
              </a:rPr>
              <a:t>      SID Base Block: </a:t>
            </a:r>
            <a:r>
              <a:rPr lang="en-US" sz="1100" dirty="0" err="1">
                <a:latin typeface="Consolas" panose="020B0609020204030204" pitchFamily="49" charset="0"/>
              </a:rPr>
              <a:t>2001:db8</a:t>
            </a:r>
            <a:r>
              <a:rPr lang="en-US" sz="1100" dirty="0">
                <a:latin typeface="Consolas" panose="020B0609020204030204" pitchFamily="49" charset="0"/>
              </a:rPr>
              <a:t>::/40</a:t>
            </a:r>
          </a:p>
          <a:p>
            <a:r>
              <a:rPr lang="en-US" sz="1100" dirty="0">
                <a:latin typeface="Consolas" panose="020B0609020204030204" pitchFamily="49" charset="0"/>
              </a:rPr>
              <a:t>  Encapsulation:</a:t>
            </a:r>
          </a:p>
          <a:p>
            <a:r>
              <a:rPr lang="en-US" sz="1100" dirty="0">
                <a:latin typeface="Consolas" panose="020B0609020204030204" pitchFamily="49" charset="0"/>
              </a:rPr>
              <a:t>    Source Address:</a:t>
            </a:r>
          </a:p>
          <a:p>
            <a:r>
              <a:rPr lang="en-US" sz="1100" dirty="0">
                <a:latin typeface="Consolas" panose="020B0609020204030204" pitchFamily="49" charset="0"/>
              </a:rPr>
              <a:t>      Configured: 1::1</a:t>
            </a:r>
          </a:p>
          <a:p>
            <a:r>
              <a:rPr lang="en-US" sz="1100" dirty="0">
                <a:latin typeface="Consolas" panose="020B0609020204030204" pitchFamily="49" charset="0"/>
              </a:rPr>
              <a:t>      Default: 5::5</a:t>
            </a:r>
          </a:p>
          <a:p>
            <a:r>
              <a:rPr lang="en-US" sz="1100" dirty="0">
                <a:latin typeface="Consolas" panose="020B0609020204030204" pitchFamily="49" charset="0"/>
              </a:rPr>
              <a:t>    Hop-Limit: Default </a:t>
            </a:r>
          </a:p>
          <a:p>
            <a:r>
              <a:rPr lang="en-US" sz="1100" dirty="0">
                <a:latin typeface="Consolas" panose="020B0609020204030204" pitchFamily="49" charset="0"/>
              </a:rPr>
              <a:t>    Traffic-class: Default</a:t>
            </a:r>
          </a:p>
          <a:p>
            <a:r>
              <a:rPr lang="en-US" sz="1100" dirty="0">
                <a:latin typeface="Consolas" panose="020B0609020204030204" pitchFamily="49" charset="0"/>
              </a:rPr>
              <a:t>Summary:</a:t>
            </a:r>
          </a:p>
          <a:p>
            <a:r>
              <a:rPr lang="en-US" sz="1100" dirty="0">
                <a:latin typeface="Consolas" panose="020B0609020204030204" pitchFamily="49" charset="0"/>
              </a:rPr>
              <a:t>  Number of Locators: 1 (1 operational)</a:t>
            </a:r>
          </a:p>
          <a:p>
            <a:r>
              <a:rPr lang="en-US" sz="1100" dirty="0">
                <a:latin typeface="Consolas" panose="020B0609020204030204" pitchFamily="49" charset="0"/>
              </a:rPr>
              <a:t>  Number of </a:t>
            </a:r>
            <a:r>
              <a:rPr lang="en-US" sz="1100" dirty="0" err="1">
                <a:latin typeface="Consolas" panose="020B0609020204030204" pitchFamily="49" charset="0"/>
              </a:rPr>
              <a:t>SIDs</a:t>
            </a:r>
            <a:r>
              <a:rPr lang="en-US" sz="1100" dirty="0">
                <a:latin typeface="Consolas" panose="020B0609020204030204" pitchFamily="49" charset="0"/>
              </a:rPr>
              <a:t>: 4 (0 stale)</a:t>
            </a:r>
          </a:p>
          <a:p>
            <a:r>
              <a:rPr lang="en-US" sz="1100" dirty="0">
                <a:latin typeface="Consolas" panose="020B0609020204030204" pitchFamily="49" charset="0"/>
              </a:rPr>
              <a:t>  Max </a:t>
            </a:r>
            <a:r>
              <a:rPr lang="en-US" sz="1100" dirty="0" err="1">
                <a:latin typeface="Consolas" panose="020B0609020204030204" pitchFamily="49" charset="0"/>
              </a:rPr>
              <a:t>SIDs</a:t>
            </a:r>
            <a:r>
              <a:rPr lang="en-US" sz="1100" dirty="0">
                <a:latin typeface="Consolas" panose="020B0609020204030204" pitchFamily="49" charset="0"/>
              </a:rPr>
              <a:t>: 64000</a:t>
            </a:r>
          </a:p>
          <a:p>
            <a:r>
              <a:rPr lang="en-US" sz="1100" dirty="0">
                <a:latin typeface="Consolas" panose="020B0609020204030204" pitchFamily="49" charset="0"/>
              </a:rPr>
              <a:t>  </a:t>
            </a:r>
            <a:r>
              <a:rPr lang="en-US" sz="1100" dirty="0" err="1">
                <a:latin typeface="Consolas" panose="020B0609020204030204" pitchFamily="49" charset="0"/>
              </a:rPr>
              <a:t>OOR</a:t>
            </a:r>
            <a:r>
              <a:rPr lang="en-US" sz="1100" dirty="0">
                <a:latin typeface="Consolas" panose="020B0609020204030204" pitchFamily="49" charset="0"/>
              </a:rPr>
              <a:t>:</a:t>
            </a:r>
          </a:p>
          <a:p>
            <a:r>
              <a:rPr lang="en-US" sz="1100" dirty="0">
                <a:latin typeface="Consolas" panose="020B0609020204030204" pitchFamily="49" charset="0"/>
              </a:rPr>
              <a:t>    Thresholds: Green 3200, Warning 1920</a:t>
            </a:r>
          </a:p>
          <a:p>
            <a:r>
              <a:rPr lang="en-US" sz="1100" dirty="0">
                <a:latin typeface="Consolas" panose="020B0609020204030204" pitchFamily="49" charset="0"/>
              </a:rPr>
              <a:t>    Status: Resource Available</a:t>
            </a:r>
          </a:p>
          <a:p>
            <a:r>
              <a:rPr lang="en-US" sz="1100" dirty="0">
                <a:latin typeface="Consolas" panose="020B0609020204030204" pitchFamily="49" charset="0"/>
              </a:rPr>
              <a:t>        History: (0 cleared, 0 warnings, 0 full)</a:t>
            </a:r>
          </a:p>
          <a:p>
            <a:r>
              <a:rPr lang="en-US" sz="1100" dirty="0">
                <a:latin typeface="Consolas" panose="020B0609020204030204" pitchFamily="49" charset="0"/>
              </a:rPr>
              <a:t>    Block </a:t>
            </a:r>
            <a:r>
              <a:rPr lang="en-US" sz="1100" dirty="0" err="1">
                <a:latin typeface="Consolas" panose="020B0609020204030204" pitchFamily="49" charset="0"/>
              </a:rPr>
              <a:t>2001:db8:0:a2</a:t>
            </a:r>
            <a:r>
              <a:rPr lang="en-US" sz="1100" dirty="0">
                <a:latin typeface="Consolas" panose="020B0609020204030204" pitchFamily="49" charset="0"/>
              </a:rPr>
              <a:t>::/64:</a:t>
            </a:r>
          </a:p>
          <a:p>
            <a:r>
              <a:rPr lang="en-US" sz="1100" dirty="0">
                <a:latin typeface="Consolas" panose="020B0609020204030204" pitchFamily="49" charset="0"/>
              </a:rPr>
              <a:t>        Number of </a:t>
            </a:r>
            <a:r>
              <a:rPr lang="en-US" sz="1100" dirty="0" err="1">
                <a:latin typeface="Consolas" panose="020B0609020204030204" pitchFamily="49" charset="0"/>
              </a:rPr>
              <a:t>SIDs</a:t>
            </a:r>
            <a:r>
              <a:rPr lang="en-US" sz="1100" dirty="0">
                <a:latin typeface="Consolas" panose="020B0609020204030204" pitchFamily="49" charset="0"/>
              </a:rPr>
              <a:t> free: 65470</a:t>
            </a:r>
          </a:p>
          <a:p>
            <a:r>
              <a:rPr lang="en-US" sz="1100" dirty="0">
                <a:latin typeface="Consolas" panose="020B0609020204030204" pitchFamily="49" charset="0"/>
              </a:rPr>
              <a:t>        Max </a:t>
            </a:r>
            <a:r>
              <a:rPr lang="en-US" sz="1100" dirty="0" err="1">
                <a:latin typeface="Consolas" panose="020B0609020204030204" pitchFamily="49" charset="0"/>
              </a:rPr>
              <a:t>SIDs</a:t>
            </a:r>
            <a:r>
              <a:rPr lang="en-US" sz="1100" dirty="0">
                <a:latin typeface="Consolas" panose="020B0609020204030204" pitchFamily="49" charset="0"/>
              </a:rPr>
              <a:t>: 65470</a:t>
            </a:r>
          </a:p>
          <a:p>
            <a:r>
              <a:rPr lang="en-US" sz="1100" dirty="0">
                <a:latin typeface="Consolas" panose="020B0609020204030204" pitchFamily="49" charset="0"/>
              </a:rPr>
              <a:t>        Thresholds: Green 3274, Warning 1965</a:t>
            </a:r>
          </a:p>
          <a:p>
            <a:r>
              <a:rPr lang="en-US" sz="1100" dirty="0">
                <a:latin typeface="Consolas" panose="020B0609020204030204" pitchFamily="49" charset="0"/>
              </a:rPr>
              <a:t>        Status: Resource Available</a:t>
            </a:r>
          </a:p>
          <a:p>
            <a:r>
              <a:rPr lang="en-US" sz="1100" dirty="0">
                <a:latin typeface="Consolas" panose="020B0609020204030204" pitchFamily="49" charset="0"/>
              </a:rPr>
              <a:t>            History: (0 cleared, 0 warnings, 0 full)</a:t>
            </a:r>
          </a:p>
          <a:p>
            <a:r>
              <a:rPr lang="en-US" sz="1100" dirty="0">
                <a:latin typeface="Consolas" panose="020B0609020204030204" pitchFamily="49" charset="0"/>
              </a:rPr>
              <a:t>Platform Capabilities:</a:t>
            </a:r>
          </a:p>
          <a:p>
            <a:r>
              <a:rPr lang="en-US" sz="1100" dirty="0">
                <a:latin typeface="Consolas" panose="020B0609020204030204" pitchFamily="49" charset="0"/>
              </a:rPr>
              <a:t>  SRv6: Yes</a:t>
            </a:r>
          </a:p>
          <a:p>
            <a:r>
              <a:rPr lang="en-US" sz="1100" dirty="0">
                <a:latin typeface="Consolas" panose="020B0609020204030204" pitchFamily="49" charset="0"/>
              </a:rPr>
              <a:t>  </a:t>
            </a:r>
            <a:r>
              <a:rPr lang="en-US" sz="1100" dirty="0" err="1">
                <a:latin typeface="Consolas" panose="020B0609020204030204" pitchFamily="49" charset="0"/>
              </a:rPr>
              <a:t>TILFA</a:t>
            </a:r>
            <a:r>
              <a:rPr lang="en-US" sz="1100" dirty="0">
                <a:latin typeface="Consolas" panose="020B0609020204030204" pitchFamily="49" charset="0"/>
              </a:rPr>
              <a:t>: Yes</a:t>
            </a:r>
          </a:p>
          <a:p>
            <a:r>
              <a:rPr lang="en-US" sz="1100" dirty="0">
                <a:latin typeface="Consolas" panose="020B0609020204030204" pitchFamily="49" charset="0"/>
              </a:rPr>
              <a:t>  </a:t>
            </a:r>
            <a:r>
              <a:rPr lang="en-US" sz="1100" dirty="0" err="1">
                <a:latin typeface="Consolas" panose="020B0609020204030204" pitchFamily="49" charset="0"/>
              </a:rPr>
              <a:t>Microloop</a:t>
            </a:r>
            <a:r>
              <a:rPr lang="en-US" sz="1100" dirty="0">
                <a:latin typeface="Consolas" panose="020B0609020204030204" pitchFamily="49" charset="0"/>
              </a:rPr>
              <a:t>-Avoidance: Yes</a:t>
            </a:r>
          </a:p>
          <a:p>
            <a:r>
              <a:rPr lang="en-US" sz="1100" dirty="0">
                <a:latin typeface="Consolas" panose="020B0609020204030204" pitchFamily="49" charset="0"/>
              </a:rPr>
              <a:t>  Endpoint behaviors:</a:t>
            </a:r>
          </a:p>
          <a:p>
            <a:r>
              <a:rPr lang="en-US" sz="1100" dirty="0">
                <a:latin typeface="Consolas" panose="020B0609020204030204" pitchFamily="49" charset="0"/>
              </a:rPr>
              <a:t>    End (PSP)</a:t>
            </a:r>
          </a:p>
          <a:p>
            <a:r>
              <a:rPr lang="en-US" sz="1100" dirty="0">
                <a:latin typeface="Consolas" panose="020B0609020204030204" pitchFamily="49" charset="0"/>
              </a:rPr>
              <a:t>    </a:t>
            </a:r>
            <a:r>
              <a:rPr lang="en-US" sz="1100" dirty="0" err="1">
                <a:latin typeface="Consolas" panose="020B0609020204030204" pitchFamily="49" charset="0"/>
              </a:rPr>
              <a:t>End.X</a:t>
            </a:r>
            <a:r>
              <a:rPr lang="en-US" sz="1100" dirty="0">
                <a:latin typeface="Consolas" panose="020B0609020204030204" pitchFamily="49" charset="0"/>
              </a:rPr>
              <a:t> (PSP)</a:t>
            </a:r>
          </a:p>
          <a:p>
            <a:endParaRPr lang="en-US" sz="1100" dirty="0">
              <a:latin typeface="Consolas" panose="020B0609020204030204" pitchFamily="49" charset="0"/>
            </a:endParaRPr>
          </a:p>
        </p:txBody>
      </p:sp>
      <p:sp>
        <p:nvSpPr>
          <p:cNvPr id="5" name="Rectangle 4">
            <a:extLst>
              <a:ext uri="{FF2B5EF4-FFF2-40B4-BE49-F238E27FC236}">
                <a16:creationId xmlns:a16="http://schemas.microsoft.com/office/drawing/2014/main" id="{672C2765-9C88-8632-8CB0-BB95CDAF2466}"/>
              </a:ext>
            </a:extLst>
          </p:cNvPr>
          <p:cNvSpPr/>
          <p:nvPr/>
        </p:nvSpPr>
        <p:spPr>
          <a:xfrm>
            <a:off x="4920801" y="765015"/>
            <a:ext cx="6906110" cy="6186309"/>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    </a:t>
            </a:r>
            <a:r>
              <a:rPr lang="en-US" sz="1100" dirty="0" err="1">
                <a:latin typeface="Consolas" panose="020B0609020204030204" pitchFamily="49" charset="0"/>
              </a:rPr>
              <a:t>End.DX6</a:t>
            </a:r>
            <a:endParaRPr lang="en-US" sz="1100" dirty="0">
              <a:latin typeface="Consolas" panose="020B0609020204030204" pitchFamily="49" charset="0"/>
            </a:endParaRPr>
          </a:p>
          <a:p>
            <a:r>
              <a:rPr lang="en-US" sz="1100" dirty="0">
                <a:latin typeface="Consolas" panose="020B0609020204030204" pitchFamily="49" charset="0"/>
              </a:rPr>
              <a:t>    </a:t>
            </a:r>
            <a:r>
              <a:rPr lang="en-US" sz="1100" dirty="0" err="1">
                <a:latin typeface="Consolas" panose="020B0609020204030204" pitchFamily="49" charset="0"/>
              </a:rPr>
              <a:t>End.DX4</a:t>
            </a:r>
            <a:endParaRPr lang="en-US" sz="1100" dirty="0">
              <a:latin typeface="Consolas" panose="020B0609020204030204" pitchFamily="49" charset="0"/>
            </a:endParaRPr>
          </a:p>
          <a:p>
            <a:r>
              <a:rPr lang="en-US" sz="1100" dirty="0">
                <a:latin typeface="Consolas" panose="020B0609020204030204" pitchFamily="49" charset="0"/>
              </a:rPr>
              <a:t>    </a:t>
            </a:r>
            <a:r>
              <a:rPr lang="en-US" sz="1100" dirty="0" err="1">
                <a:latin typeface="Consolas" panose="020B0609020204030204" pitchFamily="49" charset="0"/>
              </a:rPr>
              <a:t>End.DT6</a:t>
            </a:r>
            <a:endParaRPr lang="en-US" sz="1100" dirty="0">
              <a:latin typeface="Consolas" panose="020B0609020204030204" pitchFamily="49" charset="0"/>
            </a:endParaRPr>
          </a:p>
          <a:p>
            <a:r>
              <a:rPr lang="en-US" sz="1100" dirty="0">
                <a:latin typeface="Consolas" panose="020B0609020204030204" pitchFamily="49" charset="0"/>
              </a:rPr>
              <a:t>    </a:t>
            </a:r>
            <a:r>
              <a:rPr lang="en-US" sz="1100" dirty="0" err="1">
                <a:latin typeface="Consolas" panose="020B0609020204030204" pitchFamily="49" charset="0"/>
              </a:rPr>
              <a:t>End.DT4</a:t>
            </a:r>
            <a:endParaRPr lang="en-US" sz="1100" dirty="0">
              <a:latin typeface="Consolas" panose="020B0609020204030204" pitchFamily="49" charset="0"/>
            </a:endParaRPr>
          </a:p>
          <a:p>
            <a:r>
              <a:rPr lang="en-US" sz="1100" dirty="0">
                <a:latin typeface="Consolas" panose="020B0609020204030204" pitchFamily="49" charset="0"/>
              </a:rPr>
              <a:t>    </a:t>
            </a:r>
            <a:r>
              <a:rPr lang="en-US" sz="1100" dirty="0" err="1">
                <a:latin typeface="Consolas" panose="020B0609020204030204" pitchFamily="49" charset="0"/>
              </a:rPr>
              <a:t>End.DX2</a:t>
            </a:r>
            <a:endParaRPr lang="en-US" sz="1100" dirty="0">
              <a:latin typeface="Consolas" panose="020B0609020204030204" pitchFamily="49" charset="0"/>
            </a:endParaRPr>
          </a:p>
          <a:p>
            <a:r>
              <a:rPr lang="en-US" sz="1100" dirty="0">
                <a:latin typeface="Consolas" panose="020B0609020204030204" pitchFamily="49" charset="0"/>
              </a:rPr>
              <a:t>    </a:t>
            </a:r>
            <a:r>
              <a:rPr lang="en-US" sz="1100" dirty="0" err="1">
                <a:latin typeface="Consolas" panose="020B0609020204030204" pitchFamily="49" charset="0"/>
              </a:rPr>
              <a:t>uN</a:t>
            </a:r>
            <a:r>
              <a:rPr lang="en-US" sz="1100" dirty="0">
                <a:latin typeface="Consolas" panose="020B0609020204030204" pitchFamily="49" charset="0"/>
              </a:rPr>
              <a:t> (PSP/USD)</a:t>
            </a:r>
          </a:p>
          <a:p>
            <a:r>
              <a:rPr lang="en-US" sz="1100" dirty="0">
                <a:latin typeface="Consolas" panose="020B0609020204030204" pitchFamily="49" charset="0"/>
              </a:rPr>
              <a:t>    </a:t>
            </a:r>
            <a:r>
              <a:rPr lang="en-US" sz="1100" dirty="0" err="1">
                <a:latin typeface="Consolas" panose="020B0609020204030204" pitchFamily="49" charset="0"/>
              </a:rPr>
              <a:t>uA</a:t>
            </a:r>
            <a:r>
              <a:rPr lang="en-US" sz="1100" dirty="0">
                <a:latin typeface="Consolas" panose="020B0609020204030204" pitchFamily="49" charset="0"/>
              </a:rPr>
              <a:t> (PSP/USD)</a:t>
            </a:r>
          </a:p>
          <a:p>
            <a:r>
              <a:rPr lang="en-US" sz="1100" dirty="0">
                <a:latin typeface="Consolas" panose="020B0609020204030204" pitchFamily="49" charset="0"/>
              </a:rPr>
              <a:t>    </a:t>
            </a:r>
            <a:r>
              <a:rPr lang="en-US" sz="1100" dirty="0" err="1">
                <a:latin typeface="Consolas" panose="020B0609020204030204" pitchFamily="49" charset="0"/>
              </a:rPr>
              <a:t>uDT6</a:t>
            </a:r>
            <a:endParaRPr lang="en-US" sz="1100" dirty="0">
              <a:latin typeface="Consolas" panose="020B0609020204030204" pitchFamily="49" charset="0"/>
            </a:endParaRPr>
          </a:p>
          <a:p>
            <a:r>
              <a:rPr lang="en-US" sz="1100" dirty="0">
                <a:latin typeface="Consolas" panose="020B0609020204030204" pitchFamily="49" charset="0"/>
              </a:rPr>
              <a:t>    </a:t>
            </a:r>
            <a:r>
              <a:rPr lang="en-US" sz="1100" dirty="0" err="1">
                <a:latin typeface="Consolas" panose="020B0609020204030204" pitchFamily="49" charset="0"/>
              </a:rPr>
              <a:t>uDT4</a:t>
            </a:r>
            <a:endParaRPr lang="en-US" sz="1100" dirty="0">
              <a:latin typeface="Consolas" panose="020B0609020204030204" pitchFamily="49" charset="0"/>
            </a:endParaRPr>
          </a:p>
          <a:p>
            <a:r>
              <a:rPr lang="en-US" sz="1100" dirty="0">
                <a:latin typeface="Consolas" panose="020B0609020204030204" pitchFamily="49" charset="0"/>
              </a:rPr>
              <a:t>    </a:t>
            </a:r>
            <a:r>
              <a:rPr lang="en-US" sz="1100" dirty="0" err="1">
                <a:latin typeface="Consolas" panose="020B0609020204030204" pitchFamily="49" charset="0"/>
              </a:rPr>
              <a:t>uDX2</a:t>
            </a:r>
            <a:endParaRPr lang="en-US" sz="1100" dirty="0">
              <a:latin typeface="Consolas" panose="020B0609020204030204" pitchFamily="49" charset="0"/>
            </a:endParaRPr>
          </a:p>
          <a:p>
            <a:r>
              <a:rPr lang="en-US" sz="1100" dirty="0">
                <a:latin typeface="Consolas" panose="020B0609020204030204" pitchFamily="49" charset="0"/>
              </a:rPr>
              <a:t>    </a:t>
            </a:r>
            <a:r>
              <a:rPr lang="en-US" sz="1100" dirty="0" err="1">
                <a:latin typeface="Consolas" panose="020B0609020204030204" pitchFamily="49" charset="0"/>
              </a:rPr>
              <a:t>uB6</a:t>
            </a:r>
            <a:r>
              <a:rPr lang="en-US" sz="1100" dirty="0">
                <a:latin typeface="Consolas" panose="020B0609020204030204" pitchFamily="49" charset="0"/>
              </a:rPr>
              <a:t> (</a:t>
            </a:r>
            <a:r>
              <a:rPr lang="en-US" sz="1100" dirty="0" err="1">
                <a:latin typeface="Consolas" panose="020B0609020204030204" pitchFamily="49" charset="0"/>
              </a:rPr>
              <a:t>Insert.Red</a:t>
            </a:r>
            <a:r>
              <a:rPr lang="en-US" sz="1100" dirty="0">
                <a:latin typeface="Consolas" panose="020B0609020204030204" pitchFamily="49" charset="0"/>
              </a:rPr>
              <a:t>)</a:t>
            </a:r>
          </a:p>
          <a:p>
            <a:r>
              <a:rPr lang="en-US" sz="1100" dirty="0">
                <a:latin typeface="Consolas" panose="020B0609020204030204" pitchFamily="49" charset="0"/>
              </a:rPr>
              <a:t>  Headend behaviors:</a:t>
            </a:r>
          </a:p>
          <a:p>
            <a:r>
              <a:rPr lang="en-US" sz="1100" dirty="0">
                <a:latin typeface="Consolas" panose="020B0609020204030204" pitchFamily="49" charset="0"/>
              </a:rPr>
              <a:t>    T</a:t>
            </a:r>
          </a:p>
          <a:p>
            <a:r>
              <a:rPr lang="en-US" sz="1100" dirty="0">
                <a:latin typeface="Consolas" panose="020B0609020204030204" pitchFamily="49" charset="0"/>
              </a:rPr>
              <a:t>    </a:t>
            </a:r>
            <a:r>
              <a:rPr lang="en-US" sz="1100" dirty="0" err="1">
                <a:latin typeface="Consolas" panose="020B0609020204030204" pitchFamily="49" charset="0"/>
              </a:rPr>
              <a:t>H.Insert.Red</a:t>
            </a:r>
            <a:endParaRPr lang="en-US" sz="1100" dirty="0">
              <a:latin typeface="Consolas" panose="020B0609020204030204" pitchFamily="49" charset="0"/>
            </a:endParaRPr>
          </a:p>
          <a:p>
            <a:r>
              <a:rPr lang="en-US" sz="1100" dirty="0">
                <a:latin typeface="Consolas" panose="020B0609020204030204" pitchFamily="49" charset="0"/>
              </a:rPr>
              <a:t>    </a:t>
            </a:r>
            <a:r>
              <a:rPr lang="en-US" sz="1100" dirty="0" err="1">
                <a:latin typeface="Consolas" panose="020B0609020204030204" pitchFamily="49" charset="0"/>
              </a:rPr>
              <a:t>H.Encaps.Red</a:t>
            </a:r>
            <a:endParaRPr lang="en-US" sz="1100" dirty="0">
              <a:latin typeface="Consolas" panose="020B0609020204030204" pitchFamily="49" charset="0"/>
            </a:endParaRPr>
          </a:p>
          <a:p>
            <a:r>
              <a:rPr lang="en-US" sz="1100" dirty="0">
                <a:latin typeface="Consolas" panose="020B0609020204030204" pitchFamily="49" charset="0"/>
              </a:rPr>
              <a:t>  Security rules:</a:t>
            </a:r>
          </a:p>
          <a:p>
            <a:r>
              <a:rPr lang="en-US" sz="1100" dirty="0">
                <a:latin typeface="Consolas" panose="020B0609020204030204" pitchFamily="49" charset="0"/>
              </a:rPr>
              <a:t>    SEC-1</a:t>
            </a:r>
          </a:p>
          <a:p>
            <a:r>
              <a:rPr lang="en-US" sz="1100" dirty="0">
                <a:latin typeface="Consolas" panose="020B0609020204030204" pitchFamily="49" charset="0"/>
              </a:rPr>
              <a:t>    SEC-2</a:t>
            </a:r>
          </a:p>
          <a:p>
            <a:r>
              <a:rPr lang="en-US" sz="1100" dirty="0">
                <a:latin typeface="Consolas" panose="020B0609020204030204" pitchFamily="49" charset="0"/>
              </a:rPr>
              <a:t>    SEC-3</a:t>
            </a:r>
          </a:p>
          <a:p>
            <a:r>
              <a:rPr lang="en-US" sz="1100" dirty="0">
                <a:latin typeface="Consolas" panose="020B0609020204030204" pitchFamily="49" charset="0"/>
              </a:rPr>
              <a:t>  Counters:</a:t>
            </a:r>
          </a:p>
          <a:p>
            <a:r>
              <a:rPr lang="en-US" sz="1100" dirty="0">
                <a:latin typeface="Consolas" panose="020B0609020204030204" pitchFamily="49" charset="0"/>
              </a:rPr>
              <a:t>    CNT-1</a:t>
            </a:r>
          </a:p>
          <a:p>
            <a:r>
              <a:rPr lang="en-US" sz="1100" dirty="0">
                <a:latin typeface="Consolas" panose="020B0609020204030204" pitchFamily="49" charset="0"/>
              </a:rPr>
              <a:t>    CNT-3</a:t>
            </a:r>
          </a:p>
          <a:p>
            <a:r>
              <a:rPr lang="en-US" sz="1100" dirty="0">
                <a:latin typeface="Consolas" panose="020B0609020204030204" pitchFamily="49" charset="0"/>
              </a:rPr>
              <a:t>  Signaled parameters:</a:t>
            </a:r>
          </a:p>
          <a:p>
            <a:r>
              <a:rPr lang="en-US" sz="1100" dirty="0">
                <a:latin typeface="Consolas" panose="020B0609020204030204" pitchFamily="49" charset="0"/>
              </a:rPr>
              <a:t>    Max-SL          : 3</a:t>
            </a:r>
          </a:p>
          <a:p>
            <a:r>
              <a:rPr lang="en-US" sz="1100" dirty="0">
                <a:latin typeface="Consolas" panose="020B0609020204030204" pitchFamily="49" charset="0"/>
              </a:rPr>
              <a:t>    Max-End-Pop-SRH : 3</a:t>
            </a:r>
          </a:p>
          <a:p>
            <a:r>
              <a:rPr lang="en-US" sz="1100" dirty="0">
                <a:latin typeface="Consolas" panose="020B0609020204030204" pitchFamily="49" charset="0"/>
              </a:rPr>
              <a:t>    Max-H-Insert    : 3 </a:t>
            </a:r>
            <a:r>
              <a:rPr lang="en-US" sz="1100" dirty="0" err="1">
                <a:latin typeface="Consolas" panose="020B0609020204030204" pitchFamily="49" charset="0"/>
              </a:rPr>
              <a:t>sids</a:t>
            </a:r>
            <a:endParaRPr lang="en-US" sz="1100" dirty="0">
              <a:latin typeface="Consolas" panose="020B0609020204030204" pitchFamily="49" charset="0"/>
            </a:endParaRPr>
          </a:p>
          <a:p>
            <a:r>
              <a:rPr lang="en-US" sz="1100" dirty="0">
                <a:latin typeface="Consolas" panose="020B0609020204030204" pitchFamily="49" charset="0"/>
              </a:rPr>
              <a:t>    Max-H-</a:t>
            </a:r>
            <a:r>
              <a:rPr lang="en-US" sz="1100" dirty="0" err="1">
                <a:latin typeface="Consolas" panose="020B0609020204030204" pitchFamily="49" charset="0"/>
              </a:rPr>
              <a:t>Encap</a:t>
            </a:r>
            <a:r>
              <a:rPr lang="en-US" sz="1100" dirty="0">
                <a:latin typeface="Consolas" panose="020B0609020204030204" pitchFamily="49" charset="0"/>
              </a:rPr>
              <a:t>     : 3 </a:t>
            </a:r>
            <a:r>
              <a:rPr lang="en-US" sz="1100" dirty="0" err="1">
                <a:latin typeface="Consolas" panose="020B0609020204030204" pitchFamily="49" charset="0"/>
              </a:rPr>
              <a:t>sids</a:t>
            </a:r>
            <a:endParaRPr lang="en-US" sz="1100" dirty="0">
              <a:latin typeface="Consolas" panose="020B0609020204030204" pitchFamily="49" charset="0"/>
            </a:endParaRPr>
          </a:p>
          <a:p>
            <a:r>
              <a:rPr lang="en-US" sz="1100" dirty="0">
                <a:latin typeface="Consolas" panose="020B0609020204030204" pitchFamily="49" charset="0"/>
              </a:rPr>
              <a:t>    Max-End-D       : 4</a:t>
            </a:r>
          </a:p>
          <a:p>
            <a:r>
              <a:rPr lang="en-US" sz="1100" dirty="0">
                <a:latin typeface="Consolas" panose="020B0609020204030204" pitchFamily="49" charset="0"/>
              </a:rPr>
              <a:t>  Configurable parameters (under srv6):</a:t>
            </a:r>
          </a:p>
          <a:p>
            <a:r>
              <a:rPr lang="en-US" sz="1100" dirty="0">
                <a:latin typeface="Consolas" panose="020B0609020204030204" pitchFamily="49" charset="0"/>
              </a:rPr>
              <a:t>    Encapsulation:</a:t>
            </a:r>
          </a:p>
          <a:p>
            <a:r>
              <a:rPr lang="en-US" sz="1100" dirty="0">
                <a:latin typeface="Consolas" panose="020B0609020204030204" pitchFamily="49" charset="0"/>
              </a:rPr>
              <a:t>      Source Address: Yes</a:t>
            </a:r>
          </a:p>
          <a:p>
            <a:r>
              <a:rPr lang="en-US" sz="1100" dirty="0">
                <a:latin typeface="Consolas" panose="020B0609020204030204" pitchFamily="49" charset="0"/>
              </a:rPr>
              <a:t>      Hop-Limit     : value=Yes, propagate=No</a:t>
            </a:r>
          </a:p>
          <a:p>
            <a:r>
              <a:rPr lang="en-US" sz="1100" dirty="0">
                <a:latin typeface="Consolas" panose="020B0609020204030204" pitchFamily="49" charset="0"/>
              </a:rPr>
              <a:t>      Traffic-class : value=Yes, propagate=Yes</a:t>
            </a:r>
          </a:p>
          <a:p>
            <a:r>
              <a:rPr lang="en-US" sz="1100" dirty="0">
                <a:latin typeface="Consolas" panose="020B0609020204030204" pitchFamily="49" charset="0"/>
              </a:rPr>
              <a:t>  Max </a:t>
            </a:r>
            <a:r>
              <a:rPr lang="en-US" sz="1100" dirty="0" err="1">
                <a:latin typeface="Consolas" panose="020B0609020204030204" pitchFamily="49" charset="0"/>
              </a:rPr>
              <a:t>SIDs</a:t>
            </a:r>
            <a:r>
              <a:rPr lang="en-US" sz="1100" dirty="0">
                <a:latin typeface="Consolas" panose="020B0609020204030204" pitchFamily="49" charset="0"/>
              </a:rPr>
              <a:t>: 64000</a:t>
            </a:r>
          </a:p>
          <a:p>
            <a:r>
              <a:rPr lang="en-US" sz="1100" dirty="0">
                <a:latin typeface="Consolas" panose="020B0609020204030204" pitchFamily="49" charset="0"/>
              </a:rPr>
              <a:t>  SID </a:t>
            </a:r>
            <a:r>
              <a:rPr lang="en-US" sz="1100" dirty="0" err="1">
                <a:latin typeface="Consolas" panose="020B0609020204030204" pitchFamily="49" charset="0"/>
              </a:rPr>
              <a:t>Holdtime</a:t>
            </a:r>
            <a:r>
              <a:rPr lang="en-US" sz="1100" dirty="0">
                <a:latin typeface="Consolas" panose="020B0609020204030204" pitchFamily="49" charset="0"/>
              </a:rPr>
              <a:t>: 3 mins</a:t>
            </a:r>
          </a:p>
        </p:txBody>
      </p:sp>
    </p:spTree>
    <p:extLst>
      <p:ext uri="{BB962C8B-B14F-4D97-AF65-F5344CB8AC3E}">
        <p14:creationId xmlns:p14="http://schemas.microsoft.com/office/powerpoint/2010/main" val="392753764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C15D550-6399-EBDA-DB44-86F60482332F}"/>
              </a:ext>
            </a:extLst>
          </p:cNvPr>
          <p:cNvSpPr>
            <a:spLocks noGrp="1"/>
          </p:cNvSpPr>
          <p:nvPr>
            <p:ph type="body" sz="quarter" idx="10"/>
          </p:nvPr>
        </p:nvSpPr>
        <p:spPr/>
        <p:txBody>
          <a:bodyPr/>
          <a:lstStyle/>
          <a:p>
            <a:endParaRPr lang="en-US" dirty="0"/>
          </a:p>
          <a:p>
            <a:pPr marL="0" indent="0">
              <a:buNone/>
            </a:pPr>
            <a:endParaRPr lang="en-US" dirty="0"/>
          </a:p>
          <a:p>
            <a:endParaRPr lang="en-US" dirty="0"/>
          </a:p>
        </p:txBody>
      </p:sp>
      <p:sp>
        <p:nvSpPr>
          <p:cNvPr id="3" name="Text Placeholder 2">
            <a:extLst>
              <a:ext uri="{FF2B5EF4-FFF2-40B4-BE49-F238E27FC236}">
                <a16:creationId xmlns:a16="http://schemas.microsoft.com/office/drawing/2014/main" id="{9AF44734-4F7D-474C-9133-2E04DB2890D3}"/>
              </a:ext>
            </a:extLst>
          </p:cNvPr>
          <p:cNvSpPr>
            <a:spLocks noGrp="1"/>
          </p:cNvSpPr>
          <p:nvPr>
            <p:ph type="body" sz="quarter" idx="11"/>
          </p:nvPr>
        </p:nvSpPr>
        <p:spPr/>
        <p:txBody>
          <a:bodyPr/>
          <a:lstStyle/>
          <a:p>
            <a:r>
              <a:rPr lang="en-US" dirty="0"/>
              <a:t>SRv6 SID - show</a:t>
            </a:r>
          </a:p>
        </p:txBody>
      </p:sp>
      <p:sp>
        <p:nvSpPr>
          <p:cNvPr id="4" name="Rectangle 3">
            <a:extLst>
              <a:ext uri="{FF2B5EF4-FFF2-40B4-BE49-F238E27FC236}">
                <a16:creationId xmlns:a16="http://schemas.microsoft.com/office/drawing/2014/main" id="{63052837-84EF-8772-BB13-42F199664B2E}"/>
              </a:ext>
            </a:extLst>
          </p:cNvPr>
          <p:cNvSpPr/>
          <p:nvPr/>
        </p:nvSpPr>
        <p:spPr>
          <a:xfrm>
            <a:off x="462225" y="760174"/>
            <a:ext cx="4983982" cy="1954381"/>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Router# </a:t>
            </a:r>
            <a:r>
              <a:rPr lang="en-US" sz="1100" b="1" dirty="0">
                <a:latin typeface="Consolas" panose="020B0609020204030204" pitchFamily="49" charset="0"/>
              </a:rPr>
              <a:t>show segment-routing srv6 locator </a:t>
            </a:r>
            <a:r>
              <a:rPr lang="en-US" sz="1100" i="1" dirty="0" err="1">
                <a:solidFill>
                  <a:schemeClr val="accent1"/>
                </a:solidFill>
                <a:latin typeface="Consolas" panose="020B0609020204030204" pitchFamily="49" charset="0"/>
              </a:rPr>
              <a:t>myLoc1</a:t>
            </a:r>
            <a:r>
              <a:rPr lang="en-US" sz="1100" b="1" dirty="0">
                <a:latin typeface="Consolas" panose="020B0609020204030204" pitchFamily="49" charset="0"/>
              </a:rPr>
              <a:t> detail </a:t>
            </a:r>
          </a:p>
          <a:p>
            <a:r>
              <a:rPr lang="en-US" sz="1100" dirty="0">
                <a:latin typeface="Consolas" panose="020B0609020204030204" pitchFamily="49" charset="0"/>
              </a:rPr>
              <a:t>Name                 ID      Prefix                   Status</a:t>
            </a:r>
          </a:p>
          <a:p>
            <a:r>
              <a:rPr lang="en-US" sz="1100" dirty="0">
                <a:latin typeface="Consolas" panose="020B0609020204030204" pitchFamily="49" charset="0"/>
              </a:rPr>
              <a:t>-------------------- ------- ------------------------ -------</a:t>
            </a:r>
          </a:p>
          <a:p>
            <a:r>
              <a:rPr lang="en-US" sz="1100" b="1" dirty="0" err="1">
                <a:solidFill>
                  <a:schemeClr val="accent1"/>
                </a:solidFill>
                <a:latin typeface="Consolas" panose="020B0609020204030204" pitchFamily="49" charset="0"/>
              </a:rPr>
              <a:t>myLoc1</a:t>
            </a:r>
            <a:r>
              <a:rPr lang="en-US" sz="1100" dirty="0">
                <a:latin typeface="Consolas" panose="020B0609020204030204" pitchFamily="49" charset="0"/>
              </a:rPr>
              <a:t>*              5       </a:t>
            </a:r>
            <a:r>
              <a:rPr lang="en-US" sz="1100" dirty="0" err="1">
                <a:latin typeface="Consolas" panose="020B0609020204030204" pitchFamily="49" charset="0"/>
              </a:rPr>
              <a:t>2001:db8:0:a2</a:t>
            </a:r>
            <a:r>
              <a:rPr lang="en-US" sz="1100" dirty="0">
                <a:latin typeface="Consolas" panose="020B0609020204030204" pitchFamily="49" charset="0"/>
              </a:rPr>
              <a:t>::/64       Up</a:t>
            </a:r>
          </a:p>
          <a:p>
            <a:r>
              <a:rPr lang="en-US" sz="1100" dirty="0">
                <a:latin typeface="Consolas" panose="020B0609020204030204" pitchFamily="49" charset="0"/>
              </a:rPr>
              <a:t>  (*): is-default</a:t>
            </a:r>
          </a:p>
          <a:p>
            <a:r>
              <a:rPr lang="en-US" sz="1100" dirty="0">
                <a:latin typeface="Consolas" panose="020B0609020204030204" pitchFamily="49" charset="0"/>
              </a:rPr>
              <a:t>  Interface:</a:t>
            </a:r>
          </a:p>
          <a:p>
            <a:r>
              <a:rPr lang="en-US" sz="1100" dirty="0">
                <a:latin typeface="Consolas" panose="020B0609020204030204" pitchFamily="49" charset="0"/>
              </a:rPr>
              <a:t>    Name: </a:t>
            </a:r>
            <a:r>
              <a:rPr lang="en-US" sz="1100" dirty="0" err="1">
                <a:latin typeface="Consolas" panose="020B0609020204030204" pitchFamily="49" charset="0"/>
              </a:rPr>
              <a:t>srv6-myLoc1</a:t>
            </a:r>
            <a:r>
              <a:rPr lang="en-US" sz="1100" dirty="0">
                <a:latin typeface="Consolas" panose="020B0609020204030204" pitchFamily="49" charset="0"/>
              </a:rPr>
              <a:t> </a:t>
            </a:r>
          </a:p>
          <a:p>
            <a:r>
              <a:rPr lang="en-US" sz="1100" dirty="0">
                <a:latin typeface="Consolas" panose="020B0609020204030204" pitchFamily="49" charset="0"/>
              </a:rPr>
              <a:t>    </a:t>
            </a:r>
            <a:r>
              <a:rPr lang="en-US" sz="1100" dirty="0" err="1">
                <a:latin typeface="Consolas" panose="020B0609020204030204" pitchFamily="49" charset="0"/>
              </a:rPr>
              <a:t>IFH</a:t>
            </a:r>
            <a:r>
              <a:rPr lang="en-US" sz="1100" dirty="0">
                <a:latin typeface="Consolas" panose="020B0609020204030204" pitchFamily="49" charset="0"/>
              </a:rPr>
              <a:t> : </a:t>
            </a:r>
            <a:r>
              <a:rPr lang="en-US" sz="1100" dirty="0" err="1">
                <a:latin typeface="Consolas" panose="020B0609020204030204" pitchFamily="49" charset="0"/>
              </a:rPr>
              <a:t>0x00000170</a:t>
            </a:r>
            <a:endParaRPr lang="en-US" sz="1100" dirty="0">
              <a:latin typeface="Consolas" panose="020B0609020204030204" pitchFamily="49" charset="0"/>
            </a:endParaRPr>
          </a:p>
          <a:p>
            <a:r>
              <a:rPr lang="en-US" sz="1100" dirty="0">
                <a:latin typeface="Consolas" panose="020B0609020204030204" pitchFamily="49" charset="0"/>
              </a:rPr>
              <a:t>    IPv6 address: </a:t>
            </a:r>
            <a:r>
              <a:rPr lang="en-US" sz="1100" dirty="0" err="1">
                <a:latin typeface="Consolas" panose="020B0609020204030204" pitchFamily="49" charset="0"/>
              </a:rPr>
              <a:t>2001:db8:0:a2</a:t>
            </a:r>
            <a:r>
              <a:rPr lang="en-US" sz="1100" dirty="0">
                <a:latin typeface="Consolas" panose="020B0609020204030204" pitchFamily="49" charset="0"/>
              </a:rPr>
              <a:t>::/64 </a:t>
            </a:r>
          </a:p>
          <a:p>
            <a:r>
              <a:rPr lang="en-US" sz="1100" dirty="0">
                <a:latin typeface="Consolas" panose="020B0609020204030204" pitchFamily="49" charset="0"/>
              </a:rPr>
              <a:t>  Chkpt Obj ID: </a:t>
            </a:r>
            <a:r>
              <a:rPr lang="en-US" sz="1100" dirty="0" err="1">
                <a:latin typeface="Consolas" panose="020B0609020204030204" pitchFamily="49" charset="0"/>
              </a:rPr>
              <a:t>0x2fc8</a:t>
            </a:r>
            <a:endParaRPr lang="en-US" sz="1100" dirty="0">
              <a:latin typeface="Consolas" panose="020B0609020204030204" pitchFamily="49" charset="0"/>
            </a:endParaRPr>
          </a:p>
          <a:p>
            <a:r>
              <a:rPr lang="en-US" sz="1100" dirty="0">
                <a:latin typeface="Consolas" panose="020B0609020204030204" pitchFamily="49" charset="0"/>
              </a:rPr>
              <a:t>  Created: Apr 25 06:21:57.077 (00:03:37 ago)</a:t>
            </a:r>
          </a:p>
        </p:txBody>
      </p:sp>
      <p:sp>
        <p:nvSpPr>
          <p:cNvPr id="5" name="Rectangle 4">
            <a:extLst>
              <a:ext uri="{FF2B5EF4-FFF2-40B4-BE49-F238E27FC236}">
                <a16:creationId xmlns:a16="http://schemas.microsoft.com/office/drawing/2014/main" id="{672C2765-9C88-8632-8CB0-BB95CDAF2466}"/>
              </a:ext>
            </a:extLst>
          </p:cNvPr>
          <p:cNvSpPr/>
          <p:nvPr/>
        </p:nvSpPr>
        <p:spPr>
          <a:xfrm>
            <a:off x="462225" y="2868415"/>
            <a:ext cx="8933273" cy="3477875"/>
          </a:xfrm>
          <a:prstGeom prst="rect">
            <a:avLst/>
          </a:prstGeom>
          <a:solidFill>
            <a:schemeClr val="bg1">
              <a:lumMod val="95000"/>
            </a:schemeClr>
          </a:solidFill>
          <a:ln>
            <a:solidFill>
              <a:schemeClr val="tx1"/>
            </a:solidFill>
          </a:ln>
          <a:effectLst/>
        </p:spPr>
        <p:txBody>
          <a:bodyPr wrap="square">
            <a:spAutoFit/>
          </a:bodyPr>
          <a:lstStyle/>
          <a:p>
            <a:endParaRPr lang="en-US" sz="1100" dirty="0">
              <a:latin typeface="Consolas" panose="020B0609020204030204" pitchFamily="49" charset="0"/>
            </a:endParaRPr>
          </a:p>
          <a:p>
            <a:r>
              <a:rPr lang="en-US" sz="1100" dirty="0">
                <a:latin typeface="Consolas" panose="020B0609020204030204" pitchFamily="49" charset="0"/>
              </a:rPr>
              <a:t>Router# </a:t>
            </a:r>
            <a:r>
              <a:rPr lang="en-US" sz="1100" b="1" dirty="0">
                <a:latin typeface="Consolas" panose="020B0609020204030204" pitchFamily="49" charset="0"/>
              </a:rPr>
              <a:t>show segment-routing srv6 locator </a:t>
            </a:r>
            <a:r>
              <a:rPr lang="en-US" sz="1100" i="1" dirty="0" err="1">
                <a:solidFill>
                  <a:schemeClr val="accent1"/>
                </a:solidFill>
                <a:latin typeface="Consolas" panose="020B0609020204030204" pitchFamily="49" charset="0"/>
              </a:rPr>
              <a:t>myLoc1</a:t>
            </a:r>
            <a:r>
              <a:rPr lang="en-US" sz="1100" b="1" dirty="0">
                <a:latin typeface="Consolas" panose="020B0609020204030204" pitchFamily="49" charset="0"/>
              </a:rPr>
              <a:t> </a:t>
            </a:r>
            <a:r>
              <a:rPr lang="en-US" sz="1100" b="1" dirty="0" err="1">
                <a:latin typeface="Consolas" panose="020B0609020204030204" pitchFamily="49" charset="0"/>
              </a:rPr>
              <a:t>sid</a:t>
            </a:r>
            <a:endParaRPr lang="en-US" sz="1100" b="1" dirty="0">
              <a:latin typeface="Consolas" panose="020B0609020204030204" pitchFamily="49" charset="0"/>
            </a:endParaRPr>
          </a:p>
          <a:p>
            <a:endParaRPr lang="en-US" sz="1100" dirty="0">
              <a:latin typeface="Consolas" panose="020B0609020204030204" pitchFamily="49" charset="0"/>
            </a:endParaRPr>
          </a:p>
          <a:p>
            <a:r>
              <a:rPr lang="en-US" sz="1100" dirty="0">
                <a:latin typeface="Consolas" panose="020B0609020204030204" pitchFamily="49" charset="0"/>
              </a:rPr>
              <a:t>SID                         Function     Context                           Owner               State  </a:t>
            </a:r>
            <a:r>
              <a:rPr lang="en-US" sz="1100" dirty="0" err="1">
                <a:latin typeface="Consolas" panose="020B0609020204030204" pitchFamily="49" charset="0"/>
              </a:rPr>
              <a:t>RW</a:t>
            </a:r>
            <a:endParaRPr lang="en-US" sz="1100" dirty="0">
              <a:latin typeface="Consolas" panose="020B0609020204030204" pitchFamily="49" charset="0"/>
            </a:endParaRPr>
          </a:p>
          <a:p>
            <a:r>
              <a:rPr lang="en-US" sz="1100" dirty="0">
                <a:latin typeface="Consolas" panose="020B0609020204030204" pitchFamily="49" charset="0"/>
              </a:rPr>
              <a:t>--------------------------  -----------  ------------------------------    ------------------  -----  --</a:t>
            </a:r>
          </a:p>
          <a:p>
            <a:r>
              <a:rPr lang="en-US" sz="1100" dirty="0" err="1">
                <a:latin typeface="Consolas" panose="020B0609020204030204" pitchFamily="49" charset="0"/>
              </a:rPr>
              <a:t>2001:db8:0:a2:1</a:t>
            </a:r>
            <a:r>
              <a:rPr lang="en-US" sz="1100" dirty="0">
                <a:latin typeface="Consolas" panose="020B0609020204030204" pitchFamily="49" charset="0"/>
              </a:rPr>
              <a:t>::           End (PSP)    '</a:t>
            </a:r>
            <a:r>
              <a:rPr lang="en-US" sz="1100" dirty="0" err="1">
                <a:latin typeface="Consolas" panose="020B0609020204030204" pitchFamily="49" charset="0"/>
              </a:rPr>
              <a:t>default':1</a:t>
            </a:r>
            <a:r>
              <a:rPr lang="en-US" sz="1100" dirty="0">
                <a:latin typeface="Consolas" panose="020B0609020204030204" pitchFamily="49" charset="0"/>
              </a:rPr>
              <a:t>                       </a:t>
            </a:r>
            <a:r>
              <a:rPr lang="en-US" sz="1100" dirty="0" err="1">
                <a:latin typeface="Consolas" panose="020B0609020204030204" pitchFamily="49" charset="0"/>
              </a:rPr>
              <a:t>sidmgr</a:t>
            </a:r>
            <a:r>
              <a:rPr lang="en-US" sz="1100" dirty="0">
                <a:latin typeface="Consolas" panose="020B0609020204030204" pitchFamily="49" charset="0"/>
              </a:rPr>
              <a:t>              </a:t>
            </a:r>
            <a:r>
              <a:rPr lang="en-US" sz="1100" dirty="0" err="1">
                <a:latin typeface="Consolas" panose="020B0609020204030204" pitchFamily="49" charset="0"/>
              </a:rPr>
              <a:t>InUse</a:t>
            </a:r>
            <a:r>
              <a:rPr lang="en-US" sz="1100" dirty="0">
                <a:latin typeface="Consolas" panose="020B0609020204030204" pitchFamily="49" charset="0"/>
              </a:rPr>
              <a:t>  Y</a:t>
            </a:r>
          </a:p>
          <a:p>
            <a:r>
              <a:rPr lang="en-US" sz="1100" dirty="0" err="1">
                <a:latin typeface="Consolas" panose="020B0609020204030204" pitchFamily="49" charset="0"/>
              </a:rPr>
              <a:t>2001:db8:0:a2:40</a:t>
            </a:r>
            <a:r>
              <a:rPr lang="en-US" sz="1100" dirty="0">
                <a:latin typeface="Consolas" panose="020B0609020204030204" pitchFamily="49" charset="0"/>
              </a:rPr>
              <a:t>::          </a:t>
            </a:r>
            <a:r>
              <a:rPr lang="en-US" sz="1100" dirty="0" err="1">
                <a:latin typeface="Consolas" panose="020B0609020204030204" pitchFamily="49" charset="0"/>
              </a:rPr>
              <a:t>End.DT4</a:t>
            </a:r>
            <a:r>
              <a:rPr lang="en-US" sz="1100" dirty="0">
                <a:latin typeface="Consolas" panose="020B0609020204030204" pitchFamily="49" charset="0"/>
              </a:rPr>
              <a:t>      '</a:t>
            </a:r>
            <a:r>
              <a:rPr lang="en-US" sz="1100" dirty="0" err="1">
                <a:latin typeface="Consolas" panose="020B0609020204030204" pitchFamily="49" charset="0"/>
              </a:rPr>
              <a:t>VRF1</a:t>
            </a:r>
            <a:r>
              <a:rPr lang="en-US" sz="1100" dirty="0">
                <a:latin typeface="Consolas" panose="020B0609020204030204" pitchFamily="49" charset="0"/>
              </a:rPr>
              <a:t>'                            bgp-100             </a:t>
            </a:r>
            <a:r>
              <a:rPr lang="en-US" sz="1100" dirty="0" err="1">
                <a:latin typeface="Consolas" panose="020B0609020204030204" pitchFamily="49" charset="0"/>
              </a:rPr>
              <a:t>InUse</a:t>
            </a:r>
            <a:r>
              <a:rPr lang="en-US" sz="1100" dirty="0">
                <a:latin typeface="Consolas" panose="020B0609020204030204" pitchFamily="49" charset="0"/>
              </a:rPr>
              <a:t>  Y</a:t>
            </a:r>
          </a:p>
          <a:p>
            <a:r>
              <a:rPr lang="en-US" sz="1100" dirty="0" err="1">
                <a:latin typeface="Consolas" panose="020B0609020204030204" pitchFamily="49" charset="0"/>
              </a:rPr>
              <a:t>2001:db8:0:a2:41</a:t>
            </a:r>
            <a:r>
              <a:rPr lang="en-US" sz="1100" dirty="0">
                <a:latin typeface="Consolas" panose="020B0609020204030204" pitchFamily="49" charset="0"/>
              </a:rPr>
              <a:t>::          </a:t>
            </a:r>
            <a:r>
              <a:rPr lang="en-US" sz="1100" dirty="0" err="1">
                <a:latin typeface="Consolas" panose="020B0609020204030204" pitchFamily="49" charset="0"/>
              </a:rPr>
              <a:t>End.X</a:t>
            </a:r>
            <a:r>
              <a:rPr lang="en-US" sz="1100" dirty="0">
                <a:latin typeface="Consolas" panose="020B0609020204030204" pitchFamily="49" charset="0"/>
              </a:rPr>
              <a:t> (PSP)  [</a:t>
            </a:r>
            <a:r>
              <a:rPr lang="en-US" sz="1100" dirty="0" err="1">
                <a:latin typeface="Consolas" panose="020B0609020204030204" pitchFamily="49" charset="0"/>
              </a:rPr>
              <a:t>Hu0</a:t>
            </a:r>
            <a:r>
              <a:rPr lang="en-US" sz="1100" dirty="0">
                <a:latin typeface="Consolas" panose="020B0609020204030204" pitchFamily="49" charset="0"/>
              </a:rPr>
              <a:t>/1/0/1, Link-Local]           </a:t>
            </a:r>
            <a:r>
              <a:rPr lang="en-US" sz="1100" dirty="0" err="1">
                <a:latin typeface="Consolas" panose="020B0609020204030204" pitchFamily="49" charset="0"/>
              </a:rPr>
              <a:t>isis-srv6</a:t>
            </a:r>
            <a:r>
              <a:rPr lang="en-US" sz="1100" dirty="0">
                <a:latin typeface="Consolas" panose="020B0609020204030204" pitchFamily="49" charset="0"/>
              </a:rPr>
              <a:t>           </a:t>
            </a:r>
            <a:r>
              <a:rPr lang="en-US" sz="1100" dirty="0" err="1">
                <a:latin typeface="Consolas" panose="020B0609020204030204" pitchFamily="49" charset="0"/>
              </a:rPr>
              <a:t>InUse</a:t>
            </a:r>
            <a:r>
              <a:rPr lang="en-US" sz="1100" dirty="0">
                <a:latin typeface="Consolas" panose="020B0609020204030204" pitchFamily="49" charset="0"/>
              </a:rPr>
              <a:t>  Y</a:t>
            </a:r>
          </a:p>
          <a:p>
            <a:endParaRPr lang="en-US" sz="1100" dirty="0">
              <a:latin typeface="Consolas" panose="020B0609020204030204" pitchFamily="49" charset="0"/>
            </a:endParaRPr>
          </a:p>
          <a:p>
            <a:endParaRPr lang="en-US" sz="1100" dirty="0">
              <a:latin typeface="Consolas" panose="020B0609020204030204" pitchFamily="49" charset="0"/>
            </a:endParaRPr>
          </a:p>
          <a:p>
            <a:r>
              <a:rPr lang="en-US" sz="1100" dirty="0">
                <a:latin typeface="Consolas" panose="020B0609020204030204" pitchFamily="49" charset="0"/>
              </a:rPr>
              <a:t>Router# </a:t>
            </a:r>
            <a:r>
              <a:rPr lang="en-US" sz="1100" b="1" dirty="0">
                <a:latin typeface="Consolas" panose="020B0609020204030204" pitchFamily="49" charset="0"/>
              </a:rPr>
              <a:t>show segment-routing srv6 locator </a:t>
            </a:r>
            <a:r>
              <a:rPr lang="en-US" sz="1100" i="1" dirty="0" err="1">
                <a:solidFill>
                  <a:schemeClr val="accent1"/>
                </a:solidFill>
                <a:latin typeface="Consolas" panose="020B0609020204030204" pitchFamily="49" charset="0"/>
              </a:rPr>
              <a:t>myLoc1</a:t>
            </a:r>
            <a:r>
              <a:rPr lang="en-US" sz="1100" b="1" dirty="0">
                <a:latin typeface="Consolas" panose="020B0609020204030204" pitchFamily="49" charset="0"/>
              </a:rPr>
              <a:t> </a:t>
            </a:r>
            <a:r>
              <a:rPr lang="en-US" sz="1100" b="1" dirty="0" err="1">
                <a:latin typeface="Consolas" panose="020B0609020204030204" pitchFamily="49" charset="0"/>
              </a:rPr>
              <a:t>sid</a:t>
            </a:r>
            <a:r>
              <a:rPr lang="en-US" sz="1100" b="1" dirty="0">
                <a:latin typeface="Consolas" panose="020B0609020204030204" pitchFamily="49" charset="0"/>
              </a:rPr>
              <a:t> </a:t>
            </a:r>
            <a:r>
              <a:rPr lang="en-US" sz="1100" i="1" dirty="0" err="1">
                <a:solidFill>
                  <a:schemeClr val="accent1"/>
                </a:solidFill>
                <a:latin typeface="Consolas" panose="020B0609020204030204" pitchFamily="49" charset="0"/>
              </a:rPr>
              <a:t>2001:db8:0:a2:40</a:t>
            </a:r>
            <a:r>
              <a:rPr lang="en-US" sz="1100" i="1" dirty="0">
                <a:solidFill>
                  <a:schemeClr val="accent1"/>
                </a:solidFill>
                <a:latin typeface="Consolas" panose="020B0609020204030204" pitchFamily="49" charset="0"/>
              </a:rPr>
              <a:t>:: </a:t>
            </a:r>
            <a:r>
              <a:rPr lang="en-US" sz="1100" b="1" dirty="0">
                <a:latin typeface="Consolas" panose="020B0609020204030204" pitchFamily="49" charset="0"/>
              </a:rPr>
              <a:t>detail</a:t>
            </a:r>
          </a:p>
          <a:p>
            <a:endParaRPr lang="en-US" sz="1100" dirty="0">
              <a:latin typeface="Consolas" panose="020B0609020204030204" pitchFamily="49" charset="0"/>
            </a:endParaRPr>
          </a:p>
          <a:p>
            <a:r>
              <a:rPr lang="en-US" sz="1100" dirty="0">
                <a:latin typeface="Consolas" panose="020B0609020204030204" pitchFamily="49" charset="0"/>
              </a:rPr>
              <a:t>SID                         Function     Context                           Owner               State  </a:t>
            </a:r>
            <a:r>
              <a:rPr lang="en-US" sz="1100" dirty="0" err="1">
                <a:latin typeface="Consolas" panose="020B0609020204030204" pitchFamily="49" charset="0"/>
              </a:rPr>
              <a:t>RW</a:t>
            </a:r>
            <a:endParaRPr lang="en-US" sz="1100" dirty="0">
              <a:latin typeface="Consolas" panose="020B0609020204030204" pitchFamily="49" charset="0"/>
            </a:endParaRPr>
          </a:p>
          <a:p>
            <a:r>
              <a:rPr lang="en-US" sz="1100" dirty="0">
                <a:latin typeface="Consolas" panose="020B0609020204030204" pitchFamily="49" charset="0"/>
              </a:rPr>
              <a:t>--------------------------  -----------  ------------------------------    ------------------  -----  --</a:t>
            </a:r>
          </a:p>
          <a:p>
            <a:r>
              <a:rPr lang="en-US" sz="1100" dirty="0" err="1">
                <a:latin typeface="Consolas" panose="020B0609020204030204" pitchFamily="49" charset="0"/>
              </a:rPr>
              <a:t>2001:db8:0:a2:40</a:t>
            </a:r>
            <a:r>
              <a:rPr lang="en-US" sz="1100" dirty="0">
                <a:latin typeface="Consolas" panose="020B0609020204030204" pitchFamily="49" charset="0"/>
              </a:rPr>
              <a:t>::          </a:t>
            </a:r>
            <a:r>
              <a:rPr lang="en-US" sz="1100" dirty="0" err="1">
                <a:latin typeface="Consolas" panose="020B0609020204030204" pitchFamily="49" charset="0"/>
              </a:rPr>
              <a:t>End.DT4</a:t>
            </a:r>
            <a:r>
              <a:rPr lang="en-US" sz="1100" dirty="0">
                <a:latin typeface="Consolas" panose="020B0609020204030204" pitchFamily="49" charset="0"/>
              </a:rPr>
              <a:t>      '</a:t>
            </a:r>
            <a:r>
              <a:rPr lang="en-US" sz="1100" dirty="0" err="1">
                <a:latin typeface="Consolas" panose="020B0609020204030204" pitchFamily="49" charset="0"/>
              </a:rPr>
              <a:t>VRF1</a:t>
            </a:r>
            <a:r>
              <a:rPr lang="en-US" sz="1100" dirty="0">
                <a:latin typeface="Consolas" panose="020B0609020204030204" pitchFamily="49" charset="0"/>
              </a:rPr>
              <a:t>'                            bgp-100             </a:t>
            </a:r>
            <a:r>
              <a:rPr lang="en-US" sz="1100" dirty="0" err="1">
                <a:latin typeface="Consolas" panose="020B0609020204030204" pitchFamily="49" charset="0"/>
              </a:rPr>
              <a:t>InUse</a:t>
            </a:r>
            <a:r>
              <a:rPr lang="en-US" sz="1100" dirty="0">
                <a:latin typeface="Consolas" panose="020B0609020204030204" pitchFamily="49" charset="0"/>
              </a:rPr>
              <a:t>  Y</a:t>
            </a:r>
          </a:p>
          <a:p>
            <a:r>
              <a:rPr lang="en-US" sz="1100" dirty="0">
                <a:latin typeface="Consolas" panose="020B0609020204030204" pitchFamily="49" charset="0"/>
              </a:rPr>
              <a:t>  SID context: { table-id=</a:t>
            </a:r>
            <a:r>
              <a:rPr lang="en-US" sz="1100" dirty="0" err="1">
                <a:latin typeface="Consolas" panose="020B0609020204030204" pitchFamily="49" charset="0"/>
              </a:rPr>
              <a:t>0xe0000011</a:t>
            </a:r>
            <a:r>
              <a:rPr lang="en-US" sz="1100" dirty="0">
                <a:latin typeface="Consolas" panose="020B0609020204030204" pitchFamily="49" charset="0"/>
              </a:rPr>
              <a:t> ('</a:t>
            </a:r>
            <a:r>
              <a:rPr lang="en-US" sz="1100" dirty="0" err="1">
                <a:latin typeface="Consolas" panose="020B0609020204030204" pitchFamily="49" charset="0"/>
              </a:rPr>
              <a:t>VRF1</a:t>
            </a:r>
            <a:r>
              <a:rPr lang="en-US" sz="1100" dirty="0">
                <a:latin typeface="Consolas" panose="020B0609020204030204" pitchFamily="49" charset="0"/>
              </a:rPr>
              <a:t>':IPv4/Unicast) }</a:t>
            </a:r>
          </a:p>
          <a:p>
            <a:r>
              <a:rPr lang="en-US" sz="1100" dirty="0">
                <a:latin typeface="Consolas" panose="020B0609020204030204" pitchFamily="49" charset="0"/>
              </a:rPr>
              <a:t>  Locator: </a:t>
            </a:r>
            <a:r>
              <a:rPr lang="en-US" sz="1100" dirty="0" err="1">
                <a:latin typeface="Consolas" panose="020B0609020204030204" pitchFamily="49" charset="0"/>
              </a:rPr>
              <a:t>myLoc1</a:t>
            </a:r>
            <a:r>
              <a:rPr lang="en-US" sz="1100" dirty="0">
                <a:latin typeface="Consolas" panose="020B0609020204030204" pitchFamily="49" charset="0"/>
              </a:rPr>
              <a:t>'</a:t>
            </a:r>
          </a:p>
          <a:p>
            <a:r>
              <a:rPr lang="en-US" sz="1100" dirty="0">
                <a:latin typeface="Consolas" panose="020B0609020204030204" pitchFamily="49" charset="0"/>
              </a:rPr>
              <a:t>  Allocation type: Dynamic</a:t>
            </a:r>
          </a:p>
          <a:p>
            <a:r>
              <a:rPr lang="en-US" sz="1100" dirty="0">
                <a:latin typeface="Consolas" panose="020B0609020204030204" pitchFamily="49" charset="0"/>
              </a:rPr>
              <a:t>  Created: Feb  1 14:04:02.901 (</a:t>
            </a:r>
            <a:r>
              <a:rPr lang="en-US" sz="1100" dirty="0" err="1">
                <a:latin typeface="Consolas" panose="020B0609020204030204" pitchFamily="49" charset="0"/>
              </a:rPr>
              <a:t>3d00h</a:t>
            </a:r>
            <a:r>
              <a:rPr lang="en-US" sz="1100" dirty="0">
                <a:latin typeface="Consolas" panose="020B0609020204030204" pitchFamily="49" charset="0"/>
              </a:rPr>
              <a:t> ago)</a:t>
            </a:r>
          </a:p>
          <a:p>
            <a:endParaRPr lang="en-US" sz="1100" dirty="0">
              <a:latin typeface="Consolas" panose="020B0609020204030204" pitchFamily="49" charset="0"/>
            </a:endParaRPr>
          </a:p>
        </p:txBody>
      </p:sp>
    </p:spTree>
    <p:extLst>
      <p:ext uri="{BB962C8B-B14F-4D97-AF65-F5344CB8AC3E}">
        <p14:creationId xmlns:p14="http://schemas.microsoft.com/office/powerpoint/2010/main" val="99638061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7DF76D3A-5E3E-4BC8-8F39-771134FF4322}"/>
              </a:ext>
            </a:extLst>
          </p:cNvPr>
          <p:cNvSpPr>
            <a:spLocks noGrp="1"/>
          </p:cNvSpPr>
          <p:nvPr>
            <p:ph type="body" idx="1"/>
          </p:nvPr>
        </p:nvSpPr>
        <p:spPr/>
        <p:txBody>
          <a:bodyPr/>
          <a:lstStyle/>
          <a:p>
            <a:r>
              <a:rPr lang="en-US" noProof="0" dirty="0"/>
              <a:t>L3VPN</a:t>
            </a:r>
          </a:p>
        </p:txBody>
      </p:sp>
      <p:sp>
        <p:nvSpPr>
          <p:cNvPr id="2" name="Text Placeholder 1">
            <a:extLst>
              <a:ext uri="{FF2B5EF4-FFF2-40B4-BE49-F238E27FC236}">
                <a16:creationId xmlns:a16="http://schemas.microsoft.com/office/drawing/2014/main" id="{B367786B-A4DD-DB9E-9087-78A451525AAC}"/>
              </a:ext>
            </a:extLst>
          </p:cNvPr>
          <p:cNvSpPr>
            <a:spLocks noGrp="1"/>
          </p:cNvSpPr>
          <p:nvPr>
            <p:ph type="body" sz="quarter" idx="15"/>
          </p:nvPr>
        </p:nvSpPr>
        <p:spPr/>
        <p:txBody>
          <a:bodyPr/>
          <a:lstStyle/>
          <a:p>
            <a:r>
              <a:rPr lang="en-US" dirty="0">
                <a:cs typeface="Calibri" pitchFamily="34" charset="0"/>
              </a:rPr>
              <a:t>SRv6 and service migration</a:t>
            </a:r>
            <a:endParaRPr lang="cs-CZ" dirty="0"/>
          </a:p>
          <a:p>
            <a:endParaRPr lang="en-US" dirty="0"/>
          </a:p>
        </p:txBody>
      </p:sp>
      <p:sp>
        <p:nvSpPr>
          <p:cNvPr id="5" name="Zástupný text 4">
            <a:extLst>
              <a:ext uri="{FF2B5EF4-FFF2-40B4-BE49-F238E27FC236}">
                <a16:creationId xmlns:a16="http://schemas.microsoft.com/office/drawing/2014/main" id="{CA46CB7B-0002-4873-B253-4D2438CC3611}"/>
              </a:ext>
            </a:extLst>
          </p:cNvPr>
          <p:cNvSpPr>
            <a:spLocks noGrp="1"/>
          </p:cNvSpPr>
          <p:nvPr>
            <p:ph type="body" sz="quarter" idx="13"/>
          </p:nvPr>
        </p:nvSpPr>
        <p:spPr/>
        <p:txBody>
          <a:bodyPr/>
          <a:lstStyle/>
          <a:p>
            <a:r>
              <a:rPr lang="en-US" dirty="0"/>
              <a:t>Segment Routing MPLS and SRv6</a:t>
            </a:r>
          </a:p>
        </p:txBody>
      </p:sp>
      <p:sp>
        <p:nvSpPr>
          <p:cNvPr id="6" name="Zástupný text 5">
            <a:extLst>
              <a:ext uri="{FF2B5EF4-FFF2-40B4-BE49-F238E27FC236}">
                <a16:creationId xmlns:a16="http://schemas.microsoft.com/office/drawing/2014/main" id="{955FA430-FA92-4EB5-849C-E3D05AB9B217}"/>
              </a:ext>
            </a:extLst>
          </p:cNvPr>
          <p:cNvSpPr>
            <a:spLocks noGrp="1"/>
          </p:cNvSpPr>
          <p:nvPr>
            <p:ph type="body" sz="quarter" idx="14"/>
          </p:nvPr>
        </p:nvSpPr>
        <p:spPr/>
        <p:txBody>
          <a:bodyPr/>
          <a:lstStyle/>
          <a:p>
            <a:endParaRPr lang="en-US" dirty="0"/>
          </a:p>
        </p:txBody>
      </p:sp>
    </p:spTree>
    <p:extLst>
      <p:ext uri="{BB962C8B-B14F-4D97-AF65-F5344CB8AC3E}">
        <p14:creationId xmlns:p14="http://schemas.microsoft.com/office/powerpoint/2010/main" val="311669200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93F250F-E130-526E-B74C-C1E34FDC2870}"/>
              </a:ext>
            </a:extLst>
          </p:cNvPr>
          <p:cNvSpPr>
            <a:spLocks noGrp="1"/>
          </p:cNvSpPr>
          <p:nvPr>
            <p:ph type="body" sz="quarter" idx="11"/>
          </p:nvPr>
        </p:nvSpPr>
        <p:spPr/>
        <p:txBody>
          <a:bodyPr/>
          <a:lstStyle/>
          <a:p>
            <a:r>
              <a:rPr lang="en-US" dirty="0" err="1"/>
              <a:t>VPNv4</a:t>
            </a:r>
            <a:r>
              <a:rPr lang="en-US" dirty="0"/>
              <a:t> – Basic SRv6 VPN –Control Plane</a:t>
            </a:r>
          </a:p>
        </p:txBody>
      </p:sp>
      <p:pic>
        <p:nvPicPr>
          <p:cNvPr id="9" name="Picture 8" descr="A diagram of a network&#10;&#10;AI-generated content may be incorrect.">
            <a:extLst>
              <a:ext uri="{FF2B5EF4-FFF2-40B4-BE49-F238E27FC236}">
                <a16:creationId xmlns:a16="http://schemas.microsoft.com/office/drawing/2014/main" id="{B5DF0897-9BB2-6B37-119B-279563B393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094" y="939338"/>
            <a:ext cx="10997811" cy="4979324"/>
          </a:xfrm>
          <a:prstGeom prst="rect">
            <a:avLst/>
          </a:prstGeom>
        </p:spPr>
      </p:pic>
    </p:spTree>
    <p:extLst>
      <p:ext uri="{BB962C8B-B14F-4D97-AF65-F5344CB8AC3E}">
        <p14:creationId xmlns:p14="http://schemas.microsoft.com/office/powerpoint/2010/main" val="87676831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93F250F-E130-526E-B74C-C1E34FDC2870}"/>
              </a:ext>
            </a:extLst>
          </p:cNvPr>
          <p:cNvSpPr>
            <a:spLocks noGrp="1"/>
          </p:cNvSpPr>
          <p:nvPr>
            <p:ph type="body" sz="quarter" idx="11"/>
          </p:nvPr>
        </p:nvSpPr>
        <p:spPr/>
        <p:txBody>
          <a:bodyPr/>
          <a:lstStyle/>
          <a:p>
            <a:r>
              <a:rPr lang="en-US" dirty="0" err="1"/>
              <a:t>VPNv4</a:t>
            </a:r>
            <a:r>
              <a:rPr lang="en-US" dirty="0"/>
              <a:t> – Basic SRv6 VPN -Data Plane</a:t>
            </a:r>
          </a:p>
        </p:txBody>
      </p:sp>
      <p:pic>
        <p:nvPicPr>
          <p:cNvPr id="5" name="Picture 4" descr="A diagram of a computer&#10;&#10;AI-generated content may be incorrect.">
            <a:extLst>
              <a:ext uri="{FF2B5EF4-FFF2-40B4-BE49-F238E27FC236}">
                <a16:creationId xmlns:a16="http://schemas.microsoft.com/office/drawing/2014/main" id="{C66F2BFB-8C33-1D3E-FFFA-553D4F4886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679" y="1426823"/>
            <a:ext cx="11190641" cy="4446438"/>
          </a:xfrm>
          <a:prstGeom prst="rect">
            <a:avLst/>
          </a:prstGeom>
        </p:spPr>
      </p:pic>
    </p:spTree>
    <p:extLst>
      <p:ext uri="{BB962C8B-B14F-4D97-AF65-F5344CB8AC3E}">
        <p14:creationId xmlns:p14="http://schemas.microsoft.com/office/powerpoint/2010/main" val="93942580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D993C2-7531-E04D-FD06-8C454A270BCB}"/>
              </a:ext>
            </a:extLst>
          </p:cNvPr>
          <p:cNvSpPr>
            <a:spLocks noGrp="1"/>
          </p:cNvSpPr>
          <p:nvPr>
            <p:ph type="body" sz="quarter" idx="10"/>
          </p:nvPr>
        </p:nvSpPr>
        <p:spPr/>
        <p:txBody>
          <a:bodyPr/>
          <a:lstStyle/>
          <a:p>
            <a:r>
              <a:rPr lang="en-US" dirty="0"/>
              <a:t>BGP Control Plane - VPNv4 (VPNv6) information exchange</a:t>
            </a:r>
          </a:p>
          <a:p>
            <a:pPr lvl="1"/>
            <a:r>
              <a:rPr lang="en-US" dirty="0"/>
              <a:t>Internal BGP, BGP RR</a:t>
            </a:r>
          </a:p>
          <a:p>
            <a:pPr lvl="1"/>
            <a:r>
              <a:rPr lang="en-US" dirty="0"/>
              <a:t>IPv4 or </a:t>
            </a:r>
            <a:r>
              <a:rPr lang="en-US" dirty="0">
                <a:highlight>
                  <a:srgbClr val="FFFF00"/>
                </a:highlight>
              </a:rPr>
              <a:t>IPv6</a:t>
            </a:r>
            <a:r>
              <a:rPr lang="en-US" dirty="0"/>
              <a:t> transport (BGP session)</a:t>
            </a:r>
          </a:p>
          <a:p>
            <a:r>
              <a:rPr lang="en-US" dirty="0"/>
              <a:t>VRF config</a:t>
            </a:r>
          </a:p>
          <a:p>
            <a:pPr lvl="1"/>
            <a:r>
              <a:rPr lang="en-US" dirty="0"/>
              <a:t>Exactly same as for MPLS/SR based L3 VPN </a:t>
            </a:r>
          </a:p>
          <a:p>
            <a:r>
              <a:rPr lang="en-US" dirty="0"/>
              <a:t>PE-CE routing</a:t>
            </a:r>
          </a:p>
          <a:p>
            <a:pPr lvl="1"/>
            <a:r>
              <a:rPr lang="en-US" dirty="0"/>
              <a:t>Exactly same as for MPLS/SR based L3 VPN </a:t>
            </a:r>
          </a:p>
          <a:p>
            <a:r>
              <a:rPr lang="en-US" dirty="0"/>
              <a:t>VRF config under BGP</a:t>
            </a:r>
          </a:p>
          <a:p>
            <a:endParaRPr lang="en-US" dirty="0"/>
          </a:p>
        </p:txBody>
      </p:sp>
      <p:sp>
        <p:nvSpPr>
          <p:cNvPr id="3" name="Text Placeholder 2">
            <a:extLst>
              <a:ext uri="{FF2B5EF4-FFF2-40B4-BE49-F238E27FC236}">
                <a16:creationId xmlns:a16="http://schemas.microsoft.com/office/drawing/2014/main" id="{7F71FC62-B446-59F4-7354-DB327E1127AA}"/>
              </a:ext>
            </a:extLst>
          </p:cNvPr>
          <p:cNvSpPr>
            <a:spLocks noGrp="1"/>
          </p:cNvSpPr>
          <p:nvPr>
            <p:ph type="body" sz="quarter" idx="11"/>
          </p:nvPr>
        </p:nvSpPr>
        <p:spPr/>
        <p:txBody>
          <a:bodyPr/>
          <a:lstStyle/>
          <a:p>
            <a:r>
              <a:rPr lang="en-US" dirty="0"/>
              <a:t>L3VPN over SRv6</a:t>
            </a:r>
          </a:p>
        </p:txBody>
      </p:sp>
      <p:sp>
        <p:nvSpPr>
          <p:cNvPr id="4" name="Rectangle 3">
            <a:extLst>
              <a:ext uri="{FF2B5EF4-FFF2-40B4-BE49-F238E27FC236}">
                <a16:creationId xmlns:a16="http://schemas.microsoft.com/office/drawing/2014/main" id="{FF2165D6-B243-2FEF-899B-4769080E280B}"/>
              </a:ext>
            </a:extLst>
          </p:cNvPr>
          <p:cNvSpPr/>
          <p:nvPr/>
        </p:nvSpPr>
        <p:spPr>
          <a:xfrm>
            <a:off x="1332690" y="4579834"/>
            <a:ext cx="8618706" cy="2031325"/>
          </a:xfrm>
          <a:prstGeom prst="rect">
            <a:avLst/>
          </a:prstGeom>
          <a:solidFill>
            <a:schemeClr val="bg1">
              <a:lumMod val="95000"/>
            </a:schemeClr>
          </a:solidFill>
          <a:ln>
            <a:solidFill>
              <a:schemeClr val="tx1"/>
            </a:solidFill>
          </a:ln>
          <a:effectLst/>
        </p:spPr>
        <p:txBody>
          <a:bodyPr wrap="square">
            <a:spAutoFit/>
          </a:bodyPr>
          <a:lstStyle/>
          <a:p>
            <a:r>
              <a:rPr lang="sk-SK" sz="1400" dirty="0">
                <a:latin typeface="Consolas" panose="020B0609020204030204" pitchFamily="49" charset="0"/>
              </a:rPr>
              <a:t>router bgp 100</a:t>
            </a:r>
          </a:p>
          <a:p>
            <a:r>
              <a:rPr lang="sk-SK" sz="1400" dirty="0">
                <a:latin typeface="Consolas" panose="020B0609020204030204" pitchFamily="49" charset="0"/>
              </a:rPr>
              <a:t> vrf </a:t>
            </a:r>
            <a:r>
              <a:rPr lang="en-US" sz="1400" dirty="0">
                <a:latin typeface="Consolas" panose="020B0609020204030204" pitchFamily="49" charset="0"/>
              </a:rPr>
              <a:t>A</a:t>
            </a:r>
            <a:endParaRPr lang="sk-SK" sz="1400" dirty="0">
              <a:latin typeface="Consolas" panose="020B0609020204030204" pitchFamily="49" charset="0"/>
            </a:endParaRPr>
          </a:p>
          <a:p>
            <a:r>
              <a:rPr lang="sk-SK" sz="1400" dirty="0">
                <a:latin typeface="Consolas" panose="020B0609020204030204" pitchFamily="49" charset="0"/>
              </a:rPr>
              <a:t>  rd </a:t>
            </a:r>
            <a:r>
              <a:rPr lang="en-US" sz="1400" dirty="0">
                <a:latin typeface="Consolas" panose="020B0609020204030204" pitchFamily="49" charset="0"/>
              </a:rPr>
              <a:t>65000:1</a:t>
            </a:r>
            <a:endParaRPr lang="sk-SK" sz="1400" dirty="0">
              <a:latin typeface="Consolas" panose="020B0609020204030204" pitchFamily="49" charset="0"/>
            </a:endParaRPr>
          </a:p>
          <a:p>
            <a:r>
              <a:rPr lang="sk-SK" sz="1400" dirty="0">
                <a:latin typeface="Consolas" panose="020B0609020204030204" pitchFamily="49" charset="0"/>
              </a:rPr>
              <a:t>  </a:t>
            </a:r>
            <a:r>
              <a:rPr lang="sk-SK" sz="1400" dirty="0" err="1">
                <a:latin typeface="Consolas" panose="020B0609020204030204" pitchFamily="49" charset="0"/>
              </a:rPr>
              <a:t>address-family</a:t>
            </a:r>
            <a:r>
              <a:rPr lang="sk-SK" sz="1400" dirty="0">
                <a:latin typeface="Consolas" panose="020B0609020204030204" pitchFamily="49" charset="0"/>
              </a:rPr>
              <a:t> ipv4 </a:t>
            </a:r>
            <a:r>
              <a:rPr lang="sk-SK" sz="1400" dirty="0" err="1">
                <a:latin typeface="Consolas" panose="020B0609020204030204" pitchFamily="49" charset="0"/>
              </a:rPr>
              <a:t>unicast</a:t>
            </a:r>
            <a:endParaRPr lang="sk-SK" sz="1400" dirty="0">
              <a:latin typeface="Consolas" panose="020B0609020204030204" pitchFamily="49" charset="0"/>
            </a:endParaRPr>
          </a:p>
          <a:p>
            <a:r>
              <a:rPr lang="sk-SK" sz="1400" dirty="0">
                <a:latin typeface="Consolas" panose="020B0609020204030204" pitchFamily="49" charset="0"/>
              </a:rPr>
              <a:t>   </a:t>
            </a:r>
            <a:r>
              <a:rPr lang="sk-SK" sz="1400" b="1" dirty="0">
                <a:highlight>
                  <a:srgbClr val="FFFF00"/>
                </a:highlight>
                <a:latin typeface="Consolas" panose="020B0609020204030204" pitchFamily="49" charset="0"/>
              </a:rPr>
              <a:t>segment-routing srv6</a:t>
            </a:r>
          </a:p>
          <a:p>
            <a:r>
              <a:rPr lang="sk-SK" sz="1400" dirty="0">
                <a:highlight>
                  <a:srgbClr val="FFFF00"/>
                </a:highlight>
                <a:latin typeface="Consolas" panose="020B0609020204030204" pitchFamily="49" charset="0"/>
              </a:rPr>
              <a:t>    </a:t>
            </a:r>
            <a:r>
              <a:rPr lang="sk-SK" sz="1400" b="1" dirty="0" err="1">
                <a:highlight>
                  <a:srgbClr val="FFFF00"/>
                </a:highlight>
                <a:latin typeface="Consolas" panose="020B0609020204030204" pitchFamily="49" charset="0"/>
              </a:rPr>
              <a:t>locator</a:t>
            </a:r>
            <a:r>
              <a:rPr lang="sk-SK" sz="1400" dirty="0">
                <a:highlight>
                  <a:srgbClr val="FFFF00"/>
                </a:highlight>
                <a:latin typeface="Consolas" panose="020B0609020204030204" pitchFamily="49" charset="0"/>
              </a:rPr>
              <a:t> </a:t>
            </a:r>
            <a:r>
              <a:rPr lang="en-US" sz="1400" dirty="0" err="1">
                <a:highlight>
                  <a:srgbClr val="FFFF00"/>
                </a:highlight>
                <a:latin typeface="Consolas" panose="020B0609020204030204" pitchFamily="49" charset="0"/>
              </a:rPr>
              <a:t>My_locator</a:t>
            </a:r>
            <a:endParaRPr lang="sk-SK" sz="1400" dirty="0">
              <a:highlight>
                <a:srgbClr val="FFFF00"/>
              </a:highlight>
              <a:latin typeface="Consolas" panose="020B0609020204030204" pitchFamily="49" charset="0"/>
            </a:endParaRPr>
          </a:p>
          <a:p>
            <a:r>
              <a:rPr lang="sk-SK" sz="1400" dirty="0">
                <a:highlight>
                  <a:srgbClr val="FFFF00"/>
                </a:highlight>
                <a:latin typeface="Consolas" panose="020B0609020204030204" pitchFamily="49" charset="0"/>
              </a:rPr>
              <a:t>    </a:t>
            </a:r>
            <a:r>
              <a:rPr lang="sk-SK" sz="1400" b="1" dirty="0" err="1">
                <a:highlight>
                  <a:srgbClr val="FFFF00"/>
                </a:highlight>
                <a:latin typeface="Consolas" panose="020B0609020204030204" pitchFamily="49" charset="0"/>
              </a:rPr>
              <a:t>alloc</a:t>
            </a:r>
            <a:r>
              <a:rPr lang="sk-SK" sz="1400" b="1" dirty="0">
                <a:highlight>
                  <a:srgbClr val="FFFF00"/>
                </a:highlight>
                <a:latin typeface="Consolas" panose="020B0609020204030204" pitchFamily="49" charset="0"/>
              </a:rPr>
              <a:t> </a:t>
            </a:r>
            <a:r>
              <a:rPr lang="sk-SK" sz="1400" b="1" dirty="0" err="1">
                <a:highlight>
                  <a:srgbClr val="FFFF00"/>
                </a:highlight>
                <a:latin typeface="Consolas" panose="020B0609020204030204" pitchFamily="49" charset="0"/>
              </a:rPr>
              <a:t>mode</a:t>
            </a:r>
            <a:r>
              <a:rPr lang="sk-SK" sz="1400" b="1" dirty="0">
                <a:highlight>
                  <a:srgbClr val="FFFF00"/>
                </a:highlight>
                <a:latin typeface="Consolas" panose="020B0609020204030204" pitchFamily="49" charset="0"/>
              </a:rPr>
              <a:t> per-vrf</a:t>
            </a:r>
          </a:p>
          <a:p>
            <a:r>
              <a:rPr lang="sk-SK" sz="1400" dirty="0">
                <a:latin typeface="Consolas" panose="020B0609020204030204" pitchFamily="49" charset="0"/>
              </a:rPr>
              <a:t>   !</a:t>
            </a:r>
          </a:p>
          <a:p>
            <a:r>
              <a:rPr lang="sk-SK" sz="1400" dirty="0">
                <a:latin typeface="Consolas" panose="020B0609020204030204" pitchFamily="49" charset="0"/>
              </a:rPr>
              <a:t>   </a:t>
            </a:r>
            <a:r>
              <a:rPr lang="sk-SK" sz="1400" dirty="0" err="1">
                <a:latin typeface="Consolas" panose="020B0609020204030204" pitchFamily="49" charset="0"/>
              </a:rPr>
              <a:t>redistribute</a:t>
            </a:r>
            <a:r>
              <a:rPr lang="sk-SK" sz="1400" dirty="0">
                <a:latin typeface="Consolas" panose="020B0609020204030204" pitchFamily="49" charset="0"/>
              </a:rPr>
              <a:t> </a:t>
            </a:r>
            <a:r>
              <a:rPr lang="sk-SK" sz="1400" dirty="0" err="1">
                <a:latin typeface="Consolas" panose="020B0609020204030204" pitchFamily="49" charset="0"/>
              </a:rPr>
              <a:t>connected</a:t>
            </a:r>
            <a:r>
              <a:rPr lang="sk-SK" sz="1400" dirty="0">
                <a:latin typeface="Consolas" panose="020B0609020204030204" pitchFamily="49" charset="0"/>
              </a:rPr>
              <a:t> </a:t>
            </a:r>
            <a:endParaRPr lang="sk-SK" sz="14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132655223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D993C2-7531-E04D-FD06-8C454A270BCB}"/>
              </a:ext>
            </a:extLst>
          </p:cNvPr>
          <p:cNvSpPr>
            <a:spLocks noGrp="1"/>
          </p:cNvSpPr>
          <p:nvPr>
            <p:ph type="body" sz="quarter" idx="10"/>
          </p:nvPr>
        </p:nvSpPr>
        <p:spPr/>
        <p:txBody>
          <a:bodyPr/>
          <a:lstStyle/>
          <a:p>
            <a:r>
              <a:rPr lang="en-US" sz="2000" dirty="0"/>
              <a:t>default label allocation mode for VRF in Cisco MPLS L3VPN is </a:t>
            </a:r>
            <a:r>
              <a:rPr lang="en-US" sz="2000" dirty="0">
                <a:solidFill>
                  <a:srgbClr val="FF0000"/>
                </a:solidFill>
              </a:rPr>
              <a:t>per-prefix</a:t>
            </a:r>
          </a:p>
          <a:p>
            <a:pPr lvl="1"/>
            <a:r>
              <a:rPr lang="en-US" sz="2000" dirty="0">
                <a:solidFill>
                  <a:srgbClr val="FF0000"/>
                </a:solidFill>
              </a:rPr>
              <a:t>per-prefix </a:t>
            </a:r>
            <a:r>
              <a:rPr lang="en-US" sz="2000" u="sng" dirty="0">
                <a:solidFill>
                  <a:srgbClr val="FF0000"/>
                </a:solidFill>
              </a:rPr>
              <a:t>is not supported in SRv6</a:t>
            </a:r>
          </a:p>
          <a:p>
            <a:r>
              <a:rPr lang="en-US" sz="2000" dirty="0"/>
              <a:t>supported </a:t>
            </a:r>
            <a:r>
              <a:rPr lang="en-US" sz="2000" dirty="0" err="1"/>
              <a:t>alloc</a:t>
            </a:r>
            <a:r>
              <a:rPr lang="en-US" sz="2000" dirty="0"/>
              <a:t> mode:</a:t>
            </a:r>
          </a:p>
          <a:p>
            <a:pPr lvl="1"/>
            <a:r>
              <a:rPr lang="en-US" sz="2000" b="1" dirty="0">
                <a:latin typeface="Consolas" panose="020B0609020204030204" pitchFamily="49" charset="0"/>
              </a:rPr>
              <a:t>per-</a:t>
            </a:r>
            <a:r>
              <a:rPr lang="en-US" sz="2000" b="1" dirty="0" err="1">
                <a:latin typeface="Consolas" panose="020B0609020204030204" pitchFamily="49" charset="0"/>
              </a:rPr>
              <a:t>ce</a:t>
            </a:r>
            <a:r>
              <a:rPr lang="en-US" sz="2000" b="1" dirty="0"/>
              <a:t> </a:t>
            </a:r>
            <a:r>
              <a:rPr lang="en-US" sz="2000" dirty="0"/>
              <a:t>  	- configured in BGP -&gt; vrf XXX -&gt; per address-family </a:t>
            </a:r>
            <a:r>
              <a:rPr lang="en-US" sz="2000" dirty="0" err="1"/>
              <a:t>ipv4|ipv6</a:t>
            </a:r>
            <a:endParaRPr lang="en-US" sz="2000" dirty="0"/>
          </a:p>
          <a:p>
            <a:pPr lvl="2"/>
            <a:r>
              <a:rPr lang="en-US" sz="2000" dirty="0"/>
              <a:t>create </a:t>
            </a:r>
            <a:r>
              <a:rPr lang="en-US" sz="2000" dirty="0" err="1"/>
              <a:t>End.DT4</a:t>
            </a:r>
            <a:r>
              <a:rPr lang="en-US" sz="2000" dirty="0"/>
              <a:t> and </a:t>
            </a:r>
            <a:r>
              <a:rPr lang="en-US" sz="2000" dirty="0" err="1"/>
              <a:t>End.DX4</a:t>
            </a:r>
            <a:r>
              <a:rPr lang="en-US" sz="2000" dirty="0"/>
              <a:t> or </a:t>
            </a:r>
            <a:r>
              <a:rPr lang="en-US" sz="2000" dirty="0" err="1"/>
              <a:t>End.DT6</a:t>
            </a:r>
            <a:r>
              <a:rPr lang="en-US" sz="2000" dirty="0"/>
              <a:t> and </a:t>
            </a:r>
            <a:r>
              <a:rPr lang="en-US" sz="2000" dirty="0" err="1"/>
              <a:t>End.DX6</a:t>
            </a:r>
            <a:r>
              <a:rPr lang="en-US" sz="2000" dirty="0"/>
              <a:t> </a:t>
            </a:r>
          </a:p>
          <a:p>
            <a:pPr lvl="1"/>
            <a:r>
              <a:rPr lang="en-US" sz="2000" b="1" dirty="0">
                <a:latin typeface="Consolas" panose="020B0609020204030204" pitchFamily="49" charset="0"/>
              </a:rPr>
              <a:t>per-vrf</a:t>
            </a:r>
            <a:r>
              <a:rPr lang="en-US" sz="2000" b="1" dirty="0"/>
              <a:t> </a:t>
            </a:r>
            <a:r>
              <a:rPr lang="en-US" sz="2000" dirty="0"/>
              <a:t>      - configured in BGP -&gt; vrf XXX -&gt; per address-family </a:t>
            </a:r>
            <a:r>
              <a:rPr lang="en-US" sz="2000" dirty="0" err="1"/>
              <a:t>ipv4|ipv6</a:t>
            </a:r>
            <a:endParaRPr lang="en-US" sz="2000" dirty="0"/>
          </a:p>
          <a:p>
            <a:pPr lvl="2"/>
            <a:r>
              <a:rPr lang="en-US" sz="2000" dirty="0"/>
              <a:t>create only </a:t>
            </a:r>
            <a:r>
              <a:rPr lang="en-US" sz="2000" dirty="0" err="1"/>
              <a:t>End.DT4</a:t>
            </a:r>
            <a:r>
              <a:rPr lang="en-US" sz="2000" dirty="0"/>
              <a:t> or </a:t>
            </a:r>
            <a:r>
              <a:rPr lang="en-US" sz="2000" dirty="0" err="1"/>
              <a:t>End.DT6</a:t>
            </a:r>
            <a:r>
              <a:rPr lang="en-US" sz="2000" dirty="0"/>
              <a:t> (not </a:t>
            </a:r>
            <a:r>
              <a:rPr lang="en-US" sz="2000" dirty="0" err="1"/>
              <a:t>End.DX4</a:t>
            </a:r>
            <a:r>
              <a:rPr lang="en-US" sz="2000" dirty="0"/>
              <a:t> / </a:t>
            </a:r>
            <a:r>
              <a:rPr lang="en-US" sz="2000" dirty="0" err="1"/>
              <a:t>End.DX6</a:t>
            </a:r>
            <a:r>
              <a:rPr lang="en-US" sz="2000" dirty="0"/>
              <a:t>)</a:t>
            </a:r>
          </a:p>
          <a:p>
            <a:pPr lvl="1"/>
            <a:r>
              <a:rPr lang="en-US" sz="2000" b="1" dirty="0">
                <a:latin typeface="Consolas" panose="020B0609020204030204" pitchFamily="49" charset="0"/>
              </a:rPr>
              <a:t>per-vrf-46</a:t>
            </a:r>
            <a:r>
              <a:rPr lang="en-US" sz="2000" dirty="0"/>
              <a:t> – configured in BGP -&gt; vrf XXX -&gt; per address-family </a:t>
            </a:r>
            <a:r>
              <a:rPr lang="en-US" sz="2000" dirty="0" err="1"/>
              <a:t>ipv4|ipv6</a:t>
            </a:r>
            <a:r>
              <a:rPr lang="en-US" sz="2000" dirty="0"/>
              <a:t> </a:t>
            </a:r>
          </a:p>
          <a:p>
            <a:pPr lvl="2"/>
            <a:r>
              <a:rPr lang="en-US" sz="2000" dirty="0"/>
              <a:t>create only </a:t>
            </a:r>
            <a:r>
              <a:rPr lang="en-US" sz="2000" dirty="0" err="1"/>
              <a:t>End.DT46</a:t>
            </a:r>
            <a:endParaRPr lang="en-US" sz="2000" dirty="0"/>
          </a:p>
        </p:txBody>
      </p:sp>
      <p:sp>
        <p:nvSpPr>
          <p:cNvPr id="3" name="Text Placeholder 2">
            <a:extLst>
              <a:ext uri="{FF2B5EF4-FFF2-40B4-BE49-F238E27FC236}">
                <a16:creationId xmlns:a16="http://schemas.microsoft.com/office/drawing/2014/main" id="{7F71FC62-B446-59F4-7354-DB327E1127AA}"/>
              </a:ext>
            </a:extLst>
          </p:cNvPr>
          <p:cNvSpPr>
            <a:spLocks noGrp="1"/>
          </p:cNvSpPr>
          <p:nvPr>
            <p:ph type="body" sz="quarter" idx="11"/>
          </p:nvPr>
        </p:nvSpPr>
        <p:spPr/>
        <p:txBody>
          <a:bodyPr/>
          <a:lstStyle/>
          <a:p>
            <a:r>
              <a:rPr lang="en-US" dirty="0"/>
              <a:t>L3VPN over SRv6 – </a:t>
            </a:r>
            <a:r>
              <a:rPr lang="en-US" dirty="0" err="1"/>
              <a:t>alloc</a:t>
            </a:r>
            <a:r>
              <a:rPr lang="en-US" dirty="0"/>
              <a:t> mode</a:t>
            </a:r>
          </a:p>
        </p:txBody>
      </p:sp>
      <p:sp>
        <p:nvSpPr>
          <p:cNvPr id="4" name="Rectangle 3">
            <a:extLst>
              <a:ext uri="{FF2B5EF4-FFF2-40B4-BE49-F238E27FC236}">
                <a16:creationId xmlns:a16="http://schemas.microsoft.com/office/drawing/2014/main" id="{FF2165D6-B243-2FEF-899B-4769080E280B}"/>
              </a:ext>
            </a:extLst>
          </p:cNvPr>
          <p:cNvSpPr/>
          <p:nvPr/>
        </p:nvSpPr>
        <p:spPr>
          <a:xfrm>
            <a:off x="1332690" y="4579834"/>
            <a:ext cx="8618706" cy="2031325"/>
          </a:xfrm>
          <a:prstGeom prst="rect">
            <a:avLst/>
          </a:prstGeom>
          <a:solidFill>
            <a:schemeClr val="bg1">
              <a:lumMod val="95000"/>
            </a:schemeClr>
          </a:solidFill>
          <a:ln>
            <a:solidFill>
              <a:schemeClr val="tx1"/>
            </a:solidFill>
          </a:ln>
          <a:effectLst/>
        </p:spPr>
        <p:txBody>
          <a:bodyPr wrap="square">
            <a:spAutoFit/>
          </a:bodyPr>
          <a:lstStyle/>
          <a:p>
            <a:r>
              <a:rPr lang="sk-SK" sz="1400" dirty="0">
                <a:latin typeface="Consolas" panose="020B0609020204030204" pitchFamily="49" charset="0"/>
              </a:rPr>
              <a:t>router bgp 100</a:t>
            </a:r>
          </a:p>
          <a:p>
            <a:r>
              <a:rPr lang="sk-SK" sz="1400" dirty="0">
                <a:latin typeface="Consolas" panose="020B0609020204030204" pitchFamily="49" charset="0"/>
              </a:rPr>
              <a:t> vrf </a:t>
            </a:r>
            <a:r>
              <a:rPr lang="en-US" sz="1400" dirty="0">
                <a:latin typeface="Consolas" panose="020B0609020204030204" pitchFamily="49" charset="0"/>
              </a:rPr>
              <a:t>A</a:t>
            </a:r>
            <a:endParaRPr lang="sk-SK" sz="1400" dirty="0">
              <a:latin typeface="Consolas" panose="020B0609020204030204" pitchFamily="49" charset="0"/>
            </a:endParaRPr>
          </a:p>
          <a:p>
            <a:r>
              <a:rPr lang="sk-SK" sz="1400" dirty="0">
                <a:latin typeface="Consolas" panose="020B0609020204030204" pitchFamily="49" charset="0"/>
              </a:rPr>
              <a:t>  rd </a:t>
            </a:r>
            <a:r>
              <a:rPr lang="en-US" sz="1400" dirty="0">
                <a:latin typeface="Consolas" panose="020B0609020204030204" pitchFamily="49" charset="0"/>
              </a:rPr>
              <a:t>65000:1</a:t>
            </a:r>
            <a:endParaRPr lang="sk-SK" sz="1400" dirty="0">
              <a:latin typeface="Consolas" panose="020B0609020204030204" pitchFamily="49" charset="0"/>
            </a:endParaRPr>
          </a:p>
          <a:p>
            <a:r>
              <a:rPr lang="sk-SK" sz="1400" dirty="0">
                <a:latin typeface="Consolas" panose="020B0609020204030204" pitchFamily="49" charset="0"/>
              </a:rPr>
              <a:t>  </a:t>
            </a:r>
            <a:r>
              <a:rPr lang="sk-SK" sz="1400" dirty="0" err="1">
                <a:latin typeface="Consolas" panose="020B0609020204030204" pitchFamily="49" charset="0"/>
              </a:rPr>
              <a:t>address-family</a:t>
            </a:r>
            <a:r>
              <a:rPr lang="sk-SK" sz="1400" dirty="0">
                <a:latin typeface="Consolas" panose="020B0609020204030204" pitchFamily="49" charset="0"/>
              </a:rPr>
              <a:t> ipv4 </a:t>
            </a:r>
            <a:r>
              <a:rPr lang="sk-SK" sz="1400" dirty="0" err="1">
                <a:latin typeface="Consolas" panose="020B0609020204030204" pitchFamily="49" charset="0"/>
              </a:rPr>
              <a:t>unicast</a:t>
            </a:r>
            <a:endParaRPr lang="sk-SK" sz="1400" dirty="0">
              <a:latin typeface="Consolas" panose="020B0609020204030204" pitchFamily="49" charset="0"/>
            </a:endParaRPr>
          </a:p>
          <a:p>
            <a:r>
              <a:rPr lang="sk-SK" sz="1400" dirty="0">
                <a:latin typeface="Consolas" panose="020B0609020204030204" pitchFamily="49" charset="0"/>
              </a:rPr>
              <a:t>   </a:t>
            </a:r>
            <a:r>
              <a:rPr lang="sk-SK" sz="1400" b="1" dirty="0">
                <a:highlight>
                  <a:srgbClr val="FFFF00"/>
                </a:highlight>
                <a:latin typeface="Consolas" panose="020B0609020204030204" pitchFamily="49" charset="0"/>
              </a:rPr>
              <a:t>segment-routing srv6</a:t>
            </a:r>
          </a:p>
          <a:p>
            <a:r>
              <a:rPr lang="sk-SK" sz="1400" dirty="0">
                <a:highlight>
                  <a:srgbClr val="FFFF00"/>
                </a:highlight>
                <a:latin typeface="Consolas" panose="020B0609020204030204" pitchFamily="49" charset="0"/>
              </a:rPr>
              <a:t>    </a:t>
            </a:r>
            <a:r>
              <a:rPr lang="sk-SK" sz="1400" b="1" dirty="0" err="1">
                <a:highlight>
                  <a:srgbClr val="FFFF00"/>
                </a:highlight>
                <a:latin typeface="Consolas" panose="020B0609020204030204" pitchFamily="49" charset="0"/>
              </a:rPr>
              <a:t>locator</a:t>
            </a:r>
            <a:r>
              <a:rPr lang="sk-SK" sz="1400" dirty="0">
                <a:highlight>
                  <a:srgbClr val="FFFF00"/>
                </a:highlight>
                <a:latin typeface="Consolas" panose="020B0609020204030204" pitchFamily="49" charset="0"/>
              </a:rPr>
              <a:t> </a:t>
            </a:r>
            <a:r>
              <a:rPr lang="en-US" sz="1400" dirty="0" err="1">
                <a:highlight>
                  <a:srgbClr val="FFFF00"/>
                </a:highlight>
                <a:latin typeface="Consolas" panose="020B0609020204030204" pitchFamily="49" charset="0"/>
              </a:rPr>
              <a:t>My_locator</a:t>
            </a:r>
            <a:endParaRPr lang="sk-SK" sz="1400" dirty="0">
              <a:highlight>
                <a:srgbClr val="FFFF00"/>
              </a:highlight>
              <a:latin typeface="Consolas" panose="020B0609020204030204" pitchFamily="49" charset="0"/>
            </a:endParaRPr>
          </a:p>
          <a:p>
            <a:r>
              <a:rPr lang="sk-SK" sz="1400" dirty="0">
                <a:highlight>
                  <a:srgbClr val="FFFF00"/>
                </a:highlight>
                <a:latin typeface="Consolas" panose="020B0609020204030204" pitchFamily="49" charset="0"/>
              </a:rPr>
              <a:t>    </a:t>
            </a:r>
            <a:r>
              <a:rPr lang="sk-SK" sz="1400" b="1" dirty="0" err="1">
                <a:highlight>
                  <a:srgbClr val="FFFF00"/>
                </a:highlight>
                <a:latin typeface="Consolas" panose="020B0609020204030204" pitchFamily="49" charset="0"/>
              </a:rPr>
              <a:t>alloc</a:t>
            </a:r>
            <a:r>
              <a:rPr lang="sk-SK" sz="1400" b="1" dirty="0">
                <a:highlight>
                  <a:srgbClr val="FFFF00"/>
                </a:highlight>
                <a:latin typeface="Consolas" panose="020B0609020204030204" pitchFamily="49" charset="0"/>
              </a:rPr>
              <a:t> </a:t>
            </a:r>
            <a:r>
              <a:rPr lang="sk-SK" sz="1400" b="1" dirty="0" err="1">
                <a:highlight>
                  <a:srgbClr val="FFFF00"/>
                </a:highlight>
                <a:latin typeface="Consolas" panose="020B0609020204030204" pitchFamily="49" charset="0"/>
              </a:rPr>
              <a:t>mode</a:t>
            </a:r>
            <a:r>
              <a:rPr lang="sk-SK" sz="1400" b="1" dirty="0">
                <a:highlight>
                  <a:srgbClr val="FFFF00"/>
                </a:highlight>
                <a:latin typeface="Consolas" panose="020B0609020204030204" pitchFamily="49" charset="0"/>
              </a:rPr>
              <a:t> per-vrf</a:t>
            </a:r>
            <a:r>
              <a:rPr lang="en-US" sz="1400" b="1" dirty="0">
                <a:highlight>
                  <a:srgbClr val="FFFF00"/>
                </a:highlight>
                <a:latin typeface="Consolas" panose="020B0609020204030204" pitchFamily="49" charset="0"/>
              </a:rPr>
              <a:t> | per-</a:t>
            </a:r>
            <a:r>
              <a:rPr lang="en-US" sz="1400" b="1" dirty="0" err="1">
                <a:highlight>
                  <a:srgbClr val="FFFF00"/>
                </a:highlight>
                <a:latin typeface="Consolas" panose="020B0609020204030204" pitchFamily="49" charset="0"/>
              </a:rPr>
              <a:t>ce</a:t>
            </a:r>
            <a:r>
              <a:rPr lang="en-US" sz="1400" b="1" dirty="0">
                <a:highlight>
                  <a:srgbClr val="FFFF00"/>
                </a:highlight>
                <a:latin typeface="Consolas" panose="020B0609020204030204" pitchFamily="49" charset="0"/>
              </a:rPr>
              <a:t> | per-vrf-46</a:t>
            </a:r>
            <a:endParaRPr lang="sk-SK" sz="1400" b="1" dirty="0">
              <a:highlight>
                <a:srgbClr val="FFFF00"/>
              </a:highlight>
              <a:latin typeface="Consolas" panose="020B0609020204030204" pitchFamily="49" charset="0"/>
            </a:endParaRPr>
          </a:p>
          <a:p>
            <a:r>
              <a:rPr lang="sk-SK" sz="1400" dirty="0">
                <a:latin typeface="Consolas" panose="020B0609020204030204" pitchFamily="49" charset="0"/>
              </a:rPr>
              <a:t>   !</a:t>
            </a:r>
          </a:p>
          <a:p>
            <a:r>
              <a:rPr lang="sk-SK" sz="1400" dirty="0">
                <a:latin typeface="Consolas" panose="020B0609020204030204" pitchFamily="49" charset="0"/>
              </a:rPr>
              <a:t>   </a:t>
            </a:r>
            <a:r>
              <a:rPr lang="sk-SK" sz="1400" dirty="0" err="1">
                <a:latin typeface="Consolas" panose="020B0609020204030204" pitchFamily="49" charset="0"/>
              </a:rPr>
              <a:t>redistribute</a:t>
            </a:r>
            <a:r>
              <a:rPr lang="sk-SK" sz="1400" dirty="0">
                <a:latin typeface="Consolas" panose="020B0609020204030204" pitchFamily="49" charset="0"/>
              </a:rPr>
              <a:t> </a:t>
            </a:r>
            <a:r>
              <a:rPr lang="sk-SK" sz="1400" dirty="0" err="1">
                <a:latin typeface="Consolas" panose="020B0609020204030204" pitchFamily="49" charset="0"/>
              </a:rPr>
              <a:t>connected</a:t>
            </a:r>
            <a:r>
              <a:rPr lang="sk-SK" sz="1400" dirty="0">
                <a:latin typeface="Consolas" panose="020B0609020204030204" pitchFamily="49" charset="0"/>
              </a:rPr>
              <a:t> </a:t>
            </a:r>
            <a:endParaRPr lang="sk-SK" sz="14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382353640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D993C2-7531-E04D-FD06-8C454A270BCB}"/>
              </a:ext>
            </a:extLst>
          </p:cNvPr>
          <p:cNvSpPr>
            <a:spLocks noGrp="1"/>
          </p:cNvSpPr>
          <p:nvPr>
            <p:ph type="body" sz="quarter" idx="10"/>
          </p:nvPr>
        </p:nvSpPr>
        <p:spPr/>
        <p:txBody>
          <a:bodyPr/>
          <a:lstStyle/>
          <a:p>
            <a:endParaRPr lang="en-US" sz="2000" dirty="0"/>
          </a:p>
          <a:p>
            <a:r>
              <a:rPr lang="en-US" sz="2000" dirty="0"/>
              <a:t>per vrf, per address-family configuration</a:t>
            </a:r>
          </a:p>
          <a:p>
            <a:r>
              <a:rPr lang="en-US" sz="2000" dirty="0"/>
              <a:t>supported on all platforms</a:t>
            </a:r>
          </a:p>
        </p:txBody>
      </p:sp>
      <p:sp>
        <p:nvSpPr>
          <p:cNvPr id="3" name="Text Placeholder 2">
            <a:extLst>
              <a:ext uri="{FF2B5EF4-FFF2-40B4-BE49-F238E27FC236}">
                <a16:creationId xmlns:a16="http://schemas.microsoft.com/office/drawing/2014/main" id="{7F71FC62-B446-59F4-7354-DB327E1127AA}"/>
              </a:ext>
            </a:extLst>
          </p:cNvPr>
          <p:cNvSpPr>
            <a:spLocks noGrp="1"/>
          </p:cNvSpPr>
          <p:nvPr>
            <p:ph type="body" sz="quarter" idx="11"/>
          </p:nvPr>
        </p:nvSpPr>
        <p:spPr/>
        <p:txBody>
          <a:bodyPr/>
          <a:lstStyle/>
          <a:p>
            <a:r>
              <a:rPr lang="en-US" dirty="0"/>
              <a:t>L3VPN over SRv6 – per-vrf</a:t>
            </a:r>
          </a:p>
        </p:txBody>
      </p:sp>
      <p:sp>
        <p:nvSpPr>
          <p:cNvPr id="5" name="Rectangle 4">
            <a:extLst>
              <a:ext uri="{FF2B5EF4-FFF2-40B4-BE49-F238E27FC236}">
                <a16:creationId xmlns:a16="http://schemas.microsoft.com/office/drawing/2014/main" id="{FC9B6547-111E-4946-79F4-F0722DF53430}"/>
              </a:ext>
            </a:extLst>
          </p:cNvPr>
          <p:cNvSpPr/>
          <p:nvPr/>
        </p:nvSpPr>
        <p:spPr>
          <a:xfrm>
            <a:off x="8293472" y="113515"/>
            <a:ext cx="3664612" cy="3785652"/>
          </a:xfrm>
          <a:prstGeom prst="rect">
            <a:avLst/>
          </a:prstGeom>
          <a:solidFill>
            <a:schemeClr val="bg1">
              <a:lumMod val="95000"/>
            </a:schemeClr>
          </a:solidFill>
          <a:ln>
            <a:solidFill>
              <a:schemeClr val="tx1"/>
            </a:solidFill>
          </a:ln>
          <a:effectLst/>
        </p:spPr>
        <p:txBody>
          <a:bodyPr wrap="square">
            <a:spAutoFit/>
          </a:bodyPr>
          <a:lstStyle/>
          <a:p>
            <a:r>
              <a:rPr lang="sk-SK" sz="1200" dirty="0">
                <a:latin typeface="Consolas" panose="020B0609020204030204" pitchFamily="49" charset="0"/>
              </a:rPr>
              <a:t>router bgp 65000</a:t>
            </a:r>
          </a:p>
          <a:p>
            <a:r>
              <a:rPr lang="sk-SK" sz="1200" dirty="0">
                <a:latin typeface="Consolas" panose="020B0609020204030204" pitchFamily="49" charset="0"/>
              </a:rPr>
              <a:t> </a:t>
            </a:r>
            <a:r>
              <a:rPr lang="en-US" sz="1200" dirty="0">
                <a:latin typeface="Consolas" panose="020B0609020204030204" pitchFamily="49" charset="0"/>
              </a:rPr>
              <a:t>-- cut --</a:t>
            </a:r>
            <a:endParaRPr lang="sk-SK" sz="1200" dirty="0">
              <a:latin typeface="Consolas" panose="020B0609020204030204" pitchFamily="49" charset="0"/>
            </a:endParaRPr>
          </a:p>
          <a:p>
            <a:r>
              <a:rPr lang="sk-SK" sz="1200" dirty="0">
                <a:latin typeface="Consolas" panose="020B0609020204030204" pitchFamily="49" charset="0"/>
              </a:rPr>
              <a:t> !</a:t>
            </a:r>
          </a:p>
          <a:p>
            <a:r>
              <a:rPr lang="sk-SK" sz="1200" dirty="0">
                <a:latin typeface="Consolas" panose="020B0609020204030204" pitchFamily="49" charset="0"/>
              </a:rPr>
              <a:t> vrf A</a:t>
            </a:r>
          </a:p>
          <a:p>
            <a:r>
              <a:rPr lang="sk-SK" sz="1200" dirty="0">
                <a:latin typeface="Consolas" panose="020B0609020204030204" pitchFamily="49" charset="0"/>
              </a:rPr>
              <a:t>  bgp router-id 10.64.1.1</a:t>
            </a:r>
          </a:p>
          <a:p>
            <a:r>
              <a:rPr lang="sk-SK" sz="1200" dirty="0">
                <a:latin typeface="Consolas" panose="020B0609020204030204" pitchFamily="49" charset="0"/>
              </a:rPr>
              <a:t>  </a:t>
            </a:r>
            <a:r>
              <a:rPr lang="sk-SK" sz="1200" dirty="0" err="1">
                <a:highlight>
                  <a:srgbClr val="FFFF00"/>
                </a:highlight>
                <a:latin typeface="Consolas" panose="020B0609020204030204" pitchFamily="49" charset="0"/>
              </a:rPr>
              <a:t>address-family</a:t>
            </a:r>
            <a:r>
              <a:rPr lang="sk-SK" sz="1200" dirty="0">
                <a:highlight>
                  <a:srgbClr val="FFFF00"/>
                </a:highlight>
                <a:latin typeface="Consolas" panose="020B0609020204030204" pitchFamily="49" charset="0"/>
              </a:rPr>
              <a:t> </a:t>
            </a:r>
            <a:r>
              <a:rPr lang="sk-SK" sz="1200" dirty="0" err="1">
                <a:highlight>
                  <a:srgbClr val="FFFF00"/>
                </a:highlight>
                <a:latin typeface="Consolas" panose="020B0609020204030204" pitchFamily="49" charset="0"/>
              </a:rPr>
              <a:t>ipv4</a:t>
            </a:r>
            <a:r>
              <a:rPr lang="sk-SK" sz="1200" dirty="0">
                <a:highlight>
                  <a:srgbClr val="FFFF00"/>
                </a:highlight>
                <a:latin typeface="Consolas" panose="020B0609020204030204" pitchFamily="49" charset="0"/>
              </a:rPr>
              <a:t> </a:t>
            </a:r>
            <a:r>
              <a:rPr lang="sk-SK" sz="1200" dirty="0" err="1">
                <a:highlight>
                  <a:srgbClr val="FFFF00"/>
                </a:highlight>
                <a:latin typeface="Consolas" panose="020B0609020204030204" pitchFamily="49" charset="0"/>
              </a:rPr>
              <a:t>unicast</a:t>
            </a:r>
            <a:endParaRPr lang="sk-SK" sz="1200" dirty="0">
              <a:highlight>
                <a:srgbClr val="FFFF00"/>
              </a:highlight>
              <a:latin typeface="Consolas" panose="020B0609020204030204" pitchFamily="49" charset="0"/>
            </a:endParaRPr>
          </a:p>
          <a:p>
            <a:r>
              <a:rPr lang="sk-SK" sz="1200" dirty="0">
                <a:latin typeface="Consolas" panose="020B0609020204030204" pitchFamily="49" charset="0"/>
              </a:rPr>
              <a:t>   segment-routing </a:t>
            </a:r>
            <a:r>
              <a:rPr lang="sk-SK" sz="1200" dirty="0" err="1">
                <a:latin typeface="Consolas" panose="020B0609020204030204" pitchFamily="49" charset="0"/>
              </a:rPr>
              <a:t>srv6</a:t>
            </a:r>
            <a:endParaRPr lang="sk-SK" sz="1200" dirty="0">
              <a:latin typeface="Consolas" panose="020B0609020204030204" pitchFamily="49" charset="0"/>
            </a:endParaRPr>
          </a:p>
          <a:p>
            <a:r>
              <a:rPr lang="sk-SK" sz="1200" dirty="0">
                <a:latin typeface="Consolas" panose="020B0609020204030204" pitchFamily="49" charset="0"/>
              </a:rPr>
              <a:t>    </a:t>
            </a:r>
            <a:r>
              <a:rPr lang="sk-SK" sz="1200" dirty="0" err="1">
                <a:latin typeface="Consolas" panose="020B0609020204030204" pitchFamily="49" charset="0"/>
              </a:rPr>
              <a:t>locator</a:t>
            </a:r>
            <a:r>
              <a:rPr lang="sk-SK" sz="1200" dirty="0">
                <a:latin typeface="Consolas" panose="020B0609020204030204" pitchFamily="49" charset="0"/>
              </a:rPr>
              <a:t> </a:t>
            </a:r>
            <a:r>
              <a:rPr lang="sk-SK" sz="1200" dirty="0" err="1">
                <a:latin typeface="Consolas" panose="020B0609020204030204" pitchFamily="49" charset="0"/>
              </a:rPr>
              <a:t>MyFullLoc01</a:t>
            </a:r>
            <a:endParaRPr lang="sk-SK" sz="1200" dirty="0">
              <a:latin typeface="Consolas" panose="020B0609020204030204" pitchFamily="49" charset="0"/>
            </a:endParaRPr>
          </a:p>
          <a:p>
            <a:r>
              <a:rPr lang="sk-SK" sz="1200" dirty="0">
                <a:latin typeface="Consolas" panose="020B0609020204030204" pitchFamily="49" charset="0"/>
              </a:rPr>
              <a:t>    </a:t>
            </a:r>
            <a:r>
              <a:rPr lang="sk-SK" sz="1200" dirty="0" err="1">
                <a:highlight>
                  <a:srgbClr val="FFFF00"/>
                </a:highlight>
                <a:latin typeface="Consolas" panose="020B0609020204030204" pitchFamily="49" charset="0"/>
              </a:rPr>
              <a:t>alloc</a:t>
            </a:r>
            <a:r>
              <a:rPr lang="sk-SK" sz="1200" dirty="0">
                <a:highlight>
                  <a:srgbClr val="FFFF00"/>
                </a:highlight>
                <a:latin typeface="Consolas" panose="020B0609020204030204" pitchFamily="49" charset="0"/>
              </a:rPr>
              <a:t> </a:t>
            </a:r>
            <a:r>
              <a:rPr lang="sk-SK" sz="1200" dirty="0" err="1">
                <a:highlight>
                  <a:srgbClr val="FFFF00"/>
                </a:highlight>
                <a:latin typeface="Consolas" panose="020B0609020204030204" pitchFamily="49" charset="0"/>
              </a:rPr>
              <a:t>mode</a:t>
            </a:r>
            <a:r>
              <a:rPr lang="sk-SK" sz="1200" dirty="0">
                <a:highlight>
                  <a:srgbClr val="FFFF00"/>
                </a:highlight>
                <a:latin typeface="Consolas" panose="020B0609020204030204" pitchFamily="49" charset="0"/>
              </a:rPr>
              <a:t> </a:t>
            </a:r>
            <a:r>
              <a:rPr lang="sk-SK" sz="1200" b="1" dirty="0">
                <a:highlight>
                  <a:srgbClr val="FFFF00"/>
                </a:highlight>
                <a:latin typeface="Consolas" panose="020B0609020204030204" pitchFamily="49" charset="0"/>
              </a:rPr>
              <a:t>per-vrf</a:t>
            </a:r>
          </a:p>
          <a:p>
            <a:r>
              <a:rPr lang="sk-SK" sz="1200" dirty="0">
                <a:latin typeface="Consolas" panose="020B0609020204030204" pitchFamily="49" charset="0"/>
              </a:rPr>
              <a:t>   !</a:t>
            </a:r>
          </a:p>
          <a:p>
            <a:r>
              <a:rPr lang="sk-SK" sz="1200" dirty="0">
                <a:latin typeface="Consolas" panose="020B0609020204030204" pitchFamily="49" charset="0"/>
              </a:rPr>
              <a:t>   </a:t>
            </a:r>
            <a:r>
              <a:rPr lang="sk-SK" sz="1200" dirty="0" err="1">
                <a:latin typeface="Consolas" panose="020B0609020204030204" pitchFamily="49" charset="0"/>
              </a:rPr>
              <a:t>redistribute</a:t>
            </a:r>
            <a:r>
              <a:rPr lang="sk-SK" sz="1200" dirty="0">
                <a:latin typeface="Consolas" panose="020B0609020204030204" pitchFamily="49" charset="0"/>
              </a:rPr>
              <a:t> </a:t>
            </a:r>
            <a:r>
              <a:rPr lang="sk-SK" sz="1200" dirty="0" err="1">
                <a:latin typeface="Consolas" panose="020B0609020204030204" pitchFamily="49" charset="0"/>
              </a:rPr>
              <a:t>connected</a:t>
            </a:r>
            <a:endParaRPr lang="sk-SK" sz="1200" dirty="0">
              <a:latin typeface="Consolas" panose="020B0609020204030204" pitchFamily="49" charset="0"/>
            </a:endParaRPr>
          </a:p>
          <a:p>
            <a:r>
              <a:rPr lang="sk-SK" sz="1200" dirty="0">
                <a:latin typeface="Consolas" panose="020B0609020204030204" pitchFamily="49" charset="0"/>
              </a:rPr>
              <a:t>  !</a:t>
            </a:r>
          </a:p>
          <a:p>
            <a:r>
              <a:rPr lang="sk-SK" sz="1200" dirty="0">
                <a:latin typeface="Consolas" panose="020B0609020204030204" pitchFamily="49" charset="0"/>
              </a:rPr>
              <a:t>  </a:t>
            </a:r>
            <a:r>
              <a:rPr lang="sk-SK" sz="1200" dirty="0" err="1">
                <a:highlight>
                  <a:srgbClr val="00FFFF"/>
                </a:highlight>
                <a:latin typeface="Consolas" panose="020B0609020204030204" pitchFamily="49" charset="0"/>
              </a:rPr>
              <a:t>address-family</a:t>
            </a:r>
            <a:r>
              <a:rPr lang="sk-SK" sz="1200" dirty="0">
                <a:highlight>
                  <a:srgbClr val="00FFFF"/>
                </a:highlight>
                <a:latin typeface="Consolas" panose="020B0609020204030204" pitchFamily="49" charset="0"/>
              </a:rPr>
              <a:t> </a:t>
            </a:r>
            <a:r>
              <a:rPr lang="sk-SK" sz="1200" dirty="0" err="1">
                <a:highlight>
                  <a:srgbClr val="00FFFF"/>
                </a:highlight>
                <a:latin typeface="Consolas" panose="020B0609020204030204" pitchFamily="49" charset="0"/>
              </a:rPr>
              <a:t>ipv6</a:t>
            </a:r>
            <a:r>
              <a:rPr lang="sk-SK" sz="1200" dirty="0">
                <a:highlight>
                  <a:srgbClr val="00FFFF"/>
                </a:highlight>
                <a:latin typeface="Consolas" panose="020B0609020204030204" pitchFamily="49" charset="0"/>
              </a:rPr>
              <a:t> </a:t>
            </a:r>
            <a:r>
              <a:rPr lang="sk-SK" sz="1200" dirty="0" err="1">
                <a:highlight>
                  <a:srgbClr val="00FFFF"/>
                </a:highlight>
                <a:latin typeface="Consolas" panose="020B0609020204030204" pitchFamily="49" charset="0"/>
              </a:rPr>
              <a:t>unicast</a:t>
            </a:r>
            <a:endParaRPr lang="sk-SK" sz="1200" dirty="0">
              <a:highlight>
                <a:srgbClr val="00FFFF"/>
              </a:highlight>
              <a:latin typeface="Consolas" panose="020B0609020204030204" pitchFamily="49" charset="0"/>
            </a:endParaRPr>
          </a:p>
          <a:p>
            <a:r>
              <a:rPr lang="sk-SK" sz="1200" dirty="0">
                <a:latin typeface="Consolas" panose="020B0609020204030204" pitchFamily="49" charset="0"/>
              </a:rPr>
              <a:t>   segment-routing </a:t>
            </a:r>
            <a:r>
              <a:rPr lang="sk-SK" sz="1200" dirty="0" err="1">
                <a:latin typeface="Consolas" panose="020B0609020204030204" pitchFamily="49" charset="0"/>
              </a:rPr>
              <a:t>srv6</a:t>
            </a:r>
            <a:endParaRPr lang="sk-SK" sz="1200" dirty="0">
              <a:latin typeface="Consolas" panose="020B0609020204030204" pitchFamily="49" charset="0"/>
            </a:endParaRPr>
          </a:p>
          <a:p>
            <a:r>
              <a:rPr lang="sk-SK" sz="1200" dirty="0">
                <a:latin typeface="Consolas" panose="020B0609020204030204" pitchFamily="49" charset="0"/>
              </a:rPr>
              <a:t>    </a:t>
            </a:r>
            <a:r>
              <a:rPr lang="sk-SK" sz="1200" dirty="0" err="1">
                <a:latin typeface="Consolas" panose="020B0609020204030204" pitchFamily="49" charset="0"/>
              </a:rPr>
              <a:t>locator</a:t>
            </a:r>
            <a:r>
              <a:rPr lang="sk-SK" sz="1200" dirty="0">
                <a:latin typeface="Consolas" panose="020B0609020204030204" pitchFamily="49" charset="0"/>
              </a:rPr>
              <a:t> </a:t>
            </a:r>
            <a:r>
              <a:rPr lang="sk-SK" sz="1200" dirty="0" err="1">
                <a:latin typeface="Consolas" panose="020B0609020204030204" pitchFamily="49" charset="0"/>
              </a:rPr>
              <a:t>MyFullLoc01</a:t>
            </a:r>
            <a:endParaRPr lang="sk-SK" sz="1200" dirty="0">
              <a:latin typeface="Consolas" panose="020B0609020204030204" pitchFamily="49" charset="0"/>
            </a:endParaRPr>
          </a:p>
          <a:p>
            <a:r>
              <a:rPr lang="sk-SK" sz="1200" dirty="0">
                <a:latin typeface="Consolas" panose="020B0609020204030204" pitchFamily="49" charset="0"/>
              </a:rPr>
              <a:t>    </a:t>
            </a:r>
            <a:r>
              <a:rPr lang="sk-SK" sz="1200" dirty="0" err="1">
                <a:highlight>
                  <a:srgbClr val="00FFFF"/>
                </a:highlight>
                <a:latin typeface="Consolas" panose="020B0609020204030204" pitchFamily="49" charset="0"/>
              </a:rPr>
              <a:t>alloc</a:t>
            </a:r>
            <a:r>
              <a:rPr lang="sk-SK" sz="1200" dirty="0">
                <a:highlight>
                  <a:srgbClr val="00FFFF"/>
                </a:highlight>
                <a:latin typeface="Consolas" panose="020B0609020204030204" pitchFamily="49" charset="0"/>
              </a:rPr>
              <a:t> </a:t>
            </a:r>
            <a:r>
              <a:rPr lang="sk-SK" sz="1200" dirty="0" err="1">
                <a:highlight>
                  <a:srgbClr val="00FFFF"/>
                </a:highlight>
                <a:latin typeface="Consolas" panose="020B0609020204030204" pitchFamily="49" charset="0"/>
              </a:rPr>
              <a:t>mode</a:t>
            </a:r>
            <a:r>
              <a:rPr lang="sk-SK" sz="1200" dirty="0">
                <a:highlight>
                  <a:srgbClr val="00FFFF"/>
                </a:highlight>
                <a:latin typeface="Consolas" panose="020B0609020204030204" pitchFamily="49" charset="0"/>
              </a:rPr>
              <a:t> </a:t>
            </a:r>
            <a:r>
              <a:rPr lang="sk-SK" sz="1200" b="1" dirty="0">
                <a:highlight>
                  <a:srgbClr val="00FFFF"/>
                </a:highlight>
                <a:latin typeface="Consolas" panose="020B0609020204030204" pitchFamily="49" charset="0"/>
              </a:rPr>
              <a:t>per-vrf</a:t>
            </a:r>
          </a:p>
          <a:p>
            <a:r>
              <a:rPr lang="sk-SK" sz="1200" dirty="0">
                <a:latin typeface="Consolas" panose="020B0609020204030204" pitchFamily="49" charset="0"/>
              </a:rPr>
              <a:t>   !</a:t>
            </a:r>
          </a:p>
          <a:p>
            <a:r>
              <a:rPr lang="sk-SK" sz="1200" dirty="0">
                <a:latin typeface="Consolas" panose="020B0609020204030204" pitchFamily="49" charset="0"/>
              </a:rPr>
              <a:t>   </a:t>
            </a:r>
            <a:r>
              <a:rPr lang="sk-SK" sz="1200" dirty="0" err="1">
                <a:latin typeface="Consolas" panose="020B0609020204030204" pitchFamily="49" charset="0"/>
              </a:rPr>
              <a:t>redistribute</a:t>
            </a:r>
            <a:r>
              <a:rPr lang="sk-SK" sz="1200" dirty="0">
                <a:latin typeface="Consolas" panose="020B0609020204030204" pitchFamily="49" charset="0"/>
              </a:rPr>
              <a:t> </a:t>
            </a:r>
            <a:r>
              <a:rPr lang="sk-SK" sz="1200" dirty="0" err="1">
                <a:latin typeface="Consolas" panose="020B0609020204030204" pitchFamily="49" charset="0"/>
              </a:rPr>
              <a:t>connected</a:t>
            </a:r>
            <a:endParaRPr lang="sk-SK" sz="1200" dirty="0">
              <a:latin typeface="Consolas" panose="020B0609020204030204" pitchFamily="49" charset="0"/>
            </a:endParaRPr>
          </a:p>
          <a:p>
            <a:r>
              <a:rPr lang="sk-SK" sz="1200" dirty="0">
                <a:latin typeface="Consolas" panose="020B0609020204030204" pitchFamily="49" charset="0"/>
              </a:rPr>
              <a:t>  !</a:t>
            </a:r>
          </a:p>
          <a:p>
            <a:r>
              <a:rPr lang="sk-SK" sz="1200" dirty="0">
                <a:latin typeface="Consolas" panose="020B0609020204030204" pitchFamily="49" charset="0"/>
              </a:rPr>
              <a:t>  </a:t>
            </a:r>
            <a:r>
              <a:rPr lang="en-US" sz="1200" dirty="0">
                <a:latin typeface="Consolas" panose="020B0609020204030204" pitchFamily="49" charset="0"/>
              </a:rPr>
              <a:t>-- cut --</a:t>
            </a:r>
            <a:endParaRPr lang="sk-SK" sz="1200" dirty="0">
              <a:solidFill>
                <a:srgbClr val="FF0000"/>
              </a:solidFill>
              <a:latin typeface="Consolas" panose="020B0609020204030204" pitchFamily="49" charset="0"/>
            </a:endParaRPr>
          </a:p>
        </p:txBody>
      </p:sp>
      <p:sp>
        <p:nvSpPr>
          <p:cNvPr id="8" name="Rectangle 7">
            <a:extLst>
              <a:ext uri="{FF2B5EF4-FFF2-40B4-BE49-F238E27FC236}">
                <a16:creationId xmlns:a16="http://schemas.microsoft.com/office/drawing/2014/main" id="{7F29AD4C-F1F0-AFE5-2414-2CB7E7B30B61}"/>
              </a:ext>
            </a:extLst>
          </p:cNvPr>
          <p:cNvSpPr/>
          <p:nvPr/>
        </p:nvSpPr>
        <p:spPr>
          <a:xfrm>
            <a:off x="726596" y="3976097"/>
            <a:ext cx="9633098" cy="2123658"/>
          </a:xfrm>
          <a:prstGeom prst="rect">
            <a:avLst/>
          </a:prstGeom>
          <a:solidFill>
            <a:schemeClr val="bg1">
              <a:lumMod val="95000"/>
            </a:schemeClr>
          </a:solidFill>
          <a:ln>
            <a:solidFill>
              <a:schemeClr val="tx1"/>
            </a:solidFill>
          </a:ln>
          <a:effectLst/>
        </p:spPr>
        <p:txBody>
          <a:bodyPr wrap="square">
            <a:spAutoFit/>
          </a:bodyPr>
          <a:lstStyle/>
          <a:p>
            <a:r>
              <a:rPr lang="sk-SK" sz="1200" dirty="0">
                <a:latin typeface="Consolas" panose="020B0609020204030204" pitchFamily="49" charset="0"/>
              </a:rPr>
              <a:t>RP/0/RP0/</a:t>
            </a:r>
            <a:r>
              <a:rPr lang="sk-SK" sz="1200" dirty="0" err="1">
                <a:latin typeface="Consolas" panose="020B0609020204030204" pitchFamily="49" charset="0"/>
              </a:rPr>
              <a:t>CPU0:R01#sh</a:t>
            </a:r>
            <a:r>
              <a:rPr lang="sk-SK" sz="1200" dirty="0">
                <a:latin typeface="Consolas" panose="020B0609020204030204" pitchFamily="49" charset="0"/>
              </a:rPr>
              <a:t> segment-routing </a:t>
            </a:r>
            <a:r>
              <a:rPr lang="sk-SK" sz="1200" dirty="0" err="1">
                <a:latin typeface="Consolas" panose="020B0609020204030204" pitchFamily="49" charset="0"/>
              </a:rPr>
              <a:t>srv6</a:t>
            </a:r>
            <a:r>
              <a:rPr lang="sk-SK" sz="1200" dirty="0">
                <a:latin typeface="Consolas" panose="020B0609020204030204" pitchFamily="49" charset="0"/>
              </a:rPr>
              <a:t> </a:t>
            </a:r>
            <a:r>
              <a:rPr lang="sk-SK" sz="1200" dirty="0" err="1">
                <a:latin typeface="Consolas" panose="020B0609020204030204" pitchFamily="49" charset="0"/>
              </a:rPr>
              <a:t>sid</a:t>
            </a:r>
            <a:r>
              <a:rPr lang="sk-SK" sz="1200" dirty="0">
                <a:latin typeface="Consolas" panose="020B0609020204030204" pitchFamily="49" charset="0"/>
              </a:rPr>
              <a:t> </a:t>
            </a:r>
            <a:r>
              <a:rPr lang="sk-SK" sz="1200" dirty="0" err="1">
                <a:latin typeface="Consolas" panose="020B0609020204030204" pitchFamily="49" charset="0"/>
              </a:rPr>
              <a:t>all</a:t>
            </a:r>
            <a:r>
              <a:rPr lang="sk-SK" sz="1200" dirty="0">
                <a:latin typeface="Consolas" panose="020B0609020204030204" pitchFamily="49" charset="0"/>
              </a:rPr>
              <a:t> </a:t>
            </a:r>
          </a:p>
          <a:p>
            <a:endParaRPr lang="sk-SK" sz="1200" dirty="0">
              <a:latin typeface="Consolas" panose="020B0609020204030204" pitchFamily="49" charset="0"/>
            </a:endParaRPr>
          </a:p>
          <a:p>
            <a:r>
              <a:rPr lang="sk-SK" sz="1200" dirty="0">
                <a:latin typeface="Consolas" panose="020B0609020204030204" pitchFamily="49" charset="0"/>
              </a:rPr>
              <a:t>*** </a:t>
            </a:r>
            <a:r>
              <a:rPr lang="sk-SK" sz="1200" dirty="0" err="1">
                <a:latin typeface="Consolas" panose="020B0609020204030204" pitchFamily="49" charset="0"/>
              </a:rPr>
              <a:t>Locator</a:t>
            </a:r>
            <a:r>
              <a:rPr lang="sk-SK" sz="1200" dirty="0">
                <a:latin typeface="Consolas" panose="020B0609020204030204" pitchFamily="49" charset="0"/>
              </a:rPr>
              <a:t>: '</a:t>
            </a:r>
            <a:r>
              <a:rPr lang="sk-SK" sz="1200" dirty="0" err="1">
                <a:latin typeface="Consolas" panose="020B0609020204030204" pitchFamily="49" charset="0"/>
              </a:rPr>
              <a:t>MyFullLoc01</a:t>
            </a:r>
            <a:r>
              <a:rPr lang="sk-SK" sz="1200" dirty="0">
                <a:latin typeface="Consolas" panose="020B0609020204030204" pitchFamily="49" charset="0"/>
              </a:rPr>
              <a:t>' *** </a:t>
            </a:r>
          </a:p>
          <a:p>
            <a:endParaRPr lang="sk-SK" sz="1200" dirty="0">
              <a:latin typeface="Consolas" panose="020B0609020204030204" pitchFamily="49" charset="0"/>
            </a:endParaRPr>
          </a:p>
          <a:p>
            <a:r>
              <a:rPr lang="sk-SK" sz="1200" dirty="0" err="1">
                <a:latin typeface="Consolas" panose="020B0609020204030204" pitchFamily="49" charset="0"/>
              </a:rPr>
              <a:t>SID</a:t>
            </a:r>
            <a:r>
              <a:rPr lang="sk-SK" sz="1200" dirty="0">
                <a:latin typeface="Consolas" panose="020B0609020204030204" pitchFamily="49" charset="0"/>
              </a:rPr>
              <a:t>                         </a:t>
            </a:r>
            <a:r>
              <a:rPr lang="sk-SK" sz="1200" dirty="0" err="1">
                <a:latin typeface="Consolas" panose="020B0609020204030204" pitchFamily="49" charset="0"/>
              </a:rPr>
              <a:t>Behavior</a:t>
            </a:r>
            <a:r>
              <a:rPr lang="sk-SK" sz="1200" dirty="0">
                <a:latin typeface="Consolas" panose="020B0609020204030204" pitchFamily="49" charset="0"/>
              </a:rPr>
              <a:t>          </a:t>
            </a:r>
            <a:r>
              <a:rPr lang="sk-SK" sz="1200" dirty="0" err="1">
                <a:latin typeface="Consolas" panose="020B0609020204030204" pitchFamily="49" charset="0"/>
              </a:rPr>
              <a:t>Context</a:t>
            </a:r>
            <a:r>
              <a:rPr lang="sk-SK" sz="1200" dirty="0">
                <a:latin typeface="Consolas" panose="020B0609020204030204" pitchFamily="49" charset="0"/>
              </a:rPr>
              <a:t>                           </a:t>
            </a:r>
            <a:r>
              <a:rPr lang="sk-SK" sz="1200" dirty="0" err="1">
                <a:latin typeface="Consolas" panose="020B0609020204030204" pitchFamily="49" charset="0"/>
              </a:rPr>
              <a:t>Owner</a:t>
            </a:r>
            <a:r>
              <a:rPr lang="sk-SK" sz="1200" dirty="0">
                <a:latin typeface="Consolas" panose="020B0609020204030204" pitchFamily="49" charset="0"/>
              </a:rPr>
              <a:t>               State  </a:t>
            </a:r>
            <a:r>
              <a:rPr lang="sk-SK" sz="1200" dirty="0" err="1">
                <a:latin typeface="Consolas" panose="020B0609020204030204" pitchFamily="49" charset="0"/>
              </a:rPr>
              <a:t>RW</a:t>
            </a:r>
            <a:endParaRPr lang="sk-SK" sz="1200" dirty="0">
              <a:latin typeface="Consolas" panose="020B0609020204030204" pitchFamily="49" charset="0"/>
            </a:endParaRPr>
          </a:p>
          <a:p>
            <a:r>
              <a:rPr lang="sk-SK" sz="1200" dirty="0">
                <a:latin typeface="Consolas" panose="020B0609020204030204" pitchFamily="49" charset="0"/>
              </a:rPr>
              <a:t>--------------------------  ----------------  --------------------------------  ------------------  -----  --</a:t>
            </a:r>
          </a:p>
          <a:p>
            <a:r>
              <a:rPr lang="sk-SK" sz="1200" dirty="0" err="1">
                <a:latin typeface="Consolas" panose="020B0609020204030204" pitchFamily="49" charset="0"/>
              </a:rPr>
              <a:t>fc00:ab00:1:0:1</a:t>
            </a:r>
            <a:r>
              <a:rPr lang="sk-SK" sz="1200" dirty="0">
                <a:latin typeface="Consolas" panose="020B0609020204030204" pitchFamily="49" charset="0"/>
              </a:rPr>
              <a:t>::           End (</a:t>
            </a:r>
            <a:r>
              <a:rPr lang="sk-SK" sz="1200" dirty="0" err="1">
                <a:latin typeface="Consolas" panose="020B0609020204030204" pitchFamily="49" charset="0"/>
              </a:rPr>
              <a:t>PSP</a:t>
            </a:r>
            <a:r>
              <a:rPr lang="sk-SK" sz="1200" dirty="0">
                <a:latin typeface="Consolas" panose="020B0609020204030204" pitchFamily="49" charset="0"/>
              </a:rPr>
              <a:t>/USD)     '</a:t>
            </a:r>
            <a:r>
              <a:rPr lang="sk-SK" sz="1200" dirty="0" err="1">
                <a:latin typeface="Consolas" panose="020B0609020204030204" pitchFamily="49" charset="0"/>
              </a:rPr>
              <a:t>default':1</a:t>
            </a:r>
            <a:r>
              <a:rPr lang="sk-SK" sz="1200" dirty="0">
                <a:latin typeface="Consolas" panose="020B0609020204030204" pitchFamily="49" charset="0"/>
              </a:rPr>
              <a:t>                       </a:t>
            </a:r>
            <a:r>
              <a:rPr lang="sk-SK" sz="1200" dirty="0" err="1">
                <a:latin typeface="Consolas" panose="020B0609020204030204" pitchFamily="49" charset="0"/>
              </a:rPr>
              <a:t>sidmgr</a:t>
            </a:r>
            <a:r>
              <a:rPr lang="sk-SK" sz="1200" dirty="0">
                <a:latin typeface="Consolas" panose="020B0609020204030204" pitchFamily="49" charset="0"/>
              </a:rPr>
              <a:t>              </a:t>
            </a:r>
            <a:r>
              <a:rPr lang="sk-SK" sz="1200" dirty="0" err="1">
                <a:latin typeface="Consolas" panose="020B0609020204030204" pitchFamily="49" charset="0"/>
              </a:rPr>
              <a:t>InUse</a:t>
            </a:r>
            <a:r>
              <a:rPr lang="sk-SK" sz="1200" dirty="0">
                <a:latin typeface="Consolas" panose="020B0609020204030204" pitchFamily="49" charset="0"/>
              </a:rPr>
              <a:t>  Y </a:t>
            </a:r>
          </a:p>
          <a:p>
            <a:r>
              <a:rPr lang="sk-SK" sz="1200" dirty="0" err="1">
                <a:latin typeface="Consolas" panose="020B0609020204030204" pitchFamily="49" charset="0"/>
              </a:rPr>
              <a:t>fc00:ab00:1:0:40</a:t>
            </a:r>
            <a:r>
              <a:rPr lang="sk-SK" sz="1200" dirty="0">
                <a:latin typeface="Consolas" panose="020B0609020204030204" pitchFamily="49" charset="0"/>
              </a:rPr>
              <a:t>::          </a:t>
            </a:r>
            <a:r>
              <a:rPr lang="sk-SK" sz="1200" dirty="0" err="1">
                <a:latin typeface="Consolas" panose="020B0609020204030204" pitchFamily="49" charset="0"/>
              </a:rPr>
              <a:t>End.X</a:t>
            </a:r>
            <a:r>
              <a:rPr lang="sk-SK" sz="1200" dirty="0">
                <a:latin typeface="Consolas" panose="020B0609020204030204" pitchFamily="49" charset="0"/>
              </a:rPr>
              <a:t> (</a:t>
            </a:r>
            <a:r>
              <a:rPr lang="sk-SK" sz="1200" dirty="0" err="1">
                <a:latin typeface="Consolas" panose="020B0609020204030204" pitchFamily="49" charset="0"/>
              </a:rPr>
              <a:t>PSP</a:t>
            </a:r>
            <a:r>
              <a:rPr lang="sk-SK" sz="1200" dirty="0">
                <a:latin typeface="Consolas" panose="020B0609020204030204" pitchFamily="49" charset="0"/>
              </a:rPr>
              <a:t>/USD)   [Gi0/0/0/0, </a:t>
            </a:r>
            <a:r>
              <a:rPr lang="sk-SK" sz="1200" dirty="0" err="1">
                <a:latin typeface="Consolas" panose="020B0609020204030204" pitchFamily="49" charset="0"/>
              </a:rPr>
              <a:t>Link-Local</a:t>
            </a:r>
            <a:r>
              <a:rPr lang="sk-SK" sz="1200" dirty="0">
                <a:latin typeface="Consolas" panose="020B0609020204030204" pitchFamily="49" charset="0"/>
              </a:rPr>
              <a:t>]           </a:t>
            </a:r>
            <a:r>
              <a:rPr lang="sk-SK" sz="1200" dirty="0" err="1">
                <a:latin typeface="Consolas" panose="020B0609020204030204" pitchFamily="49" charset="0"/>
              </a:rPr>
              <a:t>isis</a:t>
            </a:r>
            <a:r>
              <a:rPr lang="sk-SK" sz="1200" dirty="0">
                <a:latin typeface="Consolas" panose="020B0609020204030204" pitchFamily="49" charset="0"/>
              </a:rPr>
              <a:t>-1              </a:t>
            </a:r>
            <a:r>
              <a:rPr lang="sk-SK" sz="1200" dirty="0" err="1">
                <a:latin typeface="Consolas" panose="020B0609020204030204" pitchFamily="49" charset="0"/>
              </a:rPr>
              <a:t>InUse</a:t>
            </a:r>
            <a:r>
              <a:rPr lang="sk-SK" sz="1200" dirty="0">
                <a:latin typeface="Consolas" panose="020B0609020204030204" pitchFamily="49" charset="0"/>
              </a:rPr>
              <a:t>  Y </a:t>
            </a:r>
          </a:p>
          <a:p>
            <a:r>
              <a:rPr lang="sk-SK" sz="1200" dirty="0" err="1">
                <a:highlight>
                  <a:srgbClr val="FFFF00"/>
                </a:highlight>
                <a:latin typeface="Consolas" panose="020B0609020204030204" pitchFamily="49" charset="0"/>
              </a:rPr>
              <a:t>fc00:ab00:1:0:41</a:t>
            </a:r>
            <a:r>
              <a:rPr lang="sk-SK" sz="1200" dirty="0">
                <a:highlight>
                  <a:srgbClr val="FFFF00"/>
                </a:highlight>
                <a:latin typeface="Consolas" panose="020B0609020204030204" pitchFamily="49" charset="0"/>
              </a:rPr>
              <a:t>::          </a:t>
            </a:r>
            <a:r>
              <a:rPr lang="sk-SK" sz="1200" dirty="0" err="1">
                <a:highlight>
                  <a:srgbClr val="FFFF00"/>
                </a:highlight>
                <a:latin typeface="Consolas" panose="020B0609020204030204" pitchFamily="49" charset="0"/>
              </a:rPr>
              <a:t>End.DT4</a:t>
            </a:r>
            <a:r>
              <a:rPr lang="sk-SK" sz="1200" dirty="0">
                <a:highlight>
                  <a:srgbClr val="FFFF00"/>
                </a:highlight>
                <a:latin typeface="Consolas" panose="020B0609020204030204" pitchFamily="49" charset="0"/>
              </a:rPr>
              <a:t>           'A'                               bgp-65000           </a:t>
            </a:r>
            <a:r>
              <a:rPr lang="sk-SK" sz="1200" dirty="0" err="1">
                <a:highlight>
                  <a:srgbClr val="FFFF00"/>
                </a:highlight>
                <a:latin typeface="Consolas" panose="020B0609020204030204" pitchFamily="49" charset="0"/>
              </a:rPr>
              <a:t>InUse</a:t>
            </a:r>
            <a:r>
              <a:rPr lang="sk-SK" sz="1200" dirty="0">
                <a:highlight>
                  <a:srgbClr val="FFFF00"/>
                </a:highlight>
                <a:latin typeface="Consolas" panose="020B0609020204030204" pitchFamily="49" charset="0"/>
              </a:rPr>
              <a:t>  Y </a:t>
            </a:r>
          </a:p>
          <a:p>
            <a:r>
              <a:rPr lang="sk-SK" sz="1200" dirty="0" err="1">
                <a:highlight>
                  <a:srgbClr val="00FFFF"/>
                </a:highlight>
                <a:latin typeface="Consolas" panose="020B0609020204030204" pitchFamily="49" charset="0"/>
              </a:rPr>
              <a:t>fc00:ab00:1:0:42</a:t>
            </a:r>
            <a:r>
              <a:rPr lang="sk-SK" sz="1200" dirty="0">
                <a:highlight>
                  <a:srgbClr val="00FFFF"/>
                </a:highlight>
                <a:latin typeface="Consolas" panose="020B0609020204030204" pitchFamily="49" charset="0"/>
              </a:rPr>
              <a:t>::          </a:t>
            </a:r>
            <a:r>
              <a:rPr lang="sk-SK" sz="1200" dirty="0" err="1">
                <a:highlight>
                  <a:srgbClr val="00FFFF"/>
                </a:highlight>
                <a:latin typeface="Consolas" panose="020B0609020204030204" pitchFamily="49" charset="0"/>
              </a:rPr>
              <a:t>End.DT6</a:t>
            </a:r>
            <a:r>
              <a:rPr lang="sk-SK" sz="1200" dirty="0">
                <a:highlight>
                  <a:srgbClr val="00FFFF"/>
                </a:highlight>
                <a:latin typeface="Consolas" panose="020B0609020204030204" pitchFamily="49" charset="0"/>
              </a:rPr>
              <a:t>           'A'                               bgp-65000           </a:t>
            </a:r>
            <a:r>
              <a:rPr lang="sk-SK" sz="1200" dirty="0" err="1">
                <a:highlight>
                  <a:srgbClr val="00FFFF"/>
                </a:highlight>
                <a:latin typeface="Consolas" panose="020B0609020204030204" pitchFamily="49" charset="0"/>
              </a:rPr>
              <a:t>InUse</a:t>
            </a:r>
            <a:r>
              <a:rPr lang="sk-SK" sz="1200" dirty="0">
                <a:highlight>
                  <a:srgbClr val="00FFFF"/>
                </a:highlight>
                <a:latin typeface="Consolas" panose="020B0609020204030204" pitchFamily="49" charset="0"/>
              </a:rPr>
              <a:t>  Y </a:t>
            </a:r>
          </a:p>
          <a:p>
            <a:r>
              <a:rPr lang="sk-SK" sz="1200" dirty="0">
                <a:latin typeface="Consolas" panose="020B0609020204030204" pitchFamily="49" charset="0"/>
              </a:rPr>
              <a:t>RP/0/RP0/</a:t>
            </a:r>
            <a:r>
              <a:rPr lang="sk-SK" sz="1200" dirty="0" err="1">
                <a:latin typeface="Consolas" panose="020B0609020204030204" pitchFamily="49" charset="0"/>
              </a:rPr>
              <a:t>CPU0:R01</a:t>
            </a:r>
            <a:r>
              <a:rPr lang="sk-SK" sz="1200" dirty="0">
                <a:latin typeface="Consolas" panose="020B0609020204030204" pitchFamily="49" charset="0"/>
              </a:rPr>
              <a:t>#</a:t>
            </a:r>
            <a:endParaRPr lang="sk-SK" sz="12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40752161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D993C2-7531-E04D-FD06-8C454A270BCB}"/>
              </a:ext>
            </a:extLst>
          </p:cNvPr>
          <p:cNvSpPr>
            <a:spLocks noGrp="1"/>
          </p:cNvSpPr>
          <p:nvPr>
            <p:ph type="body" sz="quarter" idx="10"/>
          </p:nvPr>
        </p:nvSpPr>
        <p:spPr/>
        <p:txBody>
          <a:bodyPr/>
          <a:lstStyle/>
          <a:p>
            <a:endParaRPr lang="en-US" sz="2000" dirty="0"/>
          </a:p>
          <a:p>
            <a:r>
              <a:rPr lang="en-US" sz="2000" dirty="0"/>
              <a:t>per vrf, per address-family configuration</a:t>
            </a:r>
          </a:p>
          <a:p>
            <a:r>
              <a:rPr lang="en-US" sz="2000" dirty="0"/>
              <a:t>supported on all platforms</a:t>
            </a:r>
          </a:p>
        </p:txBody>
      </p:sp>
      <p:sp>
        <p:nvSpPr>
          <p:cNvPr id="3" name="Text Placeholder 2">
            <a:extLst>
              <a:ext uri="{FF2B5EF4-FFF2-40B4-BE49-F238E27FC236}">
                <a16:creationId xmlns:a16="http://schemas.microsoft.com/office/drawing/2014/main" id="{7F71FC62-B446-59F4-7354-DB327E1127AA}"/>
              </a:ext>
            </a:extLst>
          </p:cNvPr>
          <p:cNvSpPr>
            <a:spLocks noGrp="1"/>
          </p:cNvSpPr>
          <p:nvPr>
            <p:ph type="body" sz="quarter" idx="11"/>
          </p:nvPr>
        </p:nvSpPr>
        <p:spPr/>
        <p:txBody>
          <a:bodyPr/>
          <a:lstStyle/>
          <a:p>
            <a:r>
              <a:rPr lang="en-US" dirty="0"/>
              <a:t>L3VPN over SRv6 – per-</a:t>
            </a:r>
            <a:r>
              <a:rPr lang="en-US" dirty="0" err="1"/>
              <a:t>ce</a:t>
            </a:r>
            <a:endParaRPr lang="en-US" dirty="0"/>
          </a:p>
        </p:txBody>
      </p:sp>
      <p:sp>
        <p:nvSpPr>
          <p:cNvPr id="5" name="Rectangle 4">
            <a:extLst>
              <a:ext uri="{FF2B5EF4-FFF2-40B4-BE49-F238E27FC236}">
                <a16:creationId xmlns:a16="http://schemas.microsoft.com/office/drawing/2014/main" id="{FC9B6547-111E-4946-79F4-F0722DF53430}"/>
              </a:ext>
            </a:extLst>
          </p:cNvPr>
          <p:cNvSpPr/>
          <p:nvPr/>
        </p:nvSpPr>
        <p:spPr>
          <a:xfrm>
            <a:off x="8293472" y="113515"/>
            <a:ext cx="3664612" cy="3785652"/>
          </a:xfrm>
          <a:prstGeom prst="rect">
            <a:avLst/>
          </a:prstGeom>
          <a:solidFill>
            <a:schemeClr val="bg1">
              <a:lumMod val="95000"/>
            </a:schemeClr>
          </a:solidFill>
          <a:ln>
            <a:solidFill>
              <a:schemeClr val="tx1"/>
            </a:solidFill>
          </a:ln>
          <a:effectLst/>
        </p:spPr>
        <p:txBody>
          <a:bodyPr wrap="square">
            <a:spAutoFit/>
          </a:bodyPr>
          <a:lstStyle/>
          <a:p>
            <a:r>
              <a:rPr lang="sk-SK" sz="1200" dirty="0">
                <a:latin typeface="Consolas" panose="020B0609020204030204" pitchFamily="49" charset="0"/>
              </a:rPr>
              <a:t>router bgp 65000</a:t>
            </a:r>
          </a:p>
          <a:p>
            <a:r>
              <a:rPr lang="sk-SK" sz="1200" dirty="0">
                <a:latin typeface="Consolas" panose="020B0609020204030204" pitchFamily="49" charset="0"/>
              </a:rPr>
              <a:t> </a:t>
            </a:r>
            <a:r>
              <a:rPr lang="en-US" sz="1200" dirty="0">
                <a:latin typeface="Consolas" panose="020B0609020204030204" pitchFamily="49" charset="0"/>
              </a:rPr>
              <a:t>-- cut --</a:t>
            </a:r>
            <a:endParaRPr lang="sk-SK" sz="1200" dirty="0">
              <a:latin typeface="Consolas" panose="020B0609020204030204" pitchFamily="49" charset="0"/>
            </a:endParaRPr>
          </a:p>
          <a:p>
            <a:r>
              <a:rPr lang="sk-SK" sz="1200" dirty="0">
                <a:latin typeface="Consolas" panose="020B0609020204030204" pitchFamily="49" charset="0"/>
              </a:rPr>
              <a:t> !</a:t>
            </a:r>
          </a:p>
          <a:p>
            <a:r>
              <a:rPr lang="sk-SK" sz="1200" dirty="0">
                <a:latin typeface="Consolas" panose="020B0609020204030204" pitchFamily="49" charset="0"/>
              </a:rPr>
              <a:t> vrf A</a:t>
            </a:r>
          </a:p>
          <a:p>
            <a:r>
              <a:rPr lang="sk-SK" sz="1200" dirty="0">
                <a:latin typeface="Consolas" panose="020B0609020204030204" pitchFamily="49" charset="0"/>
              </a:rPr>
              <a:t>  bgp router-id 10.64.4.1</a:t>
            </a:r>
          </a:p>
          <a:p>
            <a:r>
              <a:rPr lang="sk-SK" sz="1200" dirty="0">
                <a:latin typeface="Consolas" panose="020B0609020204030204" pitchFamily="49" charset="0"/>
              </a:rPr>
              <a:t>  </a:t>
            </a:r>
            <a:r>
              <a:rPr lang="sk-SK" sz="1200" dirty="0" err="1">
                <a:highlight>
                  <a:srgbClr val="FFFF00"/>
                </a:highlight>
                <a:latin typeface="Consolas" panose="020B0609020204030204" pitchFamily="49" charset="0"/>
              </a:rPr>
              <a:t>address-family</a:t>
            </a:r>
            <a:r>
              <a:rPr lang="sk-SK" sz="1200" dirty="0">
                <a:highlight>
                  <a:srgbClr val="FFFF00"/>
                </a:highlight>
                <a:latin typeface="Consolas" panose="020B0609020204030204" pitchFamily="49" charset="0"/>
              </a:rPr>
              <a:t> </a:t>
            </a:r>
            <a:r>
              <a:rPr lang="sk-SK" sz="1200" dirty="0" err="1">
                <a:highlight>
                  <a:srgbClr val="FFFF00"/>
                </a:highlight>
                <a:latin typeface="Consolas" panose="020B0609020204030204" pitchFamily="49" charset="0"/>
              </a:rPr>
              <a:t>ipv4</a:t>
            </a:r>
            <a:r>
              <a:rPr lang="sk-SK" sz="1200" dirty="0">
                <a:highlight>
                  <a:srgbClr val="FFFF00"/>
                </a:highlight>
                <a:latin typeface="Consolas" panose="020B0609020204030204" pitchFamily="49" charset="0"/>
              </a:rPr>
              <a:t> </a:t>
            </a:r>
            <a:r>
              <a:rPr lang="sk-SK" sz="1200" dirty="0" err="1">
                <a:highlight>
                  <a:srgbClr val="FFFF00"/>
                </a:highlight>
                <a:latin typeface="Consolas" panose="020B0609020204030204" pitchFamily="49" charset="0"/>
              </a:rPr>
              <a:t>unicast</a:t>
            </a:r>
            <a:endParaRPr lang="sk-SK" sz="1200" dirty="0">
              <a:highlight>
                <a:srgbClr val="FFFF00"/>
              </a:highlight>
              <a:latin typeface="Consolas" panose="020B0609020204030204" pitchFamily="49" charset="0"/>
            </a:endParaRPr>
          </a:p>
          <a:p>
            <a:r>
              <a:rPr lang="sk-SK" sz="1200" dirty="0">
                <a:latin typeface="Consolas" panose="020B0609020204030204" pitchFamily="49" charset="0"/>
              </a:rPr>
              <a:t>   segment-routing </a:t>
            </a:r>
            <a:r>
              <a:rPr lang="sk-SK" sz="1200" dirty="0" err="1">
                <a:latin typeface="Consolas" panose="020B0609020204030204" pitchFamily="49" charset="0"/>
              </a:rPr>
              <a:t>srv6</a:t>
            </a:r>
            <a:endParaRPr lang="sk-SK" sz="1200" dirty="0">
              <a:latin typeface="Consolas" panose="020B0609020204030204" pitchFamily="49" charset="0"/>
            </a:endParaRPr>
          </a:p>
          <a:p>
            <a:r>
              <a:rPr lang="sk-SK" sz="1200" dirty="0">
                <a:latin typeface="Consolas" panose="020B0609020204030204" pitchFamily="49" charset="0"/>
              </a:rPr>
              <a:t>    </a:t>
            </a:r>
            <a:r>
              <a:rPr lang="sk-SK" sz="1200" dirty="0" err="1">
                <a:latin typeface="Consolas" panose="020B0609020204030204" pitchFamily="49" charset="0"/>
              </a:rPr>
              <a:t>locator</a:t>
            </a:r>
            <a:r>
              <a:rPr lang="sk-SK" sz="1200" dirty="0">
                <a:latin typeface="Consolas" panose="020B0609020204030204" pitchFamily="49" charset="0"/>
              </a:rPr>
              <a:t> </a:t>
            </a:r>
            <a:r>
              <a:rPr lang="sk-SK" sz="1200" dirty="0" err="1">
                <a:latin typeface="Consolas" panose="020B0609020204030204" pitchFamily="49" charset="0"/>
              </a:rPr>
              <a:t>MyFullLoc01</a:t>
            </a:r>
            <a:endParaRPr lang="sk-SK" sz="1200" dirty="0">
              <a:latin typeface="Consolas" panose="020B0609020204030204" pitchFamily="49" charset="0"/>
            </a:endParaRPr>
          </a:p>
          <a:p>
            <a:r>
              <a:rPr lang="sk-SK" sz="1200" dirty="0">
                <a:latin typeface="Consolas" panose="020B0609020204030204" pitchFamily="49" charset="0"/>
              </a:rPr>
              <a:t>    </a:t>
            </a:r>
            <a:r>
              <a:rPr lang="sk-SK" sz="1200" dirty="0" err="1">
                <a:highlight>
                  <a:srgbClr val="FFFF00"/>
                </a:highlight>
                <a:latin typeface="Consolas" panose="020B0609020204030204" pitchFamily="49" charset="0"/>
              </a:rPr>
              <a:t>alloc</a:t>
            </a:r>
            <a:r>
              <a:rPr lang="sk-SK" sz="1200" dirty="0">
                <a:highlight>
                  <a:srgbClr val="FFFF00"/>
                </a:highlight>
                <a:latin typeface="Consolas" panose="020B0609020204030204" pitchFamily="49" charset="0"/>
              </a:rPr>
              <a:t> </a:t>
            </a:r>
            <a:r>
              <a:rPr lang="sk-SK" sz="1200" dirty="0" err="1">
                <a:highlight>
                  <a:srgbClr val="FFFF00"/>
                </a:highlight>
                <a:latin typeface="Consolas" panose="020B0609020204030204" pitchFamily="49" charset="0"/>
              </a:rPr>
              <a:t>mode</a:t>
            </a:r>
            <a:r>
              <a:rPr lang="sk-SK" sz="1200" dirty="0">
                <a:highlight>
                  <a:srgbClr val="FFFF00"/>
                </a:highlight>
                <a:latin typeface="Consolas" panose="020B0609020204030204" pitchFamily="49" charset="0"/>
              </a:rPr>
              <a:t> </a:t>
            </a:r>
            <a:r>
              <a:rPr lang="sk-SK" sz="1200" b="1" dirty="0">
                <a:highlight>
                  <a:srgbClr val="FFFF00"/>
                </a:highlight>
                <a:latin typeface="Consolas" panose="020B0609020204030204" pitchFamily="49" charset="0"/>
              </a:rPr>
              <a:t>per-</a:t>
            </a:r>
            <a:r>
              <a:rPr lang="sk-SK" sz="1200" b="1" dirty="0" err="1">
                <a:highlight>
                  <a:srgbClr val="FFFF00"/>
                </a:highlight>
                <a:latin typeface="Consolas" panose="020B0609020204030204" pitchFamily="49" charset="0"/>
              </a:rPr>
              <a:t>ce</a:t>
            </a:r>
            <a:endParaRPr lang="sk-SK" sz="1200" b="1" dirty="0">
              <a:highlight>
                <a:srgbClr val="FFFF00"/>
              </a:highlight>
              <a:latin typeface="Consolas" panose="020B0609020204030204" pitchFamily="49" charset="0"/>
            </a:endParaRPr>
          </a:p>
          <a:p>
            <a:r>
              <a:rPr lang="sk-SK" sz="1200" dirty="0">
                <a:latin typeface="Consolas" panose="020B0609020204030204" pitchFamily="49" charset="0"/>
              </a:rPr>
              <a:t>   !</a:t>
            </a:r>
          </a:p>
          <a:p>
            <a:r>
              <a:rPr lang="sk-SK" sz="1200" dirty="0">
                <a:latin typeface="Consolas" panose="020B0609020204030204" pitchFamily="49" charset="0"/>
              </a:rPr>
              <a:t>   </a:t>
            </a:r>
            <a:r>
              <a:rPr lang="sk-SK" sz="1200" dirty="0" err="1">
                <a:latin typeface="Consolas" panose="020B0609020204030204" pitchFamily="49" charset="0"/>
              </a:rPr>
              <a:t>redistribute</a:t>
            </a:r>
            <a:r>
              <a:rPr lang="sk-SK" sz="1200" dirty="0">
                <a:latin typeface="Consolas" panose="020B0609020204030204" pitchFamily="49" charset="0"/>
              </a:rPr>
              <a:t> </a:t>
            </a:r>
            <a:r>
              <a:rPr lang="sk-SK" sz="1200" dirty="0" err="1">
                <a:latin typeface="Consolas" panose="020B0609020204030204" pitchFamily="49" charset="0"/>
              </a:rPr>
              <a:t>connected</a:t>
            </a:r>
            <a:endParaRPr lang="sk-SK" sz="1200" dirty="0">
              <a:latin typeface="Consolas" panose="020B0609020204030204" pitchFamily="49" charset="0"/>
            </a:endParaRPr>
          </a:p>
          <a:p>
            <a:r>
              <a:rPr lang="sk-SK" sz="1200" dirty="0">
                <a:latin typeface="Consolas" panose="020B0609020204030204" pitchFamily="49" charset="0"/>
              </a:rPr>
              <a:t>  !</a:t>
            </a:r>
          </a:p>
          <a:p>
            <a:r>
              <a:rPr lang="sk-SK" sz="1200" dirty="0">
                <a:latin typeface="Consolas" panose="020B0609020204030204" pitchFamily="49" charset="0"/>
              </a:rPr>
              <a:t>  </a:t>
            </a:r>
            <a:r>
              <a:rPr lang="sk-SK" sz="1200" dirty="0" err="1">
                <a:highlight>
                  <a:srgbClr val="00FFFF"/>
                </a:highlight>
                <a:latin typeface="Consolas" panose="020B0609020204030204" pitchFamily="49" charset="0"/>
              </a:rPr>
              <a:t>address-family</a:t>
            </a:r>
            <a:r>
              <a:rPr lang="sk-SK" sz="1200" dirty="0">
                <a:highlight>
                  <a:srgbClr val="00FFFF"/>
                </a:highlight>
                <a:latin typeface="Consolas" panose="020B0609020204030204" pitchFamily="49" charset="0"/>
              </a:rPr>
              <a:t> </a:t>
            </a:r>
            <a:r>
              <a:rPr lang="sk-SK" sz="1200" dirty="0" err="1">
                <a:highlight>
                  <a:srgbClr val="00FFFF"/>
                </a:highlight>
                <a:latin typeface="Consolas" panose="020B0609020204030204" pitchFamily="49" charset="0"/>
              </a:rPr>
              <a:t>ipv6</a:t>
            </a:r>
            <a:r>
              <a:rPr lang="sk-SK" sz="1200" dirty="0">
                <a:highlight>
                  <a:srgbClr val="00FFFF"/>
                </a:highlight>
                <a:latin typeface="Consolas" panose="020B0609020204030204" pitchFamily="49" charset="0"/>
              </a:rPr>
              <a:t> </a:t>
            </a:r>
            <a:r>
              <a:rPr lang="sk-SK" sz="1200" dirty="0" err="1">
                <a:highlight>
                  <a:srgbClr val="00FFFF"/>
                </a:highlight>
                <a:latin typeface="Consolas" panose="020B0609020204030204" pitchFamily="49" charset="0"/>
              </a:rPr>
              <a:t>unicast</a:t>
            </a:r>
            <a:endParaRPr lang="sk-SK" sz="1200" dirty="0">
              <a:highlight>
                <a:srgbClr val="00FFFF"/>
              </a:highlight>
              <a:latin typeface="Consolas" panose="020B0609020204030204" pitchFamily="49" charset="0"/>
            </a:endParaRPr>
          </a:p>
          <a:p>
            <a:r>
              <a:rPr lang="sk-SK" sz="1200" dirty="0">
                <a:latin typeface="Consolas" panose="020B0609020204030204" pitchFamily="49" charset="0"/>
              </a:rPr>
              <a:t>   segment-routing </a:t>
            </a:r>
            <a:r>
              <a:rPr lang="sk-SK" sz="1200" dirty="0" err="1">
                <a:latin typeface="Consolas" panose="020B0609020204030204" pitchFamily="49" charset="0"/>
              </a:rPr>
              <a:t>srv6</a:t>
            </a:r>
            <a:endParaRPr lang="sk-SK" sz="1200" dirty="0">
              <a:latin typeface="Consolas" panose="020B0609020204030204" pitchFamily="49" charset="0"/>
            </a:endParaRPr>
          </a:p>
          <a:p>
            <a:r>
              <a:rPr lang="sk-SK" sz="1200" dirty="0">
                <a:latin typeface="Consolas" panose="020B0609020204030204" pitchFamily="49" charset="0"/>
              </a:rPr>
              <a:t>    </a:t>
            </a:r>
            <a:r>
              <a:rPr lang="sk-SK" sz="1200" dirty="0" err="1">
                <a:latin typeface="Consolas" panose="020B0609020204030204" pitchFamily="49" charset="0"/>
              </a:rPr>
              <a:t>locator</a:t>
            </a:r>
            <a:r>
              <a:rPr lang="sk-SK" sz="1200" dirty="0">
                <a:latin typeface="Consolas" panose="020B0609020204030204" pitchFamily="49" charset="0"/>
              </a:rPr>
              <a:t> </a:t>
            </a:r>
            <a:r>
              <a:rPr lang="sk-SK" sz="1200" dirty="0" err="1">
                <a:latin typeface="Consolas" panose="020B0609020204030204" pitchFamily="49" charset="0"/>
              </a:rPr>
              <a:t>MyFullLoc01</a:t>
            </a:r>
            <a:endParaRPr lang="sk-SK" sz="1200" dirty="0">
              <a:latin typeface="Consolas" panose="020B0609020204030204" pitchFamily="49" charset="0"/>
            </a:endParaRPr>
          </a:p>
          <a:p>
            <a:r>
              <a:rPr lang="sk-SK" sz="1200" dirty="0">
                <a:latin typeface="Consolas" panose="020B0609020204030204" pitchFamily="49" charset="0"/>
              </a:rPr>
              <a:t>    </a:t>
            </a:r>
            <a:r>
              <a:rPr lang="sk-SK" sz="1200" dirty="0" err="1">
                <a:highlight>
                  <a:srgbClr val="00FFFF"/>
                </a:highlight>
                <a:latin typeface="Consolas" panose="020B0609020204030204" pitchFamily="49" charset="0"/>
              </a:rPr>
              <a:t>alloc</a:t>
            </a:r>
            <a:r>
              <a:rPr lang="sk-SK" sz="1200" dirty="0">
                <a:highlight>
                  <a:srgbClr val="00FFFF"/>
                </a:highlight>
                <a:latin typeface="Consolas" panose="020B0609020204030204" pitchFamily="49" charset="0"/>
              </a:rPr>
              <a:t> </a:t>
            </a:r>
            <a:r>
              <a:rPr lang="sk-SK" sz="1200" dirty="0" err="1">
                <a:highlight>
                  <a:srgbClr val="00FFFF"/>
                </a:highlight>
                <a:latin typeface="Consolas" panose="020B0609020204030204" pitchFamily="49" charset="0"/>
              </a:rPr>
              <a:t>mode</a:t>
            </a:r>
            <a:r>
              <a:rPr lang="sk-SK" sz="1200" dirty="0">
                <a:highlight>
                  <a:srgbClr val="00FFFF"/>
                </a:highlight>
                <a:latin typeface="Consolas" panose="020B0609020204030204" pitchFamily="49" charset="0"/>
              </a:rPr>
              <a:t> </a:t>
            </a:r>
            <a:r>
              <a:rPr lang="sk-SK" sz="1200" b="1" dirty="0">
                <a:highlight>
                  <a:srgbClr val="00FFFF"/>
                </a:highlight>
                <a:latin typeface="Consolas" panose="020B0609020204030204" pitchFamily="49" charset="0"/>
              </a:rPr>
              <a:t>per-</a:t>
            </a:r>
            <a:r>
              <a:rPr lang="sk-SK" sz="1200" b="1" dirty="0" err="1">
                <a:highlight>
                  <a:srgbClr val="00FFFF"/>
                </a:highlight>
                <a:latin typeface="Consolas" panose="020B0609020204030204" pitchFamily="49" charset="0"/>
              </a:rPr>
              <a:t>ce</a:t>
            </a:r>
            <a:endParaRPr lang="sk-SK" sz="1200" b="1" dirty="0">
              <a:highlight>
                <a:srgbClr val="00FFFF"/>
              </a:highlight>
              <a:latin typeface="Consolas" panose="020B0609020204030204" pitchFamily="49" charset="0"/>
            </a:endParaRPr>
          </a:p>
          <a:p>
            <a:r>
              <a:rPr lang="sk-SK" sz="1200" dirty="0">
                <a:latin typeface="Consolas" panose="020B0609020204030204" pitchFamily="49" charset="0"/>
              </a:rPr>
              <a:t>   !</a:t>
            </a:r>
          </a:p>
          <a:p>
            <a:r>
              <a:rPr lang="sk-SK" sz="1200" dirty="0">
                <a:latin typeface="Consolas" panose="020B0609020204030204" pitchFamily="49" charset="0"/>
              </a:rPr>
              <a:t>   </a:t>
            </a:r>
            <a:r>
              <a:rPr lang="sk-SK" sz="1200" dirty="0" err="1">
                <a:latin typeface="Consolas" panose="020B0609020204030204" pitchFamily="49" charset="0"/>
              </a:rPr>
              <a:t>redistribute</a:t>
            </a:r>
            <a:r>
              <a:rPr lang="sk-SK" sz="1200" dirty="0">
                <a:latin typeface="Consolas" panose="020B0609020204030204" pitchFamily="49" charset="0"/>
              </a:rPr>
              <a:t> </a:t>
            </a:r>
            <a:r>
              <a:rPr lang="sk-SK" sz="1200" dirty="0" err="1">
                <a:latin typeface="Consolas" panose="020B0609020204030204" pitchFamily="49" charset="0"/>
              </a:rPr>
              <a:t>connected</a:t>
            </a:r>
            <a:endParaRPr lang="sk-SK" sz="1200" dirty="0">
              <a:latin typeface="Consolas" panose="020B0609020204030204" pitchFamily="49" charset="0"/>
            </a:endParaRPr>
          </a:p>
          <a:p>
            <a:r>
              <a:rPr lang="sk-SK" sz="1200" dirty="0">
                <a:latin typeface="Consolas" panose="020B0609020204030204" pitchFamily="49" charset="0"/>
              </a:rPr>
              <a:t>  !</a:t>
            </a:r>
            <a:endParaRPr lang="en-US" sz="1200" dirty="0">
              <a:latin typeface="Consolas" panose="020B0609020204030204" pitchFamily="49" charset="0"/>
            </a:endParaRPr>
          </a:p>
          <a:p>
            <a:r>
              <a:rPr lang="sk-SK" sz="1200" dirty="0">
                <a:latin typeface="Consolas" panose="020B0609020204030204" pitchFamily="49" charset="0"/>
              </a:rPr>
              <a:t>  </a:t>
            </a:r>
            <a:r>
              <a:rPr lang="en-US" sz="1200" dirty="0">
                <a:latin typeface="Consolas" panose="020B0609020204030204" pitchFamily="49" charset="0"/>
              </a:rPr>
              <a:t>-- cut --</a:t>
            </a:r>
            <a:endParaRPr lang="sk-SK" sz="1200" dirty="0">
              <a:solidFill>
                <a:srgbClr val="FF0000"/>
              </a:solidFill>
              <a:latin typeface="Consolas" panose="020B0609020204030204" pitchFamily="49" charset="0"/>
            </a:endParaRPr>
          </a:p>
        </p:txBody>
      </p:sp>
      <p:sp>
        <p:nvSpPr>
          <p:cNvPr id="8" name="Rectangle 7">
            <a:extLst>
              <a:ext uri="{FF2B5EF4-FFF2-40B4-BE49-F238E27FC236}">
                <a16:creationId xmlns:a16="http://schemas.microsoft.com/office/drawing/2014/main" id="{7F29AD4C-F1F0-AFE5-2414-2CB7E7B30B61}"/>
              </a:ext>
            </a:extLst>
          </p:cNvPr>
          <p:cNvSpPr/>
          <p:nvPr/>
        </p:nvSpPr>
        <p:spPr>
          <a:xfrm>
            <a:off x="726596" y="3976097"/>
            <a:ext cx="9633098" cy="2862322"/>
          </a:xfrm>
          <a:prstGeom prst="rect">
            <a:avLst/>
          </a:prstGeom>
          <a:solidFill>
            <a:schemeClr val="bg1">
              <a:lumMod val="95000"/>
            </a:schemeClr>
          </a:solidFill>
          <a:ln>
            <a:solidFill>
              <a:schemeClr val="tx1"/>
            </a:solidFill>
          </a:ln>
          <a:effectLst/>
        </p:spPr>
        <p:txBody>
          <a:bodyPr wrap="square">
            <a:spAutoFit/>
          </a:bodyPr>
          <a:lstStyle/>
          <a:p>
            <a:r>
              <a:rPr lang="sk-SK" sz="1200" dirty="0">
                <a:latin typeface="Consolas" panose="020B0609020204030204" pitchFamily="49" charset="0"/>
              </a:rPr>
              <a:t>RP/0/RP0/</a:t>
            </a:r>
            <a:r>
              <a:rPr lang="sk-SK" sz="1200" dirty="0" err="1">
                <a:latin typeface="Consolas" panose="020B0609020204030204" pitchFamily="49" charset="0"/>
              </a:rPr>
              <a:t>CPU0:R04#sh</a:t>
            </a:r>
            <a:r>
              <a:rPr lang="sk-SK" sz="1200" dirty="0">
                <a:latin typeface="Consolas" panose="020B0609020204030204" pitchFamily="49" charset="0"/>
              </a:rPr>
              <a:t> segment-routing </a:t>
            </a:r>
            <a:r>
              <a:rPr lang="sk-SK" sz="1200" dirty="0" err="1">
                <a:latin typeface="Consolas" panose="020B0609020204030204" pitchFamily="49" charset="0"/>
              </a:rPr>
              <a:t>srv6</a:t>
            </a:r>
            <a:r>
              <a:rPr lang="sk-SK" sz="1200" dirty="0">
                <a:latin typeface="Consolas" panose="020B0609020204030204" pitchFamily="49" charset="0"/>
              </a:rPr>
              <a:t> </a:t>
            </a:r>
            <a:r>
              <a:rPr lang="sk-SK" sz="1200" dirty="0" err="1">
                <a:latin typeface="Consolas" panose="020B0609020204030204" pitchFamily="49" charset="0"/>
              </a:rPr>
              <a:t>sid</a:t>
            </a:r>
            <a:r>
              <a:rPr lang="sk-SK" sz="1200" dirty="0">
                <a:latin typeface="Consolas" panose="020B0609020204030204" pitchFamily="49" charset="0"/>
              </a:rPr>
              <a:t> </a:t>
            </a:r>
            <a:r>
              <a:rPr lang="sk-SK" sz="1200" dirty="0" err="1">
                <a:latin typeface="Consolas" panose="020B0609020204030204" pitchFamily="49" charset="0"/>
              </a:rPr>
              <a:t>all</a:t>
            </a:r>
            <a:endParaRPr lang="sk-SK" sz="1200" dirty="0">
              <a:latin typeface="Consolas" panose="020B0609020204030204" pitchFamily="49" charset="0"/>
            </a:endParaRPr>
          </a:p>
          <a:p>
            <a:r>
              <a:rPr lang="sk-SK" sz="1200" dirty="0" err="1">
                <a:latin typeface="Consolas" panose="020B0609020204030204" pitchFamily="49" charset="0"/>
              </a:rPr>
              <a:t>Mon</a:t>
            </a:r>
            <a:r>
              <a:rPr lang="sk-SK" sz="1200" dirty="0">
                <a:latin typeface="Consolas" panose="020B0609020204030204" pitchFamily="49" charset="0"/>
              </a:rPr>
              <a:t> May 12 09:03:01.863 </a:t>
            </a:r>
            <a:r>
              <a:rPr lang="sk-SK" sz="1200" dirty="0" err="1">
                <a:latin typeface="Consolas" panose="020B0609020204030204" pitchFamily="49" charset="0"/>
              </a:rPr>
              <a:t>UTC</a:t>
            </a:r>
            <a:endParaRPr lang="sk-SK" sz="1200" dirty="0">
              <a:latin typeface="Consolas" panose="020B0609020204030204" pitchFamily="49" charset="0"/>
            </a:endParaRPr>
          </a:p>
          <a:p>
            <a:endParaRPr lang="sk-SK" sz="1200" dirty="0">
              <a:latin typeface="Consolas" panose="020B0609020204030204" pitchFamily="49" charset="0"/>
            </a:endParaRPr>
          </a:p>
          <a:p>
            <a:r>
              <a:rPr lang="sk-SK" sz="1200" dirty="0">
                <a:latin typeface="Consolas" panose="020B0609020204030204" pitchFamily="49" charset="0"/>
              </a:rPr>
              <a:t>*** </a:t>
            </a:r>
            <a:r>
              <a:rPr lang="sk-SK" sz="1200" dirty="0" err="1">
                <a:latin typeface="Consolas" panose="020B0609020204030204" pitchFamily="49" charset="0"/>
              </a:rPr>
              <a:t>Locator</a:t>
            </a:r>
            <a:r>
              <a:rPr lang="sk-SK" sz="1200" dirty="0">
                <a:latin typeface="Consolas" panose="020B0609020204030204" pitchFamily="49" charset="0"/>
              </a:rPr>
              <a:t>: '</a:t>
            </a:r>
            <a:r>
              <a:rPr lang="sk-SK" sz="1200" dirty="0" err="1">
                <a:latin typeface="Consolas" panose="020B0609020204030204" pitchFamily="49" charset="0"/>
              </a:rPr>
              <a:t>MyFullLoc01</a:t>
            </a:r>
            <a:r>
              <a:rPr lang="sk-SK" sz="1200" dirty="0">
                <a:latin typeface="Consolas" panose="020B0609020204030204" pitchFamily="49" charset="0"/>
              </a:rPr>
              <a:t>' *** </a:t>
            </a:r>
          </a:p>
          <a:p>
            <a:endParaRPr lang="sk-SK" sz="1200" dirty="0">
              <a:latin typeface="Consolas" panose="020B0609020204030204" pitchFamily="49" charset="0"/>
            </a:endParaRPr>
          </a:p>
          <a:p>
            <a:r>
              <a:rPr lang="sk-SK" sz="1200" dirty="0" err="1">
                <a:latin typeface="Consolas" panose="020B0609020204030204" pitchFamily="49" charset="0"/>
              </a:rPr>
              <a:t>SID</a:t>
            </a:r>
            <a:r>
              <a:rPr lang="sk-SK" sz="1200" dirty="0">
                <a:latin typeface="Consolas" panose="020B0609020204030204" pitchFamily="49" charset="0"/>
              </a:rPr>
              <a:t>                         </a:t>
            </a:r>
            <a:r>
              <a:rPr lang="sk-SK" sz="1200" dirty="0" err="1">
                <a:latin typeface="Consolas" panose="020B0609020204030204" pitchFamily="49" charset="0"/>
              </a:rPr>
              <a:t>Behavior</a:t>
            </a:r>
            <a:r>
              <a:rPr lang="sk-SK" sz="1200" dirty="0">
                <a:latin typeface="Consolas" panose="020B0609020204030204" pitchFamily="49" charset="0"/>
              </a:rPr>
              <a:t>          </a:t>
            </a:r>
            <a:r>
              <a:rPr lang="sk-SK" sz="1200" dirty="0" err="1">
                <a:latin typeface="Consolas" panose="020B0609020204030204" pitchFamily="49" charset="0"/>
              </a:rPr>
              <a:t>Context</a:t>
            </a:r>
            <a:r>
              <a:rPr lang="sk-SK" sz="1200" dirty="0">
                <a:latin typeface="Consolas" panose="020B0609020204030204" pitchFamily="49" charset="0"/>
              </a:rPr>
              <a:t>                           </a:t>
            </a:r>
            <a:r>
              <a:rPr lang="sk-SK" sz="1200" dirty="0" err="1">
                <a:latin typeface="Consolas" panose="020B0609020204030204" pitchFamily="49" charset="0"/>
              </a:rPr>
              <a:t>Owner</a:t>
            </a:r>
            <a:r>
              <a:rPr lang="sk-SK" sz="1200" dirty="0">
                <a:latin typeface="Consolas" panose="020B0609020204030204" pitchFamily="49" charset="0"/>
              </a:rPr>
              <a:t>               State  </a:t>
            </a:r>
            <a:r>
              <a:rPr lang="sk-SK" sz="1200" dirty="0" err="1">
                <a:latin typeface="Consolas" panose="020B0609020204030204" pitchFamily="49" charset="0"/>
              </a:rPr>
              <a:t>RW</a:t>
            </a:r>
            <a:endParaRPr lang="sk-SK" sz="1200" dirty="0">
              <a:latin typeface="Consolas" panose="020B0609020204030204" pitchFamily="49" charset="0"/>
            </a:endParaRPr>
          </a:p>
          <a:p>
            <a:r>
              <a:rPr lang="sk-SK" sz="1200" dirty="0">
                <a:latin typeface="Consolas" panose="020B0609020204030204" pitchFamily="49" charset="0"/>
              </a:rPr>
              <a:t>--------------------------  ----------------  --------------------------------  ------------------  -----  --</a:t>
            </a:r>
          </a:p>
          <a:p>
            <a:r>
              <a:rPr lang="sk-SK" sz="1200" dirty="0" err="1">
                <a:latin typeface="Consolas" panose="020B0609020204030204" pitchFamily="49" charset="0"/>
              </a:rPr>
              <a:t>fc00:ab00:4:0:1</a:t>
            </a:r>
            <a:r>
              <a:rPr lang="sk-SK" sz="1200" dirty="0">
                <a:latin typeface="Consolas" panose="020B0609020204030204" pitchFamily="49" charset="0"/>
              </a:rPr>
              <a:t>::           End (</a:t>
            </a:r>
            <a:r>
              <a:rPr lang="sk-SK" sz="1200" dirty="0" err="1">
                <a:latin typeface="Consolas" panose="020B0609020204030204" pitchFamily="49" charset="0"/>
              </a:rPr>
              <a:t>PSP</a:t>
            </a:r>
            <a:r>
              <a:rPr lang="sk-SK" sz="1200" dirty="0">
                <a:latin typeface="Consolas" panose="020B0609020204030204" pitchFamily="49" charset="0"/>
              </a:rPr>
              <a:t>/USD)     '</a:t>
            </a:r>
            <a:r>
              <a:rPr lang="sk-SK" sz="1200" dirty="0" err="1">
                <a:latin typeface="Consolas" panose="020B0609020204030204" pitchFamily="49" charset="0"/>
              </a:rPr>
              <a:t>default':1</a:t>
            </a:r>
            <a:r>
              <a:rPr lang="sk-SK" sz="1200" dirty="0">
                <a:latin typeface="Consolas" panose="020B0609020204030204" pitchFamily="49" charset="0"/>
              </a:rPr>
              <a:t>                       </a:t>
            </a:r>
            <a:r>
              <a:rPr lang="sk-SK" sz="1200" dirty="0" err="1">
                <a:latin typeface="Consolas" panose="020B0609020204030204" pitchFamily="49" charset="0"/>
              </a:rPr>
              <a:t>sidmgr</a:t>
            </a:r>
            <a:r>
              <a:rPr lang="sk-SK" sz="1200" dirty="0">
                <a:latin typeface="Consolas" panose="020B0609020204030204" pitchFamily="49" charset="0"/>
              </a:rPr>
              <a:t>              </a:t>
            </a:r>
            <a:r>
              <a:rPr lang="sk-SK" sz="1200" dirty="0" err="1">
                <a:latin typeface="Consolas" panose="020B0609020204030204" pitchFamily="49" charset="0"/>
              </a:rPr>
              <a:t>InUse</a:t>
            </a:r>
            <a:r>
              <a:rPr lang="sk-SK" sz="1200" dirty="0">
                <a:latin typeface="Consolas" panose="020B0609020204030204" pitchFamily="49" charset="0"/>
              </a:rPr>
              <a:t>  Y </a:t>
            </a:r>
          </a:p>
          <a:p>
            <a:r>
              <a:rPr lang="sk-SK" sz="1200" dirty="0" err="1">
                <a:latin typeface="Consolas" panose="020B0609020204030204" pitchFamily="49" charset="0"/>
              </a:rPr>
              <a:t>fc00:ab00:4:0:40</a:t>
            </a:r>
            <a:r>
              <a:rPr lang="sk-SK" sz="1200" dirty="0">
                <a:latin typeface="Consolas" panose="020B0609020204030204" pitchFamily="49" charset="0"/>
              </a:rPr>
              <a:t>::          </a:t>
            </a:r>
            <a:r>
              <a:rPr lang="sk-SK" sz="1200" dirty="0" err="1">
                <a:latin typeface="Consolas" panose="020B0609020204030204" pitchFamily="49" charset="0"/>
              </a:rPr>
              <a:t>End.X</a:t>
            </a:r>
            <a:r>
              <a:rPr lang="sk-SK" sz="1200" dirty="0">
                <a:latin typeface="Consolas" panose="020B0609020204030204" pitchFamily="49" charset="0"/>
              </a:rPr>
              <a:t> (</a:t>
            </a:r>
            <a:r>
              <a:rPr lang="sk-SK" sz="1200" dirty="0" err="1">
                <a:latin typeface="Consolas" panose="020B0609020204030204" pitchFamily="49" charset="0"/>
              </a:rPr>
              <a:t>PSP</a:t>
            </a:r>
            <a:r>
              <a:rPr lang="sk-SK" sz="1200" dirty="0">
                <a:latin typeface="Consolas" panose="020B0609020204030204" pitchFamily="49" charset="0"/>
              </a:rPr>
              <a:t>/USD)   [Gi0/0/0/3, </a:t>
            </a:r>
            <a:r>
              <a:rPr lang="sk-SK" sz="1200" dirty="0" err="1">
                <a:latin typeface="Consolas" panose="020B0609020204030204" pitchFamily="49" charset="0"/>
              </a:rPr>
              <a:t>Link-Local</a:t>
            </a:r>
            <a:r>
              <a:rPr lang="sk-SK" sz="1200" dirty="0">
                <a:latin typeface="Consolas" panose="020B0609020204030204" pitchFamily="49" charset="0"/>
              </a:rPr>
              <a:t>]           </a:t>
            </a:r>
            <a:r>
              <a:rPr lang="sk-SK" sz="1200" dirty="0" err="1">
                <a:latin typeface="Consolas" panose="020B0609020204030204" pitchFamily="49" charset="0"/>
              </a:rPr>
              <a:t>isis</a:t>
            </a:r>
            <a:r>
              <a:rPr lang="sk-SK" sz="1200" dirty="0">
                <a:latin typeface="Consolas" panose="020B0609020204030204" pitchFamily="49" charset="0"/>
              </a:rPr>
              <a:t>-1              </a:t>
            </a:r>
            <a:r>
              <a:rPr lang="sk-SK" sz="1200" dirty="0" err="1">
                <a:latin typeface="Consolas" panose="020B0609020204030204" pitchFamily="49" charset="0"/>
              </a:rPr>
              <a:t>InUse</a:t>
            </a:r>
            <a:r>
              <a:rPr lang="sk-SK" sz="1200" dirty="0">
                <a:latin typeface="Consolas" panose="020B0609020204030204" pitchFamily="49" charset="0"/>
              </a:rPr>
              <a:t>  Y </a:t>
            </a:r>
          </a:p>
          <a:p>
            <a:r>
              <a:rPr lang="sk-SK" sz="1200" dirty="0" err="1">
                <a:latin typeface="Consolas" panose="020B0609020204030204" pitchFamily="49" charset="0"/>
              </a:rPr>
              <a:t>fc00:ab00:4:0:41</a:t>
            </a:r>
            <a:r>
              <a:rPr lang="sk-SK" sz="1200" dirty="0">
                <a:latin typeface="Consolas" panose="020B0609020204030204" pitchFamily="49" charset="0"/>
              </a:rPr>
              <a:t>::          </a:t>
            </a:r>
            <a:r>
              <a:rPr lang="sk-SK" sz="1200" dirty="0" err="1">
                <a:latin typeface="Consolas" panose="020B0609020204030204" pitchFamily="49" charset="0"/>
              </a:rPr>
              <a:t>End.X</a:t>
            </a:r>
            <a:r>
              <a:rPr lang="sk-SK" sz="1200" dirty="0">
                <a:latin typeface="Consolas" panose="020B0609020204030204" pitchFamily="49" charset="0"/>
              </a:rPr>
              <a:t> (</a:t>
            </a:r>
            <a:r>
              <a:rPr lang="sk-SK" sz="1200" dirty="0" err="1">
                <a:latin typeface="Consolas" panose="020B0609020204030204" pitchFamily="49" charset="0"/>
              </a:rPr>
              <a:t>PSP</a:t>
            </a:r>
            <a:r>
              <a:rPr lang="sk-SK" sz="1200" dirty="0">
                <a:latin typeface="Consolas" panose="020B0609020204030204" pitchFamily="49" charset="0"/>
              </a:rPr>
              <a:t>/USD)   [Gi0/0/0/4, </a:t>
            </a:r>
            <a:r>
              <a:rPr lang="sk-SK" sz="1200" dirty="0" err="1">
                <a:latin typeface="Consolas" panose="020B0609020204030204" pitchFamily="49" charset="0"/>
              </a:rPr>
              <a:t>Link-Local</a:t>
            </a:r>
            <a:r>
              <a:rPr lang="sk-SK" sz="1200" dirty="0">
                <a:latin typeface="Consolas" panose="020B0609020204030204" pitchFamily="49" charset="0"/>
              </a:rPr>
              <a:t>]           </a:t>
            </a:r>
            <a:r>
              <a:rPr lang="sk-SK" sz="1200" dirty="0" err="1">
                <a:latin typeface="Consolas" panose="020B0609020204030204" pitchFamily="49" charset="0"/>
              </a:rPr>
              <a:t>isis</a:t>
            </a:r>
            <a:r>
              <a:rPr lang="sk-SK" sz="1200" dirty="0">
                <a:latin typeface="Consolas" panose="020B0609020204030204" pitchFamily="49" charset="0"/>
              </a:rPr>
              <a:t>-1              </a:t>
            </a:r>
            <a:r>
              <a:rPr lang="sk-SK" sz="1200" dirty="0" err="1">
                <a:latin typeface="Consolas" panose="020B0609020204030204" pitchFamily="49" charset="0"/>
              </a:rPr>
              <a:t>InUse</a:t>
            </a:r>
            <a:r>
              <a:rPr lang="sk-SK" sz="1200" dirty="0">
                <a:latin typeface="Consolas" panose="020B0609020204030204" pitchFamily="49" charset="0"/>
              </a:rPr>
              <a:t>  Y </a:t>
            </a:r>
          </a:p>
          <a:p>
            <a:r>
              <a:rPr lang="sk-SK" sz="1200" dirty="0" err="1">
                <a:highlight>
                  <a:srgbClr val="FFFF00"/>
                </a:highlight>
                <a:latin typeface="Consolas" panose="020B0609020204030204" pitchFamily="49" charset="0"/>
              </a:rPr>
              <a:t>fc00:ab00:4:0:42</a:t>
            </a:r>
            <a:r>
              <a:rPr lang="sk-SK" sz="1200" dirty="0">
                <a:highlight>
                  <a:srgbClr val="FFFF00"/>
                </a:highlight>
                <a:latin typeface="Consolas" panose="020B0609020204030204" pitchFamily="49" charset="0"/>
              </a:rPr>
              <a:t>::          </a:t>
            </a:r>
            <a:r>
              <a:rPr lang="sk-SK" sz="1200" dirty="0" err="1">
                <a:highlight>
                  <a:srgbClr val="FFFF00"/>
                </a:highlight>
                <a:latin typeface="Consolas" panose="020B0609020204030204" pitchFamily="49" charset="0"/>
              </a:rPr>
              <a:t>End.DX4</a:t>
            </a:r>
            <a:r>
              <a:rPr lang="sk-SK" sz="1200" dirty="0">
                <a:highlight>
                  <a:srgbClr val="FFFF00"/>
                </a:highlight>
                <a:latin typeface="Consolas" panose="020B0609020204030204" pitchFamily="49" charset="0"/>
              </a:rPr>
              <a:t>           '</a:t>
            </a:r>
            <a:r>
              <a:rPr lang="sk-SK" sz="1200" dirty="0" err="1">
                <a:highlight>
                  <a:srgbClr val="FFFF00"/>
                </a:highlight>
                <a:latin typeface="Consolas" panose="020B0609020204030204" pitchFamily="49" charset="0"/>
              </a:rPr>
              <a:t>A':1</a:t>
            </a:r>
            <a:r>
              <a:rPr lang="sk-SK" sz="1200" dirty="0">
                <a:highlight>
                  <a:srgbClr val="FFFF00"/>
                </a:highlight>
                <a:latin typeface="Consolas" panose="020B0609020204030204" pitchFamily="49" charset="0"/>
              </a:rPr>
              <a:t>                             bgp-65000           </a:t>
            </a:r>
            <a:r>
              <a:rPr lang="sk-SK" sz="1200" dirty="0" err="1">
                <a:highlight>
                  <a:srgbClr val="FFFF00"/>
                </a:highlight>
                <a:latin typeface="Consolas" panose="020B0609020204030204" pitchFamily="49" charset="0"/>
              </a:rPr>
              <a:t>InUse</a:t>
            </a:r>
            <a:r>
              <a:rPr lang="sk-SK" sz="1200" dirty="0">
                <a:highlight>
                  <a:srgbClr val="FFFF00"/>
                </a:highlight>
                <a:latin typeface="Consolas" panose="020B0609020204030204" pitchFamily="49" charset="0"/>
              </a:rPr>
              <a:t>  Y </a:t>
            </a:r>
          </a:p>
          <a:p>
            <a:r>
              <a:rPr lang="sk-SK" sz="1200" dirty="0" err="1">
                <a:highlight>
                  <a:srgbClr val="FFFF00"/>
                </a:highlight>
                <a:latin typeface="Consolas" panose="020B0609020204030204" pitchFamily="49" charset="0"/>
              </a:rPr>
              <a:t>fc00:ab00:4:0:43</a:t>
            </a:r>
            <a:r>
              <a:rPr lang="sk-SK" sz="1200" dirty="0">
                <a:highlight>
                  <a:srgbClr val="FFFF00"/>
                </a:highlight>
                <a:latin typeface="Consolas" panose="020B0609020204030204" pitchFamily="49" charset="0"/>
              </a:rPr>
              <a:t>::          </a:t>
            </a:r>
            <a:r>
              <a:rPr lang="sk-SK" sz="1200" dirty="0" err="1">
                <a:highlight>
                  <a:srgbClr val="FFFF00"/>
                </a:highlight>
                <a:latin typeface="Consolas" panose="020B0609020204030204" pitchFamily="49" charset="0"/>
              </a:rPr>
              <a:t>End.DT4</a:t>
            </a:r>
            <a:r>
              <a:rPr lang="sk-SK" sz="1200" dirty="0">
                <a:highlight>
                  <a:srgbClr val="FFFF00"/>
                </a:highlight>
                <a:latin typeface="Consolas" panose="020B0609020204030204" pitchFamily="49" charset="0"/>
              </a:rPr>
              <a:t>           'A'                               bgp-65000           </a:t>
            </a:r>
            <a:r>
              <a:rPr lang="sk-SK" sz="1200" dirty="0" err="1">
                <a:highlight>
                  <a:srgbClr val="FFFF00"/>
                </a:highlight>
                <a:latin typeface="Consolas" panose="020B0609020204030204" pitchFamily="49" charset="0"/>
              </a:rPr>
              <a:t>InUse</a:t>
            </a:r>
            <a:r>
              <a:rPr lang="sk-SK" sz="1200" dirty="0">
                <a:highlight>
                  <a:srgbClr val="FFFF00"/>
                </a:highlight>
                <a:latin typeface="Consolas" panose="020B0609020204030204" pitchFamily="49" charset="0"/>
              </a:rPr>
              <a:t>  Y </a:t>
            </a:r>
          </a:p>
          <a:p>
            <a:r>
              <a:rPr lang="sk-SK" sz="1200" dirty="0" err="1">
                <a:highlight>
                  <a:srgbClr val="00FFFF"/>
                </a:highlight>
                <a:latin typeface="Consolas" panose="020B0609020204030204" pitchFamily="49" charset="0"/>
              </a:rPr>
              <a:t>fc00:ab00:4:0:44</a:t>
            </a:r>
            <a:r>
              <a:rPr lang="sk-SK" sz="1200" dirty="0">
                <a:highlight>
                  <a:srgbClr val="00FFFF"/>
                </a:highlight>
                <a:latin typeface="Consolas" panose="020B0609020204030204" pitchFamily="49" charset="0"/>
              </a:rPr>
              <a:t>::          </a:t>
            </a:r>
            <a:r>
              <a:rPr lang="sk-SK" sz="1200" dirty="0" err="1">
                <a:highlight>
                  <a:srgbClr val="00FFFF"/>
                </a:highlight>
                <a:latin typeface="Consolas" panose="020B0609020204030204" pitchFamily="49" charset="0"/>
              </a:rPr>
              <a:t>End.DT6</a:t>
            </a:r>
            <a:r>
              <a:rPr lang="sk-SK" sz="1200" dirty="0">
                <a:highlight>
                  <a:srgbClr val="00FFFF"/>
                </a:highlight>
                <a:latin typeface="Consolas" panose="020B0609020204030204" pitchFamily="49" charset="0"/>
              </a:rPr>
              <a:t>           'A'                               bgp-65000           </a:t>
            </a:r>
            <a:r>
              <a:rPr lang="sk-SK" sz="1200" dirty="0" err="1">
                <a:highlight>
                  <a:srgbClr val="00FFFF"/>
                </a:highlight>
                <a:latin typeface="Consolas" panose="020B0609020204030204" pitchFamily="49" charset="0"/>
              </a:rPr>
              <a:t>InUse</a:t>
            </a:r>
            <a:r>
              <a:rPr lang="sk-SK" sz="1200" dirty="0">
                <a:highlight>
                  <a:srgbClr val="00FFFF"/>
                </a:highlight>
                <a:latin typeface="Consolas" panose="020B0609020204030204" pitchFamily="49" charset="0"/>
              </a:rPr>
              <a:t>  Y </a:t>
            </a:r>
          </a:p>
          <a:p>
            <a:r>
              <a:rPr lang="sk-SK" sz="1200" dirty="0" err="1">
                <a:highlight>
                  <a:srgbClr val="00FFFF"/>
                </a:highlight>
                <a:latin typeface="Consolas" panose="020B0609020204030204" pitchFamily="49" charset="0"/>
              </a:rPr>
              <a:t>fc00:ab00:4:0:45</a:t>
            </a:r>
            <a:r>
              <a:rPr lang="sk-SK" sz="1200" dirty="0">
                <a:highlight>
                  <a:srgbClr val="00FFFF"/>
                </a:highlight>
                <a:latin typeface="Consolas" panose="020B0609020204030204" pitchFamily="49" charset="0"/>
              </a:rPr>
              <a:t>::          </a:t>
            </a:r>
            <a:r>
              <a:rPr lang="sk-SK" sz="1200" dirty="0" err="1">
                <a:highlight>
                  <a:srgbClr val="00FFFF"/>
                </a:highlight>
                <a:latin typeface="Consolas" panose="020B0609020204030204" pitchFamily="49" charset="0"/>
              </a:rPr>
              <a:t>End.DX6</a:t>
            </a:r>
            <a:r>
              <a:rPr lang="sk-SK" sz="1200" dirty="0">
                <a:highlight>
                  <a:srgbClr val="00FFFF"/>
                </a:highlight>
                <a:latin typeface="Consolas" panose="020B0609020204030204" pitchFamily="49" charset="0"/>
              </a:rPr>
              <a:t>           '</a:t>
            </a:r>
            <a:r>
              <a:rPr lang="sk-SK" sz="1200" dirty="0" err="1">
                <a:highlight>
                  <a:srgbClr val="00FFFF"/>
                </a:highlight>
                <a:latin typeface="Consolas" panose="020B0609020204030204" pitchFamily="49" charset="0"/>
              </a:rPr>
              <a:t>A':1</a:t>
            </a:r>
            <a:r>
              <a:rPr lang="sk-SK" sz="1200" dirty="0">
                <a:highlight>
                  <a:srgbClr val="00FFFF"/>
                </a:highlight>
                <a:latin typeface="Consolas" panose="020B0609020204030204" pitchFamily="49" charset="0"/>
              </a:rPr>
              <a:t>                             bgp-65000           </a:t>
            </a:r>
            <a:r>
              <a:rPr lang="sk-SK" sz="1200" dirty="0" err="1">
                <a:highlight>
                  <a:srgbClr val="00FFFF"/>
                </a:highlight>
                <a:latin typeface="Consolas" panose="020B0609020204030204" pitchFamily="49" charset="0"/>
              </a:rPr>
              <a:t>InUse</a:t>
            </a:r>
            <a:r>
              <a:rPr lang="sk-SK" sz="1200" dirty="0">
                <a:highlight>
                  <a:srgbClr val="00FFFF"/>
                </a:highlight>
                <a:latin typeface="Consolas" panose="020B0609020204030204" pitchFamily="49" charset="0"/>
              </a:rPr>
              <a:t>  Y </a:t>
            </a:r>
          </a:p>
          <a:p>
            <a:r>
              <a:rPr lang="sk-SK" sz="1200" dirty="0">
                <a:latin typeface="Consolas" panose="020B0609020204030204" pitchFamily="49" charset="0"/>
              </a:rPr>
              <a:t>RP/0/RP0/</a:t>
            </a:r>
            <a:r>
              <a:rPr lang="sk-SK" sz="1200" dirty="0" err="1">
                <a:latin typeface="Consolas" panose="020B0609020204030204" pitchFamily="49" charset="0"/>
              </a:rPr>
              <a:t>CPU0:R04</a:t>
            </a:r>
            <a:r>
              <a:rPr lang="sk-SK" sz="1200" dirty="0">
                <a:latin typeface="Consolas" panose="020B0609020204030204" pitchFamily="49" charset="0"/>
              </a:rPr>
              <a:t>#</a:t>
            </a:r>
            <a:endParaRPr lang="sk-SK" sz="12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23088015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D993C2-7531-E04D-FD06-8C454A270BCB}"/>
              </a:ext>
            </a:extLst>
          </p:cNvPr>
          <p:cNvSpPr>
            <a:spLocks noGrp="1"/>
          </p:cNvSpPr>
          <p:nvPr>
            <p:ph type="body" sz="quarter" idx="10"/>
          </p:nvPr>
        </p:nvSpPr>
        <p:spPr/>
        <p:txBody>
          <a:bodyPr/>
          <a:lstStyle/>
          <a:p>
            <a:r>
              <a:rPr lang="en-US" sz="2000" b="1" dirty="0"/>
              <a:t>the same SRv6 SID </a:t>
            </a:r>
            <a:r>
              <a:rPr lang="en-US" sz="2000" dirty="0"/>
              <a:t>for IPv4 and IPv6</a:t>
            </a:r>
          </a:p>
        </p:txBody>
      </p:sp>
      <p:sp>
        <p:nvSpPr>
          <p:cNvPr id="3" name="Text Placeholder 2">
            <a:extLst>
              <a:ext uri="{FF2B5EF4-FFF2-40B4-BE49-F238E27FC236}">
                <a16:creationId xmlns:a16="http://schemas.microsoft.com/office/drawing/2014/main" id="{7F71FC62-B446-59F4-7354-DB327E1127AA}"/>
              </a:ext>
            </a:extLst>
          </p:cNvPr>
          <p:cNvSpPr>
            <a:spLocks noGrp="1"/>
          </p:cNvSpPr>
          <p:nvPr>
            <p:ph type="body" sz="quarter" idx="11"/>
          </p:nvPr>
        </p:nvSpPr>
        <p:spPr/>
        <p:txBody>
          <a:bodyPr/>
          <a:lstStyle/>
          <a:p>
            <a:r>
              <a:rPr lang="en-US" dirty="0"/>
              <a:t>L3VPN over SRv6 – per-vrf-46</a:t>
            </a:r>
          </a:p>
        </p:txBody>
      </p:sp>
      <p:sp>
        <p:nvSpPr>
          <p:cNvPr id="5" name="Rectangle 4">
            <a:extLst>
              <a:ext uri="{FF2B5EF4-FFF2-40B4-BE49-F238E27FC236}">
                <a16:creationId xmlns:a16="http://schemas.microsoft.com/office/drawing/2014/main" id="{FC9B6547-111E-4946-79F4-F0722DF53430}"/>
              </a:ext>
            </a:extLst>
          </p:cNvPr>
          <p:cNvSpPr/>
          <p:nvPr/>
        </p:nvSpPr>
        <p:spPr>
          <a:xfrm>
            <a:off x="8293472" y="113515"/>
            <a:ext cx="3664612" cy="3600986"/>
          </a:xfrm>
          <a:prstGeom prst="rect">
            <a:avLst/>
          </a:prstGeom>
          <a:solidFill>
            <a:schemeClr val="bg1">
              <a:lumMod val="95000"/>
            </a:schemeClr>
          </a:solidFill>
          <a:ln>
            <a:solidFill>
              <a:schemeClr val="tx1"/>
            </a:solidFill>
          </a:ln>
          <a:effectLst/>
        </p:spPr>
        <p:txBody>
          <a:bodyPr wrap="square">
            <a:spAutoFit/>
          </a:bodyPr>
          <a:lstStyle/>
          <a:p>
            <a:r>
              <a:rPr lang="sk-SK" sz="1200" dirty="0">
                <a:latin typeface="Consolas" panose="020B0609020204030204" pitchFamily="49" charset="0"/>
              </a:rPr>
              <a:t>router bgp 65000</a:t>
            </a:r>
          </a:p>
          <a:p>
            <a:r>
              <a:rPr lang="sk-SK" sz="1200" dirty="0">
                <a:latin typeface="Consolas" panose="020B0609020204030204" pitchFamily="49" charset="0"/>
              </a:rPr>
              <a:t> </a:t>
            </a:r>
            <a:r>
              <a:rPr lang="en-US" sz="1200" dirty="0">
                <a:latin typeface="Consolas" panose="020B0609020204030204" pitchFamily="49" charset="0"/>
              </a:rPr>
              <a:t>-- cut --</a:t>
            </a:r>
            <a:endParaRPr lang="sk-SK" sz="1200" dirty="0">
              <a:latin typeface="Consolas" panose="020B0609020204030204" pitchFamily="49" charset="0"/>
            </a:endParaRPr>
          </a:p>
          <a:p>
            <a:r>
              <a:rPr lang="sk-SK" sz="1200" dirty="0">
                <a:latin typeface="Consolas" panose="020B0609020204030204" pitchFamily="49" charset="0"/>
              </a:rPr>
              <a:t> !</a:t>
            </a:r>
          </a:p>
          <a:p>
            <a:r>
              <a:rPr lang="sk-SK" sz="1200" dirty="0">
                <a:latin typeface="Consolas" panose="020B0609020204030204" pitchFamily="49" charset="0"/>
              </a:rPr>
              <a:t> vrf A</a:t>
            </a:r>
          </a:p>
          <a:p>
            <a:r>
              <a:rPr lang="sk-SK" sz="1200" dirty="0">
                <a:latin typeface="Consolas" panose="020B0609020204030204" pitchFamily="49" charset="0"/>
              </a:rPr>
              <a:t>  bgp router-id 10.64.1.1</a:t>
            </a:r>
          </a:p>
          <a:p>
            <a:r>
              <a:rPr lang="sk-SK" sz="1200" dirty="0">
                <a:latin typeface="Consolas" panose="020B0609020204030204" pitchFamily="49" charset="0"/>
              </a:rPr>
              <a:t>  </a:t>
            </a:r>
            <a:r>
              <a:rPr lang="sk-SK" sz="1200" dirty="0" err="1">
                <a:latin typeface="Consolas" panose="020B0609020204030204" pitchFamily="49" charset="0"/>
              </a:rPr>
              <a:t>address-family</a:t>
            </a:r>
            <a:r>
              <a:rPr lang="sk-SK" sz="1200" dirty="0">
                <a:latin typeface="Consolas" panose="020B0609020204030204" pitchFamily="49" charset="0"/>
              </a:rPr>
              <a:t> </a:t>
            </a:r>
            <a:r>
              <a:rPr lang="sk-SK" sz="1200" dirty="0" err="1">
                <a:latin typeface="Consolas" panose="020B0609020204030204" pitchFamily="49" charset="0"/>
              </a:rPr>
              <a:t>ipv4</a:t>
            </a:r>
            <a:r>
              <a:rPr lang="sk-SK" sz="1200" dirty="0">
                <a:latin typeface="Consolas" panose="020B0609020204030204" pitchFamily="49" charset="0"/>
              </a:rPr>
              <a:t> </a:t>
            </a:r>
            <a:r>
              <a:rPr lang="sk-SK" sz="1200" dirty="0" err="1">
                <a:latin typeface="Consolas" panose="020B0609020204030204" pitchFamily="49" charset="0"/>
              </a:rPr>
              <a:t>unicast</a:t>
            </a:r>
            <a:endParaRPr lang="sk-SK" sz="1200" dirty="0">
              <a:latin typeface="Consolas" panose="020B0609020204030204" pitchFamily="49" charset="0"/>
            </a:endParaRPr>
          </a:p>
          <a:p>
            <a:r>
              <a:rPr lang="sk-SK" sz="1200" dirty="0">
                <a:latin typeface="Consolas" panose="020B0609020204030204" pitchFamily="49" charset="0"/>
              </a:rPr>
              <a:t>   segment-routing </a:t>
            </a:r>
            <a:r>
              <a:rPr lang="sk-SK" sz="1200" dirty="0" err="1">
                <a:latin typeface="Consolas" panose="020B0609020204030204" pitchFamily="49" charset="0"/>
              </a:rPr>
              <a:t>srv6</a:t>
            </a:r>
            <a:endParaRPr lang="sk-SK" sz="1200" dirty="0">
              <a:latin typeface="Consolas" panose="020B0609020204030204" pitchFamily="49" charset="0"/>
            </a:endParaRPr>
          </a:p>
          <a:p>
            <a:r>
              <a:rPr lang="sk-SK" sz="1200" dirty="0">
                <a:latin typeface="Consolas" panose="020B0609020204030204" pitchFamily="49" charset="0"/>
              </a:rPr>
              <a:t>    </a:t>
            </a:r>
            <a:r>
              <a:rPr lang="sk-SK" sz="1200" dirty="0" err="1">
                <a:latin typeface="Consolas" panose="020B0609020204030204" pitchFamily="49" charset="0"/>
              </a:rPr>
              <a:t>locator</a:t>
            </a:r>
            <a:r>
              <a:rPr lang="sk-SK" sz="1200" dirty="0">
                <a:latin typeface="Consolas" panose="020B0609020204030204" pitchFamily="49" charset="0"/>
              </a:rPr>
              <a:t> </a:t>
            </a:r>
            <a:r>
              <a:rPr lang="sk-SK" sz="1200" dirty="0" err="1">
                <a:latin typeface="Consolas" panose="020B0609020204030204" pitchFamily="49" charset="0"/>
              </a:rPr>
              <a:t>MyFullLoc01</a:t>
            </a:r>
            <a:endParaRPr lang="sk-SK" sz="1200" dirty="0">
              <a:latin typeface="Consolas" panose="020B0609020204030204" pitchFamily="49" charset="0"/>
            </a:endParaRPr>
          </a:p>
          <a:p>
            <a:r>
              <a:rPr lang="sk-SK" sz="1200" dirty="0">
                <a:latin typeface="Consolas" panose="020B0609020204030204" pitchFamily="49" charset="0"/>
              </a:rPr>
              <a:t>    </a:t>
            </a:r>
            <a:r>
              <a:rPr lang="sk-SK" sz="1200" dirty="0" err="1">
                <a:highlight>
                  <a:srgbClr val="FF00FF"/>
                </a:highlight>
                <a:latin typeface="Consolas" panose="020B0609020204030204" pitchFamily="49" charset="0"/>
              </a:rPr>
              <a:t>alloc</a:t>
            </a:r>
            <a:r>
              <a:rPr lang="sk-SK" sz="1200" dirty="0">
                <a:highlight>
                  <a:srgbClr val="FF00FF"/>
                </a:highlight>
                <a:latin typeface="Consolas" panose="020B0609020204030204" pitchFamily="49" charset="0"/>
              </a:rPr>
              <a:t> </a:t>
            </a:r>
            <a:r>
              <a:rPr lang="sk-SK" sz="1200" dirty="0" err="1">
                <a:highlight>
                  <a:srgbClr val="FF00FF"/>
                </a:highlight>
                <a:latin typeface="Consolas" panose="020B0609020204030204" pitchFamily="49" charset="0"/>
              </a:rPr>
              <a:t>mode</a:t>
            </a:r>
            <a:r>
              <a:rPr lang="sk-SK" sz="1200" dirty="0">
                <a:highlight>
                  <a:srgbClr val="FF00FF"/>
                </a:highlight>
                <a:latin typeface="Consolas" panose="020B0609020204030204" pitchFamily="49" charset="0"/>
              </a:rPr>
              <a:t> </a:t>
            </a:r>
            <a:r>
              <a:rPr lang="sk-SK" sz="1200" b="1" dirty="0">
                <a:highlight>
                  <a:srgbClr val="FF00FF"/>
                </a:highlight>
                <a:latin typeface="Consolas" panose="020B0609020204030204" pitchFamily="49" charset="0"/>
              </a:rPr>
              <a:t>per-vrf-46</a:t>
            </a:r>
          </a:p>
          <a:p>
            <a:r>
              <a:rPr lang="sk-SK" sz="1200" dirty="0">
                <a:latin typeface="Consolas" panose="020B0609020204030204" pitchFamily="49" charset="0"/>
              </a:rPr>
              <a:t>   !</a:t>
            </a:r>
          </a:p>
          <a:p>
            <a:r>
              <a:rPr lang="sk-SK" sz="1200" dirty="0">
                <a:latin typeface="Consolas" panose="020B0609020204030204" pitchFamily="49" charset="0"/>
              </a:rPr>
              <a:t>   </a:t>
            </a:r>
            <a:r>
              <a:rPr lang="sk-SK" sz="1200" dirty="0" err="1">
                <a:latin typeface="Consolas" panose="020B0609020204030204" pitchFamily="49" charset="0"/>
              </a:rPr>
              <a:t>redistribute</a:t>
            </a:r>
            <a:r>
              <a:rPr lang="sk-SK" sz="1200" dirty="0">
                <a:latin typeface="Consolas" panose="020B0609020204030204" pitchFamily="49" charset="0"/>
              </a:rPr>
              <a:t> </a:t>
            </a:r>
            <a:r>
              <a:rPr lang="sk-SK" sz="1200" dirty="0" err="1">
                <a:latin typeface="Consolas" panose="020B0609020204030204" pitchFamily="49" charset="0"/>
              </a:rPr>
              <a:t>connected</a:t>
            </a:r>
            <a:endParaRPr lang="sk-SK" sz="1200" dirty="0">
              <a:latin typeface="Consolas" panose="020B0609020204030204" pitchFamily="49" charset="0"/>
            </a:endParaRPr>
          </a:p>
          <a:p>
            <a:r>
              <a:rPr lang="sk-SK" sz="1200" dirty="0">
                <a:latin typeface="Consolas" panose="020B0609020204030204" pitchFamily="49" charset="0"/>
              </a:rPr>
              <a:t>  !</a:t>
            </a:r>
          </a:p>
          <a:p>
            <a:r>
              <a:rPr lang="sk-SK" sz="1200" dirty="0">
                <a:latin typeface="Consolas" panose="020B0609020204030204" pitchFamily="49" charset="0"/>
              </a:rPr>
              <a:t>  </a:t>
            </a:r>
            <a:r>
              <a:rPr lang="sk-SK" sz="1200" dirty="0" err="1">
                <a:latin typeface="Consolas" panose="020B0609020204030204" pitchFamily="49" charset="0"/>
              </a:rPr>
              <a:t>address-family</a:t>
            </a:r>
            <a:r>
              <a:rPr lang="sk-SK" sz="1200" dirty="0">
                <a:latin typeface="Consolas" panose="020B0609020204030204" pitchFamily="49" charset="0"/>
              </a:rPr>
              <a:t> </a:t>
            </a:r>
            <a:r>
              <a:rPr lang="sk-SK" sz="1200" dirty="0" err="1">
                <a:latin typeface="Consolas" panose="020B0609020204030204" pitchFamily="49" charset="0"/>
              </a:rPr>
              <a:t>ipv6</a:t>
            </a:r>
            <a:r>
              <a:rPr lang="sk-SK" sz="1200" dirty="0">
                <a:latin typeface="Consolas" panose="020B0609020204030204" pitchFamily="49" charset="0"/>
              </a:rPr>
              <a:t> </a:t>
            </a:r>
            <a:r>
              <a:rPr lang="sk-SK" sz="1200" dirty="0" err="1">
                <a:latin typeface="Consolas" panose="020B0609020204030204" pitchFamily="49" charset="0"/>
              </a:rPr>
              <a:t>unicast</a:t>
            </a:r>
            <a:endParaRPr lang="sk-SK" sz="1200" dirty="0">
              <a:latin typeface="Consolas" panose="020B0609020204030204" pitchFamily="49" charset="0"/>
            </a:endParaRPr>
          </a:p>
          <a:p>
            <a:r>
              <a:rPr lang="sk-SK" sz="1200" dirty="0">
                <a:latin typeface="Consolas" panose="020B0609020204030204" pitchFamily="49" charset="0"/>
              </a:rPr>
              <a:t>   segment-routing </a:t>
            </a:r>
            <a:r>
              <a:rPr lang="sk-SK" sz="1200" dirty="0" err="1">
                <a:latin typeface="Consolas" panose="020B0609020204030204" pitchFamily="49" charset="0"/>
              </a:rPr>
              <a:t>srv6</a:t>
            </a:r>
            <a:endParaRPr lang="sk-SK" sz="1200" dirty="0">
              <a:latin typeface="Consolas" panose="020B0609020204030204" pitchFamily="49" charset="0"/>
            </a:endParaRPr>
          </a:p>
          <a:p>
            <a:r>
              <a:rPr lang="sk-SK" sz="1200" dirty="0">
                <a:latin typeface="Consolas" panose="020B0609020204030204" pitchFamily="49" charset="0"/>
              </a:rPr>
              <a:t>    </a:t>
            </a:r>
            <a:r>
              <a:rPr lang="sk-SK" sz="1200" dirty="0" err="1">
                <a:latin typeface="Consolas" panose="020B0609020204030204" pitchFamily="49" charset="0"/>
              </a:rPr>
              <a:t>locator</a:t>
            </a:r>
            <a:r>
              <a:rPr lang="sk-SK" sz="1200" dirty="0">
                <a:latin typeface="Consolas" panose="020B0609020204030204" pitchFamily="49" charset="0"/>
              </a:rPr>
              <a:t> </a:t>
            </a:r>
            <a:r>
              <a:rPr lang="sk-SK" sz="1200" dirty="0" err="1">
                <a:latin typeface="Consolas" panose="020B0609020204030204" pitchFamily="49" charset="0"/>
              </a:rPr>
              <a:t>MyFullLoc01</a:t>
            </a:r>
            <a:endParaRPr lang="sk-SK" sz="1200" dirty="0">
              <a:latin typeface="Consolas" panose="020B0609020204030204" pitchFamily="49" charset="0"/>
            </a:endParaRPr>
          </a:p>
          <a:p>
            <a:r>
              <a:rPr lang="sk-SK" sz="1200" dirty="0">
                <a:latin typeface="Consolas" panose="020B0609020204030204" pitchFamily="49" charset="0"/>
              </a:rPr>
              <a:t>    </a:t>
            </a:r>
            <a:r>
              <a:rPr lang="sk-SK" sz="1200" dirty="0" err="1">
                <a:highlight>
                  <a:srgbClr val="FF00FF"/>
                </a:highlight>
                <a:latin typeface="Consolas" panose="020B0609020204030204" pitchFamily="49" charset="0"/>
              </a:rPr>
              <a:t>alloc</a:t>
            </a:r>
            <a:r>
              <a:rPr lang="sk-SK" sz="1200" dirty="0">
                <a:highlight>
                  <a:srgbClr val="FF00FF"/>
                </a:highlight>
                <a:latin typeface="Consolas" panose="020B0609020204030204" pitchFamily="49" charset="0"/>
              </a:rPr>
              <a:t> </a:t>
            </a:r>
            <a:r>
              <a:rPr lang="sk-SK" sz="1200" dirty="0" err="1">
                <a:highlight>
                  <a:srgbClr val="FF00FF"/>
                </a:highlight>
                <a:latin typeface="Consolas" panose="020B0609020204030204" pitchFamily="49" charset="0"/>
              </a:rPr>
              <a:t>mode</a:t>
            </a:r>
            <a:r>
              <a:rPr lang="sk-SK" sz="1200" dirty="0">
                <a:highlight>
                  <a:srgbClr val="FF00FF"/>
                </a:highlight>
                <a:latin typeface="Consolas" panose="020B0609020204030204" pitchFamily="49" charset="0"/>
              </a:rPr>
              <a:t> </a:t>
            </a:r>
            <a:r>
              <a:rPr lang="sk-SK" sz="1200" b="1" dirty="0">
                <a:highlight>
                  <a:srgbClr val="FF00FF"/>
                </a:highlight>
                <a:latin typeface="Consolas" panose="020B0609020204030204" pitchFamily="49" charset="0"/>
              </a:rPr>
              <a:t>per-vrf-46</a:t>
            </a:r>
          </a:p>
          <a:p>
            <a:r>
              <a:rPr lang="sk-SK" sz="1200" dirty="0">
                <a:latin typeface="Consolas" panose="020B0609020204030204" pitchFamily="49" charset="0"/>
              </a:rPr>
              <a:t>   !</a:t>
            </a:r>
          </a:p>
          <a:p>
            <a:r>
              <a:rPr lang="sk-SK" sz="1200" dirty="0">
                <a:latin typeface="Consolas" panose="020B0609020204030204" pitchFamily="49" charset="0"/>
              </a:rPr>
              <a:t>  !</a:t>
            </a:r>
            <a:endParaRPr lang="en-US" sz="1200" dirty="0">
              <a:latin typeface="Consolas" panose="020B0609020204030204" pitchFamily="49" charset="0"/>
            </a:endParaRPr>
          </a:p>
          <a:p>
            <a:r>
              <a:rPr lang="sk-SK" sz="1200" dirty="0">
                <a:latin typeface="Consolas" panose="020B0609020204030204" pitchFamily="49" charset="0"/>
              </a:rPr>
              <a:t>  </a:t>
            </a:r>
            <a:r>
              <a:rPr lang="en-US" sz="1200" dirty="0">
                <a:latin typeface="Consolas" panose="020B0609020204030204" pitchFamily="49" charset="0"/>
              </a:rPr>
              <a:t>-- cut --</a:t>
            </a:r>
            <a:endParaRPr lang="sk-SK" sz="1200" dirty="0">
              <a:solidFill>
                <a:srgbClr val="FF0000"/>
              </a:solidFill>
              <a:latin typeface="Consolas" panose="020B0609020204030204" pitchFamily="49" charset="0"/>
            </a:endParaRPr>
          </a:p>
        </p:txBody>
      </p:sp>
      <p:sp>
        <p:nvSpPr>
          <p:cNvPr id="8" name="Rectangle 7">
            <a:extLst>
              <a:ext uri="{FF2B5EF4-FFF2-40B4-BE49-F238E27FC236}">
                <a16:creationId xmlns:a16="http://schemas.microsoft.com/office/drawing/2014/main" id="{7F29AD4C-F1F0-AFE5-2414-2CB7E7B30B61}"/>
              </a:ext>
            </a:extLst>
          </p:cNvPr>
          <p:cNvSpPr/>
          <p:nvPr/>
        </p:nvSpPr>
        <p:spPr>
          <a:xfrm>
            <a:off x="873918" y="4161309"/>
            <a:ext cx="9633098" cy="2123658"/>
          </a:xfrm>
          <a:prstGeom prst="rect">
            <a:avLst/>
          </a:prstGeom>
          <a:solidFill>
            <a:schemeClr val="bg1">
              <a:lumMod val="95000"/>
            </a:schemeClr>
          </a:solidFill>
          <a:ln>
            <a:solidFill>
              <a:schemeClr val="tx1"/>
            </a:solidFill>
          </a:ln>
          <a:effectLst/>
        </p:spPr>
        <p:txBody>
          <a:bodyPr wrap="square">
            <a:spAutoFit/>
          </a:bodyPr>
          <a:lstStyle/>
          <a:p>
            <a:r>
              <a:rPr lang="sk-SK" sz="1200" dirty="0">
                <a:latin typeface="Consolas" panose="020B0609020204030204" pitchFamily="49" charset="0"/>
              </a:rPr>
              <a:t>RP/0/RP0/</a:t>
            </a:r>
            <a:r>
              <a:rPr lang="sk-SK" sz="1200" dirty="0" err="1">
                <a:latin typeface="Consolas" panose="020B0609020204030204" pitchFamily="49" charset="0"/>
              </a:rPr>
              <a:t>CPU0:R01#</a:t>
            </a:r>
            <a:r>
              <a:rPr lang="sk-SK" sz="1200" b="1" dirty="0" err="1">
                <a:latin typeface="Consolas" panose="020B0609020204030204" pitchFamily="49" charset="0"/>
              </a:rPr>
              <a:t>sh</a:t>
            </a:r>
            <a:r>
              <a:rPr lang="sk-SK" sz="1200" b="1" dirty="0">
                <a:latin typeface="Consolas" panose="020B0609020204030204" pitchFamily="49" charset="0"/>
              </a:rPr>
              <a:t> segment-routing </a:t>
            </a:r>
            <a:r>
              <a:rPr lang="sk-SK" sz="1200" b="1" dirty="0" err="1">
                <a:latin typeface="Consolas" panose="020B0609020204030204" pitchFamily="49" charset="0"/>
              </a:rPr>
              <a:t>srv6</a:t>
            </a:r>
            <a:r>
              <a:rPr lang="sk-SK" sz="1200" b="1" dirty="0">
                <a:latin typeface="Consolas" panose="020B0609020204030204" pitchFamily="49" charset="0"/>
              </a:rPr>
              <a:t> </a:t>
            </a:r>
            <a:r>
              <a:rPr lang="sk-SK" sz="1200" b="1" dirty="0" err="1">
                <a:latin typeface="Consolas" panose="020B0609020204030204" pitchFamily="49" charset="0"/>
              </a:rPr>
              <a:t>sid</a:t>
            </a:r>
            <a:r>
              <a:rPr lang="sk-SK" sz="1200" b="1" dirty="0">
                <a:latin typeface="Consolas" panose="020B0609020204030204" pitchFamily="49" charset="0"/>
              </a:rPr>
              <a:t> </a:t>
            </a:r>
            <a:r>
              <a:rPr lang="sk-SK" sz="1200" b="1" dirty="0" err="1">
                <a:latin typeface="Consolas" panose="020B0609020204030204" pitchFamily="49" charset="0"/>
              </a:rPr>
              <a:t>all</a:t>
            </a:r>
            <a:endParaRPr lang="sk-SK" sz="1200" b="1" dirty="0">
              <a:latin typeface="Consolas" panose="020B0609020204030204" pitchFamily="49" charset="0"/>
            </a:endParaRPr>
          </a:p>
          <a:p>
            <a:r>
              <a:rPr lang="sk-SK" sz="1200" dirty="0" err="1">
                <a:latin typeface="Consolas" panose="020B0609020204030204" pitchFamily="49" charset="0"/>
              </a:rPr>
              <a:t>Mon</a:t>
            </a:r>
            <a:r>
              <a:rPr lang="sk-SK" sz="1200" dirty="0">
                <a:latin typeface="Consolas" panose="020B0609020204030204" pitchFamily="49" charset="0"/>
              </a:rPr>
              <a:t> May 12 09:13:49.933 </a:t>
            </a:r>
            <a:r>
              <a:rPr lang="sk-SK" sz="1200" dirty="0" err="1">
                <a:latin typeface="Consolas" panose="020B0609020204030204" pitchFamily="49" charset="0"/>
              </a:rPr>
              <a:t>UTC</a:t>
            </a:r>
            <a:endParaRPr lang="sk-SK" sz="1200" dirty="0">
              <a:latin typeface="Consolas" panose="020B0609020204030204" pitchFamily="49" charset="0"/>
            </a:endParaRPr>
          </a:p>
          <a:p>
            <a:endParaRPr lang="sk-SK" sz="1200" dirty="0">
              <a:latin typeface="Consolas" panose="020B0609020204030204" pitchFamily="49" charset="0"/>
            </a:endParaRPr>
          </a:p>
          <a:p>
            <a:r>
              <a:rPr lang="sk-SK" sz="1200" dirty="0">
                <a:latin typeface="Consolas" panose="020B0609020204030204" pitchFamily="49" charset="0"/>
              </a:rPr>
              <a:t>*** </a:t>
            </a:r>
            <a:r>
              <a:rPr lang="sk-SK" sz="1200" dirty="0" err="1">
                <a:latin typeface="Consolas" panose="020B0609020204030204" pitchFamily="49" charset="0"/>
              </a:rPr>
              <a:t>Locator</a:t>
            </a:r>
            <a:r>
              <a:rPr lang="sk-SK" sz="1200" dirty="0">
                <a:latin typeface="Consolas" panose="020B0609020204030204" pitchFamily="49" charset="0"/>
              </a:rPr>
              <a:t>: '</a:t>
            </a:r>
            <a:r>
              <a:rPr lang="sk-SK" sz="1200" dirty="0" err="1">
                <a:latin typeface="Consolas" panose="020B0609020204030204" pitchFamily="49" charset="0"/>
              </a:rPr>
              <a:t>MyFullLoc01</a:t>
            </a:r>
            <a:r>
              <a:rPr lang="sk-SK" sz="1200" dirty="0">
                <a:latin typeface="Consolas" panose="020B0609020204030204" pitchFamily="49" charset="0"/>
              </a:rPr>
              <a:t>' *** </a:t>
            </a:r>
          </a:p>
          <a:p>
            <a:endParaRPr lang="sk-SK" sz="1200" dirty="0">
              <a:latin typeface="Consolas" panose="020B0609020204030204" pitchFamily="49" charset="0"/>
            </a:endParaRPr>
          </a:p>
          <a:p>
            <a:r>
              <a:rPr lang="sk-SK" sz="1200" dirty="0" err="1">
                <a:latin typeface="Consolas" panose="020B0609020204030204" pitchFamily="49" charset="0"/>
              </a:rPr>
              <a:t>SID</a:t>
            </a:r>
            <a:r>
              <a:rPr lang="sk-SK" sz="1200" dirty="0">
                <a:latin typeface="Consolas" panose="020B0609020204030204" pitchFamily="49" charset="0"/>
              </a:rPr>
              <a:t>                         </a:t>
            </a:r>
            <a:r>
              <a:rPr lang="sk-SK" sz="1200" dirty="0" err="1">
                <a:latin typeface="Consolas" panose="020B0609020204030204" pitchFamily="49" charset="0"/>
              </a:rPr>
              <a:t>Behavior</a:t>
            </a:r>
            <a:r>
              <a:rPr lang="sk-SK" sz="1200" dirty="0">
                <a:latin typeface="Consolas" panose="020B0609020204030204" pitchFamily="49" charset="0"/>
              </a:rPr>
              <a:t>          </a:t>
            </a:r>
            <a:r>
              <a:rPr lang="sk-SK" sz="1200" dirty="0" err="1">
                <a:latin typeface="Consolas" panose="020B0609020204030204" pitchFamily="49" charset="0"/>
              </a:rPr>
              <a:t>Context</a:t>
            </a:r>
            <a:r>
              <a:rPr lang="sk-SK" sz="1200" dirty="0">
                <a:latin typeface="Consolas" panose="020B0609020204030204" pitchFamily="49" charset="0"/>
              </a:rPr>
              <a:t>                           </a:t>
            </a:r>
            <a:r>
              <a:rPr lang="sk-SK" sz="1200" dirty="0" err="1">
                <a:latin typeface="Consolas" panose="020B0609020204030204" pitchFamily="49" charset="0"/>
              </a:rPr>
              <a:t>Owner</a:t>
            </a:r>
            <a:r>
              <a:rPr lang="sk-SK" sz="1200" dirty="0">
                <a:latin typeface="Consolas" panose="020B0609020204030204" pitchFamily="49" charset="0"/>
              </a:rPr>
              <a:t>               State  </a:t>
            </a:r>
            <a:r>
              <a:rPr lang="sk-SK" sz="1200" dirty="0" err="1">
                <a:latin typeface="Consolas" panose="020B0609020204030204" pitchFamily="49" charset="0"/>
              </a:rPr>
              <a:t>RW</a:t>
            </a:r>
            <a:endParaRPr lang="sk-SK" sz="1200" dirty="0">
              <a:latin typeface="Consolas" panose="020B0609020204030204" pitchFamily="49" charset="0"/>
            </a:endParaRPr>
          </a:p>
          <a:p>
            <a:r>
              <a:rPr lang="sk-SK" sz="1200" dirty="0">
                <a:latin typeface="Consolas" panose="020B0609020204030204" pitchFamily="49" charset="0"/>
              </a:rPr>
              <a:t>--------------------------  ----------------  --------------------------------  ------------------  -----  --</a:t>
            </a:r>
          </a:p>
          <a:p>
            <a:r>
              <a:rPr lang="sk-SK" sz="1200" dirty="0" err="1">
                <a:latin typeface="Consolas" panose="020B0609020204030204" pitchFamily="49" charset="0"/>
              </a:rPr>
              <a:t>fc00:ab00:1:0:1</a:t>
            </a:r>
            <a:r>
              <a:rPr lang="sk-SK" sz="1200" dirty="0">
                <a:latin typeface="Consolas" panose="020B0609020204030204" pitchFamily="49" charset="0"/>
              </a:rPr>
              <a:t>::           End (</a:t>
            </a:r>
            <a:r>
              <a:rPr lang="sk-SK" sz="1200" dirty="0" err="1">
                <a:latin typeface="Consolas" panose="020B0609020204030204" pitchFamily="49" charset="0"/>
              </a:rPr>
              <a:t>PSP</a:t>
            </a:r>
            <a:r>
              <a:rPr lang="sk-SK" sz="1200" dirty="0">
                <a:latin typeface="Consolas" panose="020B0609020204030204" pitchFamily="49" charset="0"/>
              </a:rPr>
              <a:t>/USD)     '</a:t>
            </a:r>
            <a:r>
              <a:rPr lang="sk-SK" sz="1200" dirty="0" err="1">
                <a:latin typeface="Consolas" panose="020B0609020204030204" pitchFamily="49" charset="0"/>
              </a:rPr>
              <a:t>default':1</a:t>
            </a:r>
            <a:r>
              <a:rPr lang="sk-SK" sz="1200" dirty="0">
                <a:latin typeface="Consolas" panose="020B0609020204030204" pitchFamily="49" charset="0"/>
              </a:rPr>
              <a:t>                       </a:t>
            </a:r>
            <a:r>
              <a:rPr lang="sk-SK" sz="1200" dirty="0" err="1">
                <a:latin typeface="Consolas" panose="020B0609020204030204" pitchFamily="49" charset="0"/>
              </a:rPr>
              <a:t>sidmgr</a:t>
            </a:r>
            <a:r>
              <a:rPr lang="sk-SK" sz="1200" dirty="0">
                <a:latin typeface="Consolas" panose="020B0609020204030204" pitchFamily="49" charset="0"/>
              </a:rPr>
              <a:t>              </a:t>
            </a:r>
            <a:r>
              <a:rPr lang="sk-SK" sz="1200" dirty="0" err="1">
                <a:latin typeface="Consolas" panose="020B0609020204030204" pitchFamily="49" charset="0"/>
              </a:rPr>
              <a:t>InUse</a:t>
            </a:r>
            <a:r>
              <a:rPr lang="sk-SK" sz="1200" dirty="0">
                <a:latin typeface="Consolas" panose="020B0609020204030204" pitchFamily="49" charset="0"/>
              </a:rPr>
              <a:t>  Y </a:t>
            </a:r>
          </a:p>
          <a:p>
            <a:r>
              <a:rPr lang="sk-SK" sz="1200" dirty="0" err="1">
                <a:latin typeface="Consolas" panose="020B0609020204030204" pitchFamily="49" charset="0"/>
              </a:rPr>
              <a:t>fc00:ab00:1:0:40</a:t>
            </a:r>
            <a:r>
              <a:rPr lang="sk-SK" sz="1200" dirty="0">
                <a:latin typeface="Consolas" panose="020B0609020204030204" pitchFamily="49" charset="0"/>
              </a:rPr>
              <a:t>::          </a:t>
            </a:r>
            <a:r>
              <a:rPr lang="sk-SK" sz="1200" dirty="0" err="1">
                <a:latin typeface="Consolas" panose="020B0609020204030204" pitchFamily="49" charset="0"/>
              </a:rPr>
              <a:t>End.X</a:t>
            </a:r>
            <a:r>
              <a:rPr lang="sk-SK" sz="1200" dirty="0">
                <a:latin typeface="Consolas" panose="020B0609020204030204" pitchFamily="49" charset="0"/>
              </a:rPr>
              <a:t> (</a:t>
            </a:r>
            <a:r>
              <a:rPr lang="sk-SK" sz="1200" dirty="0" err="1">
                <a:latin typeface="Consolas" panose="020B0609020204030204" pitchFamily="49" charset="0"/>
              </a:rPr>
              <a:t>PSP</a:t>
            </a:r>
            <a:r>
              <a:rPr lang="sk-SK" sz="1200" dirty="0">
                <a:latin typeface="Consolas" panose="020B0609020204030204" pitchFamily="49" charset="0"/>
              </a:rPr>
              <a:t>/USD)   [Gi0/0/0/0, </a:t>
            </a:r>
            <a:r>
              <a:rPr lang="sk-SK" sz="1200" dirty="0" err="1">
                <a:latin typeface="Consolas" panose="020B0609020204030204" pitchFamily="49" charset="0"/>
              </a:rPr>
              <a:t>Link-Local</a:t>
            </a:r>
            <a:r>
              <a:rPr lang="sk-SK" sz="1200" dirty="0">
                <a:latin typeface="Consolas" panose="020B0609020204030204" pitchFamily="49" charset="0"/>
              </a:rPr>
              <a:t>]           </a:t>
            </a:r>
            <a:r>
              <a:rPr lang="sk-SK" sz="1200" dirty="0" err="1">
                <a:latin typeface="Consolas" panose="020B0609020204030204" pitchFamily="49" charset="0"/>
              </a:rPr>
              <a:t>isis</a:t>
            </a:r>
            <a:r>
              <a:rPr lang="sk-SK" sz="1200" dirty="0">
                <a:latin typeface="Consolas" panose="020B0609020204030204" pitchFamily="49" charset="0"/>
              </a:rPr>
              <a:t>-1              </a:t>
            </a:r>
            <a:r>
              <a:rPr lang="sk-SK" sz="1200" dirty="0" err="1">
                <a:latin typeface="Consolas" panose="020B0609020204030204" pitchFamily="49" charset="0"/>
              </a:rPr>
              <a:t>InUse</a:t>
            </a:r>
            <a:r>
              <a:rPr lang="sk-SK" sz="1200" dirty="0">
                <a:latin typeface="Consolas" panose="020B0609020204030204" pitchFamily="49" charset="0"/>
              </a:rPr>
              <a:t>  Y </a:t>
            </a:r>
          </a:p>
          <a:p>
            <a:r>
              <a:rPr lang="sk-SK" sz="1200" dirty="0" err="1">
                <a:highlight>
                  <a:srgbClr val="FF00FF"/>
                </a:highlight>
                <a:latin typeface="Consolas" panose="020B0609020204030204" pitchFamily="49" charset="0"/>
              </a:rPr>
              <a:t>fc00:ab00:1:0:43</a:t>
            </a:r>
            <a:r>
              <a:rPr lang="sk-SK" sz="1200" dirty="0">
                <a:highlight>
                  <a:srgbClr val="FF00FF"/>
                </a:highlight>
                <a:latin typeface="Consolas" panose="020B0609020204030204" pitchFamily="49" charset="0"/>
              </a:rPr>
              <a:t>::          </a:t>
            </a:r>
            <a:r>
              <a:rPr lang="sk-SK" sz="1200" dirty="0" err="1">
                <a:highlight>
                  <a:srgbClr val="FF00FF"/>
                </a:highlight>
                <a:latin typeface="Consolas" panose="020B0609020204030204" pitchFamily="49" charset="0"/>
              </a:rPr>
              <a:t>End.DT46</a:t>
            </a:r>
            <a:r>
              <a:rPr lang="sk-SK" sz="1200" dirty="0">
                <a:highlight>
                  <a:srgbClr val="FF00FF"/>
                </a:highlight>
                <a:latin typeface="Consolas" panose="020B0609020204030204" pitchFamily="49" charset="0"/>
              </a:rPr>
              <a:t>          'A'                               bgp-65000           </a:t>
            </a:r>
            <a:r>
              <a:rPr lang="sk-SK" sz="1200" dirty="0" err="1">
                <a:highlight>
                  <a:srgbClr val="FF00FF"/>
                </a:highlight>
                <a:latin typeface="Consolas" panose="020B0609020204030204" pitchFamily="49" charset="0"/>
              </a:rPr>
              <a:t>InUse</a:t>
            </a:r>
            <a:r>
              <a:rPr lang="sk-SK" sz="1200" dirty="0">
                <a:highlight>
                  <a:srgbClr val="FF00FF"/>
                </a:highlight>
                <a:latin typeface="Consolas" panose="020B0609020204030204" pitchFamily="49" charset="0"/>
              </a:rPr>
              <a:t>  Y </a:t>
            </a:r>
          </a:p>
          <a:p>
            <a:r>
              <a:rPr lang="sk-SK" sz="1200" dirty="0">
                <a:latin typeface="Consolas" panose="020B0609020204030204" pitchFamily="49" charset="0"/>
              </a:rPr>
              <a:t>RP/0/RP0/</a:t>
            </a:r>
            <a:r>
              <a:rPr lang="sk-SK" sz="1200" dirty="0" err="1">
                <a:latin typeface="Consolas" panose="020B0609020204030204" pitchFamily="49" charset="0"/>
              </a:rPr>
              <a:t>CPU0:R01</a:t>
            </a:r>
            <a:r>
              <a:rPr lang="sk-SK" sz="1200" dirty="0">
                <a:latin typeface="Consolas" panose="020B0609020204030204" pitchFamily="49" charset="0"/>
              </a:rPr>
              <a:t>#</a:t>
            </a:r>
            <a:endParaRPr lang="sk-SK" sz="12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406328897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F71FC62-B446-59F4-7354-DB327E1127AA}"/>
              </a:ext>
            </a:extLst>
          </p:cNvPr>
          <p:cNvSpPr>
            <a:spLocks noGrp="1"/>
          </p:cNvSpPr>
          <p:nvPr>
            <p:ph type="body" sz="quarter" idx="11"/>
          </p:nvPr>
        </p:nvSpPr>
        <p:spPr/>
        <p:txBody>
          <a:bodyPr/>
          <a:lstStyle/>
          <a:p>
            <a:r>
              <a:rPr lang="en-US" dirty="0"/>
              <a:t>L3VPN over SRv6 – per-vrf-46</a:t>
            </a:r>
          </a:p>
        </p:txBody>
      </p:sp>
      <p:sp>
        <p:nvSpPr>
          <p:cNvPr id="4" name="Rectangle 3">
            <a:extLst>
              <a:ext uri="{FF2B5EF4-FFF2-40B4-BE49-F238E27FC236}">
                <a16:creationId xmlns:a16="http://schemas.microsoft.com/office/drawing/2014/main" id="{B68101E0-8798-6617-D353-73C62825CC93}"/>
              </a:ext>
            </a:extLst>
          </p:cNvPr>
          <p:cNvSpPr/>
          <p:nvPr/>
        </p:nvSpPr>
        <p:spPr>
          <a:xfrm>
            <a:off x="0" y="912940"/>
            <a:ext cx="6220047" cy="5001369"/>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RP/0/RP0/</a:t>
            </a:r>
            <a:r>
              <a:rPr lang="sk-SK" sz="1100" dirty="0" err="1">
                <a:latin typeface="Consolas" panose="020B0609020204030204" pitchFamily="49" charset="0"/>
              </a:rPr>
              <a:t>CPU0:R04#sh</a:t>
            </a:r>
            <a:r>
              <a:rPr lang="sk-SK" sz="1100" dirty="0">
                <a:latin typeface="Consolas" panose="020B0609020204030204" pitchFamily="49" charset="0"/>
              </a:rPr>
              <a:t> cef vrf A 10.0.1.1                </a:t>
            </a:r>
          </a:p>
          <a:p>
            <a:r>
              <a:rPr lang="sk-SK" sz="1100" dirty="0" err="1">
                <a:latin typeface="Consolas" panose="020B0609020204030204" pitchFamily="49" charset="0"/>
              </a:rPr>
              <a:t>Mon</a:t>
            </a:r>
            <a:r>
              <a:rPr lang="sk-SK" sz="1100" dirty="0">
                <a:latin typeface="Consolas" panose="020B0609020204030204" pitchFamily="49" charset="0"/>
              </a:rPr>
              <a:t> May 12 09:17:13.449 </a:t>
            </a:r>
            <a:r>
              <a:rPr lang="sk-SK" sz="1100" dirty="0" err="1">
                <a:latin typeface="Consolas" panose="020B0609020204030204" pitchFamily="49" charset="0"/>
              </a:rPr>
              <a:t>UTC</a:t>
            </a:r>
            <a:endParaRPr lang="sk-SK" sz="1100" dirty="0">
              <a:latin typeface="Consolas" panose="020B0609020204030204" pitchFamily="49" charset="0"/>
            </a:endParaRPr>
          </a:p>
          <a:p>
            <a:r>
              <a:rPr lang="sk-SK" sz="1100" dirty="0">
                <a:latin typeface="Consolas" panose="020B0609020204030204" pitchFamily="49" charset="0"/>
              </a:rPr>
              <a:t>10.0.1.0/24, </a:t>
            </a:r>
            <a:r>
              <a:rPr lang="sk-SK" sz="1100" dirty="0" err="1">
                <a:latin typeface="Consolas" panose="020B0609020204030204" pitchFamily="49" charset="0"/>
              </a:rPr>
              <a:t>version</a:t>
            </a:r>
            <a:r>
              <a:rPr lang="sk-SK" sz="1100" dirty="0">
                <a:latin typeface="Consolas" panose="020B0609020204030204" pitchFamily="49" charset="0"/>
              </a:rPr>
              <a:t> 251, </a:t>
            </a:r>
            <a:r>
              <a:rPr lang="sk-SK" sz="1100" dirty="0" err="1">
                <a:latin typeface="Consolas" panose="020B0609020204030204" pitchFamily="49" charset="0"/>
              </a:rPr>
              <a:t>SRv6</a:t>
            </a:r>
            <a:r>
              <a:rPr lang="sk-SK" sz="1100" dirty="0">
                <a:latin typeface="Consolas" panose="020B0609020204030204" pitchFamily="49" charset="0"/>
              </a:rPr>
              <a:t> </a:t>
            </a:r>
            <a:r>
              <a:rPr lang="sk-SK" sz="1100" dirty="0" err="1">
                <a:latin typeface="Consolas" panose="020B0609020204030204" pitchFamily="49" charset="0"/>
              </a:rPr>
              <a:t>Headend</a:t>
            </a:r>
            <a:r>
              <a:rPr lang="sk-SK" sz="1100" dirty="0">
                <a:latin typeface="Consolas" panose="020B0609020204030204" pitchFamily="49" charset="0"/>
              </a:rPr>
              <a:t>, </a:t>
            </a:r>
            <a:r>
              <a:rPr lang="sk-SK" sz="1100" dirty="0" err="1">
                <a:latin typeface="Consolas" panose="020B0609020204030204" pitchFamily="49" charset="0"/>
              </a:rPr>
              <a:t>internal</a:t>
            </a:r>
            <a:r>
              <a:rPr lang="sk-SK" sz="1100" dirty="0">
                <a:latin typeface="Consolas" panose="020B0609020204030204" pitchFamily="49" charset="0"/>
              </a:rPr>
              <a:t> </a:t>
            </a:r>
            <a:r>
              <a:rPr lang="sk-SK" sz="1100" dirty="0" err="1">
                <a:latin typeface="Consolas" panose="020B0609020204030204" pitchFamily="49" charset="0"/>
              </a:rPr>
              <a:t>0x5000001</a:t>
            </a:r>
            <a:r>
              <a:rPr lang="sk-SK" sz="1100" dirty="0">
                <a:latin typeface="Consolas" panose="020B0609020204030204" pitchFamily="49" charset="0"/>
              </a:rPr>
              <a:t> </a:t>
            </a:r>
            <a:r>
              <a:rPr lang="sk-SK" sz="1100" dirty="0" err="1">
                <a:latin typeface="Consolas" panose="020B0609020204030204" pitchFamily="49" charset="0"/>
              </a:rPr>
              <a:t>0x30</a:t>
            </a:r>
            <a:r>
              <a:rPr lang="sk-SK" sz="1100" dirty="0">
                <a:latin typeface="Consolas" panose="020B0609020204030204" pitchFamily="49" charset="0"/>
              </a:rPr>
              <a:t> (</a:t>
            </a:r>
            <a:r>
              <a:rPr lang="sk-SK" sz="1100" dirty="0" err="1">
                <a:latin typeface="Consolas" panose="020B0609020204030204" pitchFamily="49" charset="0"/>
              </a:rPr>
              <a:t>ptr</a:t>
            </a:r>
            <a:r>
              <a:rPr lang="sk-SK" sz="1100" dirty="0">
                <a:latin typeface="Consolas" panose="020B0609020204030204" pitchFamily="49" charset="0"/>
              </a:rPr>
              <a:t> </a:t>
            </a:r>
            <a:r>
              <a:rPr lang="sk-SK" sz="1100" dirty="0" err="1">
                <a:latin typeface="Consolas" panose="020B0609020204030204" pitchFamily="49" charset="0"/>
              </a:rPr>
              <a:t>0xe5d9c08</a:t>
            </a:r>
            <a:r>
              <a:rPr lang="sk-SK" sz="1100" dirty="0">
                <a:latin typeface="Consolas" panose="020B0609020204030204" pitchFamily="49" charset="0"/>
              </a:rPr>
              <a:t>) [1], </a:t>
            </a:r>
            <a:r>
              <a:rPr lang="sk-SK" sz="1100" dirty="0" err="1">
                <a:latin typeface="Consolas" panose="020B0609020204030204" pitchFamily="49" charset="0"/>
              </a:rPr>
              <a:t>0x400</a:t>
            </a:r>
            <a:r>
              <a:rPr lang="sk-SK" sz="1100" dirty="0">
                <a:latin typeface="Consolas" panose="020B0609020204030204" pitchFamily="49" charset="0"/>
              </a:rPr>
              <a:t> (</a:t>
            </a:r>
            <a:r>
              <a:rPr lang="sk-SK" sz="1100" dirty="0" err="1">
                <a:latin typeface="Consolas" panose="020B0609020204030204" pitchFamily="49" charset="0"/>
              </a:rPr>
              <a:t>0xe75c618</a:t>
            </a:r>
            <a:r>
              <a:rPr lang="sk-SK" sz="1100" dirty="0">
                <a:latin typeface="Consolas" panose="020B0609020204030204" pitchFamily="49" charset="0"/>
              </a:rPr>
              <a:t>), </a:t>
            </a:r>
            <a:r>
              <a:rPr lang="sk-SK" sz="1100" dirty="0" err="1">
                <a:latin typeface="Consolas" panose="020B0609020204030204" pitchFamily="49" charset="0"/>
              </a:rPr>
              <a:t>0x0</a:t>
            </a:r>
            <a:r>
              <a:rPr lang="sk-SK" sz="1100" dirty="0">
                <a:latin typeface="Consolas" panose="020B0609020204030204" pitchFamily="49" charset="0"/>
              </a:rPr>
              <a:t> (</a:t>
            </a:r>
            <a:r>
              <a:rPr lang="sk-SK" sz="1100" dirty="0" err="1">
                <a:latin typeface="Consolas" panose="020B0609020204030204" pitchFamily="49" charset="0"/>
              </a:rPr>
              <a:t>0xfab3368</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Updated</a:t>
            </a:r>
            <a:r>
              <a:rPr lang="sk-SK" sz="1100" dirty="0">
                <a:latin typeface="Consolas" panose="020B0609020204030204" pitchFamily="49" charset="0"/>
              </a:rPr>
              <a:t> May 12 09:10:37.547</a:t>
            </a:r>
          </a:p>
          <a:p>
            <a:r>
              <a:rPr lang="sk-SK" sz="1100" dirty="0">
                <a:latin typeface="Consolas" panose="020B0609020204030204" pitchFamily="49" charset="0"/>
              </a:rPr>
              <a:t> Prefix Len 24, </a:t>
            </a:r>
            <a:r>
              <a:rPr lang="sk-SK" sz="1100" dirty="0" err="1">
                <a:latin typeface="Consolas" panose="020B0609020204030204" pitchFamily="49" charset="0"/>
              </a:rPr>
              <a:t>traffic</a:t>
            </a:r>
            <a:r>
              <a:rPr lang="sk-SK" sz="1100" dirty="0">
                <a:latin typeface="Consolas" panose="020B0609020204030204" pitchFamily="49" charset="0"/>
              </a:rPr>
              <a:t> index 0, </a:t>
            </a:r>
            <a:r>
              <a:rPr lang="sk-SK" sz="1100" dirty="0" err="1">
                <a:latin typeface="Consolas" panose="020B0609020204030204" pitchFamily="49" charset="0"/>
              </a:rPr>
              <a:t>precedence</a:t>
            </a:r>
            <a:r>
              <a:rPr lang="sk-SK" sz="1100" dirty="0">
                <a:latin typeface="Consolas" panose="020B0609020204030204" pitchFamily="49" charset="0"/>
              </a:rPr>
              <a:t> n/a, priority 3</a:t>
            </a:r>
          </a:p>
          <a:p>
            <a:r>
              <a:rPr lang="sk-SK" sz="1100" dirty="0">
                <a:latin typeface="Consolas" panose="020B0609020204030204" pitchFamily="49" charset="0"/>
              </a:rPr>
              <a:t>  </a:t>
            </a:r>
            <a:r>
              <a:rPr lang="sk-SK" sz="1100" dirty="0" err="1">
                <a:latin typeface="Consolas" panose="020B0609020204030204" pitchFamily="49" charset="0"/>
              </a:rPr>
              <a:t>gateway</a:t>
            </a:r>
            <a:r>
              <a:rPr lang="sk-SK" sz="1100" dirty="0">
                <a:latin typeface="Consolas" panose="020B0609020204030204" pitchFamily="49" charset="0"/>
              </a:rPr>
              <a:t> </a:t>
            </a:r>
            <a:r>
              <a:rPr lang="sk-SK" sz="1100" dirty="0" err="1">
                <a:latin typeface="Consolas" panose="020B0609020204030204" pitchFamily="49" charset="0"/>
              </a:rPr>
              <a:t>array</a:t>
            </a:r>
            <a:r>
              <a:rPr lang="sk-SK" sz="1100" dirty="0">
                <a:latin typeface="Consolas" panose="020B0609020204030204" pitchFamily="49" charset="0"/>
              </a:rPr>
              <a:t> (</a:t>
            </a:r>
            <a:r>
              <a:rPr lang="sk-SK" sz="1100" dirty="0" err="1">
                <a:latin typeface="Consolas" panose="020B0609020204030204" pitchFamily="49" charset="0"/>
              </a:rPr>
              <a:t>0x100b1098</a:t>
            </a:r>
            <a:r>
              <a:rPr lang="sk-SK" sz="1100" dirty="0">
                <a:latin typeface="Consolas" panose="020B0609020204030204" pitchFamily="49" charset="0"/>
              </a:rPr>
              <a:t>) </a:t>
            </a:r>
            <a:r>
              <a:rPr lang="sk-SK" sz="1100" dirty="0" err="1">
                <a:latin typeface="Consolas" panose="020B0609020204030204" pitchFamily="49" charset="0"/>
              </a:rPr>
              <a:t>reference</a:t>
            </a:r>
            <a:r>
              <a:rPr lang="sk-SK" sz="1100" dirty="0">
                <a:latin typeface="Consolas" panose="020B0609020204030204" pitchFamily="49" charset="0"/>
              </a:rPr>
              <a:t> </a:t>
            </a:r>
            <a:r>
              <a:rPr lang="sk-SK" sz="1100" dirty="0" err="1">
                <a:latin typeface="Consolas" panose="020B0609020204030204" pitchFamily="49" charset="0"/>
              </a:rPr>
              <a:t>count</a:t>
            </a:r>
            <a:r>
              <a:rPr lang="sk-SK" sz="1100" dirty="0">
                <a:latin typeface="Consolas" panose="020B0609020204030204" pitchFamily="49" charset="0"/>
              </a:rPr>
              <a:t> 4, </a:t>
            </a:r>
            <a:r>
              <a:rPr lang="sk-SK" sz="1100" dirty="0" err="1">
                <a:latin typeface="Consolas" panose="020B0609020204030204" pitchFamily="49" charset="0"/>
              </a:rPr>
              <a:t>flags</a:t>
            </a:r>
            <a:r>
              <a:rPr lang="sk-SK" sz="1100" dirty="0">
                <a:latin typeface="Consolas" panose="020B0609020204030204" pitchFamily="49" charset="0"/>
              </a:rPr>
              <a:t> </a:t>
            </a:r>
            <a:r>
              <a:rPr lang="sk-SK" sz="1100" dirty="0" err="1">
                <a:latin typeface="Consolas" panose="020B0609020204030204" pitchFamily="49" charset="0"/>
              </a:rPr>
              <a:t>0x10</a:t>
            </a:r>
            <a:r>
              <a:rPr lang="sk-SK" sz="1100" dirty="0">
                <a:latin typeface="Consolas" panose="020B0609020204030204" pitchFamily="49" charset="0"/>
              </a:rPr>
              <a:t>, </a:t>
            </a:r>
            <a:r>
              <a:rPr lang="sk-SK" sz="1100" dirty="0" err="1">
                <a:latin typeface="Consolas" panose="020B0609020204030204" pitchFamily="49" charset="0"/>
              </a:rPr>
              <a:t>source</a:t>
            </a:r>
            <a:r>
              <a:rPr lang="sk-SK" sz="1100" dirty="0">
                <a:latin typeface="Consolas" panose="020B0609020204030204" pitchFamily="49" charset="0"/>
              </a:rPr>
              <a:t> </a:t>
            </a:r>
            <a:r>
              <a:rPr lang="sk-SK" sz="1100" dirty="0" err="1">
                <a:latin typeface="Consolas" panose="020B0609020204030204" pitchFamily="49" charset="0"/>
              </a:rPr>
              <a:t>rib</a:t>
            </a:r>
            <a:r>
              <a:rPr lang="sk-SK" sz="1100" dirty="0">
                <a:latin typeface="Consolas" panose="020B0609020204030204" pitchFamily="49" charset="0"/>
              </a:rPr>
              <a:t> (7), 0 </a:t>
            </a:r>
            <a:r>
              <a:rPr lang="sk-SK" sz="1100" dirty="0" err="1">
                <a:latin typeface="Consolas" panose="020B0609020204030204" pitchFamily="49" charset="0"/>
              </a:rPr>
              <a:t>backups</a:t>
            </a:r>
            <a:endParaRPr lang="sk-SK" sz="1100" dirty="0">
              <a:latin typeface="Consolas" panose="020B0609020204030204" pitchFamily="49" charset="0"/>
            </a:endParaRPr>
          </a:p>
          <a:p>
            <a:r>
              <a:rPr lang="sk-SK" sz="1100" dirty="0">
                <a:latin typeface="Consolas" panose="020B0609020204030204" pitchFamily="49" charset="0"/>
              </a:rPr>
              <a:t>                [5 type 3 </a:t>
            </a:r>
            <a:r>
              <a:rPr lang="sk-SK" sz="1100" dirty="0" err="1">
                <a:latin typeface="Consolas" panose="020B0609020204030204" pitchFamily="49" charset="0"/>
              </a:rPr>
              <a:t>flags</a:t>
            </a:r>
            <a:r>
              <a:rPr lang="sk-SK" sz="1100" dirty="0">
                <a:latin typeface="Consolas" panose="020B0609020204030204" pitchFamily="49" charset="0"/>
              </a:rPr>
              <a:t> </a:t>
            </a:r>
            <a:r>
              <a:rPr lang="sk-SK" sz="1100" dirty="0" err="1">
                <a:latin typeface="Consolas" panose="020B0609020204030204" pitchFamily="49" charset="0"/>
              </a:rPr>
              <a:t>0x8441</a:t>
            </a:r>
            <a:r>
              <a:rPr lang="sk-SK" sz="1100" dirty="0">
                <a:latin typeface="Consolas" panose="020B0609020204030204" pitchFamily="49" charset="0"/>
              </a:rPr>
              <a:t> (</a:t>
            </a:r>
            <a:r>
              <a:rPr lang="sk-SK" sz="1100" dirty="0" err="1">
                <a:latin typeface="Consolas" panose="020B0609020204030204" pitchFamily="49" charset="0"/>
              </a:rPr>
              <a:t>0xe693f60</a:t>
            </a:r>
            <a:r>
              <a:rPr lang="sk-SK" sz="1100" dirty="0">
                <a:latin typeface="Consolas" panose="020B0609020204030204" pitchFamily="49" charset="0"/>
              </a:rPr>
              <a:t>) </a:t>
            </a:r>
            <a:r>
              <a:rPr lang="sk-SK" sz="1100" dirty="0" err="1">
                <a:latin typeface="Consolas" panose="020B0609020204030204" pitchFamily="49" charset="0"/>
              </a:rPr>
              <a:t>ext</a:t>
            </a:r>
            <a:r>
              <a:rPr lang="sk-SK" sz="1100" dirty="0">
                <a:latin typeface="Consolas" panose="020B0609020204030204" pitchFamily="49" charset="0"/>
              </a:rPr>
              <a:t> </a:t>
            </a:r>
            <a:r>
              <a:rPr lang="sk-SK" sz="1100" dirty="0" err="1">
                <a:latin typeface="Consolas" panose="020B0609020204030204" pitchFamily="49" charset="0"/>
              </a:rPr>
              <a:t>0x0</a:t>
            </a:r>
            <a:r>
              <a:rPr lang="sk-SK" sz="1100" dirty="0">
                <a:latin typeface="Consolas" panose="020B0609020204030204" pitchFamily="49" charset="0"/>
              </a:rPr>
              <a:t> (</a:t>
            </a:r>
            <a:r>
              <a:rPr lang="sk-SK" sz="1100" dirty="0" err="1">
                <a:latin typeface="Consolas" panose="020B0609020204030204" pitchFamily="49" charset="0"/>
              </a:rPr>
              <a:t>0x0</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LW-LDI</a:t>
            </a:r>
            <a:r>
              <a:rPr lang="sk-SK" sz="1100" dirty="0">
                <a:latin typeface="Consolas" panose="020B0609020204030204" pitchFamily="49" charset="0"/>
              </a:rPr>
              <a:t>[type=3, </a:t>
            </a:r>
            <a:r>
              <a:rPr lang="sk-SK" sz="1100" dirty="0" err="1">
                <a:latin typeface="Consolas" panose="020B0609020204030204" pitchFamily="49" charset="0"/>
              </a:rPr>
              <a:t>refc</a:t>
            </a:r>
            <a:r>
              <a:rPr lang="sk-SK" sz="1100" dirty="0">
                <a:latin typeface="Consolas" panose="020B0609020204030204" pitchFamily="49" charset="0"/>
              </a:rPr>
              <a:t>=1, </a:t>
            </a:r>
            <a:r>
              <a:rPr lang="sk-SK" sz="1100" dirty="0" err="1">
                <a:latin typeface="Consolas" panose="020B0609020204030204" pitchFamily="49" charset="0"/>
              </a:rPr>
              <a:t>ptr</a:t>
            </a:r>
            <a:r>
              <a:rPr lang="sk-SK" sz="1100" dirty="0">
                <a:latin typeface="Consolas" panose="020B0609020204030204" pitchFamily="49" charset="0"/>
              </a:rPr>
              <a:t>=</a:t>
            </a:r>
            <a:r>
              <a:rPr lang="sk-SK" sz="1100" dirty="0" err="1">
                <a:latin typeface="Consolas" panose="020B0609020204030204" pitchFamily="49" charset="0"/>
              </a:rPr>
              <a:t>0xe75c618</a:t>
            </a:r>
            <a:r>
              <a:rPr lang="sk-SK" sz="1100" dirty="0">
                <a:latin typeface="Consolas" panose="020B0609020204030204" pitchFamily="49" charset="0"/>
              </a:rPr>
              <a:t>, sh-</a:t>
            </a:r>
            <a:r>
              <a:rPr lang="sk-SK" sz="1100" dirty="0" err="1">
                <a:latin typeface="Consolas" panose="020B0609020204030204" pitchFamily="49" charset="0"/>
              </a:rPr>
              <a:t>ldi</a:t>
            </a:r>
            <a:r>
              <a:rPr lang="sk-SK" sz="1100" dirty="0">
                <a:latin typeface="Consolas" panose="020B0609020204030204" pitchFamily="49" charset="0"/>
              </a:rPr>
              <a:t>=</a:t>
            </a:r>
            <a:r>
              <a:rPr lang="sk-SK" sz="1100" dirty="0" err="1">
                <a:latin typeface="Consolas" panose="020B0609020204030204" pitchFamily="49" charset="0"/>
              </a:rPr>
              <a:t>0xe693f60</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gateway</a:t>
            </a:r>
            <a:r>
              <a:rPr lang="sk-SK" sz="1100" dirty="0">
                <a:latin typeface="Consolas" panose="020B0609020204030204" pitchFamily="49" charset="0"/>
              </a:rPr>
              <a:t> </a:t>
            </a:r>
            <a:r>
              <a:rPr lang="sk-SK" sz="1100" dirty="0" err="1">
                <a:latin typeface="Consolas" panose="020B0609020204030204" pitchFamily="49" charset="0"/>
              </a:rPr>
              <a:t>array</a:t>
            </a:r>
            <a:r>
              <a:rPr lang="sk-SK" sz="1100" dirty="0">
                <a:latin typeface="Consolas" panose="020B0609020204030204" pitchFamily="49" charset="0"/>
              </a:rPr>
              <a:t> update type-</a:t>
            </a:r>
            <a:r>
              <a:rPr lang="sk-SK" sz="1100" dirty="0" err="1">
                <a:latin typeface="Consolas" panose="020B0609020204030204" pitchFamily="49" charset="0"/>
              </a:rPr>
              <a:t>time</a:t>
            </a:r>
            <a:r>
              <a:rPr lang="sk-SK" sz="1100" dirty="0">
                <a:latin typeface="Consolas" panose="020B0609020204030204" pitchFamily="49" charset="0"/>
              </a:rPr>
              <a:t> 1 May 12 09:10:32.585</a:t>
            </a:r>
          </a:p>
          <a:p>
            <a:r>
              <a:rPr lang="sk-SK" sz="1100" dirty="0">
                <a:latin typeface="Consolas" panose="020B0609020204030204" pitchFamily="49" charset="0"/>
              </a:rPr>
              <a:t> </a:t>
            </a:r>
            <a:r>
              <a:rPr lang="sk-SK" sz="1100" dirty="0" err="1">
                <a:latin typeface="Consolas" panose="020B0609020204030204" pitchFamily="49" charset="0"/>
              </a:rPr>
              <a:t>LDI</a:t>
            </a:r>
            <a:r>
              <a:rPr lang="sk-SK" sz="1100" dirty="0">
                <a:latin typeface="Consolas" panose="020B0609020204030204" pitchFamily="49" charset="0"/>
              </a:rPr>
              <a:t> Update </a:t>
            </a:r>
            <a:r>
              <a:rPr lang="sk-SK" sz="1100" dirty="0" err="1">
                <a:latin typeface="Consolas" panose="020B0609020204030204" pitchFamily="49" charset="0"/>
              </a:rPr>
              <a:t>time</a:t>
            </a:r>
            <a:r>
              <a:rPr lang="sk-SK" sz="1100" dirty="0">
                <a:latin typeface="Consolas" panose="020B0609020204030204" pitchFamily="49" charset="0"/>
              </a:rPr>
              <a:t> May 12 09:10:32.593</a:t>
            </a:r>
          </a:p>
          <a:p>
            <a:r>
              <a:rPr lang="sk-SK" sz="1100" dirty="0">
                <a:latin typeface="Consolas" panose="020B0609020204030204" pitchFamily="49" charset="0"/>
              </a:rPr>
              <a:t> </a:t>
            </a:r>
            <a:r>
              <a:rPr lang="sk-SK" sz="1100" dirty="0" err="1">
                <a:latin typeface="Consolas" panose="020B0609020204030204" pitchFamily="49" charset="0"/>
              </a:rPr>
              <a:t>LW-LDI-TS</a:t>
            </a:r>
            <a:r>
              <a:rPr lang="sk-SK" sz="1100" dirty="0">
                <a:latin typeface="Consolas" panose="020B0609020204030204" pitchFamily="49" charset="0"/>
              </a:rPr>
              <a:t> May 12 09:10:37.547</a:t>
            </a:r>
          </a:p>
          <a:p>
            <a:endParaRPr lang="sk-SK" sz="1100" dirty="0">
              <a:latin typeface="Consolas" panose="020B0609020204030204" pitchFamily="49" charset="0"/>
            </a:endParaRPr>
          </a:p>
          <a:p>
            <a:r>
              <a:rPr lang="sk-SK" sz="1100" dirty="0">
                <a:latin typeface="Consolas" panose="020B0609020204030204" pitchFamily="49" charset="0"/>
              </a:rPr>
              <a:t>  Level 1 - </a:t>
            </a:r>
            <a:r>
              <a:rPr lang="sk-SK" sz="1100" dirty="0" err="1">
                <a:latin typeface="Consolas" panose="020B0609020204030204" pitchFamily="49" charset="0"/>
              </a:rPr>
              <a:t>Load</a:t>
            </a:r>
            <a:r>
              <a:rPr lang="sk-SK" sz="1100" dirty="0">
                <a:latin typeface="Consolas" panose="020B0609020204030204" pitchFamily="49" charset="0"/>
              </a:rPr>
              <a:t> </a:t>
            </a:r>
            <a:r>
              <a:rPr lang="sk-SK" sz="1100" dirty="0" err="1">
                <a:latin typeface="Consolas" panose="020B0609020204030204" pitchFamily="49" charset="0"/>
              </a:rPr>
              <a:t>distribution</a:t>
            </a:r>
            <a:r>
              <a:rPr lang="sk-SK" sz="1100" dirty="0">
                <a:latin typeface="Consolas" panose="020B0609020204030204" pitchFamily="49" charset="0"/>
              </a:rPr>
              <a:t>: 0</a:t>
            </a:r>
          </a:p>
          <a:p>
            <a:r>
              <a:rPr lang="sk-SK" sz="1100" dirty="0">
                <a:latin typeface="Consolas" panose="020B0609020204030204" pitchFamily="49" charset="0"/>
              </a:rPr>
              <a:t>  [0] </a:t>
            </a:r>
            <a:r>
              <a:rPr lang="sk-SK" sz="1100" dirty="0" err="1">
                <a:latin typeface="Consolas" panose="020B0609020204030204" pitchFamily="49" charset="0"/>
              </a:rPr>
              <a:t>via</a:t>
            </a:r>
            <a:r>
              <a:rPr lang="sk-SK" sz="1100" dirty="0">
                <a:latin typeface="Consolas" panose="020B0609020204030204" pitchFamily="49" charset="0"/>
              </a:rPr>
              <a:t> </a:t>
            </a:r>
            <a:r>
              <a:rPr lang="sk-SK" sz="1100" dirty="0" err="1">
                <a:latin typeface="Consolas" panose="020B0609020204030204" pitchFamily="49" charset="0"/>
              </a:rPr>
              <a:t>fc00:ab00:1</a:t>
            </a:r>
            <a:r>
              <a:rPr lang="sk-SK" sz="1100" dirty="0">
                <a:latin typeface="Consolas" panose="020B0609020204030204" pitchFamily="49" charset="0"/>
              </a:rPr>
              <a:t>::/128, </a:t>
            </a:r>
            <a:r>
              <a:rPr lang="sk-SK" sz="1100" dirty="0" err="1">
                <a:latin typeface="Consolas" panose="020B0609020204030204" pitchFamily="49" charset="0"/>
              </a:rPr>
              <a:t>recursive</a:t>
            </a:r>
            <a:endParaRPr lang="sk-SK" sz="1100" dirty="0">
              <a:latin typeface="Consolas" panose="020B0609020204030204" pitchFamily="49" charset="0"/>
            </a:endParaRPr>
          </a:p>
          <a:p>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via</a:t>
            </a:r>
            <a:r>
              <a:rPr lang="sk-SK" sz="1100" dirty="0">
                <a:latin typeface="Consolas" panose="020B0609020204030204" pitchFamily="49" charset="0"/>
              </a:rPr>
              <a:t> </a:t>
            </a:r>
            <a:r>
              <a:rPr lang="sk-SK" sz="1100" dirty="0" err="1">
                <a:latin typeface="Consolas" panose="020B0609020204030204" pitchFamily="49" charset="0"/>
              </a:rPr>
              <a:t>fc00:ab00:1</a:t>
            </a:r>
            <a:r>
              <a:rPr lang="sk-SK" sz="1100" dirty="0">
                <a:latin typeface="Consolas" panose="020B0609020204030204" pitchFamily="49" charset="0"/>
              </a:rPr>
              <a:t>::/128, 5 </a:t>
            </a:r>
            <a:r>
              <a:rPr lang="sk-SK" sz="1100" dirty="0" err="1">
                <a:latin typeface="Consolas" panose="020B0609020204030204" pitchFamily="49" charset="0"/>
              </a:rPr>
              <a:t>dependencies</a:t>
            </a:r>
            <a:r>
              <a:rPr lang="sk-SK" sz="1100" dirty="0">
                <a:latin typeface="Consolas" panose="020B0609020204030204" pitchFamily="49" charset="0"/>
              </a:rPr>
              <a:t>, </a:t>
            </a:r>
            <a:r>
              <a:rPr lang="sk-SK" sz="1100" dirty="0" err="1">
                <a:latin typeface="Consolas" panose="020B0609020204030204" pitchFamily="49" charset="0"/>
              </a:rPr>
              <a:t>recursive</a:t>
            </a:r>
            <a:r>
              <a:rPr lang="sk-SK" sz="1100" dirty="0">
                <a:latin typeface="Consolas" panose="020B0609020204030204" pitchFamily="49" charset="0"/>
              </a:rPr>
              <a:t> [</a:t>
            </a:r>
            <a:r>
              <a:rPr lang="sk-SK" sz="1100" dirty="0" err="1">
                <a:latin typeface="Consolas" panose="020B0609020204030204" pitchFamily="49" charset="0"/>
              </a:rPr>
              <a:t>flags</a:t>
            </a:r>
            <a:r>
              <a:rPr lang="sk-SK" sz="1100" dirty="0">
                <a:latin typeface="Consolas" panose="020B0609020204030204" pitchFamily="49" charset="0"/>
              </a:rPr>
              <a:t> </a:t>
            </a:r>
            <a:r>
              <a:rPr lang="sk-SK" sz="1100" dirty="0" err="1">
                <a:latin typeface="Consolas" panose="020B0609020204030204" pitchFamily="49" charset="0"/>
              </a:rPr>
              <a:t>0x6000</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path-idx</a:t>
            </a:r>
            <a:r>
              <a:rPr lang="sk-SK" sz="1100" dirty="0">
                <a:latin typeface="Consolas" panose="020B0609020204030204" pitchFamily="49" charset="0"/>
              </a:rPr>
              <a:t> 0 </a:t>
            </a:r>
            <a:r>
              <a:rPr lang="sk-SK" sz="1100" dirty="0" err="1">
                <a:latin typeface="Consolas" panose="020B0609020204030204" pitchFamily="49" charset="0"/>
              </a:rPr>
              <a:t>NHID</a:t>
            </a:r>
            <a:r>
              <a:rPr lang="sk-SK" sz="1100" dirty="0">
                <a:latin typeface="Consolas" panose="020B0609020204030204" pitchFamily="49" charset="0"/>
              </a:rPr>
              <a:t> </a:t>
            </a:r>
            <a:r>
              <a:rPr lang="sk-SK" sz="1100" dirty="0" err="1">
                <a:latin typeface="Consolas" panose="020B0609020204030204" pitchFamily="49" charset="0"/>
              </a:rPr>
              <a:t>0x0</a:t>
            </a:r>
            <a:r>
              <a:rPr lang="sk-SK" sz="1100" dirty="0">
                <a:latin typeface="Consolas" panose="020B0609020204030204" pitchFamily="49" charset="0"/>
              </a:rPr>
              <a:t> [</a:t>
            </a:r>
            <a:r>
              <a:rPr lang="sk-SK" sz="1100" dirty="0" err="1">
                <a:latin typeface="Consolas" panose="020B0609020204030204" pitchFamily="49" charset="0"/>
              </a:rPr>
              <a:t>0xe37a8b0</a:t>
            </a:r>
            <a:r>
              <a:rPr lang="sk-SK" sz="1100" dirty="0">
                <a:latin typeface="Consolas" panose="020B0609020204030204" pitchFamily="49" charset="0"/>
              </a:rPr>
              <a:t> </a:t>
            </a:r>
            <a:r>
              <a:rPr lang="sk-SK" sz="1100" dirty="0" err="1">
                <a:latin typeface="Consolas" panose="020B0609020204030204" pitchFamily="49" charset="0"/>
              </a:rPr>
              <a:t>0x0</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next</a:t>
            </a:r>
            <a:r>
              <a:rPr lang="sk-SK" sz="1100" dirty="0">
                <a:latin typeface="Consolas" panose="020B0609020204030204" pitchFamily="49" charset="0"/>
              </a:rPr>
              <a:t> hop VRF - 'default', table - </a:t>
            </a:r>
            <a:r>
              <a:rPr lang="sk-SK" sz="1100" dirty="0" err="1">
                <a:latin typeface="Consolas" panose="020B0609020204030204" pitchFamily="49" charset="0"/>
              </a:rPr>
              <a:t>0xe0800000</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next</a:t>
            </a:r>
            <a:r>
              <a:rPr lang="sk-SK" sz="1100" dirty="0">
                <a:latin typeface="Consolas" panose="020B0609020204030204" pitchFamily="49" charset="0"/>
              </a:rPr>
              <a:t> hop </a:t>
            </a:r>
            <a:r>
              <a:rPr lang="sk-SK" sz="1100" dirty="0" err="1">
                <a:latin typeface="Consolas" panose="020B0609020204030204" pitchFamily="49" charset="0"/>
              </a:rPr>
              <a:t>fc00:ab00:1</a:t>
            </a:r>
            <a:r>
              <a:rPr lang="sk-SK" sz="1100" dirty="0">
                <a:latin typeface="Consolas" panose="020B0609020204030204" pitchFamily="49" charset="0"/>
              </a:rPr>
              <a:t>::/128 </a:t>
            </a:r>
            <a:r>
              <a:rPr lang="sk-SK" sz="1100" dirty="0" err="1">
                <a:latin typeface="Consolas" panose="020B0609020204030204" pitchFamily="49" charset="0"/>
              </a:rPr>
              <a:t>via</a:t>
            </a:r>
            <a:r>
              <a:rPr lang="sk-SK" sz="1100" dirty="0">
                <a:latin typeface="Consolas" panose="020B0609020204030204" pitchFamily="49" charset="0"/>
              </a:rPr>
              <a:t> </a:t>
            </a:r>
            <a:r>
              <a:rPr lang="sk-SK" sz="1100" dirty="0" err="1">
                <a:latin typeface="Consolas" panose="020B0609020204030204" pitchFamily="49" charset="0"/>
              </a:rPr>
              <a:t>fc00:ab00:1</a:t>
            </a:r>
            <a:r>
              <a:rPr lang="sk-SK" sz="1100" dirty="0">
                <a:latin typeface="Consolas" panose="020B0609020204030204" pitchFamily="49" charset="0"/>
              </a:rPr>
              <a:t>::/64</a:t>
            </a:r>
          </a:p>
          <a:p>
            <a:r>
              <a:rPr lang="sk-SK" sz="1100" dirty="0">
                <a:latin typeface="Consolas" panose="020B0609020204030204" pitchFamily="49" charset="0"/>
              </a:rPr>
              <a:t>    </a:t>
            </a:r>
            <a:r>
              <a:rPr lang="sk-SK" sz="1100" dirty="0" err="1">
                <a:latin typeface="Consolas" panose="020B0609020204030204" pitchFamily="49" charset="0"/>
              </a:rPr>
              <a:t>SRv6</a:t>
            </a:r>
            <a:r>
              <a:rPr lang="sk-SK" sz="1100" dirty="0">
                <a:latin typeface="Consolas" panose="020B0609020204030204" pitchFamily="49" charset="0"/>
              </a:rPr>
              <a:t> </a:t>
            </a:r>
            <a:r>
              <a:rPr lang="sk-SK" sz="1100" dirty="0" err="1">
                <a:latin typeface="Consolas" panose="020B0609020204030204" pitchFamily="49" charset="0"/>
              </a:rPr>
              <a:t>H.Encaps.Red</a:t>
            </a:r>
            <a:r>
              <a:rPr lang="sk-SK" sz="1100" dirty="0">
                <a:latin typeface="Consolas" panose="020B0609020204030204" pitchFamily="49" charset="0"/>
              </a:rPr>
              <a:t> </a:t>
            </a:r>
            <a:r>
              <a:rPr lang="sk-SK" sz="1100" dirty="0" err="1">
                <a:latin typeface="Consolas" panose="020B0609020204030204" pitchFamily="49" charset="0"/>
              </a:rPr>
              <a:t>SID</a:t>
            </a:r>
            <a:r>
              <a:rPr lang="sk-SK" sz="1100" dirty="0">
                <a:latin typeface="Consolas" panose="020B0609020204030204" pitchFamily="49" charset="0"/>
              </a:rPr>
              <a:t>-list {</a:t>
            </a:r>
            <a:r>
              <a:rPr lang="sk-SK" sz="1100" dirty="0" err="1">
                <a:highlight>
                  <a:srgbClr val="FF00FF"/>
                </a:highlight>
                <a:latin typeface="Consolas" panose="020B0609020204030204" pitchFamily="49" charset="0"/>
              </a:rPr>
              <a:t>fc00:ab00:1:0:43</a:t>
            </a:r>
            <a:r>
              <a:rPr lang="sk-SK" sz="1100" dirty="0">
                <a:highlight>
                  <a:srgbClr val="FF00FF"/>
                </a:highlight>
                <a:latin typeface="Consolas" panose="020B0609020204030204" pitchFamily="49" charset="0"/>
              </a:rPr>
              <a:t>::</a:t>
            </a:r>
            <a:r>
              <a:rPr lang="sk-SK" sz="1100" dirty="0">
                <a:latin typeface="Consolas" panose="020B0609020204030204" pitchFamily="49" charset="0"/>
              </a:rPr>
              <a:t>}</a:t>
            </a:r>
          </a:p>
          <a:p>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Load</a:t>
            </a:r>
            <a:r>
              <a:rPr lang="sk-SK" sz="1100" dirty="0">
                <a:latin typeface="Consolas" panose="020B0609020204030204" pitchFamily="49" charset="0"/>
              </a:rPr>
              <a:t> </a:t>
            </a:r>
            <a:r>
              <a:rPr lang="sk-SK" sz="1100" dirty="0" err="1">
                <a:latin typeface="Consolas" panose="020B0609020204030204" pitchFamily="49" charset="0"/>
              </a:rPr>
              <a:t>distribution</a:t>
            </a:r>
            <a:r>
              <a:rPr lang="sk-SK" sz="1100" dirty="0">
                <a:latin typeface="Consolas" panose="020B0609020204030204" pitchFamily="49" charset="0"/>
              </a:rPr>
              <a:t>: 0 (refcount 5)</a:t>
            </a:r>
          </a:p>
          <a:p>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Hash</a:t>
            </a:r>
            <a:r>
              <a:rPr lang="sk-SK" sz="1100" dirty="0">
                <a:latin typeface="Consolas" panose="020B0609020204030204" pitchFamily="49" charset="0"/>
              </a:rPr>
              <a:t>  OK  Interface                 </a:t>
            </a:r>
            <a:r>
              <a:rPr lang="sk-SK" sz="1100" dirty="0" err="1">
                <a:latin typeface="Consolas" panose="020B0609020204030204" pitchFamily="49" charset="0"/>
              </a:rPr>
              <a:t>Address</a:t>
            </a:r>
            <a:endParaRPr lang="sk-SK" sz="1100" dirty="0">
              <a:latin typeface="Consolas" panose="020B0609020204030204" pitchFamily="49" charset="0"/>
            </a:endParaRPr>
          </a:p>
          <a:p>
            <a:r>
              <a:rPr lang="sk-SK" sz="1100" dirty="0">
                <a:latin typeface="Consolas" panose="020B0609020204030204" pitchFamily="49" charset="0"/>
              </a:rPr>
              <a:t>    0     Y   </a:t>
            </a:r>
            <a:r>
              <a:rPr lang="sk-SK" sz="1100" dirty="0" err="1">
                <a:latin typeface="Consolas" panose="020B0609020204030204" pitchFamily="49" charset="0"/>
              </a:rPr>
              <a:t>GigabitEthernet0</a:t>
            </a:r>
            <a:r>
              <a:rPr lang="sk-SK" sz="1100" dirty="0">
                <a:latin typeface="Consolas" panose="020B0609020204030204" pitchFamily="49" charset="0"/>
              </a:rPr>
              <a:t>/0/0/4    </a:t>
            </a:r>
            <a:r>
              <a:rPr lang="sk-SK" sz="1100" dirty="0" err="1">
                <a:latin typeface="Consolas" panose="020B0609020204030204" pitchFamily="49" charset="0"/>
              </a:rPr>
              <a:t>remote</a:t>
            </a:r>
            <a:r>
              <a:rPr lang="sk-SK" sz="1100" dirty="0">
                <a:latin typeface="Consolas" panose="020B0609020204030204" pitchFamily="49" charset="0"/>
              </a:rPr>
              <a:t>         </a:t>
            </a:r>
          </a:p>
          <a:p>
            <a:r>
              <a:rPr lang="sk-SK" sz="1100" dirty="0">
                <a:latin typeface="Consolas" panose="020B0609020204030204" pitchFamily="49" charset="0"/>
              </a:rPr>
              <a:t>          </a:t>
            </a:r>
          </a:p>
          <a:p>
            <a:r>
              <a:rPr lang="sk-SK" sz="1100" dirty="0">
                <a:latin typeface="Consolas" panose="020B0609020204030204" pitchFamily="49" charset="0"/>
              </a:rPr>
              <a:t>RP/0/RP0/</a:t>
            </a:r>
            <a:r>
              <a:rPr lang="sk-SK" sz="1100" dirty="0" err="1">
                <a:latin typeface="Consolas" panose="020B0609020204030204" pitchFamily="49" charset="0"/>
              </a:rPr>
              <a:t>CPU0:R04</a:t>
            </a:r>
            <a:r>
              <a:rPr lang="sk-SK" sz="1100" dirty="0">
                <a:latin typeface="Consolas" panose="020B0609020204030204" pitchFamily="49" charset="0"/>
              </a:rPr>
              <a:t>#</a:t>
            </a:r>
            <a:endParaRPr lang="sk-SK" sz="1100" dirty="0">
              <a:solidFill>
                <a:srgbClr val="FF0000"/>
              </a:solidFill>
              <a:latin typeface="Consolas" panose="020B0609020204030204" pitchFamily="49" charset="0"/>
            </a:endParaRPr>
          </a:p>
        </p:txBody>
      </p:sp>
      <p:sp>
        <p:nvSpPr>
          <p:cNvPr id="6" name="Rectangle 5">
            <a:extLst>
              <a:ext uri="{FF2B5EF4-FFF2-40B4-BE49-F238E27FC236}">
                <a16:creationId xmlns:a16="http://schemas.microsoft.com/office/drawing/2014/main" id="{DBC4BCBB-D82A-13FC-397A-81044C49369B}"/>
              </a:ext>
            </a:extLst>
          </p:cNvPr>
          <p:cNvSpPr/>
          <p:nvPr/>
        </p:nvSpPr>
        <p:spPr>
          <a:xfrm>
            <a:off x="6347637" y="912940"/>
            <a:ext cx="5752214" cy="5339923"/>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RP/0/RP0/</a:t>
            </a:r>
            <a:r>
              <a:rPr lang="sk-SK" sz="1100" dirty="0" err="1">
                <a:latin typeface="Consolas" panose="020B0609020204030204" pitchFamily="49" charset="0"/>
              </a:rPr>
              <a:t>CPU0:R04#sh</a:t>
            </a:r>
            <a:r>
              <a:rPr lang="sk-SK" sz="1100" dirty="0">
                <a:latin typeface="Consolas" panose="020B0609020204030204" pitchFamily="49" charset="0"/>
              </a:rPr>
              <a:t> cef vrf A ipv6 </a:t>
            </a:r>
            <a:r>
              <a:rPr lang="sk-SK" sz="1100" dirty="0" err="1">
                <a:latin typeface="Consolas" panose="020B0609020204030204" pitchFamily="49" charset="0"/>
              </a:rPr>
              <a:t>FC65</a:t>
            </a:r>
            <a:r>
              <a:rPr lang="sk-SK" sz="1100" dirty="0">
                <a:latin typeface="Consolas" panose="020B0609020204030204" pitchFamily="49" charset="0"/>
              </a:rPr>
              <a:t>::</a:t>
            </a:r>
            <a:r>
              <a:rPr lang="sk-SK" sz="1100" dirty="0" err="1">
                <a:latin typeface="Consolas" panose="020B0609020204030204" pitchFamily="49" charset="0"/>
              </a:rPr>
              <a:t>ABCD:10:0:1:1</a:t>
            </a:r>
            <a:endParaRPr lang="sk-SK" sz="1100" dirty="0">
              <a:latin typeface="Consolas" panose="020B0609020204030204" pitchFamily="49" charset="0"/>
            </a:endParaRPr>
          </a:p>
          <a:p>
            <a:r>
              <a:rPr lang="sk-SK" sz="1100" dirty="0" err="1">
                <a:latin typeface="Consolas" panose="020B0609020204030204" pitchFamily="49" charset="0"/>
              </a:rPr>
              <a:t>Mon</a:t>
            </a:r>
            <a:r>
              <a:rPr lang="sk-SK" sz="1100" dirty="0">
                <a:latin typeface="Consolas" panose="020B0609020204030204" pitchFamily="49" charset="0"/>
              </a:rPr>
              <a:t> May 12 09:17:17.326 </a:t>
            </a:r>
            <a:r>
              <a:rPr lang="sk-SK" sz="1100" dirty="0" err="1">
                <a:latin typeface="Consolas" panose="020B0609020204030204" pitchFamily="49" charset="0"/>
              </a:rPr>
              <a:t>UTC</a:t>
            </a:r>
            <a:endParaRPr lang="sk-SK" sz="1100" dirty="0">
              <a:latin typeface="Consolas" panose="020B0609020204030204" pitchFamily="49" charset="0"/>
            </a:endParaRPr>
          </a:p>
          <a:p>
            <a:r>
              <a:rPr lang="sk-SK" sz="1100" dirty="0" err="1">
                <a:latin typeface="Consolas" panose="020B0609020204030204" pitchFamily="49" charset="0"/>
              </a:rPr>
              <a:t>fc65</a:t>
            </a:r>
            <a:r>
              <a:rPr lang="sk-SK" sz="1100" dirty="0">
                <a:latin typeface="Consolas" panose="020B0609020204030204" pitchFamily="49" charset="0"/>
              </a:rPr>
              <a:t>::</a:t>
            </a:r>
            <a:r>
              <a:rPr lang="sk-SK" sz="1100" dirty="0" err="1">
                <a:latin typeface="Consolas" panose="020B0609020204030204" pitchFamily="49" charset="0"/>
              </a:rPr>
              <a:t>abcd:10:0:1:0</a:t>
            </a:r>
            <a:r>
              <a:rPr lang="sk-SK" sz="1100" dirty="0">
                <a:latin typeface="Consolas" panose="020B0609020204030204" pitchFamily="49" charset="0"/>
              </a:rPr>
              <a:t>/112, </a:t>
            </a:r>
            <a:r>
              <a:rPr lang="sk-SK" sz="1100" dirty="0" err="1">
                <a:latin typeface="Consolas" panose="020B0609020204030204" pitchFamily="49" charset="0"/>
              </a:rPr>
              <a:t>version</a:t>
            </a:r>
            <a:r>
              <a:rPr lang="sk-SK" sz="1100" dirty="0">
                <a:latin typeface="Consolas" panose="020B0609020204030204" pitchFamily="49" charset="0"/>
              </a:rPr>
              <a:t> 254, </a:t>
            </a:r>
            <a:r>
              <a:rPr lang="sk-SK" sz="1100" dirty="0" err="1">
                <a:latin typeface="Consolas" panose="020B0609020204030204" pitchFamily="49" charset="0"/>
              </a:rPr>
              <a:t>SRv6</a:t>
            </a:r>
            <a:r>
              <a:rPr lang="sk-SK" sz="1100" dirty="0">
                <a:latin typeface="Consolas" panose="020B0609020204030204" pitchFamily="49" charset="0"/>
              </a:rPr>
              <a:t> </a:t>
            </a:r>
            <a:r>
              <a:rPr lang="sk-SK" sz="1100" dirty="0" err="1">
                <a:latin typeface="Consolas" panose="020B0609020204030204" pitchFamily="49" charset="0"/>
              </a:rPr>
              <a:t>Headend</a:t>
            </a:r>
            <a:r>
              <a:rPr lang="sk-SK" sz="1100" dirty="0">
                <a:latin typeface="Consolas" panose="020B0609020204030204" pitchFamily="49" charset="0"/>
              </a:rPr>
              <a:t>, </a:t>
            </a:r>
            <a:r>
              <a:rPr lang="sk-SK" sz="1100" dirty="0" err="1">
                <a:latin typeface="Consolas" panose="020B0609020204030204" pitchFamily="49" charset="0"/>
              </a:rPr>
              <a:t>internal</a:t>
            </a:r>
            <a:r>
              <a:rPr lang="sk-SK" sz="1100" dirty="0">
                <a:latin typeface="Consolas" panose="020B0609020204030204" pitchFamily="49" charset="0"/>
              </a:rPr>
              <a:t> </a:t>
            </a:r>
            <a:r>
              <a:rPr lang="sk-SK" sz="1100" dirty="0" err="1">
                <a:latin typeface="Consolas" panose="020B0609020204030204" pitchFamily="49" charset="0"/>
              </a:rPr>
              <a:t>0x5000001</a:t>
            </a:r>
            <a:r>
              <a:rPr lang="sk-SK" sz="1100" dirty="0">
                <a:latin typeface="Consolas" panose="020B0609020204030204" pitchFamily="49" charset="0"/>
              </a:rPr>
              <a:t> </a:t>
            </a:r>
            <a:r>
              <a:rPr lang="sk-SK" sz="1100" dirty="0" err="1">
                <a:latin typeface="Consolas" panose="020B0609020204030204" pitchFamily="49" charset="0"/>
              </a:rPr>
              <a:t>0x30</a:t>
            </a:r>
            <a:r>
              <a:rPr lang="sk-SK" sz="1100" dirty="0">
                <a:latin typeface="Consolas" panose="020B0609020204030204" pitchFamily="49" charset="0"/>
              </a:rPr>
              <a:t> (</a:t>
            </a:r>
            <a:r>
              <a:rPr lang="sk-SK" sz="1100" dirty="0" err="1">
                <a:latin typeface="Consolas" panose="020B0609020204030204" pitchFamily="49" charset="0"/>
              </a:rPr>
              <a:t>ptr</a:t>
            </a:r>
            <a:r>
              <a:rPr lang="sk-SK" sz="1100" dirty="0">
                <a:latin typeface="Consolas" panose="020B0609020204030204" pitchFamily="49" charset="0"/>
              </a:rPr>
              <a:t> </a:t>
            </a:r>
            <a:r>
              <a:rPr lang="sk-SK" sz="1100" dirty="0" err="1">
                <a:latin typeface="Consolas" panose="020B0609020204030204" pitchFamily="49" charset="0"/>
              </a:rPr>
              <a:t>0xe37aac0</a:t>
            </a:r>
            <a:r>
              <a:rPr lang="sk-SK" sz="1100" dirty="0">
                <a:latin typeface="Consolas" panose="020B0609020204030204" pitchFamily="49" charset="0"/>
              </a:rPr>
              <a:t>) [1], </a:t>
            </a:r>
            <a:r>
              <a:rPr lang="sk-SK" sz="1100" dirty="0" err="1">
                <a:latin typeface="Consolas" panose="020B0609020204030204" pitchFamily="49" charset="0"/>
              </a:rPr>
              <a:t>0x400</a:t>
            </a:r>
            <a:r>
              <a:rPr lang="sk-SK" sz="1100" dirty="0">
                <a:latin typeface="Consolas" panose="020B0609020204030204" pitchFamily="49" charset="0"/>
              </a:rPr>
              <a:t> (</a:t>
            </a:r>
            <a:r>
              <a:rPr lang="sk-SK" sz="1100" dirty="0" err="1">
                <a:latin typeface="Consolas" panose="020B0609020204030204" pitchFamily="49" charset="0"/>
              </a:rPr>
              <a:t>0xe4ecb18</a:t>
            </a:r>
            <a:r>
              <a:rPr lang="sk-SK" sz="1100" dirty="0">
                <a:latin typeface="Consolas" panose="020B0609020204030204" pitchFamily="49" charset="0"/>
              </a:rPr>
              <a:t>), </a:t>
            </a:r>
            <a:r>
              <a:rPr lang="sk-SK" sz="1100" dirty="0" err="1">
                <a:latin typeface="Consolas" panose="020B0609020204030204" pitchFamily="49" charset="0"/>
              </a:rPr>
              <a:t>0x0</a:t>
            </a:r>
            <a:r>
              <a:rPr lang="sk-SK" sz="1100" dirty="0">
                <a:latin typeface="Consolas" panose="020B0609020204030204" pitchFamily="49" charset="0"/>
              </a:rPr>
              <a:t> (</a:t>
            </a:r>
            <a:r>
              <a:rPr lang="sk-SK" sz="1100" dirty="0" err="1">
                <a:latin typeface="Consolas" panose="020B0609020204030204" pitchFamily="49" charset="0"/>
              </a:rPr>
              <a:t>0xfab3200</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Updated</a:t>
            </a:r>
            <a:r>
              <a:rPr lang="sk-SK" sz="1100" dirty="0">
                <a:latin typeface="Consolas" panose="020B0609020204030204" pitchFamily="49" charset="0"/>
              </a:rPr>
              <a:t> May 12 09:10:35.497</a:t>
            </a:r>
          </a:p>
          <a:p>
            <a:r>
              <a:rPr lang="sk-SK" sz="1100" dirty="0">
                <a:latin typeface="Consolas" panose="020B0609020204030204" pitchFamily="49" charset="0"/>
              </a:rPr>
              <a:t> Prefix Len 112, </a:t>
            </a:r>
            <a:r>
              <a:rPr lang="sk-SK" sz="1100" dirty="0" err="1">
                <a:latin typeface="Consolas" panose="020B0609020204030204" pitchFamily="49" charset="0"/>
              </a:rPr>
              <a:t>traffic</a:t>
            </a:r>
            <a:r>
              <a:rPr lang="sk-SK" sz="1100" dirty="0">
                <a:latin typeface="Consolas" panose="020B0609020204030204" pitchFamily="49" charset="0"/>
              </a:rPr>
              <a:t> index 0, </a:t>
            </a:r>
            <a:r>
              <a:rPr lang="sk-SK" sz="1100" dirty="0" err="1">
                <a:latin typeface="Consolas" panose="020B0609020204030204" pitchFamily="49" charset="0"/>
              </a:rPr>
              <a:t>precedence</a:t>
            </a:r>
            <a:r>
              <a:rPr lang="sk-SK" sz="1100" dirty="0">
                <a:latin typeface="Consolas" panose="020B0609020204030204" pitchFamily="49" charset="0"/>
              </a:rPr>
              <a:t> n/a, priority 3</a:t>
            </a:r>
          </a:p>
          <a:p>
            <a:r>
              <a:rPr lang="sk-SK" sz="1100" dirty="0">
                <a:latin typeface="Consolas" panose="020B0609020204030204" pitchFamily="49" charset="0"/>
              </a:rPr>
              <a:t>  </a:t>
            </a:r>
            <a:r>
              <a:rPr lang="sk-SK" sz="1100" dirty="0" err="1">
                <a:latin typeface="Consolas" panose="020B0609020204030204" pitchFamily="49" charset="0"/>
              </a:rPr>
              <a:t>gateway</a:t>
            </a:r>
            <a:r>
              <a:rPr lang="sk-SK" sz="1100" dirty="0">
                <a:latin typeface="Consolas" panose="020B0609020204030204" pitchFamily="49" charset="0"/>
              </a:rPr>
              <a:t> </a:t>
            </a:r>
            <a:r>
              <a:rPr lang="sk-SK" sz="1100" dirty="0" err="1">
                <a:latin typeface="Consolas" panose="020B0609020204030204" pitchFamily="49" charset="0"/>
              </a:rPr>
              <a:t>array</a:t>
            </a:r>
            <a:r>
              <a:rPr lang="sk-SK" sz="1100" dirty="0">
                <a:latin typeface="Consolas" panose="020B0609020204030204" pitchFamily="49" charset="0"/>
              </a:rPr>
              <a:t> (</a:t>
            </a:r>
            <a:r>
              <a:rPr lang="sk-SK" sz="1100" dirty="0" err="1">
                <a:latin typeface="Consolas" panose="020B0609020204030204" pitchFamily="49" charset="0"/>
              </a:rPr>
              <a:t>0xe382198</a:t>
            </a:r>
            <a:r>
              <a:rPr lang="sk-SK" sz="1100" dirty="0">
                <a:latin typeface="Consolas" panose="020B0609020204030204" pitchFamily="49" charset="0"/>
              </a:rPr>
              <a:t>) </a:t>
            </a:r>
            <a:r>
              <a:rPr lang="sk-SK" sz="1100" dirty="0" err="1">
                <a:latin typeface="Consolas" panose="020B0609020204030204" pitchFamily="49" charset="0"/>
              </a:rPr>
              <a:t>reference</a:t>
            </a:r>
            <a:r>
              <a:rPr lang="sk-SK" sz="1100" dirty="0">
                <a:latin typeface="Consolas" panose="020B0609020204030204" pitchFamily="49" charset="0"/>
              </a:rPr>
              <a:t> </a:t>
            </a:r>
            <a:r>
              <a:rPr lang="sk-SK" sz="1100" dirty="0" err="1">
                <a:latin typeface="Consolas" panose="020B0609020204030204" pitchFamily="49" charset="0"/>
              </a:rPr>
              <a:t>count</a:t>
            </a:r>
            <a:r>
              <a:rPr lang="sk-SK" sz="1100" dirty="0">
                <a:latin typeface="Consolas" panose="020B0609020204030204" pitchFamily="49" charset="0"/>
              </a:rPr>
              <a:t> 3, </a:t>
            </a:r>
            <a:r>
              <a:rPr lang="sk-SK" sz="1100" dirty="0" err="1">
                <a:latin typeface="Consolas" panose="020B0609020204030204" pitchFamily="49" charset="0"/>
              </a:rPr>
              <a:t>flags</a:t>
            </a:r>
            <a:r>
              <a:rPr lang="sk-SK" sz="1100" dirty="0">
                <a:latin typeface="Consolas" panose="020B0609020204030204" pitchFamily="49" charset="0"/>
              </a:rPr>
              <a:t> </a:t>
            </a:r>
            <a:r>
              <a:rPr lang="sk-SK" sz="1100" dirty="0" err="1">
                <a:latin typeface="Consolas" panose="020B0609020204030204" pitchFamily="49" charset="0"/>
              </a:rPr>
              <a:t>0x10</a:t>
            </a:r>
            <a:r>
              <a:rPr lang="sk-SK" sz="1100" dirty="0">
                <a:latin typeface="Consolas" panose="020B0609020204030204" pitchFamily="49" charset="0"/>
              </a:rPr>
              <a:t>, </a:t>
            </a:r>
            <a:r>
              <a:rPr lang="sk-SK" sz="1100" dirty="0" err="1">
                <a:latin typeface="Consolas" panose="020B0609020204030204" pitchFamily="49" charset="0"/>
              </a:rPr>
              <a:t>source</a:t>
            </a:r>
            <a:r>
              <a:rPr lang="sk-SK" sz="1100" dirty="0">
                <a:latin typeface="Consolas" panose="020B0609020204030204" pitchFamily="49" charset="0"/>
              </a:rPr>
              <a:t> </a:t>
            </a:r>
            <a:r>
              <a:rPr lang="sk-SK" sz="1100" dirty="0" err="1">
                <a:latin typeface="Consolas" panose="020B0609020204030204" pitchFamily="49" charset="0"/>
              </a:rPr>
              <a:t>rib</a:t>
            </a:r>
            <a:r>
              <a:rPr lang="sk-SK" sz="1100" dirty="0">
                <a:latin typeface="Consolas" panose="020B0609020204030204" pitchFamily="49" charset="0"/>
              </a:rPr>
              <a:t> (7), 0 </a:t>
            </a:r>
            <a:r>
              <a:rPr lang="sk-SK" sz="1100" dirty="0" err="1">
                <a:latin typeface="Consolas" panose="020B0609020204030204" pitchFamily="49" charset="0"/>
              </a:rPr>
              <a:t>backups</a:t>
            </a:r>
            <a:endParaRPr lang="sk-SK" sz="1100" dirty="0">
              <a:latin typeface="Consolas" panose="020B0609020204030204" pitchFamily="49" charset="0"/>
            </a:endParaRPr>
          </a:p>
          <a:p>
            <a:r>
              <a:rPr lang="sk-SK" sz="1100" dirty="0">
                <a:latin typeface="Consolas" panose="020B0609020204030204" pitchFamily="49" charset="0"/>
              </a:rPr>
              <a:t>                [4 type 3 </a:t>
            </a:r>
            <a:r>
              <a:rPr lang="sk-SK" sz="1100" dirty="0" err="1">
                <a:latin typeface="Consolas" panose="020B0609020204030204" pitchFamily="49" charset="0"/>
              </a:rPr>
              <a:t>flags</a:t>
            </a:r>
            <a:r>
              <a:rPr lang="sk-SK" sz="1100" dirty="0">
                <a:latin typeface="Consolas" panose="020B0609020204030204" pitchFamily="49" charset="0"/>
              </a:rPr>
              <a:t> </a:t>
            </a:r>
            <a:r>
              <a:rPr lang="sk-SK" sz="1100" dirty="0" err="1">
                <a:latin typeface="Consolas" panose="020B0609020204030204" pitchFamily="49" charset="0"/>
              </a:rPr>
              <a:t>0x8441</a:t>
            </a:r>
            <a:r>
              <a:rPr lang="sk-SK" sz="1100" dirty="0">
                <a:latin typeface="Consolas" panose="020B0609020204030204" pitchFamily="49" charset="0"/>
              </a:rPr>
              <a:t> (</a:t>
            </a:r>
            <a:r>
              <a:rPr lang="sk-SK" sz="1100" dirty="0" err="1">
                <a:latin typeface="Consolas" panose="020B0609020204030204" pitchFamily="49" charset="0"/>
              </a:rPr>
              <a:t>0xe424f08</a:t>
            </a:r>
            <a:r>
              <a:rPr lang="sk-SK" sz="1100" dirty="0">
                <a:latin typeface="Consolas" panose="020B0609020204030204" pitchFamily="49" charset="0"/>
              </a:rPr>
              <a:t>) </a:t>
            </a:r>
            <a:r>
              <a:rPr lang="sk-SK" sz="1100" dirty="0" err="1">
                <a:latin typeface="Consolas" panose="020B0609020204030204" pitchFamily="49" charset="0"/>
              </a:rPr>
              <a:t>ext</a:t>
            </a:r>
            <a:r>
              <a:rPr lang="sk-SK" sz="1100" dirty="0">
                <a:latin typeface="Consolas" panose="020B0609020204030204" pitchFamily="49" charset="0"/>
              </a:rPr>
              <a:t> </a:t>
            </a:r>
            <a:r>
              <a:rPr lang="sk-SK" sz="1100" dirty="0" err="1">
                <a:latin typeface="Consolas" panose="020B0609020204030204" pitchFamily="49" charset="0"/>
              </a:rPr>
              <a:t>0x0</a:t>
            </a:r>
            <a:r>
              <a:rPr lang="sk-SK" sz="1100" dirty="0">
                <a:latin typeface="Consolas" panose="020B0609020204030204" pitchFamily="49" charset="0"/>
              </a:rPr>
              <a:t> (</a:t>
            </a:r>
            <a:r>
              <a:rPr lang="sk-SK" sz="1100" dirty="0" err="1">
                <a:latin typeface="Consolas" panose="020B0609020204030204" pitchFamily="49" charset="0"/>
              </a:rPr>
              <a:t>0x0</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LW-LDI</a:t>
            </a:r>
            <a:r>
              <a:rPr lang="sk-SK" sz="1100" dirty="0">
                <a:latin typeface="Consolas" panose="020B0609020204030204" pitchFamily="49" charset="0"/>
              </a:rPr>
              <a:t>[type=3, </a:t>
            </a:r>
            <a:r>
              <a:rPr lang="sk-SK" sz="1100" dirty="0" err="1">
                <a:latin typeface="Consolas" panose="020B0609020204030204" pitchFamily="49" charset="0"/>
              </a:rPr>
              <a:t>refc</a:t>
            </a:r>
            <a:r>
              <a:rPr lang="sk-SK" sz="1100" dirty="0">
                <a:latin typeface="Consolas" panose="020B0609020204030204" pitchFamily="49" charset="0"/>
              </a:rPr>
              <a:t>=1, </a:t>
            </a:r>
            <a:r>
              <a:rPr lang="sk-SK" sz="1100" dirty="0" err="1">
                <a:latin typeface="Consolas" panose="020B0609020204030204" pitchFamily="49" charset="0"/>
              </a:rPr>
              <a:t>ptr</a:t>
            </a:r>
            <a:r>
              <a:rPr lang="sk-SK" sz="1100" dirty="0">
                <a:latin typeface="Consolas" panose="020B0609020204030204" pitchFamily="49" charset="0"/>
              </a:rPr>
              <a:t>=</a:t>
            </a:r>
            <a:r>
              <a:rPr lang="sk-SK" sz="1100" dirty="0" err="1">
                <a:latin typeface="Consolas" panose="020B0609020204030204" pitchFamily="49" charset="0"/>
              </a:rPr>
              <a:t>0xe4ecb18</a:t>
            </a:r>
            <a:r>
              <a:rPr lang="sk-SK" sz="1100" dirty="0">
                <a:latin typeface="Consolas" panose="020B0609020204030204" pitchFamily="49" charset="0"/>
              </a:rPr>
              <a:t>, sh-</a:t>
            </a:r>
            <a:r>
              <a:rPr lang="sk-SK" sz="1100" dirty="0" err="1">
                <a:latin typeface="Consolas" panose="020B0609020204030204" pitchFamily="49" charset="0"/>
              </a:rPr>
              <a:t>ldi</a:t>
            </a:r>
            <a:r>
              <a:rPr lang="sk-SK" sz="1100" dirty="0">
                <a:latin typeface="Consolas" panose="020B0609020204030204" pitchFamily="49" charset="0"/>
              </a:rPr>
              <a:t>=</a:t>
            </a:r>
            <a:r>
              <a:rPr lang="sk-SK" sz="1100" dirty="0" err="1">
                <a:latin typeface="Consolas" panose="020B0609020204030204" pitchFamily="49" charset="0"/>
              </a:rPr>
              <a:t>0xe424f08</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gateway</a:t>
            </a:r>
            <a:r>
              <a:rPr lang="sk-SK" sz="1100" dirty="0">
                <a:latin typeface="Consolas" panose="020B0609020204030204" pitchFamily="49" charset="0"/>
              </a:rPr>
              <a:t> </a:t>
            </a:r>
            <a:r>
              <a:rPr lang="sk-SK" sz="1100" dirty="0" err="1">
                <a:latin typeface="Consolas" panose="020B0609020204030204" pitchFamily="49" charset="0"/>
              </a:rPr>
              <a:t>array</a:t>
            </a:r>
            <a:r>
              <a:rPr lang="sk-SK" sz="1100" dirty="0">
                <a:latin typeface="Consolas" panose="020B0609020204030204" pitchFamily="49" charset="0"/>
              </a:rPr>
              <a:t> update type-</a:t>
            </a:r>
            <a:r>
              <a:rPr lang="sk-SK" sz="1100" dirty="0" err="1">
                <a:latin typeface="Consolas" panose="020B0609020204030204" pitchFamily="49" charset="0"/>
              </a:rPr>
              <a:t>time</a:t>
            </a:r>
            <a:r>
              <a:rPr lang="sk-SK" sz="1100" dirty="0">
                <a:latin typeface="Consolas" panose="020B0609020204030204" pitchFamily="49" charset="0"/>
              </a:rPr>
              <a:t> 1 May 12 09:10:35.496</a:t>
            </a:r>
          </a:p>
          <a:p>
            <a:r>
              <a:rPr lang="sk-SK" sz="1100" dirty="0">
                <a:latin typeface="Consolas" panose="020B0609020204030204" pitchFamily="49" charset="0"/>
              </a:rPr>
              <a:t> </a:t>
            </a:r>
            <a:r>
              <a:rPr lang="sk-SK" sz="1100" dirty="0" err="1">
                <a:latin typeface="Consolas" panose="020B0609020204030204" pitchFamily="49" charset="0"/>
              </a:rPr>
              <a:t>LDI</a:t>
            </a:r>
            <a:r>
              <a:rPr lang="sk-SK" sz="1100" dirty="0">
                <a:latin typeface="Consolas" panose="020B0609020204030204" pitchFamily="49" charset="0"/>
              </a:rPr>
              <a:t> Update </a:t>
            </a:r>
            <a:r>
              <a:rPr lang="sk-SK" sz="1100" dirty="0" err="1">
                <a:latin typeface="Consolas" panose="020B0609020204030204" pitchFamily="49" charset="0"/>
              </a:rPr>
              <a:t>time</a:t>
            </a:r>
            <a:r>
              <a:rPr lang="sk-SK" sz="1100" dirty="0">
                <a:latin typeface="Consolas" panose="020B0609020204030204" pitchFamily="49" charset="0"/>
              </a:rPr>
              <a:t> May 12 09:10:35.496</a:t>
            </a:r>
          </a:p>
          <a:p>
            <a:r>
              <a:rPr lang="sk-SK" sz="1100" dirty="0">
                <a:latin typeface="Consolas" panose="020B0609020204030204" pitchFamily="49" charset="0"/>
              </a:rPr>
              <a:t> </a:t>
            </a:r>
            <a:r>
              <a:rPr lang="sk-SK" sz="1100" dirty="0" err="1">
                <a:latin typeface="Consolas" panose="020B0609020204030204" pitchFamily="49" charset="0"/>
              </a:rPr>
              <a:t>LW-LDI-TS</a:t>
            </a:r>
            <a:r>
              <a:rPr lang="sk-SK" sz="1100" dirty="0">
                <a:latin typeface="Consolas" panose="020B0609020204030204" pitchFamily="49" charset="0"/>
              </a:rPr>
              <a:t> May 12 09:10:35.496</a:t>
            </a:r>
          </a:p>
          <a:p>
            <a:endParaRPr lang="sk-SK" sz="1100" dirty="0">
              <a:latin typeface="Consolas" panose="020B0609020204030204" pitchFamily="49" charset="0"/>
            </a:endParaRPr>
          </a:p>
          <a:p>
            <a:r>
              <a:rPr lang="sk-SK" sz="1100" dirty="0">
                <a:latin typeface="Consolas" panose="020B0609020204030204" pitchFamily="49" charset="0"/>
              </a:rPr>
              <a:t>  Level 1 - </a:t>
            </a:r>
            <a:r>
              <a:rPr lang="sk-SK" sz="1100" dirty="0" err="1">
                <a:latin typeface="Consolas" panose="020B0609020204030204" pitchFamily="49" charset="0"/>
              </a:rPr>
              <a:t>Load</a:t>
            </a:r>
            <a:r>
              <a:rPr lang="sk-SK" sz="1100" dirty="0">
                <a:latin typeface="Consolas" panose="020B0609020204030204" pitchFamily="49" charset="0"/>
              </a:rPr>
              <a:t> </a:t>
            </a:r>
            <a:r>
              <a:rPr lang="sk-SK" sz="1100" dirty="0" err="1">
                <a:latin typeface="Consolas" panose="020B0609020204030204" pitchFamily="49" charset="0"/>
              </a:rPr>
              <a:t>distribution</a:t>
            </a:r>
            <a:r>
              <a:rPr lang="sk-SK" sz="1100" dirty="0">
                <a:latin typeface="Consolas" panose="020B0609020204030204" pitchFamily="49" charset="0"/>
              </a:rPr>
              <a:t>: 0</a:t>
            </a:r>
          </a:p>
          <a:p>
            <a:r>
              <a:rPr lang="sk-SK" sz="1100" dirty="0">
                <a:latin typeface="Consolas" panose="020B0609020204030204" pitchFamily="49" charset="0"/>
              </a:rPr>
              <a:t>  [0] </a:t>
            </a:r>
            <a:r>
              <a:rPr lang="sk-SK" sz="1100" dirty="0" err="1">
                <a:latin typeface="Consolas" panose="020B0609020204030204" pitchFamily="49" charset="0"/>
              </a:rPr>
              <a:t>via</a:t>
            </a:r>
            <a:r>
              <a:rPr lang="sk-SK" sz="1100" dirty="0">
                <a:latin typeface="Consolas" panose="020B0609020204030204" pitchFamily="49" charset="0"/>
              </a:rPr>
              <a:t> </a:t>
            </a:r>
            <a:r>
              <a:rPr lang="sk-SK" sz="1100" dirty="0" err="1">
                <a:latin typeface="Consolas" panose="020B0609020204030204" pitchFamily="49" charset="0"/>
              </a:rPr>
              <a:t>fc00:ab00:1</a:t>
            </a:r>
            <a:r>
              <a:rPr lang="sk-SK" sz="1100" dirty="0">
                <a:latin typeface="Consolas" panose="020B0609020204030204" pitchFamily="49" charset="0"/>
              </a:rPr>
              <a:t>::/128, </a:t>
            </a:r>
            <a:r>
              <a:rPr lang="sk-SK" sz="1100" dirty="0" err="1">
                <a:latin typeface="Consolas" panose="020B0609020204030204" pitchFamily="49" charset="0"/>
              </a:rPr>
              <a:t>recursive</a:t>
            </a:r>
            <a:endParaRPr lang="sk-SK" sz="1100" dirty="0">
              <a:latin typeface="Consolas" panose="020B0609020204030204" pitchFamily="49" charset="0"/>
            </a:endParaRPr>
          </a:p>
          <a:p>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Accounting</a:t>
            </a:r>
            <a:r>
              <a:rPr lang="sk-SK" sz="1100" dirty="0">
                <a:latin typeface="Consolas" panose="020B0609020204030204" pitchFamily="49" charset="0"/>
              </a:rPr>
              <a:t>: </a:t>
            </a:r>
            <a:r>
              <a:rPr lang="sk-SK" sz="1100" dirty="0" err="1">
                <a:latin typeface="Consolas" panose="020B0609020204030204" pitchFamily="49" charset="0"/>
              </a:rPr>
              <a:t>Disabled</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via</a:t>
            </a:r>
            <a:r>
              <a:rPr lang="sk-SK" sz="1100" dirty="0">
                <a:latin typeface="Consolas" panose="020B0609020204030204" pitchFamily="49" charset="0"/>
              </a:rPr>
              <a:t> </a:t>
            </a:r>
            <a:r>
              <a:rPr lang="sk-SK" sz="1100" dirty="0" err="1">
                <a:latin typeface="Consolas" panose="020B0609020204030204" pitchFamily="49" charset="0"/>
              </a:rPr>
              <a:t>fc00:ab00:1</a:t>
            </a:r>
            <a:r>
              <a:rPr lang="sk-SK" sz="1100" dirty="0">
                <a:latin typeface="Consolas" panose="020B0609020204030204" pitchFamily="49" charset="0"/>
              </a:rPr>
              <a:t>::/128, 5 </a:t>
            </a:r>
            <a:r>
              <a:rPr lang="sk-SK" sz="1100" dirty="0" err="1">
                <a:latin typeface="Consolas" panose="020B0609020204030204" pitchFamily="49" charset="0"/>
              </a:rPr>
              <a:t>dependencies</a:t>
            </a:r>
            <a:r>
              <a:rPr lang="sk-SK" sz="1100" dirty="0">
                <a:latin typeface="Consolas" panose="020B0609020204030204" pitchFamily="49" charset="0"/>
              </a:rPr>
              <a:t>, </a:t>
            </a:r>
            <a:r>
              <a:rPr lang="sk-SK" sz="1100" dirty="0" err="1">
                <a:latin typeface="Consolas" panose="020B0609020204030204" pitchFamily="49" charset="0"/>
              </a:rPr>
              <a:t>recursive</a:t>
            </a:r>
            <a:r>
              <a:rPr lang="sk-SK" sz="1100" dirty="0">
                <a:latin typeface="Consolas" panose="020B0609020204030204" pitchFamily="49" charset="0"/>
              </a:rPr>
              <a:t> [</a:t>
            </a:r>
            <a:r>
              <a:rPr lang="sk-SK" sz="1100" dirty="0" err="1">
                <a:latin typeface="Consolas" panose="020B0609020204030204" pitchFamily="49" charset="0"/>
              </a:rPr>
              <a:t>flags</a:t>
            </a:r>
            <a:r>
              <a:rPr lang="sk-SK" sz="1100" dirty="0">
                <a:latin typeface="Consolas" panose="020B0609020204030204" pitchFamily="49" charset="0"/>
              </a:rPr>
              <a:t> </a:t>
            </a:r>
            <a:r>
              <a:rPr lang="sk-SK" sz="1100" dirty="0" err="1">
                <a:latin typeface="Consolas" panose="020B0609020204030204" pitchFamily="49" charset="0"/>
              </a:rPr>
              <a:t>0x6000</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path-idx</a:t>
            </a:r>
            <a:r>
              <a:rPr lang="sk-SK" sz="1100" dirty="0">
                <a:latin typeface="Consolas" panose="020B0609020204030204" pitchFamily="49" charset="0"/>
              </a:rPr>
              <a:t> 0 </a:t>
            </a:r>
            <a:r>
              <a:rPr lang="sk-SK" sz="1100" dirty="0" err="1">
                <a:latin typeface="Consolas" panose="020B0609020204030204" pitchFamily="49" charset="0"/>
              </a:rPr>
              <a:t>NHID</a:t>
            </a:r>
            <a:r>
              <a:rPr lang="sk-SK" sz="1100" dirty="0">
                <a:latin typeface="Consolas" panose="020B0609020204030204" pitchFamily="49" charset="0"/>
              </a:rPr>
              <a:t> </a:t>
            </a:r>
            <a:r>
              <a:rPr lang="sk-SK" sz="1100" dirty="0" err="1">
                <a:latin typeface="Consolas" panose="020B0609020204030204" pitchFamily="49" charset="0"/>
              </a:rPr>
              <a:t>0x0</a:t>
            </a:r>
            <a:r>
              <a:rPr lang="sk-SK" sz="1100" dirty="0">
                <a:latin typeface="Consolas" panose="020B0609020204030204" pitchFamily="49" charset="0"/>
              </a:rPr>
              <a:t> [</a:t>
            </a:r>
            <a:r>
              <a:rPr lang="sk-SK" sz="1100" dirty="0" err="1">
                <a:latin typeface="Consolas" panose="020B0609020204030204" pitchFamily="49" charset="0"/>
              </a:rPr>
              <a:t>0xe37a8b0</a:t>
            </a:r>
            <a:r>
              <a:rPr lang="sk-SK" sz="1100" dirty="0">
                <a:latin typeface="Consolas" panose="020B0609020204030204" pitchFamily="49" charset="0"/>
              </a:rPr>
              <a:t> </a:t>
            </a:r>
            <a:r>
              <a:rPr lang="sk-SK" sz="1100" dirty="0" err="1">
                <a:latin typeface="Consolas" panose="020B0609020204030204" pitchFamily="49" charset="0"/>
              </a:rPr>
              <a:t>0x0</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next</a:t>
            </a:r>
            <a:r>
              <a:rPr lang="sk-SK" sz="1100" dirty="0">
                <a:latin typeface="Consolas" panose="020B0609020204030204" pitchFamily="49" charset="0"/>
              </a:rPr>
              <a:t> hop VRF - 'default', table - </a:t>
            </a:r>
            <a:r>
              <a:rPr lang="sk-SK" sz="1100" dirty="0" err="1">
                <a:latin typeface="Consolas" panose="020B0609020204030204" pitchFamily="49" charset="0"/>
              </a:rPr>
              <a:t>0xe0800000</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next</a:t>
            </a:r>
            <a:r>
              <a:rPr lang="sk-SK" sz="1100" dirty="0">
                <a:latin typeface="Consolas" panose="020B0609020204030204" pitchFamily="49" charset="0"/>
              </a:rPr>
              <a:t> hop </a:t>
            </a:r>
            <a:r>
              <a:rPr lang="sk-SK" sz="1100" dirty="0" err="1">
                <a:latin typeface="Consolas" panose="020B0609020204030204" pitchFamily="49" charset="0"/>
              </a:rPr>
              <a:t>fc00:ab00:1</a:t>
            </a:r>
            <a:r>
              <a:rPr lang="sk-SK" sz="1100" dirty="0">
                <a:latin typeface="Consolas" panose="020B0609020204030204" pitchFamily="49" charset="0"/>
              </a:rPr>
              <a:t>::/128 </a:t>
            </a:r>
            <a:r>
              <a:rPr lang="sk-SK" sz="1100" dirty="0" err="1">
                <a:latin typeface="Consolas" panose="020B0609020204030204" pitchFamily="49" charset="0"/>
              </a:rPr>
              <a:t>via</a:t>
            </a:r>
            <a:r>
              <a:rPr lang="sk-SK" sz="1100" dirty="0">
                <a:latin typeface="Consolas" panose="020B0609020204030204" pitchFamily="49" charset="0"/>
              </a:rPr>
              <a:t> </a:t>
            </a:r>
            <a:r>
              <a:rPr lang="sk-SK" sz="1100" dirty="0" err="1">
                <a:latin typeface="Consolas" panose="020B0609020204030204" pitchFamily="49" charset="0"/>
              </a:rPr>
              <a:t>fc00:ab00:1</a:t>
            </a:r>
            <a:r>
              <a:rPr lang="sk-SK" sz="1100" dirty="0">
                <a:latin typeface="Consolas" panose="020B0609020204030204" pitchFamily="49" charset="0"/>
              </a:rPr>
              <a:t>::/64</a:t>
            </a:r>
          </a:p>
          <a:p>
            <a:r>
              <a:rPr lang="sk-SK" sz="1100" dirty="0">
                <a:latin typeface="Consolas" panose="020B0609020204030204" pitchFamily="49" charset="0"/>
              </a:rPr>
              <a:t>    </a:t>
            </a:r>
            <a:r>
              <a:rPr lang="sk-SK" sz="1100" dirty="0" err="1">
                <a:latin typeface="Consolas" panose="020B0609020204030204" pitchFamily="49" charset="0"/>
              </a:rPr>
              <a:t>SRv6</a:t>
            </a:r>
            <a:r>
              <a:rPr lang="sk-SK" sz="1100" dirty="0">
                <a:latin typeface="Consolas" panose="020B0609020204030204" pitchFamily="49" charset="0"/>
              </a:rPr>
              <a:t> </a:t>
            </a:r>
            <a:r>
              <a:rPr lang="sk-SK" sz="1100" dirty="0" err="1">
                <a:latin typeface="Consolas" panose="020B0609020204030204" pitchFamily="49" charset="0"/>
              </a:rPr>
              <a:t>H.Encaps.Red</a:t>
            </a:r>
            <a:r>
              <a:rPr lang="sk-SK" sz="1100" dirty="0">
                <a:latin typeface="Consolas" panose="020B0609020204030204" pitchFamily="49" charset="0"/>
              </a:rPr>
              <a:t> </a:t>
            </a:r>
            <a:r>
              <a:rPr lang="sk-SK" sz="1100" dirty="0" err="1">
                <a:latin typeface="Consolas" panose="020B0609020204030204" pitchFamily="49" charset="0"/>
              </a:rPr>
              <a:t>SID</a:t>
            </a:r>
            <a:r>
              <a:rPr lang="sk-SK" sz="1100" dirty="0">
                <a:latin typeface="Consolas" panose="020B0609020204030204" pitchFamily="49" charset="0"/>
              </a:rPr>
              <a:t>-list {</a:t>
            </a:r>
            <a:r>
              <a:rPr lang="sk-SK" sz="1100" dirty="0" err="1">
                <a:highlight>
                  <a:srgbClr val="FF00FF"/>
                </a:highlight>
                <a:latin typeface="Consolas" panose="020B0609020204030204" pitchFamily="49" charset="0"/>
              </a:rPr>
              <a:t>fc00:ab00:1:0:43</a:t>
            </a:r>
            <a:r>
              <a:rPr lang="sk-SK" sz="1100" dirty="0">
                <a:highlight>
                  <a:srgbClr val="FF00FF"/>
                </a:highlight>
                <a:latin typeface="Consolas" panose="020B0609020204030204" pitchFamily="49" charset="0"/>
              </a:rPr>
              <a:t>::</a:t>
            </a:r>
            <a:r>
              <a:rPr lang="sk-SK" sz="1100" dirty="0">
                <a:latin typeface="Consolas" panose="020B0609020204030204" pitchFamily="49" charset="0"/>
              </a:rPr>
              <a:t>}</a:t>
            </a:r>
          </a:p>
          <a:p>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Load</a:t>
            </a:r>
            <a:r>
              <a:rPr lang="sk-SK" sz="1100" dirty="0">
                <a:latin typeface="Consolas" panose="020B0609020204030204" pitchFamily="49" charset="0"/>
              </a:rPr>
              <a:t> </a:t>
            </a:r>
            <a:r>
              <a:rPr lang="sk-SK" sz="1100" dirty="0" err="1">
                <a:latin typeface="Consolas" panose="020B0609020204030204" pitchFamily="49" charset="0"/>
              </a:rPr>
              <a:t>distribution</a:t>
            </a:r>
            <a:r>
              <a:rPr lang="sk-SK" sz="1100" dirty="0">
                <a:latin typeface="Consolas" panose="020B0609020204030204" pitchFamily="49" charset="0"/>
              </a:rPr>
              <a:t>: 0 (refcount 4)</a:t>
            </a:r>
          </a:p>
          <a:p>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Hash</a:t>
            </a:r>
            <a:r>
              <a:rPr lang="sk-SK" sz="1100" dirty="0">
                <a:latin typeface="Consolas" panose="020B0609020204030204" pitchFamily="49" charset="0"/>
              </a:rPr>
              <a:t>  OK  Interface                 </a:t>
            </a:r>
            <a:r>
              <a:rPr lang="sk-SK" sz="1100" dirty="0" err="1">
                <a:latin typeface="Consolas" panose="020B0609020204030204" pitchFamily="49" charset="0"/>
              </a:rPr>
              <a:t>Address</a:t>
            </a:r>
            <a:endParaRPr lang="sk-SK" sz="1100" dirty="0">
              <a:latin typeface="Consolas" panose="020B0609020204030204" pitchFamily="49" charset="0"/>
            </a:endParaRPr>
          </a:p>
          <a:p>
            <a:r>
              <a:rPr lang="sk-SK" sz="1100" dirty="0">
                <a:latin typeface="Consolas" panose="020B0609020204030204" pitchFamily="49" charset="0"/>
              </a:rPr>
              <a:t>    0     Y   </a:t>
            </a:r>
            <a:r>
              <a:rPr lang="sk-SK" sz="1100" dirty="0" err="1">
                <a:latin typeface="Consolas" panose="020B0609020204030204" pitchFamily="49" charset="0"/>
              </a:rPr>
              <a:t>GigabitEthernet0</a:t>
            </a:r>
            <a:r>
              <a:rPr lang="sk-SK" sz="1100" dirty="0">
                <a:latin typeface="Consolas" panose="020B0609020204030204" pitchFamily="49" charset="0"/>
              </a:rPr>
              <a:t>/0/0/4    </a:t>
            </a:r>
            <a:r>
              <a:rPr lang="sk-SK" sz="1100" dirty="0" err="1">
                <a:latin typeface="Consolas" panose="020B0609020204030204" pitchFamily="49" charset="0"/>
              </a:rPr>
              <a:t>remote</a:t>
            </a:r>
            <a:r>
              <a:rPr lang="sk-SK" sz="1100" dirty="0">
                <a:latin typeface="Consolas" panose="020B0609020204030204" pitchFamily="49" charset="0"/>
              </a:rPr>
              <a:t>         </a:t>
            </a:r>
          </a:p>
          <a:p>
            <a:endParaRPr lang="sk-SK" sz="1100" dirty="0">
              <a:latin typeface="Consolas" panose="020B0609020204030204" pitchFamily="49" charset="0"/>
            </a:endParaRPr>
          </a:p>
          <a:p>
            <a:r>
              <a:rPr lang="sk-SK" sz="1100" dirty="0">
                <a:latin typeface="Consolas" panose="020B0609020204030204" pitchFamily="49" charset="0"/>
              </a:rPr>
              <a:t>RP/0/RP0/</a:t>
            </a:r>
            <a:r>
              <a:rPr lang="sk-SK" sz="1100" dirty="0" err="1">
                <a:latin typeface="Consolas" panose="020B0609020204030204" pitchFamily="49" charset="0"/>
              </a:rPr>
              <a:t>CPU0:R04</a:t>
            </a:r>
            <a:r>
              <a:rPr lang="sk-SK" sz="1100" dirty="0">
                <a:latin typeface="Consolas" panose="020B0609020204030204" pitchFamily="49" charset="0"/>
              </a:rPr>
              <a:t>#</a:t>
            </a:r>
            <a:endParaRPr lang="sk-SK" sz="11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178694223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285FBB4-FC1F-A665-36F6-D001ED74294E}"/>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C5656CF0-4283-B92F-8600-EBFA44268279}"/>
              </a:ext>
            </a:extLst>
          </p:cNvPr>
          <p:cNvSpPr>
            <a:spLocks noGrp="1"/>
          </p:cNvSpPr>
          <p:nvPr>
            <p:ph type="body" sz="quarter" idx="11"/>
          </p:nvPr>
        </p:nvSpPr>
        <p:spPr/>
        <p:txBody>
          <a:bodyPr/>
          <a:lstStyle/>
          <a:p>
            <a:r>
              <a:rPr lang="en-US" dirty="0"/>
              <a:t>Verifying BGP SRv6 </a:t>
            </a:r>
            <a:r>
              <a:rPr lang="en-US" dirty="0" err="1"/>
              <a:t>SIDs</a:t>
            </a:r>
            <a:r>
              <a:rPr lang="en-US" dirty="0"/>
              <a:t> - </a:t>
            </a:r>
            <a:r>
              <a:rPr lang="en-US" dirty="0" err="1"/>
              <a:t>Eggress</a:t>
            </a:r>
            <a:r>
              <a:rPr lang="en-US" dirty="0"/>
              <a:t> PE</a:t>
            </a:r>
          </a:p>
        </p:txBody>
      </p:sp>
      <p:sp>
        <p:nvSpPr>
          <p:cNvPr id="4" name="Rectangle 3">
            <a:extLst>
              <a:ext uri="{FF2B5EF4-FFF2-40B4-BE49-F238E27FC236}">
                <a16:creationId xmlns:a16="http://schemas.microsoft.com/office/drawing/2014/main" id="{B338311E-5D17-3702-04D1-EA30C3EACBCA}"/>
              </a:ext>
            </a:extLst>
          </p:cNvPr>
          <p:cNvSpPr/>
          <p:nvPr/>
        </p:nvSpPr>
        <p:spPr>
          <a:xfrm>
            <a:off x="0" y="912940"/>
            <a:ext cx="7846142" cy="5586145"/>
          </a:xfrm>
          <a:prstGeom prst="rect">
            <a:avLst/>
          </a:prstGeom>
          <a:solidFill>
            <a:schemeClr val="bg1">
              <a:lumMod val="95000"/>
            </a:schemeClr>
          </a:solidFill>
          <a:ln>
            <a:solidFill>
              <a:schemeClr val="tx1"/>
            </a:solidFill>
          </a:ln>
          <a:effectLst/>
        </p:spPr>
        <p:txBody>
          <a:bodyPr wrap="square">
            <a:spAutoFit/>
          </a:bodyPr>
          <a:lstStyle/>
          <a:p>
            <a:r>
              <a:rPr lang="sk-SK" sz="1050" dirty="0">
                <a:latin typeface="Consolas" panose="020B0609020204030204" pitchFamily="49" charset="0"/>
              </a:rPr>
              <a:t>RP/0/RP0/</a:t>
            </a:r>
            <a:r>
              <a:rPr lang="sk-SK" sz="1050" dirty="0" err="1">
                <a:latin typeface="Consolas" panose="020B0609020204030204" pitchFamily="49" charset="0"/>
              </a:rPr>
              <a:t>CPU0:R33#</a:t>
            </a:r>
            <a:r>
              <a:rPr lang="sk-SK" sz="1050" b="1" dirty="0" err="1">
                <a:latin typeface="Consolas" panose="020B0609020204030204" pitchFamily="49" charset="0"/>
              </a:rPr>
              <a:t>sh</a:t>
            </a:r>
            <a:r>
              <a:rPr lang="sk-SK" sz="1050" b="1" dirty="0">
                <a:latin typeface="Consolas" panose="020B0609020204030204" pitchFamily="49" charset="0"/>
              </a:rPr>
              <a:t> bgp </a:t>
            </a:r>
            <a:r>
              <a:rPr lang="sk-SK" sz="1050" b="1" dirty="0" err="1">
                <a:latin typeface="Consolas" panose="020B0609020204030204" pitchFamily="49" charset="0"/>
              </a:rPr>
              <a:t>vpnv4</a:t>
            </a:r>
            <a:r>
              <a:rPr lang="sk-SK" sz="1050" b="1" dirty="0">
                <a:latin typeface="Consolas" panose="020B0609020204030204" pitchFamily="49" charset="0"/>
              </a:rPr>
              <a:t> </a:t>
            </a:r>
            <a:r>
              <a:rPr lang="sk-SK" sz="1050" b="1" dirty="0" err="1">
                <a:latin typeface="Consolas" panose="020B0609020204030204" pitchFamily="49" charset="0"/>
              </a:rPr>
              <a:t>unicast</a:t>
            </a:r>
            <a:r>
              <a:rPr lang="sk-SK" sz="1050" b="1" dirty="0">
                <a:latin typeface="Consolas" panose="020B0609020204030204" pitchFamily="49" charset="0"/>
              </a:rPr>
              <a:t> rd 65000:1 </a:t>
            </a:r>
            <a:r>
              <a:rPr lang="sk-SK" sz="1050" b="1" dirty="0" err="1">
                <a:latin typeface="Consolas" panose="020B0609020204030204" pitchFamily="49" charset="0"/>
              </a:rPr>
              <a:t>local-sids</a:t>
            </a:r>
            <a:r>
              <a:rPr lang="sk-SK" sz="1050" b="1" dirty="0">
                <a:latin typeface="Consolas" panose="020B0609020204030204" pitchFamily="49" charset="0"/>
              </a:rPr>
              <a:t> </a:t>
            </a:r>
          </a:p>
          <a:p>
            <a:r>
              <a:rPr lang="sk-SK" sz="1050" dirty="0" err="1">
                <a:latin typeface="Consolas" panose="020B0609020204030204" pitchFamily="49" charset="0"/>
              </a:rPr>
              <a:t>Wed</a:t>
            </a:r>
            <a:r>
              <a:rPr lang="sk-SK" sz="1050" dirty="0">
                <a:latin typeface="Consolas" panose="020B0609020204030204" pitchFamily="49" charset="0"/>
              </a:rPr>
              <a:t> </a:t>
            </a:r>
            <a:r>
              <a:rPr lang="sk-SK" sz="1050" dirty="0" err="1">
                <a:latin typeface="Consolas" panose="020B0609020204030204" pitchFamily="49" charset="0"/>
              </a:rPr>
              <a:t>Jun</a:t>
            </a:r>
            <a:r>
              <a:rPr lang="sk-SK" sz="1050" dirty="0">
                <a:latin typeface="Consolas" panose="020B0609020204030204" pitchFamily="49" charset="0"/>
              </a:rPr>
              <a:t> 11 10:43:21.783 </a:t>
            </a:r>
            <a:r>
              <a:rPr lang="sk-SK" sz="1050" dirty="0" err="1">
                <a:latin typeface="Consolas" panose="020B0609020204030204" pitchFamily="49" charset="0"/>
              </a:rPr>
              <a:t>UTC</a:t>
            </a:r>
            <a:endParaRPr lang="sk-SK" sz="1050" dirty="0">
              <a:latin typeface="Consolas" panose="020B0609020204030204" pitchFamily="49" charset="0"/>
            </a:endParaRPr>
          </a:p>
          <a:p>
            <a:r>
              <a:rPr lang="sk-SK" sz="1050" dirty="0">
                <a:latin typeface="Consolas" panose="020B0609020204030204" pitchFamily="49" charset="0"/>
              </a:rPr>
              <a:t>BGP router </a:t>
            </a:r>
            <a:r>
              <a:rPr lang="sk-SK" sz="1050" dirty="0" err="1">
                <a:latin typeface="Consolas" panose="020B0609020204030204" pitchFamily="49" charset="0"/>
              </a:rPr>
              <a:t>identifier</a:t>
            </a:r>
            <a:r>
              <a:rPr lang="sk-SK" sz="1050" dirty="0">
                <a:latin typeface="Consolas" panose="020B0609020204030204" pitchFamily="49" charset="0"/>
              </a:rPr>
              <a:t> 1.1.1.33, </a:t>
            </a:r>
            <a:r>
              <a:rPr lang="sk-SK" sz="1050" dirty="0" err="1">
                <a:latin typeface="Consolas" panose="020B0609020204030204" pitchFamily="49" charset="0"/>
              </a:rPr>
              <a:t>local</a:t>
            </a:r>
            <a:r>
              <a:rPr lang="sk-SK" sz="1050" dirty="0">
                <a:latin typeface="Consolas" panose="020B0609020204030204" pitchFamily="49" charset="0"/>
              </a:rPr>
              <a:t> AS </a:t>
            </a:r>
            <a:r>
              <a:rPr lang="sk-SK" sz="1050" dirty="0" err="1">
                <a:latin typeface="Consolas" panose="020B0609020204030204" pitchFamily="49" charset="0"/>
              </a:rPr>
              <a:t>number</a:t>
            </a:r>
            <a:r>
              <a:rPr lang="sk-SK" sz="1050" dirty="0">
                <a:latin typeface="Consolas" panose="020B0609020204030204" pitchFamily="49" charset="0"/>
              </a:rPr>
              <a:t> 65000</a:t>
            </a:r>
          </a:p>
          <a:p>
            <a:r>
              <a:rPr lang="sk-SK" sz="1050" dirty="0">
                <a:latin typeface="Consolas" panose="020B0609020204030204" pitchFamily="49" charset="0"/>
              </a:rPr>
              <a:t>BGP </a:t>
            </a:r>
            <a:r>
              <a:rPr lang="sk-SK" sz="1050" dirty="0" err="1">
                <a:latin typeface="Consolas" panose="020B0609020204030204" pitchFamily="49" charset="0"/>
              </a:rPr>
              <a:t>generic</a:t>
            </a:r>
            <a:r>
              <a:rPr lang="sk-SK" sz="1050" dirty="0">
                <a:latin typeface="Consolas" panose="020B0609020204030204" pitchFamily="49" charset="0"/>
              </a:rPr>
              <a:t> </a:t>
            </a:r>
            <a:r>
              <a:rPr lang="sk-SK" sz="1050" dirty="0" err="1">
                <a:latin typeface="Consolas" panose="020B0609020204030204" pitchFamily="49" charset="0"/>
              </a:rPr>
              <a:t>scan</a:t>
            </a:r>
            <a:r>
              <a:rPr lang="sk-SK" sz="1050" dirty="0">
                <a:latin typeface="Consolas" panose="020B0609020204030204" pitchFamily="49" charset="0"/>
              </a:rPr>
              <a:t> interval 60 </a:t>
            </a:r>
            <a:r>
              <a:rPr lang="sk-SK" sz="1050" dirty="0" err="1">
                <a:latin typeface="Consolas" panose="020B0609020204030204" pitchFamily="49" charset="0"/>
              </a:rPr>
              <a:t>secs</a:t>
            </a:r>
            <a:endParaRPr lang="sk-SK" sz="1050" dirty="0">
              <a:latin typeface="Consolas" panose="020B0609020204030204" pitchFamily="49" charset="0"/>
            </a:endParaRPr>
          </a:p>
          <a:p>
            <a:r>
              <a:rPr lang="sk-SK" sz="1050" dirty="0" err="1">
                <a:latin typeface="Consolas" panose="020B0609020204030204" pitchFamily="49" charset="0"/>
              </a:rPr>
              <a:t>Non</a:t>
            </a:r>
            <a:r>
              <a:rPr lang="sk-SK" sz="1050" dirty="0">
                <a:latin typeface="Consolas" panose="020B0609020204030204" pitchFamily="49" charset="0"/>
              </a:rPr>
              <a:t>-stop routing </a:t>
            </a:r>
            <a:r>
              <a:rPr lang="sk-SK" sz="1050" dirty="0" err="1">
                <a:latin typeface="Consolas" panose="020B0609020204030204" pitchFamily="49" charset="0"/>
              </a:rPr>
              <a:t>is</a:t>
            </a:r>
            <a:r>
              <a:rPr lang="sk-SK" sz="1050" dirty="0">
                <a:latin typeface="Consolas" panose="020B0609020204030204" pitchFamily="49" charset="0"/>
              </a:rPr>
              <a:t> </a:t>
            </a:r>
            <a:r>
              <a:rPr lang="sk-SK" sz="1050" dirty="0" err="1">
                <a:latin typeface="Consolas" panose="020B0609020204030204" pitchFamily="49" charset="0"/>
              </a:rPr>
              <a:t>enabled</a:t>
            </a:r>
            <a:endParaRPr lang="sk-SK" sz="1050" dirty="0">
              <a:latin typeface="Consolas" panose="020B0609020204030204" pitchFamily="49" charset="0"/>
            </a:endParaRPr>
          </a:p>
          <a:p>
            <a:r>
              <a:rPr lang="sk-SK" sz="1050" dirty="0">
                <a:latin typeface="Consolas" panose="020B0609020204030204" pitchFamily="49" charset="0"/>
              </a:rPr>
              <a:t>BGP table state: </a:t>
            </a:r>
            <a:r>
              <a:rPr lang="sk-SK" sz="1050" dirty="0" err="1">
                <a:latin typeface="Consolas" panose="020B0609020204030204" pitchFamily="49" charset="0"/>
              </a:rPr>
              <a:t>Active</a:t>
            </a:r>
            <a:endParaRPr lang="sk-SK" sz="1050" dirty="0">
              <a:latin typeface="Consolas" panose="020B0609020204030204" pitchFamily="49" charset="0"/>
            </a:endParaRPr>
          </a:p>
          <a:p>
            <a:r>
              <a:rPr lang="sk-SK" sz="1050" dirty="0">
                <a:latin typeface="Consolas" panose="020B0609020204030204" pitchFamily="49" charset="0"/>
              </a:rPr>
              <a:t>Table ID: </a:t>
            </a:r>
            <a:r>
              <a:rPr lang="sk-SK" sz="1050" dirty="0" err="1">
                <a:latin typeface="Consolas" panose="020B0609020204030204" pitchFamily="49" charset="0"/>
              </a:rPr>
              <a:t>0x0</a:t>
            </a:r>
            <a:endParaRPr lang="sk-SK" sz="1050" dirty="0">
              <a:latin typeface="Consolas" panose="020B0609020204030204" pitchFamily="49" charset="0"/>
            </a:endParaRPr>
          </a:p>
          <a:p>
            <a:r>
              <a:rPr lang="sk-SK" sz="1050" dirty="0">
                <a:latin typeface="Consolas" panose="020B0609020204030204" pitchFamily="49" charset="0"/>
              </a:rPr>
              <a:t>BGP table </a:t>
            </a:r>
            <a:r>
              <a:rPr lang="sk-SK" sz="1050" dirty="0" err="1">
                <a:latin typeface="Consolas" panose="020B0609020204030204" pitchFamily="49" charset="0"/>
              </a:rPr>
              <a:t>nexthop</a:t>
            </a:r>
            <a:r>
              <a:rPr lang="sk-SK" sz="1050" dirty="0">
                <a:latin typeface="Consolas" panose="020B0609020204030204" pitchFamily="49" charset="0"/>
              </a:rPr>
              <a:t> </a:t>
            </a:r>
            <a:r>
              <a:rPr lang="sk-SK" sz="1050" dirty="0" err="1">
                <a:latin typeface="Consolas" panose="020B0609020204030204" pitchFamily="49" charset="0"/>
              </a:rPr>
              <a:t>route</a:t>
            </a:r>
            <a:r>
              <a:rPr lang="sk-SK" sz="1050" dirty="0">
                <a:latin typeface="Consolas" panose="020B0609020204030204" pitchFamily="49" charset="0"/>
              </a:rPr>
              <a:t> </a:t>
            </a:r>
            <a:r>
              <a:rPr lang="sk-SK" sz="1050" dirty="0" err="1">
                <a:latin typeface="Consolas" panose="020B0609020204030204" pitchFamily="49" charset="0"/>
              </a:rPr>
              <a:t>policy</a:t>
            </a:r>
            <a:r>
              <a:rPr lang="sk-SK" sz="1050" dirty="0">
                <a:latin typeface="Consolas" panose="020B0609020204030204" pitchFamily="49" charset="0"/>
              </a:rPr>
              <a:t>: </a:t>
            </a:r>
          </a:p>
          <a:p>
            <a:r>
              <a:rPr lang="sk-SK" sz="1050" dirty="0">
                <a:latin typeface="Consolas" panose="020B0609020204030204" pitchFamily="49" charset="0"/>
              </a:rPr>
              <a:t>BGP </a:t>
            </a:r>
            <a:r>
              <a:rPr lang="sk-SK" sz="1050" dirty="0" err="1">
                <a:latin typeface="Consolas" panose="020B0609020204030204" pitchFamily="49" charset="0"/>
              </a:rPr>
              <a:t>main</a:t>
            </a:r>
            <a:r>
              <a:rPr lang="sk-SK" sz="1050" dirty="0">
                <a:latin typeface="Consolas" panose="020B0609020204030204" pitchFamily="49" charset="0"/>
              </a:rPr>
              <a:t> routing table </a:t>
            </a:r>
            <a:r>
              <a:rPr lang="sk-SK" sz="1050" dirty="0" err="1">
                <a:latin typeface="Consolas" panose="020B0609020204030204" pitchFamily="49" charset="0"/>
              </a:rPr>
              <a:t>version</a:t>
            </a:r>
            <a:r>
              <a:rPr lang="sk-SK" sz="1050" dirty="0">
                <a:latin typeface="Consolas" panose="020B0609020204030204" pitchFamily="49" charset="0"/>
              </a:rPr>
              <a:t> 2044</a:t>
            </a:r>
          </a:p>
          <a:p>
            <a:r>
              <a:rPr lang="sk-SK" sz="1050" dirty="0">
                <a:latin typeface="Consolas" panose="020B0609020204030204" pitchFamily="49" charset="0"/>
              </a:rPr>
              <a:t>BGP </a:t>
            </a:r>
            <a:r>
              <a:rPr lang="sk-SK" sz="1050" dirty="0" err="1">
                <a:latin typeface="Consolas" panose="020B0609020204030204" pitchFamily="49" charset="0"/>
              </a:rPr>
              <a:t>NSR</a:t>
            </a:r>
            <a:r>
              <a:rPr lang="sk-SK" sz="1050" dirty="0">
                <a:latin typeface="Consolas" panose="020B0609020204030204" pitchFamily="49" charset="0"/>
              </a:rPr>
              <a:t> </a:t>
            </a:r>
            <a:r>
              <a:rPr lang="sk-SK" sz="1050" dirty="0" err="1">
                <a:latin typeface="Consolas" panose="020B0609020204030204" pitchFamily="49" charset="0"/>
              </a:rPr>
              <a:t>Initial</a:t>
            </a:r>
            <a:r>
              <a:rPr lang="sk-SK" sz="1050" dirty="0">
                <a:latin typeface="Consolas" panose="020B0609020204030204" pitchFamily="49" charset="0"/>
              </a:rPr>
              <a:t> </a:t>
            </a:r>
            <a:r>
              <a:rPr lang="sk-SK" sz="1050" dirty="0" err="1">
                <a:latin typeface="Consolas" panose="020B0609020204030204" pitchFamily="49" charset="0"/>
              </a:rPr>
              <a:t>initsync</a:t>
            </a:r>
            <a:r>
              <a:rPr lang="sk-SK" sz="1050" dirty="0">
                <a:latin typeface="Consolas" panose="020B0609020204030204" pitchFamily="49" charset="0"/>
              </a:rPr>
              <a:t> </a:t>
            </a:r>
            <a:r>
              <a:rPr lang="sk-SK" sz="1050" dirty="0" err="1">
                <a:latin typeface="Consolas" panose="020B0609020204030204" pitchFamily="49" charset="0"/>
              </a:rPr>
              <a:t>version</a:t>
            </a:r>
            <a:r>
              <a:rPr lang="sk-SK" sz="1050" dirty="0">
                <a:latin typeface="Consolas" panose="020B0609020204030204" pitchFamily="49" charset="0"/>
              </a:rPr>
              <a:t> 40 (</a:t>
            </a:r>
            <a:r>
              <a:rPr lang="sk-SK" sz="1050" dirty="0" err="1">
                <a:latin typeface="Consolas" panose="020B0609020204030204" pitchFamily="49" charset="0"/>
              </a:rPr>
              <a:t>Reached</a:t>
            </a:r>
            <a:r>
              <a:rPr lang="sk-SK" sz="1050" dirty="0">
                <a:latin typeface="Consolas" panose="020B0609020204030204" pitchFamily="49" charset="0"/>
              </a:rPr>
              <a:t>)</a:t>
            </a:r>
          </a:p>
          <a:p>
            <a:r>
              <a:rPr lang="sk-SK" sz="1050" dirty="0">
                <a:latin typeface="Consolas" panose="020B0609020204030204" pitchFamily="49" charset="0"/>
              </a:rPr>
              <a:t>BGP </a:t>
            </a:r>
            <a:r>
              <a:rPr lang="sk-SK" sz="1050" dirty="0" err="1">
                <a:latin typeface="Consolas" panose="020B0609020204030204" pitchFamily="49" charset="0"/>
              </a:rPr>
              <a:t>NSR</a:t>
            </a:r>
            <a:r>
              <a:rPr lang="sk-SK" sz="1050" dirty="0">
                <a:latin typeface="Consolas" panose="020B0609020204030204" pitchFamily="49" charset="0"/>
              </a:rPr>
              <a:t>/</a:t>
            </a:r>
            <a:r>
              <a:rPr lang="sk-SK" sz="1050" dirty="0" err="1">
                <a:latin typeface="Consolas" panose="020B0609020204030204" pitchFamily="49" charset="0"/>
              </a:rPr>
              <a:t>ISSU</a:t>
            </a:r>
            <a:r>
              <a:rPr lang="sk-SK" sz="1050" dirty="0">
                <a:latin typeface="Consolas" panose="020B0609020204030204" pitchFamily="49" charset="0"/>
              </a:rPr>
              <a:t> </a:t>
            </a:r>
            <a:r>
              <a:rPr lang="sk-SK" sz="1050" dirty="0" err="1">
                <a:latin typeface="Consolas" panose="020B0609020204030204" pitchFamily="49" charset="0"/>
              </a:rPr>
              <a:t>Sync</a:t>
            </a:r>
            <a:r>
              <a:rPr lang="sk-SK" sz="1050" dirty="0">
                <a:latin typeface="Consolas" panose="020B0609020204030204" pitchFamily="49" charset="0"/>
              </a:rPr>
              <a:t>-Group </a:t>
            </a:r>
            <a:r>
              <a:rPr lang="sk-SK" sz="1050" dirty="0" err="1">
                <a:latin typeface="Consolas" panose="020B0609020204030204" pitchFamily="49" charset="0"/>
              </a:rPr>
              <a:t>versions</a:t>
            </a:r>
            <a:r>
              <a:rPr lang="sk-SK" sz="1050" dirty="0">
                <a:latin typeface="Consolas" panose="020B0609020204030204" pitchFamily="49" charset="0"/>
              </a:rPr>
              <a:t> 0/0</a:t>
            </a:r>
          </a:p>
          <a:p>
            <a:r>
              <a:rPr lang="sk-SK" sz="1050" dirty="0">
                <a:latin typeface="Consolas" panose="020B0609020204030204" pitchFamily="49" charset="0"/>
              </a:rPr>
              <a:t>BGP </a:t>
            </a:r>
            <a:r>
              <a:rPr lang="sk-SK" sz="1050" dirty="0" err="1">
                <a:latin typeface="Consolas" panose="020B0609020204030204" pitchFamily="49" charset="0"/>
              </a:rPr>
              <a:t>scan</a:t>
            </a:r>
            <a:r>
              <a:rPr lang="sk-SK" sz="1050" dirty="0">
                <a:latin typeface="Consolas" panose="020B0609020204030204" pitchFamily="49" charset="0"/>
              </a:rPr>
              <a:t> interval 60 </a:t>
            </a:r>
            <a:r>
              <a:rPr lang="sk-SK" sz="1050" dirty="0" err="1">
                <a:latin typeface="Consolas" panose="020B0609020204030204" pitchFamily="49" charset="0"/>
              </a:rPr>
              <a:t>secs</a:t>
            </a:r>
            <a:endParaRPr lang="sk-SK" sz="1050" dirty="0">
              <a:latin typeface="Consolas" panose="020B0609020204030204" pitchFamily="49" charset="0"/>
            </a:endParaRPr>
          </a:p>
          <a:p>
            <a:endParaRPr lang="sk-SK" sz="1050" dirty="0">
              <a:latin typeface="Consolas" panose="020B0609020204030204" pitchFamily="49" charset="0"/>
            </a:endParaRPr>
          </a:p>
          <a:p>
            <a:r>
              <a:rPr lang="sk-SK" sz="1050" dirty="0">
                <a:latin typeface="Consolas" panose="020B0609020204030204" pitchFamily="49" charset="0"/>
              </a:rPr>
              <a:t>Status </a:t>
            </a:r>
            <a:r>
              <a:rPr lang="sk-SK" sz="1050" dirty="0" err="1">
                <a:latin typeface="Consolas" panose="020B0609020204030204" pitchFamily="49" charset="0"/>
              </a:rPr>
              <a:t>codes</a:t>
            </a:r>
            <a:r>
              <a:rPr lang="sk-SK" sz="1050" dirty="0">
                <a:latin typeface="Consolas" panose="020B0609020204030204" pitchFamily="49" charset="0"/>
              </a:rPr>
              <a:t>: s </a:t>
            </a:r>
            <a:r>
              <a:rPr lang="sk-SK" sz="1050" dirty="0" err="1">
                <a:latin typeface="Consolas" panose="020B0609020204030204" pitchFamily="49" charset="0"/>
              </a:rPr>
              <a:t>suppressed</a:t>
            </a:r>
            <a:r>
              <a:rPr lang="sk-SK" sz="1050" dirty="0">
                <a:latin typeface="Consolas" panose="020B0609020204030204" pitchFamily="49" charset="0"/>
              </a:rPr>
              <a:t>, d </a:t>
            </a:r>
            <a:r>
              <a:rPr lang="sk-SK" sz="1050" dirty="0" err="1">
                <a:latin typeface="Consolas" panose="020B0609020204030204" pitchFamily="49" charset="0"/>
              </a:rPr>
              <a:t>damped</a:t>
            </a:r>
            <a:r>
              <a:rPr lang="sk-SK" sz="1050" dirty="0">
                <a:latin typeface="Consolas" panose="020B0609020204030204" pitchFamily="49" charset="0"/>
              </a:rPr>
              <a:t>, h </a:t>
            </a:r>
            <a:r>
              <a:rPr lang="sk-SK" sz="1050" dirty="0" err="1">
                <a:latin typeface="Consolas" panose="020B0609020204030204" pitchFamily="49" charset="0"/>
              </a:rPr>
              <a:t>history</a:t>
            </a:r>
            <a:r>
              <a:rPr lang="sk-SK" sz="1050" dirty="0">
                <a:latin typeface="Consolas" panose="020B0609020204030204" pitchFamily="49" charset="0"/>
              </a:rPr>
              <a:t>, * </a:t>
            </a:r>
            <a:r>
              <a:rPr lang="sk-SK" sz="1050" dirty="0" err="1">
                <a:latin typeface="Consolas" panose="020B0609020204030204" pitchFamily="49" charset="0"/>
              </a:rPr>
              <a:t>valid</a:t>
            </a:r>
            <a:r>
              <a:rPr lang="sk-SK" sz="1050" dirty="0">
                <a:latin typeface="Consolas" panose="020B0609020204030204" pitchFamily="49" charset="0"/>
              </a:rPr>
              <a:t>, &gt; </a:t>
            </a:r>
            <a:r>
              <a:rPr lang="sk-SK" sz="1050" dirty="0" err="1">
                <a:latin typeface="Consolas" panose="020B0609020204030204" pitchFamily="49" charset="0"/>
              </a:rPr>
              <a:t>best</a:t>
            </a:r>
            <a:endParaRPr lang="sk-SK" sz="1050" dirty="0">
              <a:latin typeface="Consolas" panose="020B0609020204030204" pitchFamily="49" charset="0"/>
            </a:endParaRPr>
          </a:p>
          <a:p>
            <a:r>
              <a:rPr lang="sk-SK" sz="1050" dirty="0">
                <a:latin typeface="Consolas" panose="020B0609020204030204" pitchFamily="49" charset="0"/>
              </a:rPr>
              <a:t>              i - </a:t>
            </a:r>
            <a:r>
              <a:rPr lang="sk-SK" sz="1050" dirty="0" err="1">
                <a:latin typeface="Consolas" panose="020B0609020204030204" pitchFamily="49" charset="0"/>
              </a:rPr>
              <a:t>internal</a:t>
            </a:r>
            <a:r>
              <a:rPr lang="sk-SK" sz="1050" dirty="0">
                <a:latin typeface="Consolas" panose="020B0609020204030204" pitchFamily="49" charset="0"/>
              </a:rPr>
              <a:t>, r </a:t>
            </a:r>
            <a:r>
              <a:rPr lang="sk-SK" sz="1050" dirty="0" err="1">
                <a:latin typeface="Consolas" panose="020B0609020204030204" pitchFamily="49" charset="0"/>
              </a:rPr>
              <a:t>RIB-failure</a:t>
            </a:r>
            <a:r>
              <a:rPr lang="sk-SK" sz="1050" dirty="0">
                <a:latin typeface="Consolas" panose="020B0609020204030204" pitchFamily="49" charset="0"/>
              </a:rPr>
              <a:t>, S </a:t>
            </a:r>
            <a:r>
              <a:rPr lang="sk-SK" sz="1050" dirty="0" err="1">
                <a:latin typeface="Consolas" panose="020B0609020204030204" pitchFamily="49" charset="0"/>
              </a:rPr>
              <a:t>stale</a:t>
            </a:r>
            <a:r>
              <a:rPr lang="sk-SK" sz="1050" dirty="0">
                <a:latin typeface="Consolas" panose="020B0609020204030204" pitchFamily="49" charset="0"/>
              </a:rPr>
              <a:t>, N </a:t>
            </a:r>
            <a:r>
              <a:rPr lang="sk-SK" sz="1050" dirty="0" err="1">
                <a:latin typeface="Consolas" panose="020B0609020204030204" pitchFamily="49" charset="0"/>
              </a:rPr>
              <a:t>Nexthop-discard</a:t>
            </a:r>
            <a:endParaRPr lang="sk-SK" sz="1050" dirty="0">
              <a:latin typeface="Consolas" panose="020B0609020204030204" pitchFamily="49" charset="0"/>
            </a:endParaRPr>
          </a:p>
          <a:p>
            <a:r>
              <a:rPr lang="sk-SK" sz="1050" dirty="0" err="1">
                <a:latin typeface="Consolas" panose="020B0609020204030204" pitchFamily="49" charset="0"/>
              </a:rPr>
              <a:t>Origin</a:t>
            </a:r>
            <a:r>
              <a:rPr lang="sk-SK" sz="1050" dirty="0">
                <a:latin typeface="Consolas" panose="020B0609020204030204" pitchFamily="49" charset="0"/>
              </a:rPr>
              <a:t> </a:t>
            </a:r>
            <a:r>
              <a:rPr lang="sk-SK" sz="1050" dirty="0" err="1">
                <a:latin typeface="Consolas" panose="020B0609020204030204" pitchFamily="49" charset="0"/>
              </a:rPr>
              <a:t>codes</a:t>
            </a:r>
            <a:r>
              <a:rPr lang="sk-SK" sz="1050" dirty="0">
                <a:latin typeface="Consolas" panose="020B0609020204030204" pitchFamily="49" charset="0"/>
              </a:rPr>
              <a:t>: i - </a:t>
            </a:r>
            <a:r>
              <a:rPr lang="sk-SK" sz="1050" dirty="0" err="1">
                <a:latin typeface="Consolas" panose="020B0609020204030204" pitchFamily="49" charset="0"/>
              </a:rPr>
              <a:t>IGP</a:t>
            </a:r>
            <a:r>
              <a:rPr lang="sk-SK" sz="1050" dirty="0">
                <a:latin typeface="Consolas" panose="020B0609020204030204" pitchFamily="49" charset="0"/>
              </a:rPr>
              <a:t>, e - </a:t>
            </a:r>
            <a:r>
              <a:rPr lang="sk-SK" sz="1050" dirty="0" err="1">
                <a:latin typeface="Consolas" panose="020B0609020204030204" pitchFamily="49" charset="0"/>
              </a:rPr>
              <a:t>EGP</a:t>
            </a:r>
            <a:r>
              <a:rPr lang="sk-SK" sz="1050" dirty="0">
                <a:latin typeface="Consolas" panose="020B0609020204030204" pitchFamily="49" charset="0"/>
              </a:rPr>
              <a:t>, ? - </a:t>
            </a:r>
            <a:r>
              <a:rPr lang="sk-SK" sz="1050" dirty="0" err="1">
                <a:latin typeface="Consolas" panose="020B0609020204030204" pitchFamily="49" charset="0"/>
              </a:rPr>
              <a:t>incomplete</a:t>
            </a:r>
            <a:endParaRPr lang="sk-SK" sz="1050" dirty="0">
              <a:latin typeface="Consolas" panose="020B0609020204030204" pitchFamily="49" charset="0"/>
            </a:endParaRPr>
          </a:p>
          <a:p>
            <a:r>
              <a:rPr lang="sk-SK" sz="1050" dirty="0">
                <a:latin typeface="Consolas" panose="020B0609020204030204" pitchFamily="49" charset="0"/>
              </a:rPr>
              <a:t>   </a:t>
            </a:r>
            <a:r>
              <a:rPr lang="sk-SK" sz="1050" dirty="0" err="1">
                <a:latin typeface="Consolas" panose="020B0609020204030204" pitchFamily="49" charset="0"/>
              </a:rPr>
              <a:t>Network</a:t>
            </a:r>
            <a:r>
              <a:rPr lang="sk-SK" sz="1050" dirty="0">
                <a:latin typeface="Consolas" panose="020B0609020204030204" pitchFamily="49" charset="0"/>
              </a:rPr>
              <a:t>            </a:t>
            </a:r>
            <a:r>
              <a:rPr lang="sk-SK" sz="1050" dirty="0" err="1">
                <a:latin typeface="Consolas" panose="020B0609020204030204" pitchFamily="49" charset="0"/>
              </a:rPr>
              <a:t>Local</a:t>
            </a:r>
            <a:r>
              <a:rPr lang="sk-SK" sz="1050" dirty="0">
                <a:latin typeface="Consolas" panose="020B0609020204030204" pitchFamily="49" charset="0"/>
              </a:rPr>
              <a:t> </a:t>
            </a:r>
            <a:r>
              <a:rPr lang="sk-SK" sz="1050" dirty="0" err="1">
                <a:latin typeface="Consolas" panose="020B0609020204030204" pitchFamily="49" charset="0"/>
              </a:rPr>
              <a:t>Sid</a:t>
            </a:r>
            <a:r>
              <a:rPr lang="sk-SK" sz="1050" dirty="0">
                <a:latin typeface="Consolas" panose="020B0609020204030204" pitchFamily="49" charset="0"/>
              </a:rPr>
              <a:t>                                   </a:t>
            </a:r>
            <a:r>
              <a:rPr lang="sk-SK" sz="1050" dirty="0" err="1">
                <a:latin typeface="Consolas" panose="020B0609020204030204" pitchFamily="49" charset="0"/>
              </a:rPr>
              <a:t>Alloc</a:t>
            </a:r>
            <a:r>
              <a:rPr lang="sk-SK" sz="1050" dirty="0">
                <a:latin typeface="Consolas" panose="020B0609020204030204" pitchFamily="49" charset="0"/>
              </a:rPr>
              <a:t> </a:t>
            </a:r>
            <a:r>
              <a:rPr lang="sk-SK" sz="1050" dirty="0" err="1">
                <a:latin typeface="Consolas" panose="020B0609020204030204" pitchFamily="49" charset="0"/>
              </a:rPr>
              <a:t>mode</a:t>
            </a:r>
            <a:r>
              <a:rPr lang="sk-SK" sz="1050" dirty="0">
                <a:latin typeface="Consolas" panose="020B0609020204030204" pitchFamily="49" charset="0"/>
              </a:rPr>
              <a:t>   </a:t>
            </a:r>
            <a:r>
              <a:rPr lang="sk-SK" sz="1050" dirty="0" err="1">
                <a:latin typeface="Consolas" panose="020B0609020204030204" pitchFamily="49" charset="0"/>
              </a:rPr>
              <a:t>Locator</a:t>
            </a:r>
            <a:endParaRPr lang="sk-SK" sz="1050" dirty="0">
              <a:latin typeface="Consolas" panose="020B0609020204030204" pitchFamily="49" charset="0"/>
            </a:endParaRPr>
          </a:p>
          <a:p>
            <a:r>
              <a:rPr lang="sk-SK" sz="1050" dirty="0" err="1">
                <a:latin typeface="Consolas" panose="020B0609020204030204" pitchFamily="49" charset="0"/>
              </a:rPr>
              <a:t>Route</a:t>
            </a:r>
            <a:r>
              <a:rPr lang="sk-SK" sz="1050" dirty="0">
                <a:latin typeface="Consolas" panose="020B0609020204030204" pitchFamily="49" charset="0"/>
              </a:rPr>
              <a:t> </a:t>
            </a:r>
            <a:r>
              <a:rPr lang="sk-SK" sz="1050" dirty="0" err="1">
                <a:latin typeface="Consolas" panose="020B0609020204030204" pitchFamily="49" charset="0"/>
              </a:rPr>
              <a:t>Distinguisher</a:t>
            </a:r>
            <a:r>
              <a:rPr lang="sk-SK" sz="1050" dirty="0">
                <a:latin typeface="Consolas" panose="020B0609020204030204" pitchFamily="49" charset="0"/>
              </a:rPr>
              <a:t>: 65000:1 (default </a:t>
            </a:r>
            <a:r>
              <a:rPr lang="sk-SK" sz="1050" dirty="0" err="1">
                <a:latin typeface="Consolas" panose="020B0609020204030204" pitchFamily="49" charset="0"/>
              </a:rPr>
              <a:t>for</a:t>
            </a:r>
            <a:r>
              <a:rPr lang="sk-SK" sz="1050" dirty="0">
                <a:latin typeface="Consolas" panose="020B0609020204030204" pitchFamily="49" charset="0"/>
              </a:rPr>
              <a:t> vrf A)</a:t>
            </a:r>
          </a:p>
          <a:p>
            <a:r>
              <a:rPr lang="sk-SK" sz="1050" dirty="0" err="1">
                <a:latin typeface="Consolas" panose="020B0609020204030204" pitchFamily="49" charset="0"/>
              </a:rPr>
              <a:t>Route</a:t>
            </a:r>
            <a:r>
              <a:rPr lang="sk-SK" sz="1050" dirty="0">
                <a:latin typeface="Consolas" panose="020B0609020204030204" pitchFamily="49" charset="0"/>
              </a:rPr>
              <a:t> </a:t>
            </a:r>
            <a:r>
              <a:rPr lang="sk-SK" sz="1050" dirty="0" err="1">
                <a:latin typeface="Consolas" panose="020B0609020204030204" pitchFamily="49" charset="0"/>
              </a:rPr>
              <a:t>Distinguisher</a:t>
            </a:r>
            <a:r>
              <a:rPr lang="sk-SK" sz="1050" dirty="0">
                <a:latin typeface="Consolas" panose="020B0609020204030204" pitchFamily="49" charset="0"/>
              </a:rPr>
              <a:t> </a:t>
            </a:r>
            <a:r>
              <a:rPr lang="sk-SK" sz="1050" dirty="0" err="1">
                <a:latin typeface="Consolas" panose="020B0609020204030204" pitchFamily="49" charset="0"/>
              </a:rPr>
              <a:t>Version</a:t>
            </a:r>
            <a:r>
              <a:rPr lang="sk-SK" sz="1050" dirty="0">
                <a:latin typeface="Consolas" panose="020B0609020204030204" pitchFamily="49" charset="0"/>
              </a:rPr>
              <a:t>: 2044</a:t>
            </a:r>
          </a:p>
          <a:p>
            <a:r>
              <a:rPr lang="sk-SK" sz="1050" dirty="0">
                <a:latin typeface="Consolas" panose="020B0609020204030204" pitchFamily="49" charset="0"/>
              </a:rPr>
              <a:t>*&gt;</a:t>
            </a:r>
            <a:r>
              <a:rPr lang="sk-SK" sz="1050" dirty="0" err="1">
                <a:latin typeface="Consolas" panose="020B0609020204030204" pitchFamily="49" charset="0"/>
              </a:rPr>
              <a:t>i10.0.1.0</a:t>
            </a:r>
            <a:r>
              <a:rPr lang="sk-SK" sz="1050" dirty="0">
                <a:latin typeface="Consolas" panose="020B0609020204030204" pitchFamily="49" charset="0"/>
              </a:rPr>
              <a:t>/24        NO SRv6 </a:t>
            </a:r>
            <a:r>
              <a:rPr lang="sk-SK" sz="1050" dirty="0" err="1">
                <a:latin typeface="Consolas" panose="020B0609020204030204" pitchFamily="49" charset="0"/>
              </a:rPr>
              <a:t>Sid</a:t>
            </a:r>
            <a:r>
              <a:rPr lang="sk-SK" sz="1050" dirty="0">
                <a:latin typeface="Consolas" panose="020B0609020204030204" pitchFamily="49" charset="0"/>
              </a:rPr>
              <a:t>                                 -            -</a:t>
            </a:r>
          </a:p>
          <a:p>
            <a:r>
              <a:rPr lang="sk-SK" sz="1050" dirty="0">
                <a:latin typeface="Consolas" panose="020B0609020204030204" pitchFamily="49" charset="0"/>
              </a:rPr>
              <a:t>*&gt;</a:t>
            </a:r>
            <a:r>
              <a:rPr lang="sk-SK" sz="1050" dirty="0" err="1">
                <a:latin typeface="Consolas" panose="020B0609020204030204" pitchFamily="49" charset="0"/>
              </a:rPr>
              <a:t>i10.0.4.0</a:t>
            </a:r>
            <a:r>
              <a:rPr lang="sk-SK" sz="1050" dirty="0">
                <a:latin typeface="Consolas" panose="020B0609020204030204" pitchFamily="49" charset="0"/>
              </a:rPr>
              <a:t>/24        NO SRv6 </a:t>
            </a:r>
            <a:r>
              <a:rPr lang="sk-SK" sz="1050" dirty="0" err="1">
                <a:latin typeface="Consolas" panose="020B0609020204030204" pitchFamily="49" charset="0"/>
              </a:rPr>
              <a:t>Sid</a:t>
            </a:r>
            <a:r>
              <a:rPr lang="sk-SK" sz="1050" dirty="0">
                <a:latin typeface="Consolas" panose="020B0609020204030204" pitchFamily="49" charset="0"/>
              </a:rPr>
              <a:t>                                 -            -</a:t>
            </a:r>
          </a:p>
          <a:p>
            <a:r>
              <a:rPr lang="sk-SK" sz="1050" dirty="0">
                <a:latin typeface="Consolas" panose="020B0609020204030204" pitchFamily="49" charset="0"/>
              </a:rPr>
              <a:t>*&gt;</a:t>
            </a:r>
            <a:r>
              <a:rPr lang="sk-SK" sz="1050" dirty="0" err="1">
                <a:latin typeface="Consolas" panose="020B0609020204030204" pitchFamily="49" charset="0"/>
              </a:rPr>
              <a:t>i10.0.21.0</a:t>
            </a:r>
            <a:r>
              <a:rPr lang="sk-SK" sz="1050" dirty="0">
                <a:latin typeface="Consolas" panose="020B0609020204030204" pitchFamily="49" charset="0"/>
              </a:rPr>
              <a:t>/24       NO SRv6 </a:t>
            </a:r>
            <a:r>
              <a:rPr lang="sk-SK" sz="1050" dirty="0" err="1">
                <a:latin typeface="Consolas" panose="020B0609020204030204" pitchFamily="49" charset="0"/>
              </a:rPr>
              <a:t>Sid</a:t>
            </a:r>
            <a:r>
              <a:rPr lang="sk-SK" sz="1050" dirty="0">
                <a:latin typeface="Consolas" panose="020B0609020204030204" pitchFamily="49" charset="0"/>
              </a:rPr>
              <a:t>                                 -            -</a:t>
            </a:r>
          </a:p>
          <a:p>
            <a:r>
              <a:rPr lang="sk-SK" sz="1050" dirty="0">
                <a:latin typeface="Consolas" panose="020B0609020204030204" pitchFamily="49" charset="0"/>
              </a:rPr>
              <a:t>*&gt;</a:t>
            </a:r>
            <a:r>
              <a:rPr lang="sk-SK" sz="1050" dirty="0" err="1">
                <a:latin typeface="Consolas" panose="020B0609020204030204" pitchFamily="49" charset="0"/>
              </a:rPr>
              <a:t>i10.0.31.0</a:t>
            </a:r>
            <a:r>
              <a:rPr lang="sk-SK" sz="1050" dirty="0">
                <a:latin typeface="Consolas" panose="020B0609020204030204" pitchFamily="49" charset="0"/>
              </a:rPr>
              <a:t>/24       NO SRv6 </a:t>
            </a:r>
            <a:r>
              <a:rPr lang="sk-SK" sz="1050" dirty="0" err="1">
                <a:latin typeface="Consolas" panose="020B0609020204030204" pitchFamily="49" charset="0"/>
              </a:rPr>
              <a:t>Sid</a:t>
            </a:r>
            <a:r>
              <a:rPr lang="sk-SK" sz="1050" dirty="0">
                <a:latin typeface="Consolas" panose="020B0609020204030204" pitchFamily="49" charset="0"/>
              </a:rPr>
              <a:t>                                 -            -</a:t>
            </a:r>
          </a:p>
          <a:p>
            <a:r>
              <a:rPr lang="sk-SK" sz="1050" dirty="0">
                <a:latin typeface="Consolas" panose="020B0609020204030204" pitchFamily="49" charset="0"/>
              </a:rPr>
              <a:t>*&gt; 10.0.33.0/24       </a:t>
            </a:r>
            <a:r>
              <a:rPr lang="sk-SK" sz="1050" dirty="0" err="1">
                <a:latin typeface="Consolas" panose="020B0609020204030204" pitchFamily="49" charset="0"/>
              </a:rPr>
              <a:t>fc00:ab00:33:e002</a:t>
            </a:r>
            <a:r>
              <a:rPr lang="sk-SK" sz="1050" dirty="0">
                <a:latin typeface="Consolas" panose="020B0609020204030204" pitchFamily="49" charset="0"/>
              </a:rPr>
              <a:t>::                         per-vrf       </a:t>
            </a:r>
            <a:r>
              <a:rPr lang="sk-SK" sz="1050" dirty="0" err="1">
                <a:latin typeface="Consolas" panose="020B0609020204030204" pitchFamily="49" charset="0"/>
              </a:rPr>
              <a:t>Loc_uSID_Algo_0</a:t>
            </a:r>
            <a:endParaRPr lang="sk-SK" sz="1050" dirty="0">
              <a:latin typeface="Consolas" panose="020B0609020204030204" pitchFamily="49" charset="0"/>
            </a:endParaRPr>
          </a:p>
          <a:p>
            <a:r>
              <a:rPr lang="sk-SK" sz="1050" dirty="0">
                <a:latin typeface="Consolas" panose="020B0609020204030204" pitchFamily="49" charset="0"/>
              </a:rPr>
              <a:t>*&gt;</a:t>
            </a:r>
            <a:r>
              <a:rPr lang="sk-SK" sz="1050" dirty="0" err="1">
                <a:latin typeface="Consolas" panose="020B0609020204030204" pitchFamily="49" charset="0"/>
              </a:rPr>
              <a:t>i10.1.1.0</a:t>
            </a:r>
            <a:r>
              <a:rPr lang="sk-SK" sz="1050" dirty="0">
                <a:latin typeface="Consolas" panose="020B0609020204030204" pitchFamily="49" charset="0"/>
              </a:rPr>
              <a:t>/24        NO SRv6 </a:t>
            </a:r>
            <a:r>
              <a:rPr lang="sk-SK" sz="1050" dirty="0" err="1">
                <a:latin typeface="Consolas" panose="020B0609020204030204" pitchFamily="49" charset="0"/>
              </a:rPr>
              <a:t>Sid</a:t>
            </a:r>
            <a:r>
              <a:rPr lang="sk-SK" sz="1050" dirty="0">
                <a:latin typeface="Consolas" panose="020B0609020204030204" pitchFamily="49" charset="0"/>
              </a:rPr>
              <a:t>                                 -            -</a:t>
            </a:r>
          </a:p>
          <a:p>
            <a:r>
              <a:rPr lang="sk-SK" sz="1050" dirty="0">
                <a:latin typeface="Consolas" panose="020B0609020204030204" pitchFamily="49" charset="0"/>
              </a:rPr>
              <a:t>*&gt;</a:t>
            </a:r>
            <a:r>
              <a:rPr lang="sk-SK" sz="1050" dirty="0" err="1">
                <a:latin typeface="Consolas" panose="020B0609020204030204" pitchFamily="49" charset="0"/>
              </a:rPr>
              <a:t>i10.1.4.0</a:t>
            </a:r>
            <a:r>
              <a:rPr lang="sk-SK" sz="1050" dirty="0">
                <a:latin typeface="Consolas" panose="020B0609020204030204" pitchFamily="49" charset="0"/>
              </a:rPr>
              <a:t>/24        NO SRv6 </a:t>
            </a:r>
            <a:r>
              <a:rPr lang="sk-SK" sz="1050" dirty="0" err="1">
                <a:latin typeface="Consolas" panose="020B0609020204030204" pitchFamily="49" charset="0"/>
              </a:rPr>
              <a:t>Sid</a:t>
            </a:r>
            <a:r>
              <a:rPr lang="sk-SK" sz="1050" dirty="0">
                <a:latin typeface="Consolas" panose="020B0609020204030204" pitchFamily="49" charset="0"/>
              </a:rPr>
              <a:t>                                 -            -</a:t>
            </a:r>
          </a:p>
          <a:p>
            <a:r>
              <a:rPr lang="sk-SK" sz="1050" dirty="0">
                <a:latin typeface="Consolas" panose="020B0609020204030204" pitchFamily="49" charset="0"/>
              </a:rPr>
              <a:t>*&gt;</a:t>
            </a:r>
            <a:r>
              <a:rPr lang="sk-SK" sz="1050" dirty="0" err="1">
                <a:latin typeface="Consolas" panose="020B0609020204030204" pitchFamily="49" charset="0"/>
              </a:rPr>
              <a:t>i10.1.21.0</a:t>
            </a:r>
            <a:r>
              <a:rPr lang="sk-SK" sz="1050" dirty="0">
                <a:latin typeface="Consolas" panose="020B0609020204030204" pitchFamily="49" charset="0"/>
              </a:rPr>
              <a:t>/24       NO SRv6 </a:t>
            </a:r>
            <a:r>
              <a:rPr lang="sk-SK" sz="1050" dirty="0" err="1">
                <a:latin typeface="Consolas" panose="020B0609020204030204" pitchFamily="49" charset="0"/>
              </a:rPr>
              <a:t>Sid</a:t>
            </a:r>
            <a:r>
              <a:rPr lang="sk-SK" sz="1050" dirty="0">
                <a:latin typeface="Consolas" panose="020B0609020204030204" pitchFamily="49" charset="0"/>
              </a:rPr>
              <a:t>                                 -            -</a:t>
            </a:r>
          </a:p>
          <a:p>
            <a:r>
              <a:rPr lang="sk-SK" sz="1050" dirty="0">
                <a:latin typeface="Consolas" panose="020B0609020204030204" pitchFamily="49" charset="0"/>
              </a:rPr>
              <a:t>*&gt;</a:t>
            </a:r>
            <a:r>
              <a:rPr lang="sk-SK" sz="1050" dirty="0" err="1">
                <a:latin typeface="Consolas" panose="020B0609020204030204" pitchFamily="49" charset="0"/>
              </a:rPr>
              <a:t>i10.1.31.0</a:t>
            </a:r>
            <a:r>
              <a:rPr lang="sk-SK" sz="1050" dirty="0">
                <a:latin typeface="Consolas" panose="020B0609020204030204" pitchFamily="49" charset="0"/>
              </a:rPr>
              <a:t>/24       NO SRv6 </a:t>
            </a:r>
            <a:r>
              <a:rPr lang="sk-SK" sz="1050" dirty="0" err="1">
                <a:latin typeface="Consolas" panose="020B0609020204030204" pitchFamily="49" charset="0"/>
              </a:rPr>
              <a:t>Sid</a:t>
            </a:r>
            <a:r>
              <a:rPr lang="sk-SK" sz="1050" dirty="0">
                <a:latin typeface="Consolas" panose="020B0609020204030204" pitchFamily="49" charset="0"/>
              </a:rPr>
              <a:t>                                 -            -</a:t>
            </a:r>
          </a:p>
          <a:p>
            <a:r>
              <a:rPr lang="sk-SK" sz="1050" dirty="0">
                <a:latin typeface="Consolas" panose="020B0609020204030204" pitchFamily="49" charset="0"/>
              </a:rPr>
              <a:t>*&gt; 10.1.33.0/24       </a:t>
            </a:r>
            <a:r>
              <a:rPr lang="sk-SK" sz="1050" dirty="0" err="1">
                <a:latin typeface="Consolas" panose="020B0609020204030204" pitchFamily="49" charset="0"/>
              </a:rPr>
              <a:t>fc00:ab00:33:e002</a:t>
            </a:r>
            <a:r>
              <a:rPr lang="sk-SK" sz="1050" dirty="0">
                <a:latin typeface="Consolas" panose="020B0609020204030204" pitchFamily="49" charset="0"/>
              </a:rPr>
              <a:t>::                         per-vrf       </a:t>
            </a:r>
            <a:r>
              <a:rPr lang="sk-SK" sz="1050" dirty="0" err="1">
                <a:latin typeface="Consolas" panose="020B0609020204030204" pitchFamily="49" charset="0"/>
              </a:rPr>
              <a:t>Loc_uSID_Algo_0</a:t>
            </a:r>
            <a:endParaRPr lang="sk-SK" sz="1050" dirty="0">
              <a:latin typeface="Consolas" panose="020B0609020204030204" pitchFamily="49" charset="0"/>
            </a:endParaRPr>
          </a:p>
          <a:p>
            <a:r>
              <a:rPr lang="sk-SK" sz="1050" dirty="0">
                <a:latin typeface="Consolas" panose="020B0609020204030204" pitchFamily="49" charset="0"/>
              </a:rPr>
              <a:t>*&gt;</a:t>
            </a:r>
            <a:r>
              <a:rPr lang="sk-SK" sz="1050" dirty="0" err="1">
                <a:latin typeface="Consolas" panose="020B0609020204030204" pitchFamily="49" charset="0"/>
              </a:rPr>
              <a:t>i10.2.1.0</a:t>
            </a:r>
            <a:r>
              <a:rPr lang="sk-SK" sz="1050" dirty="0">
                <a:latin typeface="Consolas" panose="020B0609020204030204" pitchFamily="49" charset="0"/>
              </a:rPr>
              <a:t>/24        NO SRv6 </a:t>
            </a:r>
            <a:r>
              <a:rPr lang="sk-SK" sz="1050" dirty="0" err="1">
                <a:latin typeface="Consolas" panose="020B0609020204030204" pitchFamily="49" charset="0"/>
              </a:rPr>
              <a:t>Sid</a:t>
            </a:r>
            <a:r>
              <a:rPr lang="sk-SK" sz="1050" dirty="0">
                <a:latin typeface="Consolas" panose="020B0609020204030204" pitchFamily="49" charset="0"/>
              </a:rPr>
              <a:t>                                 -            -</a:t>
            </a:r>
          </a:p>
          <a:p>
            <a:r>
              <a:rPr lang="sk-SK" sz="1050" dirty="0">
                <a:latin typeface="Consolas" panose="020B0609020204030204" pitchFamily="49" charset="0"/>
              </a:rPr>
              <a:t>*&gt;</a:t>
            </a:r>
            <a:r>
              <a:rPr lang="sk-SK" sz="1050" dirty="0" err="1">
                <a:latin typeface="Consolas" panose="020B0609020204030204" pitchFamily="49" charset="0"/>
              </a:rPr>
              <a:t>i10.2.4.0</a:t>
            </a:r>
            <a:r>
              <a:rPr lang="sk-SK" sz="1050" dirty="0">
                <a:latin typeface="Consolas" panose="020B0609020204030204" pitchFamily="49" charset="0"/>
              </a:rPr>
              <a:t>/24        NO SRv6 </a:t>
            </a:r>
            <a:r>
              <a:rPr lang="sk-SK" sz="1050" dirty="0" err="1">
                <a:latin typeface="Consolas" panose="020B0609020204030204" pitchFamily="49" charset="0"/>
              </a:rPr>
              <a:t>Sid</a:t>
            </a:r>
            <a:r>
              <a:rPr lang="sk-SK" sz="1050" dirty="0">
                <a:latin typeface="Consolas" panose="020B0609020204030204" pitchFamily="49" charset="0"/>
              </a:rPr>
              <a:t>                                 -            -</a:t>
            </a:r>
          </a:p>
          <a:p>
            <a:r>
              <a:rPr lang="sk-SK" sz="1050" dirty="0">
                <a:latin typeface="Consolas" panose="020B0609020204030204" pitchFamily="49" charset="0"/>
              </a:rPr>
              <a:t>*&gt;</a:t>
            </a:r>
            <a:r>
              <a:rPr lang="sk-SK" sz="1050" dirty="0" err="1">
                <a:latin typeface="Consolas" panose="020B0609020204030204" pitchFamily="49" charset="0"/>
              </a:rPr>
              <a:t>i10.2.21.0</a:t>
            </a:r>
            <a:r>
              <a:rPr lang="sk-SK" sz="1050" dirty="0">
                <a:latin typeface="Consolas" panose="020B0609020204030204" pitchFamily="49" charset="0"/>
              </a:rPr>
              <a:t>/24       NO SRv6 </a:t>
            </a:r>
            <a:r>
              <a:rPr lang="sk-SK" sz="1050" dirty="0" err="1">
                <a:latin typeface="Consolas" panose="020B0609020204030204" pitchFamily="49" charset="0"/>
              </a:rPr>
              <a:t>Sid</a:t>
            </a:r>
            <a:r>
              <a:rPr lang="sk-SK" sz="1050" dirty="0">
                <a:latin typeface="Consolas" panose="020B0609020204030204" pitchFamily="49" charset="0"/>
              </a:rPr>
              <a:t>                                 -            -</a:t>
            </a:r>
          </a:p>
          <a:p>
            <a:r>
              <a:rPr lang="sk-SK" sz="1050" dirty="0">
                <a:latin typeface="Consolas" panose="020B0609020204030204" pitchFamily="49" charset="0"/>
              </a:rPr>
              <a:t>*&gt;</a:t>
            </a:r>
            <a:r>
              <a:rPr lang="sk-SK" sz="1050" dirty="0" err="1">
                <a:latin typeface="Consolas" panose="020B0609020204030204" pitchFamily="49" charset="0"/>
              </a:rPr>
              <a:t>i10.2.31.0</a:t>
            </a:r>
            <a:r>
              <a:rPr lang="sk-SK" sz="1050" dirty="0">
                <a:latin typeface="Consolas" panose="020B0609020204030204" pitchFamily="49" charset="0"/>
              </a:rPr>
              <a:t>/24       NO SRv6 </a:t>
            </a:r>
            <a:r>
              <a:rPr lang="sk-SK" sz="1050" dirty="0" err="1">
                <a:latin typeface="Consolas" panose="020B0609020204030204" pitchFamily="49" charset="0"/>
              </a:rPr>
              <a:t>Sid</a:t>
            </a:r>
            <a:r>
              <a:rPr lang="sk-SK" sz="1050" dirty="0">
                <a:latin typeface="Consolas" panose="020B0609020204030204" pitchFamily="49" charset="0"/>
              </a:rPr>
              <a:t>                                 -            -</a:t>
            </a:r>
          </a:p>
          <a:p>
            <a:r>
              <a:rPr lang="en-US" sz="1050" dirty="0">
                <a:latin typeface="Consolas" panose="020B0609020204030204" pitchFamily="49" charset="0"/>
              </a:rPr>
              <a:t>-- cut --</a:t>
            </a:r>
            <a:endParaRPr lang="sk-SK" sz="105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262966979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285FBB4-FC1F-A665-36F6-D001ED74294E}"/>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C5656CF0-4283-B92F-8600-EBFA44268279}"/>
              </a:ext>
            </a:extLst>
          </p:cNvPr>
          <p:cNvSpPr>
            <a:spLocks noGrp="1"/>
          </p:cNvSpPr>
          <p:nvPr>
            <p:ph type="body" sz="quarter" idx="11"/>
          </p:nvPr>
        </p:nvSpPr>
        <p:spPr/>
        <p:txBody>
          <a:bodyPr/>
          <a:lstStyle/>
          <a:p>
            <a:r>
              <a:rPr lang="en-US" dirty="0"/>
              <a:t>Verifying BGP SRv6 </a:t>
            </a:r>
            <a:r>
              <a:rPr lang="en-US" dirty="0" err="1"/>
              <a:t>SIDs</a:t>
            </a:r>
            <a:r>
              <a:rPr lang="en-US" dirty="0"/>
              <a:t> - Ingress PE</a:t>
            </a:r>
          </a:p>
        </p:txBody>
      </p:sp>
      <p:sp>
        <p:nvSpPr>
          <p:cNvPr id="5" name="Rectangle 4">
            <a:extLst>
              <a:ext uri="{FF2B5EF4-FFF2-40B4-BE49-F238E27FC236}">
                <a16:creationId xmlns:a16="http://schemas.microsoft.com/office/drawing/2014/main" id="{89244802-ECFF-AA56-D784-7F10692F0C73}"/>
              </a:ext>
            </a:extLst>
          </p:cNvPr>
          <p:cNvSpPr/>
          <p:nvPr/>
        </p:nvSpPr>
        <p:spPr>
          <a:xfrm>
            <a:off x="873918" y="923204"/>
            <a:ext cx="7846142" cy="5678478"/>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RP/0/RP0/</a:t>
            </a:r>
            <a:r>
              <a:rPr lang="sk-SK" sz="1100" dirty="0" err="1">
                <a:latin typeface="Consolas" panose="020B0609020204030204" pitchFamily="49" charset="0"/>
              </a:rPr>
              <a:t>CPU0:R33#</a:t>
            </a:r>
            <a:r>
              <a:rPr lang="sk-SK" sz="1100" b="1" dirty="0" err="1">
                <a:latin typeface="Consolas" panose="020B0609020204030204" pitchFamily="49" charset="0"/>
              </a:rPr>
              <a:t>sh</a:t>
            </a:r>
            <a:r>
              <a:rPr lang="sk-SK" sz="1100" b="1" dirty="0">
                <a:latin typeface="Consolas" panose="020B0609020204030204" pitchFamily="49" charset="0"/>
              </a:rPr>
              <a:t> bgp </a:t>
            </a:r>
            <a:r>
              <a:rPr lang="sk-SK" sz="1100" b="1" dirty="0" err="1">
                <a:latin typeface="Consolas" panose="020B0609020204030204" pitchFamily="49" charset="0"/>
              </a:rPr>
              <a:t>vpnv4</a:t>
            </a:r>
            <a:r>
              <a:rPr lang="sk-SK" sz="1100" b="1" dirty="0">
                <a:latin typeface="Consolas" panose="020B0609020204030204" pitchFamily="49" charset="0"/>
              </a:rPr>
              <a:t> </a:t>
            </a:r>
            <a:r>
              <a:rPr lang="sk-SK" sz="1100" b="1" dirty="0" err="1">
                <a:latin typeface="Consolas" panose="020B0609020204030204" pitchFamily="49" charset="0"/>
              </a:rPr>
              <a:t>unicast</a:t>
            </a:r>
            <a:r>
              <a:rPr lang="sk-SK" sz="1100" b="1" dirty="0">
                <a:latin typeface="Consolas" panose="020B0609020204030204" pitchFamily="49" charset="0"/>
              </a:rPr>
              <a:t> rd 65000:1 </a:t>
            </a:r>
            <a:r>
              <a:rPr lang="sk-SK" sz="1100" b="1" dirty="0" err="1">
                <a:latin typeface="Consolas" panose="020B0609020204030204" pitchFamily="49" charset="0"/>
              </a:rPr>
              <a:t>received-sids</a:t>
            </a:r>
            <a:r>
              <a:rPr lang="sk-SK" sz="1100" b="1" dirty="0">
                <a:latin typeface="Consolas" panose="020B0609020204030204" pitchFamily="49" charset="0"/>
              </a:rPr>
              <a:t> </a:t>
            </a:r>
          </a:p>
          <a:p>
            <a:r>
              <a:rPr lang="sk-SK" sz="1100" dirty="0" err="1">
                <a:latin typeface="Consolas" panose="020B0609020204030204" pitchFamily="49" charset="0"/>
              </a:rPr>
              <a:t>Wed</a:t>
            </a:r>
            <a:r>
              <a:rPr lang="sk-SK" sz="1100" dirty="0">
                <a:latin typeface="Consolas" panose="020B0609020204030204" pitchFamily="49" charset="0"/>
              </a:rPr>
              <a:t> </a:t>
            </a:r>
            <a:r>
              <a:rPr lang="sk-SK" sz="1100" dirty="0" err="1">
                <a:latin typeface="Consolas" panose="020B0609020204030204" pitchFamily="49" charset="0"/>
              </a:rPr>
              <a:t>Jun</a:t>
            </a:r>
            <a:r>
              <a:rPr lang="sk-SK" sz="1100" dirty="0">
                <a:latin typeface="Consolas" panose="020B0609020204030204" pitchFamily="49" charset="0"/>
              </a:rPr>
              <a:t> 11 10:45:38.982 </a:t>
            </a:r>
            <a:r>
              <a:rPr lang="sk-SK" sz="1100" dirty="0" err="1">
                <a:latin typeface="Consolas" panose="020B0609020204030204" pitchFamily="49" charset="0"/>
              </a:rPr>
              <a:t>UTC</a:t>
            </a:r>
            <a:endParaRPr lang="sk-SK" sz="1100" dirty="0">
              <a:latin typeface="Consolas" panose="020B0609020204030204" pitchFamily="49" charset="0"/>
            </a:endParaRPr>
          </a:p>
          <a:p>
            <a:r>
              <a:rPr lang="sk-SK" sz="1100" dirty="0">
                <a:latin typeface="Consolas" panose="020B0609020204030204" pitchFamily="49" charset="0"/>
              </a:rPr>
              <a:t>BGP router </a:t>
            </a:r>
            <a:r>
              <a:rPr lang="sk-SK" sz="1100" dirty="0" err="1">
                <a:latin typeface="Consolas" panose="020B0609020204030204" pitchFamily="49" charset="0"/>
              </a:rPr>
              <a:t>identifier</a:t>
            </a:r>
            <a:r>
              <a:rPr lang="sk-SK" sz="1100" dirty="0">
                <a:latin typeface="Consolas" panose="020B0609020204030204" pitchFamily="49" charset="0"/>
              </a:rPr>
              <a:t> 1.1.1.33, </a:t>
            </a:r>
            <a:r>
              <a:rPr lang="sk-SK" sz="1100" dirty="0" err="1">
                <a:latin typeface="Consolas" panose="020B0609020204030204" pitchFamily="49" charset="0"/>
              </a:rPr>
              <a:t>local</a:t>
            </a:r>
            <a:r>
              <a:rPr lang="sk-SK" sz="1100" dirty="0">
                <a:latin typeface="Consolas" panose="020B0609020204030204" pitchFamily="49" charset="0"/>
              </a:rPr>
              <a:t> AS </a:t>
            </a:r>
            <a:r>
              <a:rPr lang="sk-SK" sz="1100" dirty="0" err="1">
                <a:latin typeface="Consolas" panose="020B0609020204030204" pitchFamily="49" charset="0"/>
              </a:rPr>
              <a:t>number</a:t>
            </a:r>
            <a:r>
              <a:rPr lang="sk-SK" sz="1100" dirty="0">
                <a:latin typeface="Consolas" panose="020B0609020204030204" pitchFamily="49" charset="0"/>
              </a:rPr>
              <a:t> 65000</a:t>
            </a:r>
          </a:p>
          <a:p>
            <a:r>
              <a:rPr lang="sk-SK" sz="1100" dirty="0">
                <a:latin typeface="Consolas" panose="020B0609020204030204" pitchFamily="49" charset="0"/>
              </a:rPr>
              <a:t>BGP </a:t>
            </a:r>
            <a:r>
              <a:rPr lang="sk-SK" sz="1100" dirty="0" err="1">
                <a:latin typeface="Consolas" panose="020B0609020204030204" pitchFamily="49" charset="0"/>
              </a:rPr>
              <a:t>generic</a:t>
            </a:r>
            <a:r>
              <a:rPr lang="sk-SK" sz="1100" dirty="0">
                <a:latin typeface="Consolas" panose="020B0609020204030204" pitchFamily="49" charset="0"/>
              </a:rPr>
              <a:t> </a:t>
            </a:r>
            <a:r>
              <a:rPr lang="sk-SK" sz="1100" dirty="0" err="1">
                <a:latin typeface="Consolas" panose="020B0609020204030204" pitchFamily="49" charset="0"/>
              </a:rPr>
              <a:t>scan</a:t>
            </a:r>
            <a:r>
              <a:rPr lang="sk-SK" sz="1100" dirty="0">
                <a:latin typeface="Consolas" panose="020B0609020204030204" pitchFamily="49" charset="0"/>
              </a:rPr>
              <a:t> interval 60 </a:t>
            </a:r>
            <a:r>
              <a:rPr lang="sk-SK" sz="1100" dirty="0" err="1">
                <a:latin typeface="Consolas" panose="020B0609020204030204" pitchFamily="49" charset="0"/>
              </a:rPr>
              <a:t>secs</a:t>
            </a:r>
            <a:endParaRPr lang="sk-SK" sz="1100" dirty="0">
              <a:latin typeface="Consolas" panose="020B0609020204030204" pitchFamily="49" charset="0"/>
            </a:endParaRPr>
          </a:p>
          <a:p>
            <a:r>
              <a:rPr lang="sk-SK" sz="1100" dirty="0" err="1">
                <a:latin typeface="Consolas" panose="020B0609020204030204" pitchFamily="49" charset="0"/>
              </a:rPr>
              <a:t>Non</a:t>
            </a:r>
            <a:r>
              <a:rPr lang="sk-SK" sz="1100" dirty="0">
                <a:latin typeface="Consolas" panose="020B0609020204030204" pitchFamily="49" charset="0"/>
              </a:rPr>
              <a:t>-stop routing </a:t>
            </a:r>
            <a:r>
              <a:rPr lang="sk-SK" sz="1100" dirty="0" err="1">
                <a:latin typeface="Consolas" panose="020B0609020204030204" pitchFamily="49" charset="0"/>
              </a:rPr>
              <a:t>is</a:t>
            </a:r>
            <a:r>
              <a:rPr lang="sk-SK" sz="1100" dirty="0">
                <a:latin typeface="Consolas" panose="020B0609020204030204" pitchFamily="49" charset="0"/>
              </a:rPr>
              <a:t> </a:t>
            </a:r>
            <a:r>
              <a:rPr lang="sk-SK" sz="1100" dirty="0" err="1">
                <a:latin typeface="Consolas" panose="020B0609020204030204" pitchFamily="49" charset="0"/>
              </a:rPr>
              <a:t>enabled</a:t>
            </a:r>
            <a:endParaRPr lang="sk-SK" sz="1100" dirty="0">
              <a:latin typeface="Consolas" panose="020B0609020204030204" pitchFamily="49" charset="0"/>
            </a:endParaRPr>
          </a:p>
          <a:p>
            <a:r>
              <a:rPr lang="sk-SK" sz="1100" dirty="0">
                <a:latin typeface="Consolas" panose="020B0609020204030204" pitchFamily="49" charset="0"/>
              </a:rPr>
              <a:t>BGP table state: </a:t>
            </a:r>
            <a:r>
              <a:rPr lang="sk-SK" sz="1100" dirty="0" err="1">
                <a:latin typeface="Consolas" panose="020B0609020204030204" pitchFamily="49" charset="0"/>
              </a:rPr>
              <a:t>Active</a:t>
            </a:r>
            <a:endParaRPr lang="sk-SK" sz="1100" dirty="0">
              <a:latin typeface="Consolas" panose="020B0609020204030204" pitchFamily="49" charset="0"/>
            </a:endParaRPr>
          </a:p>
          <a:p>
            <a:r>
              <a:rPr lang="sk-SK" sz="1100" dirty="0">
                <a:latin typeface="Consolas" panose="020B0609020204030204" pitchFamily="49" charset="0"/>
              </a:rPr>
              <a:t>Table ID: </a:t>
            </a:r>
            <a:r>
              <a:rPr lang="sk-SK" sz="1100" dirty="0" err="1">
                <a:latin typeface="Consolas" panose="020B0609020204030204" pitchFamily="49" charset="0"/>
              </a:rPr>
              <a:t>0x0</a:t>
            </a:r>
            <a:endParaRPr lang="sk-SK" sz="1100" dirty="0">
              <a:latin typeface="Consolas" panose="020B0609020204030204" pitchFamily="49" charset="0"/>
            </a:endParaRPr>
          </a:p>
          <a:p>
            <a:r>
              <a:rPr lang="sk-SK" sz="1100" dirty="0">
                <a:latin typeface="Consolas" panose="020B0609020204030204" pitchFamily="49" charset="0"/>
              </a:rPr>
              <a:t>BGP table </a:t>
            </a:r>
            <a:r>
              <a:rPr lang="sk-SK" sz="1100" dirty="0" err="1">
                <a:latin typeface="Consolas" panose="020B0609020204030204" pitchFamily="49" charset="0"/>
              </a:rPr>
              <a:t>nexthop</a:t>
            </a:r>
            <a:r>
              <a:rPr lang="sk-SK" sz="1100" dirty="0">
                <a:latin typeface="Consolas" panose="020B0609020204030204" pitchFamily="49" charset="0"/>
              </a:rPr>
              <a:t> </a:t>
            </a:r>
            <a:r>
              <a:rPr lang="sk-SK" sz="1100" dirty="0" err="1">
                <a:latin typeface="Consolas" panose="020B0609020204030204" pitchFamily="49" charset="0"/>
              </a:rPr>
              <a:t>route</a:t>
            </a:r>
            <a:r>
              <a:rPr lang="sk-SK" sz="1100" dirty="0">
                <a:latin typeface="Consolas" panose="020B0609020204030204" pitchFamily="49" charset="0"/>
              </a:rPr>
              <a:t> </a:t>
            </a:r>
            <a:r>
              <a:rPr lang="sk-SK" sz="1100" dirty="0" err="1">
                <a:latin typeface="Consolas" panose="020B0609020204030204" pitchFamily="49" charset="0"/>
              </a:rPr>
              <a:t>policy</a:t>
            </a:r>
            <a:r>
              <a:rPr lang="sk-SK" sz="1100" dirty="0">
                <a:latin typeface="Consolas" panose="020B0609020204030204" pitchFamily="49" charset="0"/>
              </a:rPr>
              <a:t>: </a:t>
            </a:r>
          </a:p>
          <a:p>
            <a:r>
              <a:rPr lang="sk-SK" sz="1100" dirty="0">
                <a:latin typeface="Consolas" panose="020B0609020204030204" pitchFamily="49" charset="0"/>
              </a:rPr>
              <a:t>BGP </a:t>
            </a:r>
            <a:r>
              <a:rPr lang="sk-SK" sz="1100" dirty="0" err="1">
                <a:latin typeface="Consolas" panose="020B0609020204030204" pitchFamily="49" charset="0"/>
              </a:rPr>
              <a:t>main</a:t>
            </a:r>
            <a:r>
              <a:rPr lang="sk-SK" sz="1100" dirty="0">
                <a:latin typeface="Consolas" panose="020B0609020204030204" pitchFamily="49" charset="0"/>
              </a:rPr>
              <a:t> routing table </a:t>
            </a:r>
            <a:r>
              <a:rPr lang="sk-SK" sz="1100" dirty="0" err="1">
                <a:latin typeface="Consolas" panose="020B0609020204030204" pitchFamily="49" charset="0"/>
              </a:rPr>
              <a:t>version</a:t>
            </a:r>
            <a:r>
              <a:rPr lang="sk-SK" sz="1100" dirty="0">
                <a:latin typeface="Consolas" panose="020B0609020204030204" pitchFamily="49" charset="0"/>
              </a:rPr>
              <a:t> 2044</a:t>
            </a:r>
          </a:p>
          <a:p>
            <a:r>
              <a:rPr lang="sk-SK" sz="1100" dirty="0">
                <a:latin typeface="Consolas" panose="020B0609020204030204" pitchFamily="49" charset="0"/>
              </a:rPr>
              <a:t>BGP </a:t>
            </a:r>
            <a:r>
              <a:rPr lang="sk-SK" sz="1100" dirty="0" err="1">
                <a:latin typeface="Consolas" panose="020B0609020204030204" pitchFamily="49" charset="0"/>
              </a:rPr>
              <a:t>NSR</a:t>
            </a:r>
            <a:r>
              <a:rPr lang="sk-SK" sz="1100" dirty="0">
                <a:latin typeface="Consolas" panose="020B0609020204030204" pitchFamily="49" charset="0"/>
              </a:rPr>
              <a:t> </a:t>
            </a:r>
            <a:r>
              <a:rPr lang="sk-SK" sz="1100" dirty="0" err="1">
                <a:latin typeface="Consolas" panose="020B0609020204030204" pitchFamily="49" charset="0"/>
              </a:rPr>
              <a:t>Initial</a:t>
            </a:r>
            <a:r>
              <a:rPr lang="sk-SK" sz="1100" dirty="0">
                <a:latin typeface="Consolas" panose="020B0609020204030204" pitchFamily="49" charset="0"/>
              </a:rPr>
              <a:t> </a:t>
            </a:r>
            <a:r>
              <a:rPr lang="sk-SK" sz="1100" dirty="0" err="1">
                <a:latin typeface="Consolas" panose="020B0609020204030204" pitchFamily="49" charset="0"/>
              </a:rPr>
              <a:t>initsync</a:t>
            </a:r>
            <a:r>
              <a:rPr lang="sk-SK" sz="1100" dirty="0">
                <a:latin typeface="Consolas" panose="020B0609020204030204" pitchFamily="49" charset="0"/>
              </a:rPr>
              <a:t> </a:t>
            </a:r>
            <a:r>
              <a:rPr lang="sk-SK" sz="1100" dirty="0" err="1">
                <a:latin typeface="Consolas" panose="020B0609020204030204" pitchFamily="49" charset="0"/>
              </a:rPr>
              <a:t>version</a:t>
            </a:r>
            <a:r>
              <a:rPr lang="sk-SK" sz="1100" dirty="0">
                <a:latin typeface="Consolas" panose="020B0609020204030204" pitchFamily="49" charset="0"/>
              </a:rPr>
              <a:t> 40 (</a:t>
            </a:r>
            <a:r>
              <a:rPr lang="sk-SK" sz="1100" dirty="0" err="1">
                <a:latin typeface="Consolas" panose="020B0609020204030204" pitchFamily="49" charset="0"/>
              </a:rPr>
              <a:t>Reached</a:t>
            </a:r>
            <a:r>
              <a:rPr lang="sk-SK" sz="1100" dirty="0">
                <a:latin typeface="Consolas" panose="020B0609020204030204" pitchFamily="49" charset="0"/>
              </a:rPr>
              <a:t>)</a:t>
            </a:r>
          </a:p>
          <a:p>
            <a:r>
              <a:rPr lang="sk-SK" sz="1100" dirty="0">
                <a:latin typeface="Consolas" panose="020B0609020204030204" pitchFamily="49" charset="0"/>
              </a:rPr>
              <a:t>BGP </a:t>
            </a:r>
            <a:r>
              <a:rPr lang="sk-SK" sz="1100" dirty="0" err="1">
                <a:latin typeface="Consolas" panose="020B0609020204030204" pitchFamily="49" charset="0"/>
              </a:rPr>
              <a:t>NSR</a:t>
            </a:r>
            <a:r>
              <a:rPr lang="sk-SK" sz="1100" dirty="0">
                <a:latin typeface="Consolas" panose="020B0609020204030204" pitchFamily="49" charset="0"/>
              </a:rPr>
              <a:t>/</a:t>
            </a:r>
            <a:r>
              <a:rPr lang="sk-SK" sz="1100" dirty="0" err="1">
                <a:latin typeface="Consolas" panose="020B0609020204030204" pitchFamily="49" charset="0"/>
              </a:rPr>
              <a:t>ISSU</a:t>
            </a:r>
            <a:r>
              <a:rPr lang="sk-SK" sz="1100" dirty="0">
                <a:latin typeface="Consolas" panose="020B0609020204030204" pitchFamily="49" charset="0"/>
              </a:rPr>
              <a:t> </a:t>
            </a:r>
            <a:r>
              <a:rPr lang="sk-SK" sz="1100" dirty="0" err="1">
                <a:latin typeface="Consolas" panose="020B0609020204030204" pitchFamily="49" charset="0"/>
              </a:rPr>
              <a:t>Sync</a:t>
            </a:r>
            <a:r>
              <a:rPr lang="sk-SK" sz="1100" dirty="0">
                <a:latin typeface="Consolas" panose="020B0609020204030204" pitchFamily="49" charset="0"/>
              </a:rPr>
              <a:t>-Group </a:t>
            </a:r>
            <a:r>
              <a:rPr lang="sk-SK" sz="1100" dirty="0" err="1">
                <a:latin typeface="Consolas" panose="020B0609020204030204" pitchFamily="49" charset="0"/>
              </a:rPr>
              <a:t>versions</a:t>
            </a:r>
            <a:r>
              <a:rPr lang="sk-SK" sz="1100" dirty="0">
                <a:latin typeface="Consolas" panose="020B0609020204030204" pitchFamily="49" charset="0"/>
              </a:rPr>
              <a:t> 0/0</a:t>
            </a:r>
          </a:p>
          <a:p>
            <a:r>
              <a:rPr lang="sk-SK" sz="1100" dirty="0">
                <a:latin typeface="Consolas" panose="020B0609020204030204" pitchFamily="49" charset="0"/>
              </a:rPr>
              <a:t>BGP </a:t>
            </a:r>
            <a:r>
              <a:rPr lang="sk-SK" sz="1100" dirty="0" err="1">
                <a:latin typeface="Consolas" panose="020B0609020204030204" pitchFamily="49" charset="0"/>
              </a:rPr>
              <a:t>scan</a:t>
            </a:r>
            <a:r>
              <a:rPr lang="sk-SK" sz="1100" dirty="0">
                <a:latin typeface="Consolas" panose="020B0609020204030204" pitchFamily="49" charset="0"/>
              </a:rPr>
              <a:t> interval 60 </a:t>
            </a:r>
            <a:r>
              <a:rPr lang="sk-SK" sz="1100" dirty="0" err="1">
                <a:latin typeface="Consolas" panose="020B0609020204030204" pitchFamily="49" charset="0"/>
              </a:rPr>
              <a:t>secs</a:t>
            </a:r>
            <a:endParaRPr lang="sk-SK" sz="1100" dirty="0">
              <a:latin typeface="Consolas" panose="020B0609020204030204" pitchFamily="49" charset="0"/>
            </a:endParaRPr>
          </a:p>
          <a:p>
            <a:endParaRPr lang="sk-SK" sz="1100" dirty="0">
              <a:latin typeface="Consolas" panose="020B0609020204030204" pitchFamily="49" charset="0"/>
            </a:endParaRPr>
          </a:p>
          <a:p>
            <a:r>
              <a:rPr lang="sk-SK" sz="1100" dirty="0">
                <a:latin typeface="Consolas" panose="020B0609020204030204" pitchFamily="49" charset="0"/>
              </a:rPr>
              <a:t>Status </a:t>
            </a:r>
            <a:r>
              <a:rPr lang="sk-SK" sz="1100" dirty="0" err="1">
                <a:latin typeface="Consolas" panose="020B0609020204030204" pitchFamily="49" charset="0"/>
              </a:rPr>
              <a:t>codes</a:t>
            </a:r>
            <a:r>
              <a:rPr lang="sk-SK" sz="1100" dirty="0">
                <a:latin typeface="Consolas" panose="020B0609020204030204" pitchFamily="49" charset="0"/>
              </a:rPr>
              <a:t>: s </a:t>
            </a:r>
            <a:r>
              <a:rPr lang="sk-SK" sz="1100" dirty="0" err="1">
                <a:latin typeface="Consolas" panose="020B0609020204030204" pitchFamily="49" charset="0"/>
              </a:rPr>
              <a:t>suppressed</a:t>
            </a:r>
            <a:r>
              <a:rPr lang="sk-SK" sz="1100" dirty="0">
                <a:latin typeface="Consolas" panose="020B0609020204030204" pitchFamily="49" charset="0"/>
              </a:rPr>
              <a:t>, d </a:t>
            </a:r>
            <a:r>
              <a:rPr lang="sk-SK" sz="1100" dirty="0" err="1">
                <a:latin typeface="Consolas" panose="020B0609020204030204" pitchFamily="49" charset="0"/>
              </a:rPr>
              <a:t>damped</a:t>
            </a:r>
            <a:r>
              <a:rPr lang="sk-SK" sz="1100" dirty="0">
                <a:latin typeface="Consolas" panose="020B0609020204030204" pitchFamily="49" charset="0"/>
              </a:rPr>
              <a:t>, h </a:t>
            </a:r>
            <a:r>
              <a:rPr lang="sk-SK" sz="1100" dirty="0" err="1">
                <a:latin typeface="Consolas" panose="020B0609020204030204" pitchFamily="49" charset="0"/>
              </a:rPr>
              <a:t>history</a:t>
            </a:r>
            <a:r>
              <a:rPr lang="sk-SK" sz="1100" dirty="0">
                <a:latin typeface="Consolas" panose="020B0609020204030204" pitchFamily="49" charset="0"/>
              </a:rPr>
              <a:t>, * </a:t>
            </a:r>
            <a:r>
              <a:rPr lang="sk-SK" sz="1100" dirty="0" err="1">
                <a:latin typeface="Consolas" panose="020B0609020204030204" pitchFamily="49" charset="0"/>
              </a:rPr>
              <a:t>valid</a:t>
            </a:r>
            <a:r>
              <a:rPr lang="sk-SK" sz="1100" dirty="0">
                <a:latin typeface="Consolas" panose="020B0609020204030204" pitchFamily="49" charset="0"/>
              </a:rPr>
              <a:t>, &gt; </a:t>
            </a:r>
            <a:r>
              <a:rPr lang="sk-SK" sz="1100" dirty="0" err="1">
                <a:latin typeface="Consolas" panose="020B0609020204030204" pitchFamily="49" charset="0"/>
              </a:rPr>
              <a:t>best</a:t>
            </a:r>
            <a:endParaRPr lang="sk-SK" sz="1100" dirty="0">
              <a:latin typeface="Consolas" panose="020B0609020204030204" pitchFamily="49" charset="0"/>
            </a:endParaRPr>
          </a:p>
          <a:p>
            <a:r>
              <a:rPr lang="sk-SK" sz="1100" dirty="0">
                <a:latin typeface="Consolas" panose="020B0609020204030204" pitchFamily="49" charset="0"/>
              </a:rPr>
              <a:t>              i - </a:t>
            </a:r>
            <a:r>
              <a:rPr lang="sk-SK" sz="1100" dirty="0" err="1">
                <a:latin typeface="Consolas" panose="020B0609020204030204" pitchFamily="49" charset="0"/>
              </a:rPr>
              <a:t>internal</a:t>
            </a:r>
            <a:r>
              <a:rPr lang="sk-SK" sz="1100" dirty="0">
                <a:latin typeface="Consolas" panose="020B0609020204030204" pitchFamily="49" charset="0"/>
              </a:rPr>
              <a:t>, r </a:t>
            </a:r>
            <a:r>
              <a:rPr lang="sk-SK" sz="1100" dirty="0" err="1">
                <a:latin typeface="Consolas" panose="020B0609020204030204" pitchFamily="49" charset="0"/>
              </a:rPr>
              <a:t>RIB-failure</a:t>
            </a:r>
            <a:r>
              <a:rPr lang="sk-SK" sz="1100" dirty="0">
                <a:latin typeface="Consolas" panose="020B0609020204030204" pitchFamily="49" charset="0"/>
              </a:rPr>
              <a:t>, S </a:t>
            </a:r>
            <a:r>
              <a:rPr lang="sk-SK" sz="1100" dirty="0" err="1">
                <a:latin typeface="Consolas" panose="020B0609020204030204" pitchFamily="49" charset="0"/>
              </a:rPr>
              <a:t>stale</a:t>
            </a:r>
            <a:r>
              <a:rPr lang="sk-SK" sz="1100" dirty="0">
                <a:latin typeface="Consolas" panose="020B0609020204030204" pitchFamily="49" charset="0"/>
              </a:rPr>
              <a:t>, N </a:t>
            </a:r>
            <a:r>
              <a:rPr lang="sk-SK" sz="1100" dirty="0" err="1">
                <a:latin typeface="Consolas" panose="020B0609020204030204" pitchFamily="49" charset="0"/>
              </a:rPr>
              <a:t>Nexthop-discard</a:t>
            </a:r>
            <a:endParaRPr lang="sk-SK" sz="1100" dirty="0">
              <a:latin typeface="Consolas" panose="020B0609020204030204" pitchFamily="49" charset="0"/>
            </a:endParaRPr>
          </a:p>
          <a:p>
            <a:r>
              <a:rPr lang="sk-SK" sz="1100" dirty="0" err="1">
                <a:latin typeface="Consolas" panose="020B0609020204030204" pitchFamily="49" charset="0"/>
              </a:rPr>
              <a:t>Origin</a:t>
            </a:r>
            <a:r>
              <a:rPr lang="sk-SK" sz="1100" dirty="0">
                <a:latin typeface="Consolas" panose="020B0609020204030204" pitchFamily="49" charset="0"/>
              </a:rPr>
              <a:t> </a:t>
            </a:r>
            <a:r>
              <a:rPr lang="sk-SK" sz="1100" dirty="0" err="1">
                <a:latin typeface="Consolas" panose="020B0609020204030204" pitchFamily="49" charset="0"/>
              </a:rPr>
              <a:t>codes</a:t>
            </a:r>
            <a:r>
              <a:rPr lang="sk-SK" sz="1100" dirty="0">
                <a:latin typeface="Consolas" panose="020B0609020204030204" pitchFamily="49" charset="0"/>
              </a:rPr>
              <a:t>: i - </a:t>
            </a:r>
            <a:r>
              <a:rPr lang="sk-SK" sz="1100" dirty="0" err="1">
                <a:latin typeface="Consolas" panose="020B0609020204030204" pitchFamily="49" charset="0"/>
              </a:rPr>
              <a:t>IGP</a:t>
            </a:r>
            <a:r>
              <a:rPr lang="sk-SK" sz="1100" dirty="0">
                <a:latin typeface="Consolas" panose="020B0609020204030204" pitchFamily="49" charset="0"/>
              </a:rPr>
              <a:t>, e - </a:t>
            </a:r>
            <a:r>
              <a:rPr lang="sk-SK" sz="1100" dirty="0" err="1">
                <a:latin typeface="Consolas" panose="020B0609020204030204" pitchFamily="49" charset="0"/>
              </a:rPr>
              <a:t>EGP</a:t>
            </a:r>
            <a:r>
              <a:rPr lang="sk-SK" sz="1100" dirty="0">
                <a:latin typeface="Consolas" panose="020B0609020204030204" pitchFamily="49" charset="0"/>
              </a:rPr>
              <a:t>, ? - </a:t>
            </a:r>
            <a:r>
              <a:rPr lang="sk-SK" sz="1100" dirty="0" err="1">
                <a:latin typeface="Consolas" panose="020B0609020204030204" pitchFamily="49" charset="0"/>
              </a:rPr>
              <a:t>incomplete</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Network</a:t>
            </a:r>
            <a:r>
              <a:rPr lang="sk-SK" sz="1100" dirty="0">
                <a:latin typeface="Consolas" panose="020B0609020204030204" pitchFamily="49" charset="0"/>
              </a:rPr>
              <a:t>            </a:t>
            </a:r>
            <a:r>
              <a:rPr lang="sk-SK" sz="1100" dirty="0" err="1">
                <a:latin typeface="Consolas" panose="020B0609020204030204" pitchFamily="49" charset="0"/>
              </a:rPr>
              <a:t>Next</a:t>
            </a:r>
            <a:r>
              <a:rPr lang="sk-SK" sz="1100" dirty="0">
                <a:latin typeface="Consolas" panose="020B0609020204030204" pitchFamily="49" charset="0"/>
              </a:rPr>
              <a:t> Hop                            </a:t>
            </a:r>
            <a:r>
              <a:rPr lang="sk-SK" sz="1100" dirty="0" err="1">
                <a:latin typeface="Consolas" panose="020B0609020204030204" pitchFamily="49" charset="0"/>
              </a:rPr>
              <a:t>Received</a:t>
            </a:r>
            <a:r>
              <a:rPr lang="sk-SK" sz="1100" dirty="0">
                <a:latin typeface="Consolas" panose="020B0609020204030204" pitchFamily="49" charset="0"/>
              </a:rPr>
              <a:t> </a:t>
            </a:r>
            <a:r>
              <a:rPr lang="sk-SK" sz="1100" dirty="0" err="1">
                <a:latin typeface="Consolas" panose="020B0609020204030204" pitchFamily="49" charset="0"/>
              </a:rPr>
              <a:t>Sid</a:t>
            </a:r>
            <a:endParaRPr lang="sk-SK" sz="1100" dirty="0">
              <a:latin typeface="Consolas" panose="020B0609020204030204" pitchFamily="49" charset="0"/>
            </a:endParaRPr>
          </a:p>
          <a:p>
            <a:r>
              <a:rPr lang="sk-SK" sz="1100" dirty="0" err="1">
                <a:latin typeface="Consolas" panose="020B0609020204030204" pitchFamily="49" charset="0"/>
              </a:rPr>
              <a:t>Route</a:t>
            </a:r>
            <a:r>
              <a:rPr lang="sk-SK" sz="1100" dirty="0">
                <a:latin typeface="Consolas" panose="020B0609020204030204" pitchFamily="49" charset="0"/>
              </a:rPr>
              <a:t> </a:t>
            </a:r>
            <a:r>
              <a:rPr lang="sk-SK" sz="1100" dirty="0" err="1">
                <a:latin typeface="Consolas" panose="020B0609020204030204" pitchFamily="49" charset="0"/>
              </a:rPr>
              <a:t>Distinguisher</a:t>
            </a:r>
            <a:r>
              <a:rPr lang="sk-SK" sz="1100" dirty="0">
                <a:latin typeface="Consolas" panose="020B0609020204030204" pitchFamily="49" charset="0"/>
              </a:rPr>
              <a:t>: 65000:1 (default </a:t>
            </a:r>
            <a:r>
              <a:rPr lang="sk-SK" sz="1100" dirty="0" err="1">
                <a:latin typeface="Consolas" panose="020B0609020204030204" pitchFamily="49" charset="0"/>
              </a:rPr>
              <a:t>for</a:t>
            </a:r>
            <a:r>
              <a:rPr lang="sk-SK" sz="1100" dirty="0">
                <a:latin typeface="Consolas" panose="020B0609020204030204" pitchFamily="49" charset="0"/>
              </a:rPr>
              <a:t> vrf A)</a:t>
            </a:r>
          </a:p>
          <a:p>
            <a:r>
              <a:rPr lang="sk-SK" sz="1100" dirty="0" err="1">
                <a:latin typeface="Consolas" panose="020B0609020204030204" pitchFamily="49" charset="0"/>
              </a:rPr>
              <a:t>Route</a:t>
            </a:r>
            <a:r>
              <a:rPr lang="sk-SK" sz="1100" dirty="0">
                <a:latin typeface="Consolas" panose="020B0609020204030204" pitchFamily="49" charset="0"/>
              </a:rPr>
              <a:t> </a:t>
            </a:r>
            <a:r>
              <a:rPr lang="sk-SK" sz="1100" dirty="0" err="1">
                <a:latin typeface="Consolas" panose="020B0609020204030204" pitchFamily="49" charset="0"/>
              </a:rPr>
              <a:t>Distinguisher</a:t>
            </a:r>
            <a:r>
              <a:rPr lang="sk-SK" sz="1100" dirty="0">
                <a:latin typeface="Consolas" panose="020B0609020204030204" pitchFamily="49" charset="0"/>
              </a:rPr>
              <a:t> </a:t>
            </a:r>
            <a:r>
              <a:rPr lang="sk-SK" sz="1100" dirty="0" err="1">
                <a:latin typeface="Consolas" panose="020B0609020204030204" pitchFamily="49" charset="0"/>
              </a:rPr>
              <a:t>Version</a:t>
            </a:r>
            <a:r>
              <a:rPr lang="sk-SK" sz="1100" dirty="0">
                <a:latin typeface="Consolas" panose="020B0609020204030204" pitchFamily="49" charset="0"/>
              </a:rPr>
              <a:t>: 2044</a:t>
            </a:r>
          </a:p>
          <a:p>
            <a:r>
              <a:rPr lang="sk-SK" sz="1100" dirty="0">
                <a:latin typeface="Consolas" panose="020B0609020204030204" pitchFamily="49" charset="0"/>
              </a:rPr>
              <a:t>*&gt;</a:t>
            </a:r>
            <a:r>
              <a:rPr lang="sk-SK" sz="1100" dirty="0" err="1">
                <a:latin typeface="Consolas" panose="020B0609020204030204" pitchFamily="49" charset="0"/>
              </a:rPr>
              <a:t>i10.0.1.0</a:t>
            </a:r>
            <a:r>
              <a:rPr lang="sk-SK" sz="1100" dirty="0">
                <a:latin typeface="Consolas" panose="020B0609020204030204" pitchFamily="49" charset="0"/>
              </a:rPr>
              <a:t>/24        2001:9999::1                        </a:t>
            </a:r>
            <a:r>
              <a:rPr lang="sk-SK" sz="1100" dirty="0" err="1">
                <a:latin typeface="Consolas" panose="020B0609020204030204" pitchFamily="49" charset="0"/>
              </a:rPr>
              <a:t>fc00:ab00:1:e001</a:t>
            </a:r>
            <a:r>
              <a:rPr lang="sk-SK" sz="1100" dirty="0">
                <a:latin typeface="Consolas" panose="020B0609020204030204" pitchFamily="49" charset="0"/>
              </a:rPr>
              <a:t>::</a:t>
            </a:r>
          </a:p>
          <a:p>
            <a:r>
              <a:rPr lang="sk-SK" sz="1100" dirty="0">
                <a:latin typeface="Consolas" panose="020B0609020204030204" pitchFamily="49" charset="0"/>
              </a:rPr>
              <a:t>*&gt;</a:t>
            </a:r>
            <a:r>
              <a:rPr lang="sk-SK" sz="1100" dirty="0" err="1">
                <a:latin typeface="Consolas" panose="020B0609020204030204" pitchFamily="49" charset="0"/>
              </a:rPr>
              <a:t>i10.0.4.0</a:t>
            </a:r>
            <a:r>
              <a:rPr lang="sk-SK" sz="1100" dirty="0">
                <a:latin typeface="Consolas" panose="020B0609020204030204" pitchFamily="49" charset="0"/>
              </a:rPr>
              <a:t>/24        2001:9999::4                        </a:t>
            </a:r>
            <a:r>
              <a:rPr lang="sk-SK" sz="1100" dirty="0" err="1">
                <a:latin typeface="Consolas" panose="020B0609020204030204" pitchFamily="49" charset="0"/>
              </a:rPr>
              <a:t>fc00:ab00:4:e002</a:t>
            </a:r>
            <a:r>
              <a:rPr lang="sk-SK" sz="1100" dirty="0">
                <a:latin typeface="Consolas" panose="020B0609020204030204" pitchFamily="49" charset="0"/>
              </a:rPr>
              <a:t>::</a:t>
            </a:r>
          </a:p>
          <a:p>
            <a:r>
              <a:rPr lang="sk-SK" sz="1100" dirty="0">
                <a:latin typeface="Consolas" panose="020B0609020204030204" pitchFamily="49" charset="0"/>
              </a:rPr>
              <a:t>*&gt;</a:t>
            </a:r>
            <a:r>
              <a:rPr lang="sk-SK" sz="1100" dirty="0" err="1">
                <a:latin typeface="Consolas" panose="020B0609020204030204" pitchFamily="49" charset="0"/>
              </a:rPr>
              <a:t>i10.0.21.0</a:t>
            </a:r>
            <a:r>
              <a:rPr lang="sk-SK" sz="1100" dirty="0">
                <a:latin typeface="Consolas" panose="020B0609020204030204" pitchFamily="49" charset="0"/>
              </a:rPr>
              <a:t>/24       2001:9999::21                       </a:t>
            </a:r>
            <a:r>
              <a:rPr lang="sk-SK" sz="1100" dirty="0" err="1">
                <a:latin typeface="Consolas" panose="020B0609020204030204" pitchFamily="49" charset="0"/>
              </a:rPr>
              <a:t>fc00:ab00:21:e002</a:t>
            </a:r>
            <a:r>
              <a:rPr lang="sk-SK" sz="1100" dirty="0">
                <a:latin typeface="Consolas" panose="020B0609020204030204" pitchFamily="49" charset="0"/>
              </a:rPr>
              <a:t>::</a:t>
            </a:r>
          </a:p>
          <a:p>
            <a:r>
              <a:rPr lang="sk-SK" sz="1100" dirty="0">
                <a:latin typeface="Consolas" panose="020B0609020204030204" pitchFamily="49" charset="0"/>
              </a:rPr>
              <a:t>*&gt;</a:t>
            </a:r>
            <a:r>
              <a:rPr lang="sk-SK" sz="1100" dirty="0" err="1">
                <a:latin typeface="Consolas" panose="020B0609020204030204" pitchFamily="49" charset="0"/>
              </a:rPr>
              <a:t>i10.0.31.0</a:t>
            </a:r>
            <a:r>
              <a:rPr lang="sk-SK" sz="1100" dirty="0">
                <a:latin typeface="Consolas" panose="020B0609020204030204" pitchFamily="49" charset="0"/>
              </a:rPr>
              <a:t>/24       </a:t>
            </a:r>
            <a:r>
              <a:rPr lang="sk-SK" sz="1100" dirty="0" err="1">
                <a:latin typeface="Consolas" panose="020B0609020204030204" pitchFamily="49" charset="0"/>
              </a:rPr>
              <a:t>fc00:ac00:31</a:t>
            </a:r>
            <a:r>
              <a:rPr lang="sk-SK" sz="1100" dirty="0">
                <a:latin typeface="Consolas" panose="020B0609020204030204" pitchFamily="49" charset="0"/>
              </a:rPr>
              <a:t>::1                     </a:t>
            </a:r>
            <a:r>
              <a:rPr lang="sk-SK" sz="1100" dirty="0" err="1">
                <a:latin typeface="Consolas" panose="020B0609020204030204" pitchFamily="49" charset="0"/>
              </a:rPr>
              <a:t>fc00:ab00:31:e001</a:t>
            </a:r>
            <a:r>
              <a:rPr lang="sk-SK" sz="1100" dirty="0">
                <a:latin typeface="Consolas" panose="020B0609020204030204" pitchFamily="49" charset="0"/>
              </a:rPr>
              <a:t>::</a:t>
            </a:r>
          </a:p>
          <a:p>
            <a:r>
              <a:rPr lang="sk-SK" sz="1100" dirty="0">
                <a:latin typeface="Consolas" panose="020B0609020204030204" pitchFamily="49" charset="0"/>
              </a:rPr>
              <a:t>*&gt; 10.0.33.0/24       10.64.33.2                          NO SRv6 </a:t>
            </a:r>
            <a:r>
              <a:rPr lang="sk-SK" sz="1100" dirty="0" err="1">
                <a:latin typeface="Consolas" panose="020B0609020204030204" pitchFamily="49" charset="0"/>
              </a:rPr>
              <a:t>Sid</a:t>
            </a:r>
            <a:endParaRPr lang="sk-SK" sz="1100" dirty="0">
              <a:latin typeface="Consolas" panose="020B0609020204030204" pitchFamily="49" charset="0"/>
            </a:endParaRPr>
          </a:p>
          <a:p>
            <a:r>
              <a:rPr lang="sk-SK" sz="1100" dirty="0">
                <a:latin typeface="Consolas" panose="020B0609020204030204" pitchFamily="49" charset="0"/>
              </a:rPr>
              <a:t>*&gt;</a:t>
            </a:r>
            <a:r>
              <a:rPr lang="sk-SK" sz="1100" dirty="0" err="1">
                <a:latin typeface="Consolas" panose="020B0609020204030204" pitchFamily="49" charset="0"/>
              </a:rPr>
              <a:t>i10.1.1.0</a:t>
            </a:r>
            <a:r>
              <a:rPr lang="sk-SK" sz="1100" dirty="0">
                <a:latin typeface="Consolas" panose="020B0609020204030204" pitchFamily="49" charset="0"/>
              </a:rPr>
              <a:t>/24        2001:9999::1                        </a:t>
            </a:r>
            <a:r>
              <a:rPr lang="sk-SK" sz="1100" dirty="0" err="1">
                <a:latin typeface="Consolas" panose="020B0609020204030204" pitchFamily="49" charset="0"/>
              </a:rPr>
              <a:t>fc00:ab00:1:e001</a:t>
            </a:r>
            <a:r>
              <a:rPr lang="sk-SK" sz="1100" dirty="0">
                <a:latin typeface="Consolas" panose="020B0609020204030204" pitchFamily="49" charset="0"/>
              </a:rPr>
              <a:t>::</a:t>
            </a:r>
          </a:p>
          <a:p>
            <a:r>
              <a:rPr lang="sk-SK" sz="1100" dirty="0">
                <a:latin typeface="Consolas" panose="020B0609020204030204" pitchFamily="49" charset="0"/>
              </a:rPr>
              <a:t>*&gt;</a:t>
            </a:r>
            <a:r>
              <a:rPr lang="sk-SK" sz="1100" dirty="0" err="1">
                <a:latin typeface="Consolas" panose="020B0609020204030204" pitchFamily="49" charset="0"/>
              </a:rPr>
              <a:t>i10.1.4.0</a:t>
            </a:r>
            <a:r>
              <a:rPr lang="sk-SK" sz="1100" dirty="0">
                <a:latin typeface="Consolas" panose="020B0609020204030204" pitchFamily="49" charset="0"/>
              </a:rPr>
              <a:t>/24        2001:9999::4                        </a:t>
            </a:r>
            <a:r>
              <a:rPr lang="sk-SK" sz="1100" dirty="0" err="1">
                <a:latin typeface="Consolas" panose="020B0609020204030204" pitchFamily="49" charset="0"/>
              </a:rPr>
              <a:t>fc00:ab00:4:e002</a:t>
            </a:r>
            <a:r>
              <a:rPr lang="sk-SK" sz="1100" dirty="0">
                <a:latin typeface="Consolas" panose="020B0609020204030204" pitchFamily="49" charset="0"/>
              </a:rPr>
              <a:t>::</a:t>
            </a:r>
          </a:p>
          <a:p>
            <a:r>
              <a:rPr lang="sk-SK" sz="1100" dirty="0">
                <a:latin typeface="Consolas" panose="020B0609020204030204" pitchFamily="49" charset="0"/>
              </a:rPr>
              <a:t>*&gt;</a:t>
            </a:r>
            <a:r>
              <a:rPr lang="sk-SK" sz="1100" dirty="0" err="1">
                <a:latin typeface="Consolas" panose="020B0609020204030204" pitchFamily="49" charset="0"/>
              </a:rPr>
              <a:t>i10.1.21.0</a:t>
            </a:r>
            <a:r>
              <a:rPr lang="sk-SK" sz="1100" dirty="0">
                <a:latin typeface="Consolas" panose="020B0609020204030204" pitchFamily="49" charset="0"/>
              </a:rPr>
              <a:t>/24       2001:9999::21                       </a:t>
            </a:r>
            <a:r>
              <a:rPr lang="sk-SK" sz="1100" dirty="0" err="1">
                <a:latin typeface="Consolas" panose="020B0609020204030204" pitchFamily="49" charset="0"/>
              </a:rPr>
              <a:t>fc00:ab00:21:e002</a:t>
            </a:r>
            <a:r>
              <a:rPr lang="sk-SK" sz="1100" dirty="0">
                <a:latin typeface="Consolas" panose="020B0609020204030204" pitchFamily="49" charset="0"/>
              </a:rPr>
              <a:t>::</a:t>
            </a:r>
          </a:p>
          <a:p>
            <a:r>
              <a:rPr lang="sk-SK" sz="1100" dirty="0">
                <a:latin typeface="Consolas" panose="020B0609020204030204" pitchFamily="49" charset="0"/>
              </a:rPr>
              <a:t>*&gt;</a:t>
            </a:r>
            <a:r>
              <a:rPr lang="sk-SK" sz="1100" dirty="0" err="1">
                <a:latin typeface="Consolas" panose="020B0609020204030204" pitchFamily="49" charset="0"/>
              </a:rPr>
              <a:t>i10.1.31.0</a:t>
            </a:r>
            <a:r>
              <a:rPr lang="sk-SK" sz="1100" dirty="0">
                <a:latin typeface="Consolas" panose="020B0609020204030204" pitchFamily="49" charset="0"/>
              </a:rPr>
              <a:t>/24       </a:t>
            </a:r>
            <a:r>
              <a:rPr lang="sk-SK" sz="1100" dirty="0" err="1">
                <a:latin typeface="Consolas" panose="020B0609020204030204" pitchFamily="49" charset="0"/>
              </a:rPr>
              <a:t>fc00:ac00:31</a:t>
            </a:r>
            <a:r>
              <a:rPr lang="sk-SK" sz="1100" dirty="0">
                <a:latin typeface="Consolas" panose="020B0609020204030204" pitchFamily="49" charset="0"/>
              </a:rPr>
              <a:t>::1                     </a:t>
            </a:r>
            <a:r>
              <a:rPr lang="sk-SK" sz="1100" dirty="0" err="1">
                <a:latin typeface="Consolas" panose="020B0609020204030204" pitchFamily="49" charset="0"/>
              </a:rPr>
              <a:t>fc00:ab00:31:e001</a:t>
            </a:r>
            <a:r>
              <a:rPr lang="sk-SK" sz="1100" dirty="0">
                <a:latin typeface="Consolas" panose="020B0609020204030204" pitchFamily="49" charset="0"/>
              </a:rPr>
              <a:t>::</a:t>
            </a:r>
          </a:p>
          <a:p>
            <a:r>
              <a:rPr lang="sk-SK" sz="1100" dirty="0">
                <a:latin typeface="Consolas" panose="020B0609020204030204" pitchFamily="49" charset="0"/>
              </a:rPr>
              <a:t>*&gt;</a:t>
            </a:r>
            <a:r>
              <a:rPr lang="sk-SK" sz="1100" dirty="0" err="1">
                <a:latin typeface="Consolas" panose="020B0609020204030204" pitchFamily="49" charset="0"/>
              </a:rPr>
              <a:t>i10.2.1.0</a:t>
            </a:r>
            <a:r>
              <a:rPr lang="sk-SK" sz="1100" dirty="0">
                <a:latin typeface="Consolas" panose="020B0609020204030204" pitchFamily="49" charset="0"/>
              </a:rPr>
              <a:t>/24        2001:9999::1                        </a:t>
            </a:r>
            <a:r>
              <a:rPr lang="sk-SK" sz="1100" dirty="0" err="1">
                <a:latin typeface="Consolas" panose="020B0609020204030204" pitchFamily="49" charset="0"/>
              </a:rPr>
              <a:t>fc00:ab00:1:e001</a:t>
            </a:r>
            <a:r>
              <a:rPr lang="sk-SK" sz="1100" dirty="0">
                <a:latin typeface="Consolas" panose="020B0609020204030204" pitchFamily="49" charset="0"/>
              </a:rPr>
              <a:t>::</a:t>
            </a:r>
          </a:p>
          <a:p>
            <a:r>
              <a:rPr lang="sk-SK" sz="1100" dirty="0">
                <a:latin typeface="Consolas" panose="020B0609020204030204" pitchFamily="49" charset="0"/>
              </a:rPr>
              <a:t>*&gt;</a:t>
            </a:r>
            <a:r>
              <a:rPr lang="sk-SK" sz="1100" dirty="0" err="1">
                <a:latin typeface="Consolas" panose="020B0609020204030204" pitchFamily="49" charset="0"/>
              </a:rPr>
              <a:t>i10.2.4.0</a:t>
            </a:r>
            <a:r>
              <a:rPr lang="sk-SK" sz="1100" dirty="0">
                <a:latin typeface="Consolas" panose="020B0609020204030204" pitchFamily="49" charset="0"/>
              </a:rPr>
              <a:t>/24        2001:9999::4 </a:t>
            </a:r>
            <a:r>
              <a:rPr lang="sk-SK" sz="1100" dirty="0" err="1">
                <a:latin typeface="Consolas" panose="020B0609020204030204" pitchFamily="49" charset="0"/>
              </a:rPr>
              <a:t>C:300</a:t>
            </a:r>
            <a:endParaRPr lang="sk-SK" sz="1100" dirty="0">
              <a:latin typeface="Consolas" panose="020B0609020204030204" pitchFamily="49" charset="0"/>
            </a:endParaRPr>
          </a:p>
          <a:p>
            <a:r>
              <a:rPr lang="sk-SK" sz="1100" dirty="0">
                <a:latin typeface="Consolas" panose="020B0609020204030204" pitchFamily="49" charset="0"/>
              </a:rPr>
              <a:t>               </a:t>
            </a:r>
            <a:r>
              <a:rPr lang="en-US" sz="1100" dirty="0">
                <a:latin typeface="Consolas" panose="020B0609020204030204" pitchFamily="49" charset="0"/>
              </a:rPr>
              <a:t>    </a:t>
            </a:r>
            <a:r>
              <a:rPr lang="sk-SK" sz="1100" dirty="0">
                <a:latin typeface="Consolas" panose="020B0609020204030204" pitchFamily="49" charset="0"/>
              </a:rPr>
              <a:t>                                       </a:t>
            </a:r>
            <a:r>
              <a:rPr lang="sk-SK" sz="1100" dirty="0" err="1">
                <a:latin typeface="Consolas" panose="020B0609020204030204" pitchFamily="49" charset="0"/>
              </a:rPr>
              <a:t>fc00:ab00:4:e002</a:t>
            </a:r>
            <a:r>
              <a:rPr lang="sk-SK" sz="1100" dirty="0">
                <a:latin typeface="Consolas" panose="020B0609020204030204" pitchFamily="49" charset="0"/>
              </a:rPr>
              <a:t>::</a:t>
            </a:r>
          </a:p>
          <a:p>
            <a:r>
              <a:rPr lang="sk-SK" sz="1100" dirty="0">
                <a:latin typeface="Consolas" panose="020B0609020204030204" pitchFamily="49" charset="0"/>
              </a:rPr>
              <a:t>*&gt;</a:t>
            </a:r>
            <a:r>
              <a:rPr lang="sk-SK" sz="1100" dirty="0" err="1">
                <a:latin typeface="Consolas" panose="020B0609020204030204" pitchFamily="49" charset="0"/>
              </a:rPr>
              <a:t>i10.2.21.0</a:t>
            </a:r>
            <a:r>
              <a:rPr lang="sk-SK" sz="1100" dirty="0">
                <a:latin typeface="Consolas" panose="020B0609020204030204" pitchFamily="49" charset="0"/>
              </a:rPr>
              <a:t>/24       2001:9999::21                       </a:t>
            </a:r>
            <a:r>
              <a:rPr lang="sk-SK" sz="1100" dirty="0" err="1">
                <a:latin typeface="Consolas" panose="020B0609020204030204" pitchFamily="49" charset="0"/>
              </a:rPr>
              <a:t>fc00:ab00:21:e002</a:t>
            </a:r>
            <a:r>
              <a:rPr lang="sk-SK" sz="1100" dirty="0">
                <a:latin typeface="Consolas" panose="020B0609020204030204" pitchFamily="49" charset="0"/>
              </a:rPr>
              <a:t>::</a:t>
            </a:r>
          </a:p>
          <a:p>
            <a:r>
              <a:rPr lang="en-US" sz="1100" dirty="0">
                <a:latin typeface="Consolas" panose="020B0609020204030204" pitchFamily="49" charset="0"/>
              </a:rPr>
              <a:t>-- cut --</a:t>
            </a:r>
            <a:endParaRPr lang="sk-SK" sz="1100" dirty="0">
              <a:latin typeface="Consolas" panose="020B0609020204030204" pitchFamily="49" charset="0"/>
            </a:endParaRPr>
          </a:p>
        </p:txBody>
      </p:sp>
    </p:spTree>
    <p:extLst>
      <p:ext uri="{BB962C8B-B14F-4D97-AF65-F5344CB8AC3E}">
        <p14:creationId xmlns:p14="http://schemas.microsoft.com/office/powerpoint/2010/main" val="327410481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7DF76D3A-5E3E-4BC8-8F39-771134FF4322}"/>
              </a:ext>
            </a:extLst>
          </p:cNvPr>
          <p:cNvSpPr>
            <a:spLocks noGrp="1"/>
          </p:cNvSpPr>
          <p:nvPr>
            <p:ph type="body" idx="1"/>
          </p:nvPr>
        </p:nvSpPr>
        <p:spPr/>
        <p:txBody>
          <a:bodyPr/>
          <a:lstStyle/>
          <a:p>
            <a:r>
              <a:rPr lang="en-US" noProof="0" dirty="0"/>
              <a:t>L2VPN</a:t>
            </a:r>
          </a:p>
        </p:txBody>
      </p:sp>
      <p:sp>
        <p:nvSpPr>
          <p:cNvPr id="2" name="Text Placeholder 1">
            <a:extLst>
              <a:ext uri="{FF2B5EF4-FFF2-40B4-BE49-F238E27FC236}">
                <a16:creationId xmlns:a16="http://schemas.microsoft.com/office/drawing/2014/main" id="{B367786B-A4DD-DB9E-9087-78A451525AAC}"/>
              </a:ext>
            </a:extLst>
          </p:cNvPr>
          <p:cNvSpPr>
            <a:spLocks noGrp="1"/>
          </p:cNvSpPr>
          <p:nvPr>
            <p:ph type="body" sz="quarter" idx="15"/>
          </p:nvPr>
        </p:nvSpPr>
        <p:spPr/>
        <p:txBody>
          <a:bodyPr/>
          <a:lstStyle/>
          <a:p>
            <a:r>
              <a:rPr lang="en-US" dirty="0">
                <a:cs typeface="Calibri" pitchFamily="34" charset="0"/>
              </a:rPr>
              <a:t>SRv6 and service migration</a:t>
            </a:r>
            <a:endParaRPr lang="cs-CZ" dirty="0"/>
          </a:p>
        </p:txBody>
      </p:sp>
      <p:sp>
        <p:nvSpPr>
          <p:cNvPr id="5" name="Zástupný text 4">
            <a:extLst>
              <a:ext uri="{FF2B5EF4-FFF2-40B4-BE49-F238E27FC236}">
                <a16:creationId xmlns:a16="http://schemas.microsoft.com/office/drawing/2014/main" id="{CA46CB7B-0002-4873-B253-4D2438CC3611}"/>
              </a:ext>
            </a:extLst>
          </p:cNvPr>
          <p:cNvSpPr>
            <a:spLocks noGrp="1"/>
          </p:cNvSpPr>
          <p:nvPr>
            <p:ph type="body" sz="quarter" idx="13"/>
          </p:nvPr>
        </p:nvSpPr>
        <p:spPr/>
        <p:txBody>
          <a:bodyPr/>
          <a:lstStyle/>
          <a:p>
            <a:r>
              <a:rPr lang="en-US" dirty="0"/>
              <a:t>Segment Routing MPLS and SRv6</a:t>
            </a:r>
          </a:p>
        </p:txBody>
      </p:sp>
      <p:sp>
        <p:nvSpPr>
          <p:cNvPr id="6" name="Zástupný text 5">
            <a:extLst>
              <a:ext uri="{FF2B5EF4-FFF2-40B4-BE49-F238E27FC236}">
                <a16:creationId xmlns:a16="http://schemas.microsoft.com/office/drawing/2014/main" id="{955FA430-FA92-4EB5-849C-E3D05AB9B217}"/>
              </a:ext>
            </a:extLst>
          </p:cNvPr>
          <p:cNvSpPr>
            <a:spLocks noGrp="1"/>
          </p:cNvSpPr>
          <p:nvPr>
            <p:ph type="body" sz="quarter" idx="14"/>
          </p:nvPr>
        </p:nvSpPr>
        <p:spPr/>
        <p:txBody>
          <a:bodyPr/>
          <a:lstStyle/>
          <a:p>
            <a:endParaRPr lang="en-US" dirty="0"/>
          </a:p>
        </p:txBody>
      </p:sp>
    </p:spTree>
    <p:extLst>
      <p:ext uri="{BB962C8B-B14F-4D97-AF65-F5344CB8AC3E}">
        <p14:creationId xmlns:p14="http://schemas.microsoft.com/office/powerpoint/2010/main" val="2329522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D993C2-7531-E04D-FD06-8C454A270BCB}"/>
              </a:ext>
            </a:extLst>
          </p:cNvPr>
          <p:cNvSpPr>
            <a:spLocks noGrp="1"/>
          </p:cNvSpPr>
          <p:nvPr>
            <p:ph type="body" sz="quarter" idx="10"/>
          </p:nvPr>
        </p:nvSpPr>
        <p:spPr/>
        <p:txBody>
          <a:bodyPr/>
          <a:lstStyle/>
          <a:p>
            <a:r>
              <a:rPr lang="en-US" b="1" dirty="0"/>
              <a:t>Only EVPN is supported</a:t>
            </a:r>
          </a:p>
          <a:p>
            <a:pPr lvl="1"/>
            <a:r>
              <a:rPr lang="en-US" dirty="0">
                <a:solidFill>
                  <a:schemeClr val="accent6"/>
                </a:solidFill>
              </a:rPr>
              <a:t>Pseudowire needs MPLS in dataplane</a:t>
            </a:r>
          </a:p>
          <a:p>
            <a:pPr lvl="1"/>
            <a:r>
              <a:rPr lang="en-US" dirty="0">
                <a:solidFill>
                  <a:schemeClr val="accent6"/>
                </a:solidFill>
              </a:rPr>
              <a:t>VPLS needs pseudowires and bridge-domain</a:t>
            </a:r>
          </a:p>
          <a:p>
            <a:r>
              <a:rPr lang="en-US" dirty="0"/>
              <a:t>BGP Control Plane – l2vpn </a:t>
            </a:r>
            <a:r>
              <a:rPr lang="en-US" dirty="0" err="1"/>
              <a:t>evpn</a:t>
            </a:r>
            <a:r>
              <a:rPr lang="en-US" dirty="0"/>
              <a:t> AF information exchange</a:t>
            </a:r>
          </a:p>
          <a:p>
            <a:r>
              <a:rPr lang="en-US" dirty="0"/>
              <a:t>EVPN config</a:t>
            </a:r>
          </a:p>
          <a:p>
            <a:endParaRPr lang="en-US" dirty="0"/>
          </a:p>
          <a:p>
            <a:pPr marL="0" indent="0">
              <a:buNone/>
            </a:pPr>
            <a:endParaRPr lang="en-US" dirty="0"/>
          </a:p>
          <a:p>
            <a:endParaRPr lang="en-US" dirty="0"/>
          </a:p>
          <a:p>
            <a:r>
              <a:rPr lang="en-US" dirty="0"/>
              <a:t>L2VPN config</a:t>
            </a:r>
          </a:p>
          <a:p>
            <a:endParaRPr lang="en-US" dirty="0"/>
          </a:p>
        </p:txBody>
      </p:sp>
      <p:sp>
        <p:nvSpPr>
          <p:cNvPr id="3" name="Text Placeholder 2">
            <a:extLst>
              <a:ext uri="{FF2B5EF4-FFF2-40B4-BE49-F238E27FC236}">
                <a16:creationId xmlns:a16="http://schemas.microsoft.com/office/drawing/2014/main" id="{7F71FC62-B446-59F4-7354-DB327E1127AA}"/>
              </a:ext>
            </a:extLst>
          </p:cNvPr>
          <p:cNvSpPr>
            <a:spLocks noGrp="1"/>
          </p:cNvSpPr>
          <p:nvPr>
            <p:ph type="body" sz="quarter" idx="11"/>
          </p:nvPr>
        </p:nvSpPr>
        <p:spPr/>
        <p:txBody>
          <a:bodyPr/>
          <a:lstStyle/>
          <a:p>
            <a:r>
              <a:rPr lang="en-US" dirty="0"/>
              <a:t>L2VPN over SRv6</a:t>
            </a:r>
          </a:p>
        </p:txBody>
      </p:sp>
      <p:sp>
        <p:nvSpPr>
          <p:cNvPr id="4" name="Rectangle 3">
            <a:extLst>
              <a:ext uri="{FF2B5EF4-FFF2-40B4-BE49-F238E27FC236}">
                <a16:creationId xmlns:a16="http://schemas.microsoft.com/office/drawing/2014/main" id="{FF2165D6-B243-2FEF-899B-4769080E280B}"/>
              </a:ext>
            </a:extLst>
          </p:cNvPr>
          <p:cNvSpPr/>
          <p:nvPr/>
        </p:nvSpPr>
        <p:spPr>
          <a:xfrm>
            <a:off x="1614792" y="5348319"/>
            <a:ext cx="5680953" cy="1384995"/>
          </a:xfrm>
          <a:prstGeom prst="rect">
            <a:avLst/>
          </a:prstGeom>
          <a:solidFill>
            <a:schemeClr val="bg1">
              <a:lumMod val="95000"/>
            </a:schemeClr>
          </a:solidFill>
          <a:ln>
            <a:solidFill>
              <a:schemeClr val="tx1"/>
            </a:solidFill>
          </a:ln>
          <a:effectLst/>
        </p:spPr>
        <p:txBody>
          <a:bodyPr wrap="square">
            <a:spAutoFit/>
          </a:bodyPr>
          <a:lstStyle/>
          <a:p>
            <a:r>
              <a:rPr lang="en-US" sz="1400" dirty="0">
                <a:latin typeface="Consolas" panose="020B0609020204030204" pitchFamily="49" charset="0"/>
              </a:rPr>
              <a:t>l2vpn</a:t>
            </a:r>
          </a:p>
          <a:p>
            <a:r>
              <a:rPr lang="en-US" sz="1400" dirty="0">
                <a:latin typeface="Consolas" panose="020B0609020204030204" pitchFamily="49" charset="0"/>
              </a:rPr>
              <a:t> xconnect group 2</a:t>
            </a:r>
          </a:p>
          <a:p>
            <a:r>
              <a:rPr lang="en-US" sz="1400" dirty="0">
                <a:latin typeface="Consolas" panose="020B0609020204030204" pitchFamily="49" charset="0"/>
              </a:rPr>
              <a:t>  p2p 2</a:t>
            </a:r>
          </a:p>
          <a:p>
            <a:r>
              <a:rPr lang="en-US" sz="1400" dirty="0">
                <a:latin typeface="Consolas" panose="020B0609020204030204" pitchFamily="49" charset="0"/>
              </a:rPr>
              <a:t>   interface TenGigE0/0/0/0.2</a:t>
            </a:r>
          </a:p>
          <a:p>
            <a:r>
              <a:rPr lang="en-US" sz="1400" dirty="0">
                <a:latin typeface="Consolas" panose="020B0609020204030204" pitchFamily="49" charset="0"/>
              </a:rPr>
              <a:t>   neighbor </a:t>
            </a:r>
            <a:r>
              <a:rPr lang="en-US" sz="1400" dirty="0" err="1">
                <a:latin typeface="Consolas" panose="020B0609020204030204" pitchFamily="49" charset="0"/>
              </a:rPr>
              <a:t>evpn</a:t>
            </a:r>
            <a:r>
              <a:rPr lang="en-US" sz="1400" dirty="0">
                <a:latin typeface="Consolas" panose="020B0609020204030204" pitchFamily="49" charset="0"/>
              </a:rPr>
              <a:t> </a:t>
            </a:r>
            <a:r>
              <a:rPr lang="en-US" sz="1400" dirty="0" err="1">
                <a:latin typeface="Consolas" panose="020B0609020204030204" pitchFamily="49" charset="0"/>
              </a:rPr>
              <a:t>evi</a:t>
            </a:r>
            <a:r>
              <a:rPr lang="en-US" sz="1400" dirty="0">
                <a:latin typeface="Consolas" panose="020B0609020204030204" pitchFamily="49" charset="0"/>
              </a:rPr>
              <a:t> 2 service 2 </a:t>
            </a:r>
            <a:r>
              <a:rPr lang="en-US" sz="1400" b="1" dirty="0">
                <a:highlight>
                  <a:srgbClr val="FFFF00"/>
                </a:highlight>
                <a:latin typeface="Consolas" panose="020B0609020204030204" pitchFamily="49" charset="0"/>
              </a:rPr>
              <a:t>segment-routing srv6</a:t>
            </a:r>
          </a:p>
          <a:p>
            <a:r>
              <a:rPr lang="en-US" sz="1400" dirty="0">
                <a:latin typeface="Consolas" panose="020B0609020204030204" pitchFamily="49" charset="0"/>
              </a:rPr>
              <a:t>   !</a:t>
            </a:r>
            <a:endParaRPr lang="sk-SK" sz="1400" dirty="0">
              <a:solidFill>
                <a:srgbClr val="FF0000"/>
              </a:solidFill>
              <a:latin typeface="Consolas" panose="020B0609020204030204" pitchFamily="49" charset="0"/>
            </a:endParaRPr>
          </a:p>
        </p:txBody>
      </p:sp>
      <p:sp>
        <p:nvSpPr>
          <p:cNvPr id="5" name="Rectangle 4">
            <a:extLst>
              <a:ext uri="{FF2B5EF4-FFF2-40B4-BE49-F238E27FC236}">
                <a16:creationId xmlns:a16="http://schemas.microsoft.com/office/drawing/2014/main" id="{E6FBCBC8-EE0E-22D1-9DBF-3BE1177ABF53}"/>
              </a:ext>
            </a:extLst>
          </p:cNvPr>
          <p:cNvSpPr/>
          <p:nvPr/>
        </p:nvSpPr>
        <p:spPr>
          <a:xfrm>
            <a:off x="8852170" y="2726057"/>
            <a:ext cx="3009089" cy="2031325"/>
          </a:xfrm>
          <a:prstGeom prst="rect">
            <a:avLst/>
          </a:prstGeom>
          <a:solidFill>
            <a:schemeClr val="bg1">
              <a:lumMod val="95000"/>
            </a:schemeClr>
          </a:solidFill>
          <a:ln>
            <a:solidFill>
              <a:schemeClr val="tx1"/>
            </a:solidFill>
          </a:ln>
          <a:effectLst/>
        </p:spPr>
        <p:txBody>
          <a:bodyPr wrap="square">
            <a:spAutoFit/>
          </a:bodyPr>
          <a:lstStyle/>
          <a:p>
            <a:r>
              <a:rPr lang="sk-SK" sz="1400" dirty="0">
                <a:latin typeface="Consolas" panose="020B0609020204030204" pitchFamily="49" charset="0"/>
              </a:rPr>
              <a:t>router bgp 100</a:t>
            </a:r>
          </a:p>
          <a:p>
            <a:r>
              <a:rPr lang="sk-SK" sz="1400" dirty="0">
                <a:latin typeface="Consolas" panose="020B0609020204030204" pitchFamily="49" charset="0"/>
              </a:rPr>
              <a:t> bgp router-id 4.4.4.4</a:t>
            </a:r>
          </a:p>
          <a:p>
            <a:r>
              <a:rPr lang="sk-SK" sz="1400" dirty="0">
                <a:latin typeface="Consolas" panose="020B0609020204030204" pitchFamily="49" charset="0"/>
              </a:rPr>
              <a:t> </a:t>
            </a:r>
            <a:r>
              <a:rPr lang="sk-SK" sz="1400" b="1" dirty="0" err="1">
                <a:highlight>
                  <a:srgbClr val="FFFF00"/>
                </a:highlight>
                <a:latin typeface="Consolas" panose="020B0609020204030204" pitchFamily="49" charset="0"/>
              </a:rPr>
              <a:t>address-family</a:t>
            </a:r>
            <a:r>
              <a:rPr lang="sk-SK" sz="1400" b="1" dirty="0">
                <a:highlight>
                  <a:srgbClr val="FFFF00"/>
                </a:highlight>
                <a:latin typeface="Consolas" panose="020B0609020204030204" pitchFamily="49" charset="0"/>
              </a:rPr>
              <a:t> l2vpn </a:t>
            </a:r>
            <a:r>
              <a:rPr lang="sk-SK" sz="1400" b="1" dirty="0" err="1">
                <a:highlight>
                  <a:srgbClr val="FFFF00"/>
                </a:highlight>
                <a:latin typeface="Consolas" panose="020B0609020204030204" pitchFamily="49" charset="0"/>
              </a:rPr>
              <a:t>evpn</a:t>
            </a:r>
            <a:endParaRPr lang="sk-SK" sz="1400" b="1" dirty="0">
              <a:highlight>
                <a:srgbClr val="FFFF00"/>
              </a:highlight>
              <a:latin typeface="Consolas" panose="020B0609020204030204" pitchFamily="49" charset="0"/>
            </a:endParaRPr>
          </a:p>
          <a:p>
            <a:r>
              <a:rPr lang="sk-SK" sz="1400" dirty="0">
                <a:latin typeface="Consolas" panose="020B0609020204030204" pitchFamily="49" charset="0"/>
              </a:rPr>
              <a:t> !</a:t>
            </a:r>
          </a:p>
          <a:p>
            <a:r>
              <a:rPr lang="sk-SK" sz="1400" dirty="0">
                <a:latin typeface="Consolas" panose="020B0609020204030204" pitchFamily="49" charset="0"/>
              </a:rPr>
              <a:t> </a:t>
            </a:r>
            <a:r>
              <a:rPr lang="sk-SK" sz="1400" dirty="0" err="1">
                <a:latin typeface="Consolas" panose="020B0609020204030204" pitchFamily="49" charset="0"/>
              </a:rPr>
              <a:t>neighbor</a:t>
            </a:r>
            <a:r>
              <a:rPr lang="sk-SK" sz="1400" dirty="0">
                <a:latin typeface="Consolas" panose="020B0609020204030204" pitchFamily="49" charset="0"/>
              </a:rPr>
              <a:t> fcbb:bb00:1::1</a:t>
            </a:r>
          </a:p>
          <a:p>
            <a:r>
              <a:rPr lang="sk-SK" sz="1400" dirty="0">
                <a:latin typeface="Consolas" panose="020B0609020204030204" pitchFamily="49" charset="0"/>
              </a:rPr>
              <a:t>  </a:t>
            </a:r>
            <a:r>
              <a:rPr lang="sk-SK" sz="1400" dirty="0" err="1">
                <a:latin typeface="Consolas" panose="020B0609020204030204" pitchFamily="49" charset="0"/>
              </a:rPr>
              <a:t>remote</a:t>
            </a:r>
            <a:r>
              <a:rPr lang="sk-SK" sz="1400" dirty="0">
                <a:latin typeface="Consolas" panose="020B0609020204030204" pitchFamily="49" charset="0"/>
              </a:rPr>
              <a:t>-as 100</a:t>
            </a:r>
          </a:p>
          <a:p>
            <a:r>
              <a:rPr lang="sk-SK" sz="1400" dirty="0">
                <a:latin typeface="Consolas" panose="020B0609020204030204" pitchFamily="49" charset="0"/>
              </a:rPr>
              <a:t>  update-</a:t>
            </a:r>
            <a:r>
              <a:rPr lang="sk-SK" sz="1400" dirty="0" err="1">
                <a:latin typeface="Consolas" panose="020B0609020204030204" pitchFamily="49" charset="0"/>
              </a:rPr>
              <a:t>source</a:t>
            </a:r>
            <a:r>
              <a:rPr lang="sk-SK" sz="1400" dirty="0">
                <a:latin typeface="Consolas" panose="020B0609020204030204" pitchFamily="49" charset="0"/>
              </a:rPr>
              <a:t> Loopback0</a:t>
            </a:r>
          </a:p>
          <a:p>
            <a:r>
              <a:rPr lang="sk-SK" sz="1400" dirty="0">
                <a:latin typeface="Consolas" panose="020B0609020204030204" pitchFamily="49" charset="0"/>
              </a:rPr>
              <a:t> </a:t>
            </a:r>
            <a:r>
              <a:rPr lang="sk-SK" sz="1400" b="1" dirty="0" err="1">
                <a:highlight>
                  <a:srgbClr val="FFFF00"/>
                </a:highlight>
                <a:latin typeface="Consolas" panose="020B0609020204030204" pitchFamily="49" charset="0"/>
              </a:rPr>
              <a:t>address-family</a:t>
            </a:r>
            <a:r>
              <a:rPr lang="sk-SK" sz="1400" b="1" dirty="0">
                <a:highlight>
                  <a:srgbClr val="FFFF00"/>
                </a:highlight>
                <a:latin typeface="Consolas" panose="020B0609020204030204" pitchFamily="49" charset="0"/>
              </a:rPr>
              <a:t> l2vpn </a:t>
            </a:r>
            <a:r>
              <a:rPr lang="sk-SK" sz="1400" b="1" dirty="0" err="1">
                <a:highlight>
                  <a:srgbClr val="FFFF00"/>
                </a:highlight>
                <a:latin typeface="Consolas" panose="020B0609020204030204" pitchFamily="49" charset="0"/>
              </a:rPr>
              <a:t>evpn</a:t>
            </a:r>
            <a:endParaRPr lang="sk-SK" sz="1400" b="1" dirty="0">
              <a:highlight>
                <a:srgbClr val="FFFF00"/>
              </a:highlight>
              <a:latin typeface="Consolas" panose="020B0609020204030204" pitchFamily="49" charset="0"/>
            </a:endParaRPr>
          </a:p>
          <a:p>
            <a:r>
              <a:rPr lang="sk-SK" sz="1400" dirty="0">
                <a:latin typeface="Consolas" panose="020B0609020204030204" pitchFamily="49" charset="0"/>
              </a:rPr>
              <a:t>  !</a:t>
            </a:r>
            <a:endParaRPr lang="sk-SK" sz="1400" dirty="0">
              <a:solidFill>
                <a:srgbClr val="FF0000"/>
              </a:solidFill>
              <a:latin typeface="Consolas" panose="020B0609020204030204" pitchFamily="49" charset="0"/>
            </a:endParaRPr>
          </a:p>
        </p:txBody>
      </p:sp>
      <p:sp>
        <p:nvSpPr>
          <p:cNvPr id="7" name="Rectangle 6">
            <a:extLst>
              <a:ext uri="{FF2B5EF4-FFF2-40B4-BE49-F238E27FC236}">
                <a16:creationId xmlns:a16="http://schemas.microsoft.com/office/drawing/2014/main" id="{C6AC88CE-60FD-252C-891B-2F18C23020A1}"/>
              </a:ext>
            </a:extLst>
          </p:cNvPr>
          <p:cNvSpPr/>
          <p:nvPr/>
        </p:nvSpPr>
        <p:spPr>
          <a:xfrm>
            <a:off x="3167975" y="2941501"/>
            <a:ext cx="3009089" cy="1600438"/>
          </a:xfrm>
          <a:prstGeom prst="rect">
            <a:avLst/>
          </a:prstGeom>
          <a:solidFill>
            <a:schemeClr val="bg1">
              <a:lumMod val="95000"/>
            </a:schemeClr>
          </a:solidFill>
          <a:ln>
            <a:solidFill>
              <a:schemeClr val="tx1"/>
            </a:solidFill>
          </a:ln>
          <a:effectLst/>
        </p:spPr>
        <p:txBody>
          <a:bodyPr wrap="square">
            <a:spAutoFit/>
          </a:bodyPr>
          <a:lstStyle/>
          <a:p>
            <a:r>
              <a:rPr lang="sk-SK" sz="1400" dirty="0" err="1">
                <a:latin typeface="Consolas" panose="020B0609020204030204" pitchFamily="49" charset="0"/>
              </a:rPr>
              <a:t>evpn</a:t>
            </a:r>
            <a:endParaRPr lang="sk-SK" sz="1400" dirty="0">
              <a:latin typeface="Consolas" panose="020B0609020204030204" pitchFamily="49" charset="0"/>
            </a:endParaRPr>
          </a:p>
          <a:p>
            <a:r>
              <a:rPr lang="sk-SK" sz="1400" dirty="0">
                <a:latin typeface="Consolas" panose="020B0609020204030204" pitchFamily="49" charset="0"/>
              </a:rPr>
              <a:t> interface TenGigE0/0/0/0</a:t>
            </a:r>
          </a:p>
          <a:p>
            <a:r>
              <a:rPr lang="sk-SK" sz="1400" dirty="0">
                <a:latin typeface="Consolas" panose="020B0609020204030204" pitchFamily="49" charset="0"/>
              </a:rPr>
              <a:t> !</a:t>
            </a:r>
          </a:p>
          <a:p>
            <a:r>
              <a:rPr lang="sk-SK" sz="1400" b="1" dirty="0">
                <a:latin typeface="Consolas" panose="020B0609020204030204" pitchFamily="49" charset="0"/>
              </a:rPr>
              <a:t> </a:t>
            </a:r>
            <a:r>
              <a:rPr lang="sk-SK" sz="1400" b="1" dirty="0">
                <a:highlight>
                  <a:srgbClr val="FFFF00"/>
                </a:highlight>
                <a:latin typeface="Consolas" panose="020B0609020204030204" pitchFamily="49" charset="0"/>
              </a:rPr>
              <a:t>segment-routing srv6</a:t>
            </a:r>
          </a:p>
          <a:p>
            <a:r>
              <a:rPr lang="sk-SK" sz="1400" b="1" dirty="0">
                <a:highlight>
                  <a:srgbClr val="FFFF00"/>
                </a:highlight>
                <a:latin typeface="Consolas" panose="020B0609020204030204" pitchFamily="49" charset="0"/>
              </a:rPr>
              <a:t>  </a:t>
            </a:r>
            <a:r>
              <a:rPr lang="sk-SK" sz="1400" b="1" dirty="0" err="1">
                <a:highlight>
                  <a:srgbClr val="FFFF00"/>
                </a:highlight>
                <a:latin typeface="Consolas" panose="020B0609020204030204" pitchFamily="49" charset="0"/>
              </a:rPr>
              <a:t>locator</a:t>
            </a:r>
            <a:r>
              <a:rPr lang="sk-SK" sz="1400" b="1" dirty="0">
                <a:highlight>
                  <a:srgbClr val="FFFF00"/>
                </a:highlight>
                <a:latin typeface="Consolas" panose="020B0609020204030204" pitchFamily="49" charset="0"/>
              </a:rPr>
              <a:t> </a:t>
            </a:r>
            <a:r>
              <a:rPr lang="en-US" sz="1400" i="1" dirty="0" err="1">
                <a:highlight>
                  <a:srgbClr val="FFFF00"/>
                </a:highlight>
                <a:latin typeface="Consolas" panose="020B0609020204030204" pitchFamily="49" charset="0"/>
              </a:rPr>
              <a:t>My_locator</a:t>
            </a:r>
            <a:endParaRPr lang="sk-SK" sz="1400" i="1" dirty="0">
              <a:highlight>
                <a:srgbClr val="FFFF00"/>
              </a:highlight>
              <a:latin typeface="Consolas" panose="020B0609020204030204" pitchFamily="49" charset="0"/>
            </a:endParaRPr>
          </a:p>
          <a:p>
            <a:r>
              <a:rPr lang="sk-SK" sz="1400" dirty="0">
                <a:latin typeface="Consolas" panose="020B0609020204030204" pitchFamily="49" charset="0"/>
              </a:rPr>
              <a:t> !</a:t>
            </a:r>
          </a:p>
          <a:p>
            <a:r>
              <a:rPr lang="sk-SK" sz="1400" dirty="0">
                <a:latin typeface="Consolas" panose="020B0609020204030204" pitchFamily="49" charset="0"/>
              </a:rPr>
              <a:t>!</a:t>
            </a:r>
            <a:endParaRPr lang="sk-SK" sz="14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352257476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721DBD-20FD-469F-DC45-C9C2BDC8B199}"/>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78E53C79-C587-9DEB-BB18-FF32CF2366D9}"/>
              </a:ext>
            </a:extLst>
          </p:cNvPr>
          <p:cNvSpPr>
            <a:spLocks noGrp="1"/>
          </p:cNvSpPr>
          <p:nvPr>
            <p:ph type="body" sz="quarter" idx="11"/>
          </p:nvPr>
        </p:nvSpPr>
        <p:spPr/>
        <p:txBody>
          <a:bodyPr/>
          <a:lstStyle/>
          <a:p>
            <a:r>
              <a:rPr lang="en-US" dirty="0"/>
              <a:t>LAB 1 – Discovery + verification</a:t>
            </a:r>
          </a:p>
        </p:txBody>
      </p:sp>
    </p:spTree>
    <p:extLst>
      <p:ext uri="{BB962C8B-B14F-4D97-AF65-F5344CB8AC3E}">
        <p14:creationId xmlns:p14="http://schemas.microsoft.com/office/powerpoint/2010/main" val="278912094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721DBD-20FD-469F-DC45-C9C2BDC8B199}"/>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78E53C79-C587-9DEB-BB18-FF32CF2366D9}"/>
              </a:ext>
            </a:extLst>
          </p:cNvPr>
          <p:cNvSpPr>
            <a:spLocks noGrp="1"/>
          </p:cNvSpPr>
          <p:nvPr>
            <p:ph type="body" sz="quarter" idx="11"/>
          </p:nvPr>
        </p:nvSpPr>
        <p:spPr/>
        <p:txBody>
          <a:bodyPr/>
          <a:lstStyle/>
          <a:p>
            <a:r>
              <a:rPr lang="en-US" dirty="0"/>
              <a:t>LAB 2 – Full SID + L3VPN</a:t>
            </a:r>
          </a:p>
        </p:txBody>
      </p:sp>
    </p:spTree>
    <p:extLst>
      <p:ext uri="{BB962C8B-B14F-4D97-AF65-F5344CB8AC3E}">
        <p14:creationId xmlns:p14="http://schemas.microsoft.com/office/powerpoint/2010/main" val="91984648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7DF76D3A-5E3E-4BC8-8F39-771134FF4322}"/>
              </a:ext>
            </a:extLst>
          </p:cNvPr>
          <p:cNvSpPr>
            <a:spLocks noGrp="1"/>
          </p:cNvSpPr>
          <p:nvPr>
            <p:ph type="body" idx="1"/>
          </p:nvPr>
        </p:nvSpPr>
        <p:spPr/>
        <p:txBody>
          <a:bodyPr/>
          <a:lstStyle/>
          <a:p>
            <a:r>
              <a:rPr lang="en-US" noProof="0" dirty="0"/>
              <a:t>Segment Routing</a:t>
            </a:r>
          </a:p>
          <a:p>
            <a:r>
              <a:rPr lang="en-US" dirty="0"/>
              <a:t>SRv6</a:t>
            </a:r>
            <a:endParaRPr lang="en-US" noProof="0" dirty="0"/>
          </a:p>
        </p:txBody>
      </p:sp>
      <p:sp>
        <p:nvSpPr>
          <p:cNvPr id="2" name="Text Placeholder 1">
            <a:extLst>
              <a:ext uri="{FF2B5EF4-FFF2-40B4-BE49-F238E27FC236}">
                <a16:creationId xmlns:a16="http://schemas.microsoft.com/office/drawing/2014/main" id="{B367786B-A4DD-DB9E-9087-78A451525AAC}"/>
              </a:ext>
            </a:extLst>
          </p:cNvPr>
          <p:cNvSpPr>
            <a:spLocks noGrp="1"/>
          </p:cNvSpPr>
          <p:nvPr>
            <p:ph type="body" sz="quarter" idx="15"/>
          </p:nvPr>
        </p:nvSpPr>
        <p:spPr/>
        <p:txBody>
          <a:bodyPr/>
          <a:lstStyle/>
          <a:p>
            <a:r>
              <a:rPr lang="en-US" dirty="0">
                <a:cs typeface="Calibri" pitchFamily="34" charset="0"/>
              </a:rPr>
              <a:t>SRv6 and service migration</a:t>
            </a:r>
            <a:endParaRPr lang="cs-CZ" dirty="0"/>
          </a:p>
        </p:txBody>
      </p:sp>
      <p:sp>
        <p:nvSpPr>
          <p:cNvPr id="5" name="Zástupný text 4">
            <a:extLst>
              <a:ext uri="{FF2B5EF4-FFF2-40B4-BE49-F238E27FC236}">
                <a16:creationId xmlns:a16="http://schemas.microsoft.com/office/drawing/2014/main" id="{CA46CB7B-0002-4873-B253-4D2438CC3611}"/>
              </a:ext>
            </a:extLst>
          </p:cNvPr>
          <p:cNvSpPr>
            <a:spLocks noGrp="1"/>
          </p:cNvSpPr>
          <p:nvPr>
            <p:ph type="body" sz="quarter" idx="13"/>
          </p:nvPr>
        </p:nvSpPr>
        <p:spPr/>
        <p:txBody>
          <a:bodyPr/>
          <a:lstStyle/>
          <a:p>
            <a:r>
              <a:rPr lang="en-US" dirty="0"/>
              <a:t>Segment Routing MPLS and SRv6</a:t>
            </a:r>
          </a:p>
        </p:txBody>
      </p:sp>
      <p:sp>
        <p:nvSpPr>
          <p:cNvPr id="6" name="Zástupný text 5">
            <a:extLst>
              <a:ext uri="{FF2B5EF4-FFF2-40B4-BE49-F238E27FC236}">
                <a16:creationId xmlns:a16="http://schemas.microsoft.com/office/drawing/2014/main" id="{955FA430-FA92-4EB5-849C-E3D05AB9B217}"/>
              </a:ext>
            </a:extLst>
          </p:cNvPr>
          <p:cNvSpPr>
            <a:spLocks noGrp="1"/>
          </p:cNvSpPr>
          <p:nvPr>
            <p:ph type="body" sz="quarter" idx="14"/>
          </p:nvPr>
        </p:nvSpPr>
        <p:spPr/>
        <p:txBody>
          <a:bodyPr/>
          <a:lstStyle/>
          <a:p>
            <a:r>
              <a:rPr lang="en-US" dirty="0"/>
              <a:t>uSID</a:t>
            </a:r>
          </a:p>
        </p:txBody>
      </p:sp>
    </p:spTree>
    <p:extLst>
      <p:ext uri="{BB962C8B-B14F-4D97-AF65-F5344CB8AC3E}">
        <p14:creationId xmlns:p14="http://schemas.microsoft.com/office/powerpoint/2010/main" val="36207275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Program</a:t>
            </a:r>
          </a:p>
          <a:p>
            <a:pPr lvl="1"/>
            <a:r>
              <a:rPr lang="en-US" dirty="0"/>
              <a:t>list of instructions contained in DA/SRH</a:t>
            </a:r>
          </a:p>
          <a:p>
            <a:r>
              <a:rPr lang="en-US" dirty="0"/>
              <a:t>Instruction</a:t>
            </a:r>
          </a:p>
          <a:p>
            <a:pPr lvl="1"/>
            <a:r>
              <a:rPr lang="en-US" dirty="0"/>
              <a:t>SRv6 SID</a:t>
            </a:r>
          </a:p>
          <a:p>
            <a:r>
              <a:rPr lang="en-US" dirty="0"/>
              <a:t>Micro-program</a:t>
            </a:r>
          </a:p>
          <a:p>
            <a:pPr lvl="1"/>
            <a:r>
              <a:rPr lang="en-US" dirty="0"/>
              <a:t>SRv6 SID (called container) that contains a list of micro-instructions</a:t>
            </a:r>
          </a:p>
          <a:p>
            <a:r>
              <a:rPr lang="en-US" dirty="0"/>
              <a:t>Micro-Instruction</a:t>
            </a:r>
          </a:p>
          <a:p>
            <a:pPr lvl="1"/>
            <a:r>
              <a:rPr lang="en-US" dirty="0"/>
              <a:t>SRv6 uSID, can represent any behavior: TE, VPN, Service</a:t>
            </a:r>
            <a:endParaRPr lang="cs-CZ" dirty="0"/>
          </a:p>
        </p:txBody>
      </p:sp>
      <p:sp>
        <p:nvSpPr>
          <p:cNvPr id="3" name="Text Placeholder 2"/>
          <p:cNvSpPr>
            <a:spLocks noGrp="1"/>
          </p:cNvSpPr>
          <p:nvPr>
            <p:ph type="body" sz="quarter" idx="11"/>
          </p:nvPr>
        </p:nvSpPr>
        <p:spPr/>
        <p:txBody>
          <a:bodyPr/>
          <a:lstStyle/>
          <a:p>
            <a:r>
              <a:rPr lang="cs-CZ" dirty="0" err="1"/>
              <a:t>Intuitive</a:t>
            </a:r>
            <a:r>
              <a:rPr lang="cs-CZ" dirty="0"/>
              <a:t> SRv6 Network Program</a:t>
            </a:r>
          </a:p>
        </p:txBody>
      </p:sp>
    </p:spTree>
    <p:extLst>
      <p:ext uri="{BB962C8B-B14F-4D97-AF65-F5344CB8AC3E}">
        <p14:creationId xmlns:p14="http://schemas.microsoft.com/office/powerpoint/2010/main" val="89995842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07BA45-FF89-24D6-586E-CA6E90DC6836}"/>
              </a:ext>
            </a:extLst>
          </p:cNvPr>
          <p:cNvSpPr>
            <a:spLocks noGrp="1"/>
          </p:cNvSpPr>
          <p:nvPr>
            <p:ph type="body" sz="quarter" idx="10"/>
          </p:nvPr>
        </p:nvSpPr>
        <p:spPr/>
        <p:txBody>
          <a:bodyPr/>
          <a:lstStyle/>
          <a:p>
            <a:r>
              <a:rPr lang="en-US" dirty="0"/>
              <a:t>SRv6 micro-segment (uSID) is an extension of the SRv6 architecture.</a:t>
            </a:r>
          </a:p>
          <a:p>
            <a:r>
              <a:rPr lang="en-US" dirty="0" err="1"/>
              <a:t>uSID</a:t>
            </a:r>
            <a:r>
              <a:rPr lang="en-US" dirty="0"/>
              <a:t> Carrier encodes several SRv6 Micro-SID (uSID) instructions within a single 128-bit SID address</a:t>
            </a:r>
          </a:p>
          <a:p>
            <a:r>
              <a:rPr lang="en-US" dirty="0"/>
              <a:t>Ultra-Scale—Scalable number of globally unique nodes in the domain, for example:</a:t>
            </a:r>
          </a:p>
          <a:p>
            <a:pPr lvl="1"/>
            <a:r>
              <a:rPr lang="en-US" dirty="0"/>
              <a:t>16-bit uSID ID size: </a:t>
            </a:r>
            <a:r>
              <a:rPr lang="en-US" dirty="0" err="1"/>
              <a:t>65k</a:t>
            </a:r>
            <a:r>
              <a:rPr lang="en-US" dirty="0"/>
              <a:t> </a:t>
            </a:r>
            <a:r>
              <a:rPr lang="en-US" dirty="0" err="1"/>
              <a:t>uSIDs</a:t>
            </a:r>
            <a:r>
              <a:rPr lang="en-US" dirty="0"/>
              <a:t> per domain block</a:t>
            </a:r>
          </a:p>
          <a:p>
            <a:pPr lvl="1"/>
            <a:r>
              <a:rPr lang="en-US" dirty="0"/>
              <a:t>32-bit uSID ID size: </a:t>
            </a:r>
            <a:r>
              <a:rPr lang="en-US" dirty="0" err="1"/>
              <a:t>4.3M</a:t>
            </a:r>
            <a:r>
              <a:rPr lang="en-US" dirty="0"/>
              <a:t> </a:t>
            </a:r>
            <a:r>
              <a:rPr lang="en-US" dirty="0" err="1"/>
              <a:t>uSIDs</a:t>
            </a:r>
            <a:r>
              <a:rPr lang="en-US" dirty="0"/>
              <a:t> per domain block</a:t>
            </a:r>
          </a:p>
          <a:p>
            <a:r>
              <a:rPr lang="en-US" dirty="0"/>
              <a:t>Lowest </a:t>
            </a:r>
            <a:r>
              <a:rPr lang="en-US" dirty="0" err="1"/>
              <a:t>MTU</a:t>
            </a:r>
            <a:r>
              <a:rPr lang="en-US" dirty="0"/>
              <a:t> overhead</a:t>
            </a:r>
          </a:p>
          <a:p>
            <a:pPr lvl="1"/>
            <a:r>
              <a:rPr lang="en-US" dirty="0"/>
              <a:t>6 </a:t>
            </a:r>
            <a:r>
              <a:rPr lang="en-US" dirty="0" err="1"/>
              <a:t>uSIDs</a:t>
            </a:r>
            <a:r>
              <a:rPr lang="en-US" dirty="0"/>
              <a:t> per uSID carrier</a:t>
            </a:r>
          </a:p>
          <a:p>
            <a:pPr lvl="1"/>
            <a:r>
              <a:rPr lang="en-US" dirty="0"/>
              <a:t>e.g. 18 source-routing waypoints with only 40 bytes of overhead</a:t>
            </a:r>
          </a:p>
          <a:p>
            <a:pPr lvl="1"/>
            <a:endParaRPr lang="en-US" dirty="0"/>
          </a:p>
          <a:p>
            <a:pPr lvl="1"/>
            <a:endParaRPr lang="en-US" dirty="0"/>
          </a:p>
          <a:p>
            <a:endParaRPr lang="en-US" dirty="0"/>
          </a:p>
          <a:p>
            <a:endParaRPr lang="en-US" dirty="0"/>
          </a:p>
        </p:txBody>
      </p:sp>
      <p:sp>
        <p:nvSpPr>
          <p:cNvPr id="3" name="Text Placeholder 2">
            <a:extLst>
              <a:ext uri="{FF2B5EF4-FFF2-40B4-BE49-F238E27FC236}">
                <a16:creationId xmlns:a16="http://schemas.microsoft.com/office/drawing/2014/main" id="{E2FB17EE-8E6A-6228-737E-FD8661200991}"/>
              </a:ext>
            </a:extLst>
          </p:cNvPr>
          <p:cNvSpPr>
            <a:spLocks noGrp="1"/>
          </p:cNvSpPr>
          <p:nvPr>
            <p:ph type="body" sz="quarter" idx="11"/>
          </p:nvPr>
        </p:nvSpPr>
        <p:spPr/>
        <p:txBody>
          <a:bodyPr/>
          <a:lstStyle/>
          <a:p>
            <a:r>
              <a:rPr lang="en-US" dirty="0"/>
              <a:t>SRv6 Micro-Segment (uSID)</a:t>
            </a:r>
          </a:p>
        </p:txBody>
      </p:sp>
    </p:spTree>
    <p:extLst>
      <p:ext uri="{BB962C8B-B14F-4D97-AF65-F5344CB8AC3E}">
        <p14:creationId xmlns:p14="http://schemas.microsoft.com/office/powerpoint/2010/main" val="323194113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D4604C0-C247-A229-E1BE-7CE31DFAA5BD}"/>
              </a:ext>
            </a:extLst>
          </p:cNvPr>
          <p:cNvSpPr>
            <a:spLocks noGrp="1"/>
          </p:cNvSpPr>
          <p:nvPr>
            <p:ph type="body" sz="quarter" idx="10"/>
          </p:nvPr>
        </p:nvSpPr>
        <p:spPr/>
        <p:txBody>
          <a:bodyPr/>
          <a:lstStyle/>
          <a:p>
            <a:r>
              <a:rPr lang="en-US" dirty="0"/>
              <a:t>One of many benefits of SRv6 uSID</a:t>
            </a:r>
          </a:p>
        </p:txBody>
      </p:sp>
      <p:sp>
        <p:nvSpPr>
          <p:cNvPr id="3" name="Text Placeholder 2">
            <a:extLst>
              <a:ext uri="{FF2B5EF4-FFF2-40B4-BE49-F238E27FC236}">
                <a16:creationId xmlns:a16="http://schemas.microsoft.com/office/drawing/2014/main" id="{9D860AA4-8004-7FD0-531B-FE8BDCBBA389}"/>
              </a:ext>
            </a:extLst>
          </p:cNvPr>
          <p:cNvSpPr>
            <a:spLocks noGrp="1"/>
          </p:cNvSpPr>
          <p:nvPr>
            <p:ph type="body" sz="quarter" idx="11"/>
          </p:nvPr>
        </p:nvSpPr>
        <p:spPr/>
        <p:txBody>
          <a:bodyPr/>
          <a:lstStyle/>
          <a:p>
            <a:r>
              <a:rPr lang="en-US" dirty="0"/>
              <a:t>Lowest MTU Overhead</a:t>
            </a:r>
          </a:p>
        </p:txBody>
      </p:sp>
      <p:pic>
        <p:nvPicPr>
          <p:cNvPr id="5" name="Picture 4" descr="A graph with blue and orange lines&#10;&#10;Description automatically generated">
            <a:extLst>
              <a:ext uri="{FF2B5EF4-FFF2-40B4-BE49-F238E27FC236}">
                <a16:creationId xmlns:a16="http://schemas.microsoft.com/office/drawing/2014/main" id="{A3DC6397-CA07-A092-7DF1-42CE9C80D2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2688" y="1599108"/>
            <a:ext cx="8786621" cy="4404742"/>
          </a:xfrm>
          <a:prstGeom prst="rect">
            <a:avLst/>
          </a:prstGeom>
        </p:spPr>
      </p:pic>
    </p:spTree>
    <p:extLst>
      <p:ext uri="{BB962C8B-B14F-4D97-AF65-F5344CB8AC3E}">
        <p14:creationId xmlns:p14="http://schemas.microsoft.com/office/powerpoint/2010/main" val="259393252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07BA45-FF89-24D6-586E-CA6E90DC6836}"/>
              </a:ext>
            </a:extLst>
          </p:cNvPr>
          <p:cNvSpPr>
            <a:spLocks noGrp="1"/>
          </p:cNvSpPr>
          <p:nvPr>
            <p:ph type="body" sz="quarter" idx="10"/>
          </p:nvPr>
        </p:nvSpPr>
        <p:spPr/>
        <p:txBody>
          <a:bodyPr/>
          <a:lstStyle/>
          <a:p>
            <a:r>
              <a:rPr lang="en-US" sz="2000" dirty="0"/>
              <a:t>Hardware-friendliness:</a:t>
            </a:r>
          </a:p>
          <a:p>
            <a:pPr lvl="1"/>
            <a:r>
              <a:rPr lang="en-US" sz="2000" dirty="0"/>
              <a:t>Leverages mature hardware capabilities (inline IP Destination Address edit, IP Destination Address longest match)</a:t>
            </a:r>
          </a:p>
          <a:p>
            <a:pPr lvl="1"/>
            <a:r>
              <a:rPr lang="en-US" sz="2000" dirty="0"/>
              <a:t>Avoids any extra lookup in indexed mapping tables.</a:t>
            </a:r>
          </a:p>
          <a:p>
            <a:pPr lvl="1"/>
            <a:r>
              <a:rPr lang="en-US" sz="2000" dirty="0"/>
              <a:t>A micro-program with 6 or fewer </a:t>
            </a:r>
            <a:r>
              <a:rPr lang="en-US" sz="2000" dirty="0" err="1"/>
              <a:t>uSIDs</a:t>
            </a:r>
            <a:r>
              <a:rPr lang="en-US" sz="2000" dirty="0"/>
              <a:t> requires only legacy IP-in-IP encapsulation behavior.</a:t>
            </a:r>
          </a:p>
          <a:p>
            <a:r>
              <a:rPr lang="en-US" sz="2000" dirty="0"/>
              <a:t>Scalable Control Plane:</a:t>
            </a:r>
          </a:p>
          <a:p>
            <a:pPr lvl="1"/>
            <a:r>
              <a:rPr lang="en-US" sz="2000" dirty="0"/>
              <a:t>Summarization at area/domain boundary provides massive scaling advantage.</a:t>
            </a:r>
          </a:p>
          <a:p>
            <a:pPr lvl="1"/>
            <a:r>
              <a:rPr lang="en-US" sz="2000" dirty="0"/>
              <a:t>No routing extension is required, a simple prefix advertisement suffices.</a:t>
            </a:r>
          </a:p>
          <a:p>
            <a:r>
              <a:rPr lang="en-US" sz="2000" dirty="0"/>
              <a:t>Seamless Deployment:</a:t>
            </a:r>
          </a:p>
          <a:p>
            <a:pPr lvl="1"/>
            <a:r>
              <a:rPr lang="en-US" sz="2000" dirty="0"/>
              <a:t>A uSID may be used as a SID (the carrier holds a single uSID).</a:t>
            </a:r>
          </a:p>
          <a:p>
            <a:pPr lvl="1"/>
            <a:r>
              <a:rPr lang="en-US" sz="2000" dirty="0"/>
              <a:t>The inner structure of an SR Policy can stay opaque to the source. A carrier with </a:t>
            </a:r>
            <a:r>
              <a:rPr lang="en-US" sz="2000" dirty="0" err="1"/>
              <a:t>uSIDs</a:t>
            </a:r>
            <a:r>
              <a:rPr lang="en-US" sz="2000" dirty="0"/>
              <a:t> is just seen as a SID by the policy headend Security.</a:t>
            </a:r>
          </a:p>
          <a:p>
            <a:pPr lvl="1"/>
            <a:r>
              <a:rPr lang="en-US" sz="2000" dirty="0"/>
              <a:t>Leverages </a:t>
            </a:r>
            <a:r>
              <a:rPr lang="en-US" sz="2000" dirty="0" err="1"/>
              <a:t>SRv6's</a:t>
            </a:r>
            <a:r>
              <a:rPr lang="en-US" sz="2000" dirty="0"/>
              <a:t> native SR domain security.</a:t>
            </a:r>
          </a:p>
          <a:p>
            <a:endParaRPr lang="en-US" sz="2000" dirty="0"/>
          </a:p>
          <a:p>
            <a:pPr lvl="1"/>
            <a:endParaRPr lang="en-US" sz="2000" dirty="0"/>
          </a:p>
          <a:p>
            <a:pPr lvl="1"/>
            <a:endParaRPr lang="en-US" sz="2000" dirty="0"/>
          </a:p>
          <a:p>
            <a:endParaRPr lang="en-US" sz="2000" dirty="0"/>
          </a:p>
          <a:p>
            <a:endParaRPr lang="en-US" sz="2000" dirty="0"/>
          </a:p>
        </p:txBody>
      </p:sp>
      <p:sp>
        <p:nvSpPr>
          <p:cNvPr id="3" name="Text Placeholder 2">
            <a:extLst>
              <a:ext uri="{FF2B5EF4-FFF2-40B4-BE49-F238E27FC236}">
                <a16:creationId xmlns:a16="http://schemas.microsoft.com/office/drawing/2014/main" id="{E2FB17EE-8E6A-6228-737E-FD8661200991}"/>
              </a:ext>
            </a:extLst>
          </p:cNvPr>
          <p:cNvSpPr>
            <a:spLocks noGrp="1"/>
          </p:cNvSpPr>
          <p:nvPr>
            <p:ph type="body" sz="quarter" idx="11"/>
          </p:nvPr>
        </p:nvSpPr>
        <p:spPr/>
        <p:txBody>
          <a:bodyPr/>
          <a:lstStyle/>
          <a:p>
            <a:r>
              <a:rPr lang="en-US" dirty="0"/>
              <a:t>SRv6 Micro-Segment (uSID)</a:t>
            </a:r>
          </a:p>
        </p:txBody>
      </p:sp>
    </p:spTree>
    <p:extLst>
      <p:ext uri="{BB962C8B-B14F-4D97-AF65-F5344CB8AC3E}">
        <p14:creationId xmlns:p14="http://schemas.microsoft.com/office/powerpoint/2010/main" val="375147513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BDB4F7C-BD56-A240-4E54-CD2CADD7032E}"/>
              </a:ext>
            </a:extLst>
          </p:cNvPr>
          <p:cNvSpPr>
            <a:spLocks noGrp="1"/>
          </p:cNvSpPr>
          <p:nvPr>
            <p:ph type="body" sz="quarter" idx="10"/>
          </p:nvPr>
        </p:nvSpPr>
        <p:spPr/>
        <p:txBody>
          <a:bodyPr/>
          <a:lstStyle/>
          <a:p>
            <a:r>
              <a:rPr lang="en-US" dirty="0"/>
              <a:t>SRv6 Network Programming (RFC8986)</a:t>
            </a:r>
          </a:p>
          <a:p>
            <a:pPr lvl="1"/>
            <a:r>
              <a:rPr lang="en-US" dirty="0"/>
              <a:t>The source encodes any end-to-end program as an ordered list of instructions</a:t>
            </a:r>
          </a:p>
          <a:p>
            <a:pPr lvl="1"/>
            <a:r>
              <a:rPr lang="en-US" dirty="0"/>
              <a:t>The first instruction is in the outer DA</a:t>
            </a:r>
          </a:p>
          <a:p>
            <a:pPr lvl="1"/>
            <a:r>
              <a:rPr lang="en-US" dirty="0"/>
              <a:t>The remaining instructions are in the SRH</a:t>
            </a:r>
          </a:p>
          <a:p>
            <a:r>
              <a:rPr lang="en-US" dirty="0"/>
              <a:t>An instruction is called a SID</a:t>
            </a:r>
          </a:p>
          <a:p>
            <a:r>
              <a:rPr lang="en-US" dirty="0"/>
              <a:t>A </a:t>
            </a:r>
            <a:r>
              <a:rPr lang="en-US" b="1" dirty="0"/>
              <a:t>Container SID </a:t>
            </a:r>
            <a:r>
              <a:rPr lang="en-US" dirty="0"/>
              <a:t>may contain up to 6 micro-instructions called </a:t>
            </a:r>
            <a:r>
              <a:rPr lang="en-US" dirty="0" err="1"/>
              <a:t>uSID’s</a:t>
            </a:r>
            <a:endParaRPr lang="en-US" dirty="0"/>
          </a:p>
          <a:p>
            <a:pPr lvl="1"/>
            <a:r>
              <a:rPr lang="en-US" dirty="0"/>
              <a:t>The IETF term is “NEXT-CSID”</a:t>
            </a:r>
          </a:p>
        </p:txBody>
      </p:sp>
      <p:sp>
        <p:nvSpPr>
          <p:cNvPr id="3" name="Text Placeholder 2">
            <a:extLst>
              <a:ext uri="{FF2B5EF4-FFF2-40B4-BE49-F238E27FC236}">
                <a16:creationId xmlns:a16="http://schemas.microsoft.com/office/drawing/2014/main" id="{1ACAF09D-58A0-5346-CCBA-E3C410754C11}"/>
              </a:ext>
            </a:extLst>
          </p:cNvPr>
          <p:cNvSpPr>
            <a:spLocks noGrp="1"/>
          </p:cNvSpPr>
          <p:nvPr>
            <p:ph type="body" sz="quarter" idx="11"/>
          </p:nvPr>
        </p:nvSpPr>
        <p:spPr/>
        <p:txBody>
          <a:bodyPr/>
          <a:lstStyle/>
          <a:p>
            <a:r>
              <a:rPr lang="en-US" dirty="0"/>
              <a:t>SRv6 Network Programming</a:t>
            </a:r>
          </a:p>
        </p:txBody>
      </p:sp>
    </p:spTree>
    <p:extLst>
      <p:ext uri="{BB962C8B-B14F-4D97-AF65-F5344CB8AC3E}">
        <p14:creationId xmlns:p14="http://schemas.microsoft.com/office/powerpoint/2010/main" val="324160995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540ACF9-D5E9-3B6C-4753-3CA25A7468D7}"/>
              </a:ext>
            </a:extLst>
          </p:cNvPr>
          <p:cNvSpPr>
            <a:spLocks noGrp="1"/>
          </p:cNvSpPr>
          <p:nvPr>
            <p:ph type="body" sz="quarter" idx="10"/>
          </p:nvPr>
        </p:nvSpPr>
        <p:spPr>
          <a:xfrm>
            <a:off x="873918" y="2074985"/>
            <a:ext cx="10444163" cy="3808099"/>
          </a:xfrm>
        </p:spPr>
        <p:txBody>
          <a:bodyPr/>
          <a:lstStyle/>
          <a:p>
            <a:r>
              <a:rPr lang="en-US" dirty="0"/>
              <a:t>We recommend to allocate </a:t>
            </a:r>
            <a:r>
              <a:rPr lang="en-US" dirty="0" err="1"/>
              <a:t>uSID’s</a:t>
            </a:r>
            <a:r>
              <a:rPr lang="en-US" dirty="0"/>
              <a:t> from Private IPv6 Space (FC/8)</a:t>
            </a:r>
          </a:p>
          <a:p>
            <a:pPr lvl="1"/>
            <a:r>
              <a:rPr lang="en-US" dirty="0"/>
              <a:t>FC/8: </a:t>
            </a:r>
            <a:r>
              <a:rPr lang="en-US" dirty="0" err="1"/>
              <a:t>unroutable</a:t>
            </a:r>
            <a:r>
              <a:rPr lang="en-US" dirty="0"/>
              <a:t> outside the domain, hence more secure</a:t>
            </a:r>
          </a:p>
          <a:p>
            <a:pPr lvl="1"/>
            <a:r>
              <a:rPr lang="en-US" dirty="0"/>
              <a:t>Public address is also possible</a:t>
            </a:r>
          </a:p>
          <a:p>
            <a:r>
              <a:rPr lang="en-US" dirty="0"/>
              <a:t>We recommend /32 Block</a:t>
            </a:r>
          </a:p>
          <a:p>
            <a:pPr lvl="1"/>
            <a:r>
              <a:rPr lang="en-US" dirty="0"/>
              <a:t>/16 and /48 are also possible</a:t>
            </a:r>
          </a:p>
          <a:p>
            <a:r>
              <a:rPr lang="en-US" dirty="0"/>
              <a:t>In this presentation, we will use</a:t>
            </a:r>
          </a:p>
          <a:p>
            <a:r>
              <a:rPr lang="en-US" dirty="0"/>
              <a:t>− FC00:0000/32 for Min-Cost Slice: shortest path based on minimum ISIS cost</a:t>
            </a:r>
          </a:p>
          <a:p>
            <a:r>
              <a:rPr lang="en-US" dirty="0"/>
              <a:t>− FC00:0008/32 for Min-Delay Slice: shortest path based on minimum latency</a:t>
            </a:r>
          </a:p>
        </p:txBody>
      </p:sp>
      <p:sp>
        <p:nvSpPr>
          <p:cNvPr id="3" name="Text Placeholder 2">
            <a:extLst>
              <a:ext uri="{FF2B5EF4-FFF2-40B4-BE49-F238E27FC236}">
                <a16:creationId xmlns:a16="http://schemas.microsoft.com/office/drawing/2014/main" id="{63AC1A6E-6A88-24DA-137A-C01E6DA75C0F}"/>
              </a:ext>
            </a:extLst>
          </p:cNvPr>
          <p:cNvSpPr>
            <a:spLocks noGrp="1"/>
          </p:cNvSpPr>
          <p:nvPr>
            <p:ph type="body" sz="quarter" idx="11"/>
          </p:nvPr>
        </p:nvSpPr>
        <p:spPr/>
        <p:txBody>
          <a:bodyPr/>
          <a:lstStyle/>
          <a:p>
            <a:r>
              <a:rPr lang="en-US" dirty="0"/>
              <a:t>Container of 6 </a:t>
            </a:r>
            <a:r>
              <a:rPr lang="en-US" dirty="0" err="1"/>
              <a:t>uSID’s</a:t>
            </a:r>
            <a:endParaRPr lang="en-US" dirty="0"/>
          </a:p>
        </p:txBody>
      </p:sp>
      <p:sp>
        <p:nvSpPr>
          <p:cNvPr id="4" name="TextBox 3">
            <a:extLst>
              <a:ext uri="{FF2B5EF4-FFF2-40B4-BE49-F238E27FC236}">
                <a16:creationId xmlns:a16="http://schemas.microsoft.com/office/drawing/2014/main" id="{13CEA836-10FD-C780-0836-40F4671053C7}"/>
              </a:ext>
            </a:extLst>
          </p:cNvPr>
          <p:cNvSpPr txBox="1"/>
          <p:nvPr/>
        </p:nvSpPr>
        <p:spPr>
          <a:xfrm>
            <a:off x="2883877" y="1524000"/>
            <a:ext cx="914400" cy="914400"/>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endParaRPr kumimoji="0" lang="en-US" sz="2400" b="1" i="0" u="none" strike="noStrike" kern="1200" cap="none" spc="0" normalizeH="0" baseline="0" noProof="0" dirty="0" err="1">
              <a:ln>
                <a:noFill/>
              </a:ln>
              <a:solidFill>
                <a:schemeClr val="tx1"/>
              </a:solidFill>
              <a:effectLst/>
              <a:uLnTx/>
              <a:uFillTx/>
              <a:latin typeface="Arial" panose="020B0604020202020204"/>
              <a:ea typeface="+mn-ea"/>
              <a:cs typeface="+mn-cs"/>
            </a:endParaRPr>
          </a:p>
        </p:txBody>
      </p:sp>
      <p:sp>
        <p:nvSpPr>
          <p:cNvPr id="6" name="TextBox 5">
            <a:extLst>
              <a:ext uri="{FF2B5EF4-FFF2-40B4-BE49-F238E27FC236}">
                <a16:creationId xmlns:a16="http://schemas.microsoft.com/office/drawing/2014/main" id="{2E919FE4-0E2F-0A7F-B296-D8E00412346F}"/>
              </a:ext>
            </a:extLst>
          </p:cNvPr>
          <p:cNvSpPr txBox="1"/>
          <p:nvPr/>
        </p:nvSpPr>
        <p:spPr>
          <a:xfrm>
            <a:off x="2016367" y="1129720"/>
            <a:ext cx="7971695" cy="523220"/>
          </a:xfrm>
          <a:prstGeom prst="rect">
            <a:avLst/>
          </a:prstGeom>
          <a:noFill/>
        </p:spPr>
        <p:txBody>
          <a:bodyPr wrap="square">
            <a:spAutoFit/>
          </a:bodyPr>
          <a:lstStyle/>
          <a:p>
            <a:r>
              <a:rPr lang="en-US" sz="2800" b="1" dirty="0">
                <a:latin typeface="Consolas" panose="020B0609020204030204" pitchFamily="49" charset="0"/>
              </a:rPr>
              <a:t>FC00:0000</a:t>
            </a:r>
            <a:r>
              <a:rPr lang="en-US" sz="2800" dirty="0">
                <a:latin typeface="Consolas" panose="020B0609020204030204" pitchFamily="49" charset="0"/>
              </a:rPr>
              <a:t>:1111:2222:3333:4444:5555:6666</a:t>
            </a:r>
          </a:p>
        </p:txBody>
      </p:sp>
      <p:cxnSp>
        <p:nvCxnSpPr>
          <p:cNvPr id="8" name="Straight Connector 7">
            <a:extLst>
              <a:ext uri="{FF2B5EF4-FFF2-40B4-BE49-F238E27FC236}">
                <a16:creationId xmlns:a16="http://schemas.microsoft.com/office/drawing/2014/main" id="{F184BC70-C5DA-7491-3789-321FC3F0BA86}"/>
              </a:ext>
            </a:extLst>
          </p:cNvPr>
          <p:cNvCxnSpPr/>
          <p:nvPr/>
        </p:nvCxnSpPr>
        <p:spPr>
          <a:xfrm>
            <a:off x="2016367" y="1652940"/>
            <a:ext cx="1781910" cy="0"/>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03C7510-6D84-0030-AB64-3CE50158B39E}"/>
              </a:ext>
            </a:extLst>
          </p:cNvPr>
          <p:cNvSpPr txBox="1"/>
          <p:nvPr/>
        </p:nvSpPr>
        <p:spPr>
          <a:xfrm>
            <a:off x="1899138" y="1652940"/>
            <a:ext cx="1899139" cy="45719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000" i="0" u="none" strike="noStrike" kern="1200" cap="none" spc="0" normalizeH="0" baseline="0" noProof="0" dirty="0">
                <a:ln>
                  <a:noFill/>
                </a:ln>
                <a:solidFill>
                  <a:srgbClr val="00B0F0"/>
                </a:solidFill>
                <a:effectLst/>
                <a:uLnTx/>
                <a:uFillTx/>
                <a:latin typeface="Arial" panose="020B0604020202020204"/>
                <a:ea typeface="+mn-ea"/>
                <a:cs typeface="+mn-cs"/>
              </a:rPr>
              <a:t>   uSID Block</a:t>
            </a:r>
          </a:p>
        </p:txBody>
      </p:sp>
      <p:grpSp>
        <p:nvGrpSpPr>
          <p:cNvPr id="11" name="Group 10">
            <a:extLst>
              <a:ext uri="{FF2B5EF4-FFF2-40B4-BE49-F238E27FC236}">
                <a16:creationId xmlns:a16="http://schemas.microsoft.com/office/drawing/2014/main" id="{37EE87EA-C58E-FCD7-55E0-E070FAD46539}"/>
              </a:ext>
            </a:extLst>
          </p:cNvPr>
          <p:cNvGrpSpPr/>
          <p:nvPr/>
        </p:nvGrpSpPr>
        <p:grpSpPr>
          <a:xfrm>
            <a:off x="3936024" y="724398"/>
            <a:ext cx="1045028" cy="360883"/>
            <a:chOff x="3928906" y="846639"/>
            <a:chExt cx="1045028" cy="360883"/>
          </a:xfrm>
        </p:grpSpPr>
        <p:sp>
          <p:nvSpPr>
            <p:cNvPr id="5" name="TextBox 4">
              <a:extLst>
                <a:ext uri="{FF2B5EF4-FFF2-40B4-BE49-F238E27FC236}">
                  <a16:creationId xmlns:a16="http://schemas.microsoft.com/office/drawing/2014/main" id="{B7E9565C-23A1-B4E1-063A-C179087DEEEF}"/>
                </a:ext>
              </a:extLst>
            </p:cNvPr>
            <p:cNvSpPr txBox="1"/>
            <p:nvPr/>
          </p:nvSpPr>
          <p:spPr>
            <a:xfrm>
              <a:off x="3928906" y="846639"/>
              <a:ext cx="1045028" cy="36088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000" i="0" u="none" strike="noStrike" kern="1200" cap="none" spc="0" normalizeH="0" baseline="0" noProof="0" dirty="0">
                  <a:ln>
                    <a:noFill/>
                  </a:ln>
                  <a:solidFill>
                    <a:schemeClr val="accent2"/>
                  </a:solidFill>
                  <a:effectLst/>
                  <a:uLnTx/>
                  <a:uFillTx/>
                  <a:latin typeface="Arial" panose="020B0604020202020204"/>
                  <a:ea typeface="+mn-ea"/>
                  <a:cs typeface="+mn-cs"/>
                </a:rPr>
                <a:t>uSID ID</a:t>
              </a:r>
            </a:p>
          </p:txBody>
        </p:sp>
        <p:cxnSp>
          <p:nvCxnSpPr>
            <p:cNvPr id="7" name="Straight Connector 6">
              <a:extLst>
                <a:ext uri="{FF2B5EF4-FFF2-40B4-BE49-F238E27FC236}">
                  <a16:creationId xmlns:a16="http://schemas.microsoft.com/office/drawing/2014/main" id="{9541AD09-19D7-4B6D-715A-399783BB936A}"/>
                </a:ext>
              </a:extLst>
            </p:cNvPr>
            <p:cNvCxnSpPr>
              <a:cxnSpLocks/>
            </p:cNvCxnSpPr>
            <p:nvPr/>
          </p:nvCxnSpPr>
          <p:spPr>
            <a:xfrm>
              <a:off x="4033127" y="1194222"/>
              <a:ext cx="848753"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F96D0F3E-5920-64CB-B5A5-49FC7B055703}"/>
              </a:ext>
            </a:extLst>
          </p:cNvPr>
          <p:cNvGrpSpPr/>
          <p:nvPr/>
        </p:nvGrpSpPr>
        <p:grpSpPr>
          <a:xfrm>
            <a:off x="4875812" y="724398"/>
            <a:ext cx="1045028" cy="360883"/>
            <a:chOff x="3928906" y="846639"/>
            <a:chExt cx="1045028" cy="360883"/>
          </a:xfrm>
        </p:grpSpPr>
        <p:sp>
          <p:nvSpPr>
            <p:cNvPr id="13" name="TextBox 12">
              <a:extLst>
                <a:ext uri="{FF2B5EF4-FFF2-40B4-BE49-F238E27FC236}">
                  <a16:creationId xmlns:a16="http://schemas.microsoft.com/office/drawing/2014/main" id="{3FBE7D3E-EF83-2953-B725-25D1DDF692E4}"/>
                </a:ext>
              </a:extLst>
            </p:cNvPr>
            <p:cNvSpPr txBox="1"/>
            <p:nvPr/>
          </p:nvSpPr>
          <p:spPr>
            <a:xfrm>
              <a:off x="3928906" y="846639"/>
              <a:ext cx="1045028" cy="36088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000" i="0" u="none" strike="noStrike" kern="1200" cap="none" spc="0" normalizeH="0" baseline="0" noProof="0" dirty="0">
                  <a:ln>
                    <a:noFill/>
                  </a:ln>
                  <a:solidFill>
                    <a:schemeClr val="accent2"/>
                  </a:solidFill>
                  <a:effectLst/>
                  <a:uLnTx/>
                  <a:uFillTx/>
                  <a:latin typeface="Arial" panose="020B0604020202020204"/>
                  <a:ea typeface="+mn-ea"/>
                  <a:cs typeface="+mn-cs"/>
                </a:rPr>
                <a:t>uSID ID</a:t>
              </a:r>
            </a:p>
          </p:txBody>
        </p:sp>
        <p:cxnSp>
          <p:nvCxnSpPr>
            <p:cNvPr id="14" name="Straight Connector 13">
              <a:extLst>
                <a:ext uri="{FF2B5EF4-FFF2-40B4-BE49-F238E27FC236}">
                  <a16:creationId xmlns:a16="http://schemas.microsoft.com/office/drawing/2014/main" id="{EFFBD634-9071-63F5-5740-38DF95C548AB}"/>
                </a:ext>
              </a:extLst>
            </p:cNvPr>
            <p:cNvCxnSpPr>
              <a:cxnSpLocks/>
            </p:cNvCxnSpPr>
            <p:nvPr/>
          </p:nvCxnSpPr>
          <p:spPr>
            <a:xfrm>
              <a:off x="4033127" y="1194222"/>
              <a:ext cx="848753"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633641EE-F96A-7FC0-3B49-1604BE293126}"/>
              </a:ext>
            </a:extLst>
          </p:cNvPr>
          <p:cNvGrpSpPr/>
          <p:nvPr/>
        </p:nvGrpSpPr>
        <p:grpSpPr>
          <a:xfrm>
            <a:off x="5860905" y="725318"/>
            <a:ext cx="1045028" cy="360883"/>
            <a:chOff x="3928906" y="846639"/>
            <a:chExt cx="1045028" cy="360883"/>
          </a:xfrm>
        </p:grpSpPr>
        <p:sp>
          <p:nvSpPr>
            <p:cNvPr id="16" name="TextBox 15">
              <a:extLst>
                <a:ext uri="{FF2B5EF4-FFF2-40B4-BE49-F238E27FC236}">
                  <a16:creationId xmlns:a16="http://schemas.microsoft.com/office/drawing/2014/main" id="{4B4CEF29-A6C5-85A7-12B4-224EE335384D}"/>
                </a:ext>
              </a:extLst>
            </p:cNvPr>
            <p:cNvSpPr txBox="1"/>
            <p:nvPr/>
          </p:nvSpPr>
          <p:spPr>
            <a:xfrm>
              <a:off x="3928906" y="846639"/>
              <a:ext cx="1045028" cy="36088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000" i="0" u="none" strike="noStrike" kern="1200" cap="none" spc="0" normalizeH="0" baseline="0" noProof="0" dirty="0">
                  <a:ln>
                    <a:noFill/>
                  </a:ln>
                  <a:solidFill>
                    <a:schemeClr val="accent2"/>
                  </a:solidFill>
                  <a:effectLst/>
                  <a:uLnTx/>
                  <a:uFillTx/>
                  <a:latin typeface="Arial" panose="020B0604020202020204"/>
                  <a:ea typeface="+mn-ea"/>
                  <a:cs typeface="+mn-cs"/>
                </a:rPr>
                <a:t>uSID ID</a:t>
              </a:r>
            </a:p>
          </p:txBody>
        </p:sp>
        <p:cxnSp>
          <p:nvCxnSpPr>
            <p:cNvPr id="17" name="Straight Connector 16">
              <a:extLst>
                <a:ext uri="{FF2B5EF4-FFF2-40B4-BE49-F238E27FC236}">
                  <a16:creationId xmlns:a16="http://schemas.microsoft.com/office/drawing/2014/main" id="{D9E41ADC-2296-EA78-554B-89F7ABDE503F}"/>
                </a:ext>
              </a:extLst>
            </p:cNvPr>
            <p:cNvCxnSpPr>
              <a:cxnSpLocks/>
            </p:cNvCxnSpPr>
            <p:nvPr/>
          </p:nvCxnSpPr>
          <p:spPr>
            <a:xfrm>
              <a:off x="4033127" y="1194222"/>
              <a:ext cx="848753"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D922C1A2-CC21-BF4C-0D4C-DCBA3AD9B9E4}"/>
              </a:ext>
            </a:extLst>
          </p:cNvPr>
          <p:cNvGrpSpPr/>
          <p:nvPr/>
        </p:nvGrpSpPr>
        <p:grpSpPr>
          <a:xfrm>
            <a:off x="6812981" y="724398"/>
            <a:ext cx="1045028" cy="360883"/>
            <a:chOff x="3928906" y="846639"/>
            <a:chExt cx="1045028" cy="360883"/>
          </a:xfrm>
        </p:grpSpPr>
        <p:sp>
          <p:nvSpPr>
            <p:cNvPr id="19" name="TextBox 18">
              <a:extLst>
                <a:ext uri="{FF2B5EF4-FFF2-40B4-BE49-F238E27FC236}">
                  <a16:creationId xmlns:a16="http://schemas.microsoft.com/office/drawing/2014/main" id="{83B9475A-D232-0CE3-8BB4-D63ACF067E69}"/>
                </a:ext>
              </a:extLst>
            </p:cNvPr>
            <p:cNvSpPr txBox="1"/>
            <p:nvPr/>
          </p:nvSpPr>
          <p:spPr>
            <a:xfrm>
              <a:off x="3928906" y="846639"/>
              <a:ext cx="1045028" cy="36088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000" i="0" u="none" strike="noStrike" kern="1200" cap="none" spc="0" normalizeH="0" baseline="0" noProof="0" dirty="0">
                  <a:ln>
                    <a:noFill/>
                  </a:ln>
                  <a:solidFill>
                    <a:schemeClr val="accent2"/>
                  </a:solidFill>
                  <a:effectLst/>
                  <a:uLnTx/>
                  <a:uFillTx/>
                  <a:latin typeface="Arial" panose="020B0604020202020204"/>
                  <a:ea typeface="+mn-ea"/>
                  <a:cs typeface="+mn-cs"/>
                </a:rPr>
                <a:t>uSID ID</a:t>
              </a:r>
            </a:p>
          </p:txBody>
        </p:sp>
        <p:cxnSp>
          <p:nvCxnSpPr>
            <p:cNvPr id="20" name="Straight Connector 19">
              <a:extLst>
                <a:ext uri="{FF2B5EF4-FFF2-40B4-BE49-F238E27FC236}">
                  <a16:creationId xmlns:a16="http://schemas.microsoft.com/office/drawing/2014/main" id="{048F820F-A4B3-2E15-864A-5AFB69C3AFBA}"/>
                </a:ext>
              </a:extLst>
            </p:cNvPr>
            <p:cNvCxnSpPr>
              <a:cxnSpLocks/>
            </p:cNvCxnSpPr>
            <p:nvPr/>
          </p:nvCxnSpPr>
          <p:spPr>
            <a:xfrm>
              <a:off x="4033127" y="1194222"/>
              <a:ext cx="848753"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73151F42-06A7-56A5-C750-8B4E5F665A67}"/>
              </a:ext>
            </a:extLst>
          </p:cNvPr>
          <p:cNvGrpSpPr/>
          <p:nvPr/>
        </p:nvGrpSpPr>
        <p:grpSpPr>
          <a:xfrm>
            <a:off x="7760678" y="730458"/>
            <a:ext cx="1045028" cy="360883"/>
            <a:chOff x="3928906" y="846639"/>
            <a:chExt cx="1045028" cy="360883"/>
          </a:xfrm>
        </p:grpSpPr>
        <p:sp>
          <p:nvSpPr>
            <p:cNvPr id="22" name="TextBox 21">
              <a:extLst>
                <a:ext uri="{FF2B5EF4-FFF2-40B4-BE49-F238E27FC236}">
                  <a16:creationId xmlns:a16="http://schemas.microsoft.com/office/drawing/2014/main" id="{AB5827C9-CCE6-B2EF-912B-377714A07A9A}"/>
                </a:ext>
              </a:extLst>
            </p:cNvPr>
            <p:cNvSpPr txBox="1"/>
            <p:nvPr/>
          </p:nvSpPr>
          <p:spPr>
            <a:xfrm>
              <a:off x="3928906" y="846639"/>
              <a:ext cx="1045028" cy="36088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000" i="0" u="none" strike="noStrike" kern="1200" cap="none" spc="0" normalizeH="0" baseline="0" noProof="0" dirty="0">
                  <a:ln>
                    <a:noFill/>
                  </a:ln>
                  <a:solidFill>
                    <a:schemeClr val="accent2"/>
                  </a:solidFill>
                  <a:effectLst/>
                  <a:uLnTx/>
                  <a:uFillTx/>
                  <a:latin typeface="Arial" panose="020B0604020202020204"/>
                  <a:ea typeface="+mn-ea"/>
                  <a:cs typeface="+mn-cs"/>
                </a:rPr>
                <a:t>uSID ID</a:t>
              </a:r>
            </a:p>
          </p:txBody>
        </p:sp>
        <p:cxnSp>
          <p:nvCxnSpPr>
            <p:cNvPr id="23" name="Straight Connector 22">
              <a:extLst>
                <a:ext uri="{FF2B5EF4-FFF2-40B4-BE49-F238E27FC236}">
                  <a16:creationId xmlns:a16="http://schemas.microsoft.com/office/drawing/2014/main" id="{1E40B02B-661B-0B9B-05C4-D8D9E85A0978}"/>
                </a:ext>
              </a:extLst>
            </p:cNvPr>
            <p:cNvCxnSpPr>
              <a:cxnSpLocks/>
            </p:cNvCxnSpPr>
            <p:nvPr/>
          </p:nvCxnSpPr>
          <p:spPr>
            <a:xfrm>
              <a:off x="4033127" y="1194222"/>
              <a:ext cx="848753"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3E38A2D1-D446-F381-FB9F-4ACC095289F7}"/>
              </a:ext>
            </a:extLst>
          </p:cNvPr>
          <p:cNvGrpSpPr/>
          <p:nvPr/>
        </p:nvGrpSpPr>
        <p:grpSpPr>
          <a:xfrm>
            <a:off x="8805706" y="724398"/>
            <a:ext cx="1045028" cy="360883"/>
            <a:chOff x="3928906" y="846639"/>
            <a:chExt cx="1045028" cy="360883"/>
          </a:xfrm>
        </p:grpSpPr>
        <p:sp>
          <p:nvSpPr>
            <p:cNvPr id="25" name="TextBox 24">
              <a:extLst>
                <a:ext uri="{FF2B5EF4-FFF2-40B4-BE49-F238E27FC236}">
                  <a16:creationId xmlns:a16="http://schemas.microsoft.com/office/drawing/2014/main" id="{2760AB59-36E6-A5DE-99D2-572A39D7ED6E}"/>
                </a:ext>
              </a:extLst>
            </p:cNvPr>
            <p:cNvSpPr txBox="1"/>
            <p:nvPr/>
          </p:nvSpPr>
          <p:spPr>
            <a:xfrm>
              <a:off x="3928906" y="846639"/>
              <a:ext cx="1045028" cy="36088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000" i="0" u="none" strike="noStrike" kern="1200" cap="none" spc="0" normalizeH="0" baseline="0" noProof="0" dirty="0">
                  <a:ln>
                    <a:noFill/>
                  </a:ln>
                  <a:solidFill>
                    <a:schemeClr val="accent2"/>
                  </a:solidFill>
                  <a:effectLst/>
                  <a:uLnTx/>
                  <a:uFillTx/>
                  <a:latin typeface="Arial" panose="020B0604020202020204"/>
                  <a:ea typeface="+mn-ea"/>
                  <a:cs typeface="+mn-cs"/>
                </a:rPr>
                <a:t>uSID ID</a:t>
              </a:r>
            </a:p>
          </p:txBody>
        </p:sp>
        <p:cxnSp>
          <p:nvCxnSpPr>
            <p:cNvPr id="26" name="Straight Connector 25">
              <a:extLst>
                <a:ext uri="{FF2B5EF4-FFF2-40B4-BE49-F238E27FC236}">
                  <a16:creationId xmlns:a16="http://schemas.microsoft.com/office/drawing/2014/main" id="{F9780231-9E00-2EA8-64E4-1C683652B59A}"/>
                </a:ext>
              </a:extLst>
            </p:cNvPr>
            <p:cNvCxnSpPr>
              <a:cxnSpLocks/>
            </p:cNvCxnSpPr>
            <p:nvPr/>
          </p:nvCxnSpPr>
          <p:spPr>
            <a:xfrm>
              <a:off x="4033127" y="1194222"/>
              <a:ext cx="848753"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5277261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540ACF9-D5E9-3B6C-4753-3CA25A7468D7}"/>
              </a:ext>
            </a:extLst>
          </p:cNvPr>
          <p:cNvSpPr>
            <a:spLocks noGrp="1"/>
          </p:cNvSpPr>
          <p:nvPr>
            <p:ph type="body" sz="quarter" idx="10"/>
          </p:nvPr>
        </p:nvSpPr>
        <p:spPr>
          <a:xfrm>
            <a:off x="873918" y="2074985"/>
            <a:ext cx="10444163" cy="3808099"/>
          </a:xfrm>
        </p:spPr>
        <p:txBody>
          <a:bodyPr/>
          <a:lstStyle/>
          <a:p>
            <a:r>
              <a:rPr lang="en-US" dirty="0"/>
              <a:t>uSID “</a:t>
            </a:r>
            <a:r>
              <a:rPr lang="en-US" dirty="0">
                <a:solidFill>
                  <a:srgbClr val="00B0F0"/>
                </a:solidFill>
              </a:rPr>
              <a:t>default size</a:t>
            </a:r>
            <a:r>
              <a:rPr lang="en-US" dirty="0"/>
              <a:t>” is 4 nibbles (16 bits) “:WXYZ:”</a:t>
            </a:r>
          </a:p>
          <a:p>
            <a:pPr lvl="1"/>
            <a:r>
              <a:rPr lang="en-US" dirty="0" err="1"/>
              <a:t>uSID’s</a:t>
            </a:r>
            <a:r>
              <a:rPr lang="en-US" dirty="0"/>
              <a:t> of different length can be mixed</a:t>
            </a:r>
          </a:p>
          <a:p>
            <a:pPr lvl="1"/>
            <a:r>
              <a:rPr lang="en-US" dirty="0"/>
              <a:t>32-bits </a:t>
            </a:r>
            <a:r>
              <a:rPr lang="en-US" dirty="0" err="1"/>
              <a:t>uSID’s</a:t>
            </a:r>
            <a:r>
              <a:rPr lang="en-US" dirty="0"/>
              <a:t> are used for ultra-scale service</a:t>
            </a:r>
          </a:p>
          <a:p>
            <a:r>
              <a:rPr lang="en-US" dirty="0"/>
              <a:t>Up to 6 </a:t>
            </a:r>
            <a:r>
              <a:rPr lang="en-US" dirty="0" err="1"/>
              <a:t>uSID’s</a:t>
            </a:r>
            <a:r>
              <a:rPr lang="en-US" dirty="0"/>
              <a:t> in the outer DA</a:t>
            </a:r>
          </a:p>
          <a:p>
            <a:r>
              <a:rPr lang="en-US" dirty="0"/>
              <a:t>A uSID program reads left to right</a:t>
            </a:r>
          </a:p>
          <a:p>
            <a:r>
              <a:rPr lang="en-US" dirty="0"/>
              <a:t>Intuitively: within the Min-Cost Slice, first go to 1111 then 2222 then …</a:t>
            </a:r>
          </a:p>
        </p:txBody>
      </p:sp>
      <p:sp>
        <p:nvSpPr>
          <p:cNvPr id="3" name="Text Placeholder 2">
            <a:extLst>
              <a:ext uri="{FF2B5EF4-FFF2-40B4-BE49-F238E27FC236}">
                <a16:creationId xmlns:a16="http://schemas.microsoft.com/office/drawing/2014/main" id="{63AC1A6E-6A88-24DA-137A-C01E6DA75C0F}"/>
              </a:ext>
            </a:extLst>
          </p:cNvPr>
          <p:cNvSpPr>
            <a:spLocks noGrp="1"/>
          </p:cNvSpPr>
          <p:nvPr>
            <p:ph type="body" sz="quarter" idx="11"/>
          </p:nvPr>
        </p:nvSpPr>
        <p:spPr/>
        <p:txBody>
          <a:bodyPr/>
          <a:lstStyle/>
          <a:p>
            <a:r>
              <a:rPr lang="en-US" dirty="0"/>
              <a:t>Container of 6 </a:t>
            </a:r>
            <a:r>
              <a:rPr lang="en-US" dirty="0" err="1"/>
              <a:t>uSID’s</a:t>
            </a:r>
            <a:endParaRPr lang="en-US" dirty="0"/>
          </a:p>
        </p:txBody>
      </p:sp>
      <p:sp>
        <p:nvSpPr>
          <p:cNvPr id="4" name="TextBox 3">
            <a:extLst>
              <a:ext uri="{FF2B5EF4-FFF2-40B4-BE49-F238E27FC236}">
                <a16:creationId xmlns:a16="http://schemas.microsoft.com/office/drawing/2014/main" id="{13CEA836-10FD-C780-0836-40F4671053C7}"/>
              </a:ext>
            </a:extLst>
          </p:cNvPr>
          <p:cNvSpPr txBox="1"/>
          <p:nvPr/>
        </p:nvSpPr>
        <p:spPr>
          <a:xfrm>
            <a:off x="2883877" y="1524000"/>
            <a:ext cx="914400" cy="914400"/>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endParaRPr kumimoji="0" lang="en-US" sz="2400" b="1" i="0" u="none" strike="noStrike" kern="1200" cap="none" spc="0" normalizeH="0" baseline="0" noProof="0" dirty="0" err="1">
              <a:ln>
                <a:noFill/>
              </a:ln>
              <a:solidFill>
                <a:schemeClr val="tx1"/>
              </a:solidFill>
              <a:effectLst/>
              <a:uLnTx/>
              <a:uFillTx/>
              <a:latin typeface="Arial" panose="020B0604020202020204"/>
              <a:ea typeface="+mn-ea"/>
              <a:cs typeface="+mn-cs"/>
            </a:endParaRPr>
          </a:p>
        </p:txBody>
      </p:sp>
      <p:sp>
        <p:nvSpPr>
          <p:cNvPr id="6" name="TextBox 5">
            <a:extLst>
              <a:ext uri="{FF2B5EF4-FFF2-40B4-BE49-F238E27FC236}">
                <a16:creationId xmlns:a16="http://schemas.microsoft.com/office/drawing/2014/main" id="{2E919FE4-0E2F-0A7F-B296-D8E00412346F}"/>
              </a:ext>
            </a:extLst>
          </p:cNvPr>
          <p:cNvSpPr txBox="1"/>
          <p:nvPr/>
        </p:nvSpPr>
        <p:spPr>
          <a:xfrm>
            <a:off x="2016367" y="1129720"/>
            <a:ext cx="7901356" cy="523220"/>
          </a:xfrm>
          <a:prstGeom prst="rect">
            <a:avLst/>
          </a:prstGeom>
          <a:noFill/>
        </p:spPr>
        <p:txBody>
          <a:bodyPr wrap="square">
            <a:spAutoFit/>
          </a:bodyPr>
          <a:lstStyle/>
          <a:p>
            <a:r>
              <a:rPr lang="en-US" sz="2800" b="1" dirty="0">
                <a:latin typeface="Consolas" panose="020B0609020204030204" pitchFamily="49" charset="0"/>
              </a:rPr>
              <a:t>FC00:0000</a:t>
            </a:r>
            <a:r>
              <a:rPr lang="en-US" sz="2800" dirty="0">
                <a:latin typeface="Consolas" panose="020B0609020204030204" pitchFamily="49" charset="0"/>
              </a:rPr>
              <a:t>:1111:2222:3333:4444:5555:6666</a:t>
            </a:r>
          </a:p>
        </p:txBody>
      </p:sp>
      <p:cxnSp>
        <p:nvCxnSpPr>
          <p:cNvPr id="8" name="Straight Connector 7">
            <a:extLst>
              <a:ext uri="{FF2B5EF4-FFF2-40B4-BE49-F238E27FC236}">
                <a16:creationId xmlns:a16="http://schemas.microsoft.com/office/drawing/2014/main" id="{F184BC70-C5DA-7491-3789-321FC3F0BA86}"/>
              </a:ext>
            </a:extLst>
          </p:cNvPr>
          <p:cNvCxnSpPr/>
          <p:nvPr/>
        </p:nvCxnSpPr>
        <p:spPr>
          <a:xfrm>
            <a:off x="2051536" y="1652940"/>
            <a:ext cx="1781910" cy="0"/>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03C7510-6D84-0030-AB64-3CE50158B39E}"/>
              </a:ext>
            </a:extLst>
          </p:cNvPr>
          <p:cNvSpPr txBox="1"/>
          <p:nvPr/>
        </p:nvSpPr>
        <p:spPr>
          <a:xfrm>
            <a:off x="1922584" y="1652941"/>
            <a:ext cx="1899139" cy="359156"/>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000" i="0" u="none" strike="noStrike" kern="1200" cap="none" spc="0" normalizeH="0" baseline="0" noProof="0" dirty="0">
                <a:ln>
                  <a:noFill/>
                </a:ln>
                <a:solidFill>
                  <a:srgbClr val="00B0F0"/>
                </a:solidFill>
                <a:effectLst/>
                <a:uLnTx/>
                <a:uFillTx/>
                <a:latin typeface="Arial" panose="020B0604020202020204"/>
                <a:ea typeface="+mn-ea"/>
                <a:cs typeface="+mn-cs"/>
              </a:rPr>
              <a:t>Min-Cost Block</a:t>
            </a:r>
          </a:p>
        </p:txBody>
      </p:sp>
      <p:cxnSp>
        <p:nvCxnSpPr>
          <p:cNvPr id="5" name="Straight Connector 4">
            <a:extLst>
              <a:ext uri="{FF2B5EF4-FFF2-40B4-BE49-F238E27FC236}">
                <a16:creationId xmlns:a16="http://schemas.microsoft.com/office/drawing/2014/main" id="{E6F29EB7-3893-BD32-9602-2F62AFF87779}"/>
              </a:ext>
            </a:extLst>
          </p:cNvPr>
          <p:cNvCxnSpPr>
            <a:cxnSpLocks/>
          </p:cNvCxnSpPr>
          <p:nvPr/>
        </p:nvCxnSpPr>
        <p:spPr>
          <a:xfrm flipV="1">
            <a:off x="4056182" y="1652940"/>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7FF10B9-FD12-7146-0BE4-C1854883D807}"/>
              </a:ext>
            </a:extLst>
          </p:cNvPr>
          <p:cNvCxnSpPr>
            <a:cxnSpLocks/>
          </p:cNvCxnSpPr>
          <p:nvPr/>
        </p:nvCxnSpPr>
        <p:spPr>
          <a:xfrm flipV="1">
            <a:off x="5046777" y="1641231"/>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48BC4B-F36F-186E-EC20-F14A755335D3}"/>
              </a:ext>
            </a:extLst>
          </p:cNvPr>
          <p:cNvCxnSpPr>
            <a:cxnSpLocks/>
          </p:cNvCxnSpPr>
          <p:nvPr/>
        </p:nvCxnSpPr>
        <p:spPr>
          <a:xfrm flipV="1">
            <a:off x="6986952" y="1652939"/>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9BF4A90-E4E3-DDF2-4BA3-5BF770E913B1}"/>
              </a:ext>
            </a:extLst>
          </p:cNvPr>
          <p:cNvCxnSpPr>
            <a:cxnSpLocks/>
          </p:cNvCxnSpPr>
          <p:nvPr/>
        </p:nvCxnSpPr>
        <p:spPr>
          <a:xfrm flipV="1">
            <a:off x="7977548" y="1623651"/>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041DD0E-8218-AB00-E5C9-BEEA6CAF8348}"/>
              </a:ext>
            </a:extLst>
          </p:cNvPr>
          <p:cNvCxnSpPr>
            <a:cxnSpLocks/>
          </p:cNvCxnSpPr>
          <p:nvPr/>
        </p:nvCxnSpPr>
        <p:spPr>
          <a:xfrm flipV="1">
            <a:off x="8974010" y="1635377"/>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111F8B5-BE32-6AC9-2E37-704D57467C86}"/>
              </a:ext>
            </a:extLst>
          </p:cNvPr>
          <p:cNvCxnSpPr>
            <a:cxnSpLocks/>
          </p:cNvCxnSpPr>
          <p:nvPr/>
        </p:nvCxnSpPr>
        <p:spPr>
          <a:xfrm flipV="1">
            <a:off x="6013928" y="1652938"/>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0CF4E6D-1FC1-E159-10D2-CE6D2B41F104}"/>
              </a:ext>
            </a:extLst>
          </p:cNvPr>
          <p:cNvSpPr txBox="1"/>
          <p:nvPr/>
        </p:nvSpPr>
        <p:spPr>
          <a:xfrm>
            <a:off x="6881447" y="1684845"/>
            <a:ext cx="844062" cy="34281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000" dirty="0">
                <a:solidFill>
                  <a:srgbClr val="00B0F0"/>
                </a:solidFill>
                <a:latin typeface="Arial" panose="020B0604020202020204"/>
              </a:rPr>
              <a:t>uSID4</a:t>
            </a:r>
            <a:endParaRPr kumimoji="0" lang="en-US" sz="2000" i="0" u="none" strike="noStrike" kern="1200" cap="none" spc="0" normalizeH="0" baseline="0" noProof="0" dirty="0">
              <a:ln>
                <a:noFill/>
              </a:ln>
              <a:solidFill>
                <a:srgbClr val="00B0F0"/>
              </a:solidFill>
              <a:effectLst/>
              <a:uLnTx/>
              <a:uFillTx/>
              <a:latin typeface="Arial" panose="020B0604020202020204"/>
              <a:ea typeface="+mn-ea"/>
              <a:cs typeface="+mn-cs"/>
            </a:endParaRPr>
          </a:p>
        </p:txBody>
      </p:sp>
      <p:sp>
        <p:nvSpPr>
          <p:cNvPr id="21" name="TextBox 20">
            <a:extLst>
              <a:ext uri="{FF2B5EF4-FFF2-40B4-BE49-F238E27FC236}">
                <a16:creationId xmlns:a16="http://schemas.microsoft.com/office/drawing/2014/main" id="{7C7748E9-F4D7-06B5-ABB0-CB8EEF1E2FD2}"/>
              </a:ext>
            </a:extLst>
          </p:cNvPr>
          <p:cNvSpPr txBox="1"/>
          <p:nvPr/>
        </p:nvSpPr>
        <p:spPr>
          <a:xfrm>
            <a:off x="5964112" y="1674233"/>
            <a:ext cx="844062" cy="34281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000" dirty="0">
                <a:solidFill>
                  <a:srgbClr val="00B0F0"/>
                </a:solidFill>
                <a:latin typeface="Arial" panose="020B0604020202020204"/>
              </a:rPr>
              <a:t>uSID3</a:t>
            </a:r>
            <a:endParaRPr kumimoji="0" lang="en-US" sz="2000" i="0" u="none" strike="noStrike" kern="1200" cap="none" spc="0" normalizeH="0" baseline="0" noProof="0" dirty="0">
              <a:ln>
                <a:noFill/>
              </a:ln>
              <a:solidFill>
                <a:srgbClr val="00B0F0"/>
              </a:solidFill>
              <a:effectLst/>
              <a:uLnTx/>
              <a:uFillTx/>
              <a:latin typeface="Arial" panose="020B0604020202020204"/>
              <a:ea typeface="+mn-ea"/>
              <a:cs typeface="+mn-cs"/>
            </a:endParaRPr>
          </a:p>
        </p:txBody>
      </p:sp>
      <p:sp>
        <p:nvSpPr>
          <p:cNvPr id="22" name="TextBox 21">
            <a:extLst>
              <a:ext uri="{FF2B5EF4-FFF2-40B4-BE49-F238E27FC236}">
                <a16:creationId xmlns:a16="http://schemas.microsoft.com/office/drawing/2014/main" id="{7BFFE73B-EE8A-0E98-29F6-005F0C42F22C}"/>
              </a:ext>
            </a:extLst>
          </p:cNvPr>
          <p:cNvSpPr txBox="1"/>
          <p:nvPr/>
        </p:nvSpPr>
        <p:spPr>
          <a:xfrm>
            <a:off x="4982307" y="1684454"/>
            <a:ext cx="844062" cy="34281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000" dirty="0">
                <a:solidFill>
                  <a:srgbClr val="00B0F0"/>
                </a:solidFill>
                <a:latin typeface="Arial" panose="020B0604020202020204"/>
              </a:rPr>
              <a:t>uSID2</a:t>
            </a:r>
            <a:endParaRPr kumimoji="0" lang="en-US" sz="2000" i="0" u="none" strike="noStrike" kern="1200" cap="none" spc="0" normalizeH="0" baseline="0" noProof="0" dirty="0">
              <a:ln>
                <a:noFill/>
              </a:ln>
              <a:solidFill>
                <a:srgbClr val="00B0F0"/>
              </a:solidFill>
              <a:effectLst/>
              <a:uLnTx/>
              <a:uFillTx/>
              <a:latin typeface="Arial" panose="020B0604020202020204"/>
              <a:ea typeface="+mn-ea"/>
              <a:cs typeface="+mn-cs"/>
            </a:endParaRPr>
          </a:p>
        </p:txBody>
      </p:sp>
      <p:sp>
        <p:nvSpPr>
          <p:cNvPr id="23" name="TextBox 22">
            <a:extLst>
              <a:ext uri="{FF2B5EF4-FFF2-40B4-BE49-F238E27FC236}">
                <a16:creationId xmlns:a16="http://schemas.microsoft.com/office/drawing/2014/main" id="{2ABD2502-E10C-CAEB-E385-7ACFA28CE33B}"/>
              </a:ext>
            </a:extLst>
          </p:cNvPr>
          <p:cNvSpPr txBox="1"/>
          <p:nvPr/>
        </p:nvSpPr>
        <p:spPr>
          <a:xfrm>
            <a:off x="4000496" y="1684454"/>
            <a:ext cx="844062" cy="34281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000" dirty="0">
                <a:solidFill>
                  <a:srgbClr val="00B0F0"/>
                </a:solidFill>
                <a:latin typeface="Arial" panose="020B0604020202020204"/>
              </a:rPr>
              <a:t>uSID1</a:t>
            </a:r>
            <a:endParaRPr kumimoji="0" lang="en-US" sz="2000" i="0" u="none" strike="noStrike" kern="1200" cap="none" spc="0" normalizeH="0" baseline="0" noProof="0" dirty="0">
              <a:ln>
                <a:noFill/>
              </a:ln>
              <a:solidFill>
                <a:srgbClr val="00B0F0"/>
              </a:solidFill>
              <a:effectLst/>
              <a:uLnTx/>
              <a:uFillTx/>
              <a:latin typeface="Arial" panose="020B0604020202020204"/>
              <a:ea typeface="+mn-ea"/>
              <a:cs typeface="+mn-cs"/>
            </a:endParaRPr>
          </a:p>
        </p:txBody>
      </p:sp>
      <p:sp>
        <p:nvSpPr>
          <p:cNvPr id="24" name="TextBox 23">
            <a:extLst>
              <a:ext uri="{FF2B5EF4-FFF2-40B4-BE49-F238E27FC236}">
                <a16:creationId xmlns:a16="http://schemas.microsoft.com/office/drawing/2014/main" id="{35CD1F57-9275-CFF8-7B6B-158C8A238F2F}"/>
              </a:ext>
            </a:extLst>
          </p:cNvPr>
          <p:cNvSpPr txBox="1"/>
          <p:nvPr/>
        </p:nvSpPr>
        <p:spPr>
          <a:xfrm>
            <a:off x="7895493" y="1684454"/>
            <a:ext cx="844062" cy="34281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000" dirty="0">
                <a:solidFill>
                  <a:srgbClr val="00B0F0"/>
                </a:solidFill>
                <a:latin typeface="Arial" panose="020B0604020202020204"/>
              </a:rPr>
              <a:t>uSID5</a:t>
            </a:r>
            <a:endParaRPr kumimoji="0" lang="en-US" sz="2000" i="0" u="none" strike="noStrike" kern="1200" cap="none" spc="0" normalizeH="0" baseline="0" noProof="0" dirty="0">
              <a:ln>
                <a:noFill/>
              </a:ln>
              <a:solidFill>
                <a:srgbClr val="00B0F0"/>
              </a:solidFill>
              <a:effectLst/>
              <a:uLnTx/>
              <a:uFillTx/>
              <a:latin typeface="Arial" panose="020B0604020202020204"/>
              <a:ea typeface="+mn-ea"/>
              <a:cs typeface="+mn-cs"/>
            </a:endParaRPr>
          </a:p>
        </p:txBody>
      </p:sp>
      <p:sp>
        <p:nvSpPr>
          <p:cNvPr id="25" name="TextBox 24">
            <a:extLst>
              <a:ext uri="{FF2B5EF4-FFF2-40B4-BE49-F238E27FC236}">
                <a16:creationId xmlns:a16="http://schemas.microsoft.com/office/drawing/2014/main" id="{5DF22B03-DA00-A404-1848-C2988E8ABFC2}"/>
              </a:ext>
            </a:extLst>
          </p:cNvPr>
          <p:cNvSpPr txBox="1"/>
          <p:nvPr/>
        </p:nvSpPr>
        <p:spPr>
          <a:xfrm>
            <a:off x="8909539" y="1661112"/>
            <a:ext cx="844062" cy="34281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000" dirty="0">
                <a:solidFill>
                  <a:srgbClr val="00B0F0"/>
                </a:solidFill>
                <a:latin typeface="Arial" panose="020B0604020202020204"/>
              </a:rPr>
              <a:t>uSID6</a:t>
            </a:r>
            <a:endParaRPr kumimoji="0" lang="en-US" sz="2000" i="0" u="none" strike="noStrike" kern="1200" cap="none" spc="0" normalizeH="0" baseline="0" noProof="0" dirty="0">
              <a:ln>
                <a:noFill/>
              </a:ln>
              <a:solidFill>
                <a:srgbClr val="00B0F0"/>
              </a:solidFill>
              <a:effectLst/>
              <a:uLnTx/>
              <a:uFillTx/>
              <a:latin typeface="Arial" panose="020B0604020202020204"/>
              <a:ea typeface="+mn-ea"/>
              <a:cs typeface="+mn-cs"/>
            </a:endParaRPr>
          </a:p>
        </p:txBody>
      </p:sp>
      <p:cxnSp>
        <p:nvCxnSpPr>
          <p:cNvPr id="26" name="Straight Connector 25">
            <a:extLst>
              <a:ext uri="{FF2B5EF4-FFF2-40B4-BE49-F238E27FC236}">
                <a16:creationId xmlns:a16="http://schemas.microsoft.com/office/drawing/2014/main" id="{044DA131-AA56-9932-9538-86F0790B17A6}"/>
              </a:ext>
            </a:extLst>
          </p:cNvPr>
          <p:cNvCxnSpPr>
            <a:cxnSpLocks/>
          </p:cNvCxnSpPr>
          <p:nvPr/>
        </p:nvCxnSpPr>
        <p:spPr>
          <a:xfrm flipV="1">
            <a:off x="7444151" y="4865063"/>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C49DBDC-63F7-C855-3E8E-2ED4F657A38E}"/>
              </a:ext>
            </a:extLst>
          </p:cNvPr>
          <p:cNvCxnSpPr>
            <a:cxnSpLocks/>
          </p:cNvCxnSpPr>
          <p:nvPr/>
        </p:nvCxnSpPr>
        <p:spPr>
          <a:xfrm flipV="1">
            <a:off x="8909539" y="4876772"/>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550883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540ACF9-D5E9-3B6C-4753-3CA25A7468D7}"/>
              </a:ext>
            </a:extLst>
          </p:cNvPr>
          <p:cNvSpPr>
            <a:spLocks noGrp="1"/>
          </p:cNvSpPr>
          <p:nvPr>
            <p:ph type="body" sz="quarter" idx="10"/>
          </p:nvPr>
        </p:nvSpPr>
        <p:spPr>
          <a:xfrm>
            <a:off x="873918" y="2074985"/>
            <a:ext cx="10444163" cy="3808099"/>
          </a:xfrm>
        </p:spPr>
        <p:txBody>
          <a:bodyPr/>
          <a:lstStyle/>
          <a:p>
            <a:r>
              <a:rPr lang="en-US" sz="3200" b="0" i="0" dirty="0">
                <a:solidFill>
                  <a:srgbClr val="282828"/>
                </a:solidFill>
                <a:effectLst/>
                <a:latin typeface="Calibri-Light"/>
              </a:rPr>
              <a:t>Unused </a:t>
            </a:r>
            <a:r>
              <a:rPr lang="en-US" sz="3200" b="0" i="0" dirty="0" err="1">
                <a:solidFill>
                  <a:srgbClr val="282828"/>
                </a:solidFill>
                <a:effectLst/>
                <a:latin typeface="Calibri-Light"/>
              </a:rPr>
              <a:t>uSID’s</a:t>
            </a:r>
            <a:r>
              <a:rPr lang="en-US" sz="3200" b="0" i="0" dirty="0">
                <a:solidFill>
                  <a:srgbClr val="282828"/>
                </a:solidFill>
                <a:effectLst/>
                <a:latin typeface="Calibri-Light"/>
              </a:rPr>
              <a:t> in the micro program are filled with “:</a:t>
            </a:r>
            <a:r>
              <a:rPr lang="en-US" sz="3200" b="0" i="0" dirty="0">
                <a:solidFill>
                  <a:srgbClr val="7030A0"/>
                </a:solidFill>
                <a:effectLst/>
                <a:latin typeface="Calibri-Light"/>
              </a:rPr>
              <a:t>0000</a:t>
            </a:r>
            <a:r>
              <a:rPr lang="en-US" sz="3200" b="0" i="0" dirty="0">
                <a:solidFill>
                  <a:srgbClr val="282828"/>
                </a:solidFill>
                <a:effectLst/>
                <a:latin typeface="Calibri-Light"/>
              </a:rPr>
              <a:t>:”</a:t>
            </a:r>
          </a:p>
          <a:p>
            <a:r>
              <a:rPr lang="en-US" sz="3200" b="0" i="0" dirty="0">
                <a:solidFill>
                  <a:srgbClr val="282828"/>
                </a:solidFill>
                <a:effectLst/>
                <a:latin typeface="Calibri-Light"/>
              </a:rPr>
              <a:t>“</a:t>
            </a:r>
            <a:r>
              <a:rPr lang="en-US" sz="3200" b="0" i="0" dirty="0">
                <a:solidFill>
                  <a:srgbClr val="7030A0"/>
                </a:solidFill>
                <a:effectLst/>
                <a:latin typeface="Calibri-Light"/>
              </a:rPr>
              <a:t>:0000:</a:t>
            </a:r>
            <a:r>
              <a:rPr lang="en-US" sz="3200" b="0" i="0" dirty="0">
                <a:solidFill>
                  <a:srgbClr val="282828"/>
                </a:solidFill>
                <a:effectLst/>
                <a:latin typeface="Calibri-Light"/>
              </a:rPr>
              <a:t>” means “</a:t>
            </a:r>
            <a:r>
              <a:rPr lang="en-US" sz="3200" b="0" i="0" dirty="0">
                <a:solidFill>
                  <a:srgbClr val="7030A0"/>
                </a:solidFill>
                <a:effectLst/>
                <a:latin typeface="Calibri-Light"/>
              </a:rPr>
              <a:t>End of Container</a:t>
            </a:r>
            <a:r>
              <a:rPr lang="en-US" sz="3200" b="0" i="0" dirty="0">
                <a:solidFill>
                  <a:srgbClr val="282828"/>
                </a:solidFill>
                <a:effectLst/>
                <a:latin typeface="Calibri-Light"/>
              </a:rPr>
              <a:t>” (</a:t>
            </a:r>
            <a:r>
              <a:rPr lang="en-US" sz="3200" b="0" i="0" dirty="0" err="1">
                <a:solidFill>
                  <a:srgbClr val="282828"/>
                </a:solidFill>
                <a:effectLst/>
                <a:latin typeface="Calibri-Light"/>
              </a:rPr>
              <a:t>EoC</a:t>
            </a:r>
            <a:r>
              <a:rPr lang="en-US" sz="3200" b="0" i="0" dirty="0">
                <a:solidFill>
                  <a:srgbClr val="282828"/>
                </a:solidFill>
                <a:effectLst/>
                <a:latin typeface="Calibri-Light"/>
              </a:rPr>
              <a:t>)</a:t>
            </a:r>
            <a:r>
              <a:rPr lang="en-US" sz="4000" dirty="0"/>
              <a:t> </a:t>
            </a:r>
            <a:br>
              <a:rPr lang="en-US" sz="4000" dirty="0"/>
            </a:br>
            <a:endParaRPr lang="en-US" sz="4000" dirty="0"/>
          </a:p>
        </p:txBody>
      </p:sp>
      <p:sp>
        <p:nvSpPr>
          <p:cNvPr id="3" name="Text Placeholder 2">
            <a:extLst>
              <a:ext uri="{FF2B5EF4-FFF2-40B4-BE49-F238E27FC236}">
                <a16:creationId xmlns:a16="http://schemas.microsoft.com/office/drawing/2014/main" id="{63AC1A6E-6A88-24DA-137A-C01E6DA75C0F}"/>
              </a:ext>
            </a:extLst>
          </p:cNvPr>
          <p:cNvSpPr>
            <a:spLocks noGrp="1"/>
          </p:cNvSpPr>
          <p:nvPr>
            <p:ph type="body" sz="quarter" idx="11"/>
          </p:nvPr>
        </p:nvSpPr>
        <p:spPr/>
        <p:txBody>
          <a:bodyPr/>
          <a:lstStyle/>
          <a:p>
            <a:r>
              <a:rPr lang="en-US" dirty="0"/>
              <a:t>Less than 6 </a:t>
            </a:r>
            <a:r>
              <a:rPr lang="en-US" dirty="0" err="1"/>
              <a:t>uSID’s</a:t>
            </a:r>
            <a:r>
              <a:rPr lang="en-US" dirty="0"/>
              <a:t> in outer DA</a:t>
            </a:r>
          </a:p>
        </p:txBody>
      </p:sp>
      <p:sp>
        <p:nvSpPr>
          <p:cNvPr id="4" name="TextBox 3">
            <a:extLst>
              <a:ext uri="{FF2B5EF4-FFF2-40B4-BE49-F238E27FC236}">
                <a16:creationId xmlns:a16="http://schemas.microsoft.com/office/drawing/2014/main" id="{13CEA836-10FD-C780-0836-40F4671053C7}"/>
              </a:ext>
            </a:extLst>
          </p:cNvPr>
          <p:cNvSpPr txBox="1"/>
          <p:nvPr/>
        </p:nvSpPr>
        <p:spPr>
          <a:xfrm>
            <a:off x="2883877" y="1524000"/>
            <a:ext cx="914400" cy="914400"/>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endParaRPr kumimoji="0" lang="en-US" sz="2400" b="1" i="0" u="none" strike="noStrike" kern="1200" cap="none" spc="0" normalizeH="0" baseline="0" noProof="0" dirty="0" err="1">
              <a:ln>
                <a:noFill/>
              </a:ln>
              <a:solidFill>
                <a:schemeClr val="tx1"/>
              </a:solidFill>
              <a:effectLst/>
              <a:uLnTx/>
              <a:uFillTx/>
              <a:latin typeface="Arial" panose="020B0604020202020204"/>
              <a:ea typeface="+mn-ea"/>
              <a:cs typeface="+mn-cs"/>
            </a:endParaRPr>
          </a:p>
        </p:txBody>
      </p:sp>
      <p:sp>
        <p:nvSpPr>
          <p:cNvPr id="6" name="TextBox 5">
            <a:extLst>
              <a:ext uri="{FF2B5EF4-FFF2-40B4-BE49-F238E27FC236}">
                <a16:creationId xmlns:a16="http://schemas.microsoft.com/office/drawing/2014/main" id="{2E919FE4-0E2F-0A7F-B296-D8E00412346F}"/>
              </a:ext>
            </a:extLst>
          </p:cNvPr>
          <p:cNvSpPr txBox="1"/>
          <p:nvPr/>
        </p:nvSpPr>
        <p:spPr>
          <a:xfrm>
            <a:off x="2016367" y="1129720"/>
            <a:ext cx="7901356" cy="523220"/>
          </a:xfrm>
          <a:prstGeom prst="rect">
            <a:avLst/>
          </a:prstGeom>
          <a:noFill/>
        </p:spPr>
        <p:txBody>
          <a:bodyPr wrap="square">
            <a:spAutoFit/>
          </a:bodyPr>
          <a:lstStyle/>
          <a:p>
            <a:r>
              <a:rPr lang="en-US" sz="2800" b="1" dirty="0">
                <a:latin typeface="Consolas" panose="020B0609020204030204" pitchFamily="49" charset="0"/>
              </a:rPr>
              <a:t>FC00:0000</a:t>
            </a:r>
            <a:r>
              <a:rPr lang="en-US" sz="2800" dirty="0">
                <a:latin typeface="Consolas" panose="020B0609020204030204" pitchFamily="49" charset="0"/>
              </a:rPr>
              <a:t>:1111:2222:3333:4444:</a:t>
            </a:r>
            <a:r>
              <a:rPr lang="en-US" sz="2800" dirty="0">
                <a:solidFill>
                  <a:srgbClr val="7030A0"/>
                </a:solidFill>
                <a:latin typeface="Consolas" panose="020B0609020204030204" pitchFamily="49" charset="0"/>
              </a:rPr>
              <a:t>0000</a:t>
            </a:r>
            <a:r>
              <a:rPr lang="en-US" sz="2800" dirty="0">
                <a:latin typeface="Consolas" panose="020B0609020204030204" pitchFamily="49" charset="0"/>
              </a:rPr>
              <a:t>:</a:t>
            </a:r>
            <a:r>
              <a:rPr lang="en-US" sz="2800" dirty="0">
                <a:solidFill>
                  <a:srgbClr val="7030A0"/>
                </a:solidFill>
                <a:latin typeface="Consolas" panose="020B0609020204030204" pitchFamily="49" charset="0"/>
              </a:rPr>
              <a:t>0000</a:t>
            </a:r>
          </a:p>
        </p:txBody>
      </p:sp>
      <p:cxnSp>
        <p:nvCxnSpPr>
          <p:cNvPr id="8" name="Straight Connector 7">
            <a:extLst>
              <a:ext uri="{FF2B5EF4-FFF2-40B4-BE49-F238E27FC236}">
                <a16:creationId xmlns:a16="http://schemas.microsoft.com/office/drawing/2014/main" id="{F184BC70-C5DA-7491-3789-321FC3F0BA86}"/>
              </a:ext>
            </a:extLst>
          </p:cNvPr>
          <p:cNvCxnSpPr/>
          <p:nvPr/>
        </p:nvCxnSpPr>
        <p:spPr>
          <a:xfrm>
            <a:off x="2051536" y="1652940"/>
            <a:ext cx="1781910" cy="0"/>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03C7510-6D84-0030-AB64-3CE50158B39E}"/>
              </a:ext>
            </a:extLst>
          </p:cNvPr>
          <p:cNvSpPr txBox="1"/>
          <p:nvPr/>
        </p:nvSpPr>
        <p:spPr>
          <a:xfrm>
            <a:off x="1922584" y="1652941"/>
            <a:ext cx="1899139" cy="359156"/>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000" i="0" u="none" strike="noStrike" kern="1200" cap="none" spc="0" normalizeH="0" baseline="0" noProof="0" dirty="0">
                <a:ln>
                  <a:noFill/>
                </a:ln>
                <a:solidFill>
                  <a:srgbClr val="00B0F0"/>
                </a:solidFill>
                <a:effectLst/>
                <a:uLnTx/>
                <a:uFillTx/>
                <a:latin typeface="Arial" panose="020B0604020202020204"/>
                <a:ea typeface="+mn-ea"/>
                <a:cs typeface="+mn-cs"/>
              </a:rPr>
              <a:t>Min-Cost Block</a:t>
            </a:r>
          </a:p>
        </p:txBody>
      </p:sp>
      <p:cxnSp>
        <p:nvCxnSpPr>
          <p:cNvPr id="5" name="Straight Connector 4">
            <a:extLst>
              <a:ext uri="{FF2B5EF4-FFF2-40B4-BE49-F238E27FC236}">
                <a16:creationId xmlns:a16="http://schemas.microsoft.com/office/drawing/2014/main" id="{E6F29EB7-3893-BD32-9602-2F62AFF87779}"/>
              </a:ext>
            </a:extLst>
          </p:cNvPr>
          <p:cNvCxnSpPr>
            <a:cxnSpLocks/>
          </p:cNvCxnSpPr>
          <p:nvPr/>
        </p:nvCxnSpPr>
        <p:spPr>
          <a:xfrm flipV="1">
            <a:off x="4056182" y="1652940"/>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7FF10B9-FD12-7146-0BE4-C1854883D807}"/>
              </a:ext>
            </a:extLst>
          </p:cNvPr>
          <p:cNvCxnSpPr>
            <a:cxnSpLocks/>
          </p:cNvCxnSpPr>
          <p:nvPr/>
        </p:nvCxnSpPr>
        <p:spPr>
          <a:xfrm flipV="1">
            <a:off x="5046777" y="1641231"/>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48BC4B-F36F-186E-EC20-F14A755335D3}"/>
              </a:ext>
            </a:extLst>
          </p:cNvPr>
          <p:cNvCxnSpPr>
            <a:cxnSpLocks/>
          </p:cNvCxnSpPr>
          <p:nvPr/>
        </p:nvCxnSpPr>
        <p:spPr>
          <a:xfrm flipV="1">
            <a:off x="6986952" y="1652939"/>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9BF4A90-E4E3-DDF2-4BA3-5BF770E913B1}"/>
              </a:ext>
            </a:extLst>
          </p:cNvPr>
          <p:cNvCxnSpPr>
            <a:cxnSpLocks/>
          </p:cNvCxnSpPr>
          <p:nvPr/>
        </p:nvCxnSpPr>
        <p:spPr>
          <a:xfrm flipV="1">
            <a:off x="7977548" y="1623651"/>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041DD0E-8218-AB00-E5C9-BEEA6CAF8348}"/>
              </a:ext>
            </a:extLst>
          </p:cNvPr>
          <p:cNvCxnSpPr>
            <a:cxnSpLocks/>
          </p:cNvCxnSpPr>
          <p:nvPr/>
        </p:nvCxnSpPr>
        <p:spPr>
          <a:xfrm flipV="1">
            <a:off x="8974010" y="1635377"/>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111F8B5-BE32-6AC9-2E37-704D57467C86}"/>
              </a:ext>
            </a:extLst>
          </p:cNvPr>
          <p:cNvCxnSpPr>
            <a:cxnSpLocks/>
          </p:cNvCxnSpPr>
          <p:nvPr/>
        </p:nvCxnSpPr>
        <p:spPr>
          <a:xfrm flipV="1">
            <a:off x="6013928" y="1652938"/>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0CF4E6D-1FC1-E159-10D2-CE6D2B41F104}"/>
              </a:ext>
            </a:extLst>
          </p:cNvPr>
          <p:cNvSpPr txBox="1"/>
          <p:nvPr/>
        </p:nvSpPr>
        <p:spPr>
          <a:xfrm>
            <a:off x="6881447" y="1684845"/>
            <a:ext cx="844062" cy="34281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000" dirty="0">
                <a:solidFill>
                  <a:srgbClr val="00B0F0"/>
                </a:solidFill>
                <a:latin typeface="Arial" panose="020B0604020202020204"/>
              </a:rPr>
              <a:t>uSID4</a:t>
            </a:r>
            <a:endParaRPr kumimoji="0" lang="en-US" sz="2000" i="0" u="none" strike="noStrike" kern="1200" cap="none" spc="0" normalizeH="0" baseline="0" noProof="0" dirty="0">
              <a:ln>
                <a:noFill/>
              </a:ln>
              <a:solidFill>
                <a:srgbClr val="00B0F0"/>
              </a:solidFill>
              <a:effectLst/>
              <a:uLnTx/>
              <a:uFillTx/>
              <a:latin typeface="Arial" panose="020B0604020202020204"/>
              <a:ea typeface="+mn-ea"/>
              <a:cs typeface="+mn-cs"/>
            </a:endParaRPr>
          </a:p>
        </p:txBody>
      </p:sp>
      <p:sp>
        <p:nvSpPr>
          <p:cNvPr id="21" name="TextBox 20">
            <a:extLst>
              <a:ext uri="{FF2B5EF4-FFF2-40B4-BE49-F238E27FC236}">
                <a16:creationId xmlns:a16="http://schemas.microsoft.com/office/drawing/2014/main" id="{7C7748E9-F4D7-06B5-ABB0-CB8EEF1E2FD2}"/>
              </a:ext>
            </a:extLst>
          </p:cNvPr>
          <p:cNvSpPr txBox="1"/>
          <p:nvPr/>
        </p:nvSpPr>
        <p:spPr>
          <a:xfrm>
            <a:off x="5964112" y="1674233"/>
            <a:ext cx="844062" cy="34281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000" dirty="0">
                <a:solidFill>
                  <a:srgbClr val="00B0F0"/>
                </a:solidFill>
                <a:latin typeface="Arial" panose="020B0604020202020204"/>
              </a:rPr>
              <a:t>uSID3</a:t>
            </a:r>
            <a:endParaRPr kumimoji="0" lang="en-US" sz="2000" i="0" u="none" strike="noStrike" kern="1200" cap="none" spc="0" normalizeH="0" baseline="0" noProof="0" dirty="0">
              <a:ln>
                <a:noFill/>
              </a:ln>
              <a:solidFill>
                <a:srgbClr val="00B0F0"/>
              </a:solidFill>
              <a:effectLst/>
              <a:uLnTx/>
              <a:uFillTx/>
              <a:latin typeface="Arial" panose="020B0604020202020204"/>
              <a:ea typeface="+mn-ea"/>
              <a:cs typeface="+mn-cs"/>
            </a:endParaRPr>
          </a:p>
        </p:txBody>
      </p:sp>
      <p:sp>
        <p:nvSpPr>
          <p:cNvPr id="22" name="TextBox 21">
            <a:extLst>
              <a:ext uri="{FF2B5EF4-FFF2-40B4-BE49-F238E27FC236}">
                <a16:creationId xmlns:a16="http://schemas.microsoft.com/office/drawing/2014/main" id="{7BFFE73B-EE8A-0E98-29F6-005F0C42F22C}"/>
              </a:ext>
            </a:extLst>
          </p:cNvPr>
          <p:cNvSpPr txBox="1"/>
          <p:nvPr/>
        </p:nvSpPr>
        <p:spPr>
          <a:xfrm>
            <a:off x="4982307" y="1684454"/>
            <a:ext cx="844062" cy="34281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000" dirty="0">
                <a:solidFill>
                  <a:srgbClr val="00B0F0"/>
                </a:solidFill>
                <a:latin typeface="Arial" panose="020B0604020202020204"/>
              </a:rPr>
              <a:t>uSID2</a:t>
            </a:r>
            <a:endParaRPr kumimoji="0" lang="en-US" sz="2000" i="0" u="none" strike="noStrike" kern="1200" cap="none" spc="0" normalizeH="0" baseline="0" noProof="0" dirty="0">
              <a:ln>
                <a:noFill/>
              </a:ln>
              <a:solidFill>
                <a:srgbClr val="00B0F0"/>
              </a:solidFill>
              <a:effectLst/>
              <a:uLnTx/>
              <a:uFillTx/>
              <a:latin typeface="Arial" panose="020B0604020202020204"/>
              <a:ea typeface="+mn-ea"/>
              <a:cs typeface="+mn-cs"/>
            </a:endParaRPr>
          </a:p>
        </p:txBody>
      </p:sp>
      <p:sp>
        <p:nvSpPr>
          <p:cNvPr id="23" name="TextBox 22">
            <a:extLst>
              <a:ext uri="{FF2B5EF4-FFF2-40B4-BE49-F238E27FC236}">
                <a16:creationId xmlns:a16="http://schemas.microsoft.com/office/drawing/2014/main" id="{2ABD2502-E10C-CAEB-E385-7ACFA28CE33B}"/>
              </a:ext>
            </a:extLst>
          </p:cNvPr>
          <p:cNvSpPr txBox="1"/>
          <p:nvPr/>
        </p:nvSpPr>
        <p:spPr>
          <a:xfrm>
            <a:off x="4000496" y="1684454"/>
            <a:ext cx="844062" cy="34281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000" dirty="0">
                <a:solidFill>
                  <a:srgbClr val="00B0F0"/>
                </a:solidFill>
                <a:latin typeface="Arial" panose="020B0604020202020204"/>
              </a:rPr>
              <a:t>uSID1</a:t>
            </a:r>
            <a:endParaRPr kumimoji="0" lang="en-US" sz="2000" i="0" u="none" strike="noStrike" kern="1200" cap="none" spc="0" normalizeH="0" baseline="0" noProof="0" dirty="0">
              <a:ln>
                <a:noFill/>
              </a:ln>
              <a:solidFill>
                <a:srgbClr val="00B0F0"/>
              </a:solidFill>
              <a:effectLst/>
              <a:uLnTx/>
              <a:uFillTx/>
              <a:latin typeface="Arial" panose="020B0604020202020204"/>
              <a:ea typeface="+mn-ea"/>
              <a:cs typeface="+mn-cs"/>
            </a:endParaRPr>
          </a:p>
        </p:txBody>
      </p:sp>
      <p:sp>
        <p:nvSpPr>
          <p:cNvPr id="24" name="TextBox 23">
            <a:extLst>
              <a:ext uri="{FF2B5EF4-FFF2-40B4-BE49-F238E27FC236}">
                <a16:creationId xmlns:a16="http://schemas.microsoft.com/office/drawing/2014/main" id="{35CD1F57-9275-CFF8-7B6B-158C8A238F2F}"/>
              </a:ext>
            </a:extLst>
          </p:cNvPr>
          <p:cNvSpPr txBox="1"/>
          <p:nvPr/>
        </p:nvSpPr>
        <p:spPr>
          <a:xfrm>
            <a:off x="7895493" y="1684454"/>
            <a:ext cx="844062" cy="34281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000" dirty="0" err="1">
                <a:solidFill>
                  <a:srgbClr val="7030A0"/>
                </a:solidFill>
                <a:latin typeface="Arial" panose="020B0604020202020204"/>
              </a:rPr>
              <a:t>EoC</a:t>
            </a:r>
            <a:endParaRPr kumimoji="0" lang="en-US" sz="2000" i="0" u="none" strike="noStrike" kern="1200" cap="none" spc="0" normalizeH="0" baseline="0" noProof="0" dirty="0">
              <a:ln>
                <a:noFill/>
              </a:ln>
              <a:solidFill>
                <a:srgbClr val="7030A0"/>
              </a:solidFill>
              <a:effectLst/>
              <a:uLnTx/>
              <a:uFillTx/>
              <a:latin typeface="Arial" panose="020B0604020202020204"/>
              <a:ea typeface="+mn-ea"/>
              <a:cs typeface="+mn-cs"/>
            </a:endParaRPr>
          </a:p>
        </p:txBody>
      </p:sp>
      <p:sp>
        <p:nvSpPr>
          <p:cNvPr id="25" name="TextBox 24">
            <a:extLst>
              <a:ext uri="{FF2B5EF4-FFF2-40B4-BE49-F238E27FC236}">
                <a16:creationId xmlns:a16="http://schemas.microsoft.com/office/drawing/2014/main" id="{5DF22B03-DA00-A404-1848-C2988E8ABFC2}"/>
              </a:ext>
            </a:extLst>
          </p:cNvPr>
          <p:cNvSpPr txBox="1"/>
          <p:nvPr/>
        </p:nvSpPr>
        <p:spPr>
          <a:xfrm>
            <a:off x="8909539" y="1661112"/>
            <a:ext cx="844062" cy="34281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000" dirty="0" err="1">
                <a:solidFill>
                  <a:srgbClr val="7030A0"/>
                </a:solidFill>
                <a:latin typeface="Arial" panose="020B0604020202020204"/>
              </a:rPr>
              <a:t>EoC</a:t>
            </a:r>
            <a:endParaRPr kumimoji="0" lang="en-US" sz="2000" i="0" u="none" strike="noStrike" kern="1200" cap="none" spc="0" normalizeH="0" baseline="0" noProof="0" dirty="0">
              <a:ln>
                <a:noFill/>
              </a:ln>
              <a:solidFill>
                <a:srgbClr val="7030A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44675904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540ACF9-D5E9-3B6C-4753-3CA25A7468D7}"/>
              </a:ext>
            </a:extLst>
          </p:cNvPr>
          <p:cNvSpPr>
            <a:spLocks noGrp="1"/>
          </p:cNvSpPr>
          <p:nvPr>
            <p:ph type="body" sz="quarter" idx="10"/>
          </p:nvPr>
        </p:nvSpPr>
        <p:spPr>
          <a:xfrm>
            <a:off x="912066" y="3183951"/>
            <a:ext cx="6198018" cy="2841723"/>
          </a:xfrm>
        </p:spPr>
        <p:txBody>
          <a:bodyPr/>
          <a:lstStyle/>
          <a:p>
            <a:r>
              <a:rPr lang="en-US" sz="2800" b="0" i="0" dirty="0">
                <a:solidFill>
                  <a:srgbClr val="282828"/>
                </a:solidFill>
                <a:effectLst/>
                <a:latin typeface="Calibri-Light"/>
              </a:rPr>
              <a:t>12 </a:t>
            </a:r>
            <a:r>
              <a:rPr lang="en-US" sz="2800" b="0" i="0" dirty="0" err="1">
                <a:solidFill>
                  <a:srgbClr val="282828"/>
                </a:solidFill>
                <a:effectLst/>
                <a:latin typeface="Calibri-Light"/>
              </a:rPr>
              <a:t>uSID’s</a:t>
            </a:r>
            <a:r>
              <a:rPr lang="en-US" sz="2800" b="0" i="0" dirty="0">
                <a:solidFill>
                  <a:srgbClr val="282828"/>
                </a:solidFill>
                <a:effectLst/>
                <a:latin typeface="Calibri-Light"/>
              </a:rPr>
              <a:t> with an outer SRH holding one single additional uSID container</a:t>
            </a:r>
          </a:p>
          <a:p>
            <a:pPr lvl="1"/>
            <a:r>
              <a:rPr lang="en-US" sz="2800" b="0" i="0" dirty="0">
                <a:solidFill>
                  <a:srgbClr val="282828"/>
                </a:solidFill>
                <a:effectLst/>
                <a:latin typeface="Calibri-Light"/>
              </a:rPr>
              <a:t>6 in the DA, 6 in the SRH</a:t>
            </a:r>
          </a:p>
          <a:p>
            <a:pPr lvl="1"/>
            <a:r>
              <a:rPr lang="en-US" sz="2800" b="0" i="0" dirty="0">
                <a:solidFill>
                  <a:srgbClr val="282828"/>
                </a:solidFill>
                <a:effectLst/>
                <a:latin typeface="Calibri-Light"/>
              </a:rPr>
              <a:t>With solely 24-bytes of MTU overhead</a:t>
            </a:r>
          </a:p>
          <a:p>
            <a:pPr lvl="1"/>
            <a:r>
              <a:rPr lang="en-US" sz="2800" b="0" i="0" dirty="0">
                <a:solidFill>
                  <a:srgbClr val="282828"/>
                </a:solidFill>
                <a:effectLst/>
                <a:latin typeface="Calibri-Light"/>
              </a:rPr>
              <a:t>50% less overhead than MPLS in IPv6 (12*4 bytes)</a:t>
            </a:r>
            <a:endParaRPr lang="en-US" sz="3600" dirty="0"/>
          </a:p>
        </p:txBody>
      </p:sp>
      <p:sp>
        <p:nvSpPr>
          <p:cNvPr id="3" name="Text Placeholder 2">
            <a:extLst>
              <a:ext uri="{FF2B5EF4-FFF2-40B4-BE49-F238E27FC236}">
                <a16:creationId xmlns:a16="http://schemas.microsoft.com/office/drawing/2014/main" id="{63AC1A6E-6A88-24DA-137A-C01E6DA75C0F}"/>
              </a:ext>
            </a:extLst>
          </p:cNvPr>
          <p:cNvSpPr>
            <a:spLocks noGrp="1"/>
          </p:cNvSpPr>
          <p:nvPr>
            <p:ph type="body" sz="quarter" idx="11"/>
          </p:nvPr>
        </p:nvSpPr>
        <p:spPr/>
        <p:txBody>
          <a:bodyPr/>
          <a:lstStyle/>
          <a:p>
            <a:r>
              <a:rPr lang="en-US" dirty="0"/>
              <a:t>More than 6 </a:t>
            </a:r>
            <a:r>
              <a:rPr lang="en-US" dirty="0" err="1"/>
              <a:t>uSID’s</a:t>
            </a:r>
            <a:r>
              <a:rPr lang="en-US" dirty="0"/>
              <a:t> are required</a:t>
            </a:r>
          </a:p>
        </p:txBody>
      </p:sp>
      <p:sp>
        <p:nvSpPr>
          <p:cNvPr id="4" name="TextBox 3">
            <a:extLst>
              <a:ext uri="{FF2B5EF4-FFF2-40B4-BE49-F238E27FC236}">
                <a16:creationId xmlns:a16="http://schemas.microsoft.com/office/drawing/2014/main" id="{13CEA836-10FD-C780-0836-40F4671053C7}"/>
              </a:ext>
            </a:extLst>
          </p:cNvPr>
          <p:cNvSpPr txBox="1"/>
          <p:nvPr/>
        </p:nvSpPr>
        <p:spPr>
          <a:xfrm>
            <a:off x="2883877" y="1524000"/>
            <a:ext cx="914400" cy="914400"/>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endParaRPr kumimoji="0" lang="en-US" sz="2400" b="1" i="0" u="none" strike="noStrike" kern="1200" cap="none" spc="0" normalizeH="0" baseline="0" noProof="0" dirty="0" err="1">
              <a:ln>
                <a:noFill/>
              </a:ln>
              <a:solidFill>
                <a:schemeClr val="tx1"/>
              </a:solidFill>
              <a:effectLst/>
              <a:uLnTx/>
              <a:uFillTx/>
              <a:latin typeface="Arial" panose="020B0604020202020204"/>
              <a:ea typeface="+mn-ea"/>
              <a:cs typeface="+mn-cs"/>
            </a:endParaRPr>
          </a:p>
        </p:txBody>
      </p:sp>
      <p:sp>
        <p:nvSpPr>
          <p:cNvPr id="6" name="TextBox 5">
            <a:extLst>
              <a:ext uri="{FF2B5EF4-FFF2-40B4-BE49-F238E27FC236}">
                <a16:creationId xmlns:a16="http://schemas.microsoft.com/office/drawing/2014/main" id="{2E919FE4-0E2F-0A7F-B296-D8E00412346F}"/>
              </a:ext>
            </a:extLst>
          </p:cNvPr>
          <p:cNvSpPr txBox="1"/>
          <p:nvPr/>
        </p:nvSpPr>
        <p:spPr>
          <a:xfrm>
            <a:off x="1137136" y="1178764"/>
            <a:ext cx="9917726" cy="523220"/>
          </a:xfrm>
          <a:prstGeom prst="rect">
            <a:avLst/>
          </a:prstGeom>
          <a:noFill/>
        </p:spPr>
        <p:txBody>
          <a:bodyPr wrap="square">
            <a:spAutoFit/>
          </a:bodyPr>
          <a:lstStyle/>
          <a:p>
            <a:r>
              <a:rPr lang="en-US" sz="2800" dirty="0">
                <a:latin typeface="Consolas" panose="020B0609020204030204" pitchFamily="49" charset="0"/>
              </a:rPr>
              <a:t>Outer DA: FC00:0000:0001:0002:0003:0004:0005:0006</a:t>
            </a:r>
          </a:p>
        </p:txBody>
      </p:sp>
      <p:cxnSp>
        <p:nvCxnSpPr>
          <p:cNvPr id="15" name="Straight Connector 14">
            <a:extLst>
              <a:ext uri="{FF2B5EF4-FFF2-40B4-BE49-F238E27FC236}">
                <a16:creationId xmlns:a16="http://schemas.microsoft.com/office/drawing/2014/main" id="{17FF10B9-FD12-7146-0BE4-C1854883D807}"/>
              </a:ext>
            </a:extLst>
          </p:cNvPr>
          <p:cNvCxnSpPr>
            <a:cxnSpLocks/>
          </p:cNvCxnSpPr>
          <p:nvPr/>
        </p:nvCxnSpPr>
        <p:spPr>
          <a:xfrm flipV="1">
            <a:off x="5117115" y="1641231"/>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48BC4B-F36F-186E-EC20-F14A755335D3}"/>
              </a:ext>
            </a:extLst>
          </p:cNvPr>
          <p:cNvCxnSpPr>
            <a:cxnSpLocks/>
          </p:cNvCxnSpPr>
          <p:nvPr/>
        </p:nvCxnSpPr>
        <p:spPr>
          <a:xfrm flipV="1">
            <a:off x="7057290" y="1652939"/>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9BF4A90-E4E3-DDF2-4BA3-5BF770E913B1}"/>
              </a:ext>
            </a:extLst>
          </p:cNvPr>
          <p:cNvCxnSpPr>
            <a:cxnSpLocks/>
          </p:cNvCxnSpPr>
          <p:nvPr/>
        </p:nvCxnSpPr>
        <p:spPr>
          <a:xfrm flipV="1">
            <a:off x="8047886" y="1623651"/>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041DD0E-8218-AB00-E5C9-BEEA6CAF8348}"/>
              </a:ext>
            </a:extLst>
          </p:cNvPr>
          <p:cNvCxnSpPr>
            <a:cxnSpLocks/>
          </p:cNvCxnSpPr>
          <p:nvPr/>
        </p:nvCxnSpPr>
        <p:spPr>
          <a:xfrm flipV="1">
            <a:off x="5158211" y="2654619"/>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111F8B5-BE32-6AC9-2E37-704D57467C86}"/>
              </a:ext>
            </a:extLst>
          </p:cNvPr>
          <p:cNvCxnSpPr>
            <a:cxnSpLocks/>
          </p:cNvCxnSpPr>
          <p:nvPr/>
        </p:nvCxnSpPr>
        <p:spPr>
          <a:xfrm flipV="1">
            <a:off x="6095989" y="1652938"/>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0CF4E6D-1FC1-E159-10D2-CE6D2B41F104}"/>
              </a:ext>
            </a:extLst>
          </p:cNvPr>
          <p:cNvSpPr txBox="1"/>
          <p:nvPr/>
        </p:nvSpPr>
        <p:spPr>
          <a:xfrm>
            <a:off x="9983660" y="1684454"/>
            <a:ext cx="844062" cy="34281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000" dirty="0">
                <a:solidFill>
                  <a:srgbClr val="00B0F0"/>
                </a:solidFill>
                <a:latin typeface="Arial" panose="020B0604020202020204"/>
              </a:rPr>
              <a:t>uSID6</a:t>
            </a:r>
            <a:endParaRPr kumimoji="0" lang="en-US" sz="2000" i="0" u="none" strike="noStrike" kern="1200" cap="none" spc="0" normalizeH="0" baseline="0" noProof="0" dirty="0">
              <a:ln>
                <a:noFill/>
              </a:ln>
              <a:solidFill>
                <a:srgbClr val="00B0F0"/>
              </a:solidFill>
              <a:effectLst/>
              <a:uLnTx/>
              <a:uFillTx/>
              <a:latin typeface="Arial" panose="020B0604020202020204"/>
              <a:ea typeface="+mn-ea"/>
              <a:cs typeface="+mn-cs"/>
            </a:endParaRPr>
          </a:p>
        </p:txBody>
      </p:sp>
      <p:sp>
        <p:nvSpPr>
          <p:cNvPr id="21" name="TextBox 20">
            <a:extLst>
              <a:ext uri="{FF2B5EF4-FFF2-40B4-BE49-F238E27FC236}">
                <a16:creationId xmlns:a16="http://schemas.microsoft.com/office/drawing/2014/main" id="{7C7748E9-F4D7-06B5-ABB0-CB8EEF1E2FD2}"/>
              </a:ext>
            </a:extLst>
          </p:cNvPr>
          <p:cNvSpPr txBox="1"/>
          <p:nvPr/>
        </p:nvSpPr>
        <p:spPr>
          <a:xfrm>
            <a:off x="6937216" y="1683629"/>
            <a:ext cx="844062" cy="34281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000" dirty="0">
                <a:solidFill>
                  <a:srgbClr val="00B0F0"/>
                </a:solidFill>
                <a:latin typeface="Arial" panose="020B0604020202020204"/>
              </a:rPr>
              <a:t>uSID3</a:t>
            </a:r>
            <a:endParaRPr kumimoji="0" lang="en-US" sz="2000" i="0" u="none" strike="noStrike" kern="1200" cap="none" spc="0" normalizeH="0" baseline="0" noProof="0" dirty="0">
              <a:ln>
                <a:noFill/>
              </a:ln>
              <a:solidFill>
                <a:srgbClr val="00B0F0"/>
              </a:solidFill>
              <a:effectLst/>
              <a:uLnTx/>
              <a:uFillTx/>
              <a:latin typeface="Arial" panose="020B0604020202020204"/>
              <a:ea typeface="+mn-ea"/>
              <a:cs typeface="+mn-cs"/>
            </a:endParaRPr>
          </a:p>
        </p:txBody>
      </p:sp>
      <p:sp>
        <p:nvSpPr>
          <p:cNvPr id="22" name="TextBox 21">
            <a:extLst>
              <a:ext uri="{FF2B5EF4-FFF2-40B4-BE49-F238E27FC236}">
                <a16:creationId xmlns:a16="http://schemas.microsoft.com/office/drawing/2014/main" id="{7BFFE73B-EE8A-0E98-29F6-005F0C42F22C}"/>
              </a:ext>
            </a:extLst>
          </p:cNvPr>
          <p:cNvSpPr txBox="1"/>
          <p:nvPr/>
        </p:nvSpPr>
        <p:spPr>
          <a:xfrm>
            <a:off x="5972897" y="1698379"/>
            <a:ext cx="844062" cy="34281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000" dirty="0">
                <a:solidFill>
                  <a:srgbClr val="00B0F0"/>
                </a:solidFill>
                <a:latin typeface="Arial" panose="020B0604020202020204"/>
              </a:rPr>
              <a:t>uSID2</a:t>
            </a:r>
            <a:endParaRPr kumimoji="0" lang="en-US" sz="2000" i="0" u="none" strike="noStrike" kern="1200" cap="none" spc="0" normalizeH="0" baseline="0" noProof="0" dirty="0">
              <a:ln>
                <a:noFill/>
              </a:ln>
              <a:solidFill>
                <a:srgbClr val="00B0F0"/>
              </a:solidFill>
              <a:effectLst/>
              <a:uLnTx/>
              <a:uFillTx/>
              <a:latin typeface="Arial" panose="020B0604020202020204"/>
              <a:ea typeface="+mn-ea"/>
              <a:cs typeface="+mn-cs"/>
            </a:endParaRPr>
          </a:p>
        </p:txBody>
      </p:sp>
      <p:sp>
        <p:nvSpPr>
          <p:cNvPr id="23" name="TextBox 22">
            <a:extLst>
              <a:ext uri="{FF2B5EF4-FFF2-40B4-BE49-F238E27FC236}">
                <a16:creationId xmlns:a16="http://schemas.microsoft.com/office/drawing/2014/main" id="{2ABD2502-E10C-CAEB-E385-7ACFA28CE33B}"/>
              </a:ext>
            </a:extLst>
          </p:cNvPr>
          <p:cNvSpPr txBox="1"/>
          <p:nvPr/>
        </p:nvSpPr>
        <p:spPr>
          <a:xfrm>
            <a:off x="5068707" y="1683629"/>
            <a:ext cx="844062" cy="34281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000" dirty="0">
                <a:solidFill>
                  <a:srgbClr val="00B0F0"/>
                </a:solidFill>
                <a:latin typeface="Arial" panose="020B0604020202020204"/>
              </a:rPr>
              <a:t>uSID1</a:t>
            </a:r>
            <a:endParaRPr kumimoji="0" lang="en-US" sz="2000" i="0" u="none" strike="noStrike" kern="1200" cap="none" spc="0" normalizeH="0" baseline="0" noProof="0" dirty="0">
              <a:ln>
                <a:noFill/>
              </a:ln>
              <a:solidFill>
                <a:srgbClr val="00B0F0"/>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024D1A27-3DAF-E0DB-83A0-5A95D742AA6C}"/>
              </a:ext>
            </a:extLst>
          </p:cNvPr>
          <p:cNvSpPr txBox="1"/>
          <p:nvPr/>
        </p:nvSpPr>
        <p:spPr>
          <a:xfrm>
            <a:off x="971537" y="2142555"/>
            <a:ext cx="10084781" cy="523220"/>
          </a:xfrm>
          <a:prstGeom prst="rect">
            <a:avLst/>
          </a:prstGeom>
          <a:noFill/>
        </p:spPr>
        <p:txBody>
          <a:bodyPr wrap="square">
            <a:spAutoFit/>
          </a:bodyPr>
          <a:lstStyle/>
          <a:p>
            <a:r>
              <a:rPr lang="en-US" sz="2800" dirty="0">
                <a:latin typeface="Consolas" panose="020B0609020204030204" pitchFamily="49" charset="0"/>
              </a:rPr>
              <a:t>Outer SRH: FC00:0000:0007:0008:0009:0010:0011:0012</a:t>
            </a:r>
          </a:p>
        </p:txBody>
      </p:sp>
      <p:cxnSp>
        <p:nvCxnSpPr>
          <p:cNvPr id="10" name="Straight Connector 9">
            <a:extLst>
              <a:ext uri="{FF2B5EF4-FFF2-40B4-BE49-F238E27FC236}">
                <a16:creationId xmlns:a16="http://schemas.microsoft.com/office/drawing/2014/main" id="{F09C015D-BD28-F14E-8142-3E87D45BB5F6}"/>
              </a:ext>
            </a:extLst>
          </p:cNvPr>
          <p:cNvCxnSpPr>
            <a:cxnSpLocks/>
          </p:cNvCxnSpPr>
          <p:nvPr/>
        </p:nvCxnSpPr>
        <p:spPr>
          <a:xfrm flipV="1">
            <a:off x="6134147" y="2654336"/>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725306E-B263-DC5F-9F8B-A7CB7A87CAF9}"/>
              </a:ext>
            </a:extLst>
          </p:cNvPr>
          <p:cNvCxnSpPr>
            <a:cxnSpLocks/>
          </p:cNvCxnSpPr>
          <p:nvPr/>
        </p:nvCxnSpPr>
        <p:spPr>
          <a:xfrm flipV="1">
            <a:off x="7110083" y="2666316"/>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B8F9D50-4B4D-56F5-7B97-39E6E3A6A824}"/>
              </a:ext>
            </a:extLst>
          </p:cNvPr>
          <p:cNvCxnSpPr>
            <a:cxnSpLocks/>
          </p:cNvCxnSpPr>
          <p:nvPr/>
        </p:nvCxnSpPr>
        <p:spPr>
          <a:xfrm flipV="1">
            <a:off x="8086019" y="2654621"/>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FDDF317-ECDF-F202-1DD7-50F5A9B75CA3}"/>
              </a:ext>
            </a:extLst>
          </p:cNvPr>
          <p:cNvCxnSpPr>
            <a:cxnSpLocks/>
          </p:cNvCxnSpPr>
          <p:nvPr/>
        </p:nvCxnSpPr>
        <p:spPr>
          <a:xfrm flipV="1">
            <a:off x="9061955" y="2660462"/>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71688BE-49FD-F9FF-C854-CAC26F6BA20A}"/>
              </a:ext>
            </a:extLst>
          </p:cNvPr>
          <p:cNvCxnSpPr>
            <a:cxnSpLocks/>
          </p:cNvCxnSpPr>
          <p:nvPr/>
        </p:nvCxnSpPr>
        <p:spPr>
          <a:xfrm flipV="1">
            <a:off x="10037891" y="2648753"/>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B4034DB-404D-92BD-6F1A-6E235BBA62F1}"/>
              </a:ext>
            </a:extLst>
          </p:cNvPr>
          <p:cNvCxnSpPr>
            <a:cxnSpLocks/>
          </p:cNvCxnSpPr>
          <p:nvPr/>
        </p:nvCxnSpPr>
        <p:spPr>
          <a:xfrm flipV="1">
            <a:off x="10036413" y="1658509"/>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8DC03BB-4E60-967F-11C2-18AEBDC42CE5}"/>
              </a:ext>
            </a:extLst>
          </p:cNvPr>
          <p:cNvCxnSpPr>
            <a:cxnSpLocks/>
          </p:cNvCxnSpPr>
          <p:nvPr/>
        </p:nvCxnSpPr>
        <p:spPr>
          <a:xfrm flipV="1">
            <a:off x="9056076" y="1646800"/>
            <a:ext cx="738557" cy="1170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2D2E1374-9DB3-A2D0-97CA-5183A8F8F4FA}"/>
              </a:ext>
            </a:extLst>
          </p:cNvPr>
          <p:cNvSpPr txBox="1"/>
          <p:nvPr/>
        </p:nvSpPr>
        <p:spPr>
          <a:xfrm>
            <a:off x="5052706" y="2682234"/>
            <a:ext cx="844062" cy="34281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000" dirty="0">
                <a:solidFill>
                  <a:srgbClr val="00B0F0"/>
                </a:solidFill>
                <a:latin typeface="Arial" panose="020B0604020202020204"/>
              </a:rPr>
              <a:t>uSID7</a:t>
            </a:r>
            <a:endParaRPr kumimoji="0" lang="en-US" sz="2000" i="0" u="none" strike="noStrike" kern="1200" cap="none" spc="0" normalizeH="0" baseline="0" noProof="0" dirty="0">
              <a:ln>
                <a:noFill/>
              </a:ln>
              <a:solidFill>
                <a:srgbClr val="00B0F0"/>
              </a:solidFill>
              <a:effectLst/>
              <a:uLnTx/>
              <a:uFillTx/>
              <a:latin typeface="Arial" panose="020B0604020202020204"/>
              <a:ea typeface="+mn-ea"/>
              <a:cs typeface="+mn-cs"/>
            </a:endParaRPr>
          </a:p>
        </p:txBody>
      </p:sp>
      <p:sp>
        <p:nvSpPr>
          <p:cNvPr id="30" name="TextBox 29">
            <a:extLst>
              <a:ext uri="{FF2B5EF4-FFF2-40B4-BE49-F238E27FC236}">
                <a16:creationId xmlns:a16="http://schemas.microsoft.com/office/drawing/2014/main" id="{ADE7D8CE-A60F-B4D3-3FD4-469181363A0B}"/>
              </a:ext>
            </a:extLst>
          </p:cNvPr>
          <p:cNvSpPr txBox="1"/>
          <p:nvPr/>
        </p:nvSpPr>
        <p:spPr>
          <a:xfrm>
            <a:off x="6074184" y="2705187"/>
            <a:ext cx="844062" cy="34281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000" dirty="0">
                <a:solidFill>
                  <a:srgbClr val="00B0F0"/>
                </a:solidFill>
                <a:latin typeface="Arial" panose="020B0604020202020204"/>
              </a:rPr>
              <a:t>uSID8</a:t>
            </a:r>
            <a:endParaRPr kumimoji="0" lang="en-US" sz="2000" i="0" u="none" strike="noStrike" kern="1200" cap="none" spc="0" normalizeH="0" baseline="0" noProof="0" dirty="0">
              <a:ln>
                <a:noFill/>
              </a:ln>
              <a:solidFill>
                <a:srgbClr val="00B0F0"/>
              </a:solidFill>
              <a:effectLst/>
              <a:uLnTx/>
              <a:uFillTx/>
              <a:latin typeface="Arial" panose="020B0604020202020204"/>
              <a:ea typeface="+mn-ea"/>
              <a:cs typeface="+mn-cs"/>
            </a:endParaRPr>
          </a:p>
        </p:txBody>
      </p:sp>
      <p:sp>
        <p:nvSpPr>
          <p:cNvPr id="31" name="TextBox 30">
            <a:extLst>
              <a:ext uri="{FF2B5EF4-FFF2-40B4-BE49-F238E27FC236}">
                <a16:creationId xmlns:a16="http://schemas.microsoft.com/office/drawing/2014/main" id="{4A61DE8B-0D86-ECB6-DD79-9036F66ABD1B}"/>
              </a:ext>
            </a:extLst>
          </p:cNvPr>
          <p:cNvSpPr txBox="1"/>
          <p:nvPr/>
        </p:nvSpPr>
        <p:spPr>
          <a:xfrm>
            <a:off x="7095480" y="2705744"/>
            <a:ext cx="844062" cy="34281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000" dirty="0">
                <a:solidFill>
                  <a:srgbClr val="00B0F0"/>
                </a:solidFill>
                <a:latin typeface="Arial" panose="020B0604020202020204"/>
              </a:rPr>
              <a:t>uSID9</a:t>
            </a:r>
            <a:endParaRPr kumimoji="0" lang="en-US" sz="2000" i="0" u="none" strike="noStrike" kern="1200" cap="none" spc="0" normalizeH="0" baseline="0" noProof="0" dirty="0">
              <a:ln>
                <a:noFill/>
              </a:ln>
              <a:solidFill>
                <a:srgbClr val="00B0F0"/>
              </a:solidFill>
              <a:effectLst/>
              <a:uLnTx/>
              <a:uFillTx/>
              <a:latin typeface="Arial" panose="020B0604020202020204"/>
              <a:ea typeface="+mn-ea"/>
              <a:cs typeface="+mn-cs"/>
            </a:endParaRPr>
          </a:p>
        </p:txBody>
      </p:sp>
      <p:sp>
        <p:nvSpPr>
          <p:cNvPr id="32" name="TextBox 31">
            <a:extLst>
              <a:ext uri="{FF2B5EF4-FFF2-40B4-BE49-F238E27FC236}">
                <a16:creationId xmlns:a16="http://schemas.microsoft.com/office/drawing/2014/main" id="{D657E96A-F66D-314B-4AC7-21C4912EF4F1}"/>
              </a:ext>
            </a:extLst>
          </p:cNvPr>
          <p:cNvSpPr txBox="1"/>
          <p:nvPr/>
        </p:nvSpPr>
        <p:spPr>
          <a:xfrm>
            <a:off x="8033266" y="2693072"/>
            <a:ext cx="844062" cy="34281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000" dirty="0">
                <a:solidFill>
                  <a:srgbClr val="00B0F0"/>
                </a:solidFill>
                <a:latin typeface="Arial" panose="020B0604020202020204"/>
              </a:rPr>
              <a:t>uSID10</a:t>
            </a:r>
            <a:endParaRPr kumimoji="0" lang="en-US" sz="2000" i="0" u="none" strike="noStrike" kern="1200" cap="none" spc="0" normalizeH="0" baseline="0" noProof="0" dirty="0">
              <a:ln>
                <a:noFill/>
              </a:ln>
              <a:solidFill>
                <a:srgbClr val="00B0F0"/>
              </a:solidFill>
              <a:effectLst/>
              <a:uLnTx/>
              <a:uFillTx/>
              <a:latin typeface="Arial" panose="020B0604020202020204"/>
              <a:ea typeface="+mn-ea"/>
              <a:cs typeface="+mn-cs"/>
            </a:endParaRPr>
          </a:p>
        </p:txBody>
      </p:sp>
      <p:sp>
        <p:nvSpPr>
          <p:cNvPr id="33" name="TextBox 32">
            <a:extLst>
              <a:ext uri="{FF2B5EF4-FFF2-40B4-BE49-F238E27FC236}">
                <a16:creationId xmlns:a16="http://schemas.microsoft.com/office/drawing/2014/main" id="{7DE0EA42-DA56-516F-8BB8-7993E9884713}"/>
              </a:ext>
            </a:extLst>
          </p:cNvPr>
          <p:cNvSpPr txBox="1"/>
          <p:nvPr/>
        </p:nvSpPr>
        <p:spPr>
          <a:xfrm>
            <a:off x="8968230" y="2705187"/>
            <a:ext cx="844062" cy="34281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000" dirty="0">
                <a:solidFill>
                  <a:srgbClr val="00B0F0"/>
                </a:solidFill>
                <a:latin typeface="Arial" panose="020B0604020202020204"/>
              </a:rPr>
              <a:t>uSID11</a:t>
            </a:r>
            <a:endParaRPr kumimoji="0" lang="en-US" sz="2000" i="0" u="none" strike="noStrike" kern="1200" cap="none" spc="0" normalizeH="0" baseline="0" noProof="0" dirty="0">
              <a:ln>
                <a:noFill/>
              </a:ln>
              <a:solidFill>
                <a:srgbClr val="00B0F0"/>
              </a:solidFill>
              <a:effectLst/>
              <a:uLnTx/>
              <a:uFillTx/>
              <a:latin typeface="Arial" panose="020B0604020202020204"/>
              <a:ea typeface="+mn-ea"/>
              <a:cs typeface="+mn-cs"/>
            </a:endParaRPr>
          </a:p>
        </p:txBody>
      </p:sp>
      <p:sp>
        <p:nvSpPr>
          <p:cNvPr id="34" name="TextBox 33">
            <a:extLst>
              <a:ext uri="{FF2B5EF4-FFF2-40B4-BE49-F238E27FC236}">
                <a16:creationId xmlns:a16="http://schemas.microsoft.com/office/drawing/2014/main" id="{984E4FB6-BF67-4764-E21F-6957D582B0E4}"/>
              </a:ext>
            </a:extLst>
          </p:cNvPr>
          <p:cNvSpPr txBox="1"/>
          <p:nvPr/>
        </p:nvSpPr>
        <p:spPr>
          <a:xfrm>
            <a:off x="9983660" y="2705187"/>
            <a:ext cx="844062" cy="34281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000" dirty="0">
                <a:solidFill>
                  <a:srgbClr val="00B0F0"/>
                </a:solidFill>
                <a:latin typeface="Arial" panose="020B0604020202020204"/>
              </a:rPr>
              <a:t>uSID12</a:t>
            </a:r>
            <a:endParaRPr kumimoji="0" lang="en-US" sz="2000" i="0" u="none" strike="noStrike" kern="1200" cap="none" spc="0" normalizeH="0" baseline="0" noProof="0" dirty="0">
              <a:ln>
                <a:noFill/>
              </a:ln>
              <a:solidFill>
                <a:srgbClr val="00B0F0"/>
              </a:solidFill>
              <a:effectLst/>
              <a:uLnTx/>
              <a:uFillTx/>
              <a:latin typeface="Arial" panose="020B0604020202020204"/>
              <a:ea typeface="+mn-ea"/>
              <a:cs typeface="+mn-cs"/>
            </a:endParaRPr>
          </a:p>
        </p:txBody>
      </p:sp>
      <p:sp>
        <p:nvSpPr>
          <p:cNvPr id="35" name="TextBox 34">
            <a:extLst>
              <a:ext uri="{FF2B5EF4-FFF2-40B4-BE49-F238E27FC236}">
                <a16:creationId xmlns:a16="http://schemas.microsoft.com/office/drawing/2014/main" id="{0C6AA427-3D69-7ED8-E3D2-A0AF11466A8C}"/>
              </a:ext>
            </a:extLst>
          </p:cNvPr>
          <p:cNvSpPr txBox="1"/>
          <p:nvPr/>
        </p:nvSpPr>
        <p:spPr>
          <a:xfrm>
            <a:off x="8968230" y="1684454"/>
            <a:ext cx="844062" cy="34281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000" dirty="0">
                <a:solidFill>
                  <a:srgbClr val="00B0F0"/>
                </a:solidFill>
                <a:latin typeface="Arial" panose="020B0604020202020204"/>
              </a:rPr>
              <a:t>uSID5</a:t>
            </a:r>
            <a:endParaRPr kumimoji="0" lang="en-US" sz="2000" i="0" u="none" strike="noStrike" kern="1200" cap="none" spc="0" normalizeH="0" baseline="0" noProof="0" dirty="0">
              <a:ln>
                <a:noFill/>
              </a:ln>
              <a:solidFill>
                <a:srgbClr val="00B0F0"/>
              </a:solidFill>
              <a:effectLst/>
              <a:uLnTx/>
              <a:uFillTx/>
              <a:latin typeface="Arial" panose="020B0604020202020204"/>
              <a:ea typeface="+mn-ea"/>
              <a:cs typeface="+mn-cs"/>
            </a:endParaRPr>
          </a:p>
        </p:txBody>
      </p:sp>
      <p:sp>
        <p:nvSpPr>
          <p:cNvPr id="36" name="TextBox 35">
            <a:extLst>
              <a:ext uri="{FF2B5EF4-FFF2-40B4-BE49-F238E27FC236}">
                <a16:creationId xmlns:a16="http://schemas.microsoft.com/office/drawing/2014/main" id="{D539A1D2-8D44-1563-64B4-227E737CE869}"/>
              </a:ext>
            </a:extLst>
          </p:cNvPr>
          <p:cNvSpPr txBox="1"/>
          <p:nvPr/>
        </p:nvSpPr>
        <p:spPr>
          <a:xfrm>
            <a:off x="7924795" y="1684947"/>
            <a:ext cx="844062" cy="34281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000" dirty="0">
                <a:solidFill>
                  <a:srgbClr val="00B0F0"/>
                </a:solidFill>
                <a:latin typeface="Arial" panose="020B0604020202020204"/>
              </a:rPr>
              <a:t>uSID4</a:t>
            </a:r>
            <a:endParaRPr kumimoji="0" lang="en-US" sz="2000" i="0" u="none" strike="noStrike" kern="1200" cap="none" spc="0" normalizeH="0" baseline="0" noProof="0" dirty="0">
              <a:ln>
                <a:noFill/>
              </a:ln>
              <a:solidFill>
                <a:srgbClr val="00B0F0"/>
              </a:solidFill>
              <a:effectLst/>
              <a:uLnTx/>
              <a:uFillTx/>
              <a:latin typeface="Arial" panose="020B0604020202020204"/>
              <a:ea typeface="+mn-ea"/>
              <a:cs typeface="+mn-cs"/>
            </a:endParaRPr>
          </a:p>
        </p:txBody>
      </p:sp>
      <p:pic>
        <p:nvPicPr>
          <p:cNvPr id="40" name="Picture 39" descr="A graph with red and green lines&#10;&#10;Description automatically generated">
            <a:extLst>
              <a:ext uri="{FF2B5EF4-FFF2-40B4-BE49-F238E27FC236}">
                <a16:creationId xmlns:a16="http://schemas.microsoft.com/office/drawing/2014/main" id="{ECDA15E2-D082-4C77-A36D-0B3432C28D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5445" y="3410636"/>
            <a:ext cx="5447802" cy="2750432"/>
          </a:xfrm>
          <a:prstGeom prst="rect">
            <a:avLst/>
          </a:prstGeom>
        </p:spPr>
      </p:pic>
    </p:spTree>
    <p:extLst>
      <p:ext uri="{BB962C8B-B14F-4D97-AF65-F5344CB8AC3E}">
        <p14:creationId xmlns:p14="http://schemas.microsoft.com/office/powerpoint/2010/main" val="233423282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88923A-408F-EDF3-E67E-E82BAB82099C}"/>
              </a:ext>
            </a:extLst>
          </p:cNvPr>
          <p:cNvSpPr>
            <a:spLocks noGrp="1"/>
          </p:cNvSpPr>
          <p:nvPr>
            <p:ph type="body" sz="quarter" idx="10"/>
          </p:nvPr>
        </p:nvSpPr>
        <p:spPr/>
        <p:txBody>
          <a:bodyPr/>
          <a:lstStyle/>
          <a:p>
            <a:r>
              <a:rPr lang="en-US" dirty="0"/>
              <a:t>VPN</a:t>
            </a:r>
          </a:p>
          <a:p>
            <a:r>
              <a:rPr lang="en-US" dirty="0"/>
              <a:t>TILFA/</a:t>
            </a:r>
            <a:r>
              <a:rPr lang="en-US" dirty="0" err="1"/>
              <a:t>uLoop</a:t>
            </a:r>
            <a:endParaRPr lang="en-US" dirty="0"/>
          </a:p>
          <a:p>
            <a:r>
              <a:rPr lang="en-US" dirty="0"/>
              <a:t>TE (Traffic Engineering)</a:t>
            </a:r>
          </a:p>
          <a:p>
            <a:r>
              <a:rPr lang="en-US" dirty="0"/>
              <a:t>EPE (Egress Peer Engineering)</a:t>
            </a:r>
          </a:p>
          <a:p>
            <a:r>
              <a:rPr lang="en-US" dirty="0"/>
              <a:t>NFV (Network Function Virtualization)</a:t>
            </a:r>
          </a:p>
          <a:p>
            <a:r>
              <a:rPr lang="en-US" dirty="0"/>
              <a:t>Any customer behavior</a:t>
            </a:r>
          </a:p>
          <a:p>
            <a:pPr lvl="1"/>
            <a:r>
              <a:rPr lang="en-US" dirty="0"/>
              <a:t>HW: P4</a:t>
            </a:r>
          </a:p>
          <a:p>
            <a:pPr lvl="1"/>
            <a:r>
              <a:rPr lang="en-US" dirty="0"/>
              <a:t>SW: Container</a:t>
            </a:r>
          </a:p>
        </p:txBody>
      </p:sp>
      <p:sp>
        <p:nvSpPr>
          <p:cNvPr id="3" name="Text Placeholder 2">
            <a:extLst>
              <a:ext uri="{FF2B5EF4-FFF2-40B4-BE49-F238E27FC236}">
                <a16:creationId xmlns:a16="http://schemas.microsoft.com/office/drawing/2014/main" id="{B5EB0FE5-A41F-B5FE-DE99-43161BB49FA9}"/>
              </a:ext>
            </a:extLst>
          </p:cNvPr>
          <p:cNvSpPr>
            <a:spLocks noGrp="1"/>
          </p:cNvSpPr>
          <p:nvPr>
            <p:ph type="body" sz="quarter" idx="11"/>
          </p:nvPr>
        </p:nvSpPr>
        <p:spPr/>
        <p:txBody>
          <a:bodyPr/>
          <a:lstStyle/>
          <a:p>
            <a:r>
              <a:rPr lang="en-US" dirty="0"/>
              <a:t>An SRv6 </a:t>
            </a:r>
            <a:r>
              <a:rPr lang="en-US" dirty="0" err="1"/>
              <a:t>uSID’s</a:t>
            </a:r>
            <a:r>
              <a:rPr lang="en-US" dirty="0"/>
              <a:t> may be bound to any behavior</a:t>
            </a:r>
          </a:p>
        </p:txBody>
      </p:sp>
    </p:spTree>
    <p:extLst>
      <p:ext uri="{BB962C8B-B14F-4D97-AF65-F5344CB8AC3E}">
        <p14:creationId xmlns:p14="http://schemas.microsoft.com/office/powerpoint/2010/main" val="233092544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94FE164-68E2-F617-CFD0-0BB3803F4593}"/>
              </a:ext>
            </a:extLst>
          </p:cNvPr>
          <p:cNvSpPr>
            <a:spLocks noGrp="1"/>
          </p:cNvSpPr>
          <p:nvPr>
            <p:ph type="body" sz="quarter" idx="11"/>
          </p:nvPr>
        </p:nvSpPr>
        <p:spPr/>
        <p:txBody>
          <a:bodyPr/>
          <a:lstStyle/>
          <a:p>
            <a:r>
              <a:rPr lang="en-US" dirty="0"/>
              <a:t>Illustration: go to 8 then 7 then 2 and </a:t>
            </a:r>
            <a:r>
              <a:rPr lang="en-US" dirty="0" err="1"/>
              <a:t>decaps</a:t>
            </a:r>
            <a:endParaRPr lang="en-US" dirty="0"/>
          </a:p>
        </p:txBody>
      </p:sp>
      <p:pic>
        <p:nvPicPr>
          <p:cNvPr id="5" name="Picture 4" descr="A diagram of a single micro program&#10;&#10;Description automatically generated">
            <a:extLst>
              <a:ext uri="{FF2B5EF4-FFF2-40B4-BE49-F238E27FC236}">
                <a16:creationId xmlns:a16="http://schemas.microsoft.com/office/drawing/2014/main" id="{763AFB5B-7C31-27D9-ED9B-16CE21D6A4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013" y="1062002"/>
            <a:ext cx="11034716" cy="5364945"/>
          </a:xfrm>
          <a:prstGeom prst="rect">
            <a:avLst/>
          </a:prstGeom>
        </p:spPr>
      </p:pic>
    </p:spTree>
    <p:extLst>
      <p:ext uri="{BB962C8B-B14F-4D97-AF65-F5344CB8AC3E}">
        <p14:creationId xmlns:p14="http://schemas.microsoft.com/office/powerpoint/2010/main" val="312876228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CD484BB-955E-28AB-C064-AA8A7C236BEB}"/>
              </a:ext>
            </a:extLst>
          </p:cNvPr>
          <p:cNvSpPr>
            <a:spLocks noGrp="1"/>
          </p:cNvSpPr>
          <p:nvPr>
            <p:ph type="body" sz="quarter" idx="11"/>
          </p:nvPr>
        </p:nvSpPr>
        <p:spPr/>
        <p:txBody>
          <a:bodyPr/>
          <a:lstStyle/>
          <a:p>
            <a:r>
              <a:rPr lang="en-US" dirty="0"/>
              <a:t>Basic IP Routing: no new extension</a:t>
            </a:r>
          </a:p>
        </p:txBody>
      </p:sp>
      <p:pic>
        <p:nvPicPr>
          <p:cNvPr id="5" name="Picture 4" descr="A diagram of a network&#10;&#10;Description automatically generated">
            <a:extLst>
              <a:ext uri="{FF2B5EF4-FFF2-40B4-BE49-F238E27FC236}">
                <a16:creationId xmlns:a16="http://schemas.microsoft.com/office/drawing/2014/main" id="{2D66FE9A-1888-5C61-72A8-7F0EA77BD8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4314" y="1142237"/>
            <a:ext cx="11423370" cy="5052498"/>
          </a:xfrm>
          <a:prstGeom prst="rect">
            <a:avLst/>
          </a:prstGeom>
        </p:spPr>
      </p:pic>
    </p:spTree>
    <p:extLst>
      <p:ext uri="{BB962C8B-B14F-4D97-AF65-F5344CB8AC3E}">
        <p14:creationId xmlns:p14="http://schemas.microsoft.com/office/powerpoint/2010/main" val="417609450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9C8D2F9-3DD9-0D32-084A-E9CBC253E27C}"/>
              </a:ext>
            </a:extLst>
          </p:cNvPr>
          <p:cNvSpPr>
            <a:spLocks noGrp="1"/>
          </p:cNvSpPr>
          <p:nvPr>
            <p:ph type="body" sz="quarter" idx="11"/>
          </p:nvPr>
        </p:nvSpPr>
        <p:spPr/>
        <p:txBody>
          <a:bodyPr/>
          <a:lstStyle/>
          <a:p>
            <a:r>
              <a:rPr lang="en-US" dirty="0"/>
              <a:t>Node 1: Basic IPv6</a:t>
            </a:r>
          </a:p>
        </p:txBody>
      </p:sp>
      <p:pic>
        <p:nvPicPr>
          <p:cNvPr id="5" name="Picture 4" descr="A screenshot of a computer&#10;&#10;Description automatically generated">
            <a:extLst>
              <a:ext uri="{FF2B5EF4-FFF2-40B4-BE49-F238E27FC236}">
                <a16:creationId xmlns:a16="http://schemas.microsoft.com/office/drawing/2014/main" id="{92452F1A-CD71-A28C-846E-F0DC009606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1857" y="1065866"/>
            <a:ext cx="9390996" cy="5557261"/>
          </a:xfrm>
          <a:prstGeom prst="rect">
            <a:avLst/>
          </a:prstGeom>
        </p:spPr>
      </p:pic>
      <p:sp>
        <p:nvSpPr>
          <p:cNvPr id="6" name="Rectangle 5">
            <a:extLst>
              <a:ext uri="{FF2B5EF4-FFF2-40B4-BE49-F238E27FC236}">
                <a16:creationId xmlns:a16="http://schemas.microsoft.com/office/drawing/2014/main" id="{45F06B92-9D0D-7106-A3C9-F07A5FF48BF1}"/>
              </a:ext>
            </a:extLst>
          </p:cNvPr>
          <p:cNvSpPr/>
          <p:nvPr/>
        </p:nvSpPr>
        <p:spPr>
          <a:xfrm>
            <a:off x="1012371" y="1065866"/>
            <a:ext cx="3483429" cy="7730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9778324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9C8D2F9-3DD9-0D32-084A-E9CBC253E27C}"/>
              </a:ext>
            </a:extLst>
          </p:cNvPr>
          <p:cNvSpPr>
            <a:spLocks noGrp="1"/>
          </p:cNvSpPr>
          <p:nvPr>
            <p:ph type="body" sz="quarter" idx="11"/>
          </p:nvPr>
        </p:nvSpPr>
        <p:spPr/>
        <p:txBody>
          <a:bodyPr/>
          <a:lstStyle/>
          <a:p>
            <a:r>
              <a:rPr lang="en-US" dirty="0"/>
              <a:t>Node 4: Basic IPv6</a:t>
            </a:r>
          </a:p>
        </p:txBody>
      </p:sp>
      <p:pic>
        <p:nvPicPr>
          <p:cNvPr id="4" name="Picture 3" descr="A screenshot of a computer&#10;&#10;Description automatically generated">
            <a:extLst>
              <a:ext uri="{FF2B5EF4-FFF2-40B4-BE49-F238E27FC236}">
                <a16:creationId xmlns:a16="http://schemas.microsoft.com/office/drawing/2014/main" id="{60AE6E64-9AE0-CA53-CF5C-3E9703C9B3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9686" y="868787"/>
            <a:ext cx="9305001" cy="5597046"/>
          </a:xfrm>
          <a:prstGeom prst="rect">
            <a:avLst/>
          </a:prstGeom>
        </p:spPr>
      </p:pic>
      <p:sp>
        <p:nvSpPr>
          <p:cNvPr id="6" name="Rectangle 5">
            <a:extLst>
              <a:ext uri="{FF2B5EF4-FFF2-40B4-BE49-F238E27FC236}">
                <a16:creationId xmlns:a16="http://schemas.microsoft.com/office/drawing/2014/main" id="{45F06B92-9D0D-7106-A3C9-F07A5FF48BF1}"/>
              </a:ext>
            </a:extLst>
          </p:cNvPr>
          <p:cNvSpPr/>
          <p:nvPr/>
        </p:nvSpPr>
        <p:spPr>
          <a:xfrm>
            <a:off x="1556656" y="926799"/>
            <a:ext cx="3483429" cy="7730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185351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9C8D2F9-3DD9-0D32-084A-E9CBC253E27C}"/>
              </a:ext>
            </a:extLst>
          </p:cNvPr>
          <p:cNvSpPr>
            <a:spLocks noGrp="1"/>
          </p:cNvSpPr>
          <p:nvPr>
            <p:ph type="body" sz="quarter" idx="11"/>
          </p:nvPr>
        </p:nvSpPr>
        <p:spPr/>
        <p:txBody>
          <a:bodyPr/>
          <a:lstStyle/>
          <a:p>
            <a:r>
              <a:rPr lang="en-US" dirty="0"/>
              <a:t>Node 5: Basic IPv6</a:t>
            </a:r>
          </a:p>
        </p:txBody>
      </p:sp>
      <p:pic>
        <p:nvPicPr>
          <p:cNvPr id="5" name="Picture 4" descr="A screenshot of a computer&#10;&#10;Description automatically generated">
            <a:extLst>
              <a:ext uri="{FF2B5EF4-FFF2-40B4-BE49-F238E27FC236}">
                <a16:creationId xmlns:a16="http://schemas.microsoft.com/office/drawing/2014/main" id="{612DBE66-2BC6-EECD-5694-27632D3ED1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1200" y="968374"/>
            <a:ext cx="9052988" cy="5413631"/>
          </a:xfrm>
          <a:prstGeom prst="rect">
            <a:avLst/>
          </a:prstGeom>
        </p:spPr>
      </p:pic>
      <p:sp>
        <p:nvSpPr>
          <p:cNvPr id="6" name="Rectangle 5">
            <a:extLst>
              <a:ext uri="{FF2B5EF4-FFF2-40B4-BE49-F238E27FC236}">
                <a16:creationId xmlns:a16="http://schemas.microsoft.com/office/drawing/2014/main" id="{45F06B92-9D0D-7106-A3C9-F07A5FF48BF1}"/>
              </a:ext>
            </a:extLst>
          </p:cNvPr>
          <p:cNvSpPr/>
          <p:nvPr/>
        </p:nvSpPr>
        <p:spPr>
          <a:xfrm>
            <a:off x="1556656" y="926799"/>
            <a:ext cx="3483429" cy="7730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205744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Description automatically generated">
            <a:extLst>
              <a:ext uri="{FF2B5EF4-FFF2-40B4-BE49-F238E27FC236}">
                <a16:creationId xmlns:a16="http://schemas.microsoft.com/office/drawing/2014/main" id="{2ACEEBC4-DADB-6683-294F-177B04FDDA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917" y="858916"/>
            <a:ext cx="11051887" cy="5439262"/>
          </a:xfrm>
          <a:prstGeom prst="rect">
            <a:avLst/>
          </a:prstGeom>
        </p:spPr>
      </p:pic>
      <p:sp>
        <p:nvSpPr>
          <p:cNvPr id="3" name="Text Placeholder 2">
            <a:extLst>
              <a:ext uri="{FF2B5EF4-FFF2-40B4-BE49-F238E27FC236}">
                <a16:creationId xmlns:a16="http://schemas.microsoft.com/office/drawing/2014/main" id="{39C8D2F9-3DD9-0D32-084A-E9CBC253E27C}"/>
              </a:ext>
            </a:extLst>
          </p:cNvPr>
          <p:cNvSpPr>
            <a:spLocks noGrp="1"/>
          </p:cNvSpPr>
          <p:nvPr>
            <p:ph type="body" sz="quarter" idx="11"/>
          </p:nvPr>
        </p:nvSpPr>
        <p:spPr/>
        <p:txBody>
          <a:bodyPr/>
          <a:lstStyle/>
          <a:p>
            <a:r>
              <a:rPr lang="en-US" dirty="0"/>
              <a:t>Node 8: Shift and Forward</a:t>
            </a:r>
          </a:p>
        </p:txBody>
      </p:sp>
      <p:sp>
        <p:nvSpPr>
          <p:cNvPr id="6" name="Rectangle 5">
            <a:extLst>
              <a:ext uri="{FF2B5EF4-FFF2-40B4-BE49-F238E27FC236}">
                <a16:creationId xmlns:a16="http://schemas.microsoft.com/office/drawing/2014/main" id="{45F06B92-9D0D-7106-A3C9-F07A5FF48BF1}"/>
              </a:ext>
            </a:extLst>
          </p:cNvPr>
          <p:cNvSpPr/>
          <p:nvPr/>
        </p:nvSpPr>
        <p:spPr>
          <a:xfrm>
            <a:off x="873916" y="926799"/>
            <a:ext cx="4710455" cy="7730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853300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B36438D8-512E-F91A-264A-9A8CACB21C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486" y="890062"/>
            <a:ext cx="10928129" cy="5446220"/>
          </a:xfrm>
          <a:prstGeom prst="rect">
            <a:avLst/>
          </a:prstGeom>
        </p:spPr>
      </p:pic>
      <p:sp>
        <p:nvSpPr>
          <p:cNvPr id="3" name="Text Placeholder 2">
            <a:extLst>
              <a:ext uri="{FF2B5EF4-FFF2-40B4-BE49-F238E27FC236}">
                <a16:creationId xmlns:a16="http://schemas.microsoft.com/office/drawing/2014/main" id="{39C8D2F9-3DD9-0D32-084A-E9CBC253E27C}"/>
              </a:ext>
            </a:extLst>
          </p:cNvPr>
          <p:cNvSpPr>
            <a:spLocks noGrp="1"/>
          </p:cNvSpPr>
          <p:nvPr>
            <p:ph type="body" sz="quarter" idx="11"/>
          </p:nvPr>
        </p:nvSpPr>
        <p:spPr/>
        <p:txBody>
          <a:bodyPr/>
          <a:lstStyle/>
          <a:p>
            <a:r>
              <a:rPr lang="en-US" dirty="0"/>
              <a:t>Node 7: Shift and Forward</a:t>
            </a:r>
          </a:p>
        </p:txBody>
      </p:sp>
      <p:sp>
        <p:nvSpPr>
          <p:cNvPr id="6" name="Rectangle 5">
            <a:extLst>
              <a:ext uri="{FF2B5EF4-FFF2-40B4-BE49-F238E27FC236}">
                <a16:creationId xmlns:a16="http://schemas.microsoft.com/office/drawing/2014/main" id="{45F06B92-9D0D-7106-A3C9-F07A5FF48BF1}"/>
              </a:ext>
            </a:extLst>
          </p:cNvPr>
          <p:cNvSpPr/>
          <p:nvPr/>
        </p:nvSpPr>
        <p:spPr>
          <a:xfrm>
            <a:off x="873916" y="926799"/>
            <a:ext cx="4710455" cy="7730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694425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9C8D2F9-3DD9-0D32-084A-E9CBC253E27C}"/>
              </a:ext>
            </a:extLst>
          </p:cNvPr>
          <p:cNvSpPr>
            <a:spLocks noGrp="1"/>
          </p:cNvSpPr>
          <p:nvPr>
            <p:ph type="body" sz="quarter" idx="11"/>
          </p:nvPr>
        </p:nvSpPr>
        <p:spPr/>
        <p:txBody>
          <a:bodyPr/>
          <a:lstStyle/>
          <a:p>
            <a:r>
              <a:rPr lang="en-US" dirty="0"/>
              <a:t>Node 6: Basic IPv6</a:t>
            </a:r>
          </a:p>
        </p:txBody>
      </p:sp>
      <p:sp>
        <p:nvSpPr>
          <p:cNvPr id="6" name="Rectangle 5">
            <a:extLst>
              <a:ext uri="{FF2B5EF4-FFF2-40B4-BE49-F238E27FC236}">
                <a16:creationId xmlns:a16="http://schemas.microsoft.com/office/drawing/2014/main" id="{45F06B92-9D0D-7106-A3C9-F07A5FF48BF1}"/>
              </a:ext>
            </a:extLst>
          </p:cNvPr>
          <p:cNvSpPr/>
          <p:nvPr/>
        </p:nvSpPr>
        <p:spPr>
          <a:xfrm>
            <a:off x="873916" y="926799"/>
            <a:ext cx="4710455" cy="7730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shot of a computer&#10;&#10;Description automatically generated">
            <a:extLst>
              <a:ext uri="{FF2B5EF4-FFF2-40B4-BE49-F238E27FC236}">
                <a16:creationId xmlns:a16="http://schemas.microsoft.com/office/drawing/2014/main" id="{313E3D6C-F7B6-DFA7-4B94-D0455CCBA6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1839" y="1161295"/>
            <a:ext cx="8992379" cy="4861981"/>
          </a:xfrm>
          <a:prstGeom prst="rect">
            <a:avLst/>
          </a:prstGeom>
        </p:spPr>
      </p:pic>
    </p:spTree>
    <p:extLst>
      <p:ext uri="{BB962C8B-B14F-4D97-AF65-F5344CB8AC3E}">
        <p14:creationId xmlns:p14="http://schemas.microsoft.com/office/powerpoint/2010/main" val="265656051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9C8D2F9-3DD9-0D32-084A-E9CBC253E27C}"/>
              </a:ext>
            </a:extLst>
          </p:cNvPr>
          <p:cNvSpPr>
            <a:spLocks noGrp="1"/>
          </p:cNvSpPr>
          <p:nvPr>
            <p:ph type="body" sz="quarter" idx="11"/>
          </p:nvPr>
        </p:nvSpPr>
        <p:spPr/>
        <p:txBody>
          <a:bodyPr/>
          <a:lstStyle/>
          <a:p>
            <a:r>
              <a:rPr lang="en-US" dirty="0"/>
              <a:t>Node 3: Basic IPv6</a:t>
            </a:r>
          </a:p>
        </p:txBody>
      </p:sp>
      <p:sp>
        <p:nvSpPr>
          <p:cNvPr id="6" name="Rectangle 5">
            <a:extLst>
              <a:ext uri="{FF2B5EF4-FFF2-40B4-BE49-F238E27FC236}">
                <a16:creationId xmlns:a16="http://schemas.microsoft.com/office/drawing/2014/main" id="{45F06B92-9D0D-7106-A3C9-F07A5FF48BF1}"/>
              </a:ext>
            </a:extLst>
          </p:cNvPr>
          <p:cNvSpPr/>
          <p:nvPr/>
        </p:nvSpPr>
        <p:spPr>
          <a:xfrm>
            <a:off x="873916" y="926799"/>
            <a:ext cx="4710455" cy="7730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Description automatically generated">
            <a:extLst>
              <a:ext uri="{FF2B5EF4-FFF2-40B4-BE49-F238E27FC236}">
                <a16:creationId xmlns:a16="http://schemas.microsoft.com/office/drawing/2014/main" id="{2E8D5E8B-DCB1-6B29-C4A1-525452F20F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0326" y="1203747"/>
            <a:ext cx="8611346" cy="4907705"/>
          </a:xfrm>
          <a:prstGeom prst="rect">
            <a:avLst/>
          </a:prstGeom>
        </p:spPr>
      </p:pic>
    </p:spTree>
    <p:extLst>
      <p:ext uri="{BB962C8B-B14F-4D97-AF65-F5344CB8AC3E}">
        <p14:creationId xmlns:p14="http://schemas.microsoft.com/office/powerpoint/2010/main" val="217197970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9C8D2F9-3DD9-0D32-084A-E9CBC253E27C}"/>
              </a:ext>
            </a:extLst>
          </p:cNvPr>
          <p:cNvSpPr>
            <a:spLocks noGrp="1"/>
          </p:cNvSpPr>
          <p:nvPr>
            <p:ph type="body" sz="quarter" idx="11"/>
          </p:nvPr>
        </p:nvSpPr>
        <p:spPr/>
        <p:txBody>
          <a:bodyPr/>
          <a:lstStyle/>
          <a:p>
            <a:r>
              <a:rPr lang="en-US" dirty="0"/>
              <a:t>Node 2: SRv6 End.DT4 behavior</a:t>
            </a:r>
          </a:p>
        </p:txBody>
      </p:sp>
      <p:sp>
        <p:nvSpPr>
          <p:cNvPr id="6" name="Rectangle 5">
            <a:extLst>
              <a:ext uri="{FF2B5EF4-FFF2-40B4-BE49-F238E27FC236}">
                <a16:creationId xmlns:a16="http://schemas.microsoft.com/office/drawing/2014/main" id="{45F06B92-9D0D-7106-A3C9-F07A5FF48BF1}"/>
              </a:ext>
            </a:extLst>
          </p:cNvPr>
          <p:cNvSpPr/>
          <p:nvPr/>
        </p:nvSpPr>
        <p:spPr>
          <a:xfrm>
            <a:off x="873916" y="926799"/>
            <a:ext cx="4710455" cy="7730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Description automatically generated">
            <a:extLst>
              <a:ext uri="{FF2B5EF4-FFF2-40B4-BE49-F238E27FC236}">
                <a16:creationId xmlns:a16="http://schemas.microsoft.com/office/drawing/2014/main" id="{636B3EC0-C5D9-E435-5798-FC59849079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797" y="1020871"/>
            <a:ext cx="11362405" cy="4816257"/>
          </a:xfrm>
          <a:prstGeom prst="rect">
            <a:avLst/>
          </a:prstGeom>
        </p:spPr>
      </p:pic>
    </p:spTree>
    <p:extLst>
      <p:ext uri="{BB962C8B-B14F-4D97-AF65-F5344CB8AC3E}">
        <p14:creationId xmlns:p14="http://schemas.microsoft.com/office/powerpoint/2010/main" val="199669930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Description automatically generated">
            <a:extLst>
              <a:ext uri="{FF2B5EF4-FFF2-40B4-BE49-F238E27FC236}">
                <a16:creationId xmlns:a16="http://schemas.microsoft.com/office/drawing/2014/main" id="{AE0FAF0B-2136-F362-602F-FB2851AB0C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746" y="512769"/>
            <a:ext cx="11400508" cy="3894157"/>
          </a:xfrm>
          <a:prstGeom prst="rect">
            <a:avLst/>
          </a:prstGeom>
        </p:spPr>
      </p:pic>
      <p:sp>
        <p:nvSpPr>
          <p:cNvPr id="4" name="Text Placeholder 3">
            <a:extLst>
              <a:ext uri="{FF2B5EF4-FFF2-40B4-BE49-F238E27FC236}">
                <a16:creationId xmlns:a16="http://schemas.microsoft.com/office/drawing/2014/main" id="{17963E0C-DDF6-86A5-E716-5DDA08FEB1B6}"/>
              </a:ext>
            </a:extLst>
          </p:cNvPr>
          <p:cNvSpPr>
            <a:spLocks noGrp="1"/>
          </p:cNvSpPr>
          <p:nvPr>
            <p:ph type="body" sz="quarter" idx="10"/>
          </p:nvPr>
        </p:nvSpPr>
        <p:spPr>
          <a:xfrm>
            <a:off x="785446" y="4255477"/>
            <a:ext cx="5418503" cy="2074985"/>
          </a:xfrm>
        </p:spPr>
        <p:txBody>
          <a:bodyPr/>
          <a:lstStyle/>
          <a:p>
            <a:r>
              <a:rPr lang="en-US" sz="1800" b="1" dirty="0"/>
              <a:t>50msec Protection </a:t>
            </a:r>
            <a:r>
              <a:rPr lang="en-US" sz="1800" dirty="0"/>
              <a:t>upon local </a:t>
            </a:r>
            <a:r>
              <a:rPr lang="en-US" sz="1800" b="1" dirty="0"/>
              <a:t>link</a:t>
            </a:r>
            <a:r>
              <a:rPr lang="en-US" sz="1800" dirty="0"/>
              <a:t>, </a:t>
            </a:r>
            <a:r>
              <a:rPr lang="en-US" sz="1800" b="1" dirty="0"/>
              <a:t>node</a:t>
            </a:r>
            <a:r>
              <a:rPr lang="en-US" sz="1800" dirty="0"/>
              <a:t> or </a:t>
            </a:r>
            <a:r>
              <a:rPr lang="en-US" sz="1800" b="1" dirty="0"/>
              <a:t>SRLG</a:t>
            </a:r>
            <a:r>
              <a:rPr lang="en-US" sz="1800" dirty="0"/>
              <a:t> failure</a:t>
            </a:r>
          </a:p>
          <a:p>
            <a:r>
              <a:rPr lang="en-US" sz="1800" b="1" dirty="0"/>
              <a:t>Simple</a:t>
            </a:r>
            <a:r>
              <a:rPr lang="en-US" sz="1800" dirty="0"/>
              <a:t> to operate and understand</a:t>
            </a:r>
          </a:p>
          <a:p>
            <a:pPr lvl="1"/>
            <a:r>
              <a:rPr lang="en-US" sz="1800" dirty="0"/>
              <a:t>automatically computed by the router’s IGP process</a:t>
            </a:r>
          </a:p>
          <a:p>
            <a:pPr lvl="1"/>
            <a:r>
              <a:rPr lang="en-US" sz="1800" dirty="0"/>
              <a:t>100% coverage across any topology</a:t>
            </a:r>
          </a:p>
          <a:p>
            <a:pPr lvl="1"/>
            <a:r>
              <a:rPr lang="en-US" sz="1800" dirty="0"/>
              <a:t>predictable (backup = post-convergence)</a:t>
            </a:r>
          </a:p>
        </p:txBody>
      </p:sp>
      <p:sp>
        <p:nvSpPr>
          <p:cNvPr id="5" name="Text Placeholder 4">
            <a:extLst>
              <a:ext uri="{FF2B5EF4-FFF2-40B4-BE49-F238E27FC236}">
                <a16:creationId xmlns:a16="http://schemas.microsoft.com/office/drawing/2014/main" id="{64191239-B61F-1E98-9EE5-14BDCF039B5C}"/>
              </a:ext>
            </a:extLst>
          </p:cNvPr>
          <p:cNvSpPr>
            <a:spLocks noGrp="1"/>
          </p:cNvSpPr>
          <p:nvPr>
            <p:ph type="body" sz="quarter" idx="12"/>
          </p:nvPr>
        </p:nvSpPr>
        <p:spPr>
          <a:xfrm>
            <a:off x="6203950" y="4255477"/>
            <a:ext cx="5718420" cy="2356338"/>
          </a:xfrm>
        </p:spPr>
        <p:txBody>
          <a:bodyPr/>
          <a:lstStyle/>
          <a:p>
            <a:r>
              <a:rPr lang="en-US" sz="1800" b="1" dirty="0"/>
              <a:t>Optimum backup path</a:t>
            </a:r>
          </a:p>
          <a:p>
            <a:pPr marL="742950" lvl="1" indent="-285750">
              <a:buFont typeface="Arial" panose="020B0604020202020204" pitchFamily="34" charset="0"/>
              <a:buChar char="-"/>
            </a:pPr>
            <a:r>
              <a:rPr lang="en-US" sz="1800" dirty="0"/>
              <a:t>leverages the post-convergence path</a:t>
            </a:r>
          </a:p>
          <a:p>
            <a:pPr marL="742950" lvl="1" indent="-285750">
              <a:buFont typeface="Arial" panose="020B0604020202020204" pitchFamily="34" charset="0"/>
              <a:buChar char="-"/>
            </a:pPr>
            <a:r>
              <a:rPr lang="en-US" sz="1800" dirty="0"/>
              <a:t>avoid any intermediate flap via alternate path</a:t>
            </a:r>
          </a:p>
          <a:p>
            <a:r>
              <a:rPr lang="en-US" sz="1800" b="1" dirty="0"/>
              <a:t>Incremental deployment</a:t>
            </a:r>
          </a:p>
          <a:p>
            <a:r>
              <a:rPr lang="en-US" sz="1800" b="1" dirty="0"/>
              <a:t>Distributed and Automated Intelligence</a:t>
            </a:r>
          </a:p>
        </p:txBody>
      </p:sp>
      <p:sp>
        <p:nvSpPr>
          <p:cNvPr id="11" name="Rectangle 10">
            <a:extLst>
              <a:ext uri="{FF2B5EF4-FFF2-40B4-BE49-F238E27FC236}">
                <a16:creationId xmlns:a16="http://schemas.microsoft.com/office/drawing/2014/main" id="{DC537A04-BF3A-78FE-3528-74AF872B914D}"/>
              </a:ext>
            </a:extLst>
          </p:cNvPr>
          <p:cNvSpPr/>
          <p:nvPr/>
        </p:nvSpPr>
        <p:spPr>
          <a:xfrm>
            <a:off x="222738" y="726831"/>
            <a:ext cx="996462" cy="5627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163E9446-705E-48A3-5F8A-B7DD800CF513}"/>
              </a:ext>
            </a:extLst>
          </p:cNvPr>
          <p:cNvSpPr>
            <a:spLocks noGrp="1"/>
          </p:cNvSpPr>
          <p:nvPr>
            <p:ph type="body" sz="quarter" idx="11"/>
          </p:nvPr>
        </p:nvSpPr>
        <p:spPr>
          <a:xfrm>
            <a:off x="873918" y="138768"/>
            <a:ext cx="10444163" cy="773017"/>
          </a:xfrm>
        </p:spPr>
        <p:txBody>
          <a:bodyPr/>
          <a:lstStyle/>
          <a:p>
            <a:r>
              <a:rPr lang="en-US" dirty="0"/>
              <a:t>TI-LFA with uSID</a:t>
            </a:r>
          </a:p>
        </p:txBody>
      </p:sp>
    </p:spTree>
    <p:extLst>
      <p:ext uri="{BB962C8B-B14F-4D97-AF65-F5344CB8AC3E}">
        <p14:creationId xmlns:p14="http://schemas.microsoft.com/office/powerpoint/2010/main" val="412883124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diagram&#10;&#10;Description automatically generated">
            <a:extLst>
              <a:ext uri="{FF2B5EF4-FFF2-40B4-BE49-F238E27FC236}">
                <a16:creationId xmlns:a16="http://schemas.microsoft.com/office/drawing/2014/main" id="{E8C4A6EA-A46A-C9AF-5CC6-C63C1C1DDC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70" y="864925"/>
            <a:ext cx="11911092" cy="4061812"/>
          </a:xfrm>
          <a:prstGeom prst="rect">
            <a:avLst/>
          </a:prstGeom>
        </p:spPr>
      </p:pic>
      <p:sp>
        <p:nvSpPr>
          <p:cNvPr id="4" name="Text Placeholder 3">
            <a:extLst>
              <a:ext uri="{FF2B5EF4-FFF2-40B4-BE49-F238E27FC236}">
                <a16:creationId xmlns:a16="http://schemas.microsoft.com/office/drawing/2014/main" id="{17963E0C-DDF6-86A5-E716-5DDA08FEB1B6}"/>
              </a:ext>
            </a:extLst>
          </p:cNvPr>
          <p:cNvSpPr>
            <a:spLocks noGrp="1"/>
          </p:cNvSpPr>
          <p:nvPr>
            <p:ph type="body" sz="quarter" idx="10"/>
          </p:nvPr>
        </p:nvSpPr>
        <p:spPr>
          <a:xfrm>
            <a:off x="873918" y="4495801"/>
            <a:ext cx="10444163" cy="2199740"/>
          </a:xfrm>
        </p:spPr>
        <p:txBody>
          <a:bodyPr/>
          <a:lstStyle/>
          <a:p>
            <a:r>
              <a:rPr lang="en-US" sz="1800" i="1" dirty="0"/>
              <a:t>Intuitive Reading:</a:t>
            </a:r>
          </a:p>
          <a:p>
            <a:pPr lvl="1"/>
            <a:r>
              <a:rPr lang="en-US" sz="1800" dirty="0"/>
              <a:t>FC00:0000:0005::/48 leads the packet along the shortest path to </a:t>
            </a:r>
            <a:r>
              <a:rPr lang="en-US" sz="1800" b="1" dirty="0"/>
              <a:t>5</a:t>
            </a:r>
          </a:p>
          <a:p>
            <a:pPr lvl="1"/>
            <a:r>
              <a:rPr lang="en-US" sz="1800" dirty="0"/>
              <a:t>FC00:0000:0006:0000::/64 leads the packet along the shortest path to </a:t>
            </a:r>
            <a:r>
              <a:rPr lang="en-US" sz="1800" b="1" dirty="0"/>
              <a:t>6</a:t>
            </a:r>
            <a:r>
              <a:rPr lang="en-US" sz="1800" dirty="0"/>
              <a:t> and finishes the micro-program in the DA</a:t>
            </a:r>
          </a:p>
          <a:p>
            <a:pPr lvl="1"/>
            <a:r>
              <a:rPr lang="en-US" sz="1800" dirty="0"/>
              <a:t>The next SID is then loaded from the SRH into the DA</a:t>
            </a:r>
          </a:p>
          <a:p>
            <a:pPr lvl="1"/>
            <a:r>
              <a:rPr lang="en-US" sz="1800" dirty="0"/>
              <a:t>The packet resumes its path to </a:t>
            </a:r>
            <a:r>
              <a:rPr lang="en-US" sz="1800" b="1" dirty="0"/>
              <a:t>2</a:t>
            </a:r>
            <a:r>
              <a:rPr lang="en-US" sz="1800" dirty="0"/>
              <a:t> with original DA = FC00:0000:0002:F009::</a:t>
            </a:r>
          </a:p>
        </p:txBody>
      </p:sp>
      <p:sp>
        <p:nvSpPr>
          <p:cNvPr id="3" name="Text Placeholder 2">
            <a:extLst>
              <a:ext uri="{FF2B5EF4-FFF2-40B4-BE49-F238E27FC236}">
                <a16:creationId xmlns:a16="http://schemas.microsoft.com/office/drawing/2014/main" id="{163E9446-705E-48A3-5F8A-B7DD800CF513}"/>
              </a:ext>
            </a:extLst>
          </p:cNvPr>
          <p:cNvSpPr>
            <a:spLocks noGrp="1"/>
          </p:cNvSpPr>
          <p:nvPr>
            <p:ph type="body" sz="quarter" idx="11"/>
          </p:nvPr>
        </p:nvSpPr>
        <p:spPr/>
        <p:txBody>
          <a:bodyPr/>
          <a:lstStyle/>
          <a:p>
            <a:r>
              <a:rPr lang="en-US" dirty="0"/>
              <a:t>TI-LFA with uSID (protection active)</a:t>
            </a:r>
          </a:p>
        </p:txBody>
      </p:sp>
      <p:sp>
        <p:nvSpPr>
          <p:cNvPr id="11" name="Rectangle 10">
            <a:extLst>
              <a:ext uri="{FF2B5EF4-FFF2-40B4-BE49-F238E27FC236}">
                <a16:creationId xmlns:a16="http://schemas.microsoft.com/office/drawing/2014/main" id="{DC537A04-BF3A-78FE-3528-74AF872B914D}"/>
              </a:ext>
            </a:extLst>
          </p:cNvPr>
          <p:cNvSpPr/>
          <p:nvPr/>
        </p:nvSpPr>
        <p:spPr>
          <a:xfrm>
            <a:off x="0" y="967140"/>
            <a:ext cx="1341744" cy="5627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 Placeholder 3">
            <a:extLst>
              <a:ext uri="{FF2B5EF4-FFF2-40B4-BE49-F238E27FC236}">
                <a16:creationId xmlns:a16="http://schemas.microsoft.com/office/drawing/2014/main" id="{EDFA3A01-F2B6-FFB5-AB0D-C8E4DEF1B258}"/>
              </a:ext>
            </a:extLst>
          </p:cNvPr>
          <p:cNvSpPr txBox="1">
            <a:spLocks/>
          </p:cNvSpPr>
          <p:nvPr/>
        </p:nvSpPr>
        <p:spPr>
          <a:xfrm>
            <a:off x="7072771" y="3149256"/>
            <a:ext cx="4896491" cy="1777481"/>
          </a:xfrm>
          <a:prstGeom prst="rect">
            <a:avLst/>
          </a:prstGeom>
        </p:spPr>
        <p:txBody>
          <a:bodyPr/>
          <a:lstStyle>
            <a:lvl1pPr marL="285750" indent="-285750" algn="l" defTabSz="914400" rtl="0" eaLnBrk="1" latinLnBrk="0" hangingPunct="1">
              <a:lnSpc>
                <a:spcPct val="100000"/>
              </a:lnSpc>
              <a:spcBef>
                <a:spcPts val="1000"/>
              </a:spcBef>
              <a:buClr>
                <a:schemeClr val="tx2"/>
              </a:buClr>
              <a:buFont typeface="Arial" panose="020B0604020202020204" pitchFamily="34" charset="0"/>
              <a:buChar char="•"/>
              <a:defRPr sz="2400" b="0" kern="1200">
                <a:solidFill>
                  <a:schemeClr val="tx1"/>
                </a:solidFill>
                <a:latin typeface="+mn-lt"/>
                <a:ea typeface="+mn-ea"/>
                <a:cs typeface="+mn-cs"/>
              </a:defRPr>
            </a:lvl1pPr>
            <a:lvl2pPr marL="800100" indent="-342900" algn="l" defTabSz="914400" rtl="0" eaLnBrk="1" latinLnBrk="0" hangingPunct="1">
              <a:lnSpc>
                <a:spcPct val="100000"/>
              </a:lnSpc>
              <a:spcBef>
                <a:spcPts val="500"/>
              </a:spcBef>
              <a:buClr>
                <a:schemeClr val="tx2"/>
              </a:buClr>
              <a:buFont typeface="Arial" panose="020B0604020202020204" pitchFamily="34" charset="0"/>
              <a:buChar char="–"/>
              <a:defRPr sz="2400" b="0" kern="1200">
                <a:solidFill>
                  <a:schemeClr val="tx1"/>
                </a:solidFill>
                <a:latin typeface="+mn-lt"/>
                <a:ea typeface="+mn-ea"/>
                <a:cs typeface="+mn-cs"/>
              </a:defRPr>
            </a:lvl2pPr>
            <a:lvl3pPr marL="1200150" indent="-285750" algn="l" defTabSz="914400" rtl="0" eaLnBrk="1" latinLnBrk="0" hangingPunct="1">
              <a:lnSpc>
                <a:spcPct val="100000"/>
              </a:lnSpc>
              <a:spcBef>
                <a:spcPts val="500"/>
              </a:spcBef>
              <a:buClr>
                <a:schemeClr val="tx2"/>
              </a:buClr>
              <a:buFont typeface="Wingdings" panose="05000000000000000000" pitchFamily="2" charset="2"/>
              <a:buChar char="§"/>
              <a:defRPr sz="2400" b="0" kern="1200">
                <a:solidFill>
                  <a:schemeClr val="tx1"/>
                </a:solidFill>
                <a:latin typeface="+mn-lt"/>
                <a:ea typeface="+mn-ea"/>
                <a:cs typeface="+mn-cs"/>
              </a:defRPr>
            </a:lvl3pPr>
            <a:lvl4pPr marL="1657350" indent="-285750" algn="l" defTabSz="914400" rtl="0" eaLnBrk="1" latinLnBrk="0" hangingPunct="1">
              <a:lnSpc>
                <a:spcPct val="100000"/>
              </a:lnSpc>
              <a:spcBef>
                <a:spcPts val="500"/>
              </a:spcBef>
              <a:buClr>
                <a:schemeClr val="tx2"/>
              </a:buClr>
              <a:buFont typeface="Courier New" panose="02070309020205020404" pitchFamily="49" charset="0"/>
              <a:buChar char="o"/>
              <a:defRPr sz="2400" b="0" kern="1200">
                <a:solidFill>
                  <a:schemeClr val="tx1"/>
                </a:solidFill>
                <a:latin typeface="+mn-lt"/>
                <a:ea typeface="+mn-ea"/>
                <a:cs typeface="+mn-cs"/>
              </a:defRPr>
            </a:lvl4pPr>
            <a:lvl5pPr marL="2114550" indent="-285750" algn="l" defTabSz="914400" rtl="0" eaLnBrk="1" latinLnBrk="0" hangingPunct="1">
              <a:lnSpc>
                <a:spcPct val="100000"/>
              </a:lnSpc>
              <a:spcBef>
                <a:spcPts val="500"/>
              </a:spcBef>
              <a:buClr>
                <a:schemeClr val="tx2"/>
              </a:buClr>
              <a:buFont typeface="Arial" panose="020B0604020202020204" pitchFamily="34" charset="0"/>
              <a:buChar char="•"/>
              <a:defRPr sz="2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Upon failure of its outgoing interface to destination FC00:0000:0002::/48, </a:t>
            </a:r>
            <a:r>
              <a:rPr lang="en-US" sz="1800" b="1" dirty="0"/>
              <a:t>3</a:t>
            </a:r>
            <a:r>
              <a:rPr lang="en-US" sz="1800" dirty="0"/>
              <a:t> does</a:t>
            </a:r>
          </a:p>
          <a:p>
            <a:pPr lvl="1"/>
            <a:r>
              <a:rPr lang="en-US" sz="1800" dirty="0"/>
              <a:t>Add an SRH with the received DA </a:t>
            </a:r>
            <a:r>
              <a:rPr lang="en-US" sz="1800" dirty="0">
                <a:solidFill>
                  <a:srgbClr val="00B0F0"/>
                </a:solidFill>
              </a:rPr>
              <a:t>FC00:0000:0002:F009::</a:t>
            </a:r>
          </a:p>
          <a:p>
            <a:pPr lvl="1"/>
            <a:r>
              <a:rPr lang="en-US" sz="1800" dirty="0"/>
              <a:t>Set DA to </a:t>
            </a:r>
            <a:r>
              <a:rPr lang="en-US" sz="1800" dirty="0">
                <a:solidFill>
                  <a:srgbClr val="00B050"/>
                </a:solidFill>
              </a:rPr>
              <a:t>FC00:0000:0005:</a:t>
            </a:r>
            <a:r>
              <a:rPr lang="en-US" sz="1800" dirty="0">
                <a:solidFill>
                  <a:srgbClr val="7030A0"/>
                </a:solidFill>
              </a:rPr>
              <a:t>0006</a:t>
            </a:r>
            <a:r>
              <a:rPr lang="en-US" sz="1800" dirty="0">
                <a:solidFill>
                  <a:srgbClr val="00B050"/>
                </a:solidFill>
              </a:rPr>
              <a:t>:</a:t>
            </a:r>
            <a:r>
              <a:rPr lang="en-US" sz="1800" dirty="0"/>
              <a:t>:</a:t>
            </a:r>
          </a:p>
        </p:txBody>
      </p:sp>
      <p:sp>
        <p:nvSpPr>
          <p:cNvPr id="13" name="Oval 12">
            <a:extLst>
              <a:ext uri="{FF2B5EF4-FFF2-40B4-BE49-F238E27FC236}">
                <a16:creationId xmlns:a16="http://schemas.microsoft.com/office/drawing/2014/main" id="{791549F4-ECDF-794D-DB5D-6FEAEE86B5FD}"/>
              </a:ext>
            </a:extLst>
          </p:cNvPr>
          <p:cNvSpPr/>
          <p:nvPr/>
        </p:nvSpPr>
        <p:spPr>
          <a:xfrm>
            <a:off x="4836318" y="6090549"/>
            <a:ext cx="360522" cy="365466"/>
          </a:xfrm>
          <a:prstGeom prst="ellipse">
            <a:avLst/>
          </a:prstGeom>
          <a:solidFill>
            <a:srgbClr val="FFFF00">
              <a:alpha val="25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4E58E02-1954-1D4C-7B2D-6D0F4B8D8051}"/>
              </a:ext>
            </a:extLst>
          </p:cNvPr>
          <p:cNvSpPr/>
          <p:nvPr/>
        </p:nvSpPr>
        <p:spPr>
          <a:xfrm>
            <a:off x="8801649" y="5219900"/>
            <a:ext cx="360522" cy="365466"/>
          </a:xfrm>
          <a:prstGeom prst="ellipse">
            <a:avLst/>
          </a:prstGeom>
          <a:solidFill>
            <a:srgbClr val="FFFF00">
              <a:alpha val="25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D957280-2409-7286-C8E4-FDC25C7B1B01}"/>
              </a:ext>
            </a:extLst>
          </p:cNvPr>
          <p:cNvSpPr/>
          <p:nvPr/>
        </p:nvSpPr>
        <p:spPr>
          <a:xfrm>
            <a:off x="8219598" y="4844792"/>
            <a:ext cx="360522" cy="365466"/>
          </a:xfrm>
          <a:prstGeom prst="ellipse">
            <a:avLst/>
          </a:prstGeom>
          <a:solidFill>
            <a:srgbClr val="FFFF00">
              <a:alpha val="25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C7C6164-43F2-26E1-C560-DDF997C29259}"/>
              </a:ext>
            </a:extLst>
          </p:cNvPr>
          <p:cNvSpPr/>
          <p:nvPr/>
        </p:nvSpPr>
        <p:spPr>
          <a:xfrm>
            <a:off x="10779918" y="3441823"/>
            <a:ext cx="360522" cy="365466"/>
          </a:xfrm>
          <a:prstGeom prst="ellipse">
            <a:avLst/>
          </a:prstGeom>
          <a:solidFill>
            <a:srgbClr val="FFFF00">
              <a:alpha val="25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315261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384DAF7-9105-22A9-AA51-D67D90FF7BD3}"/>
              </a:ext>
            </a:extLst>
          </p:cNvPr>
          <p:cNvSpPr>
            <a:spLocks noGrp="1"/>
          </p:cNvSpPr>
          <p:nvPr>
            <p:ph type="body" sz="quarter" idx="10"/>
          </p:nvPr>
        </p:nvSpPr>
        <p:spPr/>
        <p:txBody>
          <a:bodyPr/>
          <a:lstStyle/>
          <a:p>
            <a:r>
              <a:rPr lang="en-US" sz="1800" b="1" dirty="0"/>
              <a:t>Global ID block</a:t>
            </a:r>
            <a:r>
              <a:rPr lang="en-US" sz="1800" dirty="0"/>
              <a:t> (</a:t>
            </a:r>
            <a:r>
              <a:rPr lang="en-US" sz="1800" b="1" dirty="0"/>
              <a:t>GIB</a:t>
            </a:r>
            <a:r>
              <a:rPr lang="en-US" sz="1800" dirty="0"/>
              <a:t>): The set of IDs available for globally scoped uSID allocation.</a:t>
            </a:r>
          </a:p>
          <a:p>
            <a:pPr lvl="1"/>
            <a:r>
              <a:rPr lang="en-US" sz="1800" dirty="0"/>
              <a:t>A globally scoped uSID is the type of uSID that provides reachability to a node. A globally scoped uSID typically identifies a shortest path to a node in the SR domain. An IP route (for example, /48) is advertised by the parent node to each of its globally scoped </a:t>
            </a:r>
            <a:r>
              <a:rPr lang="en-US" sz="1800" dirty="0" err="1"/>
              <a:t>uSIDs</a:t>
            </a:r>
            <a:r>
              <a:rPr lang="en-US" sz="1800" dirty="0"/>
              <a:t>, under the associated uSID block. The parent node executes a variant of the END behavior.</a:t>
            </a:r>
          </a:p>
          <a:p>
            <a:pPr lvl="1"/>
            <a:r>
              <a:rPr lang="en-US" sz="1800" dirty="0"/>
              <a:t>The “nodal” uSID (</a:t>
            </a:r>
            <a:r>
              <a:rPr lang="en-US" sz="1800" dirty="0" err="1"/>
              <a:t>uN</a:t>
            </a:r>
            <a:r>
              <a:rPr lang="en-US" sz="1800" dirty="0"/>
              <a:t>) is an example of a globally scoped behavior defined in uSID architecture.</a:t>
            </a:r>
          </a:p>
          <a:p>
            <a:pPr lvl="1"/>
            <a:r>
              <a:rPr lang="en-US" sz="1800" dirty="0"/>
              <a:t>A node can have multiple globally scoped </a:t>
            </a:r>
            <a:r>
              <a:rPr lang="en-US" sz="1800" dirty="0" err="1"/>
              <a:t>uSIDs</a:t>
            </a:r>
            <a:r>
              <a:rPr lang="en-US" sz="1800" dirty="0"/>
              <a:t> under the same uSID blocks (for example, one uSID per IGP flex-algorithm). Multiple nodes may share the same globally scoped uSID (Anycast).</a:t>
            </a:r>
          </a:p>
          <a:p>
            <a:r>
              <a:rPr lang="en-US" sz="1800" b="1" dirty="0"/>
              <a:t>Local ID block (LIB)</a:t>
            </a:r>
            <a:r>
              <a:rPr lang="en-US" sz="1800" dirty="0"/>
              <a:t>: The set of IDs available for locally scoped uSID allocation.</a:t>
            </a:r>
          </a:p>
          <a:p>
            <a:pPr lvl="1"/>
            <a:r>
              <a:rPr lang="en-US" sz="1800" dirty="0"/>
              <a:t>A locally scoped uSID is associated to a local behavior, and therefore must be preceded by a globally scoped uSID of the parent node when relying on routing to forward the packet.</a:t>
            </a:r>
          </a:p>
          <a:p>
            <a:pPr lvl="1"/>
            <a:r>
              <a:rPr lang="en-US" sz="1800" dirty="0"/>
              <a:t>A locally scoped uSID identifies a local micro-instruction on the parent node; for example, it may identify a cross-connect to a direct neighbor over a specific interface or a VPN context. Locally scoped </a:t>
            </a:r>
            <a:r>
              <a:rPr lang="en-US" sz="1800" dirty="0" err="1"/>
              <a:t>uSIDs</a:t>
            </a:r>
            <a:r>
              <a:rPr lang="en-US" sz="1800" dirty="0"/>
              <a:t> are not </a:t>
            </a:r>
            <a:r>
              <a:rPr lang="en-US" sz="1800" dirty="0" err="1"/>
              <a:t>routeable</a:t>
            </a:r>
            <a:r>
              <a:rPr lang="en-US" sz="1800" dirty="0"/>
              <a:t>.</a:t>
            </a:r>
          </a:p>
          <a:p>
            <a:r>
              <a:rPr lang="en-US" sz="1800" b="1" dirty="0"/>
              <a:t>Wide LIB (W-LIB)</a:t>
            </a:r>
            <a:r>
              <a:rPr lang="en-US" sz="1800" dirty="0"/>
              <a:t>: The extended set of </a:t>
            </a:r>
            <a:r>
              <a:rPr lang="en-US" sz="1800" dirty="0">
                <a:highlight>
                  <a:srgbClr val="9398E2"/>
                </a:highlight>
              </a:rPr>
              <a:t>IDs available for local uSID </a:t>
            </a:r>
            <a:r>
              <a:rPr lang="en-US" sz="1800" dirty="0"/>
              <a:t>allocation.</a:t>
            </a:r>
            <a:endParaRPr lang="cs-CZ" sz="1800" dirty="0"/>
          </a:p>
          <a:p>
            <a:pPr lvl="1"/>
            <a:r>
              <a:rPr lang="en-US" sz="1800" dirty="0"/>
              <a:t>The extended set of IDs is useful when a PE with large-scale Pseudowire termination requires more local </a:t>
            </a:r>
            <a:r>
              <a:rPr lang="en-US" sz="1800" dirty="0" err="1"/>
              <a:t>uSIDs</a:t>
            </a:r>
            <a:r>
              <a:rPr lang="en-US" sz="1800" dirty="0"/>
              <a:t> than provided from the LIB.</a:t>
            </a:r>
          </a:p>
          <a:p>
            <a:endParaRPr lang="en-US" sz="1800" dirty="0"/>
          </a:p>
        </p:txBody>
      </p:sp>
      <p:sp>
        <p:nvSpPr>
          <p:cNvPr id="3" name="Text Placeholder 2">
            <a:extLst>
              <a:ext uri="{FF2B5EF4-FFF2-40B4-BE49-F238E27FC236}">
                <a16:creationId xmlns:a16="http://schemas.microsoft.com/office/drawing/2014/main" id="{83B0A047-8D4C-356D-C3F4-C6E531254ED5}"/>
              </a:ext>
            </a:extLst>
          </p:cNvPr>
          <p:cNvSpPr>
            <a:spLocks noGrp="1"/>
          </p:cNvSpPr>
          <p:nvPr>
            <p:ph type="body" sz="quarter" idx="11"/>
          </p:nvPr>
        </p:nvSpPr>
        <p:spPr/>
        <p:txBody>
          <a:bodyPr/>
          <a:lstStyle/>
          <a:p>
            <a:r>
              <a:rPr lang="en-US" dirty="0"/>
              <a:t>uSID</a:t>
            </a:r>
          </a:p>
        </p:txBody>
      </p:sp>
    </p:spTree>
    <p:extLst>
      <p:ext uri="{BB962C8B-B14F-4D97-AF65-F5344CB8AC3E}">
        <p14:creationId xmlns:p14="http://schemas.microsoft.com/office/powerpoint/2010/main" val="305498225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C051A8B-3075-304E-75CD-436332C8E770}"/>
              </a:ext>
            </a:extLst>
          </p:cNvPr>
          <p:cNvSpPr>
            <a:spLocks noGrp="1"/>
          </p:cNvSpPr>
          <p:nvPr>
            <p:ph type="body" sz="quarter" idx="10"/>
          </p:nvPr>
        </p:nvSpPr>
        <p:spPr/>
        <p:txBody>
          <a:bodyPr/>
          <a:lstStyle/>
          <a:p>
            <a:r>
              <a:rPr lang="en-US" sz="2000" dirty="0" err="1"/>
              <a:t>uSID</a:t>
            </a:r>
            <a:r>
              <a:rPr lang="en-US" sz="2000" dirty="0"/>
              <a:t> Locator Block length: 32 bits</a:t>
            </a:r>
          </a:p>
          <a:p>
            <a:pPr lvl="1"/>
            <a:r>
              <a:rPr lang="en-US" sz="2000" dirty="0" err="1"/>
              <a:t>uSID</a:t>
            </a:r>
            <a:r>
              <a:rPr lang="en-US" sz="2000" dirty="0"/>
              <a:t> Locator Block: </a:t>
            </a:r>
            <a:r>
              <a:rPr lang="en-US" sz="2000" b="1" dirty="0" err="1"/>
              <a:t>FCBB:BB00</a:t>
            </a:r>
            <a:r>
              <a:rPr lang="en-US" sz="2000" b="1" dirty="0"/>
              <a:t>::/32 </a:t>
            </a:r>
            <a:r>
              <a:rPr lang="en-US" sz="1400" dirty="0"/>
              <a:t>(with B being a nibble value picked by operator)</a:t>
            </a:r>
            <a:endParaRPr lang="en-US" sz="2000" dirty="0"/>
          </a:p>
          <a:p>
            <a:r>
              <a:rPr lang="en-US" sz="2000" dirty="0" err="1"/>
              <a:t>uSID</a:t>
            </a:r>
            <a:r>
              <a:rPr lang="en-US" sz="2000" dirty="0"/>
              <a:t> length (Locator Node ID / Function ID): 16 bits</a:t>
            </a:r>
          </a:p>
          <a:p>
            <a:pPr lvl="1"/>
            <a:r>
              <a:rPr lang="en-US" sz="2000" dirty="0" err="1"/>
              <a:t>uSID</a:t>
            </a:r>
            <a:r>
              <a:rPr lang="en-US" sz="2000" dirty="0"/>
              <a:t>: </a:t>
            </a:r>
            <a:r>
              <a:rPr lang="en-US" sz="2000" b="1" dirty="0" err="1"/>
              <a:t>FCBB:BB00:</a:t>
            </a:r>
            <a:r>
              <a:rPr lang="en-US" sz="2000" dirty="0" err="1"/>
              <a:t>XYWZ</a:t>
            </a:r>
            <a:r>
              <a:rPr lang="en-US" sz="2000" b="1" dirty="0"/>
              <a:t>::/48 </a:t>
            </a:r>
            <a:r>
              <a:rPr lang="en-US" sz="1400" dirty="0"/>
              <a:t>(with </a:t>
            </a:r>
            <a:r>
              <a:rPr lang="en-US" sz="1400" dirty="0" err="1"/>
              <a:t>XYWZ</a:t>
            </a:r>
            <a:r>
              <a:rPr lang="en-US" sz="1400" dirty="0"/>
              <a:t> being variable nibbles)</a:t>
            </a:r>
          </a:p>
          <a:p>
            <a:pPr marL="0" indent="0">
              <a:buNone/>
            </a:pPr>
            <a:r>
              <a:rPr lang="en-US" sz="2000" dirty="0"/>
              <a:t>A </a:t>
            </a:r>
            <a:r>
              <a:rPr lang="en-US" sz="2000" dirty="0" err="1"/>
              <a:t>uSID</a:t>
            </a:r>
            <a:r>
              <a:rPr lang="en-US" sz="2000" dirty="0"/>
              <a:t> </a:t>
            </a:r>
            <a:r>
              <a:rPr lang="en-US" sz="2000" b="1" dirty="0" err="1"/>
              <a:t>FCBB:BB00:</a:t>
            </a:r>
            <a:r>
              <a:rPr lang="en-US" sz="2000" dirty="0" err="1"/>
              <a:t>XYWZ</a:t>
            </a:r>
            <a:r>
              <a:rPr lang="en-US" sz="2000" b="1" dirty="0"/>
              <a:t>::/48 </a:t>
            </a:r>
            <a:r>
              <a:rPr lang="en-US" sz="2000" dirty="0"/>
              <a:t>is said to be allocated from its block (</a:t>
            </a:r>
            <a:r>
              <a:rPr lang="en-US" sz="2000" b="1" dirty="0" err="1"/>
              <a:t>FCBB:BB00</a:t>
            </a:r>
            <a:r>
              <a:rPr lang="en-US" sz="2000" b="1" dirty="0"/>
              <a:t>::/32</a:t>
            </a:r>
            <a:r>
              <a:rPr lang="en-US" sz="2000" dirty="0"/>
              <a:t>).</a:t>
            </a:r>
          </a:p>
          <a:p>
            <a:pPr marL="0" indent="0">
              <a:buNone/>
            </a:pPr>
            <a:r>
              <a:rPr lang="en-US" sz="2000" dirty="0"/>
              <a:t>A </a:t>
            </a:r>
            <a:r>
              <a:rPr lang="en-US" sz="2000" dirty="0" err="1"/>
              <a:t>uSID</a:t>
            </a:r>
            <a:r>
              <a:rPr lang="en-US" sz="2000" dirty="0"/>
              <a:t> is allocated from the GIB or LIB of block </a:t>
            </a:r>
            <a:r>
              <a:rPr lang="en-US" sz="2000" b="1" dirty="0" err="1"/>
              <a:t>FCBB:BB00</a:t>
            </a:r>
            <a:r>
              <a:rPr lang="en-US" sz="2000" b="1" dirty="0"/>
              <a:t>::/32 </a:t>
            </a:r>
            <a:r>
              <a:rPr lang="en-US" sz="2000" dirty="0"/>
              <a:t>depending on the value of the "X" nibble: </a:t>
            </a:r>
          </a:p>
          <a:p>
            <a:pPr lvl="1"/>
            <a:r>
              <a:rPr lang="en-US" sz="2000" dirty="0"/>
              <a:t>GIB: nibble X from hex(</a:t>
            </a:r>
            <a:r>
              <a:rPr lang="en-US" sz="2000" b="1" dirty="0"/>
              <a:t>0</a:t>
            </a:r>
            <a:r>
              <a:rPr lang="en-US" sz="2000" dirty="0"/>
              <a:t>) to hex(</a:t>
            </a:r>
            <a:r>
              <a:rPr lang="en-US" sz="2000" b="1" dirty="0"/>
              <a:t>D</a:t>
            </a:r>
            <a:r>
              <a:rPr lang="en-US" sz="2000" dirty="0"/>
              <a:t>) </a:t>
            </a:r>
          </a:p>
          <a:p>
            <a:pPr lvl="1"/>
            <a:r>
              <a:rPr lang="en-US" sz="2000" dirty="0"/>
              <a:t>LIB: nibble X hex(</a:t>
            </a:r>
            <a:r>
              <a:rPr lang="en-US" sz="2000" b="1" dirty="0"/>
              <a:t>E</a:t>
            </a:r>
            <a:r>
              <a:rPr lang="en-US" sz="2000" dirty="0"/>
              <a:t>) or hex(</a:t>
            </a:r>
            <a:r>
              <a:rPr lang="en-US" sz="2000" b="1" dirty="0"/>
              <a:t>F</a:t>
            </a:r>
            <a:r>
              <a:rPr lang="en-US" sz="2000" dirty="0"/>
              <a:t>) </a:t>
            </a:r>
          </a:p>
          <a:p>
            <a:pPr marL="0" indent="0">
              <a:buNone/>
            </a:pPr>
            <a:r>
              <a:rPr lang="en-US" sz="2000" dirty="0"/>
              <a:t>   </a:t>
            </a:r>
          </a:p>
          <a:p>
            <a:r>
              <a:rPr lang="en-US" sz="2000" dirty="0" err="1"/>
              <a:t>uSID</a:t>
            </a:r>
            <a:r>
              <a:rPr lang="en-US" sz="2000" dirty="0"/>
              <a:t> Block </a:t>
            </a:r>
            <a:r>
              <a:rPr lang="en-US" sz="2000" dirty="0" err="1"/>
              <a:t>FCBB:BB00</a:t>
            </a:r>
            <a:r>
              <a:rPr lang="en-US" sz="2000" dirty="0"/>
              <a:t>::/32 supports </a:t>
            </a:r>
            <a:endParaRPr lang="cs-CZ" sz="2000" dirty="0"/>
          </a:p>
          <a:p>
            <a:pPr lvl="1"/>
            <a:r>
              <a:rPr lang="en-US" sz="2000" dirty="0"/>
              <a:t>up to </a:t>
            </a:r>
            <a:r>
              <a:rPr lang="en-US" sz="2000" dirty="0">
                <a:solidFill>
                  <a:srgbClr val="4F81BC"/>
                </a:solidFill>
              </a:rPr>
              <a:t>57343</a:t>
            </a:r>
            <a:r>
              <a:rPr lang="en-US" sz="2000" dirty="0"/>
              <a:t> global </a:t>
            </a:r>
            <a:r>
              <a:rPr lang="en-US" sz="2000" dirty="0" err="1"/>
              <a:t>uSIDs</a:t>
            </a:r>
            <a:r>
              <a:rPr lang="en-US" sz="2000" dirty="0"/>
              <a:t> (routers) </a:t>
            </a:r>
            <a:endParaRPr lang="cs-CZ" sz="2000" dirty="0"/>
          </a:p>
          <a:p>
            <a:pPr lvl="1"/>
            <a:r>
              <a:rPr lang="en-US" sz="2000" dirty="0"/>
              <a:t>with each router supporting up to </a:t>
            </a:r>
            <a:r>
              <a:rPr lang="en-US" sz="2000" dirty="0">
                <a:solidFill>
                  <a:srgbClr val="FDC003"/>
                </a:solidFill>
              </a:rPr>
              <a:t>8192</a:t>
            </a:r>
            <a:r>
              <a:rPr lang="en-US" sz="2000" dirty="0"/>
              <a:t> local </a:t>
            </a:r>
            <a:r>
              <a:rPr lang="en-US" sz="2000" dirty="0" err="1"/>
              <a:t>uSIDs</a:t>
            </a:r>
            <a:r>
              <a:rPr lang="en-US" sz="2000" dirty="0"/>
              <a:t>. </a:t>
            </a:r>
          </a:p>
          <a:p>
            <a:endParaRPr lang="en-US" sz="2000" dirty="0"/>
          </a:p>
        </p:txBody>
      </p:sp>
      <p:sp>
        <p:nvSpPr>
          <p:cNvPr id="3" name="Text Placeholder 2">
            <a:extLst>
              <a:ext uri="{FF2B5EF4-FFF2-40B4-BE49-F238E27FC236}">
                <a16:creationId xmlns:a16="http://schemas.microsoft.com/office/drawing/2014/main" id="{11F8C6F4-271D-6E31-C633-9FC9039A8965}"/>
              </a:ext>
            </a:extLst>
          </p:cNvPr>
          <p:cNvSpPr>
            <a:spLocks noGrp="1"/>
          </p:cNvSpPr>
          <p:nvPr>
            <p:ph type="body" sz="quarter" idx="11"/>
          </p:nvPr>
        </p:nvSpPr>
        <p:spPr/>
        <p:txBody>
          <a:bodyPr/>
          <a:lstStyle/>
          <a:p>
            <a:r>
              <a:rPr lang="cs-CZ" dirty="0" err="1"/>
              <a:t>uSID</a:t>
            </a:r>
            <a:r>
              <a:rPr lang="cs-CZ" dirty="0"/>
              <a:t> </a:t>
            </a:r>
            <a:r>
              <a:rPr lang="cs-CZ" dirty="0" err="1"/>
              <a:t>example</a:t>
            </a:r>
            <a:r>
              <a:rPr lang="cs-CZ" dirty="0"/>
              <a:t> (</a:t>
            </a:r>
            <a:r>
              <a:rPr lang="cs-CZ" dirty="0" err="1"/>
              <a:t>F3216</a:t>
            </a:r>
            <a:r>
              <a:rPr lang="cs-CZ" dirty="0"/>
              <a:t>)</a:t>
            </a:r>
            <a:endParaRPr lang="en-US" dirty="0"/>
          </a:p>
        </p:txBody>
      </p:sp>
      <p:pic>
        <p:nvPicPr>
          <p:cNvPr id="3074" name="Picture 2">
            <a:hlinkClick r:id="rId2" tooltip="Related image, diagram or screenshot."/>
            <a:extLst>
              <a:ext uri="{FF2B5EF4-FFF2-40B4-BE49-F238E27FC236}">
                <a16:creationId xmlns:a16="http://schemas.microsoft.com/office/drawing/2014/main" id="{799C9D89-A394-0986-7649-9412382D98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3407014"/>
            <a:ext cx="2209800" cy="3438525"/>
          </a:xfrm>
          <a:prstGeom prst="rect">
            <a:avLst/>
          </a:prstGeom>
          <a:noFill/>
          <a:extLst>
            <a:ext uri="{909E8E84-426E-40DD-AFC4-6F175D3DCCD1}">
              <a14:hiddenFill xmlns:a14="http://schemas.microsoft.com/office/drawing/2010/main">
                <a:solidFill>
                  <a:srgbClr val="FFFFFF"/>
                </a:solidFill>
              </a14:hiddenFill>
            </a:ext>
          </a:extLst>
        </p:spPr>
      </p:pic>
      <p:sp>
        <p:nvSpPr>
          <p:cNvPr id="5" name="Left Brace 4">
            <a:extLst>
              <a:ext uri="{FF2B5EF4-FFF2-40B4-BE49-F238E27FC236}">
                <a16:creationId xmlns:a16="http://schemas.microsoft.com/office/drawing/2014/main" id="{FDFEA75E-C54E-7830-F979-664C6A384FA6}"/>
              </a:ext>
            </a:extLst>
          </p:cNvPr>
          <p:cNvSpPr/>
          <p:nvPr/>
        </p:nvSpPr>
        <p:spPr>
          <a:xfrm>
            <a:off x="8112918" y="3789680"/>
            <a:ext cx="319881" cy="1686560"/>
          </a:xfrm>
          <a:prstGeom prst="leftBrace">
            <a:avLst>
              <a:gd name="adj1" fmla="val 8333"/>
              <a:gd name="adj2" fmla="val 48795"/>
            </a:avLst>
          </a:prstGeom>
          <a:ln>
            <a:solidFill>
              <a:srgbClr val="4F81BC"/>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6" name="Left Brace 5">
            <a:extLst>
              <a:ext uri="{FF2B5EF4-FFF2-40B4-BE49-F238E27FC236}">
                <a16:creationId xmlns:a16="http://schemas.microsoft.com/office/drawing/2014/main" id="{44F6DD99-4F66-E909-C47F-EF8EEE01E9C2}"/>
              </a:ext>
            </a:extLst>
          </p:cNvPr>
          <p:cNvSpPr/>
          <p:nvPr/>
        </p:nvSpPr>
        <p:spPr>
          <a:xfrm>
            <a:off x="8112918" y="5476240"/>
            <a:ext cx="319881" cy="1290320"/>
          </a:xfrm>
          <a:prstGeom prst="leftBrace">
            <a:avLst>
              <a:gd name="adj1" fmla="val 8333"/>
              <a:gd name="adj2" fmla="val 48795"/>
            </a:avLst>
          </a:prstGeom>
          <a:ln>
            <a:solidFill>
              <a:srgbClr val="FDC003"/>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06924161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C051A8B-3075-304E-75CD-436332C8E770}"/>
              </a:ext>
            </a:extLst>
          </p:cNvPr>
          <p:cNvSpPr>
            <a:spLocks noGrp="1"/>
          </p:cNvSpPr>
          <p:nvPr>
            <p:ph type="body" sz="quarter" idx="10"/>
          </p:nvPr>
        </p:nvSpPr>
        <p:spPr>
          <a:xfrm>
            <a:off x="873918" y="939338"/>
            <a:ext cx="10444163" cy="5345083"/>
          </a:xfrm>
        </p:spPr>
        <p:txBody>
          <a:bodyPr/>
          <a:lstStyle/>
          <a:p>
            <a:r>
              <a:rPr lang="en-US" sz="1600" dirty="0"/>
              <a:t>GIB for user-assigned IDs of global segments (</a:t>
            </a:r>
            <a:r>
              <a:rPr lang="en-US" sz="1600" dirty="0" err="1"/>
              <a:t>uNs</a:t>
            </a:r>
            <a:r>
              <a:rPr lang="en-US" sz="1600" dirty="0"/>
              <a:t>) </a:t>
            </a:r>
          </a:p>
          <a:p>
            <a:r>
              <a:rPr lang="en-US" sz="1600" dirty="0"/>
              <a:t>LIB for dynamically assigned IDs of local segments </a:t>
            </a:r>
          </a:p>
          <a:p>
            <a:pPr lvl="1"/>
            <a:r>
              <a:rPr lang="en-US" sz="1600" dirty="0" err="1"/>
              <a:t>uA</a:t>
            </a:r>
            <a:r>
              <a:rPr lang="en-US" sz="1600" dirty="0"/>
              <a:t> end-point behavior</a:t>
            </a:r>
          </a:p>
          <a:p>
            <a:pPr lvl="1"/>
            <a:r>
              <a:rPr lang="en-US" sz="1600" dirty="0"/>
              <a:t>Service de-multiplexing end-point behaviors: </a:t>
            </a:r>
            <a:r>
              <a:rPr lang="en-US" sz="1600" dirty="0" err="1"/>
              <a:t>End.DT</a:t>
            </a:r>
            <a:r>
              <a:rPr lang="en-US" sz="1600" dirty="0"/>
              <a:t>, </a:t>
            </a:r>
            <a:r>
              <a:rPr lang="en-US" sz="1600" dirty="0" err="1"/>
              <a:t>End.DX</a:t>
            </a:r>
            <a:r>
              <a:rPr lang="en-US" sz="1600" dirty="0"/>
              <a:t>, </a:t>
            </a:r>
            <a:r>
              <a:rPr lang="en-US" sz="1600" dirty="0" err="1"/>
              <a:t>End.DX2</a:t>
            </a:r>
            <a:endParaRPr lang="en-US" sz="1600" dirty="0"/>
          </a:p>
          <a:p>
            <a:r>
              <a:rPr lang="en-US" sz="1600" dirty="0"/>
              <a:t>Explicit LIB for user-assigned IDs of local segments</a:t>
            </a:r>
          </a:p>
          <a:p>
            <a:pPr lvl="1"/>
            <a:r>
              <a:rPr lang="en-US" sz="1600" dirty="0"/>
              <a:t>Configurable explicit LIB range</a:t>
            </a:r>
          </a:p>
          <a:p>
            <a:pPr lvl="1"/>
            <a:r>
              <a:rPr lang="en-US" sz="1600" dirty="0"/>
              <a:t>Service de-multiplexing end-point behaviors: </a:t>
            </a:r>
            <a:r>
              <a:rPr lang="en-US" sz="1600" dirty="0" err="1"/>
              <a:t>End.DT46</a:t>
            </a:r>
            <a:endParaRPr lang="en-US" sz="1600" dirty="0"/>
          </a:p>
          <a:p>
            <a:r>
              <a:rPr lang="en-US" sz="1600" dirty="0"/>
              <a:t>Wide LIB (W-LIB) </a:t>
            </a:r>
          </a:p>
          <a:p>
            <a:pPr lvl="1"/>
            <a:r>
              <a:rPr lang="en-US" sz="1600" dirty="0"/>
              <a:t>Explicit W-LIB for user-assigned IDs of local segments</a:t>
            </a:r>
          </a:p>
          <a:p>
            <a:pPr lvl="1"/>
            <a:r>
              <a:rPr lang="en-US" sz="1600" dirty="0"/>
              <a:t>Configurable explicit W-LIB range</a:t>
            </a:r>
          </a:p>
          <a:p>
            <a:pPr lvl="1"/>
            <a:r>
              <a:rPr lang="en-US" sz="1600" dirty="0"/>
              <a:t>Service de-multiplexing end-point behaviors: </a:t>
            </a:r>
            <a:r>
              <a:rPr lang="en-US" sz="1600" dirty="0" err="1"/>
              <a:t>End.DT46</a:t>
            </a:r>
            <a:endParaRPr lang="en-US" sz="1600" dirty="0"/>
          </a:p>
          <a:p>
            <a:r>
              <a:rPr lang="en-US" sz="1600" dirty="0"/>
              <a:t>Remote W-LIB</a:t>
            </a:r>
          </a:p>
          <a:p>
            <a:pPr lvl="1"/>
            <a:r>
              <a:rPr lang="en-US" sz="1600" dirty="0"/>
              <a:t>An SRv6 headend node is capable of receiving </a:t>
            </a:r>
            <a:endParaRPr lang="cs-CZ" sz="1600" dirty="0"/>
          </a:p>
          <a:p>
            <a:pPr marL="457200" lvl="1" indent="0">
              <a:buNone/>
            </a:pPr>
            <a:r>
              <a:rPr lang="cs-CZ" sz="1600" dirty="0"/>
              <a:t>      </a:t>
            </a:r>
            <a:r>
              <a:rPr lang="en-US" sz="1600" dirty="0"/>
              <a:t>and installing remote </a:t>
            </a:r>
            <a:r>
              <a:rPr lang="en-US" sz="1600" dirty="0" err="1"/>
              <a:t>SIDs</a:t>
            </a:r>
            <a:r>
              <a:rPr lang="en-US" sz="1600" dirty="0"/>
              <a:t> with Wide (32-bit) functions</a:t>
            </a:r>
          </a:p>
          <a:p>
            <a:pPr lvl="1"/>
            <a:r>
              <a:rPr lang="en-US" sz="1600" dirty="0"/>
              <a:t>Remote W-LIB is supported for Layer 3 (VPN/BGP global)</a:t>
            </a:r>
            <a:endParaRPr lang="cs-CZ" sz="1600" dirty="0"/>
          </a:p>
          <a:p>
            <a:pPr marL="457200" lvl="1" indent="0">
              <a:buNone/>
            </a:pPr>
            <a:r>
              <a:rPr lang="cs-CZ" sz="1600" dirty="0"/>
              <a:t>      </a:t>
            </a:r>
            <a:r>
              <a:rPr lang="en-US" sz="1600" dirty="0"/>
              <a:t>and Layer 2 EVPN services (ELINE/ELAN)</a:t>
            </a:r>
          </a:p>
          <a:p>
            <a:pPr lvl="1"/>
            <a:endParaRPr lang="en-US" sz="1600" dirty="0"/>
          </a:p>
          <a:p>
            <a:endParaRPr lang="en-US" sz="1600" dirty="0"/>
          </a:p>
        </p:txBody>
      </p:sp>
      <p:sp>
        <p:nvSpPr>
          <p:cNvPr id="3" name="Text Placeholder 2">
            <a:extLst>
              <a:ext uri="{FF2B5EF4-FFF2-40B4-BE49-F238E27FC236}">
                <a16:creationId xmlns:a16="http://schemas.microsoft.com/office/drawing/2014/main" id="{11F8C6F4-271D-6E31-C633-9FC9039A8965}"/>
              </a:ext>
            </a:extLst>
          </p:cNvPr>
          <p:cNvSpPr>
            <a:spLocks noGrp="1"/>
          </p:cNvSpPr>
          <p:nvPr>
            <p:ph type="body" sz="quarter" idx="11"/>
          </p:nvPr>
        </p:nvSpPr>
        <p:spPr/>
        <p:txBody>
          <a:bodyPr/>
          <a:lstStyle/>
          <a:p>
            <a:r>
              <a:rPr lang="cs-CZ" dirty="0" err="1"/>
              <a:t>uSID</a:t>
            </a:r>
            <a:r>
              <a:rPr lang="cs-CZ" dirty="0"/>
              <a:t> </a:t>
            </a:r>
            <a:r>
              <a:rPr lang="cs-CZ" dirty="0" err="1"/>
              <a:t>example</a:t>
            </a:r>
            <a:r>
              <a:rPr lang="cs-CZ" dirty="0"/>
              <a:t> (</a:t>
            </a:r>
            <a:r>
              <a:rPr lang="cs-CZ" dirty="0" err="1"/>
              <a:t>F3216</a:t>
            </a:r>
            <a:r>
              <a:rPr lang="cs-CZ" dirty="0"/>
              <a:t>) </a:t>
            </a:r>
            <a:r>
              <a:rPr lang="cs-CZ" dirty="0" err="1"/>
              <a:t>with</a:t>
            </a:r>
            <a:r>
              <a:rPr lang="cs-CZ" dirty="0"/>
              <a:t> W-LIB</a:t>
            </a:r>
            <a:endParaRPr lang="en-US" dirty="0"/>
          </a:p>
        </p:txBody>
      </p:sp>
      <p:sp>
        <p:nvSpPr>
          <p:cNvPr id="5" name="Left Brace 4">
            <a:extLst>
              <a:ext uri="{FF2B5EF4-FFF2-40B4-BE49-F238E27FC236}">
                <a16:creationId xmlns:a16="http://schemas.microsoft.com/office/drawing/2014/main" id="{FDFEA75E-C54E-7830-F979-664C6A384FA6}"/>
              </a:ext>
            </a:extLst>
          </p:cNvPr>
          <p:cNvSpPr/>
          <p:nvPr/>
        </p:nvSpPr>
        <p:spPr>
          <a:xfrm>
            <a:off x="7218838" y="2722880"/>
            <a:ext cx="319881" cy="1686560"/>
          </a:xfrm>
          <a:prstGeom prst="leftBrace">
            <a:avLst>
              <a:gd name="adj1" fmla="val 8333"/>
              <a:gd name="adj2" fmla="val 48795"/>
            </a:avLst>
          </a:prstGeom>
          <a:ln>
            <a:solidFill>
              <a:srgbClr val="4F81BC"/>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6" name="Left Brace 5">
            <a:extLst>
              <a:ext uri="{FF2B5EF4-FFF2-40B4-BE49-F238E27FC236}">
                <a16:creationId xmlns:a16="http://schemas.microsoft.com/office/drawing/2014/main" id="{44F6DD99-4F66-E909-C47F-EF8EEE01E9C2}"/>
              </a:ext>
            </a:extLst>
          </p:cNvPr>
          <p:cNvSpPr/>
          <p:nvPr/>
        </p:nvSpPr>
        <p:spPr>
          <a:xfrm>
            <a:off x="7218838" y="4409440"/>
            <a:ext cx="319881" cy="1290320"/>
          </a:xfrm>
          <a:prstGeom prst="leftBrace">
            <a:avLst>
              <a:gd name="adj1" fmla="val 8333"/>
              <a:gd name="adj2" fmla="val 48795"/>
            </a:avLst>
          </a:prstGeom>
          <a:ln>
            <a:solidFill>
              <a:srgbClr val="FDC003"/>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pic>
        <p:nvPicPr>
          <p:cNvPr id="7" name="Picture 6" descr="A diagram of different colors&#10;&#10;AI-generated content may be incorrect.">
            <a:extLst>
              <a:ext uri="{FF2B5EF4-FFF2-40B4-BE49-F238E27FC236}">
                <a16:creationId xmlns:a16="http://schemas.microsoft.com/office/drawing/2014/main" id="{B12A534E-F7D0-EF52-64D4-65FE58D92B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30160" y="2469618"/>
            <a:ext cx="4462779" cy="3230142"/>
          </a:xfrm>
          <a:prstGeom prst="rect">
            <a:avLst/>
          </a:prstGeom>
        </p:spPr>
      </p:pic>
    </p:spTree>
    <p:extLst>
      <p:ext uri="{BB962C8B-B14F-4D97-AF65-F5344CB8AC3E}">
        <p14:creationId xmlns:p14="http://schemas.microsoft.com/office/powerpoint/2010/main" val="398861284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C051A8B-3075-304E-75CD-436332C8E770}"/>
              </a:ext>
            </a:extLst>
          </p:cNvPr>
          <p:cNvSpPr>
            <a:spLocks noGrp="1"/>
          </p:cNvSpPr>
          <p:nvPr>
            <p:ph type="body" sz="quarter" idx="10"/>
          </p:nvPr>
        </p:nvSpPr>
        <p:spPr>
          <a:xfrm>
            <a:off x="873918" y="939338"/>
            <a:ext cx="10444163" cy="5345083"/>
          </a:xfrm>
        </p:spPr>
        <p:txBody>
          <a:bodyPr/>
          <a:lstStyle/>
          <a:p>
            <a:pPr lvl="1"/>
            <a:endParaRPr lang="en-US" sz="1600" dirty="0"/>
          </a:p>
          <a:p>
            <a:endParaRPr lang="en-US" sz="1600" dirty="0"/>
          </a:p>
        </p:txBody>
      </p:sp>
      <p:sp>
        <p:nvSpPr>
          <p:cNvPr id="3" name="Text Placeholder 2">
            <a:extLst>
              <a:ext uri="{FF2B5EF4-FFF2-40B4-BE49-F238E27FC236}">
                <a16:creationId xmlns:a16="http://schemas.microsoft.com/office/drawing/2014/main" id="{11F8C6F4-271D-6E31-C633-9FC9039A8965}"/>
              </a:ext>
            </a:extLst>
          </p:cNvPr>
          <p:cNvSpPr>
            <a:spLocks noGrp="1"/>
          </p:cNvSpPr>
          <p:nvPr>
            <p:ph type="body" sz="quarter" idx="11"/>
          </p:nvPr>
        </p:nvSpPr>
        <p:spPr/>
        <p:txBody>
          <a:bodyPr/>
          <a:lstStyle/>
          <a:p>
            <a:r>
              <a:rPr lang="cs-CZ" dirty="0" err="1"/>
              <a:t>uSID</a:t>
            </a:r>
            <a:r>
              <a:rPr lang="cs-CZ" dirty="0"/>
              <a:t> </a:t>
            </a:r>
            <a:r>
              <a:rPr lang="cs-CZ" dirty="0" err="1"/>
              <a:t>example</a:t>
            </a:r>
            <a:r>
              <a:rPr lang="cs-CZ" dirty="0"/>
              <a:t> (</a:t>
            </a:r>
            <a:r>
              <a:rPr lang="cs-CZ" dirty="0" err="1"/>
              <a:t>F3216</a:t>
            </a:r>
            <a:r>
              <a:rPr lang="cs-CZ" dirty="0"/>
              <a:t>) </a:t>
            </a:r>
            <a:r>
              <a:rPr lang="cs-CZ" dirty="0" err="1"/>
              <a:t>with</a:t>
            </a:r>
            <a:r>
              <a:rPr lang="cs-CZ" dirty="0"/>
              <a:t> W-LIB</a:t>
            </a:r>
            <a:endParaRPr lang="en-US" dirty="0"/>
          </a:p>
        </p:txBody>
      </p:sp>
      <p:pic>
        <p:nvPicPr>
          <p:cNvPr id="7" name="Picture 6" descr="A diagram of different colors&#10;&#10;AI-generated content may be incorrect.">
            <a:extLst>
              <a:ext uri="{FF2B5EF4-FFF2-40B4-BE49-F238E27FC236}">
                <a16:creationId xmlns:a16="http://schemas.microsoft.com/office/drawing/2014/main" id="{B12A534E-F7D0-EF52-64D4-65FE58D92B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30160" y="2469618"/>
            <a:ext cx="4462779" cy="3230142"/>
          </a:xfrm>
          <a:prstGeom prst="rect">
            <a:avLst/>
          </a:prstGeom>
        </p:spPr>
      </p:pic>
      <p:sp>
        <p:nvSpPr>
          <p:cNvPr id="4" name="Rectangle 3">
            <a:extLst>
              <a:ext uri="{FF2B5EF4-FFF2-40B4-BE49-F238E27FC236}">
                <a16:creationId xmlns:a16="http://schemas.microsoft.com/office/drawing/2014/main" id="{19292B65-1C60-BB36-34A8-CEFA1CF117D1}"/>
              </a:ext>
            </a:extLst>
          </p:cNvPr>
          <p:cNvSpPr/>
          <p:nvPr/>
        </p:nvSpPr>
        <p:spPr>
          <a:xfrm>
            <a:off x="99059" y="994153"/>
            <a:ext cx="6929061" cy="3600986"/>
          </a:xfrm>
          <a:prstGeom prst="rect">
            <a:avLst/>
          </a:prstGeom>
          <a:solidFill>
            <a:schemeClr val="bg1">
              <a:lumMod val="95000"/>
            </a:schemeClr>
          </a:solidFill>
          <a:ln>
            <a:solidFill>
              <a:schemeClr val="tx1"/>
            </a:solidFill>
          </a:ln>
          <a:effectLst/>
        </p:spPr>
        <p:txBody>
          <a:bodyPr wrap="square">
            <a:spAutoFit/>
          </a:bodyPr>
          <a:lstStyle/>
          <a:p>
            <a:endParaRPr lang="en-US" sz="1200" dirty="0">
              <a:latin typeface="Consolas" panose="020B0609020204030204" pitchFamily="49" charset="0"/>
            </a:endParaRPr>
          </a:p>
          <a:p>
            <a:r>
              <a:rPr lang="en-US" sz="1200" dirty="0">
                <a:latin typeface="Consolas" panose="020B0609020204030204" pitchFamily="49" charset="0"/>
              </a:rPr>
              <a:t>RP/0/RP0/</a:t>
            </a:r>
            <a:r>
              <a:rPr lang="en-US" sz="1200" dirty="0" err="1">
                <a:latin typeface="Consolas" panose="020B0609020204030204" pitchFamily="49" charset="0"/>
              </a:rPr>
              <a:t>CPU0:R01#sh</a:t>
            </a:r>
            <a:r>
              <a:rPr lang="en-US" sz="1200" dirty="0">
                <a:latin typeface="Consolas" panose="020B0609020204030204" pitchFamily="49" charset="0"/>
              </a:rPr>
              <a:t> segment-routing srv6 locator detail </a:t>
            </a:r>
          </a:p>
          <a:p>
            <a:r>
              <a:rPr lang="en-US" sz="1200" dirty="0">
                <a:latin typeface="Consolas" panose="020B0609020204030204" pitchFamily="49" charset="0"/>
              </a:rPr>
              <a:t>Wed Mar 19 12:50:19.976 UTC</a:t>
            </a:r>
          </a:p>
          <a:p>
            <a:r>
              <a:rPr lang="en-US" sz="1200" dirty="0">
                <a:latin typeface="Consolas" panose="020B0609020204030204" pitchFamily="49" charset="0"/>
              </a:rPr>
              <a:t>Name                  ID       Algo  Prefix                    Status   Flags   </a:t>
            </a:r>
          </a:p>
          <a:p>
            <a:r>
              <a:rPr lang="en-US" sz="1200" dirty="0">
                <a:latin typeface="Consolas" panose="020B0609020204030204" pitchFamily="49" charset="0"/>
              </a:rPr>
              <a:t>--------------------  -------  ----  ------------------------  -------  --------</a:t>
            </a:r>
          </a:p>
          <a:p>
            <a:r>
              <a:rPr lang="en-US" sz="1200" dirty="0" err="1">
                <a:latin typeface="Consolas" panose="020B0609020204030204" pitchFamily="49" charset="0"/>
              </a:rPr>
              <a:t>Loc_uSID_Algo_0</a:t>
            </a:r>
            <a:r>
              <a:rPr lang="en-US" sz="1200" dirty="0">
                <a:latin typeface="Consolas" panose="020B0609020204030204" pitchFamily="49" charset="0"/>
              </a:rPr>
              <a:t>       2        0     </a:t>
            </a:r>
            <a:r>
              <a:rPr lang="en-US" sz="1200" dirty="0" err="1">
                <a:latin typeface="Consolas" panose="020B0609020204030204" pitchFamily="49" charset="0"/>
              </a:rPr>
              <a:t>fc00:ab00:1</a:t>
            </a:r>
            <a:r>
              <a:rPr lang="en-US" sz="1200" dirty="0">
                <a:latin typeface="Consolas" panose="020B0609020204030204" pitchFamily="49" charset="0"/>
              </a:rPr>
              <a:t>::/48          Up       U       </a:t>
            </a:r>
          </a:p>
          <a:p>
            <a:r>
              <a:rPr lang="en-US" sz="1200" dirty="0">
                <a:latin typeface="Consolas" panose="020B0609020204030204" pitchFamily="49" charset="0"/>
              </a:rPr>
              <a:t>  (U): Micro-segment (behavior: </a:t>
            </a:r>
            <a:r>
              <a:rPr lang="en-US" sz="1200" dirty="0" err="1">
                <a:latin typeface="Consolas" panose="020B0609020204030204" pitchFamily="49" charset="0"/>
              </a:rPr>
              <a:t>uN</a:t>
            </a:r>
            <a:r>
              <a:rPr lang="en-US" sz="1200" dirty="0">
                <a:latin typeface="Consolas" panose="020B0609020204030204" pitchFamily="49" charset="0"/>
              </a:rPr>
              <a:t> (PSP/USD))</a:t>
            </a:r>
          </a:p>
          <a:p>
            <a:r>
              <a:rPr lang="en-US" sz="1200" dirty="0">
                <a:latin typeface="Consolas" panose="020B0609020204030204" pitchFamily="49" charset="0"/>
              </a:rPr>
              <a:t>  Interface: </a:t>
            </a:r>
          </a:p>
          <a:p>
            <a:r>
              <a:rPr lang="en-US" sz="1200" dirty="0">
                <a:latin typeface="Consolas" panose="020B0609020204030204" pitchFamily="49" charset="0"/>
              </a:rPr>
              <a:t>    Name: </a:t>
            </a:r>
            <a:r>
              <a:rPr lang="en-US" sz="1200" dirty="0" err="1">
                <a:latin typeface="Consolas" panose="020B0609020204030204" pitchFamily="49" charset="0"/>
              </a:rPr>
              <a:t>srv6-Loc_uSID_Algo_0</a:t>
            </a:r>
            <a:endParaRPr lang="en-US" sz="1200" dirty="0">
              <a:latin typeface="Consolas" panose="020B0609020204030204" pitchFamily="49" charset="0"/>
            </a:endParaRPr>
          </a:p>
          <a:p>
            <a:r>
              <a:rPr lang="en-US" sz="1200" dirty="0">
                <a:latin typeface="Consolas" panose="020B0609020204030204" pitchFamily="49" charset="0"/>
              </a:rPr>
              <a:t>    </a:t>
            </a:r>
            <a:r>
              <a:rPr lang="en-US" sz="1200" dirty="0" err="1">
                <a:latin typeface="Consolas" panose="020B0609020204030204" pitchFamily="49" charset="0"/>
              </a:rPr>
              <a:t>IFH</a:t>
            </a:r>
            <a:r>
              <a:rPr lang="en-US" sz="1200" dirty="0">
                <a:latin typeface="Consolas" panose="020B0609020204030204" pitchFamily="49" charset="0"/>
              </a:rPr>
              <a:t> : </a:t>
            </a:r>
            <a:r>
              <a:rPr lang="en-US" sz="1200" dirty="0" err="1">
                <a:latin typeface="Consolas" panose="020B0609020204030204" pitchFamily="49" charset="0"/>
              </a:rPr>
              <a:t>0x00000024</a:t>
            </a:r>
            <a:endParaRPr lang="en-US" sz="1200" dirty="0">
              <a:latin typeface="Consolas" panose="020B0609020204030204" pitchFamily="49" charset="0"/>
            </a:endParaRPr>
          </a:p>
          <a:p>
            <a:r>
              <a:rPr lang="en-US" sz="1200" dirty="0">
                <a:latin typeface="Consolas" panose="020B0609020204030204" pitchFamily="49" charset="0"/>
              </a:rPr>
              <a:t>    IPv6 address: </a:t>
            </a:r>
            <a:r>
              <a:rPr lang="en-US" sz="1200" dirty="0" err="1">
                <a:latin typeface="Consolas" panose="020B0609020204030204" pitchFamily="49" charset="0"/>
              </a:rPr>
              <a:t>fc00:ab00:1</a:t>
            </a:r>
            <a:r>
              <a:rPr lang="en-US" sz="1200" dirty="0">
                <a:latin typeface="Consolas" panose="020B0609020204030204" pitchFamily="49" charset="0"/>
              </a:rPr>
              <a:t>::/48</a:t>
            </a:r>
          </a:p>
          <a:p>
            <a:r>
              <a:rPr lang="en-US" sz="1200" dirty="0">
                <a:latin typeface="Consolas" panose="020B0609020204030204" pitchFamily="49" charset="0"/>
              </a:rPr>
              <a:t>  Number of </a:t>
            </a:r>
            <a:r>
              <a:rPr lang="en-US" sz="1200" dirty="0" err="1">
                <a:latin typeface="Consolas" panose="020B0609020204030204" pitchFamily="49" charset="0"/>
              </a:rPr>
              <a:t>SIDs</a:t>
            </a:r>
            <a:r>
              <a:rPr lang="en-US" sz="1200" dirty="0">
                <a:latin typeface="Consolas" panose="020B0609020204030204" pitchFamily="49" charset="0"/>
              </a:rPr>
              <a:t>: 4</a:t>
            </a:r>
          </a:p>
          <a:p>
            <a:r>
              <a:rPr lang="en-US" sz="1200" dirty="0">
                <a:latin typeface="Consolas" panose="020B0609020204030204" pitchFamily="49" charset="0"/>
              </a:rPr>
              <a:t>  LIB Ranges:</a:t>
            </a:r>
          </a:p>
          <a:p>
            <a:r>
              <a:rPr lang="en-US" sz="1200" dirty="0">
                <a:latin typeface="Consolas" panose="020B0609020204030204" pitchFamily="49" charset="0"/>
              </a:rPr>
              <a:t>    LIB:   </a:t>
            </a:r>
            <a:r>
              <a:rPr lang="en-US" sz="1200" dirty="0" err="1">
                <a:latin typeface="Consolas" panose="020B0609020204030204" pitchFamily="49" charset="0"/>
              </a:rPr>
              <a:t>0xE000</a:t>
            </a:r>
            <a:r>
              <a:rPr lang="en-US" sz="1200" dirty="0">
                <a:latin typeface="Consolas" panose="020B0609020204030204" pitchFamily="49" charset="0"/>
              </a:rPr>
              <a:t> - </a:t>
            </a:r>
            <a:r>
              <a:rPr lang="en-US" sz="1200" dirty="0" err="1">
                <a:latin typeface="Consolas" panose="020B0609020204030204" pitchFamily="49" charset="0"/>
              </a:rPr>
              <a:t>0xFDFF</a:t>
            </a:r>
            <a:endParaRPr lang="en-US" sz="1200" dirty="0">
              <a:latin typeface="Consolas" panose="020B0609020204030204" pitchFamily="49" charset="0"/>
            </a:endParaRPr>
          </a:p>
          <a:p>
            <a:r>
              <a:rPr lang="en-US" sz="1200" dirty="0">
                <a:latin typeface="Consolas" panose="020B0609020204030204" pitchFamily="49" charset="0"/>
              </a:rPr>
              <a:t>    </a:t>
            </a:r>
            <a:r>
              <a:rPr lang="en-US" sz="1200" dirty="0" err="1">
                <a:latin typeface="Consolas" panose="020B0609020204030204" pitchFamily="49" charset="0"/>
              </a:rPr>
              <a:t>ELIB</a:t>
            </a:r>
            <a:r>
              <a:rPr lang="en-US" sz="1200" dirty="0">
                <a:latin typeface="Consolas" panose="020B0609020204030204" pitchFamily="49" charset="0"/>
              </a:rPr>
              <a:t>:  </a:t>
            </a:r>
            <a:r>
              <a:rPr lang="en-US" sz="1200" dirty="0" err="1">
                <a:latin typeface="Consolas" panose="020B0609020204030204" pitchFamily="49" charset="0"/>
              </a:rPr>
              <a:t>0xFE00</a:t>
            </a:r>
            <a:r>
              <a:rPr lang="en-US" sz="1200" dirty="0">
                <a:latin typeface="Consolas" panose="020B0609020204030204" pitchFamily="49" charset="0"/>
              </a:rPr>
              <a:t> - </a:t>
            </a:r>
            <a:r>
              <a:rPr lang="en-US" sz="1200" dirty="0" err="1">
                <a:latin typeface="Consolas" panose="020B0609020204030204" pitchFamily="49" charset="0"/>
              </a:rPr>
              <a:t>0xFEFF</a:t>
            </a:r>
            <a:endParaRPr lang="en-US" sz="1200" dirty="0">
              <a:latin typeface="Consolas" panose="020B0609020204030204" pitchFamily="49" charset="0"/>
            </a:endParaRPr>
          </a:p>
          <a:p>
            <a:r>
              <a:rPr lang="en-US" sz="1200" dirty="0">
                <a:latin typeface="Consolas" panose="020B0609020204030204" pitchFamily="49" charset="0"/>
              </a:rPr>
              <a:t>    </a:t>
            </a:r>
            <a:r>
              <a:rPr lang="en-US" sz="1200" dirty="0" err="1">
                <a:latin typeface="Consolas" panose="020B0609020204030204" pitchFamily="49" charset="0"/>
              </a:rPr>
              <a:t>WLIB</a:t>
            </a:r>
            <a:r>
              <a:rPr lang="en-US" sz="1200" dirty="0">
                <a:latin typeface="Consolas" panose="020B0609020204030204" pitchFamily="49" charset="0"/>
              </a:rPr>
              <a:t>:  </a:t>
            </a:r>
            <a:r>
              <a:rPr lang="en-US" sz="1200" dirty="0" err="1">
                <a:latin typeface="Consolas" panose="020B0609020204030204" pitchFamily="49" charset="0"/>
              </a:rPr>
              <a:t>0xFFF00000</a:t>
            </a:r>
            <a:r>
              <a:rPr lang="en-US" sz="1200" dirty="0">
                <a:latin typeface="Consolas" panose="020B0609020204030204" pitchFamily="49" charset="0"/>
              </a:rPr>
              <a:t> - </a:t>
            </a:r>
            <a:r>
              <a:rPr lang="en-US" sz="1200" dirty="0" err="1">
                <a:latin typeface="Consolas" panose="020B0609020204030204" pitchFamily="49" charset="0"/>
              </a:rPr>
              <a:t>0xFFF6FFFF</a:t>
            </a:r>
            <a:endParaRPr lang="en-US" sz="1200" dirty="0">
              <a:latin typeface="Consolas" panose="020B0609020204030204" pitchFamily="49" charset="0"/>
            </a:endParaRPr>
          </a:p>
          <a:p>
            <a:r>
              <a:rPr lang="en-US" sz="1200" dirty="0">
                <a:latin typeface="Consolas" panose="020B0609020204030204" pitchFamily="49" charset="0"/>
              </a:rPr>
              <a:t>    </a:t>
            </a:r>
            <a:r>
              <a:rPr lang="en-US" sz="1200" dirty="0" err="1">
                <a:latin typeface="Consolas" panose="020B0609020204030204" pitchFamily="49" charset="0"/>
              </a:rPr>
              <a:t>EWLIB</a:t>
            </a:r>
            <a:r>
              <a:rPr lang="en-US" sz="1200" dirty="0">
                <a:latin typeface="Consolas" panose="020B0609020204030204" pitchFamily="49" charset="0"/>
              </a:rPr>
              <a:t>: </a:t>
            </a:r>
            <a:r>
              <a:rPr lang="en-US" sz="1200" dirty="0" err="1">
                <a:latin typeface="Consolas" panose="020B0609020204030204" pitchFamily="49" charset="0"/>
              </a:rPr>
              <a:t>0xFFF70000</a:t>
            </a:r>
            <a:r>
              <a:rPr lang="en-US" sz="1200" dirty="0">
                <a:latin typeface="Consolas" panose="020B0609020204030204" pitchFamily="49" charset="0"/>
              </a:rPr>
              <a:t> - </a:t>
            </a:r>
            <a:r>
              <a:rPr lang="en-US" sz="1200" dirty="0" err="1">
                <a:latin typeface="Consolas" panose="020B0609020204030204" pitchFamily="49" charset="0"/>
              </a:rPr>
              <a:t>0xFFF7FFFF</a:t>
            </a:r>
            <a:endParaRPr lang="en-US" sz="1200" dirty="0">
              <a:latin typeface="Consolas" panose="020B0609020204030204" pitchFamily="49" charset="0"/>
            </a:endParaRPr>
          </a:p>
          <a:p>
            <a:r>
              <a:rPr lang="en-US" sz="1200" dirty="0">
                <a:latin typeface="Consolas" panose="020B0609020204030204" pitchFamily="49" charset="0"/>
              </a:rPr>
              <a:t>  Created: Mar 19 11:54:13.845 (00:56:06 ago)</a:t>
            </a:r>
          </a:p>
          <a:p>
            <a:r>
              <a:rPr lang="en-US" sz="1200" dirty="0">
                <a:latin typeface="Consolas" panose="020B0609020204030204" pitchFamily="49" charset="0"/>
              </a:rPr>
              <a:t>RP/0/</a:t>
            </a:r>
            <a:r>
              <a:rPr lang="en-US" sz="1200" dirty="0" err="1">
                <a:latin typeface="Consolas" panose="020B0609020204030204" pitchFamily="49" charset="0"/>
              </a:rPr>
              <a:t>RP0</a:t>
            </a:r>
            <a:r>
              <a:rPr lang="en-US" sz="1200" dirty="0">
                <a:latin typeface="Consolas" panose="020B0609020204030204" pitchFamily="49" charset="0"/>
              </a:rPr>
              <a:t>/</a:t>
            </a:r>
            <a:r>
              <a:rPr lang="en-US" sz="1200" dirty="0" err="1">
                <a:latin typeface="Consolas" panose="020B0609020204030204" pitchFamily="49" charset="0"/>
              </a:rPr>
              <a:t>CPU0:R01</a:t>
            </a:r>
            <a:r>
              <a:rPr lang="en-US" sz="1200" dirty="0">
                <a:latin typeface="Consolas" panose="020B0609020204030204" pitchFamily="49" charset="0"/>
              </a:rPr>
              <a:t>#</a:t>
            </a:r>
          </a:p>
        </p:txBody>
      </p:sp>
      <p:cxnSp>
        <p:nvCxnSpPr>
          <p:cNvPr id="9" name="Straight Arrow Connector 8">
            <a:extLst>
              <a:ext uri="{FF2B5EF4-FFF2-40B4-BE49-F238E27FC236}">
                <a16:creationId xmlns:a16="http://schemas.microsoft.com/office/drawing/2014/main" id="{53D314A7-10BB-36A9-6577-CADCA2FE0812}"/>
              </a:ext>
            </a:extLst>
          </p:cNvPr>
          <p:cNvCxnSpPr>
            <a:cxnSpLocks/>
          </p:cNvCxnSpPr>
          <p:nvPr/>
        </p:nvCxnSpPr>
        <p:spPr>
          <a:xfrm>
            <a:off x="2456121" y="3519377"/>
            <a:ext cx="5667153" cy="12227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63D38D9-5E48-E413-E7EF-2378CC4C71E4}"/>
              </a:ext>
            </a:extLst>
          </p:cNvPr>
          <p:cNvCxnSpPr>
            <a:cxnSpLocks/>
          </p:cNvCxnSpPr>
          <p:nvPr/>
        </p:nvCxnSpPr>
        <p:spPr>
          <a:xfrm>
            <a:off x="2456121" y="3671777"/>
            <a:ext cx="5560828" cy="14318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5D05F19-A83B-2906-362E-55E63A6F06C8}"/>
              </a:ext>
            </a:extLst>
          </p:cNvPr>
          <p:cNvCxnSpPr>
            <a:cxnSpLocks/>
          </p:cNvCxnSpPr>
          <p:nvPr/>
        </p:nvCxnSpPr>
        <p:spPr>
          <a:xfrm>
            <a:off x="3083442" y="4114800"/>
            <a:ext cx="7708605" cy="1222744"/>
          </a:xfrm>
          <a:prstGeom prst="straightConnector1">
            <a:avLst/>
          </a:prstGeom>
          <a:ln>
            <a:solidFill>
              <a:srgbClr val="06AB5E"/>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001559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C051A8B-3075-304E-75CD-436332C8E770}"/>
              </a:ext>
            </a:extLst>
          </p:cNvPr>
          <p:cNvSpPr>
            <a:spLocks noGrp="1"/>
          </p:cNvSpPr>
          <p:nvPr>
            <p:ph type="body" sz="quarter" idx="10"/>
          </p:nvPr>
        </p:nvSpPr>
        <p:spPr/>
        <p:txBody>
          <a:bodyPr/>
          <a:lstStyle/>
          <a:p>
            <a:r>
              <a:rPr lang="cs-CZ" sz="2000" dirty="0" err="1"/>
              <a:t>R1</a:t>
            </a:r>
            <a:r>
              <a:rPr lang="cs-CZ" sz="2000" dirty="0"/>
              <a:t> </a:t>
            </a:r>
            <a:r>
              <a:rPr lang="en-US" sz="2000" dirty="0"/>
              <a:t>- </a:t>
            </a:r>
            <a:r>
              <a:rPr lang="cs-CZ" sz="2000" dirty="0" err="1"/>
              <a:t>Global</a:t>
            </a:r>
            <a:r>
              <a:rPr lang="cs-CZ" sz="2000" dirty="0"/>
              <a:t> </a:t>
            </a:r>
            <a:r>
              <a:rPr lang="cs-CZ" sz="2000" dirty="0" err="1"/>
              <a:t>uSID</a:t>
            </a:r>
            <a:r>
              <a:rPr lang="cs-CZ" sz="2000" dirty="0"/>
              <a:t> </a:t>
            </a:r>
            <a:r>
              <a:rPr lang="cs-CZ" sz="2000" dirty="0" err="1"/>
              <a:t>FCBB</a:t>
            </a:r>
            <a:r>
              <a:rPr lang="en-US" sz="2000" dirty="0"/>
              <a:t>:</a:t>
            </a:r>
            <a:r>
              <a:rPr lang="cs-CZ" sz="2000" dirty="0"/>
              <a:t>BB</a:t>
            </a:r>
            <a:r>
              <a:rPr lang="en-US" sz="2000" dirty="0"/>
              <a:t>00:0001::/48</a:t>
            </a:r>
          </a:p>
          <a:p>
            <a:r>
              <a:rPr lang="cs-CZ" sz="2000" dirty="0"/>
              <a:t>R</a:t>
            </a:r>
            <a:r>
              <a:rPr lang="en-US" sz="2000" dirty="0"/>
              <a:t>2</a:t>
            </a:r>
            <a:r>
              <a:rPr lang="cs-CZ" sz="2000" dirty="0"/>
              <a:t> </a:t>
            </a:r>
            <a:r>
              <a:rPr lang="en-US" sz="2000" dirty="0"/>
              <a:t>- </a:t>
            </a:r>
            <a:r>
              <a:rPr lang="cs-CZ" sz="2000" dirty="0" err="1"/>
              <a:t>Global</a:t>
            </a:r>
            <a:r>
              <a:rPr lang="cs-CZ" sz="2000" dirty="0"/>
              <a:t> </a:t>
            </a:r>
            <a:r>
              <a:rPr lang="cs-CZ" sz="2000" dirty="0" err="1"/>
              <a:t>uSID</a:t>
            </a:r>
            <a:r>
              <a:rPr lang="cs-CZ" sz="2000" dirty="0"/>
              <a:t> </a:t>
            </a:r>
            <a:r>
              <a:rPr lang="cs-CZ" sz="2000" dirty="0" err="1"/>
              <a:t>FCBB</a:t>
            </a:r>
            <a:r>
              <a:rPr lang="en-US" sz="2000" dirty="0"/>
              <a:t>:</a:t>
            </a:r>
            <a:r>
              <a:rPr lang="cs-CZ" sz="2000" dirty="0"/>
              <a:t>BB</a:t>
            </a:r>
            <a:r>
              <a:rPr lang="en-US" sz="2000" dirty="0"/>
              <a:t>00:0002::/48</a:t>
            </a:r>
            <a:endParaRPr lang="cs-CZ" sz="2000" dirty="0"/>
          </a:p>
          <a:p>
            <a:r>
              <a:rPr lang="cs-CZ" sz="2000" dirty="0"/>
              <a:t>R</a:t>
            </a:r>
            <a:r>
              <a:rPr lang="en-US" sz="2000" dirty="0"/>
              <a:t>3</a:t>
            </a:r>
            <a:r>
              <a:rPr lang="cs-CZ" sz="2000" dirty="0"/>
              <a:t> </a:t>
            </a:r>
            <a:r>
              <a:rPr lang="en-US" sz="2000" dirty="0"/>
              <a:t>- </a:t>
            </a:r>
            <a:r>
              <a:rPr lang="cs-CZ" sz="2000" dirty="0" err="1"/>
              <a:t>Global</a:t>
            </a:r>
            <a:r>
              <a:rPr lang="cs-CZ" sz="2000" dirty="0"/>
              <a:t> </a:t>
            </a:r>
            <a:r>
              <a:rPr lang="cs-CZ" sz="2000" dirty="0" err="1"/>
              <a:t>uSID</a:t>
            </a:r>
            <a:r>
              <a:rPr lang="cs-CZ" sz="2000" dirty="0"/>
              <a:t> </a:t>
            </a:r>
            <a:r>
              <a:rPr lang="cs-CZ" sz="2000" dirty="0" err="1"/>
              <a:t>FCBB</a:t>
            </a:r>
            <a:r>
              <a:rPr lang="en-US" sz="2000" dirty="0"/>
              <a:t>:</a:t>
            </a:r>
            <a:r>
              <a:rPr lang="cs-CZ" sz="2000" dirty="0"/>
              <a:t>BB</a:t>
            </a:r>
            <a:r>
              <a:rPr lang="en-US" sz="2000" dirty="0"/>
              <a:t>00:0003::/48</a:t>
            </a:r>
            <a:endParaRPr lang="cs-CZ" sz="2000" dirty="0"/>
          </a:p>
          <a:p>
            <a:endParaRPr lang="cs-CZ" sz="2000" dirty="0"/>
          </a:p>
          <a:p>
            <a:endParaRPr lang="cs-CZ" sz="2000" dirty="0"/>
          </a:p>
          <a:p>
            <a:r>
              <a:rPr lang="en-US" sz="2000" dirty="0" err="1"/>
              <a:t>R1</a:t>
            </a:r>
            <a:r>
              <a:rPr lang="en-US" sz="2000" dirty="0"/>
              <a:t> also has Local </a:t>
            </a:r>
            <a:r>
              <a:rPr lang="en-US" sz="2000" dirty="0" err="1"/>
              <a:t>uSIDs</a:t>
            </a:r>
            <a:r>
              <a:rPr lang="en-US" sz="2000" dirty="0"/>
              <a:t> associated with </a:t>
            </a:r>
            <a:r>
              <a:rPr lang="en-US" sz="2000" dirty="0" err="1"/>
              <a:t>uA</a:t>
            </a:r>
            <a:r>
              <a:rPr lang="en-US" sz="2000" dirty="0"/>
              <a:t> end-point behaviors:</a:t>
            </a:r>
          </a:p>
          <a:p>
            <a:pPr lvl="1"/>
            <a:r>
              <a:rPr lang="en-US" sz="2000" dirty="0"/>
              <a:t>Function ID </a:t>
            </a:r>
            <a:r>
              <a:rPr lang="en-US" sz="2000" dirty="0" err="1"/>
              <a:t>0xE000</a:t>
            </a:r>
            <a:r>
              <a:rPr lang="en-US" sz="2000" dirty="0"/>
              <a:t> – cross-connect to L3 neighbor </a:t>
            </a:r>
            <a:r>
              <a:rPr lang="en-US" sz="2000" dirty="0" err="1"/>
              <a:t>R2</a:t>
            </a:r>
            <a:endParaRPr lang="en-US" sz="2000" dirty="0"/>
          </a:p>
          <a:p>
            <a:pPr lvl="1"/>
            <a:r>
              <a:rPr lang="en-US" sz="2000" dirty="0"/>
              <a:t>Function ID </a:t>
            </a:r>
            <a:r>
              <a:rPr lang="en-US" sz="2000" dirty="0" err="1"/>
              <a:t>0xE001</a:t>
            </a:r>
            <a:r>
              <a:rPr lang="en-US" sz="2000" dirty="0"/>
              <a:t> – cross-connect to L3 neighbor </a:t>
            </a:r>
            <a:r>
              <a:rPr lang="en-US" sz="2000" dirty="0" err="1"/>
              <a:t>R3</a:t>
            </a:r>
            <a:endParaRPr lang="en-US" sz="2000" dirty="0"/>
          </a:p>
          <a:p>
            <a:pPr lvl="1"/>
            <a:endParaRPr lang="en-US" sz="2000" dirty="0"/>
          </a:p>
          <a:p>
            <a:r>
              <a:rPr lang="en-US" sz="2000" dirty="0"/>
              <a:t>The underlay </a:t>
            </a:r>
            <a:r>
              <a:rPr lang="en-US" sz="2000" dirty="0" err="1"/>
              <a:t>uSIDs</a:t>
            </a:r>
            <a:r>
              <a:rPr lang="en-US" sz="2000" dirty="0"/>
              <a:t> present on </a:t>
            </a:r>
            <a:r>
              <a:rPr lang="en-US" sz="2000" dirty="0" err="1"/>
              <a:t>R1</a:t>
            </a:r>
            <a:r>
              <a:rPr lang="en-US" sz="2000" dirty="0"/>
              <a:t> are:</a:t>
            </a:r>
          </a:p>
          <a:p>
            <a:pPr lvl="1"/>
            <a:r>
              <a:rPr lang="en-US" sz="2000" dirty="0" err="1"/>
              <a:t>FCBB:BB00:0001</a:t>
            </a:r>
            <a:r>
              <a:rPr lang="en-US" sz="2000" dirty="0"/>
              <a:t>::/48</a:t>
            </a:r>
          </a:p>
          <a:p>
            <a:pPr lvl="1"/>
            <a:r>
              <a:rPr lang="en-US" sz="2000" dirty="0" err="1"/>
              <a:t>FCBB:BB00:0001:E000</a:t>
            </a:r>
            <a:r>
              <a:rPr lang="en-US" sz="2000" dirty="0"/>
              <a:t>::/64</a:t>
            </a:r>
          </a:p>
          <a:p>
            <a:pPr lvl="1"/>
            <a:r>
              <a:rPr lang="en-US" sz="2000" dirty="0" err="1"/>
              <a:t>FCBB:BB00:0001:E001</a:t>
            </a:r>
            <a:r>
              <a:rPr lang="en-US" sz="2000" dirty="0"/>
              <a:t>::/64</a:t>
            </a:r>
          </a:p>
          <a:p>
            <a:endParaRPr lang="en-US" sz="2000" dirty="0"/>
          </a:p>
          <a:p>
            <a:endParaRPr lang="en-US" sz="2000" dirty="0"/>
          </a:p>
          <a:p>
            <a:endParaRPr lang="en-US" sz="2000" dirty="0"/>
          </a:p>
        </p:txBody>
      </p:sp>
      <p:sp>
        <p:nvSpPr>
          <p:cNvPr id="3" name="Text Placeholder 2">
            <a:extLst>
              <a:ext uri="{FF2B5EF4-FFF2-40B4-BE49-F238E27FC236}">
                <a16:creationId xmlns:a16="http://schemas.microsoft.com/office/drawing/2014/main" id="{11F8C6F4-271D-6E31-C633-9FC9039A8965}"/>
              </a:ext>
            </a:extLst>
          </p:cNvPr>
          <p:cNvSpPr>
            <a:spLocks noGrp="1"/>
          </p:cNvSpPr>
          <p:nvPr>
            <p:ph type="body" sz="quarter" idx="11"/>
          </p:nvPr>
        </p:nvSpPr>
        <p:spPr/>
        <p:txBody>
          <a:bodyPr/>
          <a:lstStyle/>
          <a:p>
            <a:r>
              <a:rPr lang="cs-CZ" dirty="0" err="1"/>
              <a:t>uSID</a:t>
            </a:r>
            <a:r>
              <a:rPr lang="cs-CZ" dirty="0"/>
              <a:t> </a:t>
            </a:r>
            <a:r>
              <a:rPr lang="cs-CZ" dirty="0" err="1"/>
              <a:t>allocation</a:t>
            </a:r>
            <a:r>
              <a:rPr lang="cs-CZ" dirty="0"/>
              <a:t> </a:t>
            </a:r>
            <a:r>
              <a:rPr lang="cs-CZ" dirty="0" err="1"/>
              <a:t>example</a:t>
            </a:r>
            <a:endParaRPr lang="en-US" dirty="0"/>
          </a:p>
        </p:txBody>
      </p:sp>
      <p:pic>
        <p:nvPicPr>
          <p:cNvPr id="3075" name="Picture 3">
            <a:hlinkClick r:id="rId2" tooltip="Related image, diagram or screenshot."/>
            <a:extLst>
              <a:ext uri="{FF2B5EF4-FFF2-40B4-BE49-F238E27FC236}">
                <a16:creationId xmlns:a16="http://schemas.microsoft.com/office/drawing/2014/main" id="{41405FE9-A0CE-3D58-72A4-496E436D4B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60581" y="178116"/>
            <a:ext cx="2857500" cy="2905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685774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C47A43-B32C-8D83-41FB-DD54F360B4F4}"/>
              </a:ext>
            </a:extLst>
          </p:cNvPr>
          <p:cNvSpPr>
            <a:spLocks noGrp="1"/>
          </p:cNvSpPr>
          <p:nvPr>
            <p:ph type="body" sz="quarter" idx="10"/>
          </p:nvPr>
        </p:nvSpPr>
        <p:spPr>
          <a:xfrm>
            <a:off x="314961" y="926799"/>
            <a:ext cx="8890000" cy="5484161"/>
          </a:xfrm>
        </p:spPr>
        <p:txBody>
          <a:bodyPr/>
          <a:lstStyle/>
          <a:p>
            <a:r>
              <a:rPr lang="en-US" sz="2000" dirty="0"/>
              <a:t>Compressed SID. Can be of length 16/32 bits</a:t>
            </a:r>
          </a:p>
          <a:p>
            <a:r>
              <a:rPr lang="en-US" sz="2000" dirty="0"/>
              <a:t>Configured on the boxes in the form SRv6 locators</a:t>
            </a:r>
          </a:p>
          <a:p>
            <a:r>
              <a:rPr lang="en-US" sz="2000" dirty="0"/>
              <a:t>SRv6 Locator consists of two portions: uSID block, and a uSID.</a:t>
            </a:r>
          </a:p>
          <a:p>
            <a:pPr lvl="1"/>
            <a:r>
              <a:rPr lang="en-US" sz="2000" dirty="0"/>
              <a:t>SRv6 Locator→ [</a:t>
            </a:r>
            <a:r>
              <a:rPr lang="en-US" sz="2000" dirty="0">
                <a:solidFill>
                  <a:schemeClr val="accent3"/>
                </a:solidFill>
              </a:rPr>
              <a:t>uSID Block</a:t>
            </a:r>
            <a:r>
              <a:rPr lang="en-US" sz="2000" dirty="0"/>
              <a:t>]:[</a:t>
            </a:r>
            <a:r>
              <a:rPr lang="en-US" sz="2000" dirty="0">
                <a:solidFill>
                  <a:schemeClr val="accent4"/>
                </a:solidFill>
              </a:rPr>
              <a:t>uSID</a:t>
            </a:r>
            <a:r>
              <a:rPr lang="en-US" sz="2000" dirty="0"/>
              <a:t>]::/</a:t>
            </a:r>
            <a:r>
              <a:rPr lang="en-US" sz="2000" b="1" dirty="0">
                <a:solidFill>
                  <a:srgbClr val="FF0000"/>
                </a:solidFill>
              </a:rPr>
              <a:t>L</a:t>
            </a:r>
          </a:p>
          <a:p>
            <a:r>
              <a:rPr lang="en-US" sz="2000" dirty="0"/>
              <a:t>Four different formats defining the length of the uSID block &amp; uSID:</a:t>
            </a:r>
          </a:p>
          <a:p>
            <a:pPr lvl="1"/>
            <a:r>
              <a:rPr lang="en-US" sz="2000" dirty="0"/>
              <a:t>F1616: 16-bit uSID block, 16-bit uSID → </a:t>
            </a:r>
            <a:r>
              <a:rPr lang="en-US" sz="2000" b="1" dirty="0">
                <a:solidFill>
                  <a:srgbClr val="FF0000"/>
                </a:solidFill>
              </a:rPr>
              <a:t>L</a:t>
            </a:r>
            <a:r>
              <a:rPr lang="en-US" sz="2000" dirty="0"/>
              <a:t> = 32</a:t>
            </a:r>
          </a:p>
          <a:p>
            <a:pPr lvl="1"/>
            <a:r>
              <a:rPr lang="en-US" sz="2000" dirty="0"/>
              <a:t>F3216: 32-bit uSID block, 16-bit uSID → </a:t>
            </a:r>
            <a:r>
              <a:rPr lang="en-US" sz="2000" b="1" dirty="0">
                <a:solidFill>
                  <a:srgbClr val="FF0000"/>
                </a:solidFill>
              </a:rPr>
              <a:t>L</a:t>
            </a:r>
            <a:r>
              <a:rPr lang="en-US" sz="2000" dirty="0"/>
              <a:t> = 48 “Industry Standard”</a:t>
            </a:r>
          </a:p>
          <a:p>
            <a:pPr lvl="1"/>
            <a:r>
              <a:rPr lang="en-US" sz="2000" dirty="0"/>
              <a:t>F4816: 48-bit uSID block, 16-bit uSID → </a:t>
            </a:r>
            <a:r>
              <a:rPr lang="en-US" sz="2000" b="1" dirty="0">
                <a:solidFill>
                  <a:srgbClr val="FF0000"/>
                </a:solidFill>
              </a:rPr>
              <a:t>L</a:t>
            </a:r>
            <a:r>
              <a:rPr lang="en-US" sz="2000" dirty="0"/>
              <a:t> = 64</a:t>
            </a:r>
          </a:p>
          <a:p>
            <a:pPr lvl="1"/>
            <a:r>
              <a:rPr lang="en-US" sz="2000" dirty="0"/>
              <a:t>F3232: 32-bit uSID block, 32-bit uSID → </a:t>
            </a:r>
            <a:r>
              <a:rPr lang="en-US" sz="2000" b="1" dirty="0">
                <a:solidFill>
                  <a:srgbClr val="FF0000"/>
                </a:solidFill>
              </a:rPr>
              <a:t>L </a:t>
            </a:r>
            <a:r>
              <a:rPr lang="en-US" sz="2000" dirty="0"/>
              <a:t>= 64</a:t>
            </a:r>
          </a:p>
          <a:p>
            <a:r>
              <a:rPr lang="en-US" sz="2000" b="1" dirty="0">
                <a:solidFill>
                  <a:srgbClr val="FF0000"/>
                </a:solidFill>
              </a:rPr>
              <a:t>L </a:t>
            </a:r>
            <a:r>
              <a:rPr lang="en-US" sz="2000" dirty="0"/>
              <a:t>represents SRv6 locator length</a:t>
            </a:r>
          </a:p>
          <a:p>
            <a:r>
              <a:rPr lang="en-US" sz="2000" b="1" dirty="0"/>
              <a:t>F3216</a:t>
            </a:r>
            <a:r>
              <a:rPr lang="en-US" sz="2000" dirty="0"/>
              <a:t>: uSID Container with a </a:t>
            </a:r>
            <a:r>
              <a:rPr lang="en-US" sz="2000" b="1" dirty="0"/>
              <a:t>32 bit uSID Block + 16 bit </a:t>
            </a:r>
            <a:r>
              <a:rPr lang="en-US" sz="2000" b="1" dirty="0" err="1"/>
              <a:t>uSIDs</a:t>
            </a:r>
            <a:r>
              <a:rPr lang="en-US" sz="2000" b="1" dirty="0"/>
              <a:t> </a:t>
            </a:r>
            <a:r>
              <a:rPr lang="en-US" sz="2000" dirty="0"/>
              <a:t>making up a TE path</a:t>
            </a:r>
          </a:p>
          <a:p>
            <a:pPr marL="0" indent="0">
              <a:buNone/>
            </a:pPr>
            <a:r>
              <a:rPr lang="en-US" sz="2000" dirty="0"/>
              <a:t>		</a:t>
            </a:r>
            <a:r>
              <a:rPr lang="en-US" sz="2000" b="1" dirty="0">
                <a:latin typeface="Consolas" panose="020B0609020204030204" pitchFamily="49" charset="0"/>
              </a:rPr>
              <a:t>fccc:cc00:</a:t>
            </a:r>
            <a:r>
              <a:rPr lang="en-US" sz="2000" b="1" dirty="0">
                <a:solidFill>
                  <a:srgbClr val="0070C0"/>
                </a:solidFill>
                <a:latin typeface="Consolas" panose="020B0609020204030204" pitchFamily="49" charset="0"/>
              </a:rPr>
              <a:t>0001</a:t>
            </a:r>
            <a:r>
              <a:rPr lang="en-US" sz="2000" b="1" dirty="0">
                <a:latin typeface="Consolas" panose="020B0609020204030204" pitchFamily="49" charset="0"/>
              </a:rPr>
              <a:t>:</a:t>
            </a:r>
            <a:r>
              <a:rPr lang="en-US" sz="2000" b="1" dirty="0">
                <a:solidFill>
                  <a:srgbClr val="C55A11"/>
                </a:solidFill>
                <a:latin typeface="Consolas" panose="020B0609020204030204" pitchFamily="49" charset="0"/>
              </a:rPr>
              <a:t>0004</a:t>
            </a:r>
            <a:r>
              <a:rPr lang="en-US" sz="2000" b="1" dirty="0">
                <a:latin typeface="Consolas" panose="020B0609020204030204" pitchFamily="49" charset="0"/>
              </a:rPr>
              <a:t>:</a:t>
            </a:r>
            <a:r>
              <a:rPr lang="en-US" sz="2000" b="1" dirty="0">
                <a:solidFill>
                  <a:srgbClr val="FF0000"/>
                </a:solidFill>
                <a:latin typeface="Consolas" panose="020B0609020204030204" pitchFamily="49" charset="0"/>
              </a:rPr>
              <a:t>0002</a:t>
            </a:r>
            <a:r>
              <a:rPr lang="en-US" sz="2000" b="1" dirty="0">
                <a:latin typeface="Consolas" panose="020B0609020204030204" pitchFamily="49" charset="0"/>
              </a:rPr>
              <a:t>:</a:t>
            </a:r>
            <a:r>
              <a:rPr lang="en-US" sz="2000" b="1" dirty="0">
                <a:solidFill>
                  <a:srgbClr val="548235"/>
                </a:solidFill>
                <a:latin typeface="Consolas" panose="020B0609020204030204" pitchFamily="49" charset="0"/>
              </a:rPr>
              <a:t>0005</a:t>
            </a:r>
            <a:r>
              <a:rPr lang="en-US" sz="2000" b="1" dirty="0">
                <a:latin typeface="Consolas" panose="020B0609020204030204" pitchFamily="49" charset="0"/>
              </a:rPr>
              <a:t>:</a:t>
            </a:r>
            <a:r>
              <a:rPr lang="en-US" sz="2000" b="1" dirty="0">
                <a:solidFill>
                  <a:srgbClr val="7030A0"/>
                </a:solidFill>
                <a:latin typeface="Consolas" panose="020B0609020204030204" pitchFamily="49" charset="0"/>
              </a:rPr>
              <a:t>0003</a:t>
            </a:r>
            <a:r>
              <a:rPr lang="en-US" sz="2000" b="1" dirty="0">
                <a:latin typeface="Consolas" panose="020B0609020204030204" pitchFamily="49" charset="0"/>
              </a:rPr>
              <a:t>:</a:t>
            </a:r>
            <a:r>
              <a:rPr lang="en-US" sz="2000" b="1" dirty="0">
                <a:solidFill>
                  <a:srgbClr val="BF9000"/>
                </a:solidFill>
                <a:latin typeface="Consolas" panose="020B0609020204030204" pitchFamily="49" charset="0"/>
              </a:rPr>
              <a:t>0006</a:t>
            </a:r>
            <a:r>
              <a:rPr lang="en-US" sz="2000" b="1" dirty="0">
                <a:latin typeface="Consolas" panose="020B0609020204030204" pitchFamily="49" charset="0"/>
              </a:rPr>
              <a:t>/128</a:t>
            </a:r>
          </a:p>
          <a:p>
            <a:r>
              <a:rPr lang="en-US" sz="2000" dirty="0"/>
              <a:t>Max. of 6 </a:t>
            </a:r>
            <a:r>
              <a:rPr lang="en-US" sz="2000" dirty="0" err="1"/>
              <a:t>uSIDs</a:t>
            </a:r>
            <a:r>
              <a:rPr lang="en-US" sz="2000" dirty="0"/>
              <a:t> per container. More than 6 </a:t>
            </a:r>
            <a:r>
              <a:rPr lang="en-US" sz="2000" dirty="0" err="1"/>
              <a:t>uSIDs</a:t>
            </a:r>
            <a:r>
              <a:rPr lang="en-US" sz="2000" dirty="0"/>
              <a:t>, use of SRH required.</a:t>
            </a:r>
          </a:p>
        </p:txBody>
      </p:sp>
      <p:sp>
        <p:nvSpPr>
          <p:cNvPr id="3" name="Text Placeholder 2">
            <a:extLst>
              <a:ext uri="{FF2B5EF4-FFF2-40B4-BE49-F238E27FC236}">
                <a16:creationId xmlns:a16="http://schemas.microsoft.com/office/drawing/2014/main" id="{D2C882DF-8B53-02E0-E53B-C370FD80521C}"/>
              </a:ext>
            </a:extLst>
          </p:cNvPr>
          <p:cNvSpPr>
            <a:spLocks noGrp="1"/>
          </p:cNvSpPr>
          <p:nvPr>
            <p:ph type="body" sz="quarter" idx="11"/>
          </p:nvPr>
        </p:nvSpPr>
        <p:spPr/>
        <p:txBody>
          <a:bodyPr/>
          <a:lstStyle/>
          <a:p>
            <a:r>
              <a:rPr lang="en-US" dirty="0"/>
              <a:t>uSID Format – Quick review</a:t>
            </a:r>
          </a:p>
        </p:txBody>
      </p:sp>
      <p:pic>
        <p:nvPicPr>
          <p:cNvPr id="5" name="Picture 4" descr="A diagram of a diagram&#10;&#10;Description automatically generated">
            <a:extLst>
              <a:ext uri="{FF2B5EF4-FFF2-40B4-BE49-F238E27FC236}">
                <a16:creationId xmlns:a16="http://schemas.microsoft.com/office/drawing/2014/main" id="{4042F7D0-D7E4-85FD-E718-F9CECCE909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96407" y="3826461"/>
            <a:ext cx="3330229" cy="1135478"/>
          </a:xfrm>
          <a:prstGeom prst="rect">
            <a:avLst/>
          </a:prstGeom>
        </p:spPr>
      </p:pic>
      <p:sp>
        <p:nvSpPr>
          <p:cNvPr id="6" name="Rectangle 5">
            <a:extLst>
              <a:ext uri="{FF2B5EF4-FFF2-40B4-BE49-F238E27FC236}">
                <a16:creationId xmlns:a16="http://schemas.microsoft.com/office/drawing/2014/main" id="{D82908DD-FC8C-179F-E2D4-6CFD7D515D30}"/>
              </a:ext>
            </a:extLst>
          </p:cNvPr>
          <p:cNvSpPr/>
          <p:nvPr/>
        </p:nvSpPr>
        <p:spPr>
          <a:xfrm>
            <a:off x="548640" y="3342640"/>
            <a:ext cx="8768080" cy="386080"/>
          </a:xfrm>
          <a:prstGeom prst="rect">
            <a:avLst/>
          </a:prstGeom>
          <a:noFill/>
          <a:ln w="508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AEE007B-E018-AA28-4D13-5565C3176FB3}"/>
              </a:ext>
            </a:extLst>
          </p:cNvPr>
          <p:cNvSpPr txBox="1"/>
          <p:nvPr/>
        </p:nvSpPr>
        <p:spPr>
          <a:xfrm>
            <a:off x="8869601" y="526047"/>
            <a:ext cx="2783840" cy="1538012"/>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err="1">
                <a:ln>
                  <a:noFill/>
                </a:ln>
                <a:solidFill>
                  <a:schemeClr val="tx1"/>
                </a:solidFill>
                <a:effectLst/>
                <a:uLnTx/>
                <a:uFillTx/>
                <a:latin typeface="Arial" panose="020B0604020202020204"/>
                <a:ea typeface="+mn-ea"/>
                <a:cs typeface="+mn-cs"/>
              </a:rPr>
              <a:t>F</a:t>
            </a:r>
            <a:r>
              <a:rPr kumimoji="0" lang="en-US" sz="2400" i="1" u="none" strike="noStrike" kern="1200" cap="none" spc="0" normalizeH="0" baseline="0" noProof="0" dirty="0" err="1">
                <a:ln>
                  <a:noFill/>
                </a:ln>
                <a:solidFill>
                  <a:schemeClr val="accent3"/>
                </a:solidFill>
                <a:effectLst/>
                <a:uLnTx/>
                <a:uFillTx/>
                <a:latin typeface="Arial" panose="020B0604020202020204"/>
                <a:ea typeface="+mn-ea"/>
                <a:cs typeface="+mn-cs"/>
              </a:rPr>
              <a:t>bb</a:t>
            </a:r>
            <a:r>
              <a:rPr kumimoji="0" lang="en-US" sz="2400" i="1" u="none" strike="noStrike" kern="1200" cap="none" spc="0" normalizeH="0" baseline="0" noProof="0" dirty="0" err="1">
                <a:ln>
                  <a:noFill/>
                </a:ln>
                <a:solidFill>
                  <a:schemeClr val="accent4"/>
                </a:solidFill>
                <a:effectLst/>
                <a:uLnTx/>
                <a:uFillTx/>
                <a:latin typeface="Arial" panose="020B0604020202020204"/>
                <a:ea typeface="+mn-ea"/>
                <a:cs typeface="+mn-cs"/>
              </a:rPr>
              <a:t>uu</a:t>
            </a:r>
            <a:endParaRPr kumimoji="0" lang="en-US" sz="2400" i="1" u="none" strike="noStrike" kern="1200" cap="none" spc="0" normalizeH="0" baseline="0" noProof="0" dirty="0">
              <a:ln>
                <a:noFill/>
              </a:ln>
              <a:solidFill>
                <a:schemeClr val="accent4"/>
              </a:solidFill>
              <a:effectLst/>
              <a:uLnTx/>
              <a:uFillTx/>
              <a:latin typeface="Arial" panose="020B0604020202020204"/>
              <a:ea typeface="+mn-ea"/>
              <a:cs typeface="+mn-cs"/>
            </a:endParaRPr>
          </a:p>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400" i="1" dirty="0">
                <a:latin typeface="Arial" panose="020B0604020202020204"/>
              </a:rPr>
              <a:t>where: </a:t>
            </a:r>
          </a:p>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400" i="1" dirty="0">
                <a:latin typeface="Arial" panose="020B0604020202020204"/>
              </a:rPr>
              <a:t>    </a:t>
            </a:r>
            <a:r>
              <a:rPr lang="en-US" sz="1400" i="1" dirty="0">
                <a:solidFill>
                  <a:schemeClr val="accent3"/>
                </a:solidFill>
                <a:latin typeface="Arial" panose="020B0604020202020204"/>
              </a:rPr>
              <a:t>bb – SID Block size in bits </a:t>
            </a:r>
          </a:p>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400" i="1" u="none" strike="noStrike" kern="1200" cap="none" spc="0" normalizeH="0" baseline="0" noProof="0" dirty="0">
                <a:ln>
                  <a:noFill/>
                </a:ln>
                <a:solidFill>
                  <a:schemeClr val="tx1"/>
                </a:solidFill>
                <a:effectLst/>
                <a:uLnTx/>
                <a:uFillTx/>
                <a:latin typeface="Arial" panose="020B0604020202020204"/>
                <a:ea typeface="+mn-ea"/>
                <a:cs typeface="+mn-cs"/>
              </a:rPr>
              <a:t>    </a:t>
            </a:r>
            <a:r>
              <a:rPr kumimoji="0" lang="en-US" sz="1400" i="1" u="none" strike="noStrike" kern="1200" cap="none" spc="0" normalizeH="0" baseline="0" noProof="0" dirty="0" err="1">
                <a:ln>
                  <a:noFill/>
                </a:ln>
                <a:solidFill>
                  <a:schemeClr val="accent4"/>
                </a:solidFill>
                <a:effectLst/>
                <a:uLnTx/>
                <a:uFillTx/>
                <a:latin typeface="Arial" panose="020B0604020202020204"/>
                <a:ea typeface="+mn-ea"/>
                <a:cs typeface="+mn-cs"/>
              </a:rPr>
              <a:t>uu</a:t>
            </a:r>
            <a:r>
              <a:rPr kumimoji="0" lang="en-US" sz="1400" i="1" u="none" strike="noStrike" kern="1200" cap="none" spc="0" normalizeH="0" baseline="0" noProof="0" dirty="0">
                <a:ln>
                  <a:noFill/>
                </a:ln>
                <a:solidFill>
                  <a:schemeClr val="accent4"/>
                </a:solidFill>
                <a:effectLst/>
                <a:uLnTx/>
                <a:uFillTx/>
                <a:latin typeface="Arial" panose="020B0604020202020204"/>
                <a:ea typeface="+mn-ea"/>
                <a:cs typeface="+mn-cs"/>
              </a:rPr>
              <a:t> – ID size in bits</a:t>
            </a:r>
          </a:p>
        </p:txBody>
      </p:sp>
    </p:spTree>
    <p:extLst>
      <p:ext uri="{BB962C8B-B14F-4D97-AF65-F5344CB8AC3E}">
        <p14:creationId xmlns:p14="http://schemas.microsoft.com/office/powerpoint/2010/main" val="83435177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9C74E2D-B285-5BBD-A214-E55326A98274}"/>
              </a:ext>
            </a:extLst>
          </p:cNvPr>
          <p:cNvSpPr>
            <a:spLocks noGrp="1"/>
          </p:cNvSpPr>
          <p:nvPr>
            <p:ph type="body" sz="quarter" idx="10"/>
          </p:nvPr>
        </p:nvSpPr>
        <p:spPr>
          <a:xfrm>
            <a:off x="873918" y="2987040"/>
            <a:ext cx="10444163" cy="3368040"/>
          </a:xfrm>
        </p:spPr>
        <p:txBody>
          <a:bodyPr/>
          <a:lstStyle/>
          <a:p>
            <a:r>
              <a:rPr lang="en-US" b="1" dirty="0"/>
              <a:t>SID Space</a:t>
            </a:r>
            <a:r>
              <a:rPr lang="en-US" dirty="0"/>
              <a:t>: The IPv6 address block used to allocate the SID locator. All SID Blocks in the network must come from the same 24-bit SID space</a:t>
            </a:r>
          </a:p>
          <a:p>
            <a:r>
              <a:rPr lang="en-US" b="1" dirty="0">
                <a:solidFill>
                  <a:srgbClr val="00B0F0"/>
                </a:solidFill>
              </a:rPr>
              <a:t>Block ID</a:t>
            </a:r>
            <a:r>
              <a:rPr lang="en-US" dirty="0"/>
              <a:t>: Common prefix of a block of </a:t>
            </a:r>
            <a:r>
              <a:rPr lang="en-US" dirty="0" err="1"/>
              <a:t>uSIDs</a:t>
            </a:r>
            <a:r>
              <a:rPr lang="en-US" dirty="0"/>
              <a:t>. Its size depends on the uSID format, which is 8-bits in uSID format</a:t>
            </a:r>
          </a:p>
          <a:p>
            <a:r>
              <a:rPr lang="en-US" b="1" dirty="0">
                <a:solidFill>
                  <a:srgbClr val="00B050"/>
                </a:solidFill>
              </a:rPr>
              <a:t>Set IDs</a:t>
            </a:r>
            <a:r>
              <a:rPr lang="en-US" dirty="0"/>
              <a:t>: Any group of </a:t>
            </a:r>
            <a:r>
              <a:rPr lang="en-US" dirty="0" err="1"/>
              <a:t>uSIDs</a:t>
            </a:r>
            <a:r>
              <a:rPr lang="en-US" dirty="0"/>
              <a:t> that share a certain value for the first two nibbles of the ID. A 16-bit uSID space contains 256 sets. Each set represents 256 uSID values. A set is uniquely bound to an algorithm</a:t>
            </a:r>
          </a:p>
          <a:p>
            <a:r>
              <a:rPr lang="en-US" b="1" dirty="0">
                <a:solidFill>
                  <a:srgbClr val="7030A0"/>
                </a:solidFill>
              </a:rPr>
              <a:t>Node ID</a:t>
            </a:r>
            <a:r>
              <a:rPr lang="en-US" dirty="0"/>
              <a:t>: Global node SID, Adjacency SID or IP overlay service SID.</a:t>
            </a:r>
          </a:p>
        </p:txBody>
      </p:sp>
      <p:sp>
        <p:nvSpPr>
          <p:cNvPr id="3" name="Text Placeholder 2">
            <a:extLst>
              <a:ext uri="{FF2B5EF4-FFF2-40B4-BE49-F238E27FC236}">
                <a16:creationId xmlns:a16="http://schemas.microsoft.com/office/drawing/2014/main" id="{9130644B-93B7-A28A-3764-E4774D06D12C}"/>
              </a:ext>
            </a:extLst>
          </p:cNvPr>
          <p:cNvSpPr>
            <a:spLocks noGrp="1"/>
          </p:cNvSpPr>
          <p:nvPr>
            <p:ph type="body" sz="quarter" idx="11"/>
          </p:nvPr>
        </p:nvSpPr>
        <p:spPr/>
        <p:txBody>
          <a:bodyPr/>
          <a:lstStyle/>
          <a:p>
            <a:r>
              <a:rPr lang="en-US" dirty="0"/>
              <a:t>SRv6 Locator Planning</a:t>
            </a:r>
          </a:p>
        </p:txBody>
      </p:sp>
      <p:pic>
        <p:nvPicPr>
          <p:cNvPr id="5" name="Picture 4" descr="A group of text on a white background&#10;&#10;Description automatically generated">
            <a:extLst>
              <a:ext uri="{FF2B5EF4-FFF2-40B4-BE49-F238E27FC236}">
                <a16:creationId xmlns:a16="http://schemas.microsoft.com/office/drawing/2014/main" id="{F56B1FC6-F2E0-2BE6-E19D-3F8CDF54A5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3461" y="502920"/>
            <a:ext cx="5651125" cy="2484120"/>
          </a:xfrm>
          <a:prstGeom prst="rect">
            <a:avLst/>
          </a:prstGeom>
        </p:spPr>
      </p:pic>
    </p:spTree>
    <p:extLst>
      <p:ext uri="{BB962C8B-B14F-4D97-AF65-F5344CB8AC3E}">
        <p14:creationId xmlns:p14="http://schemas.microsoft.com/office/powerpoint/2010/main" val="54777097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BD50A0E-E4B7-B86A-CCDA-7B905A8A2AFE}"/>
              </a:ext>
            </a:extLst>
          </p:cNvPr>
          <p:cNvSpPr>
            <a:spLocks noGrp="1"/>
          </p:cNvSpPr>
          <p:nvPr>
            <p:ph type="body" sz="quarter" idx="10"/>
          </p:nvPr>
        </p:nvSpPr>
        <p:spPr/>
        <p:txBody>
          <a:bodyPr/>
          <a:lstStyle/>
          <a:p>
            <a:r>
              <a:rPr lang="en-US" b="1" dirty="0"/>
              <a:t>uSID F3216</a:t>
            </a:r>
            <a:r>
              <a:rPr lang="en-US" dirty="0"/>
              <a:t>: uSID format with</a:t>
            </a:r>
          </a:p>
          <a:p>
            <a:pPr lvl="1"/>
            <a:r>
              <a:rPr lang="en-US" dirty="0"/>
              <a:t>uSID Block size: 32 bits</a:t>
            </a:r>
          </a:p>
          <a:p>
            <a:pPr lvl="1"/>
            <a:r>
              <a:rPr lang="en-US" dirty="0"/>
              <a:t>ID size: 16 bits</a:t>
            </a:r>
          </a:p>
          <a:p>
            <a:r>
              <a:rPr lang="en-US" dirty="0"/>
              <a:t>uSID F3216 structure:</a:t>
            </a:r>
          </a:p>
        </p:txBody>
      </p:sp>
      <p:sp>
        <p:nvSpPr>
          <p:cNvPr id="3" name="Text Placeholder 2">
            <a:extLst>
              <a:ext uri="{FF2B5EF4-FFF2-40B4-BE49-F238E27FC236}">
                <a16:creationId xmlns:a16="http://schemas.microsoft.com/office/drawing/2014/main" id="{0CCF0CDA-9814-EF90-18FF-D22027CCB014}"/>
              </a:ext>
            </a:extLst>
          </p:cNvPr>
          <p:cNvSpPr>
            <a:spLocks noGrp="1"/>
          </p:cNvSpPr>
          <p:nvPr>
            <p:ph type="body" sz="quarter" idx="11"/>
          </p:nvPr>
        </p:nvSpPr>
        <p:spPr/>
        <p:txBody>
          <a:bodyPr/>
          <a:lstStyle/>
          <a:p>
            <a:r>
              <a:rPr lang="en-US" dirty="0"/>
              <a:t>Terminology – uSID F3216 “Industry Standard”</a:t>
            </a:r>
          </a:p>
        </p:txBody>
      </p:sp>
      <p:pic>
        <p:nvPicPr>
          <p:cNvPr id="5" name="Picture 4" descr="A diagram of a blockchain&#10;&#10;Description automatically generated">
            <a:extLst>
              <a:ext uri="{FF2B5EF4-FFF2-40B4-BE49-F238E27FC236}">
                <a16:creationId xmlns:a16="http://schemas.microsoft.com/office/drawing/2014/main" id="{A3594AAA-80C3-5D10-4381-57AC9E925F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0683" y="3136762"/>
            <a:ext cx="6607113" cy="3185436"/>
          </a:xfrm>
          <a:prstGeom prst="rect">
            <a:avLst/>
          </a:prstGeom>
        </p:spPr>
      </p:pic>
    </p:spTree>
    <p:extLst>
      <p:ext uri="{BB962C8B-B14F-4D97-AF65-F5344CB8AC3E}">
        <p14:creationId xmlns:p14="http://schemas.microsoft.com/office/powerpoint/2010/main" val="312269030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98F390D-849C-5EC0-E01E-1203CD3B57B8}"/>
              </a:ext>
            </a:extLst>
          </p:cNvPr>
          <p:cNvSpPr>
            <a:spLocks noGrp="1"/>
          </p:cNvSpPr>
          <p:nvPr>
            <p:ph type="body" sz="quarter" idx="11"/>
          </p:nvPr>
        </p:nvSpPr>
        <p:spPr/>
        <p:txBody>
          <a:bodyPr/>
          <a:lstStyle/>
          <a:p>
            <a:r>
              <a:rPr lang="en-US" dirty="0"/>
              <a:t>SRv6 uSID Planning Example</a:t>
            </a:r>
          </a:p>
        </p:txBody>
      </p:sp>
      <p:pic>
        <p:nvPicPr>
          <p:cNvPr id="9" name="Picture 8" descr="A diagram of a computer&#10;&#10;Description automatically generated">
            <a:extLst>
              <a:ext uri="{FF2B5EF4-FFF2-40B4-BE49-F238E27FC236}">
                <a16:creationId xmlns:a16="http://schemas.microsoft.com/office/drawing/2014/main" id="{62F38B8D-A4DC-732C-4FDE-CD1A47AC56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9677" y="1142778"/>
            <a:ext cx="10502183" cy="5561440"/>
          </a:xfrm>
          <a:prstGeom prst="rect">
            <a:avLst/>
          </a:prstGeom>
        </p:spPr>
      </p:pic>
    </p:spTree>
    <p:extLst>
      <p:ext uri="{BB962C8B-B14F-4D97-AF65-F5344CB8AC3E}">
        <p14:creationId xmlns:p14="http://schemas.microsoft.com/office/powerpoint/2010/main" val="141948731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F025640-02D5-B273-BBED-37A3EA02508C}"/>
              </a:ext>
            </a:extLst>
          </p:cNvPr>
          <p:cNvSpPr>
            <a:spLocks noGrp="1"/>
          </p:cNvSpPr>
          <p:nvPr>
            <p:ph type="body" sz="quarter" idx="10"/>
          </p:nvPr>
        </p:nvSpPr>
        <p:spPr/>
        <p:txBody>
          <a:bodyPr/>
          <a:lstStyle/>
          <a:p>
            <a:endParaRPr lang="en-US" sz="2000" dirty="0"/>
          </a:p>
          <a:p>
            <a:pPr marL="0" indent="0">
              <a:buNone/>
            </a:pPr>
            <a:endParaRPr lang="en-US" sz="2000" dirty="0"/>
          </a:p>
          <a:p>
            <a:pPr marL="0" indent="0">
              <a:buNone/>
            </a:pPr>
            <a:endParaRPr lang="en-US" sz="2000" dirty="0"/>
          </a:p>
          <a:p>
            <a:r>
              <a:rPr lang="en-US" sz="2000" dirty="0"/>
              <a:t>Guidelines and Restrictions while configuring SRv6 uSID</a:t>
            </a:r>
          </a:p>
          <a:p>
            <a:pPr lvl="1"/>
            <a:r>
              <a:rPr lang="en-US" sz="2000" dirty="0"/>
              <a:t>Cisco IOS XR supports </a:t>
            </a:r>
            <a:r>
              <a:rPr lang="en-US" sz="2000" dirty="0" err="1"/>
              <a:t>uSIDs</a:t>
            </a:r>
            <a:r>
              <a:rPr lang="en-US" sz="2000" dirty="0"/>
              <a:t> with 32-bit uSID block and 16-bit uSID IDs (</a:t>
            </a:r>
            <a:r>
              <a:rPr lang="en-US" sz="2000" b="1" dirty="0"/>
              <a:t>Format 3216</a:t>
            </a:r>
            <a:r>
              <a:rPr lang="en-US" sz="2000" dirty="0"/>
              <a:t>)</a:t>
            </a:r>
          </a:p>
          <a:p>
            <a:pPr lvl="1"/>
            <a:r>
              <a:rPr lang="en-US" sz="2000" b="1" dirty="0"/>
              <a:t>All routers in the SRv6 domain should have the same SID block (network designator) in their locator</a:t>
            </a:r>
          </a:p>
          <a:p>
            <a:pPr lvl="1"/>
            <a:r>
              <a:rPr lang="en-US" sz="2000" dirty="0"/>
              <a:t>Can configure up to 8 uSID locators to support SRv6 Flexible Algorithm.</a:t>
            </a:r>
          </a:p>
          <a:p>
            <a:pPr lvl="1"/>
            <a:r>
              <a:rPr lang="en-US" sz="2000" dirty="0"/>
              <a:t>Use uSID block allocation from the IPv6 Unique Local Address (ULA, </a:t>
            </a:r>
            <a:r>
              <a:rPr lang="en-US" sz="2000" dirty="0" err="1"/>
              <a:t>FC00</a:t>
            </a:r>
            <a:r>
              <a:rPr lang="en-US" sz="2000" dirty="0"/>
              <a:t>::/8) range</a:t>
            </a:r>
          </a:p>
        </p:txBody>
      </p:sp>
      <p:sp>
        <p:nvSpPr>
          <p:cNvPr id="3" name="Text Placeholder 2">
            <a:extLst>
              <a:ext uri="{FF2B5EF4-FFF2-40B4-BE49-F238E27FC236}">
                <a16:creationId xmlns:a16="http://schemas.microsoft.com/office/drawing/2014/main" id="{99FB1348-ACA9-0979-940C-46E4B6FA0D39}"/>
              </a:ext>
            </a:extLst>
          </p:cNvPr>
          <p:cNvSpPr>
            <a:spLocks noGrp="1"/>
          </p:cNvSpPr>
          <p:nvPr>
            <p:ph type="body" sz="quarter" idx="11"/>
          </p:nvPr>
        </p:nvSpPr>
        <p:spPr/>
        <p:txBody>
          <a:bodyPr/>
          <a:lstStyle/>
          <a:p>
            <a:r>
              <a:rPr lang="en-US" dirty="0"/>
              <a:t>SRv6 – uSID – Configuration</a:t>
            </a:r>
          </a:p>
        </p:txBody>
      </p:sp>
      <p:sp>
        <p:nvSpPr>
          <p:cNvPr id="6" name="Rectangle 5">
            <a:extLst>
              <a:ext uri="{FF2B5EF4-FFF2-40B4-BE49-F238E27FC236}">
                <a16:creationId xmlns:a16="http://schemas.microsoft.com/office/drawing/2014/main" id="{6CA00658-84AA-9BC7-F247-8DF1FEFBBB49}"/>
              </a:ext>
            </a:extLst>
          </p:cNvPr>
          <p:cNvSpPr/>
          <p:nvPr/>
        </p:nvSpPr>
        <p:spPr>
          <a:xfrm>
            <a:off x="314629" y="5064420"/>
            <a:ext cx="5227755" cy="938719"/>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Router(config)# </a:t>
            </a:r>
            <a:r>
              <a:rPr lang="en-US" sz="1100" b="1" dirty="0">
                <a:latin typeface="Consolas" panose="020B0609020204030204" pitchFamily="49" charset="0"/>
              </a:rPr>
              <a:t>segment-routing srv6</a:t>
            </a:r>
          </a:p>
          <a:p>
            <a:r>
              <a:rPr lang="en-US" sz="1100" dirty="0">
                <a:latin typeface="Consolas" panose="020B0609020204030204" pitchFamily="49" charset="0"/>
              </a:rPr>
              <a:t>Router(config-</a:t>
            </a:r>
            <a:r>
              <a:rPr lang="en-US" sz="1100" dirty="0" err="1">
                <a:latin typeface="Consolas" panose="020B0609020204030204" pitchFamily="49" charset="0"/>
              </a:rPr>
              <a:t>srv6</a:t>
            </a:r>
            <a:r>
              <a:rPr lang="en-US" sz="1100" dirty="0">
                <a:latin typeface="Consolas" panose="020B0609020204030204" pitchFamily="49" charset="0"/>
              </a:rPr>
              <a:t>)# </a:t>
            </a:r>
            <a:r>
              <a:rPr lang="en-US" sz="1100" b="1" dirty="0">
                <a:latin typeface="Consolas" panose="020B0609020204030204" pitchFamily="49" charset="0"/>
              </a:rPr>
              <a:t>locators</a:t>
            </a:r>
          </a:p>
          <a:p>
            <a:r>
              <a:rPr lang="en-US" sz="1100" dirty="0">
                <a:latin typeface="Consolas" panose="020B0609020204030204" pitchFamily="49" charset="0"/>
              </a:rPr>
              <a:t>Router(config-</a:t>
            </a:r>
            <a:r>
              <a:rPr lang="en-US" sz="1100" dirty="0" err="1">
                <a:latin typeface="Consolas" panose="020B0609020204030204" pitchFamily="49" charset="0"/>
              </a:rPr>
              <a:t>srv6</a:t>
            </a:r>
            <a:r>
              <a:rPr lang="en-US" sz="1100" dirty="0">
                <a:latin typeface="Consolas" panose="020B0609020204030204" pitchFamily="49" charset="0"/>
              </a:rPr>
              <a:t>-locators)# </a:t>
            </a:r>
            <a:r>
              <a:rPr lang="en-US" sz="1100" b="1" dirty="0">
                <a:latin typeface="Consolas" panose="020B0609020204030204" pitchFamily="49" charset="0"/>
              </a:rPr>
              <a:t>locator </a:t>
            </a:r>
            <a:r>
              <a:rPr lang="en-US" sz="1100" b="1" i="1" dirty="0" err="1">
                <a:solidFill>
                  <a:schemeClr val="accent1"/>
                </a:solidFill>
                <a:latin typeface="Consolas" panose="020B0609020204030204" pitchFamily="49" charset="0"/>
              </a:rPr>
              <a:t>myLoc1</a:t>
            </a:r>
            <a:endParaRPr lang="en-US" sz="1100" b="1" i="1" dirty="0">
              <a:solidFill>
                <a:schemeClr val="accent1"/>
              </a:solidFill>
              <a:latin typeface="Consolas" panose="020B0609020204030204" pitchFamily="49" charset="0"/>
            </a:endParaRPr>
          </a:p>
          <a:p>
            <a:r>
              <a:rPr lang="en-US" sz="1100" dirty="0">
                <a:latin typeface="Consolas" panose="020B0609020204030204" pitchFamily="49" charset="0"/>
              </a:rPr>
              <a:t>Router(config-</a:t>
            </a:r>
            <a:r>
              <a:rPr lang="en-US" sz="1100" dirty="0" err="1">
                <a:latin typeface="Consolas" panose="020B0609020204030204" pitchFamily="49" charset="0"/>
              </a:rPr>
              <a:t>srv6</a:t>
            </a:r>
            <a:r>
              <a:rPr lang="en-US" sz="1100" dirty="0">
                <a:latin typeface="Consolas" panose="020B0609020204030204" pitchFamily="49" charset="0"/>
              </a:rPr>
              <a:t>-locator)# </a:t>
            </a:r>
            <a:r>
              <a:rPr lang="en-US" sz="1100" b="1" dirty="0">
                <a:latin typeface="Consolas" panose="020B0609020204030204" pitchFamily="49" charset="0"/>
              </a:rPr>
              <a:t>micro-segment behavior </a:t>
            </a:r>
            <a:r>
              <a:rPr lang="en-US" sz="1100" b="1" dirty="0" err="1">
                <a:latin typeface="Consolas" panose="020B0609020204030204" pitchFamily="49" charset="0"/>
              </a:rPr>
              <a:t>unode</a:t>
            </a:r>
            <a:r>
              <a:rPr lang="en-US" sz="1100" b="1" dirty="0">
                <a:latin typeface="Consolas" panose="020B0609020204030204" pitchFamily="49" charset="0"/>
              </a:rPr>
              <a:t> </a:t>
            </a:r>
            <a:r>
              <a:rPr lang="en-US" sz="1100" b="1" dirty="0" err="1">
                <a:latin typeface="Consolas" panose="020B0609020204030204" pitchFamily="49" charset="0"/>
              </a:rPr>
              <a:t>psp-usd</a:t>
            </a:r>
            <a:endParaRPr lang="en-US" sz="1100" b="1" dirty="0">
              <a:latin typeface="Consolas" panose="020B0609020204030204" pitchFamily="49" charset="0"/>
            </a:endParaRPr>
          </a:p>
          <a:p>
            <a:r>
              <a:rPr lang="en-US" sz="1100" dirty="0">
                <a:latin typeface="Consolas" panose="020B0609020204030204" pitchFamily="49" charset="0"/>
              </a:rPr>
              <a:t>Router(config-</a:t>
            </a:r>
            <a:r>
              <a:rPr lang="en-US" sz="1100" dirty="0" err="1">
                <a:latin typeface="Consolas" panose="020B0609020204030204" pitchFamily="49" charset="0"/>
              </a:rPr>
              <a:t>srv6</a:t>
            </a:r>
            <a:r>
              <a:rPr lang="en-US" sz="1100" dirty="0">
                <a:latin typeface="Consolas" panose="020B0609020204030204" pitchFamily="49" charset="0"/>
              </a:rPr>
              <a:t>-locator)# </a:t>
            </a:r>
            <a:r>
              <a:rPr lang="en-US" sz="1100" b="1" dirty="0">
                <a:latin typeface="Consolas" panose="020B0609020204030204" pitchFamily="49" charset="0"/>
              </a:rPr>
              <a:t>prefix</a:t>
            </a:r>
            <a:r>
              <a:rPr lang="en-US" sz="1100" dirty="0">
                <a:latin typeface="Consolas" panose="020B0609020204030204" pitchFamily="49" charset="0"/>
              </a:rPr>
              <a:t> </a:t>
            </a:r>
            <a:r>
              <a:rPr lang="en-US" sz="1100" b="1" i="1" dirty="0" err="1">
                <a:solidFill>
                  <a:schemeClr val="accent1"/>
                </a:solidFill>
                <a:latin typeface="Consolas" panose="020B0609020204030204" pitchFamily="49" charset="0"/>
              </a:rPr>
              <a:t>fcbb:bb01:101</a:t>
            </a:r>
            <a:r>
              <a:rPr lang="en-US" sz="1100" b="1" i="1" dirty="0">
                <a:solidFill>
                  <a:schemeClr val="accent1"/>
                </a:solidFill>
                <a:latin typeface="Consolas" panose="020B0609020204030204" pitchFamily="49" charset="0"/>
              </a:rPr>
              <a:t>::/48</a:t>
            </a:r>
            <a:endParaRPr lang="sk-SK" sz="1100" b="1" i="1" dirty="0">
              <a:solidFill>
                <a:schemeClr val="accent1"/>
              </a:solidFill>
              <a:latin typeface="Consolas" panose="020B0609020204030204" pitchFamily="49" charset="0"/>
            </a:endParaRPr>
          </a:p>
        </p:txBody>
      </p:sp>
      <p:sp>
        <p:nvSpPr>
          <p:cNvPr id="7" name="TextBox 6">
            <a:extLst>
              <a:ext uri="{FF2B5EF4-FFF2-40B4-BE49-F238E27FC236}">
                <a16:creationId xmlns:a16="http://schemas.microsoft.com/office/drawing/2014/main" id="{BB4A36E3-8EE1-4693-1EFE-31D9FDF5A837}"/>
              </a:ext>
            </a:extLst>
          </p:cNvPr>
          <p:cNvSpPr txBox="1"/>
          <p:nvPr/>
        </p:nvSpPr>
        <p:spPr>
          <a:xfrm>
            <a:off x="5663585" y="5580018"/>
            <a:ext cx="2920578" cy="678180"/>
          </a:xfrm>
          <a:prstGeom prst="rect">
            <a:avLst/>
          </a:prstGeom>
          <a:solidFill>
            <a:srgbClr val="00B0F0"/>
          </a:solidFill>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endParaRPr kumimoji="0" lang="en-US" sz="2400" b="1" i="0" u="none" strike="noStrike" kern="1200" cap="none" spc="0" normalizeH="0" baseline="0" noProof="0" dirty="0" err="1">
              <a:ln>
                <a:noFill/>
              </a:ln>
              <a:effectLst/>
              <a:uLnTx/>
              <a:uFillTx/>
              <a:latin typeface="Arial" panose="020B0604020202020204"/>
              <a:ea typeface="+mn-ea"/>
              <a:cs typeface="+mn-cs"/>
            </a:endParaRPr>
          </a:p>
        </p:txBody>
      </p:sp>
      <p:sp>
        <p:nvSpPr>
          <p:cNvPr id="9" name="TextBox 8">
            <a:extLst>
              <a:ext uri="{FF2B5EF4-FFF2-40B4-BE49-F238E27FC236}">
                <a16:creationId xmlns:a16="http://schemas.microsoft.com/office/drawing/2014/main" id="{1FADD5F0-F578-C38B-4456-0AE37A64E177}"/>
              </a:ext>
            </a:extLst>
          </p:cNvPr>
          <p:cNvSpPr txBox="1"/>
          <p:nvPr/>
        </p:nvSpPr>
        <p:spPr>
          <a:xfrm>
            <a:off x="5746712" y="5712455"/>
            <a:ext cx="1794190" cy="388610"/>
          </a:xfrm>
          <a:prstGeom prst="rect">
            <a:avLst/>
          </a:prstGeom>
          <a:solidFill>
            <a:srgbClr val="36526D"/>
          </a:solidFill>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endParaRPr kumimoji="0" lang="en-US" sz="2400" b="1" i="0" u="none" strike="noStrike" kern="1200" cap="none" spc="0" normalizeH="0" baseline="0" noProof="0" dirty="0" err="1">
              <a:ln>
                <a:noFill/>
              </a:ln>
              <a:effectLst/>
              <a:uLnTx/>
              <a:uFillTx/>
              <a:latin typeface="Arial" panose="020B0604020202020204"/>
              <a:ea typeface="+mn-ea"/>
              <a:cs typeface="+mn-cs"/>
            </a:endParaRPr>
          </a:p>
        </p:txBody>
      </p:sp>
      <p:sp>
        <p:nvSpPr>
          <p:cNvPr id="10" name="TextBox 9">
            <a:extLst>
              <a:ext uri="{FF2B5EF4-FFF2-40B4-BE49-F238E27FC236}">
                <a16:creationId xmlns:a16="http://schemas.microsoft.com/office/drawing/2014/main" id="{24B6EDBE-BEB4-7B46-BA1A-C785D73A99CD}"/>
              </a:ext>
            </a:extLst>
          </p:cNvPr>
          <p:cNvSpPr txBox="1"/>
          <p:nvPr/>
        </p:nvSpPr>
        <p:spPr>
          <a:xfrm>
            <a:off x="7535350" y="5712867"/>
            <a:ext cx="1048814" cy="388610"/>
          </a:xfrm>
          <a:prstGeom prst="rect">
            <a:avLst/>
          </a:prstGeom>
          <a:solidFill>
            <a:srgbClr val="658BB2"/>
          </a:solidFill>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endParaRPr kumimoji="0" lang="en-US" sz="2400" b="1" i="0" u="none" strike="noStrike" kern="1200" cap="none" spc="0" normalizeH="0" baseline="0" noProof="0" dirty="0" err="1">
              <a:ln>
                <a:noFill/>
              </a:ln>
              <a:effectLst/>
              <a:uLnTx/>
              <a:uFillTx/>
              <a:latin typeface="Arial" panose="020B0604020202020204"/>
              <a:ea typeface="+mn-ea"/>
              <a:cs typeface="+mn-cs"/>
            </a:endParaRPr>
          </a:p>
        </p:txBody>
      </p:sp>
      <p:sp>
        <p:nvSpPr>
          <p:cNvPr id="8" name="TextBox 7">
            <a:extLst>
              <a:ext uri="{FF2B5EF4-FFF2-40B4-BE49-F238E27FC236}">
                <a16:creationId xmlns:a16="http://schemas.microsoft.com/office/drawing/2014/main" id="{BE68401C-024D-2104-B8D4-D69A889E886E}"/>
              </a:ext>
            </a:extLst>
          </p:cNvPr>
          <p:cNvSpPr txBox="1"/>
          <p:nvPr/>
        </p:nvSpPr>
        <p:spPr>
          <a:xfrm>
            <a:off x="5663585" y="5649503"/>
            <a:ext cx="4977897" cy="353282"/>
          </a:xfrm>
          <a:prstGeom prst="rect">
            <a:avLst/>
          </a:prstGeom>
          <a:noFill/>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2800" b="1" dirty="0" err="1">
                <a:latin typeface="Consolas" panose="020B0609020204030204" pitchFamily="49" charset="0"/>
              </a:rPr>
              <a:t>fcbb</a:t>
            </a:r>
            <a:r>
              <a:rPr lang="sk-SK" sz="2800" b="1" dirty="0">
                <a:latin typeface="Consolas" panose="020B0609020204030204" pitchFamily="49" charset="0"/>
              </a:rPr>
              <a:t>:</a:t>
            </a:r>
            <a:r>
              <a:rPr lang="en-US" sz="2800" b="1" dirty="0" err="1">
                <a:latin typeface="Consolas" panose="020B0609020204030204" pitchFamily="49" charset="0"/>
              </a:rPr>
              <a:t>bb</a:t>
            </a:r>
            <a:r>
              <a:rPr lang="en-US" sz="2800" b="1" dirty="0" err="1">
                <a:solidFill>
                  <a:srgbClr val="0065FF"/>
                </a:solidFill>
                <a:latin typeface="Consolas" panose="020B0609020204030204" pitchFamily="49" charset="0"/>
              </a:rPr>
              <a:t>01</a:t>
            </a:r>
            <a:r>
              <a:rPr lang="sk-SK" sz="2800" b="1" dirty="0">
                <a:solidFill>
                  <a:schemeClr val="bg1"/>
                </a:solidFill>
                <a:latin typeface="Consolas" panose="020B0609020204030204" pitchFamily="49" charset="0"/>
              </a:rPr>
              <a:t>:</a:t>
            </a:r>
            <a:r>
              <a:rPr lang="en-US" sz="2800" b="1" dirty="0">
                <a:solidFill>
                  <a:srgbClr val="00B050"/>
                </a:solidFill>
                <a:latin typeface="Consolas" panose="020B0609020204030204" pitchFamily="49" charset="0"/>
              </a:rPr>
              <a:t>01</a:t>
            </a:r>
            <a:r>
              <a:rPr lang="en-US" sz="2800" b="1" dirty="0">
                <a:solidFill>
                  <a:srgbClr val="7030A0"/>
                </a:solidFill>
                <a:latin typeface="Consolas" panose="020B0609020204030204" pitchFamily="49" charset="0"/>
              </a:rPr>
              <a:t>01</a:t>
            </a:r>
            <a:r>
              <a:rPr lang="sk-SK" sz="2800" b="1" dirty="0">
                <a:latin typeface="Consolas" panose="020B0609020204030204" pitchFamily="49" charset="0"/>
              </a:rPr>
              <a:t>::/</a:t>
            </a:r>
            <a:r>
              <a:rPr lang="en-US" sz="2800" b="1" dirty="0">
                <a:latin typeface="Consolas" panose="020B0609020204030204" pitchFamily="49" charset="0"/>
              </a:rPr>
              <a:t>48</a:t>
            </a:r>
            <a:endParaRPr kumimoji="0" lang="en-US" sz="2800" b="1" i="0" u="none" strike="noStrike" kern="1200" cap="none" spc="0" normalizeH="0" baseline="0" noProof="0" dirty="0" err="1">
              <a:ln>
                <a:noFill/>
              </a:ln>
              <a:effectLst/>
              <a:uLnTx/>
              <a:uFillTx/>
              <a:latin typeface="Arial" panose="020B0604020202020204"/>
              <a:ea typeface="+mn-ea"/>
              <a:cs typeface="+mn-cs"/>
            </a:endParaRPr>
          </a:p>
        </p:txBody>
      </p:sp>
      <p:pic>
        <p:nvPicPr>
          <p:cNvPr id="4" name="Picture 3" descr="A diagram of a blockchain&#10;&#10;Description automatically generated">
            <a:extLst>
              <a:ext uri="{FF2B5EF4-FFF2-40B4-BE49-F238E27FC236}">
                <a16:creationId xmlns:a16="http://schemas.microsoft.com/office/drawing/2014/main" id="{038BF0B3-885E-5813-4964-8AF83371FD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35350" y="147043"/>
            <a:ext cx="4579563" cy="2207909"/>
          </a:xfrm>
          <a:prstGeom prst="rect">
            <a:avLst/>
          </a:prstGeom>
        </p:spPr>
      </p:pic>
    </p:spTree>
    <p:extLst>
      <p:ext uri="{BB962C8B-B14F-4D97-AF65-F5344CB8AC3E}">
        <p14:creationId xmlns:p14="http://schemas.microsoft.com/office/powerpoint/2010/main" val="75552015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8E71338-2C7C-9039-7B5D-EB3AF3797A7C}"/>
              </a:ext>
            </a:extLst>
          </p:cNvPr>
          <p:cNvSpPr>
            <a:spLocks noGrp="1"/>
          </p:cNvSpPr>
          <p:nvPr>
            <p:ph type="body" sz="quarter" idx="11"/>
          </p:nvPr>
        </p:nvSpPr>
        <p:spPr/>
        <p:txBody>
          <a:bodyPr/>
          <a:lstStyle/>
          <a:p>
            <a:r>
              <a:rPr lang="en-US" dirty="0"/>
              <a:t>Micro SID configuration example – </a:t>
            </a:r>
            <a:r>
              <a:rPr lang="en-US" dirty="0">
                <a:solidFill>
                  <a:schemeClr val="accent5"/>
                </a:solidFill>
              </a:rPr>
              <a:t>IOS-XR</a:t>
            </a:r>
          </a:p>
        </p:txBody>
      </p:sp>
      <p:sp>
        <p:nvSpPr>
          <p:cNvPr id="5" name="Rectangle 4">
            <a:extLst>
              <a:ext uri="{FF2B5EF4-FFF2-40B4-BE49-F238E27FC236}">
                <a16:creationId xmlns:a16="http://schemas.microsoft.com/office/drawing/2014/main" id="{061CAFFC-9529-97EE-5600-0F0DA2A7AED3}"/>
              </a:ext>
            </a:extLst>
          </p:cNvPr>
          <p:cNvSpPr/>
          <p:nvPr/>
        </p:nvSpPr>
        <p:spPr>
          <a:xfrm>
            <a:off x="802641" y="905117"/>
            <a:ext cx="4429760" cy="5747727"/>
          </a:xfrm>
          <a:prstGeom prst="rect">
            <a:avLst/>
          </a:prstGeom>
          <a:solidFill>
            <a:schemeClr val="bg1">
              <a:lumMod val="95000"/>
            </a:schemeClr>
          </a:solidFill>
          <a:ln>
            <a:solidFill>
              <a:schemeClr val="tx1"/>
            </a:solidFill>
          </a:ln>
          <a:effectLst/>
        </p:spPr>
        <p:txBody>
          <a:bodyPr wrap="square">
            <a:spAutoFit/>
          </a:bodyPr>
          <a:lstStyle/>
          <a:p>
            <a:r>
              <a:rPr lang="sk-SK" sz="1050" dirty="0">
                <a:latin typeface="Consolas" panose="020B0609020204030204" pitchFamily="49" charset="0"/>
              </a:rPr>
              <a:t>!</a:t>
            </a:r>
          </a:p>
          <a:p>
            <a:r>
              <a:rPr lang="sk-SK" sz="1050" dirty="0">
                <a:latin typeface="Consolas" panose="020B0609020204030204" pitchFamily="49" charset="0"/>
              </a:rPr>
              <a:t>segment-routing</a:t>
            </a:r>
          </a:p>
          <a:p>
            <a:r>
              <a:rPr lang="sk-SK" sz="1050" dirty="0">
                <a:latin typeface="Consolas" panose="020B0609020204030204" pitchFamily="49" charset="0"/>
              </a:rPr>
              <a:t> </a:t>
            </a:r>
            <a:r>
              <a:rPr lang="sk-SK" sz="1050" dirty="0" err="1">
                <a:latin typeface="Consolas" panose="020B0609020204030204" pitchFamily="49" charset="0"/>
              </a:rPr>
              <a:t>srv6</a:t>
            </a:r>
            <a:endParaRPr lang="sk-SK" sz="1050" dirty="0">
              <a:latin typeface="Consolas" panose="020B0609020204030204" pitchFamily="49" charset="0"/>
            </a:endParaRPr>
          </a:p>
          <a:p>
            <a:r>
              <a:rPr lang="sk-SK" sz="1050" dirty="0">
                <a:latin typeface="Consolas" panose="020B0609020204030204" pitchFamily="49" charset="0"/>
              </a:rPr>
              <a:t>  </a:t>
            </a:r>
            <a:r>
              <a:rPr lang="sk-SK" sz="1050" dirty="0" err="1">
                <a:latin typeface="Consolas" panose="020B0609020204030204" pitchFamily="49" charset="0"/>
              </a:rPr>
              <a:t>logging</a:t>
            </a:r>
            <a:r>
              <a:rPr lang="sk-SK" sz="1050" dirty="0">
                <a:latin typeface="Consolas" panose="020B0609020204030204" pitchFamily="49" charset="0"/>
              </a:rPr>
              <a:t> </a:t>
            </a:r>
            <a:r>
              <a:rPr lang="sk-SK" sz="1050" dirty="0" err="1">
                <a:latin typeface="Consolas" panose="020B0609020204030204" pitchFamily="49" charset="0"/>
              </a:rPr>
              <a:t>locator</a:t>
            </a:r>
            <a:r>
              <a:rPr lang="sk-SK" sz="1050" dirty="0">
                <a:latin typeface="Consolas" panose="020B0609020204030204" pitchFamily="49" charset="0"/>
              </a:rPr>
              <a:t> status</a:t>
            </a:r>
          </a:p>
          <a:p>
            <a:r>
              <a:rPr lang="sk-SK" sz="1050" dirty="0">
                <a:latin typeface="Consolas" panose="020B0609020204030204" pitchFamily="49" charset="0"/>
              </a:rPr>
              <a:t>  </a:t>
            </a:r>
            <a:r>
              <a:rPr lang="sk-SK" sz="1050" dirty="0" err="1">
                <a:latin typeface="Consolas" panose="020B0609020204030204" pitchFamily="49" charset="0"/>
              </a:rPr>
              <a:t>locators</a:t>
            </a:r>
            <a:endParaRPr lang="sk-SK" sz="1050" dirty="0">
              <a:latin typeface="Consolas" panose="020B0609020204030204" pitchFamily="49" charset="0"/>
            </a:endParaRPr>
          </a:p>
          <a:p>
            <a:r>
              <a:rPr lang="sk-SK" sz="1050" dirty="0">
                <a:latin typeface="Consolas" panose="020B0609020204030204" pitchFamily="49" charset="0"/>
              </a:rPr>
              <a:t>   </a:t>
            </a:r>
            <a:r>
              <a:rPr lang="sk-SK" sz="1050" dirty="0" err="1">
                <a:latin typeface="Consolas" panose="020B0609020204030204" pitchFamily="49" charset="0"/>
              </a:rPr>
              <a:t>locator</a:t>
            </a:r>
            <a:r>
              <a:rPr lang="sk-SK" sz="1050" dirty="0">
                <a:latin typeface="Consolas" panose="020B0609020204030204" pitchFamily="49" charset="0"/>
              </a:rPr>
              <a:t> </a:t>
            </a:r>
            <a:r>
              <a:rPr lang="sk-SK" sz="1050" dirty="0" err="1">
                <a:highlight>
                  <a:srgbClr val="FFFF00"/>
                </a:highlight>
                <a:latin typeface="Consolas" panose="020B0609020204030204" pitchFamily="49" charset="0"/>
              </a:rPr>
              <a:t>Loc_uSID_Algo_0</a:t>
            </a:r>
            <a:endParaRPr lang="sk-SK" sz="1050" dirty="0">
              <a:highlight>
                <a:srgbClr val="FFFF00"/>
              </a:highlight>
              <a:latin typeface="Consolas" panose="020B0609020204030204" pitchFamily="49" charset="0"/>
            </a:endParaRPr>
          </a:p>
          <a:p>
            <a:r>
              <a:rPr lang="sk-SK" sz="1050" dirty="0">
                <a:latin typeface="Consolas" panose="020B0609020204030204" pitchFamily="49" charset="0"/>
              </a:rPr>
              <a:t>    </a:t>
            </a:r>
            <a:r>
              <a:rPr lang="sk-SK" sz="1050" dirty="0" err="1">
                <a:latin typeface="Consolas" panose="020B0609020204030204" pitchFamily="49" charset="0"/>
              </a:rPr>
              <a:t>micro</a:t>
            </a:r>
            <a:r>
              <a:rPr lang="sk-SK" sz="1050" dirty="0">
                <a:latin typeface="Consolas" panose="020B0609020204030204" pitchFamily="49" charset="0"/>
              </a:rPr>
              <a:t>-segment </a:t>
            </a:r>
            <a:r>
              <a:rPr lang="sk-SK" sz="1050" dirty="0" err="1">
                <a:latin typeface="Consolas" panose="020B0609020204030204" pitchFamily="49" charset="0"/>
              </a:rPr>
              <a:t>behavior</a:t>
            </a:r>
            <a:r>
              <a:rPr lang="sk-SK" sz="1050" dirty="0">
                <a:latin typeface="Consolas" panose="020B0609020204030204" pitchFamily="49" charset="0"/>
              </a:rPr>
              <a:t> </a:t>
            </a:r>
            <a:r>
              <a:rPr lang="sk-SK" sz="1050" dirty="0" err="1">
                <a:latin typeface="Consolas" panose="020B0609020204030204" pitchFamily="49" charset="0"/>
              </a:rPr>
              <a:t>unode</a:t>
            </a:r>
            <a:r>
              <a:rPr lang="sk-SK" sz="1050" dirty="0">
                <a:latin typeface="Consolas" panose="020B0609020204030204" pitchFamily="49" charset="0"/>
              </a:rPr>
              <a:t> </a:t>
            </a:r>
            <a:r>
              <a:rPr lang="sk-SK" sz="1050" dirty="0" err="1">
                <a:latin typeface="Consolas" panose="020B0609020204030204" pitchFamily="49" charset="0"/>
              </a:rPr>
              <a:t>psp-usd</a:t>
            </a:r>
            <a:endParaRPr lang="sk-SK" sz="1050" dirty="0">
              <a:latin typeface="Consolas" panose="020B0609020204030204" pitchFamily="49" charset="0"/>
            </a:endParaRPr>
          </a:p>
          <a:p>
            <a:r>
              <a:rPr lang="sk-SK" sz="1050" dirty="0">
                <a:latin typeface="Consolas" panose="020B0609020204030204" pitchFamily="49" charset="0"/>
              </a:rPr>
              <a:t>    prefix </a:t>
            </a:r>
            <a:r>
              <a:rPr lang="sk-SK" sz="1050" dirty="0" err="1">
                <a:highlight>
                  <a:srgbClr val="00FFFF"/>
                </a:highlight>
                <a:latin typeface="Consolas" panose="020B0609020204030204" pitchFamily="49" charset="0"/>
              </a:rPr>
              <a:t>fc00:ab00:1</a:t>
            </a:r>
            <a:r>
              <a:rPr lang="sk-SK" sz="1050" dirty="0">
                <a:highlight>
                  <a:srgbClr val="00FFFF"/>
                </a:highlight>
                <a:latin typeface="Consolas" panose="020B0609020204030204" pitchFamily="49" charset="0"/>
              </a:rPr>
              <a:t>::/48</a:t>
            </a:r>
          </a:p>
          <a:p>
            <a:r>
              <a:rPr lang="sk-SK" sz="1050" dirty="0">
                <a:latin typeface="Consolas" panose="020B0609020204030204" pitchFamily="49" charset="0"/>
              </a:rPr>
              <a:t>   !     </a:t>
            </a:r>
          </a:p>
          <a:p>
            <a:r>
              <a:rPr lang="sk-SK" sz="1050" dirty="0">
                <a:latin typeface="Consolas" panose="020B0609020204030204" pitchFamily="49" charset="0"/>
              </a:rPr>
              <a:t>!</a:t>
            </a:r>
          </a:p>
          <a:p>
            <a:r>
              <a:rPr lang="sk-SK" sz="1050" dirty="0">
                <a:latin typeface="Consolas" panose="020B0609020204030204" pitchFamily="49" charset="0"/>
              </a:rPr>
              <a:t>router </a:t>
            </a:r>
            <a:r>
              <a:rPr lang="sk-SK" sz="1050" dirty="0" err="1">
                <a:latin typeface="Consolas" panose="020B0609020204030204" pitchFamily="49" charset="0"/>
              </a:rPr>
              <a:t>isis</a:t>
            </a:r>
            <a:r>
              <a:rPr lang="sk-SK" sz="1050" dirty="0">
                <a:latin typeface="Consolas" panose="020B0609020204030204" pitchFamily="49" charset="0"/>
              </a:rPr>
              <a:t> 1</a:t>
            </a:r>
          </a:p>
          <a:p>
            <a:r>
              <a:rPr lang="sk-SK" sz="1050" dirty="0">
                <a:latin typeface="Consolas" panose="020B0609020204030204" pitchFamily="49" charset="0"/>
              </a:rPr>
              <a:t> </a:t>
            </a:r>
            <a:r>
              <a:rPr lang="sk-SK" sz="1050" dirty="0" err="1">
                <a:latin typeface="Consolas" panose="020B0609020204030204" pitchFamily="49" charset="0"/>
              </a:rPr>
              <a:t>is</a:t>
            </a:r>
            <a:r>
              <a:rPr lang="sk-SK" sz="1050" dirty="0">
                <a:latin typeface="Consolas" panose="020B0609020204030204" pitchFamily="49" charset="0"/>
              </a:rPr>
              <a:t>-type level-2-only</a:t>
            </a:r>
          </a:p>
          <a:p>
            <a:r>
              <a:rPr lang="sk-SK" sz="1050" dirty="0">
                <a:latin typeface="Consolas" panose="020B0609020204030204" pitchFamily="49" charset="0"/>
              </a:rPr>
              <a:t> net 49.0001.0000.0000.0002.00</a:t>
            </a:r>
          </a:p>
          <a:p>
            <a:r>
              <a:rPr lang="sk-SK" sz="1050" dirty="0">
                <a:latin typeface="Consolas" panose="020B0609020204030204" pitchFamily="49" charset="0"/>
              </a:rPr>
              <a:t>!</a:t>
            </a:r>
          </a:p>
          <a:p>
            <a:r>
              <a:rPr lang="sk-SK" sz="1050" dirty="0">
                <a:latin typeface="Consolas" panose="020B0609020204030204" pitchFamily="49" charset="0"/>
              </a:rPr>
              <a:t> </a:t>
            </a:r>
            <a:r>
              <a:rPr lang="sk-SK" sz="1050" dirty="0" err="1">
                <a:latin typeface="Consolas" panose="020B0609020204030204" pitchFamily="49" charset="0"/>
              </a:rPr>
              <a:t>address-family</a:t>
            </a:r>
            <a:r>
              <a:rPr lang="sk-SK" sz="1050" dirty="0">
                <a:latin typeface="Consolas" panose="020B0609020204030204" pitchFamily="49" charset="0"/>
              </a:rPr>
              <a:t> ipv6 </a:t>
            </a:r>
            <a:r>
              <a:rPr lang="sk-SK" sz="1050" dirty="0" err="1">
                <a:latin typeface="Consolas" panose="020B0609020204030204" pitchFamily="49" charset="0"/>
              </a:rPr>
              <a:t>unicast</a:t>
            </a:r>
            <a:endParaRPr lang="sk-SK" sz="1050" dirty="0">
              <a:latin typeface="Consolas" panose="020B0609020204030204" pitchFamily="49" charset="0"/>
            </a:endParaRPr>
          </a:p>
          <a:p>
            <a:r>
              <a:rPr lang="sk-SK" sz="1050" dirty="0">
                <a:latin typeface="Consolas" panose="020B0609020204030204" pitchFamily="49" charset="0"/>
              </a:rPr>
              <a:t>  </a:t>
            </a:r>
            <a:r>
              <a:rPr lang="sk-SK" sz="1050" dirty="0" err="1">
                <a:latin typeface="Consolas" panose="020B0609020204030204" pitchFamily="49" charset="0"/>
              </a:rPr>
              <a:t>metric-style</a:t>
            </a:r>
            <a:r>
              <a:rPr lang="sk-SK" sz="1050" dirty="0">
                <a:latin typeface="Consolas" panose="020B0609020204030204" pitchFamily="49" charset="0"/>
              </a:rPr>
              <a:t> </a:t>
            </a:r>
            <a:r>
              <a:rPr lang="sk-SK" sz="1050" dirty="0" err="1">
                <a:latin typeface="Consolas" panose="020B0609020204030204" pitchFamily="49" charset="0"/>
              </a:rPr>
              <a:t>wide</a:t>
            </a:r>
            <a:endParaRPr lang="sk-SK" sz="1050" dirty="0">
              <a:latin typeface="Consolas" panose="020B0609020204030204" pitchFamily="49" charset="0"/>
            </a:endParaRPr>
          </a:p>
          <a:p>
            <a:r>
              <a:rPr lang="sk-SK" sz="1050" dirty="0">
                <a:latin typeface="Consolas" panose="020B0609020204030204" pitchFamily="49" charset="0"/>
              </a:rPr>
              <a:t>  segment-routing srv6</a:t>
            </a:r>
          </a:p>
          <a:p>
            <a:r>
              <a:rPr lang="cs-CZ" sz="1050" dirty="0">
                <a:latin typeface="Consolas" panose="020B0609020204030204" pitchFamily="49" charset="0"/>
              </a:rPr>
              <a:t>   </a:t>
            </a:r>
            <a:r>
              <a:rPr lang="en-US" sz="1050" dirty="0">
                <a:latin typeface="Consolas" panose="020B0609020204030204" pitchFamily="49" charset="0"/>
              </a:rPr>
              <a:t>locator </a:t>
            </a:r>
            <a:r>
              <a:rPr lang="en-US" sz="1050" dirty="0" err="1">
                <a:highlight>
                  <a:srgbClr val="FFFF00"/>
                </a:highlight>
                <a:latin typeface="Consolas" panose="020B0609020204030204" pitchFamily="49" charset="0"/>
              </a:rPr>
              <a:t>Loc_uSID_Algo_0</a:t>
            </a:r>
            <a:endParaRPr lang="en-US" sz="1050" dirty="0">
              <a:highlight>
                <a:srgbClr val="FFFF00"/>
              </a:highlight>
              <a:latin typeface="Consolas" panose="020B0609020204030204" pitchFamily="49" charset="0"/>
            </a:endParaRPr>
          </a:p>
          <a:p>
            <a:r>
              <a:rPr lang="en-US" sz="1050" dirty="0">
                <a:latin typeface="Consolas" panose="020B0609020204030204" pitchFamily="49" charset="0"/>
              </a:rPr>
              <a:t>    level 2</a:t>
            </a:r>
            <a:endParaRPr lang="sk-SK" sz="1050" dirty="0">
              <a:latin typeface="Consolas" panose="020B0609020204030204" pitchFamily="49" charset="0"/>
            </a:endParaRPr>
          </a:p>
          <a:p>
            <a:r>
              <a:rPr lang="sk-SK" sz="1050" dirty="0">
                <a:latin typeface="Consolas" panose="020B0609020204030204" pitchFamily="49" charset="0"/>
              </a:rPr>
              <a:t>  !</a:t>
            </a:r>
          </a:p>
          <a:p>
            <a:r>
              <a:rPr lang="sk-SK" sz="1050" dirty="0">
                <a:latin typeface="Consolas" panose="020B0609020204030204" pitchFamily="49" charset="0"/>
              </a:rPr>
              <a:t> !</a:t>
            </a:r>
          </a:p>
          <a:p>
            <a:r>
              <a:rPr lang="sk-SK" sz="1050" dirty="0">
                <a:latin typeface="Consolas" panose="020B0609020204030204" pitchFamily="49" charset="0"/>
              </a:rPr>
              <a:t> interface Loopback0</a:t>
            </a:r>
          </a:p>
          <a:p>
            <a:r>
              <a:rPr lang="sk-SK" sz="1050" dirty="0">
                <a:latin typeface="Consolas" panose="020B0609020204030204" pitchFamily="49" charset="0"/>
              </a:rPr>
              <a:t>  </a:t>
            </a:r>
            <a:r>
              <a:rPr lang="sk-SK" sz="1050" dirty="0" err="1">
                <a:latin typeface="Consolas" panose="020B0609020204030204" pitchFamily="49" charset="0"/>
              </a:rPr>
              <a:t>passive</a:t>
            </a:r>
            <a:endParaRPr lang="sk-SK" sz="1050" dirty="0">
              <a:latin typeface="Consolas" panose="020B0609020204030204" pitchFamily="49" charset="0"/>
            </a:endParaRPr>
          </a:p>
          <a:p>
            <a:r>
              <a:rPr lang="sk-SK" sz="1050" dirty="0">
                <a:latin typeface="Consolas" panose="020B0609020204030204" pitchFamily="49" charset="0"/>
              </a:rPr>
              <a:t>  </a:t>
            </a:r>
            <a:r>
              <a:rPr lang="sk-SK" sz="1050" dirty="0" err="1">
                <a:latin typeface="Consolas" panose="020B0609020204030204" pitchFamily="49" charset="0"/>
              </a:rPr>
              <a:t>circuit</a:t>
            </a:r>
            <a:r>
              <a:rPr lang="sk-SK" sz="1050" dirty="0">
                <a:latin typeface="Consolas" panose="020B0609020204030204" pitchFamily="49" charset="0"/>
              </a:rPr>
              <a:t>-type level-2-only</a:t>
            </a:r>
          </a:p>
          <a:p>
            <a:r>
              <a:rPr lang="sk-SK" sz="1050" dirty="0">
                <a:latin typeface="Consolas" panose="020B0609020204030204" pitchFamily="49" charset="0"/>
              </a:rPr>
              <a:t>  </a:t>
            </a:r>
            <a:r>
              <a:rPr lang="sk-SK" sz="1050" dirty="0" err="1">
                <a:latin typeface="Consolas" panose="020B0609020204030204" pitchFamily="49" charset="0"/>
              </a:rPr>
              <a:t>address-family</a:t>
            </a:r>
            <a:r>
              <a:rPr lang="sk-SK" sz="1050" dirty="0">
                <a:latin typeface="Consolas" panose="020B0609020204030204" pitchFamily="49" charset="0"/>
              </a:rPr>
              <a:t> ipv6 </a:t>
            </a:r>
            <a:r>
              <a:rPr lang="sk-SK" sz="1050" dirty="0" err="1">
                <a:latin typeface="Consolas" panose="020B0609020204030204" pitchFamily="49" charset="0"/>
              </a:rPr>
              <a:t>unicast</a:t>
            </a:r>
            <a:endParaRPr lang="sk-SK" sz="1050" dirty="0">
              <a:latin typeface="Consolas" panose="020B0609020204030204" pitchFamily="49" charset="0"/>
            </a:endParaRPr>
          </a:p>
          <a:p>
            <a:r>
              <a:rPr lang="sk-SK" sz="1050" dirty="0">
                <a:latin typeface="Consolas" panose="020B0609020204030204" pitchFamily="49" charset="0"/>
              </a:rPr>
              <a:t>  !</a:t>
            </a:r>
          </a:p>
          <a:p>
            <a:r>
              <a:rPr lang="sk-SK" sz="1050" dirty="0">
                <a:latin typeface="Consolas" panose="020B0609020204030204" pitchFamily="49" charset="0"/>
              </a:rPr>
              <a:t> !</a:t>
            </a:r>
          </a:p>
          <a:p>
            <a:r>
              <a:rPr lang="sk-SK" sz="1050" dirty="0">
                <a:latin typeface="Consolas" panose="020B0609020204030204" pitchFamily="49" charset="0"/>
              </a:rPr>
              <a:t> interface GigabitEthernet0/0/0/0</a:t>
            </a:r>
          </a:p>
          <a:p>
            <a:r>
              <a:rPr lang="sk-SK" sz="1050" dirty="0">
                <a:latin typeface="Consolas" panose="020B0609020204030204" pitchFamily="49" charset="0"/>
              </a:rPr>
              <a:t>  </a:t>
            </a:r>
            <a:r>
              <a:rPr lang="sk-SK" sz="1050" dirty="0" err="1">
                <a:latin typeface="Consolas" panose="020B0609020204030204" pitchFamily="49" charset="0"/>
              </a:rPr>
              <a:t>circuit</a:t>
            </a:r>
            <a:r>
              <a:rPr lang="sk-SK" sz="1050" dirty="0">
                <a:latin typeface="Consolas" panose="020B0609020204030204" pitchFamily="49" charset="0"/>
              </a:rPr>
              <a:t>-type level-2-only</a:t>
            </a:r>
          </a:p>
          <a:p>
            <a:r>
              <a:rPr lang="sk-SK" sz="1050" dirty="0">
                <a:latin typeface="Consolas" panose="020B0609020204030204" pitchFamily="49" charset="0"/>
              </a:rPr>
              <a:t>  point-to-point</a:t>
            </a:r>
          </a:p>
          <a:p>
            <a:r>
              <a:rPr lang="en-US" sz="1050" dirty="0">
                <a:latin typeface="Consolas" panose="020B0609020204030204" pitchFamily="49" charset="0"/>
              </a:rPr>
              <a:t>  </a:t>
            </a:r>
            <a:r>
              <a:rPr lang="sk-SK" sz="1050" dirty="0" err="1">
                <a:latin typeface="Consolas" panose="020B0609020204030204" pitchFamily="49" charset="0"/>
              </a:rPr>
              <a:t>address-family</a:t>
            </a:r>
            <a:r>
              <a:rPr lang="sk-SK" sz="1050" dirty="0">
                <a:latin typeface="Consolas" panose="020B0609020204030204" pitchFamily="49" charset="0"/>
              </a:rPr>
              <a:t> ipv6 </a:t>
            </a:r>
            <a:r>
              <a:rPr lang="sk-SK" sz="1050" dirty="0" err="1">
                <a:latin typeface="Consolas" panose="020B0609020204030204" pitchFamily="49" charset="0"/>
              </a:rPr>
              <a:t>unicast</a:t>
            </a:r>
            <a:endParaRPr lang="sk-SK" sz="1050" dirty="0">
              <a:latin typeface="Consolas" panose="020B0609020204030204" pitchFamily="49" charset="0"/>
            </a:endParaRPr>
          </a:p>
          <a:p>
            <a:r>
              <a:rPr lang="sk-SK" sz="1050" dirty="0">
                <a:latin typeface="Consolas" panose="020B0609020204030204" pitchFamily="49" charset="0"/>
              </a:rPr>
              <a:t>  !</a:t>
            </a:r>
          </a:p>
          <a:p>
            <a:r>
              <a:rPr lang="sk-SK" sz="1050" dirty="0">
                <a:latin typeface="Consolas" panose="020B0609020204030204" pitchFamily="49" charset="0"/>
              </a:rPr>
              <a:t> !</a:t>
            </a:r>
          </a:p>
          <a:p>
            <a:r>
              <a:rPr lang="sk-SK" sz="1050" dirty="0">
                <a:solidFill>
                  <a:srgbClr val="FF0000"/>
                </a:solidFill>
                <a:latin typeface="Consolas" panose="020B0609020204030204" pitchFamily="49" charset="0"/>
              </a:rPr>
              <a:t> </a:t>
            </a:r>
          </a:p>
        </p:txBody>
      </p:sp>
      <p:sp>
        <p:nvSpPr>
          <p:cNvPr id="6" name="Callout: Line 5">
            <a:extLst>
              <a:ext uri="{FF2B5EF4-FFF2-40B4-BE49-F238E27FC236}">
                <a16:creationId xmlns:a16="http://schemas.microsoft.com/office/drawing/2014/main" id="{C2691CC9-46F7-2B4E-2BBC-F86D15B680C0}"/>
              </a:ext>
            </a:extLst>
          </p:cNvPr>
          <p:cNvSpPr/>
          <p:nvPr/>
        </p:nvSpPr>
        <p:spPr>
          <a:xfrm>
            <a:off x="6095999" y="1107441"/>
            <a:ext cx="1625600" cy="396240"/>
          </a:xfrm>
          <a:prstGeom prst="borderCallout1">
            <a:avLst>
              <a:gd name="adj1" fmla="val 18750"/>
              <a:gd name="adj2" fmla="val -8333"/>
              <a:gd name="adj3" fmla="val 182540"/>
              <a:gd name="adj4" fmla="val -196728"/>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Locator name</a:t>
            </a:r>
          </a:p>
        </p:txBody>
      </p:sp>
      <p:sp>
        <p:nvSpPr>
          <p:cNvPr id="7" name="Callout: Line 6">
            <a:extLst>
              <a:ext uri="{FF2B5EF4-FFF2-40B4-BE49-F238E27FC236}">
                <a16:creationId xmlns:a16="http://schemas.microsoft.com/office/drawing/2014/main" id="{D9A83E66-DB91-2BD1-E81E-AE2A2B78B044}"/>
              </a:ext>
            </a:extLst>
          </p:cNvPr>
          <p:cNvSpPr/>
          <p:nvPr/>
        </p:nvSpPr>
        <p:spPr>
          <a:xfrm>
            <a:off x="6095998" y="2021275"/>
            <a:ext cx="3982721" cy="396240"/>
          </a:xfrm>
          <a:prstGeom prst="borderCallout1">
            <a:avLst>
              <a:gd name="adj1" fmla="val 18750"/>
              <a:gd name="adj2" fmla="val -8333"/>
              <a:gd name="adj3" fmla="val 35361"/>
              <a:gd name="adj4" fmla="val -7934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Locator value in IPv6 address format</a:t>
            </a:r>
          </a:p>
        </p:txBody>
      </p:sp>
      <p:sp>
        <p:nvSpPr>
          <p:cNvPr id="8" name="Callout: Line 7">
            <a:extLst>
              <a:ext uri="{FF2B5EF4-FFF2-40B4-BE49-F238E27FC236}">
                <a16:creationId xmlns:a16="http://schemas.microsoft.com/office/drawing/2014/main" id="{C9B0B2F3-BDFB-4F8F-0886-C16A954D57FC}"/>
              </a:ext>
            </a:extLst>
          </p:cNvPr>
          <p:cNvSpPr/>
          <p:nvPr/>
        </p:nvSpPr>
        <p:spPr>
          <a:xfrm>
            <a:off x="6095998" y="2483614"/>
            <a:ext cx="3464561" cy="396240"/>
          </a:xfrm>
          <a:prstGeom prst="borderCallout1">
            <a:avLst>
              <a:gd name="adj1" fmla="val 18750"/>
              <a:gd name="adj2" fmla="val -8333"/>
              <a:gd name="adj3" fmla="val 36386"/>
              <a:gd name="adj4" fmla="val -120647"/>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Routing protocol for IPv6 routing</a:t>
            </a:r>
          </a:p>
        </p:txBody>
      </p:sp>
      <p:sp>
        <p:nvSpPr>
          <p:cNvPr id="4" name="Callout: Line 3">
            <a:extLst>
              <a:ext uri="{FF2B5EF4-FFF2-40B4-BE49-F238E27FC236}">
                <a16:creationId xmlns:a16="http://schemas.microsoft.com/office/drawing/2014/main" id="{744C856D-58B3-3B3C-EC32-9F51E45D92A7}"/>
              </a:ext>
            </a:extLst>
          </p:cNvPr>
          <p:cNvSpPr/>
          <p:nvPr/>
        </p:nvSpPr>
        <p:spPr>
          <a:xfrm>
            <a:off x="6095999" y="1564358"/>
            <a:ext cx="1996442" cy="396240"/>
          </a:xfrm>
          <a:prstGeom prst="borderCallout1">
            <a:avLst>
              <a:gd name="adj1" fmla="val 18750"/>
              <a:gd name="adj2" fmla="val -8333"/>
              <a:gd name="adj3" fmla="val 114847"/>
              <a:gd name="adj4" fmla="val -11076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cs-CZ" dirty="0" err="1">
                <a:solidFill>
                  <a:schemeClr val="tx1"/>
                </a:solidFill>
              </a:rPr>
              <a:t>Micro-SID</a:t>
            </a:r>
            <a:r>
              <a:rPr lang="cs-CZ" dirty="0">
                <a:solidFill>
                  <a:schemeClr val="tx1"/>
                </a:solidFill>
              </a:rPr>
              <a:t> </a:t>
            </a:r>
            <a:r>
              <a:rPr lang="cs-CZ" dirty="0" err="1">
                <a:solidFill>
                  <a:schemeClr val="tx1"/>
                </a:solidFill>
              </a:rPr>
              <a:t>is</a:t>
            </a:r>
            <a:r>
              <a:rPr lang="cs-CZ" dirty="0">
                <a:solidFill>
                  <a:schemeClr val="tx1"/>
                </a:solidFill>
              </a:rPr>
              <a:t> </a:t>
            </a:r>
            <a:r>
              <a:rPr lang="cs-CZ" dirty="0" err="1">
                <a:solidFill>
                  <a:schemeClr val="tx1"/>
                </a:solidFill>
              </a:rPr>
              <a:t>used</a:t>
            </a:r>
            <a:endParaRPr lang="en-US" dirty="0">
              <a:solidFill>
                <a:schemeClr val="tx1"/>
              </a:solidFill>
            </a:endParaRPr>
          </a:p>
        </p:txBody>
      </p:sp>
    </p:spTree>
    <p:extLst>
      <p:ext uri="{BB962C8B-B14F-4D97-AF65-F5344CB8AC3E}">
        <p14:creationId xmlns:p14="http://schemas.microsoft.com/office/powerpoint/2010/main" val="389903132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8E71338-2C7C-9039-7B5D-EB3AF3797A7C}"/>
              </a:ext>
            </a:extLst>
          </p:cNvPr>
          <p:cNvSpPr>
            <a:spLocks noGrp="1"/>
          </p:cNvSpPr>
          <p:nvPr>
            <p:ph type="body" sz="quarter" idx="11"/>
          </p:nvPr>
        </p:nvSpPr>
        <p:spPr/>
        <p:txBody>
          <a:bodyPr/>
          <a:lstStyle/>
          <a:p>
            <a:r>
              <a:rPr lang="en-US" dirty="0"/>
              <a:t>Micro SID show commands example – </a:t>
            </a:r>
            <a:r>
              <a:rPr lang="en-US" dirty="0">
                <a:solidFill>
                  <a:schemeClr val="accent5"/>
                </a:solidFill>
              </a:rPr>
              <a:t>IOS-XR</a:t>
            </a:r>
          </a:p>
        </p:txBody>
      </p:sp>
      <p:sp>
        <p:nvSpPr>
          <p:cNvPr id="5" name="Rectangle 4">
            <a:extLst>
              <a:ext uri="{FF2B5EF4-FFF2-40B4-BE49-F238E27FC236}">
                <a16:creationId xmlns:a16="http://schemas.microsoft.com/office/drawing/2014/main" id="{061CAFFC-9529-97EE-5600-0F0DA2A7AED3}"/>
              </a:ext>
            </a:extLst>
          </p:cNvPr>
          <p:cNvSpPr/>
          <p:nvPr/>
        </p:nvSpPr>
        <p:spPr>
          <a:xfrm>
            <a:off x="40166" y="1565299"/>
            <a:ext cx="9692639" cy="5262979"/>
          </a:xfrm>
          <a:prstGeom prst="rect">
            <a:avLst/>
          </a:prstGeom>
          <a:solidFill>
            <a:schemeClr val="bg1">
              <a:lumMod val="95000"/>
            </a:schemeClr>
          </a:solidFill>
          <a:ln>
            <a:solidFill>
              <a:schemeClr val="tx1"/>
            </a:solidFill>
          </a:ln>
          <a:effectLst/>
        </p:spPr>
        <p:txBody>
          <a:bodyPr wrap="square">
            <a:spAutoFit/>
          </a:bodyPr>
          <a:lstStyle/>
          <a:p>
            <a:r>
              <a:rPr lang="sk-SK" sz="1050" dirty="0">
                <a:latin typeface="Consolas" panose="020B0609020204030204" pitchFamily="49" charset="0"/>
              </a:rPr>
              <a:t>RP/0/RP0/</a:t>
            </a:r>
            <a:r>
              <a:rPr lang="sk-SK" sz="1050" dirty="0" err="1">
                <a:latin typeface="Consolas" panose="020B0609020204030204" pitchFamily="49" charset="0"/>
              </a:rPr>
              <a:t>CPU0:R01#</a:t>
            </a:r>
            <a:r>
              <a:rPr lang="sk-SK" sz="1050" b="1" dirty="0" err="1">
                <a:latin typeface="Consolas" panose="020B0609020204030204" pitchFamily="49" charset="0"/>
              </a:rPr>
              <a:t>sh</a:t>
            </a:r>
            <a:r>
              <a:rPr lang="sk-SK" sz="1050" b="1" dirty="0">
                <a:latin typeface="Consolas" panose="020B0609020204030204" pitchFamily="49" charset="0"/>
              </a:rPr>
              <a:t> segment-routing </a:t>
            </a:r>
            <a:r>
              <a:rPr lang="sk-SK" sz="1050" b="1" dirty="0" err="1">
                <a:latin typeface="Consolas" panose="020B0609020204030204" pitchFamily="49" charset="0"/>
              </a:rPr>
              <a:t>srv6</a:t>
            </a:r>
            <a:r>
              <a:rPr lang="sk-SK" sz="1050" b="1" dirty="0">
                <a:latin typeface="Consolas" panose="020B0609020204030204" pitchFamily="49" charset="0"/>
              </a:rPr>
              <a:t> </a:t>
            </a:r>
            <a:r>
              <a:rPr lang="sk-SK" sz="1050" b="1" dirty="0" err="1">
                <a:latin typeface="Consolas" panose="020B0609020204030204" pitchFamily="49" charset="0"/>
              </a:rPr>
              <a:t>locator</a:t>
            </a:r>
            <a:r>
              <a:rPr lang="sk-SK" sz="1050" b="1" dirty="0">
                <a:latin typeface="Consolas" panose="020B0609020204030204" pitchFamily="49" charset="0"/>
              </a:rPr>
              <a:t> </a:t>
            </a:r>
          </a:p>
          <a:p>
            <a:r>
              <a:rPr lang="sk-SK" sz="1050" dirty="0" err="1">
                <a:latin typeface="Consolas" panose="020B0609020204030204" pitchFamily="49" charset="0"/>
              </a:rPr>
              <a:t>Wed</a:t>
            </a:r>
            <a:r>
              <a:rPr lang="sk-SK" sz="1050" dirty="0">
                <a:latin typeface="Consolas" panose="020B0609020204030204" pitchFamily="49" charset="0"/>
              </a:rPr>
              <a:t> Mar 19 12:55:49.510 </a:t>
            </a:r>
            <a:r>
              <a:rPr lang="sk-SK" sz="1050" dirty="0" err="1">
                <a:latin typeface="Consolas" panose="020B0609020204030204" pitchFamily="49" charset="0"/>
              </a:rPr>
              <a:t>UTC</a:t>
            </a:r>
            <a:endParaRPr lang="sk-SK" sz="1050" dirty="0">
              <a:latin typeface="Consolas" panose="020B0609020204030204" pitchFamily="49" charset="0"/>
            </a:endParaRPr>
          </a:p>
          <a:p>
            <a:r>
              <a:rPr lang="sk-SK" sz="1050" dirty="0" err="1">
                <a:latin typeface="Consolas" panose="020B0609020204030204" pitchFamily="49" charset="0"/>
              </a:rPr>
              <a:t>Name</a:t>
            </a:r>
            <a:r>
              <a:rPr lang="sk-SK" sz="1050" dirty="0">
                <a:latin typeface="Consolas" panose="020B0609020204030204" pitchFamily="49" charset="0"/>
              </a:rPr>
              <a:t>                  ID       </a:t>
            </a:r>
            <a:r>
              <a:rPr lang="sk-SK" sz="1050" dirty="0" err="1">
                <a:latin typeface="Consolas" panose="020B0609020204030204" pitchFamily="49" charset="0"/>
              </a:rPr>
              <a:t>Algo</a:t>
            </a:r>
            <a:r>
              <a:rPr lang="sk-SK" sz="1050" dirty="0">
                <a:latin typeface="Consolas" panose="020B0609020204030204" pitchFamily="49" charset="0"/>
              </a:rPr>
              <a:t>  Prefix                    Status   </a:t>
            </a:r>
            <a:r>
              <a:rPr lang="sk-SK" sz="1050" dirty="0" err="1">
                <a:latin typeface="Consolas" panose="020B0609020204030204" pitchFamily="49" charset="0"/>
              </a:rPr>
              <a:t>Flags</a:t>
            </a:r>
            <a:r>
              <a:rPr lang="sk-SK" sz="1050" dirty="0">
                <a:latin typeface="Consolas" panose="020B0609020204030204" pitchFamily="49" charset="0"/>
              </a:rPr>
              <a:t>   </a:t>
            </a:r>
          </a:p>
          <a:p>
            <a:r>
              <a:rPr lang="sk-SK" sz="1050" dirty="0">
                <a:latin typeface="Consolas" panose="020B0609020204030204" pitchFamily="49" charset="0"/>
              </a:rPr>
              <a:t>--------------------  -------  ----  ------------------------  -------  --------</a:t>
            </a:r>
          </a:p>
          <a:p>
            <a:r>
              <a:rPr lang="sk-SK" sz="1050" dirty="0" err="1">
                <a:highlight>
                  <a:srgbClr val="FFFF00"/>
                </a:highlight>
                <a:latin typeface="Consolas" panose="020B0609020204030204" pitchFamily="49" charset="0"/>
              </a:rPr>
              <a:t>Loc_uSID_Algo_0</a:t>
            </a:r>
            <a:r>
              <a:rPr lang="sk-SK" sz="1050" dirty="0">
                <a:highlight>
                  <a:srgbClr val="FFFF00"/>
                </a:highlight>
                <a:latin typeface="Consolas" panose="020B0609020204030204" pitchFamily="49" charset="0"/>
              </a:rPr>
              <a:t>       </a:t>
            </a:r>
            <a:r>
              <a:rPr lang="sk-SK" sz="1050" dirty="0">
                <a:latin typeface="Consolas" panose="020B0609020204030204" pitchFamily="49" charset="0"/>
              </a:rPr>
              <a:t>2        0     </a:t>
            </a:r>
            <a:r>
              <a:rPr lang="sk-SK" sz="1050" dirty="0" err="1">
                <a:solidFill>
                  <a:schemeClr val="accent3"/>
                </a:solidFill>
                <a:latin typeface="Consolas" panose="020B0609020204030204" pitchFamily="49" charset="0"/>
              </a:rPr>
              <a:t>fc00:ab00:1</a:t>
            </a:r>
            <a:r>
              <a:rPr lang="sk-SK" sz="1050" dirty="0">
                <a:solidFill>
                  <a:schemeClr val="accent3"/>
                </a:solidFill>
                <a:latin typeface="Consolas" panose="020B0609020204030204" pitchFamily="49" charset="0"/>
              </a:rPr>
              <a:t>::/48          </a:t>
            </a:r>
            <a:r>
              <a:rPr lang="sk-SK" sz="1050" dirty="0" err="1">
                <a:latin typeface="Consolas" panose="020B0609020204030204" pitchFamily="49" charset="0"/>
              </a:rPr>
              <a:t>Up</a:t>
            </a:r>
            <a:r>
              <a:rPr lang="sk-SK" sz="1050" dirty="0">
                <a:latin typeface="Consolas" panose="020B0609020204030204" pitchFamily="49" charset="0"/>
              </a:rPr>
              <a:t>       U       </a:t>
            </a:r>
          </a:p>
          <a:p>
            <a:r>
              <a:rPr lang="sk-SK" sz="1050" dirty="0">
                <a:latin typeface="Consolas" panose="020B0609020204030204" pitchFamily="49" charset="0"/>
              </a:rPr>
              <a:t>RP/0/RP0/</a:t>
            </a:r>
            <a:r>
              <a:rPr lang="sk-SK" sz="1050" dirty="0" err="1">
                <a:latin typeface="Consolas" panose="020B0609020204030204" pitchFamily="49" charset="0"/>
              </a:rPr>
              <a:t>CPU0:R01#</a:t>
            </a:r>
            <a:r>
              <a:rPr lang="sk-SK" sz="1050" b="1" dirty="0" err="1">
                <a:latin typeface="Consolas" panose="020B0609020204030204" pitchFamily="49" charset="0"/>
              </a:rPr>
              <a:t>sh</a:t>
            </a:r>
            <a:r>
              <a:rPr lang="sk-SK" sz="1050" b="1" dirty="0">
                <a:latin typeface="Consolas" panose="020B0609020204030204" pitchFamily="49" charset="0"/>
              </a:rPr>
              <a:t> segment-routing </a:t>
            </a:r>
            <a:r>
              <a:rPr lang="sk-SK" sz="1050" b="1" dirty="0" err="1">
                <a:latin typeface="Consolas" panose="020B0609020204030204" pitchFamily="49" charset="0"/>
              </a:rPr>
              <a:t>srv6</a:t>
            </a:r>
            <a:r>
              <a:rPr lang="sk-SK" sz="1050" b="1" dirty="0">
                <a:latin typeface="Consolas" panose="020B0609020204030204" pitchFamily="49" charset="0"/>
              </a:rPr>
              <a:t> </a:t>
            </a:r>
            <a:r>
              <a:rPr lang="sk-SK" sz="1050" b="1" dirty="0" err="1">
                <a:latin typeface="Consolas" panose="020B0609020204030204" pitchFamily="49" charset="0"/>
              </a:rPr>
              <a:t>locator</a:t>
            </a:r>
            <a:r>
              <a:rPr lang="sk-SK" sz="1050" b="1" dirty="0">
                <a:latin typeface="Consolas" panose="020B0609020204030204" pitchFamily="49" charset="0"/>
              </a:rPr>
              <a:t> detail </a:t>
            </a:r>
          </a:p>
          <a:p>
            <a:r>
              <a:rPr lang="sk-SK" sz="1050" dirty="0" err="1">
                <a:latin typeface="Consolas" panose="020B0609020204030204" pitchFamily="49" charset="0"/>
              </a:rPr>
              <a:t>Wed</a:t>
            </a:r>
            <a:r>
              <a:rPr lang="sk-SK" sz="1050" dirty="0">
                <a:latin typeface="Consolas" panose="020B0609020204030204" pitchFamily="49" charset="0"/>
              </a:rPr>
              <a:t> Mar 19 12:55:56.965 </a:t>
            </a:r>
            <a:r>
              <a:rPr lang="sk-SK" sz="1050" dirty="0" err="1">
                <a:latin typeface="Consolas" panose="020B0609020204030204" pitchFamily="49" charset="0"/>
              </a:rPr>
              <a:t>UTC</a:t>
            </a:r>
            <a:endParaRPr lang="sk-SK" sz="1050" dirty="0">
              <a:latin typeface="Consolas" panose="020B0609020204030204" pitchFamily="49" charset="0"/>
            </a:endParaRPr>
          </a:p>
          <a:p>
            <a:r>
              <a:rPr lang="sk-SK" sz="1050" dirty="0" err="1">
                <a:latin typeface="Consolas" panose="020B0609020204030204" pitchFamily="49" charset="0"/>
              </a:rPr>
              <a:t>Name</a:t>
            </a:r>
            <a:r>
              <a:rPr lang="sk-SK" sz="1050" dirty="0">
                <a:latin typeface="Consolas" panose="020B0609020204030204" pitchFamily="49" charset="0"/>
              </a:rPr>
              <a:t>                  ID       </a:t>
            </a:r>
            <a:r>
              <a:rPr lang="sk-SK" sz="1050" dirty="0" err="1">
                <a:latin typeface="Consolas" panose="020B0609020204030204" pitchFamily="49" charset="0"/>
              </a:rPr>
              <a:t>Algo</a:t>
            </a:r>
            <a:r>
              <a:rPr lang="sk-SK" sz="1050" dirty="0">
                <a:latin typeface="Consolas" panose="020B0609020204030204" pitchFamily="49" charset="0"/>
              </a:rPr>
              <a:t>  Prefix                    Status   </a:t>
            </a:r>
            <a:r>
              <a:rPr lang="sk-SK" sz="1050" dirty="0" err="1">
                <a:latin typeface="Consolas" panose="020B0609020204030204" pitchFamily="49" charset="0"/>
              </a:rPr>
              <a:t>Flags</a:t>
            </a:r>
            <a:r>
              <a:rPr lang="sk-SK" sz="1050" dirty="0">
                <a:latin typeface="Consolas" panose="020B0609020204030204" pitchFamily="49" charset="0"/>
              </a:rPr>
              <a:t>   </a:t>
            </a:r>
          </a:p>
          <a:p>
            <a:r>
              <a:rPr lang="sk-SK" sz="1050" dirty="0">
                <a:latin typeface="Consolas" panose="020B0609020204030204" pitchFamily="49" charset="0"/>
              </a:rPr>
              <a:t>--------------------  -------  ----  ------------------------  -------  --------</a:t>
            </a:r>
          </a:p>
          <a:p>
            <a:r>
              <a:rPr lang="sk-SK" sz="1050" dirty="0" err="1">
                <a:latin typeface="Consolas" panose="020B0609020204030204" pitchFamily="49" charset="0"/>
              </a:rPr>
              <a:t>Loc_uSID_Algo_0</a:t>
            </a:r>
            <a:r>
              <a:rPr lang="sk-SK" sz="1050" dirty="0">
                <a:latin typeface="Consolas" panose="020B0609020204030204" pitchFamily="49" charset="0"/>
              </a:rPr>
              <a:t>       2        0     </a:t>
            </a:r>
            <a:r>
              <a:rPr lang="sk-SK" sz="1050" dirty="0" err="1">
                <a:solidFill>
                  <a:schemeClr val="accent3"/>
                </a:solidFill>
                <a:latin typeface="Consolas" panose="020B0609020204030204" pitchFamily="49" charset="0"/>
              </a:rPr>
              <a:t>fc00:ab00:1</a:t>
            </a:r>
            <a:r>
              <a:rPr lang="sk-SK" sz="1050" dirty="0">
                <a:solidFill>
                  <a:schemeClr val="accent3"/>
                </a:solidFill>
                <a:latin typeface="Consolas" panose="020B0609020204030204" pitchFamily="49" charset="0"/>
              </a:rPr>
              <a:t>::/48          </a:t>
            </a:r>
            <a:r>
              <a:rPr lang="sk-SK" sz="1050" dirty="0" err="1">
                <a:latin typeface="Consolas" panose="020B0609020204030204" pitchFamily="49" charset="0"/>
              </a:rPr>
              <a:t>Up</a:t>
            </a:r>
            <a:r>
              <a:rPr lang="sk-SK" sz="1050" dirty="0">
                <a:latin typeface="Consolas" panose="020B0609020204030204" pitchFamily="49" charset="0"/>
              </a:rPr>
              <a:t>       U       </a:t>
            </a:r>
          </a:p>
          <a:p>
            <a:r>
              <a:rPr lang="sk-SK" sz="1050" dirty="0">
                <a:latin typeface="Consolas" panose="020B0609020204030204" pitchFamily="49" charset="0"/>
              </a:rPr>
              <a:t>  (U): </a:t>
            </a:r>
            <a:r>
              <a:rPr lang="sk-SK" sz="1050" dirty="0" err="1">
                <a:latin typeface="Consolas" panose="020B0609020204030204" pitchFamily="49" charset="0"/>
              </a:rPr>
              <a:t>Micro</a:t>
            </a:r>
            <a:r>
              <a:rPr lang="sk-SK" sz="1050" dirty="0">
                <a:latin typeface="Consolas" panose="020B0609020204030204" pitchFamily="49" charset="0"/>
              </a:rPr>
              <a:t>-segment (</a:t>
            </a:r>
            <a:r>
              <a:rPr lang="sk-SK" sz="1050" dirty="0" err="1">
                <a:latin typeface="Consolas" panose="020B0609020204030204" pitchFamily="49" charset="0"/>
              </a:rPr>
              <a:t>behavior</a:t>
            </a:r>
            <a:r>
              <a:rPr lang="sk-SK" sz="1050" dirty="0">
                <a:latin typeface="Consolas" panose="020B0609020204030204" pitchFamily="49" charset="0"/>
              </a:rPr>
              <a:t>: </a:t>
            </a:r>
            <a:r>
              <a:rPr lang="sk-SK" sz="1050" dirty="0" err="1">
                <a:latin typeface="Consolas" panose="020B0609020204030204" pitchFamily="49" charset="0"/>
              </a:rPr>
              <a:t>uN</a:t>
            </a:r>
            <a:r>
              <a:rPr lang="sk-SK" sz="1050" dirty="0">
                <a:latin typeface="Consolas" panose="020B0609020204030204" pitchFamily="49" charset="0"/>
              </a:rPr>
              <a:t> (</a:t>
            </a:r>
            <a:r>
              <a:rPr lang="sk-SK" sz="1050" dirty="0" err="1">
                <a:latin typeface="Consolas" panose="020B0609020204030204" pitchFamily="49" charset="0"/>
              </a:rPr>
              <a:t>PSP</a:t>
            </a:r>
            <a:r>
              <a:rPr lang="sk-SK" sz="1050" dirty="0">
                <a:latin typeface="Consolas" panose="020B0609020204030204" pitchFamily="49" charset="0"/>
              </a:rPr>
              <a:t>/USD))</a:t>
            </a:r>
          </a:p>
          <a:p>
            <a:r>
              <a:rPr lang="sk-SK" sz="1050" dirty="0">
                <a:latin typeface="Consolas" panose="020B0609020204030204" pitchFamily="49" charset="0"/>
              </a:rPr>
              <a:t>  Interface: </a:t>
            </a:r>
          </a:p>
          <a:p>
            <a:r>
              <a:rPr lang="sk-SK" sz="1050" dirty="0">
                <a:latin typeface="Consolas" panose="020B0609020204030204" pitchFamily="49" charset="0"/>
              </a:rPr>
              <a:t>    </a:t>
            </a:r>
            <a:r>
              <a:rPr lang="sk-SK" sz="1050" dirty="0" err="1">
                <a:latin typeface="Consolas" panose="020B0609020204030204" pitchFamily="49" charset="0"/>
              </a:rPr>
              <a:t>Name</a:t>
            </a:r>
            <a:r>
              <a:rPr lang="sk-SK" sz="1050" dirty="0">
                <a:latin typeface="Consolas" panose="020B0609020204030204" pitchFamily="49" charset="0"/>
              </a:rPr>
              <a:t>: </a:t>
            </a:r>
            <a:r>
              <a:rPr lang="sk-SK" sz="1050" dirty="0" err="1">
                <a:latin typeface="Consolas" panose="020B0609020204030204" pitchFamily="49" charset="0"/>
              </a:rPr>
              <a:t>srv6-</a:t>
            </a:r>
            <a:r>
              <a:rPr lang="sk-SK" sz="1050" dirty="0" err="1">
                <a:highlight>
                  <a:srgbClr val="FFFF00"/>
                </a:highlight>
                <a:latin typeface="Consolas" panose="020B0609020204030204" pitchFamily="49" charset="0"/>
              </a:rPr>
              <a:t>Loc_uSID_Algo_0</a:t>
            </a:r>
            <a:endParaRPr lang="sk-SK" sz="1050" dirty="0">
              <a:highlight>
                <a:srgbClr val="FFFF00"/>
              </a:highlight>
              <a:latin typeface="Consolas" panose="020B0609020204030204" pitchFamily="49" charset="0"/>
            </a:endParaRPr>
          </a:p>
          <a:p>
            <a:r>
              <a:rPr lang="sk-SK" sz="1050" dirty="0">
                <a:latin typeface="Consolas" panose="020B0609020204030204" pitchFamily="49" charset="0"/>
              </a:rPr>
              <a:t>    </a:t>
            </a:r>
            <a:r>
              <a:rPr lang="sk-SK" sz="1050" dirty="0" err="1">
                <a:latin typeface="Consolas" panose="020B0609020204030204" pitchFamily="49" charset="0"/>
              </a:rPr>
              <a:t>IFH</a:t>
            </a:r>
            <a:r>
              <a:rPr lang="sk-SK" sz="1050" dirty="0">
                <a:latin typeface="Consolas" panose="020B0609020204030204" pitchFamily="49" charset="0"/>
              </a:rPr>
              <a:t> : </a:t>
            </a:r>
            <a:r>
              <a:rPr lang="sk-SK" sz="1050" dirty="0" err="1">
                <a:latin typeface="Consolas" panose="020B0609020204030204" pitchFamily="49" charset="0"/>
              </a:rPr>
              <a:t>0x00000024</a:t>
            </a:r>
            <a:endParaRPr lang="sk-SK" sz="1050" dirty="0">
              <a:latin typeface="Consolas" panose="020B0609020204030204" pitchFamily="49" charset="0"/>
            </a:endParaRPr>
          </a:p>
          <a:p>
            <a:r>
              <a:rPr lang="sk-SK" sz="1050" dirty="0">
                <a:latin typeface="Consolas" panose="020B0609020204030204" pitchFamily="49" charset="0"/>
              </a:rPr>
              <a:t>    IPv6 </a:t>
            </a:r>
            <a:r>
              <a:rPr lang="sk-SK" sz="1050" dirty="0" err="1">
                <a:latin typeface="Consolas" panose="020B0609020204030204" pitchFamily="49" charset="0"/>
              </a:rPr>
              <a:t>address</a:t>
            </a:r>
            <a:r>
              <a:rPr lang="sk-SK" sz="1050" dirty="0">
                <a:latin typeface="Consolas" panose="020B0609020204030204" pitchFamily="49" charset="0"/>
              </a:rPr>
              <a:t>: </a:t>
            </a:r>
            <a:r>
              <a:rPr lang="sk-SK" sz="1050" dirty="0" err="1">
                <a:latin typeface="Consolas" panose="020B0609020204030204" pitchFamily="49" charset="0"/>
              </a:rPr>
              <a:t>fc00:ab00:1</a:t>
            </a:r>
            <a:r>
              <a:rPr lang="sk-SK" sz="1050" dirty="0">
                <a:latin typeface="Consolas" panose="020B0609020204030204" pitchFamily="49" charset="0"/>
              </a:rPr>
              <a:t>::/48</a:t>
            </a:r>
          </a:p>
          <a:p>
            <a:r>
              <a:rPr lang="sk-SK" sz="1050" dirty="0">
                <a:latin typeface="Consolas" panose="020B0609020204030204" pitchFamily="49" charset="0"/>
              </a:rPr>
              <a:t>  </a:t>
            </a:r>
            <a:r>
              <a:rPr lang="sk-SK" sz="1050" dirty="0" err="1">
                <a:latin typeface="Consolas" panose="020B0609020204030204" pitchFamily="49" charset="0"/>
              </a:rPr>
              <a:t>Number</a:t>
            </a:r>
            <a:r>
              <a:rPr lang="sk-SK" sz="1050" dirty="0">
                <a:latin typeface="Consolas" panose="020B0609020204030204" pitchFamily="49" charset="0"/>
              </a:rPr>
              <a:t> of </a:t>
            </a:r>
            <a:r>
              <a:rPr lang="sk-SK" sz="1050" dirty="0" err="1">
                <a:latin typeface="Consolas" panose="020B0609020204030204" pitchFamily="49" charset="0"/>
              </a:rPr>
              <a:t>SIDs</a:t>
            </a:r>
            <a:r>
              <a:rPr lang="sk-SK" sz="1050" dirty="0">
                <a:latin typeface="Consolas" panose="020B0609020204030204" pitchFamily="49" charset="0"/>
              </a:rPr>
              <a:t>: 4</a:t>
            </a:r>
          </a:p>
          <a:p>
            <a:r>
              <a:rPr lang="sk-SK" sz="1050" dirty="0">
                <a:latin typeface="Consolas" panose="020B0609020204030204" pitchFamily="49" charset="0"/>
              </a:rPr>
              <a:t>  </a:t>
            </a:r>
            <a:r>
              <a:rPr lang="sk-SK" sz="1050" dirty="0" err="1">
                <a:latin typeface="Consolas" panose="020B0609020204030204" pitchFamily="49" charset="0"/>
              </a:rPr>
              <a:t>LIB</a:t>
            </a:r>
            <a:r>
              <a:rPr lang="sk-SK" sz="1050" dirty="0">
                <a:latin typeface="Consolas" panose="020B0609020204030204" pitchFamily="49" charset="0"/>
              </a:rPr>
              <a:t> </a:t>
            </a:r>
            <a:r>
              <a:rPr lang="sk-SK" sz="1050" dirty="0" err="1">
                <a:latin typeface="Consolas" panose="020B0609020204030204" pitchFamily="49" charset="0"/>
              </a:rPr>
              <a:t>Ranges</a:t>
            </a:r>
            <a:r>
              <a:rPr lang="sk-SK" sz="1050" dirty="0">
                <a:latin typeface="Consolas" panose="020B0609020204030204" pitchFamily="49" charset="0"/>
              </a:rPr>
              <a:t>:</a:t>
            </a:r>
          </a:p>
          <a:p>
            <a:r>
              <a:rPr lang="sk-SK" sz="1050" dirty="0">
                <a:latin typeface="Consolas" panose="020B0609020204030204" pitchFamily="49" charset="0"/>
              </a:rPr>
              <a:t>    </a:t>
            </a:r>
            <a:r>
              <a:rPr lang="sk-SK" sz="1050" dirty="0" err="1">
                <a:latin typeface="Consolas" panose="020B0609020204030204" pitchFamily="49" charset="0"/>
              </a:rPr>
              <a:t>LIB</a:t>
            </a:r>
            <a:r>
              <a:rPr lang="sk-SK" sz="1050" dirty="0">
                <a:latin typeface="Consolas" panose="020B0609020204030204" pitchFamily="49" charset="0"/>
              </a:rPr>
              <a:t>:   </a:t>
            </a:r>
            <a:r>
              <a:rPr lang="sk-SK" sz="1050" dirty="0" err="1">
                <a:latin typeface="Consolas" panose="020B0609020204030204" pitchFamily="49" charset="0"/>
              </a:rPr>
              <a:t>0xE000</a:t>
            </a:r>
            <a:r>
              <a:rPr lang="sk-SK" sz="1050" dirty="0">
                <a:latin typeface="Consolas" panose="020B0609020204030204" pitchFamily="49" charset="0"/>
              </a:rPr>
              <a:t> - </a:t>
            </a:r>
            <a:r>
              <a:rPr lang="sk-SK" sz="1050" dirty="0" err="1">
                <a:latin typeface="Consolas" panose="020B0609020204030204" pitchFamily="49" charset="0"/>
              </a:rPr>
              <a:t>0xFDFF</a:t>
            </a:r>
            <a:endParaRPr lang="sk-SK" sz="1050" dirty="0">
              <a:latin typeface="Consolas" panose="020B0609020204030204" pitchFamily="49" charset="0"/>
            </a:endParaRPr>
          </a:p>
          <a:p>
            <a:r>
              <a:rPr lang="sk-SK" sz="1050" dirty="0">
                <a:latin typeface="Consolas" panose="020B0609020204030204" pitchFamily="49" charset="0"/>
              </a:rPr>
              <a:t>    </a:t>
            </a:r>
            <a:r>
              <a:rPr lang="sk-SK" sz="1050" dirty="0" err="1">
                <a:latin typeface="Consolas" panose="020B0609020204030204" pitchFamily="49" charset="0"/>
              </a:rPr>
              <a:t>ELIB</a:t>
            </a:r>
            <a:r>
              <a:rPr lang="sk-SK" sz="1050" dirty="0">
                <a:latin typeface="Consolas" panose="020B0609020204030204" pitchFamily="49" charset="0"/>
              </a:rPr>
              <a:t>:  </a:t>
            </a:r>
            <a:r>
              <a:rPr lang="sk-SK" sz="1050" dirty="0" err="1">
                <a:latin typeface="Consolas" panose="020B0609020204030204" pitchFamily="49" charset="0"/>
              </a:rPr>
              <a:t>0xFE00</a:t>
            </a:r>
            <a:r>
              <a:rPr lang="sk-SK" sz="1050" dirty="0">
                <a:latin typeface="Consolas" panose="020B0609020204030204" pitchFamily="49" charset="0"/>
              </a:rPr>
              <a:t> - </a:t>
            </a:r>
            <a:r>
              <a:rPr lang="sk-SK" sz="1050" dirty="0" err="1">
                <a:latin typeface="Consolas" panose="020B0609020204030204" pitchFamily="49" charset="0"/>
              </a:rPr>
              <a:t>0xFEFF</a:t>
            </a:r>
            <a:endParaRPr lang="sk-SK" sz="1050" dirty="0">
              <a:latin typeface="Consolas" panose="020B0609020204030204" pitchFamily="49" charset="0"/>
            </a:endParaRPr>
          </a:p>
          <a:p>
            <a:r>
              <a:rPr lang="sk-SK" sz="1050" dirty="0">
                <a:latin typeface="Consolas" panose="020B0609020204030204" pitchFamily="49" charset="0"/>
              </a:rPr>
              <a:t>    </a:t>
            </a:r>
            <a:r>
              <a:rPr lang="sk-SK" sz="1050" dirty="0" err="1">
                <a:latin typeface="Consolas" panose="020B0609020204030204" pitchFamily="49" charset="0"/>
              </a:rPr>
              <a:t>WLIB</a:t>
            </a:r>
            <a:r>
              <a:rPr lang="sk-SK" sz="1050" dirty="0">
                <a:latin typeface="Consolas" panose="020B0609020204030204" pitchFamily="49" charset="0"/>
              </a:rPr>
              <a:t>:  </a:t>
            </a:r>
            <a:r>
              <a:rPr lang="sk-SK" sz="1050" dirty="0" err="1">
                <a:latin typeface="Consolas" panose="020B0609020204030204" pitchFamily="49" charset="0"/>
              </a:rPr>
              <a:t>0xFFF00000</a:t>
            </a:r>
            <a:r>
              <a:rPr lang="sk-SK" sz="1050" dirty="0">
                <a:latin typeface="Consolas" panose="020B0609020204030204" pitchFamily="49" charset="0"/>
              </a:rPr>
              <a:t> - </a:t>
            </a:r>
            <a:r>
              <a:rPr lang="sk-SK" sz="1050" dirty="0" err="1">
                <a:latin typeface="Consolas" panose="020B0609020204030204" pitchFamily="49" charset="0"/>
              </a:rPr>
              <a:t>0xFFF6FFFF</a:t>
            </a:r>
            <a:endParaRPr lang="sk-SK" sz="1050" dirty="0">
              <a:latin typeface="Consolas" panose="020B0609020204030204" pitchFamily="49" charset="0"/>
            </a:endParaRPr>
          </a:p>
          <a:p>
            <a:r>
              <a:rPr lang="sk-SK" sz="1050" dirty="0">
                <a:latin typeface="Consolas" panose="020B0609020204030204" pitchFamily="49" charset="0"/>
              </a:rPr>
              <a:t>    </a:t>
            </a:r>
            <a:r>
              <a:rPr lang="sk-SK" sz="1050" dirty="0" err="1">
                <a:latin typeface="Consolas" panose="020B0609020204030204" pitchFamily="49" charset="0"/>
              </a:rPr>
              <a:t>EWLIB</a:t>
            </a:r>
            <a:r>
              <a:rPr lang="sk-SK" sz="1050" dirty="0">
                <a:latin typeface="Consolas" panose="020B0609020204030204" pitchFamily="49" charset="0"/>
              </a:rPr>
              <a:t>: </a:t>
            </a:r>
            <a:r>
              <a:rPr lang="sk-SK" sz="1050" dirty="0" err="1">
                <a:latin typeface="Consolas" panose="020B0609020204030204" pitchFamily="49" charset="0"/>
              </a:rPr>
              <a:t>0xFFF70000</a:t>
            </a:r>
            <a:r>
              <a:rPr lang="sk-SK" sz="1050" dirty="0">
                <a:latin typeface="Consolas" panose="020B0609020204030204" pitchFamily="49" charset="0"/>
              </a:rPr>
              <a:t> - </a:t>
            </a:r>
            <a:r>
              <a:rPr lang="sk-SK" sz="1050" dirty="0" err="1">
                <a:latin typeface="Consolas" panose="020B0609020204030204" pitchFamily="49" charset="0"/>
              </a:rPr>
              <a:t>0xFFF7FFFF</a:t>
            </a:r>
            <a:endParaRPr lang="sk-SK" sz="1050" dirty="0">
              <a:latin typeface="Consolas" panose="020B0609020204030204" pitchFamily="49" charset="0"/>
            </a:endParaRPr>
          </a:p>
          <a:p>
            <a:r>
              <a:rPr lang="sk-SK" sz="1050" dirty="0">
                <a:latin typeface="Consolas" panose="020B0609020204030204" pitchFamily="49" charset="0"/>
              </a:rPr>
              <a:t>  </a:t>
            </a:r>
            <a:r>
              <a:rPr lang="sk-SK" sz="1050" dirty="0" err="1">
                <a:latin typeface="Consolas" panose="020B0609020204030204" pitchFamily="49" charset="0"/>
              </a:rPr>
              <a:t>Created</a:t>
            </a:r>
            <a:r>
              <a:rPr lang="sk-SK" sz="1050" dirty="0">
                <a:latin typeface="Consolas" panose="020B0609020204030204" pitchFamily="49" charset="0"/>
              </a:rPr>
              <a:t>: Mar 19 11:54:13.845 (01:01:43 </a:t>
            </a:r>
            <a:r>
              <a:rPr lang="sk-SK" sz="1050" dirty="0" err="1">
                <a:latin typeface="Consolas" panose="020B0609020204030204" pitchFamily="49" charset="0"/>
              </a:rPr>
              <a:t>ago</a:t>
            </a:r>
            <a:r>
              <a:rPr lang="sk-SK" sz="1050" dirty="0">
                <a:latin typeface="Consolas" panose="020B0609020204030204" pitchFamily="49" charset="0"/>
              </a:rPr>
              <a:t>)</a:t>
            </a:r>
          </a:p>
          <a:p>
            <a:r>
              <a:rPr lang="sk-SK" sz="1050" dirty="0">
                <a:latin typeface="Consolas" panose="020B0609020204030204" pitchFamily="49" charset="0"/>
              </a:rPr>
              <a:t>RP/0/RP0/</a:t>
            </a:r>
            <a:r>
              <a:rPr lang="sk-SK" sz="1050" dirty="0" err="1">
                <a:latin typeface="Consolas" panose="020B0609020204030204" pitchFamily="49" charset="0"/>
              </a:rPr>
              <a:t>CPU0:R01#</a:t>
            </a:r>
            <a:r>
              <a:rPr lang="sk-SK" sz="1050" b="1" dirty="0" err="1">
                <a:latin typeface="Consolas" panose="020B0609020204030204" pitchFamily="49" charset="0"/>
              </a:rPr>
              <a:t>sh</a:t>
            </a:r>
            <a:r>
              <a:rPr lang="sk-SK" sz="1050" b="1" dirty="0">
                <a:latin typeface="Consolas" panose="020B0609020204030204" pitchFamily="49" charset="0"/>
              </a:rPr>
              <a:t> segment-routing </a:t>
            </a:r>
            <a:r>
              <a:rPr lang="sk-SK" sz="1050" b="1" dirty="0" err="1">
                <a:latin typeface="Consolas" panose="020B0609020204030204" pitchFamily="49" charset="0"/>
              </a:rPr>
              <a:t>srv6</a:t>
            </a:r>
            <a:r>
              <a:rPr lang="sk-SK" sz="1050" b="1" dirty="0">
                <a:latin typeface="Consolas" panose="020B0609020204030204" pitchFamily="49" charset="0"/>
              </a:rPr>
              <a:t> </a:t>
            </a:r>
            <a:r>
              <a:rPr lang="sk-SK" sz="1050" b="1" dirty="0" err="1">
                <a:latin typeface="Consolas" panose="020B0609020204030204" pitchFamily="49" charset="0"/>
              </a:rPr>
              <a:t>locator</a:t>
            </a:r>
            <a:r>
              <a:rPr lang="sk-SK" sz="1050" b="1" dirty="0">
                <a:latin typeface="Consolas" panose="020B0609020204030204" pitchFamily="49" charset="0"/>
              </a:rPr>
              <a:t> </a:t>
            </a:r>
            <a:r>
              <a:rPr lang="sk-SK" sz="1050" b="1" dirty="0" err="1">
                <a:latin typeface="Consolas" panose="020B0609020204030204" pitchFamily="49" charset="0"/>
              </a:rPr>
              <a:t>Loc_uSID_Algo_0</a:t>
            </a:r>
            <a:r>
              <a:rPr lang="sk-SK" sz="1050" b="1" dirty="0">
                <a:latin typeface="Consolas" panose="020B0609020204030204" pitchFamily="49" charset="0"/>
              </a:rPr>
              <a:t> </a:t>
            </a:r>
            <a:r>
              <a:rPr lang="sk-SK" sz="1050" b="1" dirty="0" err="1">
                <a:latin typeface="Consolas" panose="020B0609020204030204" pitchFamily="49" charset="0"/>
              </a:rPr>
              <a:t>sid</a:t>
            </a:r>
            <a:r>
              <a:rPr lang="sk-SK" sz="1050" b="1" dirty="0">
                <a:latin typeface="Consolas" panose="020B0609020204030204" pitchFamily="49" charset="0"/>
              </a:rPr>
              <a:t> </a:t>
            </a:r>
          </a:p>
          <a:p>
            <a:r>
              <a:rPr lang="sk-SK" sz="1050" dirty="0" err="1">
                <a:latin typeface="Consolas" panose="020B0609020204030204" pitchFamily="49" charset="0"/>
              </a:rPr>
              <a:t>Wed</a:t>
            </a:r>
            <a:r>
              <a:rPr lang="sk-SK" sz="1050" dirty="0">
                <a:latin typeface="Consolas" panose="020B0609020204030204" pitchFamily="49" charset="0"/>
              </a:rPr>
              <a:t> Mar 19 12:56:51.119 </a:t>
            </a:r>
            <a:r>
              <a:rPr lang="sk-SK" sz="1050" dirty="0" err="1">
                <a:latin typeface="Consolas" panose="020B0609020204030204" pitchFamily="49" charset="0"/>
              </a:rPr>
              <a:t>UTC</a:t>
            </a:r>
            <a:endParaRPr lang="sk-SK" sz="1050" dirty="0">
              <a:latin typeface="Consolas" panose="020B0609020204030204" pitchFamily="49" charset="0"/>
            </a:endParaRPr>
          </a:p>
          <a:p>
            <a:r>
              <a:rPr lang="sk-SK" sz="1050" dirty="0" err="1">
                <a:latin typeface="Consolas" panose="020B0609020204030204" pitchFamily="49" charset="0"/>
              </a:rPr>
              <a:t>SID</a:t>
            </a:r>
            <a:r>
              <a:rPr lang="sk-SK" sz="1050" dirty="0">
                <a:latin typeface="Consolas" panose="020B0609020204030204" pitchFamily="49" charset="0"/>
              </a:rPr>
              <a:t>                         </a:t>
            </a:r>
            <a:r>
              <a:rPr lang="sk-SK" sz="1050" dirty="0" err="1">
                <a:latin typeface="Consolas" panose="020B0609020204030204" pitchFamily="49" charset="0"/>
              </a:rPr>
              <a:t>Behavior</a:t>
            </a:r>
            <a:r>
              <a:rPr lang="sk-SK" sz="1050" dirty="0">
                <a:latin typeface="Consolas" panose="020B0609020204030204" pitchFamily="49" charset="0"/>
              </a:rPr>
              <a:t>          </a:t>
            </a:r>
            <a:r>
              <a:rPr lang="sk-SK" sz="1050" dirty="0" err="1">
                <a:latin typeface="Consolas" panose="020B0609020204030204" pitchFamily="49" charset="0"/>
              </a:rPr>
              <a:t>Context</a:t>
            </a:r>
            <a:r>
              <a:rPr lang="sk-SK" sz="1050" dirty="0">
                <a:latin typeface="Consolas" panose="020B0609020204030204" pitchFamily="49" charset="0"/>
              </a:rPr>
              <a:t>                           </a:t>
            </a:r>
            <a:r>
              <a:rPr lang="sk-SK" sz="1050" dirty="0" err="1">
                <a:latin typeface="Consolas" panose="020B0609020204030204" pitchFamily="49" charset="0"/>
              </a:rPr>
              <a:t>Owner</a:t>
            </a:r>
            <a:r>
              <a:rPr lang="sk-SK" sz="1050" dirty="0">
                <a:latin typeface="Consolas" panose="020B0609020204030204" pitchFamily="49" charset="0"/>
              </a:rPr>
              <a:t>               State  </a:t>
            </a:r>
            <a:r>
              <a:rPr lang="sk-SK" sz="1050" dirty="0" err="1">
                <a:latin typeface="Consolas" panose="020B0609020204030204" pitchFamily="49" charset="0"/>
              </a:rPr>
              <a:t>RW</a:t>
            </a:r>
            <a:endParaRPr lang="sk-SK" sz="1050" dirty="0">
              <a:latin typeface="Consolas" panose="020B0609020204030204" pitchFamily="49" charset="0"/>
            </a:endParaRPr>
          </a:p>
          <a:p>
            <a:r>
              <a:rPr lang="sk-SK" sz="1050" dirty="0">
                <a:latin typeface="Consolas" panose="020B0609020204030204" pitchFamily="49" charset="0"/>
              </a:rPr>
              <a:t>--------------------------  ----------------  --------------------------------  ------------------  -----  --</a:t>
            </a:r>
          </a:p>
          <a:p>
            <a:r>
              <a:rPr lang="sk-SK" sz="1050" dirty="0" err="1">
                <a:solidFill>
                  <a:schemeClr val="accent3"/>
                </a:solidFill>
                <a:latin typeface="Consolas" panose="020B0609020204030204" pitchFamily="49" charset="0"/>
              </a:rPr>
              <a:t>fc00:ab00:1</a:t>
            </a:r>
            <a:r>
              <a:rPr lang="sk-SK" sz="1050" dirty="0">
                <a:solidFill>
                  <a:schemeClr val="accent3"/>
                </a:solidFill>
                <a:latin typeface="Consolas" panose="020B0609020204030204" pitchFamily="49" charset="0"/>
              </a:rPr>
              <a:t>::               </a:t>
            </a:r>
            <a:r>
              <a:rPr lang="sk-SK" sz="1050" dirty="0" err="1">
                <a:latin typeface="Consolas" panose="020B0609020204030204" pitchFamily="49" charset="0"/>
              </a:rPr>
              <a:t>uN</a:t>
            </a:r>
            <a:r>
              <a:rPr lang="sk-SK" sz="1050" dirty="0">
                <a:latin typeface="Consolas" panose="020B0609020204030204" pitchFamily="49" charset="0"/>
              </a:rPr>
              <a:t> (</a:t>
            </a:r>
            <a:r>
              <a:rPr lang="sk-SK" sz="1050" dirty="0" err="1">
                <a:latin typeface="Consolas" panose="020B0609020204030204" pitchFamily="49" charset="0"/>
              </a:rPr>
              <a:t>PSP</a:t>
            </a:r>
            <a:r>
              <a:rPr lang="sk-SK" sz="1050" dirty="0">
                <a:latin typeface="Consolas" panose="020B0609020204030204" pitchFamily="49" charset="0"/>
              </a:rPr>
              <a:t>/USD)      '</a:t>
            </a:r>
            <a:r>
              <a:rPr lang="sk-SK" sz="1050" dirty="0" err="1">
                <a:latin typeface="Consolas" panose="020B0609020204030204" pitchFamily="49" charset="0"/>
              </a:rPr>
              <a:t>default':1</a:t>
            </a:r>
            <a:r>
              <a:rPr lang="sk-SK" sz="1050" dirty="0">
                <a:latin typeface="Consolas" panose="020B0609020204030204" pitchFamily="49" charset="0"/>
              </a:rPr>
              <a:t>                       </a:t>
            </a:r>
            <a:r>
              <a:rPr lang="sk-SK" sz="1050" dirty="0" err="1">
                <a:latin typeface="Consolas" panose="020B0609020204030204" pitchFamily="49" charset="0"/>
              </a:rPr>
              <a:t>sidmgr</a:t>
            </a:r>
            <a:r>
              <a:rPr lang="sk-SK" sz="1050" dirty="0">
                <a:latin typeface="Consolas" panose="020B0609020204030204" pitchFamily="49" charset="0"/>
              </a:rPr>
              <a:t>              </a:t>
            </a:r>
            <a:r>
              <a:rPr lang="sk-SK" sz="1050" dirty="0" err="1">
                <a:latin typeface="Consolas" panose="020B0609020204030204" pitchFamily="49" charset="0"/>
              </a:rPr>
              <a:t>InUse</a:t>
            </a:r>
            <a:r>
              <a:rPr lang="sk-SK" sz="1050" dirty="0">
                <a:latin typeface="Consolas" panose="020B0609020204030204" pitchFamily="49" charset="0"/>
              </a:rPr>
              <a:t>  Y </a:t>
            </a:r>
          </a:p>
          <a:p>
            <a:r>
              <a:rPr lang="sk-SK" sz="1050" dirty="0" err="1">
                <a:solidFill>
                  <a:schemeClr val="accent3"/>
                </a:solidFill>
                <a:latin typeface="Consolas" panose="020B0609020204030204" pitchFamily="49" charset="0"/>
              </a:rPr>
              <a:t>fc00:ab00:1:</a:t>
            </a:r>
            <a:r>
              <a:rPr lang="sk-SK" sz="1050" dirty="0" err="1">
                <a:latin typeface="Consolas" panose="020B0609020204030204" pitchFamily="49" charset="0"/>
              </a:rPr>
              <a:t>e000</a:t>
            </a:r>
            <a:r>
              <a:rPr lang="sk-SK" sz="1050" dirty="0">
                <a:latin typeface="Consolas" panose="020B0609020204030204" pitchFamily="49" charset="0"/>
              </a:rPr>
              <a:t>::          </a:t>
            </a:r>
            <a:r>
              <a:rPr lang="sk-SK" sz="1050" dirty="0" err="1">
                <a:latin typeface="Consolas" panose="020B0609020204030204" pitchFamily="49" charset="0"/>
              </a:rPr>
              <a:t>uA</a:t>
            </a:r>
            <a:r>
              <a:rPr lang="sk-SK" sz="1050" dirty="0">
                <a:latin typeface="Consolas" panose="020B0609020204030204" pitchFamily="49" charset="0"/>
              </a:rPr>
              <a:t> (</a:t>
            </a:r>
            <a:r>
              <a:rPr lang="sk-SK" sz="1050" dirty="0" err="1">
                <a:latin typeface="Consolas" panose="020B0609020204030204" pitchFamily="49" charset="0"/>
              </a:rPr>
              <a:t>PSP</a:t>
            </a:r>
            <a:r>
              <a:rPr lang="sk-SK" sz="1050" dirty="0">
                <a:latin typeface="Consolas" panose="020B0609020204030204" pitchFamily="49" charset="0"/>
              </a:rPr>
              <a:t>/USD)      [Gi0/0/0/0, </a:t>
            </a:r>
            <a:r>
              <a:rPr lang="sk-SK" sz="1050" dirty="0" err="1">
                <a:latin typeface="Consolas" panose="020B0609020204030204" pitchFamily="49" charset="0"/>
              </a:rPr>
              <a:t>Link-Local</a:t>
            </a:r>
            <a:r>
              <a:rPr lang="sk-SK" sz="1050" dirty="0">
                <a:latin typeface="Consolas" panose="020B0609020204030204" pitchFamily="49" charset="0"/>
              </a:rPr>
              <a:t>]:0         </a:t>
            </a:r>
            <a:r>
              <a:rPr lang="sk-SK" sz="1050" dirty="0" err="1">
                <a:latin typeface="Consolas" panose="020B0609020204030204" pitchFamily="49" charset="0"/>
              </a:rPr>
              <a:t>isis</a:t>
            </a:r>
            <a:r>
              <a:rPr lang="sk-SK" sz="1050" dirty="0">
                <a:latin typeface="Consolas" panose="020B0609020204030204" pitchFamily="49" charset="0"/>
              </a:rPr>
              <a:t>-1              </a:t>
            </a:r>
            <a:r>
              <a:rPr lang="sk-SK" sz="1050" dirty="0" err="1">
                <a:latin typeface="Consolas" panose="020B0609020204030204" pitchFamily="49" charset="0"/>
              </a:rPr>
              <a:t>InUse</a:t>
            </a:r>
            <a:r>
              <a:rPr lang="sk-SK" sz="1050" dirty="0">
                <a:latin typeface="Consolas" panose="020B0609020204030204" pitchFamily="49" charset="0"/>
              </a:rPr>
              <a:t>  Y </a:t>
            </a:r>
          </a:p>
          <a:p>
            <a:r>
              <a:rPr lang="sk-SK" sz="1050" dirty="0" err="1">
                <a:solidFill>
                  <a:schemeClr val="accent3"/>
                </a:solidFill>
                <a:latin typeface="Consolas" panose="020B0609020204030204" pitchFamily="49" charset="0"/>
              </a:rPr>
              <a:t>fc00:ab00:1:</a:t>
            </a:r>
            <a:r>
              <a:rPr lang="sk-SK" sz="1050" dirty="0" err="1">
                <a:latin typeface="Consolas" panose="020B0609020204030204" pitchFamily="49" charset="0"/>
              </a:rPr>
              <a:t>e001</a:t>
            </a:r>
            <a:r>
              <a:rPr lang="sk-SK" sz="1050" dirty="0">
                <a:latin typeface="Consolas" panose="020B0609020204030204" pitchFamily="49" charset="0"/>
              </a:rPr>
              <a:t>::          </a:t>
            </a:r>
            <a:r>
              <a:rPr lang="sk-SK" sz="1050" dirty="0" err="1">
                <a:latin typeface="Consolas" panose="020B0609020204030204" pitchFamily="49" charset="0"/>
              </a:rPr>
              <a:t>uDT4</a:t>
            </a:r>
            <a:r>
              <a:rPr lang="sk-SK" sz="1050" dirty="0">
                <a:latin typeface="Consolas" panose="020B0609020204030204" pitchFamily="49" charset="0"/>
              </a:rPr>
              <a:t>              'A'                               bgp-65000           </a:t>
            </a:r>
            <a:r>
              <a:rPr lang="sk-SK" sz="1050" dirty="0" err="1">
                <a:latin typeface="Consolas" panose="020B0609020204030204" pitchFamily="49" charset="0"/>
              </a:rPr>
              <a:t>InUse</a:t>
            </a:r>
            <a:r>
              <a:rPr lang="sk-SK" sz="1050" dirty="0">
                <a:latin typeface="Consolas" panose="020B0609020204030204" pitchFamily="49" charset="0"/>
              </a:rPr>
              <a:t>  Y </a:t>
            </a:r>
          </a:p>
          <a:p>
            <a:r>
              <a:rPr lang="sk-SK" sz="1050" dirty="0" err="1">
                <a:solidFill>
                  <a:schemeClr val="accent3"/>
                </a:solidFill>
                <a:latin typeface="Consolas" panose="020B0609020204030204" pitchFamily="49" charset="0"/>
              </a:rPr>
              <a:t>fc00:ab00:1:</a:t>
            </a:r>
            <a:r>
              <a:rPr lang="sk-SK" sz="1050" dirty="0" err="1">
                <a:latin typeface="Consolas" panose="020B0609020204030204" pitchFamily="49" charset="0"/>
              </a:rPr>
              <a:t>e002</a:t>
            </a:r>
            <a:r>
              <a:rPr lang="sk-SK" sz="1050" dirty="0">
                <a:latin typeface="Consolas" panose="020B0609020204030204" pitchFamily="49" charset="0"/>
              </a:rPr>
              <a:t>::          </a:t>
            </a:r>
            <a:r>
              <a:rPr lang="sk-SK" sz="1050" dirty="0" err="1">
                <a:latin typeface="Consolas" panose="020B0609020204030204" pitchFamily="49" charset="0"/>
              </a:rPr>
              <a:t>uDT6</a:t>
            </a:r>
            <a:r>
              <a:rPr lang="sk-SK" sz="1050" dirty="0">
                <a:latin typeface="Consolas" panose="020B0609020204030204" pitchFamily="49" charset="0"/>
              </a:rPr>
              <a:t>              'A'                               bgp-65000           </a:t>
            </a:r>
            <a:r>
              <a:rPr lang="sk-SK" sz="1050" dirty="0" err="1">
                <a:latin typeface="Consolas" panose="020B0609020204030204" pitchFamily="49" charset="0"/>
              </a:rPr>
              <a:t>InUse</a:t>
            </a:r>
            <a:r>
              <a:rPr lang="sk-SK" sz="1050" dirty="0">
                <a:latin typeface="Consolas" panose="020B0609020204030204" pitchFamily="49" charset="0"/>
              </a:rPr>
              <a:t>  Y </a:t>
            </a:r>
          </a:p>
          <a:p>
            <a:r>
              <a:rPr lang="sk-SK" sz="1050" dirty="0" err="1">
                <a:solidFill>
                  <a:schemeClr val="accent3"/>
                </a:solidFill>
                <a:latin typeface="Consolas" panose="020B0609020204030204" pitchFamily="49" charset="0"/>
              </a:rPr>
              <a:t>fc00:ab00:1:</a:t>
            </a:r>
            <a:r>
              <a:rPr lang="sk-SK" sz="1050" dirty="0" err="1">
                <a:latin typeface="Consolas" panose="020B0609020204030204" pitchFamily="49" charset="0"/>
              </a:rPr>
              <a:t>e003</a:t>
            </a:r>
            <a:r>
              <a:rPr lang="sk-SK" sz="1050" dirty="0">
                <a:latin typeface="Consolas" panose="020B0609020204030204" pitchFamily="49" charset="0"/>
              </a:rPr>
              <a:t>::          </a:t>
            </a:r>
            <a:r>
              <a:rPr lang="sk-SK" sz="1050" dirty="0" err="1">
                <a:latin typeface="Consolas" panose="020B0609020204030204" pitchFamily="49" charset="0"/>
              </a:rPr>
              <a:t>uA</a:t>
            </a:r>
            <a:r>
              <a:rPr lang="sk-SK" sz="1050" dirty="0">
                <a:latin typeface="Consolas" panose="020B0609020204030204" pitchFamily="49" charset="0"/>
              </a:rPr>
              <a:t> (</a:t>
            </a:r>
            <a:r>
              <a:rPr lang="sk-SK" sz="1050" dirty="0" err="1">
                <a:latin typeface="Consolas" panose="020B0609020204030204" pitchFamily="49" charset="0"/>
              </a:rPr>
              <a:t>PSP</a:t>
            </a:r>
            <a:r>
              <a:rPr lang="sk-SK" sz="1050" dirty="0">
                <a:latin typeface="Consolas" panose="020B0609020204030204" pitchFamily="49" charset="0"/>
              </a:rPr>
              <a:t>/USD)      [Gi0/0/0/5, </a:t>
            </a:r>
            <a:r>
              <a:rPr lang="sk-SK" sz="1050" dirty="0" err="1">
                <a:latin typeface="Consolas" panose="020B0609020204030204" pitchFamily="49" charset="0"/>
              </a:rPr>
              <a:t>Link-Local</a:t>
            </a:r>
            <a:r>
              <a:rPr lang="sk-SK" sz="1050" dirty="0">
                <a:latin typeface="Consolas" panose="020B0609020204030204" pitchFamily="49" charset="0"/>
              </a:rPr>
              <a:t>]:0         </a:t>
            </a:r>
            <a:r>
              <a:rPr lang="sk-SK" sz="1050" dirty="0" err="1">
                <a:latin typeface="Consolas" panose="020B0609020204030204" pitchFamily="49" charset="0"/>
              </a:rPr>
              <a:t>isis</a:t>
            </a:r>
            <a:r>
              <a:rPr lang="sk-SK" sz="1050" dirty="0">
                <a:latin typeface="Consolas" panose="020B0609020204030204" pitchFamily="49" charset="0"/>
              </a:rPr>
              <a:t>-1              </a:t>
            </a:r>
            <a:r>
              <a:rPr lang="sk-SK" sz="1050" dirty="0" err="1">
                <a:latin typeface="Consolas" panose="020B0609020204030204" pitchFamily="49" charset="0"/>
              </a:rPr>
              <a:t>InUse</a:t>
            </a:r>
            <a:r>
              <a:rPr lang="sk-SK" sz="1050" dirty="0">
                <a:latin typeface="Consolas" panose="020B0609020204030204" pitchFamily="49" charset="0"/>
              </a:rPr>
              <a:t>  Y </a:t>
            </a:r>
          </a:p>
          <a:p>
            <a:r>
              <a:rPr lang="sk-SK" sz="1050" dirty="0">
                <a:latin typeface="Consolas" panose="020B0609020204030204" pitchFamily="49" charset="0"/>
              </a:rPr>
              <a:t>RP/0/RP0/</a:t>
            </a:r>
            <a:r>
              <a:rPr lang="sk-SK" sz="1050" dirty="0" err="1">
                <a:latin typeface="Consolas" panose="020B0609020204030204" pitchFamily="49" charset="0"/>
              </a:rPr>
              <a:t>CPU0:R01</a:t>
            </a:r>
            <a:r>
              <a:rPr lang="sk-SK" sz="1050" dirty="0">
                <a:latin typeface="Consolas" panose="020B0609020204030204" pitchFamily="49" charset="0"/>
              </a:rPr>
              <a:t>#</a:t>
            </a:r>
            <a:endParaRPr lang="sk-SK" sz="1050" dirty="0">
              <a:solidFill>
                <a:srgbClr val="FF0000"/>
              </a:solidFill>
              <a:latin typeface="Consolas" panose="020B0609020204030204" pitchFamily="49" charset="0"/>
            </a:endParaRPr>
          </a:p>
        </p:txBody>
      </p:sp>
      <p:sp>
        <p:nvSpPr>
          <p:cNvPr id="4" name="Rectangle 3">
            <a:extLst>
              <a:ext uri="{FF2B5EF4-FFF2-40B4-BE49-F238E27FC236}">
                <a16:creationId xmlns:a16="http://schemas.microsoft.com/office/drawing/2014/main" id="{A630B5D0-863F-4D33-F294-8B27D28BF2A5}"/>
              </a:ext>
            </a:extLst>
          </p:cNvPr>
          <p:cNvSpPr/>
          <p:nvPr/>
        </p:nvSpPr>
        <p:spPr>
          <a:xfrm>
            <a:off x="6544220" y="751563"/>
            <a:ext cx="5647780" cy="6093976"/>
          </a:xfrm>
          <a:prstGeom prst="rect">
            <a:avLst/>
          </a:prstGeom>
          <a:solidFill>
            <a:schemeClr val="bg1">
              <a:lumMod val="95000"/>
            </a:schemeClr>
          </a:solidFill>
          <a:ln>
            <a:solidFill>
              <a:schemeClr val="tx1"/>
            </a:solidFill>
          </a:ln>
          <a:effectLst/>
        </p:spPr>
        <p:txBody>
          <a:bodyPr wrap="square">
            <a:spAutoFit/>
          </a:bodyPr>
          <a:lstStyle/>
          <a:p>
            <a:r>
              <a:rPr lang="sk-SK" sz="1000" dirty="0">
                <a:latin typeface="Consolas" panose="020B0609020204030204" pitchFamily="49" charset="0"/>
              </a:rPr>
              <a:t>RP/0/RP0/</a:t>
            </a:r>
            <a:r>
              <a:rPr lang="sk-SK" sz="1000" dirty="0" err="1">
                <a:latin typeface="Consolas" panose="020B0609020204030204" pitchFamily="49" charset="0"/>
              </a:rPr>
              <a:t>CPU0:R01#</a:t>
            </a:r>
            <a:r>
              <a:rPr lang="sk-SK" sz="1000" b="1" dirty="0" err="1">
                <a:latin typeface="Consolas" panose="020B0609020204030204" pitchFamily="49" charset="0"/>
              </a:rPr>
              <a:t>sh</a:t>
            </a:r>
            <a:r>
              <a:rPr lang="sk-SK" sz="1000" b="1" dirty="0">
                <a:latin typeface="Consolas" panose="020B0609020204030204" pitchFamily="49" charset="0"/>
              </a:rPr>
              <a:t> segment-routing </a:t>
            </a:r>
            <a:r>
              <a:rPr lang="sk-SK" sz="1000" b="1" dirty="0" err="1">
                <a:latin typeface="Consolas" panose="020B0609020204030204" pitchFamily="49" charset="0"/>
              </a:rPr>
              <a:t>srv6</a:t>
            </a:r>
            <a:r>
              <a:rPr lang="sk-SK" sz="1000" b="1" dirty="0">
                <a:latin typeface="Consolas" panose="020B0609020204030204" pitchFamily="49" charset="0"/>
              </a:rPr>
              <a:t> </a:t>
            </a:r>
            <a:r>
              <a:rPr lang="sk-SK" sz="1000" b="1" dirty="0" err="1">
                <a:latin typeface="Consolas" panose="020B0609020204030204" pitchFamily="49" charset="0"/>
              </a:rPr>
              <a:t>locator</a:t>
            </a:r>
            <a:r>
              <a:rPr lang="sk-SK" sz="1000" b="1" dirty="0">
                <a:latin typeface="Consolas" panose="020B0609020204030204" pitchFamily="49" charset="0"/>
              </a:rPr>
              <a:t> </a:t>
            </a:r>
            <a:r>
              <a:rPr lang="sk-SK" sz="1000" b="1" dirty="0" err="1">
                <a:latin typeface="Consolas" panose="020B0609020204030204" pitchFamily="49" charset="0"/>
              </a:rPr>
              <a:t>Loc_uSID_Algo_0</a:t>
            </a:r>
            <a:r>
              <a:rPr lang="sk-SK" sz="1000" b="1" dirty="0">
                <a:latin typeface="Consolas" panose="020B0609020204030204" pitchFamily="49" charset="0"/>
              </a:rPr>
              <a:t> </a:t>
            </a:r>
            <a:r>
              <a:rPr lang="sk-SK" sz="1000" b="1" dirty="0" err="1">
                <a:latin typeface="Consolas" panose="020B0609020204030204" pitchFamily="49" charset="0"/>
              </a:rPr>
              <a:t>internal</a:t>
            </a:r>
            <a:r>
              <a:rPr lang="sk-SK" sz="1000" b="1" dirty="0">
                <a:latin typeface="Consolas" panose="020B0609020204030204" pitchFamily="49" charset="0"/>
              </a:rPr>
              <a:t> </a:t>
            </a:r>
          </a:p>
          <a:p>
            <a:r>
              <a:rPr lang="sk-SK" sz="1000" dirty="0" err="1">
                <a:latin typeface="Consolas" panose="020B0609020204030204" pitchFamily="49" charset="0"/>
              </a:rPr>
              <a:t>Wed</a:t>
            </a:r>
            <a:r>
              <a:rPr lang="sk-SK" sz="1000" dirty="0">
                <a:latin typeface="Consolas" panose="020B0609020204030204" pitchFamily="49" charset="0"/>
              </a:rPr>
              <a:t> Mar 19 12:57:28.664 </a:t>
            </a:r>
            <a:r>
              <a:rPr lang="sk-SK" sz="1000" dirty="0" err="1">
                <a:latin typeface="Consolas" panose="020B0609020204030204" pitchFamily="49" charset="0"/>
              </a:rPr>
              <a:t>UTC</a:t>
            </a:r>
            <a:endParaRPr lang="sk-SK" sz="1000" dirty="0">
              <a:latin typeface="Consolas" panose="020B0609020204030204" pitchFamily="49" charset="0"/>
            </a:endParaRPr>
          </a:p>
          <a:p>
            <a:r>
              <a:rPr lang="sk-SK" sz="1000" dirty="0" err="1">
                <a:latin typeface="Consolas" panose="020B0609020204030204" pitchFamily="49" charset="0"/>
              </a:rPr>
              <a:t>Name</a:t>
            </a:r>
            <a:r>
              <a:rPr lang="sk-SK" sz="1000" dirty="0">
                <a:latin typeface="Consolas" panose="020B0609020204030204" pitchFamily="49" charset="0"/>
              </a:rPr>
              <a:t>                  ID       </a:t>
            </a:r>
            <a:r>
              <a:rPr lang="sk-SK" sz="1000" dirty="0" err="1">
                <a:latin typeface="Consolas" panose="020B0609020204030204" pitchFamily="49" charset="0"/>
              </a:rPr>
              <a:t>Algo</a:t>
            </a:r>
            <a:r>
              <a:rPr lang="sk-SK" sz="1000" dirty="0">
                <a:latin typeface="Consolas" panose="020B0609020204030204" pitchFamily="49" charset="0"/>
              </a:rPr>
              <a:t>  Prefix                    Status   </a:t>
            </a:r>
            <a:r>
              <a:rPr lang="sk-SK" sz="1000" dirty="0" err="1">
                <a:latin typeface="Consolas" panose="020B0609020204030204" pitchFamily="49" charset="0"/>
              </a:rPr>
              <a:t>Flags</a:t>
            </a:r>
            <a:r>
              <a:rPr lang="sk-SK" sz="1000" dirty="0">
                <a:latin typeface="Consolas" panose="020B0609020204030204" pitchFamily="49" charset="0"/>
              </a:rPr>
              <a:t>   </a:t>
            </a:r>
          </a:p>
          <a:p>
            <a:r>
              <a:rPr lang="sk-SK" sz="1000" dirty="0">
                <a:latin typeface="Consolas" panose="020B0609020204030204" pitchFamily="49" charset="0"/>
              </a:rPr>
              <a:t>--------------------  -------  ----  ------------------------  -------  ------</a:t>
            </a:r>
          </a:p>
          <a:p>
            <a:r>
              <a:rPr lang="sk-SK" sz="1000" dirty="0" err="1">
                <a:latin typeface="Consolas" panose="020B0609020204030204" pitchFamily="49" charset="0"/>
              </a:rPr>
              <a:t>Loc_uSID_Algo_0</a:t>
            </a:r>
            <a:r>
              <a:rPr lang="sk-SK" sz="1000" dirty="0">
                <a:latin typeface="Consolas" panose="020B0609020204030204" pitchFamily="49" charset="0"/>
              </a:rPr>
              <a:t>       2        0     </a:t>
            </a:r>
            <a:r>
              <a:rPr lang="sk-SK" sz="1000" dirty="0" err="1">
                <a:latin typeface="Consolas" panose="020B0609020204030204" pitchFamily="49" charset="0"/>
              </a:rPr>
              <a:t>fc00:ab00:1</a:t>
            </a:r>
            <a:r>
              <a:rPr lang="sk-SK" sz="1000" dirty="0">
                <a:latin typeface="Consolas" panose="020B0609020204030204" pitchFamily="49" charset="0"/>
              </a:rPr>
              <a:t>::/48          </a:t>
            </a:r>
            <a:r>
              <a:rPr lang="sk-SK" sz="1000" dirty="0" err="1">
                <a:latin typeface="Consolas" panose="020B0609020204030204" pitchFamily="49" charset="0"/>
              </a:rPr>
              <a:t>Up</a:t>
            </a:r>
            <a:r>
              <a:rPr lang="sk-SK" sz="1000" dirty="0">
                <a:latin typeface="Consolas" panose="020B0609020204030204" pitchFamily="49" charset="0"/>
              </a:rPr>
              <a:t>       U       </a:t>
            </a:r>
          </a:p>
          <a:p>
            <a:r>
              <a:rPr lang="sk-SK" sz="1000" dirty="0">
                <a:latin typeface="Consolas" panose="020B0609020204030204" pitchFamily="49" charset="0"/>
              </a:rPr>
              <a:t>  </a:t>
            </a:r>
            <a:r>
              <a:rPr lang="sk-SK" sz="1000" dirty="0">
                <a:highlight>
                  <a:srgbClr val="FFFF00"/>
                </a:highlight>
                <a:latin typeface="Consolas" panose="020B0609020204030204" pitchFamily="49" charset="0"/>
              </a:rPr>
              <a:t>(U): </a:t>
            </a:r>
            <a:r>
              <a:rPr lang="sk-SK" sz="1000" dirty="0" err="1">
                <a:highlight>
                  <a:srgbClr val="FFFF00"/>
                </a:highlight>
                <a:latin typeface="Consolas" panose="020B0609020204030204" pitchFamily="49" charset="0"/>
              </a:rPr>
              <a:t>Micro</a:t>
            </a:r>
            <a:r>
              <a:rPr lang="sk-SK" sz="1000" dirty="0">
                <a:highlight>
                  <a:srgbClr val="FFFF00"/>
                </a:highlight>
                <a:latin typeface="Consolas" panose="020B0609020204030204" pitchFamily="49" charset="0"/>
              </a:rPr>
              <a:t>-segment (</a:t>
            </a:r>
            <a:r>
              <a:rPr lang="sk-SK" sz="1000" dirty="0" err="1">
                <a:highlight>
                  <a:srgbClr val="FFFF00"/>
                </a:highlight>
                <a:latin typeface="Consolas" panose="020B0609020204030204" pitchFamily="49" charset="0"/>
              </a:rPr>
              <a:t>behavior</a:t>
            </a:r>
            <a:r>
              <a:rPr lang="sk-SK" sz="1000" dirty="0">
                <a:highlight>
                  <a:srgbClr val="FFFF00"/>
                </a:highlight>
                <a:latin typeface="Consolas" panose="020B0609020204030204" pitchFamily="49" charset="0"/>
              </a:rPr>
              <a:t>: </a:t>
            </a:r>
            <a:r>
              <a:rPr lang="sk-SK" sz="1000" dirty="0" err="1">
                <a:highlight>
                  <a:srgbClr val="FFFF00"/>
                </a:highlight>
                <a:latin typeface="Consolas" panose="020B0609020204030204" pitchFamily="49" charset="0"/>
              </a:rPr>
              <a:t>uN</a:t>
            </a:r>
            <a:r>
              <a:rPr lang="sk-SK" sz="1000" dirty="0">
                <a:highlight>
                  <a:srgbClr val="FFFF00"/>
                </a:highlight>
                <a:latin typeface="Consolas" panose="020B0609020204030204" pitchFamily="49" charset="0"/>
              </a:rPr>
              <a:t> (</a:t>
            </a:r>
            <a:r>
              <a:rPr lang="sk-SK" sz="1000" dirty="0" err="1">
                <a:highlight>
                  <a:srgbClr val="FFFF00"/>
                </a:highlight>
                <a:latin typeface="Consolas" panose="020B0609020204030204" pitchFamily="49" charset="0"/>
              </a:rPr>
              <a:t>PSP</a:t>
            </a:r>
            <a:r>
              <a:rPr lang="sk-SK" sz="1000" dirty="0">
                <a:highlight>
                  <a:srgbClr val="FFFF00"/>
                </a:highlight>
                <a:latin typeface="Consolas" panose="020B0609020204030204" pitchFamily="49" charset="0"/>
              </a:rPr>
              <a:t>/USD))</a:t>
            </a:r>
          </a:p>
          <a:p>
            <a:r>
              <a:rPr lang="sk-SK" sz="1000" dirty="0">
                <a:latin typeface="Consolas" panose="020B0609020204030204" pitchFamily="49" charset="0"/>
              </a:rPr>
              <a:t>  Index: 2</a:t>
            </a:r>
          </a:p>
          <a:p>
            <a:r>
              <a:rPr lang="sk-SK" sz="1000" dirty="0">
                <a:latin typeface="Consolas" panose="020B0609020204030204" pitchFamily="49" charset="0"/>
              </a:rPr>
              <a:t>  </a:t>
            </a:r>
            <a:r>
              <a:rPr lang="sk-SK" sz="1000" dirty="0" err="1">
                <a:latin typeface="Consolas" panose="020B0609020204030204" pitchFamily="49" charset="0"/>
              </a:rPr>
              <a:t>Flags</a:t>
            </a:r>
            <a:r>
              <a:rPr lang="sk-SK" sz="1000" dirty="0">
                <a:latin typeface="Consolas" panose="020B0609020204030204" pitchFamily="49" charset="0"/>
              </a:rPr>
              <a:t>: </a:t>
            </a:r>
            <a:r>
              <a:rPr lang="sk-SK" sz="1000" dirty="0" err="1">
                <a:latin typeface="Consolas" panose="020B0609020204030204" pitchFamily="49" charset="0"/>
              </a:rPr>
              <a:t>0x8</a:t>
            </a:r>
            <a:endParaRPr lang="sk-SK" sz="1000" dirty="0">
              <a:latin typeface="Consolas" panose="020B0609020204030204" pitchFamily="49" charset="0"/>
            </a:endParaRPr>
          </a:p>
          <a:p>
            <a:r>
              <a:rPr lang="sk-SK" sz="1000" dirty="0">
                <a:latin typeface="Consolas" panose="020B0609020204030204" pitchFamily="49" charset="0"/>
              </a:rPr>
              <a:t>  </a:t>
            </a:r>
            <a:r>
              <a:rPr lang="sk-SK" sz="1000" dirty="0" err="1">
                <a:highlight>
                  <a:srgbClr val="FFFF00"/>
                </a:highlight>
                <a:latin typeface="Consolas" panose="020B0609020204030204" pitchFamily="49" charset="0"/>
              </a:rPr>
              <a:t>Format</a:t>
            </a:r>
            <a:r>
              <a:rPr lang="sk-SK" sz="1000" dirty="0">
                <a:highlight>
                  <a:srgbClr val="FFFF00"/>
                </a:highlight>
                <a:latin typeface="Consolas" panose="020B0609020204030204" pitchFamily="49" charset="0"/>
              </a:rPr>
              <a:t>: </a:t>
            </a:r>
            <a:r>
              <a:rPr lang="sk-SK" sz="1000" dirty="0" err="1">
                <a:highlight>
                  <a:srgbClr val="FFFF00"/>
                </a:highlight>
                <a:latin typeface="Consolas" panose="020B0609020204030204" pitchFamily="49" charset="0"/>
              </a:rPr>
              <a:t>f3216</a:t>
            </a:r>
            <a:r>
              <a:rPr lang="sk-SK" sz="1000" dirty="0">
                <a:highlight>
                  <a:srgbClr val="FFFF00"/>
                </a:highlight>
                <a:latin typeface="Consolas" panose="020B0609020204030204" pitchFamily="49" charset="0"/>
              </a:rPr>
              <a:t> &lt;</a:t>
            </a:r>
            <a:r>
              <a:rPr lang="sk-SK" sz="1000" dirty="0" err="1">
                <a:highlight>
                  <a:srgbClr val="FFFF00"/>
                </a:highlight>
                <a:latin typeface="Consolas" panose="020B0609020204030204" pitchFamily="49" charset="0"/>
              </a:rPr>
              <a:t>32B</a:t>
            </a:r>
            <a:r>
              <a:rPr lang="sk-SK" sz="1000" dirty="0">
                <a:highlight>
                  <a:srgbClr val="FFFF00"/>
                </a:highlight>
                <a:latin typeface="Consolas" panose="020B0609020204030204" pitchFamily="49" charset="0"/>
              </a:rPr>
              <a:t>/</a:t>
            </a:r>
            <a:r>
              <a:rPr lang="sk-SK" sz="1000" dirty="0" err="1">
                <a:highlight>
                  <a:srgbClr val="FFFF00"/>
                </a:highlight>
                <a:latin typeface="Consolas" panose="020B0609020204030204" pitchFamily="49" charset="0"/>
              </a:rPr>
              <a:t>16NFA</a:t>
            </a:r>
            <a:r>
              <a:rPr lang="sk-SK" sz="1000" dirty="0">
                <a:highlight>
                  <a:srgbClr val="FFFF00"/>
                </a:highlight>
                <a:latin typeface="Consolas" panose="020B0609020204030204" pitchFamily="49" charset="0"/>
              </a:rPr>
              <a:t>&gt; (2)</a:t>
            </a:r>
          </a:p>
          <a:p>
            <a:r>
              <a:rPr lang="sk-SK" sz="1000" dirty="0">
                <a:latin typeface="Consolas" panose="020B0609020204030204" pitchFamily="49" charset="0"/>
              </a:rPr>
              <a:t>  </a:t>
            </a:r>
            <a:r>
              <a:rPr lang="sk-SK" sz="1000" dirty="0" err="1">
                <a:latin typeface="Consolas" panose="020B0609020204030204" pitchFamily="49" charset="0"/>
              </a:rPr>
              <a:t>FSM</a:t>
            </a:r>
            <a:r>
              <a:rPr lang="sk-SK" sz="1000" dirty="0">
                <a:latin typeface="Consolas" panose="020B0609020204030204" pitchFamily="49" charset="0"/>
              </a:rPr>
              <a:t> state: </a:t>
            </a:r>
            <a:r>
              <a:rPr lang="sk-SK" sz="1000" dirty="0" err="1">
                <a:latin typeface="Consolas" panose="020B0609020204030204" pitchFamily="49" charset="0"/>
              </a:rPr>
              <a:t>UP</a:t>
            </a:r>
            <a:endParaRPr lang="sk-SK" sz="1000" dirty="0">
              <a:latin typeface="Consolas" panose="020B0609020204030204" pitchFamily="49" charset="0"/>
            </a:endParaRPr>
          </a:p>
          <a:p>
            <a:r>
              <a:rPr lang="sk-SK" sz="1000" dirty="0">
                <a:latin typeface="Consolas" panose="020B0609020204030204" pitchFamily="49" charset="0"/>
              </a:rPr>
              <a:t>  </a:t>
            </a:r>
            <a:r>
              <a:rPr lang="sk-SK" sz="1000" dirty="0" err="1">
                <a:latin typeface="Consolas" panose="020B0609020204030204" pitchFamily="49" charset="0"/>
              </a:rPr>
              <a:t>Global</a:t>
            </a:r>
            <a:r>
              <a:rPr lang="sk-SK" sz="1000" dirty="0">
                <a:latin typeface="Consolas" panose="020B0609020204030204" pitchFamily="49" charset="0"/>
              </a:rPr>
              <a:t> </a:t>
            </a:r>
            <a:r>
              <a:rPr lang="sk-SK" sz="1000" dirty="0" err="1">
                <a:latin typeface="Consolas" panose="020B0609020204030204" pitchFamily="49" charset="0"/>
              </a:rPr>
              <a:t>OOR</a:t>
            </a:r>
            <a:r>
              <a:rPr lang="sk-SK" sz="1000" dirty="0">
                <a:latin typeface="Consolas" panose="020B0609020204030204" pitchFamily="49" charset="0"/>
              </a:rPr>
              <a:t> State: </a:t>
            </a:r>
            <a:r>
              <a:rPr lang="sk-SK" sz="1000" dirty="0" err="1">
                <a:latin typeface="Consolas" panose="020B0609020204030204" pitchFamily="49" charset="0"/>
              </a:rPr>
              <a:t>Resource</a:t>
            </a:r>
            <a:r>
              <a:rPr lang="sk-SK" sz="1000" dirty="0">
                <a:latin typeface="Consolas" panose="020B0609020204030204" pitchFamily="49" charset="0"/>
              </a:rPr>
              <a:t> </a:t>
            </a:r>
            <a:r>
              <a:rPr lang="sk-SK" sz="1000" dirty="0" err="1">
                <a:latin typeface="Consolas" panose="020B0609020204030204" pitchFamily="49" charset="0"/>
              </a:rPr>
              <a:t>Available</a:t>
            </a:r>
            <a:endParaRPr lang="sk-SK" sz="1000" dirty="0">
              <a:latin typeface="Consolas" panose="020B0609020204030204" pitchFamily="49" charset="0"/>
            </a:endParaRPr>
          </a:p>
          <a:p>
            <a:r>
              <a:rPr lang="sk-SK" sz="1000" dirty="0">
                <a:latin typeface="Consolas" panose="020B0609020204030204" pitchFamily="49" charset="0"/>
              </a:rPr>
              <a:t>  </a:t>
            </a:r>
            <a:r>
              <a:rPr lang="sk-SK" sz="1000" dirty="0" err="1">
                <a:latin typeface="Consolas" panose="020B0609020204030204" pitchFamily="49" charset="0"/>
              </a:rPr>
              <a:t>Local</a:t>
            </a:r>
            <a:r>
              <a:rPr lang="sk-SK" sz="1000" dirty="0">
                <a:latin typeface="Consolas" panose="020B0609020204030204" pitchFamily="49" charset="0"/>
              </a:rPr>
              <a:t> </a:t>
            </a:r>
            <a:r>
              <a:rPr lang="sk-SK" sz="1000" dirty="0" err="1">
                <a:latin typeface="Consolas" panose="020B0609020204030204" pitchFamily="49" charset="0"/>
              </a:rPr>
              <a:t>SID</a:t>
            </a:r>
            <a:r>
              <a:rPr lang="sk-SK" sz="1000" dirty="0">
                <a:latin typeface="Consolas" panose="020B0609020204030204" pitchFamily="49" charset="0"/>
              </a:rPr>
              <a:t> </a:t>
            </a:r>
            <a:r>
              <a:rPr lang="sk-SK" sz="1000" dirty="0" err="1">
                <a:latin typeface="Consolas" panose="020B0609020204030204" pitchFamily="49" charset="0"/>
              </a:rPr>
              <a:t>OOR</a:t>
            </a:r>
            <a:r>
              <a:rPr lang="sk-SK" sz="1000" dirty="0">
                <a:latin typeface="Consolas" panose="020B0609020204030204" pitchFamily="49" charset="0"/>
              </a:rPr>
              <a:t> State: </a:t>
            </a:r>
            <a:r>
              <a:rPr lang="sk-SK" sz="1000" dirty="0" err="1">
                <a:latin typeface="Consolas" panose="020B0609020204030204" pitchFamily="49" charset="0"/>
              </a:rPr>
              <a:t>Resource</a:t>
            </a:r>
            <a:r>
              <a:rPr lang="sk-SK" sz="1000" dirty="0">
                <a:latin typeface="Consolas" panose="020B0609020204030204" pitchFamily="49" charset="0"/>
              </a:rPr>
              <a:t> </a:t>
            </a:r>
            <a:r>
              <a:rPr lang="sk-SK" sz="1000" dirty="0" err="1">
                <a:latin typeface="Consolas" panose="020B0609020204030204" pitchFamily="49" charset="0"/>
              </a:rPr>
              <a:t>Available</a:t>
            </a:r>
            <a:endParaRPr lang="sk-SK" sz="1000" dirty="0">
              <a:latin typeface="Consolas" panose="020B0609020204030204" pitchFamily="49" charset="0"/>
            </a:endParaRPr>
          </a:p>
          <a:p>
            <a:r>
              <a:rPr lang="sk-SK" sz="1000" dirty="0">
                <a:latin typeface="Consolas" panose="020B0609020204030204" pitchFamily="49" charset="0"/>
              </a:rPr>
              <a:t>  Interface: </a:t>
            </a:r>
          </a:p>
          <a:p>
            <a:r>
              <a:rPr lang="sk-SK" sz="1000" dirty="0">
                <a:latin typeface="Consolas" panose="020B0609020204030204" pitchFamily="49" charset="0"/>
              </a:rPr>
              <a:t>    </a:t>
            </a:r>
            <a:r>
              <a:rPr lang="sk-SK" sz="1000" dirty="0" err="1">
                <a:latin typeface="Consolas" panose="020B0609020204030204" pitchFamily="49" charset="0"/>
              </a:rPr>
              <a:t>Name</a:t>
            </a:r>
            <a:r>
              <a:rPr lang="sk-SK" sz="1000" dirty="0">
                <a:latin typeface="Consolas" panose="020B0609020204030204" pitchFamily="49" charset="0"/>
              </a:rPr>
              <a:t>: </a:t>
            </a:r>
            <a:r>
              <a:rPr lang="sk-SK" sz="1000" dirty="0" err="1">
                <a:latin typeface="Consolas" panose="020B0609020204030204" pitchFamily="49" charset="0"/>
              </a:rPr>
              <a:t>srv6-</a:t>
            </a:r>
            <a:r>
              <a:rPr lang="sk-SK" sz="1000" dirty="0" err="1">
                <a:highlight>
                  <a:srgbClr val="FFFF00"/>
                </a:highlight>
                <a:latin typeface="Consolas" panose="020B0609020204030204" pitchFamily="49" charset="0"/>
              </a:rPr>
              <a:t>Loc_uSID_Algo_0</a:t>
            </a:r>
            <a:endParaRPr lang="sk-SK" sz="1000" dirty="0">
              <a:highlight>
                <a:srgbClr val="FFFF00"/>
              </a:highlight>
              <a:latin typeface="Consolas" panose="020B0609020204030204" pitchFamily="49" charset="0"/>
            </a:endParaRPr>
          </a:p>
          <a:p>
            <a:r>
              <a:rPr lang="sk-SK" sz="1000" dirty="0">
                <a:latin typeface="Consolas" panose="020B0609020204030204" pitchFamily="49" charset="0"/>
              </a:rPr>
              <a:t>    </a:t>
            </a:r>
            <a:r>
              <a:rPr lang="sk-SK" sz="1000" dirty="0" err="1">
                <a:latin typeface="Consolas" panose="020B0609020204030204" pitchFamily="49" charset="0"/>
              </a:rPr>
              <a:t>IFH</a:t>
            </a:r>
            <a:r>
              <a:rPr lang="sk-SK" sz="1000" dirty="0">
                <a:latin typeface="Consolas" panose="020B0609020204030204" pitchFamily="49" charset="0"/>
              </a:rPr>
              <a:t> : </a:t>
            </a:r>
            <a:r>
              <a:rPr lang="sk-SK" sz="1000" dirty="0" err="1">
                <a:latin typeface="Consolas" panose="020B0609020204030204" pitchFamily="49" charset="0"/>
              </a:rPr>
              <a:t>0x00000024</a:t>
            </a:r>
            <a:endParaRPr lang="sk-SK" sz="1000" dirty="0">
              <a:latin typeface="Consolas" panose="020B0609020204030204" pitchFamily="49" charset="0"/>
            </a:endParaRPr>
          </a:p>
          <a:p>
            <a:r>
              <a:rPr lang="sk-SK" sz="1000" dirty="0">
                <a:latin typeface="Consolas" panose="020B0609020204030204" pitchFamily="49" charset="0"/>
              </a:rPr>
              <a:t>    IPv6 </a:t>
            </a:r>
            <a:r>
              <a:rPr lang="sk-SK" sz="1000" dirty="0" err="1">
                <a:latin typeface="Consolas" panose="020B0609020204030204" pitchFamily="49" charset="0"/>
              </a:rPr>
              <a:t>address</a:t>
            </a:r>
            <a:r>
              <a:rPr lang="sk-SK" sz="1000" dirty="0">
                <a:latin typeface="Consolas" panose="020B0609020204030204" pitchFamily="49" charset="0"/>
              </a:rPr>
              <a:t>: </a:t>
            </a:r>
            <a:r>
              <a:rPr lang="sk-SK" sz="1000" dirty="0" err="1">
                <a:highlight>
                  <a:srgbClr val="FFFF00"/>
                </a:highlight>
                <a:latin typeface="Consolas" panose="020B0609020204030204" pitchFamily="49" charset="0"/>
              </a:rPr>
              <a:t>fc00:ab00:1</a:t>
            </a:r>
            <a:r>
              <a:rPr lang="sk-SK" sz="1000" dirty="0">
                <a:highlight>
                  <a:srgbClr val="FFFF00"/>
                </a:highlight>
                <a:latin typeface="Consolas" panose="020B0609020204030204" pitchFamily="49" charset="0"/>
              </a:rPr>
              <a:t>::/48 </a:t>
            </a:r>
            <a:r>
              <a:rPr lang="sk-SK" sz="1000" dirty="0">
                <a:latin typeface="Consolas" panose="020B0609020204030204" pitchFamily="49" charset="0"/>
              </a:rPr>
              <a:t>(IM </a:t>
            </a:r>
            <a:r>
              <a:rPr lang="sk-SK" sz="1000" dirty="0" err="1">
                <a:latin typeface="Consolas" panose="020B0609020204030204" pitchFamily="49" charset="0"/>
              </a:rPr>
              <a:t>notified</a:t>
            </a:r>
            <a:r>
              <a:rPr lang="sk-SK" sz="1000" dirty="0">
                <a:latin typeface="Consolas" panose="020B0609020204030204" pitchFamily="49" charset="0"/>
              </a:rPr>
              <a:t>: </a:t>
            </a:r>
            <a:r>
              <a:rPr lang="sk-SK" sz="1000" dirty="0" err="1">
                <a:latin typeface="Consolas" panose="020B0609020204030204" pitchFamily="49" charset="0"/>
              </a:rPr>
              <a:t>fc00:ab00:1</a:t>
            </a:r>
            <a:r>
              <a:rPr lang="sk-SK" sz="1000" dirty="0">
                <a:latin typeface="Consolas" panose="020B0609020204030204" pitchFamily="49" charset="0"/>
              </a:rPr>
              <a:t>::/48)</a:t>
            </a:r>
          </a:p>
          <a:p>
            <a:r>
              <a:rPr lang="sk-SK" sz="1000" dirty="0">
                <a:latin typeface="Consolas" panose="020B0609020204030204" pitchFamily="49" charset="0"/>
              </a:rPr>
              <a:t>    </a:t>
            </a:r>
            <a:r>
              <a:rPr lang="sk-SK" sz="1000" dirty="0" err="1">
                <a:latin typeface="Consolas" panose="020B0609020204030204" pitchFamily="49" charset="0"/>
              </a:rPr>
              <a:t>Algo</a:t>
            </a:r>
            <a:r>
              <a:rPr lang="sk-SK" sz="1000" dirty="0">
                <a:latin typeface="Consolas" panose="020B0609020204030204" pitchFamily="49" charset="0"/>
              </a:rPr>
              <a:t>: 0 (IM </a:t>
            </a:r>
            <a:r>
              <a:rPr lang="sk-SK" sz="1000" dirty="0" err="1">
                <a:latin typeface="Consolas" panose="020B0609020204030204" pitchFamily="49" charset="0"/>
              </a:rPr>
              <a:t>notified</a:t>
            </a:r>
            <a:r>
              <a:rPr lang="sk-SK" sz="1000" dirty="0">
                <a:latin typeface="Consolas" panose="020B0609020204030204" pitchFamily="49" charset="0"/>
              </a:rPr>
              <a:t>: 0)</a:t>
            </a:r>
          </a:p>
          <a:p>
            <a:r>
              <a:rPr lang="sk-SK" sz="1000" dirty="0">
                <a:latin typeface="Consolas" panose="020B0609020204030204" pitchFamily="49" charset="0"/>
              </a:rPr>
              <a:t>  </a:t>
            </a:r>
            <a:r>
              <a:rPr lang="sk-SK" sz="1000" dirty="0" err="1">
                <a:latin typeface="Consolas" panose="020B0609020204030204" pitchFamily="49" charset="0"/>
              </a:rPr>
              <a:t>Number</a:t>
            </a:r>
            <a:r>
              <a:rPr lang="sk-SK" sz="1000" dirty="0">
                <a:latin typeface="Consolas" panose="020B0609020204030204" pitchFamily="49" charset="0"/>
              </a:rPr>
              <a:t> of </a:t>
            </a:r>
            <a:r>
              <a:rPr lang="sk-SK" sz="1000" dirty="0" err="1">
                <a:latin typeface="Consolas" panose="020B0609020204030204" pitchFamily="49" charset="0"/>
              </a:rPr>
              <a:t>SIDs</a:t>
            </a:r>
            <a:r>
              <a:rPr lang="sk-SK" sz="1000" dirty="0">
                <a:latin typeface="Consolas" panose="020B0609020204030204" pitchFamily="49" charset="0"/>
              </a:rPr>
              <a:t>: 4</a:t>
            </a:r>
          </a:p>
          <a:p>
            <a:r>
              <a:rPr lang="sk-SK" sz="1000" dirty="0">
                <a:latin typeface="Consolas" panose="020B0609020204030204" pitchFamily="49" charset="0"/>
              </a:rPr>
              <a:t>  </a:t>
            </a:r>
            <a:r>
              <a:rPr lang="sk-SK" sz="1000" dirty="0" err="1">
                <a:latin typeface="Consolas" panose="020B0609020204030204" pitchFamily="49" charset="0"/>
              </a:rPr>
              <a:t>LIB</a:t>
            </a:r>
            <a:r>
              <a:rPr lang="sk-SK" sz="1000" dirty="0">
                <a:latin typeface="Consolas" panose="020B0609020204030204" pitchFamily="49" charset="0"/>
              </a:rPr>
              <a:t> </a:t>
            </a:r>
            <a:r>
              <a:rPr lang="sk-SK" sz="1000" dirty="0" err="1">
                <a:latin typeface="Consolas" panose="020B0609020204030204" pitchFamily="49" charset="0"/>
              </a:rPr>
              <a:t>Ranges</a:t>
            </a:r>
            <a:r>
              <a:rPr lang="sk-SK" sz="1000" dirty="0">
                <a:latin typeface="Consolas" panose="020B0609020204030204" pitchFamily="49" charset="0"/>
              </a:rPr>
              <a:t>:</a:t>
            </a:r>
          </a:p>
          <a:p>
            <a:r>
              <a:rPr lang="sk-SK" sz="1000" dirty="0">
                <a:latin typeface="Consolas" panose="020B0609020204030204" pitchFamily="49" charset="0"/>
              </a:rPr>
              <a:t>    </a:t>
            </a:r>
            <a:r>
              <a:rPr lang="sk-SK" sz="1000" dirty="0" err="1">
                <a:latin typeface="Consolas" panose="020B0609020204030204" pitchFamily="49" charset="0"/>
              </a:rPr>
              <a:t>LIB</a:t>
            </a:r>
            <a:r>
              <a:rPr lang="sk-SK" sz="1000" dirty="0">
                <a:latin typeface="Consolas" panose="020B0609020204030204" pitchFamily="49" charset="0"/>
              </a:rPr>
              <a:t>:   </a:t>
            </a:r>
            <a:r>
              <a:rPr lang="sk-SK" sz="1000" dirty="0" err="1">
                <a:latin typeface="Consolas" panose="020B0609020204030204" pitchFamily="49" charset="0"/>
              </a:rPr>
              <a:t>0xE000</a:t>
            </a:r>
            <a:r>
              <a:rPr lang="sk-SK" sz="1000" dirty="0">
                <a:latin typeface="Consolas" panose="020B0609020204030204" pitchFamily="49" charset="0"/>
              </a:rPr>
              <a:t> - </a:t>
            </a:r>
            <a:r>
              <a:rPr lang="sk-SK" sz="1000" dirty="0" err="1">
                <a:latin typeface="Consolas" panose="020B0609020204030204" pitchFamily="49" charset="0"/>
              </a:rPr>
              <a:t>0xFDFF</a:t>
            </a:r>
            <a:endParaRPr lang="sk-SK" sz="1000" dirty="0">
              <a:latin typeface="Consolas" panose="020B0609020204030204" pitchFamily="49" charset="0"/>
            </a:endParaRPr>
          </a:p>
          <a:p>
            <a:r>
              <a:rPr lang="sk-SK" sz="1000" dirty="0">
                <a:latin typeface="Consolas" panose="020B0609020204030204" pitchFamily="49" charset="0"/>
              </a:rPr>
              <a:t>    </a:t>
            </a:r>
            <a:r>
              <a:rPr lang="sk-SK" sz="1000" dirty="0" err="1">
                <a:latin typeface="Consolas" panose="020B0609020204030204" pitchFamily="49" charset="0"/>
              </a:rPr>
              <a:t>ELIB</a:t>
            </a:r>
            <a:r>
              <a:rPr lang="sk-SK" sz="1000" dirty="0">
                <a:latin typeface="Consolas" panose="020B0609020204030204" pitchFamily="49" charset="0"/>
              </a:rPr>
              <a:t>:  </a:t>
            </a:r>
            <a:r>
              <a:rPr lang="sk-SK" sz="1000" dirty="0" err="1">
                <a:latin typeface="Consolas" panose="020B0609020204030204" pitchFamily="49" charset="0"/>
              </a:rPr>
              <a:t>0xFE00</a:t>
            </a:r>
            <a:r>
              <a:rPr lang="sk-SK" sz="1000" dirty="0">
                <a:latin typeface="Consolas" panose="020B0609020204030204" pitchFamily="49" charset="0"/>
              </a:rPr>
              <a:t> - </a:t>
            </a:r>
            <a:r>
              <a:rPr lang="sk-SK" sz="1000" dirty="0" err="1">
                <a:latin typeface="Consolas" panose="020B0609020204030204" pitchFamily="49" charset="0"/>
              </a:rPr>
              <a:t>0xFEFF</a:t>
            </a:r>
            <a:endParaRPr lang="sk-SK" sz="1000" dirty="0">
              <a:latin typeface="Consolas" panose="020B0609020204030204" pitchFamily="49" charset="0"/>
            </a:endParaRPr>
          </a:p>
          <a:p>
            <a:r>
              <a:rPr lang="sk-SK" sz="1000" dirty="0">
                <a:latin typeface="Consolas" panose="020B0609020204030204" pitchFamily="49" charset="0"/>
              </a:rPr>
              <a:t>    </a:t>
            </a:r>
            <a:r>
              <a:rPr lang="sk-SK" sz="1000" dirty="0" err="1">
                <a:latin typeface="Consolas" panose="020B0609020204030204" pitchFamily="49" charset="0"/>
              </a:rPr>
              <a:t>WLIB</a:t>
            </a:r>
            <a:r>
              <a:rPr lang="sk-SK" sz="1000" dirty="0">
                <a:latin typeface="Consolas" panose="020B0609020204030204" pitchFamily="49" charset="0"/>
              </a:rPr>
              <a:t>:  </a:t>
            </a:r>
            <a:r>
              <a:rPr lang="sk-SK" sz="1000" dirty="0" err="1">
                <a:latin typeface="Consolas" panose="020B0609020204030204" pitchFamily="49" charset="0"/>
              </a:rPr>
              <a:t>0xFFF00000</a:t>
            </a:r>
            <a:r>
              <a:rPr lang="sk-SK" sz="1000" dirty="0">
                <a:latin typeface="Consolas" panose="020B0609020204030204" pitchFamily="49" charset="0"/>
              </a:rPr>
              <a:t> - </a:t>
            </a:r>
            <a:r>
              <a:rPr lang="sk-SK" sz="1000" dirty="0" err="1">
                <a:latin typeface="Consolas" panose="020B0609020204030204" pitchFamily="49" charset="0"/>
              </a:rPr>
              <a:t>0xFFF6FFFF</a:t>
            </a:r>
            <a:endParaRPr lang="sk-SK" sz="1000" dirty="0">
              <a:latin typeface="Consolas" panose="020B0609020204030204" pitchFamily="49" charset="0"/>
            </a:endParaRPr>
          </a:p>
          <a:p>
            <a:r>
              <a:rPr lang="sk-SK" sz="1000" dirty="0">
                <a:latin typeface="Consolas" panose="020B0609020204030204" pitchFamily="49" charset="0"/>
              </a:rPr>
              <a:t>    </a:t>
            </a:r>
            <a:r>
              <a:rPr lang="sk-SK" sz="1000" dirty="0" err="1">
                <a:latin typeface="Consolas" panose="020B0609020204030204" pitchFamily="49" charset="0"/>
              </a:rPr>
              <a:t>EWLIB</a:t>
            </a:r>
            <a:r>
              <a:rPr lang="sk-SK" sz="1000" dirty="0">
                <a:latin typeface="Consolas" panose="020B0609020204030204" pitchFamily="49" charset="0"/>
              </a:rPr>
              <a:t>: </a:t>
            </a:r>
            <a:r>
              <a:rPr lang="sk-SK" sz="1000" dirty="0" err="1">
                <a:latin typeface="Consolas" panose="020B0609020204030204" pitchFamily="49" charset="0"/>
              </a:rPr>
              <a:t>0xFFF70000</a:t>
            </a:r>
            <a:r>
              <a:rPr lang="sk-SK" sz="1000" dirty="0">
                <a:latin typeface="Consolas" panose="020B0609020204030204" pitchFamily="49" charset="0"/>
              </a:rPr>
              <a:t> - </a:t>
            </a:r>
            <a:r>
              <a:rPr lang="sk-SK" sz="1000" dirty="0" err="1">
                <a:latin typeface="Consolas" panose="020B0609020204030204" pitchFamily="49" charset="0"/>
              </a:rPr>
              <a:t>0xFFF7FFFF</a:t>
            </a:r>
            <a:endParaRPr lang="sk-SK" sz="1000" dirty="0">
              <a:latin typeface="Consolas" panose="020B0609020204030204" pitchFamily="49" charset="0"/>
            </a:endParaRPr>
          </a:p>
          <a:p>
            <a:r>
              <a:rPr lang="sk-SK" sz="1000" dirty="0">
                <a:latin typeface="Consolas" panose="020B0609020204030204" pitchFamily="49" charset="0"/>
              </a:rPr>
              <a:t>  </a:t>
            </a:r>
            <a:r>
              <a:rPr lang="sk-SK" sz="1000" dirty="0" err="1">
                <a:latin typeface="Consolas" panose="020B0609020204030204" pitchFamily="49" charset="0"/>
              </a:rPr>
              <a:t>Chkpt</a:t>
            </a:r>
            <a:r>
              <a:rPr lang="sk-SK" sz="1000" dirty="0">
                <a:latin typeface="Consolas" panose="020B0609020204030204" pitchFamily="49" charset="0"/>
              </a:rPr>
              <a:t> </a:t>
            </a:r>
            <a:r>
              <a:rPr lang="sk-SK" sz="1000" dirty="0" err="1">
                <a:latin typeface="Consolas" panose="020B0609020204030204" pitchFamily="49" charset="0"/>
              </a:rPr>
              <a:t>Obj</a:t>
            </a:r>
            <a:r>
              <a:rPr lang="sk-SK" sz="1000" dirty="0">
                <a:latin typeface="Consolas" panose="020B0609020204030204" pitchFamily="49" charset="0"/>
              </a:rPr>
              <a:t> ID: </a:t>
            </a:r>
            <a:r>
              <a:rPr lang="sk-SK" sz="1000" dirty="0" err="1">
                <a:latin typeface="Consolas" panose="020B0609020204030204" pitchFamily="49" charset="0"/>
              </a:rPr>
              <a:t>0x2f60</a:t>
            </a:r>
            <a:endParaRPr lang="sk-SK" sz="1000" dirty="0">
              <a:latin typeface="Consolas" panose="020B0609020204030204" pitchFamily="49" charset="0"/>
            </a:endParaRPr>
          </a:p>
          <a:p>
            <a:r>
              <a:rPr lang="sk-SK" sz="1000" dirty="0">
                <a:latin typeface="Consolas" panose="020B0609020204030204" pitchFamily="49" charset="0"/>
              </a:rPr>
              <a:t>  </a:t>
            </a:r>
            <a:r>
              <a:rPr lang="sk-SK" sz="1000" dirty="0" err="1">
                <a:latin typeface="Consolas" panose="020B0609020204030204" pitchFamily="49" charset="0"/>
              </a:rPr>
              <a:t>Number</a:t>
            </a:r>
            <a:r>
              <a:rPr lang="sk-SK" sz="1000" dirty="0">
                <a:latin typeface="Consolas" panose="020B0609020204030204" pitchFamily="49" charset="0"/>
              </a:rPr>
              <a:t> of </a:t>
            </a:r>
            <a:r>
              <a:rPr lang="sk-SK" sz="1000" dirty="0" err="1">
                <a:latin typeface="Consolas" panose="020B0609020204030204" pitchFamily="49" charset="0"/>
              </a:rPr>
              <a:t>SID</a:t>
            </a:r>
            <a:r>
              <a:rPr lang="sk-SK" sz="1000" dirty="0">
                <a:latin typeface="Consolas" panose="020B0609020204030204" pitchFamily="49" charset="0"/>
              </a:rPr>
              <a:t> </a:t>
            </a:r>
            <a:r>
              <a:rPr lang="sk-SK" sz="1000" dirty="0" err="1">
                <a:latin typeface="Consolas" panose="020B0609020204030204" pitchFamily="49" charset="0"/>
              </a:rPr>
              <a:t>CTX</a:t>
            </a:r>
            <a:r>
              <a:rPr lang="sk-SK" sz="1000" dirty="0">
                <a:latin typeface="Consolas" panose="020B0609020204030204" pitchFamily="49" charset="0"/>
              </a:rPr>
              <a:t>: 5</a:t>
            </a:r>
          </a:p>
          <a:p>
            <a:r>
              <a:rPr lang="sk-SK" sz="1000" dirty="0">
                <a:latin typeface="Consolas" panose="020B0609020204030204" pitchFamily="49" charset="0"/>
              </a:rPr>
              <a:t>  </a:t>
            </a:r>
            <a:r>
              <a:rPr lang="sk-SK" sz="1000" dirty="0" err="1">
                <a:latin typeface="Consolas" panose="020B0609020204030204" pitchFamily="49" charset="0"/>
              </a:rPr>
              <a:t>Number</a:t>
            </a:r>
            <a:r>
              <a:rPr lang="sk-SK" sz="1000" dirty="0">
                <a:latin typeface="Consolas" panose="020B0609020204030204" pitchFamily="49" charset="0"/>
              </a:rPr>
              <a:t> of Auto </a:t>
            </a:r>
            <a:r>
              <a:rPr lang="sk-SK" sz="1000" dirty="0" err="1">
                <a:latin typeface="Consolas" panose="020B0609020204030204" pitchFamily="49" charset="0"/>
              </a:rPr>
              <a:t>SIDs</a:t>
            </a:r>
            <a:r>
              <a:rPr lang="sk-SK" sz="1000" dirty="0">
                <a:latin typeface="Consolas" panose="020B0609020204030204" pitchFamily="49" charset="0"/>
              </a:rPr>
              <a:t>: 1</a:t>
            </a:r>
          </a:p>
          <a:p>
            <a:r>
              <a:rPr lang="sk-SK" sz="1000" dirty="0">
                <a:latin typeface="Consolas" panose="020B0609020204030204" pitchFamily="49" charset="0"/>
              </a:rPr>
              <a:t>  TI </a:t>
            </a:r>
            <a:r>
              <a:rPr lang="sk-SK" sz="1000" dirty="0" err="1">
                <a:latin typeface="Consolas" panose="020B0609020204030204" pitchFamily="49" charset="0"/>
              </a:rPr>
              <a:t>Object</a:t>
            </a:r>
            <a:r>
              <a:rPr lang="sk-SK" sz="1000" dirty="0">
                <a:latin typeface="Consolas" panose="020B0609020204030204" pitchFamily="49" charset="0"/>
              </a:rPr>
              <a:t>:</a:t>
            </a:r>
          </a:p>
          <a:p>
            <a:r>
              <a:rPr lang="sk-SK" sz="1000" dirty="0">
                <a:latin typeface="Consolas" panose="020B0609020204030204" pitchFamily="49" charset="0"/>
              </a:rPr>
              <a:t>    Type: </a:t>
            </a:r>
            <a:r>
              <a:rPr lang="sk-SK" sz="1000" dirty="0" err="1">
                <a:latin typeface="Consolas" panose="020B0609020204030204" pitchFamily="49" charset="0"/>
              </a:rPr>
              <a:t>Entry</a:t>
            </a:r>
            <a:endParaRPr lang="sk-SK" sz="1000" dirty="0">
              <a:latin typeface="Consolas" panose="020B0609020204030204" pitchFamily="49" charset="0"/>
            </a:endParaRPr>
          </a:p>
          <a:p>
            <a:r>
              <a:rPr lang="sk-SK" sz="1000" dirty="0">
                <a:latin typeface="Consolas" panose="020B0609020204030204" pitchFamily="49" charset="0"/>
              </a:rPr>
              <a:t>    </a:t>
            </a:r>
            <a:r>
              <a:rPr lang="sk-SK" sz="1000" dirty="0" err="1">
                <a:latin typeface="Consolas" panose="020B0609020204030204" pitchFamily="49" charset="0"/>
              </a:rPr>
              <a:t>Ptr</a:t>
            </a:r>
            <a:r>
              <a:rPr lang="sk-SK" sz="1000" dirty="0">
                <a:latin typeface="Consolas" panose="020B0609020204030204" pitchFamily="49" charset="0"/>
              </a:rPr>
              <a:t>: </a:t>
            </a:r>
            <a:r>
              <a:rPr lang="sk-SK" sz="1000" dirty="0" err="1">
                <a:latin typeface="Consolas" panose="020B0609020204030204" pitchFamily="49" charset="0"/>
              </a:rPr>
              <a:t>0x140171559676464</a:t>
            </a:r>
            <a:r>
              <a:rPr lang="sk-SK" sz="1000" dirty="0">
                <a:latin typeface="Consolas" panose="020B0609020204030204" pitchFamily="49" charset="0"/>
              </a:rPr>
              <a:t>, </a:t>
            </a:r>
            <a:r>
              <a:rPr lang="sk-SK" sz="1000" dirty="0" err="1">
                <a:latin typeface="Consolas" panose="020B0609020204030204" pitchFamily="49" charset="0"/>
              </a:rPr>
              <a:t>Producer</a:t>
            </a:r>
            <a:r>
              <a:rPr lang="sk-SK" sz="1000" dirty="0">
                <a:latin typeface="Consolas" panose="020B0609020204030204" pitchFamily="49" charset="0"/>
              </a:rPr>
              <a:t> ID: 0</a:t>
            </a:r>
          </a:p>
          <a:p>
            <a:r>
              <a:rPr lang="sk-SK" sz="1000" dirty="0">
                <a:latin typeface="Consolas" panose="020B0609020204030204" pitchFamily="49" charset="0"/>
              </a:rPr>
              <a:t>    </a:t>
            </a:r>
            <a:r>
              <a:rPr lang="sk-SK" sz="1000" dirty="0" err="1">
                <a:latin typeface="Consolas" panose="020B0609020204030204" pitchFamily="49" charset="0"/>
              </a:rPr>
              <a:t>Flags</a:t>
            </a:r>
            <a:r>
              <a:rPr lang="sk-SK" sz="1000" dirty="0">
                <a:latin typeface="Consolas" panose="020B0609020204030204" pitchFamily="49" charset="0"/>
              </a:rPr>
              <a:t>: </a:t>
            </a:r>
          </a:p>
          <a:p>
            <a:r>
              <a:rPr lang="sk-SK" sz="1000" dirty="0">
                <a:latin typeface="Consolas" panose="020B0609020204030204" pitchFamily="49" charset="0"/>
              </a:rPr>
              <a:t>      </a:t>
            </a:r>
            <a:r>
              <a:rPr lang="sk-SK" sz="1000" dirty="0" err="1">
                <a:latin typeface="Consolas" panose="020B0609020204030204" pitchFamily="49" charset="0"/>
              </a:rPr>
              <a:t>Generic</a:t>
            </a:r>
            <a:r>
              <a:rPr lang="sk-SK" sz="1000" dirty="0">
                <a:latin typeface="Consolas" panose="020B0609020204030204" pitchFamily="49" charset="0"/>
              </a:rPr>
              <a:t>:  </a:t>
            </a:r>
            <a:r>
              <a:rPr lang="sk-SK" sz="1000" dirty="0" err="1">
                <a:latin typeface="Consolas" panose="020B0609020204030204" pitchFamily="49" charset="0"/>
              </a:rPr>
              <a:t>0x0</a:t>
            </a:r>
            <a:r>
              <a:rPr lang="sk-SK" sz="1000" dirty="0">
                <a:latin typeface="Consolas" panose="020B0609020204030204" pitchFamily="49" charset="0"/>
              </a:rPr>
              <a:t> ()</a:t>
            </a:r>
          </a:p>
          <a:p>
            <a:r>
              <a:rPr lang="sk-SK" sz="1000" dirty="0">
                <a:latin typeface="Consolas" panose="020B0609020204030204" pitchFamily="49" charset="0"/>
              </a:rPr>
              <a:t>      </a:t>
            </a:r>
            <a:r>
              <a:rPr lang="sk-SK" sz="1000" dirty="0" err="1">
                <a:latin typeface="Consolas" panose="020B0609020204030204" pitchFamily="49" charset="0"/>
              </a:rPr>
              <a:t>Specific</a:t>
            </a:r>
            <a:r>
              <a:rPr lang="sk-SK" sz="1000" dirty="0">
                <a:latin typeface="Consolas" panose="020B0609020204030204" pitchFamily="49" charset="0"/>
              </a:rPr>
              <a:t>: </a:t>
            </a:r>
            <a:r>
              <a:rPr lang="sk-SK" sz="1000" dirty="0" err="1">
                <a:latin typeface="Consolas" panose="020B0609020204030204" pitchFamily="49" charset="0"/>
              </a:rPr>
              <a:t>0x0</a:t>
            </a:r>
            <a:r>
              <a:rPr lang="sk-SK" sz="1000" dirty="0">
                <a:latin typeface="Consolas" panose="020B0609020204030204" pitchFamily="49" charset="0"/>
              </a:rPr>
              <a:t> ()</a:t>
            </a:r>
          </a:p>
          <a:p>
            <a:r>
              <a:rPr lang="sk-SK" sz="1000" dirty="0">
                <a:latin typeface="Consolas" panose="020B0609020204030204" pitchFamily="49" charset="0"/>
              </a:rPr>
              <a:t>    </a:t>
            </a:r>
            <a:r>
              <a:rPr lang="sk-SK" sz="1000" dirty="0" err="1">
                <a:latin typeface="Consolas" panose="020B0609020204030204" pitchFamily="49" charset="0"/>
              </a:rPr>
              <a:t>Modified</a:t>
            </a:r>
            <a:r>
              <a:rPr lang="sk-SK" sz="1000" dirty="0">
                <a:latin typeface="Consolas" panose="020B0609020204030204" pitchFamily="49" charset="0"/>
              </a:rPr>
              <a:t>: </a:t>
            </a:r>
            <a:r>
              <a:rPr lang="sk-SK" sz="1000" dirty="0" err="1">
                <a:latin typeface="Consolas" panose="020B0609020204030204" pitchFamily="49" charset="0"/>
              </a:rPr>
              <a:t>Wed</a:t>
            </a:r>
            <a:r>
              <a:rPr lang="sk-SK" sz="1000" dirty="0">
                <a:latin typeface="Consolas" panose="020B0609020204030204" pitchFamily="49" charset="0"/>
              </a:rPr>
              <a:t> Mar 19 11:54:13 </a:t>
            </a:r>
            <a:r>
              <a:rPr lang="sk-SK" sz="1000" dirty="0" err="1">
                <a:latin typeface="Consolas" panose="020B0609020204030204" pitchFamily="49" charset="0"/>
              </a:rPr>
              <a:t>UTC</a:t>
            </a:r>
            <a:r>
              <a:rPr lang="sk-SK" sz="1000" dirty="0">
                <a:latin typeface="Consolas" panose="020B0609020204030204" pitchFamily="49" charset="0"/>
              </a:rPr>
              <a:t> 2025 (01:03:15 </a:t>
            </a:r>
            <a:r>
              <a:rPr lang="sk-SK" sz="1000" dirty="0" err="1">
                <a:latin typeface="Consolas" panose="020B0609020204030204" pitchFamily="49" charset="0"/>
              </a:rPr>
              <a:t>ago</a:t>
            </a:r>
            <a:r>
              <a:rPr lang="sk-SK" sz="1000" dirty="0">
                <a:latin typeface="Consolas" panose="020B0609020204030204" pitchFamily="49" charset="0"/>
              </a:rPr>
              <a:t>)</a:t>
            </a:r>
          </a:p>
          <a:p>
            <a:r>
              <a:rPr lang="sk-SK" sz="1000" dirty="0">
                <a:latin typeface="Consolas" panose="020B0609020204030204" pitchFamily="49" charset="0"/>
              </a:rPr>
              <a:t>  </a:t>
            </a:r>
            <a:r>
              <a:rPr lang="sk-SK" sz="1000" dirty="0" err="1">
                <a:latin typeface="Consolas" panose="020B0609020204030204" pitchFamily="49" charset="0"/>
              </a:rPr>
              <a:t>Created</a:t>
            </a:r>
            <a:r>
              <a:rPr lang="sk-SK" sz="1000" dirty="0">
                <a:latin typeface="Consolas" panose="020B0609020204030204" pitchFamily="49" charset="0"/>
              </a:rPr>
              <a:t>: Mar 19 11:54:13.845 (01:03:14 </a:t>
            </a:r>
            <a:r>
              <a:rPr lang="sk-SK" sz="1000" dirty="0" err="1">
                <a:latin typeface="Consolas" panose="020B0609020204030204" pitchFamily="49" charset="0"/>
              </a:rPr>
              <a:t>ago</a:t>
            </a:r>
            <a:r>
              <a:rPr lang="sk-SK" sz="1000" dirty="0">
                <a:latin typeface="Consolas" panose="020B0609020204030204" pitchFamily="49" charset="0"/>
              </a:rPr>
              <a:t>)</a:t>
            </a:r>
          </a:p>
          <a:p>
            <a:r>
              <a:rPr lang="sk-SK" sz="1000" dirty="0">
                <a:latin typeface="Consolas" panose="020B0609020204030204" pitchFamily="49" charset="0"/>
              </a:rPr>
              <a:t>  Event </a:t>
            </a:r>
            <a:r>
              <a:rPr lang="sk-SK" sz="1000" dirty="0" err="1">
                <a:latin typeface="Consolas" panose="020B0609020204030204" pitchFamily="49" charset="0"/>
              </a:rPr>
              <a:t>history</a:t>
            </a:r>
            <a:r>
              <a:rPr lang="sk-SK" sz="1000" dirty="0">
                <a:latin typeface="Consolas" panose="020B0609020204030204" pitchFamily="49" charset="0"/>
              </a:rPr>
              <a:t>:</a:t>
            </a:r>
          </a:p>
          <a:p>
            <a:r>
              <a:rPr lang="sk-SK" sz="1000" dirty="0">
                <a:latin typeface="Consolas" panose="020B0609020204030204" pitchFamily="49" charset="0"/>
              </a:rPr>
              <a:t>    </a:t>
            </a:r>
            <a:r>
              <a:rPr lang="sk-SK" sz="1000" dirty="0" err="1">
                <a:latin typeface="Consolas" panose="020B0609020204030204" pitchFamily="49" charset="0"/>
              </a:rPr>
              <a:t>SIDMGR</a:t>
            </a:r>
            <a:r>
              <a:rPr lang="sk-SK" sz="1000" dirty="0">
                <a:latin typeface="Consolas" panose="020B0609020204030204" pitchFamily="49" charset="0"/>
              </a:rPr>
              <a:t>-</a:t>
            </a:r>
            <a:r>
              <a:rPr lang="sk-SK" sz="1000" dirty="0" err="1">
                <a:latin typeface="Consolas" panose="020B0609020204030204" pitchFamily="49" charset="0"/>
              </a:rPr>
              <a:t>LOCATOR</a:t>
            </a:r>
            <a:r>
              <a:rPr lang="sk-SK" sz="1000" dirty="0">
                <a:latin typeface="Consolas" panose="020B0609020204030204" pitchFamily="49" charset="0"/>
              </a:rPr>
              <a:t>-EVENT-</a:t>
            </a:r>
            <a:r>
              <a:rPr lang="sk-SK" sz="1000" dirty="0" err="1">
                <a:latin typeface="Consolas" panose="020B0609020204030204" pitchFamily="49" charset="0"/>
              </a:rPr>
              <a:t>CLASS</a:t>
            </a:r>
            <a:endParaRPr lang="sk-SK" sz="1000" dirty="0">
              <a:latin typeface="Consolas" panose="020B0609020204030204" pitchFamily="49" charset="0"/>
            </a:endParaRPr>
          </a:p>
          <a:p>
            <a:r>
              <a:rPr lang="sk-SK" sz="1000" dirty="0">
                <a:latin typeface="Consolas" panose="020B0609020204030204" pitchFamily="49" charset="0"/>
              </a:rPr>
              <a:t>    </a:t>
            </a:r>
            <a:r>
              <a:rPr lang="sk-SK" sz="1000" dirty="0" err="1">
                <a:latin typeface="Consolas" panose="020B0609020204030204" pitchFamily="49" charset="0"/>
              </a:rPr>
              <a:t>Total</a:t>
            </a:r>
            <a:r>
              <a:rPr lang="sk-SK" sz="1000" dirty="0">
                <a:latin typeface="Consolas" panose="020B0609020204030204" pitchFamily="49" charset="0"/>
              </a:rPr>
              <a:t> </a:t>
            </a:r>
            <a:r>
              <a:rPr lang="sk-SK" sz="1000" dirty="0" err="1">
                <a:latin typeface="Consolas" panose="020B0609020204030204" pitchFamily="49" charset="0"/>
              </a:rPr>
              <a:t>entries</a:t>
            </a:r>
            <a:r>
              <a:rPr lang="sk-SK" sz="1000" dirty="0">
                <a:latin typeface="Consolas" panose="020B0609020204030204" pitchFamily="49" charset="0"/>
              </a:rPr>
              <a:t> : 15</a:t>
            </a:r>
          </a:p>
          <a:p>
            <a:r>
              <a:rPr lang="en-US" sz="1000" dirty="0">
                <a:latin typeface="Consolas" panose="020B0609020204030204" pitchFamily="49" charset="0"/>
              </a:rPr>
              <a:t>-- cut --</a:t>
            </a:r>
            <a:endParaRPr lang="sk-SK" sz="1000" dirty="0">
              <a:latin typeface="Consolas" panose="020B0609020204030204" pitchFamily="49" charset="0"/>
            </a:endParaRPr>
          </a:p>
        </p:txBody>
      </p:sp>
      <p:sp>
        <p:nvSpPr>
          <p:cNvPr id="9" name="Callout: Line 8">
            <a:extLst>
              <a:ext uri="{FF2B5EF4-FFF2-40B4-BE49-F238E27FC236}">
                <a16:creationId xmlns:a16="http://schemas.microsoft.com/office/drawing/2014/main" id="{BA357B8D-B1DE-8A1F-6DD4-B0DD3AB21870}"/>
              </a:ext>
            </a:extLst>
          </p:cNvPr>
          <p:cNvSpPr/>
          <p:nvPr/>
        </p:nvSpPr>
        <p:spPr>
          <a:xfrm>
            <a:off x="3708399" y="1210680"/>
            <a:ext cx="2275839" cy="255698"/>
          </a:xfrm>
          <a:prstGeom prst="borderCallout1">
            <a:avLst>
              <a:gd name="adj1" fmla="val 18750"/>
              <a:gd name="adj2" fmla="val -8333"/>
              <a:gd name="adj3" fmla="val 441071"/>
              <a:gd name="adj4" fmla="val -93557"/>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Configured Locators</a:t>
            </a:r>
          </a:p>
        </p:txBody>
      </p:sp>
      <p:sp>
        <p:nvSpPr>
          <p:cNvPr id="10" name="Callout: Line 9">
            <a:extLst>
              <a:ext uri="{FF2B5EF4-FFF2-40B4-BE49-F238E27FC236}">
                <a16:creationId xmlns:a16="http://schemas.microsoft.com/office/drawing/2014/main" id="{73EE34BA-D191-4676-F933-6396E9C4F07C}"/>
              </a:ext>
            </a:extLst>
          </p:cNvPr>
          <p:cNvSpPr/>
          <p:nvPr/>
        </p:nvSpPr>
        <p:spPr>
          <a:xfrm>
            <a:off x="1368525" y="811489"/>
            <a:ext cx="4319893" cy="300270"/>
          </a:xfrm>
          <a:prstGeom prst="borderCallout1">
            <a:avLst>
              <a:gd name="adj1" fmla="val 18750"/>
              <a:gd name="adj2" fmla="val -8333"/>
              <a:gd name="adj3" fmla="val 1751229"/>
              <a:gd name="adj4" fmla="val 3384"/>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SIDs associated with </a:t>
            </a:r>
            <a:r>
              <a:rPr lang="en-US" i="1" dirty="0" err="1">
                <a:solidFill>
                  <a:schemeClr val="accent5"/>
                </a:solidFill>
              </a:rPr>
              <a:t>Loc_uSID_Algo_0</a:t>
            </a:r>
            <a:r>
              <a:rPr lang="en-US" i="1" dirty="0">
                <a:solidFill>
                  <a:schemeClr val="accent5"/>
                </a:solidFill>
              </a:rPr>
              <a:t> </a:t>
            </a:r>
          </a:p>
        </p:txBody>
      </p:sp>
    </p:spTree>
    <p:extLst>
      <p:ext uri="{BB962C8B-B14F-4D97-AF65-F5344CB8AC3E}">
        <p14:creationId xmlns:p14="http://schemas.microsoft.com/office/powerpoint/2010/main" val="311685006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2C8C810-2CB6-E947-7135-6DE4DB5D497E}"/>
              </a:ext>
            </a:extLst>
          </p:cNvPr>
          <p:cNvSpPr>
            <a:spLocks noGrp="1"/>
          </p:cNvSpPr>
          <p:nvPr>
            <p:ph type="body" sz="quarter" idx="11"/>
          </p:nvPr>
        </p:nvSpPr>
        <p:spPr/>
        <p:txBody>
          <a:bodyPr/>
          <a:lstStyle/>
          <a:p>
            <a:r>
              <a:rPr lang="en-US" dirty="0"/>
              <a:t>uSID</a:t>
            </a:r>
          </a:p>
        </p:txBody>
      </p:sp>
      <p:cxnSp>
        <p:nvCxnSpPr>
          <p:cNvPr id="17" name="Straight Arrow Connector 16">
            <a:extLst>
              <a:ext uri="{FF2B5EF4-FFF2-40B4-BE49-F238E27FC236}">
                <a16:creationId xmlns:a16="http://schemas.microsoft.com/office/drawing/2014/main" id="{33E3A1F2-97F8-DA6A-3BF4-2AADBDA7B990}"/>
              </a:ext>
            </a:extLst>
          </p:cNvPr>
          <p:cNvCxnSpPr>
            <a:cxnSpLocks/>
          </p:cNvCxnSpPr>
          <p:nvPr/>
        </p:nvCxnSpPr>
        <p:spPr>
          <a:xfrm>
            <a:off x="4773168" y="1790412"/>
            <a:ext cx="1444751" cy="22969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14FA83B6-F9AF-8857-BD09-EBA0577B0521}"/>
              </a:ext>
            </a:extLst>
          </p:cNvPr>
          <p:cNvSpPr/>
          <p:nvPr/>
        </p:nvSpPr>
        <p:spPr>
          <a:xfrm>
            <a:off x="0" y="4675714"/>
            <a:ext cx="8613647" cy="2169825"/>
          </a:xfrm>
          <a:prstGeom prst="rect">
            <a:avLst/>
          </a:prstGeom>
          <a:solidFill>
            <a:schemeClr val="bg1">
              <a:lumMod val="95000"/>
            </a:schemeClr>
          </a:solidFill>
          <a:ln>
            <a:solidFill>
              <a:schemeClr val="tx1"/>
            </a:solidFill>
          </a:ln>
          <a:effectLst/>
        </p:spPr>
        <p:txBody>
          <a:bodyPr wrap="square">
            <a:spAutoFit/>
          </a:bodyPr>
          <a:lstStyle/>
          <a:p>
            <a:r>
              <a:rPr lang="sk-SK" sz="900" dirty="0">
                <a:latin typeface="Consolas" panose="020B0609020204030204" pitchFamily="49" charset="0"/>
              </a:rPr>
              <a:t>RP/0/RP0/CPU0:R01#</a:t>
            </a:r>
            <a:r>
              <a:rPr lang="sk-SK" sz="900" b="1" dirty="0">
                <a:latin typeface="Consolas" panose="020B0609020204030204" pitchFamily="49" charset="0"/>
              </a:rPr>
              <a:t>show segment-routing srv6 </a:t>
            </a:r>
            <a:r>
              <a:rPr lang="sk-SK" sz="900" b="1" dirty="0" err="1">
                <a:latin typeface="Consolas" panose="020B0609020204030204" pitchFamily="49" charset="0"/>
              </a:rPr>
              <a:t>locator</a:t>
            </a:r>
            <a:r>
              <a:rPr lang="sk-SK" sz="900" b="1" dirty="0">
                <a:latin typeface="Consolas" panose="020B0609020204030204" pitchFamily="49" charset="0"/>
              </a:rPr>
              <a:t> </a:t>
            </a:r>
          </a:p>
          <a:p>
            <a:r>
              <a:rPr lang="sk-SK" sz="900" dirty="0" err="1">
                <a:latin typeface="Consolas" panose="020B0609020204030204" pitchFamily="49" charset="0"/>
              </a:rPr>
              <a:t>Name</a:t>
            </a:r>
            <a:r>
              <a:rPr lang="sk-SK" sz="900" dirty="0">
                <a:latin typeface="Consolas" panose="020B0609020204030204" pitchFamily="49" charset="0"/>
              </a:rPr>
              <a:t>                  ID       </a:t>
            </a:r>
            <a:r>
              <a:rPr lang="sk-SK" sz="900" dirty="0" err="1">
                <a:latin typeface="Consolas" panose="020B0609020204030204" pitchFamily="49" charset="0"/>
              </a:rPr>
              <a:t>Algo</a:t>
            </a:r>
            <a:r>
              <a:rPr lang="sk-SK" sz="900" dirty="0">
                <a:latin typeface="Consolas" panose="020B0609020204030204" pitchFamily="49" charset="0"/>
              </a:rPr>
              <a:t>  Prefix                    Status   </a:t>
            </a:r>
            <a:r>
              <a:rPr lang="sk-SK" sz="900" dirty="0" err="1">
                <a:latin typeface="Consolas" panose="020B0609020204030204" pitchFamily="49" charset="0"/>
              </a:rPr>
              <a:t>Flags</a:t>
            </a:r>
            <a:r>
              <a:rPr lang="sk-SK" sz="900" dirty="0">
                <a:latin typeface="Consolas" panose="020B0609020204030204" pitchFamily="49" charset="0"/>
              </a:rPr>
              <a:t>   </a:t>
            </a:r>
          </a:p>
          <a:p>
            <a:r>
              <a:rPr lang="sk-SK" sz="900" dirty="0">
                <a:latin typeface="Consolas" panose="020B0609020204030204" pitchFamily="49" charset="0"/>
              </a:rPr>
              <a:t>--------------------  -------  ----  ------------------------  -------  --------</a:t>
            </a:r>
          </a:p>
          <a:p>
            <a:r>
              <a:rPr lang="sk-SK" sz="900" dirty="0">
                <a:latin typeface="Consolas" panose="020B0609020204030204" pitchFamily="49" charset="0"/>
              </a:rPr>
              <a:t>Loc_uSID_Algo_0       4        0     fc00:ab00:1::/48          </a:t>
            </a:r>
            <a:r>
              <a:rPr lang="sk-SK" sz="900" dirty="0" err="1">
                <a:latin typeface="Consolas" panose="020B0609020204030204" pitchFamily="49" charset="0"/>
              </a:rPr>
              <a:t>Up</a:t>
            </a:r>
            <a:r>
              <a:rPr lang="sk-SK" sz="900" dirty="0">
                <a:latin typeface="Consolas" panose="020B0609020204030204" pitchFamily="49" charset="0"/>
              </a:rPr>
              <a:t>       U       </a:t>
            </a:r>
          </a:p>
          <a:p>
            <a:r>
              <a:rPr lang="sk-SK" sz="900" dirty="0">
                <a:latin typeface="Consolas" panose="020B0609020204030204" pitchFamily="49" charset="0"/>
              </a:rPr>
              <a:t>RP/0/RP0/CPU0:R01#</a:t>
            </a:r>
            <a:r>
              <a:rPr lang="sk-SK" sz="900" b="1" dirty="0">
                <a:latin typeface="Consolas" panose="020B0609020204030204" pitchFamily="49" charset="0"/>
              </a:rPr>
              <a:t>show segment-routing srv6 </a:t>
            </a:r>
            <a:r>
              <a:rPr lang="sk-SK" sz="900" b="1" dirty="0" err="1">
                <a:latin typeface="Consolas" panose="020B0609020204030204" pitchFamily="49" charset="0"/>
              </a:rPr>
              <a:t>sid</a:t>
            </a:r>
            <a:r>
              <a:rPr lang="sk-SK" sz="900" b="1" dirty="0">
                <a:latin typeface="Consolas" panose="020B0609020204030204" pitchFamily="49" charset="0"/>
              </a:rPr>
              <a:t> </a:t>
            </a:r>
            <a:r>
              <a:rPr lang="sk-SK" sz="900" b="1" dirty="0" err="1">
                <a:latin typeface="Consolas" panose="020B0609020204030204" pitchFamily="49" charset="0"/>
              </a:rPr>
              <a:t>all</a:t>
            </a:r>
            <a:r>
              <a:rPr lang="sk-SK" sz="900" b="1" dirty="0">
                <a:latin typeface="Consolas" panose="020B0609020204030204" pitchFamily="49" charset="0"/>
              </a:rPr>
              <a:t> </a:t>
            </a:r>
          </a:p>
          <a:p>
            <a:endParaRPr lang="sk-SK" sz="900" dirty="0">
              <a:latin typeface="Consolas" panose="020B0609020204030204" pitchFamily="49" charset="0"/>
            </a:endParaRPr>
          </a:p>
          <a:p>
            <a:r>
              <a:rPr lang="sk-SK" sz="900" dirty="0">
                <a:latin typeface="Consolas" panose="020B0609020204030204" pitchFamily="49" charset="0"/>
              </a:rPr>
              <a:t>*** </a:t>
            </a:r>
            <a:r>
              <a:rPr lang="sk-SK" sz="900" dirty="0" err="1">
                <a:latin typeface="Consolas" panose="020B0609020204030204" pitchFamily="49" charset="0"/>
              </a:rPr>
              <a:t>Locator</a:t>
            </a:r>
            <a:r>
              <a:rPr lang="sk-SK" sz="900" dirty="0">
                <a:latin typeface="Consolas" panose="020B0609020204030204" pitchFamily="49" charset="0"/>
              </a:rPr>
              <a:t>: 'Loc_uSID_Algo_0' *** </a:t>
            </a:r>
          </a:p>
          <a:p>
            <a:endParaRPr lang="sk-SK" sz="900" dirty="0">
              <a:latin typeface="Consolas" panose="020B0609020204030204" pitchFamily="49" charset="0"/>
            </a:endParaRPr>
          </a:p>
          <a:p>
            <a:r>
              <a:rPr lang="sk-SK" sz="900" dirty="0">
                <a:latin typeface="Consolas" panose="020B0609020204030204" pitchFamily="49" charset="0"/>
              </a:rPr>
              <a:t>SID                         </a:t>
            </a:r>
            <a:r>
              <a:rPr lang="sk-SK" sz="900" dirty="0" err="1">
                <a:latin typeface="Consolas" panose="020B0609020204030204" pitchFamily="49" charset="0"/>
              </a:rPr>
              <a:t>Behavior</a:t>
            </a:r>
            <a:r>
              <a:rPr lang="sk-SK" sz="900" dirty="0">
                <a:latin typeface="Consolas" panose="020B0609020204030204" pitchFamily="49" charset="0"/>
              </a:rPr>
              <a:t>          </a:t>
            </a:r>
            <a:r>
              <a:rPr lang="sk-SK" sz="900" dirty="0" err="1">
                <a:latin typeface="Consolas" panose="020B0609020204030204" pitchFamily="49" charset="0"/>
              </a:rPr>
              <a:t>Context</a:t>
            </a:r>
            <a:r>
              <a:rPr lang="sk-SK" sz="900" dirty="0">
                <a:latin typeface="Consolas" panose="020B0609020204030204" pitchFamily="49" charset="0"/>
              </a:rPr>
              <a:t>                           </a:t>
            </a:r>
            <a:r>
              <a:rPr lang="sk-SK" sz="900" dirty="0" err="1">
                <a:latin typeface="Consolas" panose="020B0609020204030204" pitchFamily="49" charset="0"/>
              </a:rPr>
              <a:t>Owner</a:t>
            </a:r>
            <a:r>
              <a:rPr lang="sk-SK" sz="900" dirty="0">
                <a:latin typeface="Consolas" panose="020B0609020204030204" pitchFamily="49" charset="0"/>
              </a:rPr>
              <a:t>               State  RW</a:t>
            </a:r>
          </a:p>
          <a:p>
            <a:r>
              <a:rPr lang="sk-SK" sz="900" dirty="0">
                <a:latin typeface="Consolas" panose="020B0609020204030204" pitchFamily="49" charset="0"/>
              </a:rPr>
              <a:t>--------------------------  ----------------  --------------------------------  ------------------  -----  --</a:t>
            </a:r>
          </a:p>
          <a:p>
            <a:r>
              <a:rPr lang="sk-SK" sz="900" dirty="0">
                <a:highlight>
                  <a:srgbClr val="00FF00"/>
                </a:highlight>
                <a:latin typeface="Consolas" panose="020B0609020204030204" pitchFamily="49" charset="0"/>
              </a:rPr>
              <a:t>fc00:ab00:1::               </a:t>
            </a:r>
            <a:r>
              <a:rPr lang="sk-SK" sz="900" dirty="0" err="1">
                <a:highlight>
                  <a:srgbClr val="00FF00"/>
                </a:highlight>
                <a:latin typeface="Consolas" panose="020B0609020204030204" pitchFamily="49" charset="0"/>
              </a:rPr>
              <a:t>uN</a:t>
            </a:r>
            <a:r>
              <a:rPr lang="sk-SK" sz="900" dirty="0">
                <a:highlight>
                  <a:srgbClr val="00FF00"/>
                </a:highlight>
                <a:latin typeface="Consolas" panose="020B0609020204030204" pitchFamily="49" charset="0"/>
              </a:rPr>
              <a:t> (PSP/USD)      'default':1                       </a:t>
            </a:r>
            <a:r>
              <a:rPr lang="sk-SK" sz="900" dirty="0" err="1">
                <a:highlight>
                  <a:srgbClr val="00FF00"/>
                </a:highlight>
                <a:latin typeface="Consolas" panose="020B0609020204030204" pitchFamily="49" charset="0"/>
              </a:rPr>
              <a:t>sidmgr</a:t>
            </a:r>
            <a:r>
              <a:rPr lang="sk-SK" sz="900" dirty="0">
                <a:highlight>
                  <a:srgbClr val="00FF00"/>
                </a:highlight>
                <a:latin typeface="Consolas" panose="020B0609020204030204" pitchFamily="49" charset="0"/>
              </a:rPr>
              <a:t>              </a:t>
            </a:r>
            <a:r>
              <a:rPr lang="sk-SK" sz="900" dirty="0" err="1">
                <a:highlight>
                  <a:srgbClr val="00FF00"/>
                </a:highlight>
                <a:latin typeface="Consolas" panose="020B0609020204030204" pitchFamily="49" charset="0"/>
              </a:rPr>
              <a:t>InUse</a:t>
            </a:r>
            <a:r>
              <a:rPr lang="sk-SK" sz="900" dirty="0">
                <a:highlight>
                  <a:srgbClr val="00FF00"/>
                </a:highlight>
                <a:latin typeface="Consolas" panose="020B0609020204030204" pitchFamily="49" charset="0"/>
              </a:rPr>
              <a:t>  Y </a:t>
            </a:r>
          </a:p>
          <a:p>
            <a:r>
              <a:rPr lang="sk-SK" sz="900" dirty="0">
                <a:highlight>
                  <a:srgbClr val="00FF00"/>
                </a:highlight>
                <a:latin typeface="Consolas" panose="020B0609020204030204" pitchFamily="49" charset="0"/>
              </a:rPr>
              <a:t>fc00:ab00:1:e000::          </a:t>
            </a:r>
            <a:r>
              <a:rPr lang="sk-SK" sz="900" dirty="0" err="1">
                <a:highlight>
                  <a:srgbClr val="00FF00"/>
                </a:highlight>
                <a:latin typeface="Consolas" panose="020B0609020204030204" pitchFamily="49" charset="0"/>
              </a:rPr>
              <a:t>uA</a:t>
            </a:r>
            <a:r>
              <a:rPr lang="sk-SK" sz="900" dirty="0">
                <a:highlight>
                  <a:srgbClr val="00FF00"/>
                </a:highlight>
                <a:latin typeface="Consolas" panose="020B0609020204030204" pitchFamily="49" charset="0"/>
              </a:rPr>
              <a:t> (PSP/USD)      [Gi0/0/0/0, </a:t>
            </a:r>
            <a:r>
              <a:rPr lang="sk-SK" sz="900" dirty="0" err="1">
                <a:highlight>
                  <a:srgbClr val="00FF00"/>
                </a:highlight>
                <a:latin typeface="Consolas" panose="020B0609020204030204" pitchFamily="49" charset="0"/>
              </a:rPr>
              <a:t>Link-Local</a:t>
            </a:r>
            <a:r>
              <a:rPr lang="sk-SK" sz="900" dirty="0">
                <a:highlight>
                  <a:srgbClr val="00FF00"/>
                </a:highlight>
                <a:latin typeface="Consolas" panose="020B0609020204030204" pitchFamily="49" charset="0"/>
              </a:rPr>
              <a:t>]:0         isis-1              </a:t>
            </a:r>
            <a:r>
              <a:rPr lang="sk-SK" sz="900" dirty="0" err="1">
                <a:highlight>
                  <a:srgbClr val="00FF00"/>
                </a:highlight>
                <a:latin typeface="Consolas" panose="020B0609020204030204" pitchFamily="49" charset="0"/>
              </a:rPr>
              <a:t>InUse</a:t>
            </a:r>
            <a:r>
              <a:rPr lang="sk-SK" sz="900" dirty="0">
                <a:highlight>
                  <a:srgbClr val="00FF00"/>
                </a:highlight>
                <a:latin typeface="Consolas" panose="020B0609020204030204" pitchFamily="49" charset="0"/>
              </a:rPr>
              <a:t>  Y </a:t>
            </a:r>
          </a:p>
          <a:p>
            <a:r>
              <a:rPr lang="sk-SK" sz="900" dirty="0">
                <a:highlight>
                  <a:srgbClr val="808000"/>
                </a:highlight>
                <a:latin typeface="Consolas" panose="020B0609020204030204" pitchFamily="49" charset="0"/>
              </a:rPr>
              <a:t>fc00:ab00:1:e001::          uDT4              'A'                               bgp-65000           </a:t>
            </a:r>
            <a:r>
              <a:rPr lang="sk-SK" sz="900" dirty="0" err="1">
                <a:highlight>
                  <a:srgbClr val="808000"/>
                </a:highlight>
                <a:latin typeface="Consolas" panose="020B0609020204030204" pitchFamily="49" charset="0"/>
              </a:rPr>
              <a:t>InUse</a:t>
            </a:r>
            <a:r>
              <a:rPr lang="sk-SK" sz="900" dirty="0">
                <a:highlight>
                  <a:srgbClr val="808000"/>
                </a:highlight>
                <a:latin typeface="Consolas" panose="020B0609020204030204" pitchFamily="49" charset="0"/>
              </a:rPr>
              <a:t>  Y </a:t>
            </a:r>
          </a:p>
          <a:p>
            <a:r>
              <a:rPr lang="sk-SK" sz="900" dirty="0">
                <a:highlight>
                  <a:srgbClr val="808000"/>
                </a:highlight>
                <a:latin typeface="Consolas" panose="020B0609020204030204" pitchFamily="49" charset="0"/>
              </a:rPr>
              <a:t>fc00:ab00:1:e002::          uDX2              14:140104                         l2vpn_srv6          </a:t>
            </a:r>
            <a:r>
              <a:rPr lang="sk-SK" sz="900" dirty="0" err="1">
                <a:highlight>
                  <a:srgbClr val="808000"/>
                </a:highlight>
                <a:latin typeface="Consolas" panose="020B0609020204030204" pitchFamily="49" charset="0"/>
              </a:rPr>
              <a:t>InUse</a:t>
            </a:r>
            <a:r>
              <a:rPr lang="sk-SK" sz="900" dirty="0">
                <a:highlight>
                  <a:srgbClr val="808000"/>
                </a:highlight>
                <a:latin typeface="Consolas" panose="020B0609020204030204" pitchFamily="49" charset="0"/>
              </a:rPr>
              <a:t>  Y </a:t>
            </a:r>
          </a:p>
          <a:p>
            <a:r>
              <a:rPr lang="sk-SK" sz="900" dirty="0">
                <a:latin typeface="Consolas" panose="020B0609020204030204" pitchFamily="49" charset="0"/>
              </a:rPr>
              <a:t>RP/0/RP0/CPU0:R01#</a:t>
            </a:r>
            <a:endParaRPr lang="sk-SK" sz="900" dirty="0">
              <a:solidFill>
                <a:srgbClr val="FF0000"/>
              </a:solidFill>
              <a:latin typeface="Consolas" panose="020B0609020204030204" pitchFamily="49" charset="0"/>
            </a:endParaRPr>
          </a:p>
        </p:txBody>
      </p:sp>
      <p:pic>
        <p:nvPicPr>
          <p:cNvPr id="23" name="Picture 22" descr="A diagram of a network&#10;&#10;Description automatically generated">
            <a:extLst>
              <a:ext uri="{FF2B5EF4-FFF2-40B4-BE49-F238E27FC236}">
                <a16:creationId xmlns:a16="http://schemas.microsoft.com/office/drawing/2014/main" id="{D85336B3-FEBA-AABA-3898-FABD567975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4718" y="44814"/>
            <a:ext cx="9257282" cy="1713245"/>
          </a:xfrm>
          <a:prstGeom prst="rect">
            <a:avLst/>
          </a:prstGeom>
        </p:spPr>
      </p:pic>
      <p:sp>
        <p:nvSpPr>
          <p:cNvPr id="21" name="Rectangle 20">
            <a:extLst>
              <a:ext uri="{FF2B5EF4-FFF2-40B4-BE49-F238E27FC236}">
                <a16:creationId xmlns:a16="http://schemas.microsoft.com/office/drawing/2014/main" id="{0F650007-BBAE-8DD1-5CC0-090B2134B029}"/>
              </a:ext>
            </a:extLst>
          </p:cNvPr>
          <p:cNvSpPr/>
          <p:nvPr/>
        </p:nvSpPr>
        <p:spPr>
          <a:xfrm>
            <a:off x="4920234" y="409575"/>
            <a:ext cx="642366" cy="701769"/>
          </a:xfrm>
          <a:prstGeom prst="rect">
            <a:avLst/>
          </a:prstGeom>
          <a:noFill/>
          <a:ln w="254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A230AD45-DE09-0369-F10B-30642BF7FAB6}"/>
              </a:ext>
            </a:extLst>
          </p:cNvPr>
          <p:cNvSpPr>
            <a:spLocks noGrp="1"/>
          </p:cNvSpPr>
          <p:nvPr>
            <p:ph type="body" sz="quarter" idx="10"/>
          </p:nvPr>
        </p:nvSpPr>
        <p:spPr>
          <a:xfrm>
            <a:off x="110490" y="1437211"/>
            <a:ext cx="4809744" cy="2182098"/>
          </a:xfrm>
        </p:spPr>
        <p:txBody>
          <a:bodyPr/>
          <a:lstStyle/>
          <a:p>
            <a:r>
              <a:rPr lang="en-US" sz="1400" dirty="0"/>
              <a:t>R01: </a:t>
            </a:r>
            <a:r>
              <a:rPr lang="en-US" sz="1400" dirty="0">
                <a:highlight>
                  <a:srgbClr val="FFFF00"/>
                </a:highlight>
              </a:rPr>
              <a:t>Lo0=2001:9999::1/128</a:t>
            </a:r>
            <a:r>
              <a:rPr lang="en-US" sz="1400" dirty="0"/>
              <a:t>; </a:t>
            </a:r>
            <a:r>
              <a:rPr lang="en-US" sz="1400" dirty="0">
                <a:highlight>
                  <a:srgbClr val="00FF00"/>
                </a:highlight>
              </a:rPr>
              <a:t>Locator=fc00:ab00:1::/48</a:t>
            </a:r>
            <a:r>
              <a:rPr lang="en-US" sz="1400" dirty="0"/>
              <a:t>; NET=49.0001.0000.0000.0001.00</a:t>
            </a:r>
          </a:p>
          <a:p>
            <a:r>
              <a:rPr lang="en-US" sz="1400" dirty="0"/>
              <a:t>R02: </a:t>
            </a:r>
            <a:r>
              <a:rPr lang="en-US" sz="1400" dirty="0">
                <a:highlight>
                  <a:srgbClr val="00FFFF"/>
                </a:highlight>
              </a:rPr>
              <a:t>Lo0=2001:9999::2/128</a:t>
            </a:r>
            <a:r>
              <a:rPr lang="en-US" sz="1400" dirty="0"/>
              <a:t>; </a:t>
            </a:r>
            <a:r>
              <a:rPr lang="en-US" sz="1400" dirty="0">
                <a:highlight>
                  <a:srgbClr val="FF00FF"/>
                </a:highlight>
              </a:rPr>
              <a:t>Locator=fc00:ab00:2::/48</a:t>
            </a:r>
            <a:r>
              <a:rPr lang="en-US" sz="1400" dirty="0"/>
              <a:t>; NET=49.0001.0000.0000.0002.00</a:t>
            </a:r>
          </a:p>
          <a:p>
            <a:r>
              <a:rPr lang="en-US" sz="1400" dirty="0"/>
              <a:t>R03: </a:t>
            </a:r>
            <a:r>
              <a:rPr lang="en-US" sz="1400" dirty="0">
                <a:solidFill>
                  <a:schemeClr val="bg1"/>
                </a:solidFill>
                <a:highlight>
                  <a:srgbClr val="0000FF"/>
                </a:highlight>
              </a:rPr>
              <a:t>Lo0=2001:9999::3/128</a:t>
            </a:r>
            <a:r>
              <a:rPr lang="en-US" sz="1400" dirty="0"/>
              <a:t>; </a:t>
            </a:r>
            <a:r>
              <a:rPr lang="en-US" sz="1400" dirty="0">
                <a:highlight>
                  <a:srgbClr val="FF0000"/>
                </a:highlight>
              </a:rPr>
              <a:t>Locator=fc00:ab00:3::/48</a:t>
            </a:r>
            <a:r>
              <a:rPr lang="en-US" sz="1400" dirty="0"/>
              <a:t>; NET=49.0001.0000.0000.0003.00</a:t>
            </a:r>
          </a:p>
          <a:p>
            <a:r>
              <a:rPr lang="en-US" sz="1400" dirty="0"/>
              <a:t>R04: </a:t>
            </a:r>
            <a:r>
              <a:rPr lang="en-US" sz="1400" dirty="0">
                <a:solidFill>
                  <a:schemeClr val="bg1"/>
                </a:solidFill>
                <a:highlight>
                  <a:srgbClr val="000080"/>
                </a:highlight>
              </a:rPr>
              <a:t>Lo0=2001:9999::4/128</a:t>
            </a:r>
            <a:r>
              <a:rPr lang="en-US" sz="1400" dirty="0"/>
              <a:t>; </a:t>
            </a:r>
            <a:r>
              <a:rPr lang="en-US" sz="1400" dirty="0">
                <a:highlight>
                  <a:srgbClr val="008080"/>
                </a:highlight>
              </a:rPr>
              <a:t>Locator=fc00:ab00:4::/48</a:t>
            </a:r>
            <a:r>
              <a:rPr lang="en-US" sz="1400" dirty="0"/>
              <a:t>; NET=49.0001.0000.0000.0004.00</a:t>
            </a:r>
          </a:p>
          <a:p>
            <a:endParaRPr lang="en-US" sz="1400" dirty="0"/>
          </a:p>
        </p:txBody>
      </p:sp>
      <p:sp>
        <p:nvSpPr>
          <p:cNvPr id="7" name="Rectangle 6">
            <a:extLst>
              <a:ext uri="{FF2B5EF4-FFF2-40B4-BE49-F238E27FC236}">
                <a16:creationId xmlns:a16="http://schemas.microsoft.com/office/drawing/2014/main" id="{0967F153-BAB2-037A-945A-78B4F6704383}"/>
              </a:ext>
            </a:extLst>
          </p:cNvPr>
          <p:cNvSpPr/>
          <p:nvPr/>
        </p:nvSpPr>
        <p:spPr>
          <a:xfrm>
            <a:off x="6662292" y="1533465"/>
            <a:ext cx="5529708" cy="5324535"/>
          </a:xfrm>
          <a:prstGeom prst="rect">
            <a:avLst/>
          </a:prstGeom>
          <a:solidFill>
            <a:schemeClr val="bg1">
              <a:lumMod val="95000"/>
            </a:schemeClr>
          </a:solidFill>
          <a:ln>
            <a:solidFill>
              <a:schemeClr val="tx1"/>
            </a:solidFill>
          </a:ln>
          <a:effectLst/>
        </p:spPr>
        <p:txBody>
          <a:bodyPr wrap="square">
            <a:spAutoFit/>
          </a:bodyPr>
          <a:lstStyle/>
          <a:p>
            <a:r>
              <a:rPr lang="sk-SK" sz="1000" dirty="0">
                <a:latin typeface="Consolas" panose="020B0609020204030204" pitchFamily="49" charset="0"/>
              </a:rPr>
              <a:t>RP/0/RP0/CPU0:</a:t>
            </a:r>
            <a:r>
              <a:rPr lang="sk-SK" sz="1000" b="1" dirty="0">
                <a:latin typeface="Consolas" panose="020B0609020204030204" pitchFamily="49" charset="0"/>
              </a:rPr>
              <a:t>R01</a:t>
            </a:r>
            <a:r>
              <a:rPr lang="sk-SK" sz="1000" dirty="0">
                <a:latin typeface="Consolas" panose="020B0609020204030204" pitchFamily="49" charset="0"/>
              </a:rPr>
              <a:t>#sh </a:t>
            </a:r>
            <a:r>
              <a:rPr lang="sk-SK" sz="1000" dirty="0" err="1">
                <a:latin typeface="Consolas" panose="020B0609020204030204" pitchFamily="49" charset="0"/>
              </a:rPr>
              <a:t>route</a:t>
            </a:r>
            <a:r>
              <a:rPr lang="sk-SK" sz="1000" dirty="0">
                <a:latin typeface="Consolas" panose="020B0609020204030204" pitchFamily="49" charset="0"/>
              </a:rPr>
              <a:t> ipv6</a:t>
            </a:r>
          </a:p>
          <a:p>
            <a:r>
              <a:rPr lang="en-US" sz="1000" dirty="0">
                <a:latin typeface="Consolas" panose="020B0609020204030204" pitchFamily="49" charset="0"/>
              </a:rPr>
              <a:t>-- Cut --</a:t>
            </a:r>
            <a:endParaRPr lang="sk-SK" sz="1000" dirty="0">
              <a:latin typeface="Consolas" panose="020B0609020204030204" pitchFamily="49" charset="0"/>
            </a:endParaRPr>
          </a:p>
          <a:p>
            <a:r>
              <a:rPr lang="sk-SK" sz="1000" dirty="0">
                <a:latin typeface="Consolas" panose="020B0609020204030204" pitchFamily="49" charset="0"/>
              </a:rPr>
              <a:t>L    ::ffff:127.0.0.0/104 [0/0] </a:t>
            </a:r>
            <a:r>
              <a:rPr lang="sk-SK" sz="1000" dirty="0" err="1">
                <a:latin typeface="Consolas" panose="020B0609020204030204" pitchFamily="49" charset="0"/>
              </a:rPr>
              <a:t>via</a:t>
            </a:r>
            <a:r>
              <a:rPr lang="sk-SK" sz="1000" dirty="0">
                <a:latin typeface="Consolas" panose="020B0609020204030204" pitchFamily="49" charset="0"/>
              </a:rPr>
              <a:t> ::, 1d02h</a:t>
            </a:r>
          </a:p>
          <a:p>
            <a:r>
              <a:rPr lang="sk-SK" sz="1000" dirty="0">
                <a:highlight>
                  <a:srgbClr val="FFFF00"/>
                </a:highlight>
                <a:latin typeface="Consolas" panose="020B0609020204030204" pitchFamily="49" charset="0"/>
              </a:rPr>
              <a:t>L    2001:9999::1/128 </a:t>
            </a:r>
            <a:r>
              <a:rPr lang="sk-SK" sz="1000" dirty="0" err="1">
                <a:highlight>
                  <a:srgbClr val="FFFF00"/>
                </a:highlight>
                <a:latin typeface="Consolas" panose="020B0609020204030204" pitchFamily="49" charset="0"/>
              </a:rPr>
              <a:t>is</a:t>
            </a:r>
            <a:r>
              <a:rPr lang="sk-SK" sz="1000" dirty="0">
                <a:highlight>
                  <a:srgbClr val="FFFF00"/>
                </a:highlight>
                <a:latin typeface="Consolas" panose="020B0609020204030204" pitchFamily="49" charset="0"/>
              </a:rPr>
              <a:t> </a:t>
            </a:r>
            <a:r>
              <a:rPr lang="sk-SK" sz="1000" dirty="0" err="1">
                <a:highlight>
                  <a:srgbClr val="FFFF00"/>
                </a:highlight>
                <a:latin typeface="Consolas" panose="020B0609020204030204" pitchFamily="49" charset="0"/>
              </a:rPr>
              <a:t>directly</a:t>
            </a:r>
            <a:r>
              <a:rPr lang="sk-SK" sz="1000" dirty="0">
                <a:highlight>
                  <a:srgbClr val="FFFF00"/>
                </a:highlight>
                <a:latin typeface="Consolas" panose="020B0609020204030204" pitchFamily="49" charset="0"/>
              </a:rPr>
              <a:t> </a:t>
            </a:r>
            <a:r>
              <a:rPr lang="sk-SK" sz="1000" dirty="0" err="1">
                <a:highlight>
                  <a:srgbClr val="FFFF00"/>
                </a:highlight>
                <a:latin typeface="Consolas" panose="020B0609020204030204" pitchFamily="49" charset="0"/>
              </a:rPr>
              <a:t>connected</a:t>
            </a:r>
            <a:r>
              <a:rPr lang="sk-SK" sz="1000" dirty="0">
                <a:highlight>
                  <a:srgbClr val="FFFF00"/>
                </a:highlight>
                <a:latin typeface="Consolas" panose="020B0609020204030204" pitchFamily="49" charset="0"/>
              </a:rPr>
              <a:t>,</a:t>
            </a:r>
            <a:r>
              <a:rPr lang="en-US" sz="1000" dirty="0">
                <a:highlight>
                  <a:srgbClr val="FFFF00"/>
                </a:highlight>
                <a:latin typeface="Consolas" panose="020B0609020204030204" pitchFamily="49" charset="0"/>
              </a:rPr>
              <a:t> </a:t>
            </a:r>
            <a:r>
              <a:rPr lang="sk-SK" sz="1000" dirty="0">
                <a:highlight>
                  <a:srgbClr val="FFFF00"/>
                </a:highlight>
                <a:latin typeface="Consolas" panose="020B0609020204030204" pitchFamily="49" charset="0"/>
              </a:rPr>
              <a:t>1d02h, Loopback0</a:t>
            </a:r>
          </a:p>
          <a:p>
            <a:r>
              <a:rPr lang="sk-SK" sz="1000" dirty="0">
                <a:highlight>
                  <a:srgbClr val="00FFFF"/>
                </a:highlight>
                <a:latin typeface="Consolas" panose="020B0609020204030204" pitchFamily="49" charset="0"/>
              </a:rPr>
              <a:t>i L2 2001:9999::2/128 </a:t>
            </a:r>
          </a:p>
          <a:p>
            <a:r>
              <a:rPr lang="sk-SK" sz="1000" dirty="0">
                <a:highlight>
                  <a:srgbClr val="00FFFF"/>
                </a:highlight>
                <a:latin typeface="Consolas" panose="020B0609020204030204" pitchFamily="49" charset="0"/>
              </a:rPr>
              <a:t>      [115/10] </a:t>
            </a:r>
            <a:r>
              <a:rPr lang="sk-SK" sz="1000" dirty="0" err="1">
                <a:highlight>
                  <a:srgbClr val="00FFFF"/>
                </a:highlight>
                <a:latin typeface="Consolas" panose="020B0609020204030204" pitchFamily="49" charset="0"/>
              </a:rPr>
              <a:t>via</a:t>
            </a:r>
            <a:r>
              <a:rPr lang="sk-SK" sz="1000" dirty="0">
                <a:highlight>
                  <a:srgbClr val="00FFFF"/>
                </a:highlight>
                <a:latin typeface="Consolas" panose="020B0609020204030204" pitchFamily="49" charset="0"/>
              </a:rPr>
              <a:t> fe80::5054:ff:fe17:af75, 22:40:11, GigabitEthernet0/0/0/0</a:t>
            </a:r>
          </a:p>
          <a:p>
            <a:r>
              <a:rPr lang="sk-SK" sz="1000" dirty="0">
                <a:solidFill>
                  <a:schemeClr val="bg1"/>
                </a:solidFill>
                <a:highlight>
                  <a:srgbClr val="0000FF"/>
                </a:highlight>
                <a:latin typeface="Consolas" panose="020B0609020204030204" pitchFamily="49" charset="0"/>
              </a:rPr>
              <a:t>i L2 2001:9999::3/128 </a:t>
            </a:r>
          </a:p>
          <a:p>
            <a:r>
              <a:rPr lang="sk-SK" sz="1000" dirty="0">
                <a:solidFill>
                  <a:schemeClr val="bg1"/>
                </a:solidFill>
                <a:highlight>
                  <a:srgbClr val="0000FF"/>
                </a:highlight>
                <a:latin typeface="Consolas" panose="020B0609020204030204" pitchFamily="49" charset="0"/>
              </a:rPr>
              <a:t>      [115/20] </a:t>
            </a:r>
            <a:r>
              <a:rPr lang="sk-SK" sz="1000" dirty="0" err="1">
                <a:solidFill>
                  <a:schemeClr val="bg1"/>
                </a:solidFill>
                <a:highlight>
                  <a:srgbClr val="0000FF"/>
                </a:highlight>
                <a:latin typeface="Consolas" panose="020B0609020204030204" pitchFamily="49" charset="0"/>
              </a:rPr>
              <a:t>via</a:t>
            </a:r>
            <a:r>
              <a:rPr lang="sk-SK" sz="1000" dirty="0">
                <a:solidFill>
                  <a:schemeClr val="bg1"/>
                </a:solidFill>
                <a:highlight>
                  <a:srgbClr val="0000FF"/>
                </a:highlight>
                <a:latin typeface="Consolas" panose="020B0609020204030204" pitchFamily="49" charset="0"/>
              </a:rPr>
              <a:t> fe80::5054:ff:fe17:af75, 22:40:11, GigabitEthernet0/0/0/0</a:t>
            </a:r>
          </a:p>
          <a:p>
            <a:r>
              <a:rPr lang="sk-SK" sz="1000" dirty="0">
                <a:solidFill>
                  <a:schemeClr val="bg1"/>
                </a:solidFill>
                <a:highlight>
                  <a:srgbClr val="000080"/>
                </a:highlight>
                <a:latin typeface="Consolas" panose="020B0609020204030204" pitchFamily="49" charset="0"/>
              </a:rPr>
              <a:t>i L2 2001:9999::4/128 </a:t>
            </a:r>
          </a:p>
          <a:p>
            <a:r>
              <a:rPr lang="sk-SK" sz="1000" dirty="0">
                <a:solidFill>
                  <a:schemeClr val="bg1"/>
                </a:solidFill>
                <a:highlight>
                  <a:srgbClr val="000080"/>
                </a:highlight>
                <a:latin typeface="Consolas" panose="020B0609020204030204" pitchFamily="49" charset="0"/>
              </a:rPr>
              <a:t>      [115/20] </a:t>
            </a:r>
            <a:r>
              <a:rPr lang="sk-SK" sz="1000" dirty="0" err="1">
                <a:solidFill>
                  <a:schemeClr val="bg1"/>
                </a:solidFill>
                <a:highlight>
                  <a:srgbClr val="000080"/>
                </a:highlight>
                <a:latin typeface="Consolas" panose="020B0609020204030204" pitchFamily="49" charset="0"/>
              </a:rPr>
              <a:t>via</a:t>
            </a:r>
            <a:r>
              <a:rPr lang="sk-SK" sz="1000" dirty="0">
                <a:solidFill>
                  <a:schemeClr val="bg1"/>
                </a:solidFill>
                <a:highlight>
                  <a:srgbClr val="000080"/>
                </a:highlight>
                <a:latin typeface="Consolas" panose="020B0609020204030204" pitchFamily="49" charset="0"/>
              </a:rPr>
              <a:t> fe80::5054:ff:fe17:af75, 22:40:11, GigabitEthernet0/0/0/0</a:t>
            </a:r>
          </a:p>
          <a:p>
            <a:r>
              <a:rPr lang="sk-SK" sz="1000" dirty="0">
                <a:highlight>
                  <a:srgbClr val="00FF00"/>
                </a:highlight>
                <a:latin typeface="Consolas" panose="020B0609020204030204" pitchFamily="49" charset="0"/>
              </a:rPr>
              <a:t>L    fc00:ab00:1::/48, SRv6 </a:t>
            </a:r>
            <a:r>
              <a:rPr lang="sk-SK" sz="1000" dirty="0" err="1">
                <a:highlight>
                  <a:srgbClr val="00FF00"/>
                </a:highlight>
                <a:latin typeface="Consolas" panose="020B0609020204030204" pitchFamily="49" charset="0"/>
              </a:rPr>
              <a:t>Endpoint</a:t>
            </a:r>
            <a:r>
              <a:rPr lang="sk-SK" sz="1000" dirty="0">
                <a:highlight>
                  <a:srgbClr val="00FF00"/>
                </a:highlight>
                <a:latin typeface="Consolas" panose="020B0609020204030204" pitchFamily="49" charset="0"/>
              </a:rPr>
              <a:t> </a:t>
            </a:r>
            <a:r>
              <a:rPr lang="sk-SK" sz="1000" dirty="0" err="1">
                <a:highlight>
                  <a:srgbClr val="00FF00"/>
                </a:highlight>
                <a:latin typeface="Consolas" panose="020B0609020204030204" pitchFamily="49" charset="0"/>
              </a:rPr>
              <a:t>uN</a:t>
            </a:r>
            <a:r>
              <a:rPr lang="sk-SK" sz="1000" dirty="0">
                <a:highlight>
                  <a:srgbClr val="00FF00"/>
                </a:highlight>
                <a:latin typeface="Consolas" panose="020B0609020204030204" pitchFamily="49" charset="0"/>
              </a:rPr>
              <a:t> (</a:t>
            </a:r>
            <a:r>
              <a:rPr lang="sk-SK" sz="1000" dirty="0" err="1">
                <a:highlight>
                  <a:srgbClr val="00FF00"/>
                </a:highlight>
                <a:latin typeface="Consolas" panose="020B0609020204030204" pitchFamily="49" charset="0"/>
              </a:rPr>
              <a:t>shift</a:t>
            </a:r>
            <a:r>
              <a:rPr lang="sk-SK" sz="1000" dirty="0">
                <a:highlight>
                  <a:srgbClr val="00FF00"/>
                </a:highlight>
                <a:latin typeface="Consolas" panose="020B0609020204030204" pitchFamily="49" charset="0"/>
              </a:rPr>
              <a:t>) </a:t>
            </a:r>
          </a:p>
          <a:p>
            <a:r>
              <a:rPr lang="sk-SK" sz="1000" dirty="0">
                <a:highlight>
                  <a:srgbClr val="00FF00"/>
                </a:highlight>
                <a:latin typeface="Consolas" panose="020B0609020204030204" pitchFamily="49" charset="0"/>
              </a:rPr>
              <a:t>      [0/0] </a:t>
            </a:r>
            <a:r>
              <a:rPr lang="sk-SK" sz="1000" dirty="0" err="1">
                <a:highlight>
                  <a:srgbClr val="00FF00"/>
                </a:highlight>
                <a:latin typeface="Consolas" panose="020B0609020204030204" pitchFamily="49" charset="0"/>
              </a:rPr>
              <a:t>via</a:t>
            </a:r>
            <a:r>
              <a:rPr lang="sk-SK" sz="1000" dirty="0">
                <a:highlight>
                  <a:srgbClr val="00FF00"/>
                </a:highlight>
                <a:latin typeface="Consolas" panose="020B0609020204030204" pitchFamily="49" charset="0"/>
              </a:rPr>
              <a:t> ::, 1d02h</a:t>
            </a:r>
          </a:p>
          <a:p>
            <a:r>
              <a:rPr lang="sk-SK" sz="1000" dirty="0">
                <a:highlight>
                  <a:srgbClr val="00FF00"/>
                </a:highlight>
                <a:latin typeface="Consolas" panose="020B0609020204030204" pitchFamily="49" charset="0"/>
              </a:rPr>
              <a:t>L    fc00:ab00:1::/64, SRv6 </a:t>
            </a:r>
            <a:r>
              <a:rPr lang="sk-SK" sz="1000" dirty="0" err="1">
                <a:highlight>
                  <a:srgbClr val="00FF00"/>
                </a:highlight>
                <a:latin typeface="Consolas" panose="020B0609020204030204" pitchFamily="49" charset="0"/>
              </a:rPr>
              <a:t>Endpoint</a:t>
            </a:r>
            <a:r>
              <a:rPr lang="sk-SK" sz="1000" dirty="0">
                <a:highlight>
                  <a:srgbClr val="00FF00"/>
                </a:highlight>
                <a:latin typeface="Consolas" panose="020B0609020204030204" pitchFamily="49" charset="0"/>
              </a:rPr>
              <a:t> </a:t>
            </a:r>
            <a:r>
              <a:rPr lang="sk-SK" sz="1000" dirty="0" err="1">
                <a:highlight>
                  <a:srgbClr val="00FF00"/>
                </a:highlight>
                <a:latin typeface="Consolas" panose="020B0609020204030204" pitchFamily="49" charset="0"/>
              </a:rPr>
              <a:t>uN</a:t>
            </a:r>
            <a:r>
              <a:rPr lang="sk-SK" sz="1000" dirty="0">
                <a:highlight>
                  <a:srgbClr val="00FF00"/>
                </a:highlight>
                <a:latin typeface="Consolas" panose="020B0609020204030204" pitchFamily="49" charset="0"/>
              </a:rPr>
              <a:t> (PSP/USD) </a:t>
            </a:r>
          </a:p>
          <a:p>
            <a:r>
              <a:rPr lang="sk-SK" sz="1000" dirty="0">
                <a:highlight>
                  <a:srgbClr val="00FF00"/>
                </a:highlight>
                <a:latin typeface="Consolas" panose="020B0609020204030204" pitchFamily="49" charset="0"/>
              </a:rPr>
              <a:t>      [0/0] </a:t>
            </a:r>
            <a:r>
              <a:rPr lang="sk-SK" sz="1000" dirty="0" err="1">
                <a:highlight>
                  <a:srgbClr val="00FF00"/>
                </a:highlight>
                <a:latin typeface="Consolas" panose="020B0609020204030204" pitchFamily="49" charset="0"/>
              </a:rPr>
              <a:t>via</a:t>
            </a:r>
            <a:r>
              <a:rPr lang="sk-SK" sz="1000" dirty="0">
                <a:highlight>
                  <a:srgbClr val="00FF00"/>
                </a:highlight>
                <a:latin typeface="Consolas" panose="020B0609020204030204" pitchFamily="49" charset="0"/>
              </a:rPr>
              <a:t> ::, 1d02h</a:t>
            </a:r>
          </a:p>
          <a:p>
            <a:r>
              <a:rPr lang="sk-SK" sz="1000" dirty="0">
                <a:highlight>
                  <a:srgbClr val="808000"/>
                </a:highlight>
                <a:latin typeface="Consolas" panose="020B0609020204030204" pitchFamily="49" charset="0"/>
              </a:rPr>
              <a:t>L    fc00:ab00:1:e000::/64, SRv6 </a:t>
            </a:r>
            <a:r>
              <a:rPr lang="sk-SK" sz="1000" dirty="0" err="1">
                <a:highlight>
                  <a:srgbClr val="808000"/>
                </a:highlight>
                <a:latin typeface="Consolas" panose="020B0609020204030204" pitchFamily="49" charset="0"/>
              </a:rPr>
              <a:t>Endpoint</a:t>
            </a:r>
            <a:r>
              <a:rPr lang="sk-SK" sz="1000" dirty="0">
                <a:highlight>
                  <a:srgbClr val="808000"/>
                </a:highlight>
                <a:latin typeface="Consolas" panose="020B0609020204030204" pitchFamily="49" charset="0"/>
              </a:rPr>
              <a:t> </a:t>
            </a:r>
            <a:r>
              <a:rPr lang="sk-SK" sz="1000" dirty="0" err="1">
                <a:highlight>
                  <a:srgbClr val="808000"/>
                </a:highlight>
                <a:latin typeface="Consolas" panose="020B0609020204030204" pitchFamily="49" charset="0"/>
              </a:rPr>
              <a:t>uA</a:t>
            </a:r>
            <a:r>
              <a:rPr lang="sk-SK" sz="1000" dirty="0">
                <a:highlight>
                  <a:srgbClr val="808000"/>
                </a:highlight>
                <a:latin typeface="Consolas" panose="020B0609020204030204" pitchFamily="49" charset="0"/>
              </a:rPr>
              <a:t> (</a:t>
            </a:r>
            <a:r>
              <a:rPr lang="sk-SK" sz="1000" dirty="0" err="1">
                <a:highlight>
                  <a:srgbClr val="808000"/>
                </a:highlight>
                <a:latin typeface="Consolas" panose="020B0609020204030204" pitchFamily="49" charset="0"/>
              </a:rPr>
              <a:t>shift</a:t>
            </a:r>
            <a:r>
              <a:rPr lang="sk-SK" sz="1000" dirty="0">
                <a:highlight>
                  <a:srgbClr val="808000"/>
                </a:highlight>
                <a:latin typeface="Consolas" panose="020B0609020204030204" pitchFamily="49" charset="0"/>
              </a:rPr>
              <a:t>) </a:t>
            </a:r>
          </a:p>
          <a:p>
            <a:r>
              <a:rPr lang="sk-SK" sz="1000" dirty="0">
                <a:highlight>
                  <a:srgbClr val="808000"/>
                </a:highlight>
                <a:latin typeface="Consolas" panose="020B0609020204030204" pitchFamily="49" charset="0"/>
              </a:rPr>
              <a:t>      [0/0] </a:t>
            </a:r>
            <a:r>
              <a:rPr lang="sk-SK" sz="1000" dirty="0" err="1">
                <a:highlight>
                  <a:srgbClr val="808000"/>
                </a:highlight>
                <a:latin typeface="Consolas" panose="020B0609020204030204" pitchFamily="49" charset="0"/>
              </a:rPr>
              <a:t>via</a:t>
            </a:r>
            <a:r>
              <a:rPr lang="sk-SK" sz="1000" dirty="0">
                <a:highlight>
                  <a:srgbClr val="808000"/>
                </a:highlight>
                <a:latin typeface="Consolas" panose="020B0609020204030204" pitchFamily="49" charset="0"/>
              </a:rPr>
              <a:t> fe80::5054:ff:fe17:af75, 22:40:11, GigabitEthernet0/0/0/0</a:t>
            </a:r>
          </a:p>
          <a:p>
            <a:r>
              <a:rPr lang="sk-SK" sz="1000" dirty="0">
                <a:highlight>
                  <a:srgbClr val="808000"/>
                </a:highlight>
                <a:latin typeface="Consolas" panose="020B0609020204030204" pitchFamily="49" charset="0"/>
              </a:rPr>
              <a:t>L    fc00:ab00:1:e000::/80, SRv6 </a:t>
            </a:r>
            <a:r>
              <a:rPr lang="sk-SK" sz="1000" dirty="0" err="1">
                <a:highlight>
                  <a:srgbClr val="808000"/>
                </a:highlight>
                <a:latin typeface="Consolas" panose="020B0609020204030204" pitchFamily="49" charset="0"/>
              </a:rPr>
              <a:t>Endpoint</a:t>
            </a:r>
            <a:r>
              <a:rPr lang="sk-SK" sz="1000" dirty="0">
                <a:highlight>
                  <a:srgbClr val="808000"/>
                </a:highlight>
                <a:latin typeface="Consolas" panose="020B0609020204030204" pitchFamily="49" charset="0"/>
              </a:rPr>
              <a:t> </a:t>
            </a:r>
            <a:r>
              <a:rPr lang="sk-SK" sz="1000" dirty="0" err="1">
                <a:highlight>
                  <a:srgbClr val="808000"/>
                </a:highlight>
                <a:latin typeface="Consolas" panose="020B0609020204030204" pitchFamily="49" charset="0"/>
              </a:rPr>
              <a:t>uA</a:t>
            </a:r>
            <a:r>
              <a:rPr lang="sk-SK" sz="1000" dirty="0">
                <a:highlight>
                  <a:srgbClr val="808000"/>
                </a:highlight>
                <a:latin typeface="Consolas" panose="020B0609020204030204" pitchFamily="49" charset="0"/>
              </a:rPr>
              <a:t> (PSP/USD) </a:t>
            </a:r>
          </a:p>
          <a:p>
            <a:r>
              <a:rPr lang="sk-SK" sz="1000" dirty="0">
                <a:highlight>
                  <a:srgbClr val="808000"/>
                </a:highlight>
                <a:latin typeface="Consolas" panose="020B0609020204030204" pitchFamily="49" charset="0"/>
              </a:rPr>
              <a:t>      [0/0] </a:t>
            </a:r>
            <a:r>
              <a:rPr lang="sk-SK" sz="1000" dirty="0" err="1">
                <a:highlight>
                  <a:srgbClr val="808000"/>
                </a:highlight>
                <a:latin typeface="Consolas" panose="020B0609020204030204" pitchFamily="49" charset="0"/>
              </a:rPr>
              <a:t>via</a:t>
            </a:r>
            <a:r>
              <a:rPr lang="sk-SK" sz="1000" dirty="0">
                <a:highlight>
                  <a:srgbClr val="808000"/>
                </a:highlight>
                <a:latin typeface="Consolas" panose="020B0609020204030204" pitchFamily="49" charset="0"/>
              </a:rPr>
              <a:t> fe80::5054:ff:fe17:af75, 22:40:11, GigabitEthernet0/0/0/0</a:t>
            </a:r>
          </a:p>
          <a:p>
            <a:r>
              <a:rPr lang="sk-SK" sz="1000" dirty="0">
                <a:highlight>
                  <a:srgbClr val="808000"/>
                </a:highlight>
                <a:latin typeface="Consolas" panose="020B0609020204030204" pitchFamily="49" charset="0"/>
              </a:rPr>
              <a:t>L    fc00:ab00:1:e001::/64, SRv6 </a:t>
            </a:r>
            <a:r>
              <a:rPr lang="sk-SK" sz="1000" dirty="0" err="1">
                <a:highlight>
                  <a:srgbClr val="808000"/>
                </a:highlight>
                <a:latin typeface="Consolas" panose="020B0609020204030204" pitchFamily="49" charset="0"/>
              </a:rPr>
              <a:t>Endpoint</a:t>
            </a:r>
            <a:r>
              <a:rPr lang="sk-SK" sz="1000" dirty="0">
                <a:highlight>
                  <a:srgbClr val="808000"/>
                </a:highlight>
                <a:latin typeface="Consolas" panose="020B0609020204030204" pitchFamily="49" charset="0"/>
              </a:rPr>
              <a:t> uDT4 </a:t>
            </a:r>
          </a:p>
          <a:p>
            <a:r>
              <a:rPr lang="sk-SK" sz="1000" dirty="0">
                <a:highlight>
                  <a:srgbClr val="808000"/>
                </a:highlight>
                <a:latin typeface="Consolas" panose="020B0609020204030204" pitchFamily="49" charset="0"/>
              </a:rPr>
              <a:t>      [0/0] </a:t>
            </a:r>
            <a:r>
              <a:rPr lang="sk-SK" sz="1000" dirty="0" err="1">
                <a:highlight>
                  <a:srgbClr val="808000"/>
                </a:highlight>
                <a:latin typeface="Consolas" panose="020B0609020204030204" pitchFamily="49" charset="0"/>
              </a:rPr>
              <a:t>via</a:t>
            </a:r>
            <a:r>
              <a:rPr lang="sk-SK" sz="1000" dirty="0">
                <a:highlight>
                  <a:srgbClr val="808000"/>
                </a:highlight>
                <a:latin typeface="Consolas" panose="020B0609020204030204" pitchFamily="49" charset="0"/>
              </a:rPr>
              <a:t> ::ffff:0.0.0.0 (</a:t>
            </a:r>
            <a:r>
              <a:rPr lang="sk-SK" sz="1000" dirty="0" err="1">
                <a:highlight>
                  <a:srgbClr val="808000"/>
                </a:highlight>
                <a:latin typeface="Consolas" panose="020B0609020204030204" pitchFamily="49" charset="0"/>
              </a:rPr>
              <a:t>nexthop</a:t>
            </a:r>
            <a:r>
              <a:rPr lang="sk-SK" sz="1000" dirty="0">
                <a:highlight>
                  <a:srgbClr val="808000"/>
                </a:highlight>
                <a:latin typeface="Consolas" panose="020B0609020204030204" pitchFamily="49" charset="0"/>
              </a:rPr>
              <a:t> in vrf A), 22:38:46</a:t>
            </a:r>
          </a:p>
          <a:p>
            <a:r>
              <a:rPr lang="sk-SK" sz="1000" dirty="0">
                <a:highlight>
                  <a:srgbClr val="808000"/>
                </a:highlight>
                <a:latin typeface="Consolas" panose="020B0609020204030204" pitchFamily="49" charset="0"/>
              </a:rPr>
              <a:t>L    fc00:ab00:1:e002::/64, SRv6 </a:t>
            </a:r>
            <a:r>
              <a:rPr lang="sk-SK" sz="1000" dirty="0" err="1">
                <a:highlight>
                  <a:srgbClr val="808000"/>
                </a:highlight>
                <a:latin typeface="Consolas" panose="020B0609020204030204" pitchFamily="49" charset="0"/>
              </a:rPr>
              <a:t>Endpoint</a:t>
            </a:r>
            <a:r>
              <a:rPr lang="sk-SK" sz="1000" dirty="0">
                <a:highlight>
                  <a:srgbClr val="808000"/>
                </a:highlight>
                <a:latin typeface="Consolas" panose="020B0609020204030204" pitchFamily="49" charset="0"/>
              </a:rPr>
              <a:t> uDX2 </a:t>
            </a:r>
          </a:p>
          <a:p>
            <a:r>
              <a:rPr lang="sk-SK" sz="1000" dirty="0">
                <a:highlight>
                  <a:srgbClr val="808000"/>
                </a:highlight>
                <a:latin typeface="Consolas" panose="020B0609020204030204" pitchFamily="49" charset="0"/>
              </a:rPr>
              <a:t>      [0/0] </a:t>
            </a:r>
            <a:r>
              <a:rPr lang="sk-SK" sz="1000" dirty="0" err="1">
                <a:highlight>
                  <a:srgbClr val="808000"/>
                </a:highlight>
                <a:latin typeface="Consolas" panose="020B0609020204030204" pitchFamily="49" charset="0"/>
              </a:rPr>
              <a:t>via</a:t>
            </a:r>
            <a:r>
              <a:rPr lang="sk-SK" sz="1000" dirty="0">
                <a:highlight>
                  <a:srgbClr val="808000"/>
                </a:highlight>
                <a:latin typeface="Consolas" panose="020B0609020204030204" pitchFamily="49" charset="0"/>
              </a:rPr>
              <a:t> ::, 03:18:07, GigabitEthernet0/0/0/20</a:t>
            </a:r>
          </a:p>
          <a:p>
            <a:r>
              <a:rPr lang="sk-SK" sz="1000" dirty="0">
                <a:highlight>
                  <a:srgbClr val="FF00FF"/>
                </a:highlight>
                <a:latin typeface="Consolas" panose="020B0609020204030204" pitchFamily="49" charset="0"/>
              </a:rPr>
              <a:t>i L2 fc00:ab00:2::/48 </a:t>
            </a:r>
          </a:p>
          <a:p>
            <a:r>
              <a:rPr lang="sk-SK" sz="1000" dirty="0">
                <a:highlight>
                  <a:srgbClr val="FF00FF"/>
                </a:highlight>
                <a:latin typeface="Consolas" panose="020B0609020204030204" pitchFamily="49" charset="0"/>
              </a:rPr>
              <a:t>      [115/11] </a:t>
            </a:r>
            <a:r>
              <a:rPr lang="sk-SK" sz="1000" dirty="0" err="1">
                <a:highlight>
                  <a:srgbClr val="FF00FF"/>
                </a:highlight>
                <a:latin typeface="Consolas" panose="020B0609020204030204" pitchFamily="49" charset="0"/>
              </a:rPr>
              <a:t>via</a:t>
            </a:r>
            <a:r>
              <a:rPr lang="sk-SK" sz="1000" dirty="0">
                <a:highlight>
                  <a:srgbClr val="FF00FF"/>
                </a:highlight>
                <a:latin typeface="Consolas" panose="020B0609020204030204" pitchFamily="49" charset="0"/>
              </a:rPr>
              <a:t> fe80::5054:ff:fe17:af75, 22:40:11, GigabitEthernet0/0/0/0</a:t>
            </a:r>
          </a:p>
          <a:p>
            <a:r>
              <a:rPr lang="sk-SK" sz="1000" dirty="0">
                <a:highlight>
                  <a:srgbClr val="FF0000"/>
                </a:highlight>
                <a:latin typeface="Consolas" panose="020B0609020204030204" pitchFamily="49" charset="0"/>
              </a:rPr>
              <a:t>i L2 fc00:ab00:3::/48 </a:t>
            </a:r>
          </a:p>
          <a:p>
            <a:r>
              <a:rPr lang="sk-SK" sz="1000" dirty="0">
                <a:highlight>
                  <a:srgbClr val="FF0000"/>
                </a:highlight>
                <a:latin typeface="Consolas" panose="020B0609020204030204" pitchFamily="49" charset="0"/>
              </a:rPr>
              <a:t>      [115/21] </a:t>
            </a:r>
            <a:r>
              <a:rPr lang="sk-SK" sz="1000" dirty="0" err="1">
                <a:highlight>
                  <a:srgbClr val="FF0000"/>
                </a:highlight>
                <a:latin typeface="Consolas" panose="020B0609020204030204" pitchFamily="49" charset="0"/>
              </a:rPr>
              <a:t>via</a:t>
            </a:r>
            <a:r>
              <a:rPr lang="sk-SK" sz="1000" dirty="0">
                <a:highlight>
                  <a:srgbClr val="FF0000"/>
                </a:highlight>
                <a:latin typeface="Consolas" panose="020B0609020204030204" pitchFamily="49" charset="0"/>
              </a:rPr>
              <a:t> fe80::5054:ff:fe17:af75, 22:40:11, GigabitEthernet0/0/0/0</a:t>
            </a:r>
          </a:p>
          <a:p>
            <a:r>
              <a:rPr lang="sk-SK" sz="1000" dirty="0">
                <a:highlight>
                  <a:srgbClr val="008080"/>
                </a:highlight>
                <a:latin typeface="Consolas" panose="020B0609020204030204" pitchFamily="49" charset="0"/>
              </a:rPr>
              <a:t>i L2 fc00:ab00:4::/48 </a:t>
            </a:r>
          </a:p>
          <a:p>
            <a:r>
              <a:rPr lang="sk-SK" sz="1000" dirty="0">
                <a:highlight>
                  <a:srgbClr val="008080"/>
                </a:highlight>
                <a:latin typeface="Consolas" panose="020B0609020204030204" pitchFamily="49" charset="0"/>
              </a:rPr>
              <a:t>      [115/21] </a:t>
            </a:r>
            <a:r>
              <a:rPr lang="sk-SK" sz="1000" dirty="0" err="1">
                <a:highlight>
                  <a:srgbClr val="008080"/>
                </a:highlight>
                <a:latin typeface="Consolas" panose="020B0609020204030204" pitchFamily="49" charset="0"/>
              </a:rPr>
              <a:t>via</a:t>
            </a:r>
            <a:r>
              <a:rPr lang="sk-SK" sz="1000" dirty="0">
                <a:highlight>
                  <a:srgbClr val="008080"/>
                </a:highlight>
                <a:latin typeface="Consolas" panose="020B0609020204030204" pitchFamily="49" charset="0"/>
              </a:rPr>
              <a:t> fe80::5054:ff:fe17:af75, 22:40:11, GigabitEthernet0/0/0/0</a:t>
            </a:r>
          </a:p>
          <a:p>
            <a:r>
              <a:rPr lang="sk-SK" sz="1000" dirty="0">
                <a:latin typeface="Consolas" panose="020B0609020204030204" pitchFamily="49" charset="0"/>
              </a:rPr>
              <a:t>L    fc00:ab00:e000::/48, SRv6 </a:t>
            </a:r>
            <a:r>
              <a:rPr lang="sk-SK" sz="1000" dirty="0" err="1">
                <a:latin typeface="Consolas" panose="020B0609020204030204" pitchFamily="49" charset="0"/>
              </a:rPr>
              <a:t>Endpoint</a:t>
            </a:r>
            <a:r>
              <a:rPr lang="sk-SK" sz="1000" dirty="0">
                <a:latin typeface="Consolas" panose="020B0609020204030204" pitchFamily="49" charset="0"/>
              </a:rPr>
              <a:t> </a:t>
            </a:r>
            <a:r>
              <a:rPr lang="sk-SK" sz="1000" dirty="0" err="1">
                <a:latin typeface="Consolas" panose="020B0609020204030204" pitchFamily="49" charset="0"/>
              </a:rPr>
              <a:t>uA</a:t>
            </a:r>
            <a:r>
              <a:rPr lang="sk-SK" sz="1000" dirty="0">
                <a:latin typeface="Consolas" panose="020B0609020204030204" pitchFamily="49" charset="0"/>
              </a:rPr>
              <a:t> (</a:t>
            </a:r>
            <a:r>
              <a:rPr lang="sk-SK" sz="1000" dirty="0" err="1">
                <a:latin typeface="Consolas" panose="020B0609020204030204" pitchFamily="49" charset="0"/>
              </a:rPr>
              <a:t>shift</a:t>
            </a:r>
            <a:r>
              <a:rPr lang="sk-SK" sz="1000" dirty="0">
                <a:latin typeface="Consolas" panose="020B0609020204030204" pitchFamily="49" charset="0"/>
              </a:rPr>
              <a:t>) </a:t>
            </a:r>
          </a:p>
          <a:p>
            <a:r>
              <a:rPr lang="sk-SK" sz="1000" dirty="0">
                <a:latin typeface="Consolas" panose="020B0609020204030204" pitchFamily="49" charset="0"/>
              </a:rPr>
              <a:t>      [0/0] </a:t>
            </a:r>
            <a:r>
              <a:rPr lang="sk-SK" sz="1000" dirty="0" err="1">
                <a:latin typeface="Consolas" panose="020B0609020204030204" pitchFamily="49" charset="0"/>
              </a:rPr>
              <a:t>via</a:t>
            </a:r>
            <a:r>
              <a:rPr lang="sk-SK" sz="1000" dirty="0">
                <a:latin typeface="Consolas" panose="020B0609020204030204" pitchFamily="49" charset="0"/>
              </a:rPr>
              <a:t> fe80::5054:ff:fe17:af75, 22:40:11, GigabitEthernet0/0/0/0</a:t>
            </a:r>
          </a:p>
          <a:p>
            <a:r>
              <a:rPr lang="sk-SK" sz="1000" dirty="0">
                <a:latin typeface="Consolas" panose="020B0609020204030204" pitchFamily="49" charset="0"/>
              </a:rPr>
              <a:t>L    fc00:ab00:e000::/64, SRv6 </a:t>
            </a:r>
            <a:r>
              <a:rPr lang="sk-SK" sz="1000" dirty="0" err="1">
                <a:latin typeface="Consolas" panose="020B0609020204030204" pitchFamily="49" charset="0"/>
              </a:rPr>
              <a:t>Endpoint</a:t>
            </a:r>
            <a:r>
              <a:rPr lang="sk-SK" sz="1000" dirty="0">
                <a:latin typeface="Consolas" panose="020B0609020204030204" pitchFamily="49" charset="0"/>
              </a:rPr>
              <a:t> </a:t>
            </a:r>
            <a:r>
              <a:rPr lang="sk-SK" sz="1000" dirty="0" err="1">
                <a:latin typeface="Consolas" panose="020B0609020204030204" pitchFamily="49" charset="0"/>
              </a:rPr>
              <a:t>uA</a:t>
            </a:r>
            <a:r>
              <a:rPr lang="sk-SK" sz="1000" dirty="0">
                <a:latin typeface="Consolas" panose="020B0609020204030204" pitchFamily="49" charset="0"/>
              </a:rPr>
              <a:t> (PSP/USD) </a:t>
            </a:r>
          </a:p>
          <a:p>
            <a:r>
              <a:rPr lang="sk-SK" sz="1000" dirty="0">
                <a:latin typeface="Consolas" panose="020B0609020204030204" pitchFamily="49" charset="0"/>
              </a:rPr>
              <a:t>      [0/0] </a:t>
            </a:r>
            <a:r>
              <a:rPr lang="sk-SK" sz="1000" dirty="0" err="1">
                <a:latin typeface="Consolas" panose="020B0609020204030204" pitchFamily="49" charset="0"/>
              </a:rPr>
              <a:t>via</a:t>
            </a:r>
            <a:r>
              <a:rPr lang="sk-SK" sz="1000" dirty="0">
                <a:latin typeface="Consolas" panose="020B0609020204030204" pitchFamily="49" charset="0"/>
              </a:rPr>
              <a:t> fe80::5054:ff:fe17:af75, 22:40:11, GigabitEthernet0/0/0/0</a:t>
            </a:r>
          </a:p>
          <a:p>
            <a:r>
              <a:rPr lang="en-US" sz="1000" dirty="0">
                <a:latin typeface="Consolas" panose="020B0609020204030204" pitchFamily="49" charset="0"/>
              </a:rPr>
              <a:t>-- Cut --</a:t>
            </a:r>
            <a:endParaRPr lang="sk-SK" sz="1000" dirty="0">
              <a:latin typeface="Consolas" panose="020B0609020204030204" pitchFamily="49" charset="0"/>
            </a:endParaRPr>
          </a:p>
          <a:p>
            <a:r>
              <a:rPr lang="sk-SK" sz="1000" dirty="0">
                <a:latin typeface="Consolas" panose="020B0609020204030204" pitchFamily="49" charset="0"/>
              </a:rPr>
              <a:t>RP/0/RP0/CPU0:R01#</a:t>
            </a:r>
            <a:endParaRPr lang="sk-SK" sz="1000" dirty="0">
              <a:solidFill>
                <a:srgbClr val="FF0000"/>
              </a:solidFill>
              <a:latin typeface="Consolas" panose="020B0609020204030204" pitchFamily="49" charset="0"/>
            </a:endParaRPr>
          </a:p>
        </p:txBody>
      </p:sp>
      <p:sp>
        <p:nvSpPr>
          <p:cNvPr id="4" name="Callout: Double Bent Line 3">
            <a:extLst>
              <a:ext uri="{FF2B5EF4-FFF2-40B4-BE49-F238E27FC236}">
                <a16:creationId xmlns:a16="http://schemas.microsoft.com/office/drawing/2014/main" id="{30183F4B-79FD-7530-E5DD-983360802C06}"/>
              </a:ext>
            </a:extLst>
          </p:cNvPr>
          <p:cNvSpPr/>
          <p:nvPr/>
        </p:nvSpPr>
        <p:spPr>
          <a:xfrm>
            <a:off x="497840" y="3643665"/>
            <a:ext cx="2346960" cy="302139"/>
          </a:xfrm>
          <a:prstGeom prst="borderCallout3">
            <a:avLst>
              <a:gd name="adj1" fmla="val 18750"/>
              <a:gd name="adj2" fmla="val -8333"/>
              <a:gd name="adj3" fmla="val 18750"/>
              <a:gd name="adj4" fmla="val -16667"/>
              <a:gd name="adj5" fmla="val 100000"/>
              <a:gd name="adj6" fmla="val -16667"/>
              <a:gd name="adj7" fmla="val 946910"/>
              <a:gd name="adj8" fmla="val 48811"/>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800" i="0" u="none" strike="noStrike" kern="1200" cap="none" spc="0" normalizeH="0" baseline="0" noProof="0" dirty="0">
                <a:ln>
                  <a:noFill/>
                </a:ln>
                <a:solidFill>
                  <a:schemeClr val="bg1"/>
                </a:solidFill>
                <a:effectLst/>
                <a:uLnTx/>
                <a:uFillTx/>
                <a:latin typeface="Arial" panose="020B0604020202020204"/>
                <a:ea typeface="+mn-ea"/>
                <a:cs typeface="+mn-cs"/>
              </a:rPr>
              <a:t>L3 VPN = vrf A</a:t>
            </a:r>
          </a:p>
        </p:txBody>
      </p:sp>
      <p:sp>
        <p:nvSpPr>
          <p:cNvPr id="8" name="Callout: Double Bent Line 7">
            <a:extLst>
              <a:ext uri="{FF2B5EF4-FFF2-40B4-BE49-F238E27FC236}">
                <a16:creationId xmlns:a16="http://schemas.microsoft.com/office/drawing/2014/main" id="{D77487CA-F543-40CF-9666-B4CB411C970A}"/>
              </a:ext>
            </a:extLst>
          </p:cNvPr>
          <p:cNvSpPr/>
          <p:nvPr/>
        </p:nvSpPr>
        <p:spPr>
          <a:xfrm>
            <a:off x="912368" y="4013640"/>
            <a:ext cx="2704592" cy="302139"/>
          </a:xfrm>
          <a:prstGeom prst="borderCallout3">
            <a:avLst>
              <a:gd name="adj1" fmla="val 18750"/>
              <a:gd name="adj2" fmla="val -8333"/>
              <a:gd name="adj3" fmla="val 18750"/>
              <a:gd name="adj4" fmla="val -16667"/>
              <a:gd name="adj5" fmla="val 100000"/>
              <a:gd name="adj6" fmla="val -16667"/>
              <a:gd name="adj7" fmla="val 839304"/>
              <a:gd name="adj8" fmla="val 31995"/>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800" i="0" u="none" strike="noStrike" kern="1200" cap="none" spc="0" normalizeH="0" baseline="0" noProof="0" dirty="0">
                <a:ln>
                  <a:noFill/>
                </a:ln>
                <a:solidFill>
                  <a:schemeClr val="bg1"/>
                </a:solidFill>
                <a:effectLst/>
                <a:uLnTx/>
                <a:uFillTx/>
                <a:latin typeface="Arial" panose="020B0604020202020204"/>
                <a:ea typeface="+mn-ea"/>
                <a:cs typeface="+mn-cs"/>
              </a:rPr>
              <a:t>L2 VPN = EVPN VPWS</a:t>
            </a:r>
          </a:p>
        </p:txBody>
      </p:sp>
    </p:spTree>
    <p:extLst>
      <p:ext uri="{BB962C8B-B14F-4D97-AF65-F5344CB8AC3E}">
        <p14:creationId xmlns:p14="http://schemas.microsoft.com/office/powerpoint/2010/main" val="247151385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2C8C810-2CB6-E947-7135-6DE4DB5D497E}"/>
              </a:ext>
            </a:extLst>
          </p:cNvPr>
          <p:cNvSpPr>
            <a:spLocks noGrp="1"/>
          </p:cNvSpPr>
          <p:nvPr>
            <p:ph type="body" sz="quarter" idx="11"/>
          </p:nvPr>
        </p:nvSpPr>
        <p:spPr/>
        <p:txBody>
          <a:bodyPr/>
          <a:lstStyle/>
          <a:p>
            <a:r>
              <a:rPr lang="en-US" dirty="0"/>
              <a:t>uSID</a:t>
            </a:r>
          </a:p>
        </p:txBody>
      </p:sp>
      <p:cxnSp>
        <p:nvCxnSpPr>
          <p:cNvPr id="17" name="Straight Arrow Connector 16">
            <a:extLst>
              <a:ext uri="{FF2B5EF4-FFF2-40B4-BE49-F238E27FC236}">
                <a16:creationId xmlns:a16="http://schemas.microsoft.com/office/drawing/2014/main" id="{33E3A1F2-97F8-DA6A-3BF4-2AADBDA7B990}"/>
              </a:ext>
            </a:extLst>
          </p:cNvPr>
          <p:cNvCxnSpPr>
            <a:cxnSpLocks/>
          </p:cNvCxnSpPr>
          <p:nvPr/>
        </p:nvCxnSpPr>
        <p:spPr>
          <a:xfrm>
            <a:off x="4846701" y="2125549"/>
            <a:ext cx="2275459" cy="17962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14FA83B6-F9AF-8857-BD09-EBA0577B0521}"/>
              </a:ext>
            </a:extLst>
          </p:cNvPr>
          <p:cNvSpPr/>
          <p:nvPr/>
        </p:nvSpPr>
        <p:spPr>
          <a:xfrm>
            <a:off x="0" y="4390669"/>
            <a:ext cx="8613647" cy="2446824"/>
          </a:xfrm>
          <a:prstGeom prst="rect">
            <a:avLst/>
          </a:prstGeom>
          <a:solidFill>
            <a:schemeClr val="bg1">
              <a:lumMod val="95000"/>
            </a:schemeClr>
          </a:solidFill>
          <a:ln>
            <a:solidFill>
              <a:schemeClr val="tx1"/>
            </a:solidFill>
          </a:ln>
          <a:effectLst/>
        </p:spPr>
        <p:txBody>
          <a:bodyPr wrap="square">
            <a:spAutoFit/>
          </a:bodyPr>
          <a:lstStyle/>
          <a:p>
            <a:r>
              <a:rPr lang="sk-SK" sz="900" dirty="0">
                <a:latin typeface="Consolas" panose="020B0609020204030204" pitchFamily="49" charset="0"/>
              </a:rPr>
              <a:t>RP/0/RP0/CPU0:R02#</a:t>
            </a:r>
            <a:r>
              <a:rPr lang="sk-SK" sz="900" b="1" dirty="0">
                <a:latin typeface="Consolas" panose="020B0609020204030204" pitchFamily="49" charset="0"/>
              </a:rPr>
              <a:t>show segment-routing srv6 </a:t>
            </a:r>
            <a:r>
              <a:rPr lang="sk-SK" sz="900" b="1" dirty="0" err="1">
                <a:latin typeface="Consolas" panose="020B0609020204030204" pitchFamily="49" charset="0"/>
              </a:rPr>
              <a:t>locator</a:t>
            </a:r>
            <a:r>
              <a:rPr lang="sk-SK" sz="900" b="1" dirty="0">
                <a:latin typeface="Consolas" panose="020B0609020204030204" pitchFamily="49" charset="0"/>
              </a:rPr>
              <a:t> </a:t>
            </a:r>
          </a:p>
          <a:p>
            <a:r>
              <a:rPr lang="sk-SK" sz="900" dirty="0" err="1">
                <a:latin typeface="Consolas" panose="020B0609020204030204" pitchFamily="49" charset="0"/>
              </a:rPr>
              <a:t>Tue</a:t>
            </a:r>
            <a:r>
              <a:rPr lang="sk-SK" sz="900" dirty="0">
                <a:latin typeface="Consolas" panose="020B0609020204030204" pitchFamily="49" charset="0"/>
              </a:rPr>
              <a:t> </a:t>
            </a:r>
            <a:r>
              <a:rPr lang="sk-SK" sz="900" dirty="0" err="1">
                <a:latin typeface="Consolas" panose="020B0609020204030204" pitchFamily="49" charset="0"/>
              </a:rPr>
              <a:t>Oct</a:t>
            </a:r>
            <a:r>
              <a:rPr lang="sk-SK" sz="900" dirty="0">
                <a:latin typeface="Consolas" panose="020B0609020204030204" pitchFamily="49" charset="0"/>
              </a:rPr>
              <a:t> 22 12:30:05.013 UTC</a:t>
            </a:r>
          </a:p>
          <a:p>
            <a:r>
              <a:rPr lang="sk-SK" sz="900" dirty="0" err="1">
                <a:latin typeface="Consolas" panose="020B0609020204030204" pitchFamily="49" charset="0"/>
              </a:rPr>
              <a:t>Name</a:t>
            </a:r>
            <a:r>
              <a:rPr lang="sk-SK" sz="900" dirty="0">
                <a:latin typeface="Consolas" panose="020B0609020204030204" pitchFamily="49" charset="0"/>
              </a:rPr>
              <a:t>                  ID       </a:t>
            </a:r>
            <a:r>
              <a:rPr lang="sk-SK" sz="900" dirty="0" err="1">
                <a:latin typeface="Consolas" panose="020B0609020204030204" pitchFamily="49" charset="0"/>
              </a:rPr>
              <a:t>Algo</a:t>
            </a:r>
            <a:r>
              <a:rPr lang="sk-SK" sz="900" dirty="0">
                <a:latin typeface="Consolas" panose="020B0609020204030204" pitchFamily="49" charset="0"/>
              </a:rPr>
              <a:t>  Prefix                    Status   </a:t>
            </a:r>
            <a:r>
              <a:rPr lang="sk-SK" sz="900" dirty="0" err="1">
                <a:latin typeface="Consolas" panose="020B0609020204030204" pitchFamily="49" charset="0"/>
              </a:rPr>
              <a:t>Flags</a:t>
            </a:r>
            <a:r>
              <a:rPr lang="sk-SK" sz="900" dirty="0">
                <a:latin typeface="Consolas" panose="020B0609020204030204" pitchFamily="49" charset="0"/>
              </a:rPr>
              <a:t>   </a:t>
            </a:r>
          </a:p>
          <a:p>
            <a:r>
              <a:rPr lang="sk-SK" sz="900" dirty="0">
                <a:latin typeface="Consolas" panose="020B0609020204030204" pitchFamily="49" charset="0"/>
              </a:rPr>
              <a:t>--------------------  -------  ----  ------------------------  -------  --------</a:t>
            </a:r>
          </a:p>
          <a:p>
            <a:r>
              <a:rPr lang="sk-SK" sz="900" dirty="0">
                <a:latin typeface="Consolas" panose="020B0609020204030204" pitchFamily="49" charset="0"/>
              </a:rPr>
              <a:t>Loc_uSID_Algo_0       2        0     fc00:ab00:2::/48          </a:t>
            </a:r>
            <a:r>
              <a:rPr lang="sk-SK" sz="900" dirty="0" err="1">
                <a:latin typeface="Consolas" panose="020B0609020204030204" pitchFamily="49" charset="0"/>
              </a:rPr>
              <a:t>Up</a:t>
            </a:r>
            <a:r>
              <a:rPr lang="sk-SK" sz="900" dirty="0">
                <a:latin typeface="Consolas" panose="020B0609020204030204" pitchFamily="49" charset="0"/>
              </a:rPr>
              <a:t>       U       </a:t>
            </a:r>
          </a:p>
          <a:p>
            <a:r>
              <a:rPr lang="sk-SK" sz="900" dirty="0">
                <a:latin typeface="Consolas" panose="020B0609020204030204" pitchFamily="49" charset="0"/>
              </a:rPr>
              <a:t>RP/0/RP0/CPU0:R02#</a:t>
            </a:r>
            <a:r>
              <a:rPr lang="sk-SK" sz="900" b="1" dirty="0">
                <a:latin typeface="Consolas" panose="020B0609020204030204" pitchFamily="49" charset="0"/>
              </a:rPr>
              <a:t>show segment-routing srv6 </a:t>
            </a:r>
            <a:r>
              <a:rPr lang="sk-SK" sz="900" b="1" dirty="0" err="1">
                <a:latin typeface="Consolas" panose="020B0609020204030204" pitchFamily="49" charset="0"/>
              </a:rPr>
              <a:t>sid</a:t>
            </a:r>
            <a:r>
              <a:rPr lang="sk-SK" sz="900" b="1" dirty="0">
                <a:latin typeface="Consolas" panose="020B0609020204030204" pitchFamily="49" charset="0"/>
              </a:rPr>
              <a:t> </a:t>
            </a:r>
            <a:r>
              <a:rPr lang="sk-SK" sz="900" b="1" dirty="0" err="1">
                <a:latin typeface="Consolas" panose="020B0609020204030204" pitchFamily="49" charset="0"/>
              </a:rPr>
              <a:t>all</a:t>
            </a:r>
            <a:r>
              <a:rPr lang="sk-SK" sz="900" b="1" dirty="0">
                <a:latin typeface="Consolas" panose="020B0609020204030204" pitchFamily="49" charset="0"/>
              </a:rPr>
              <a:t> </a:t>
            </a:r>
          </a:p>
          <a:p>
            <a:r>
              <a:rPr lang="sk-SK" sz="900" dirty="0" err="1">
                <a:latin typeface="Consolas" panose="020B0609020204030204" pitchFamily="49" charset="0"/>
              </a:rPr>
              <a:t>Tue</a:t>
            </a:r>
            <a:r>
              <a:rPr lang="sk-SK" sz="900" dirty="0">
                <a:latin typeface="Consolas" panose="020B0609020204030204" pitchFamily="49" charset="0"/>
              </a:rPr>
              <a:t> </a:t>
            </a:r>
            <a:r>
              <a:rPr lang="sk-SK" sz="900" dirty="0" err="1">
                <a:latin typeface="Consolas" panose="020B0609020204030204" pitchFamily="49" charset="0"/>
              </a:rPr>
              <a:t>Oct</a:t>
            </a:r>
            <a:r>
              <a:rPr lang="sk-SK" sz="900" dirty="0">
                <a:latin typeface="Consolas" panose="020B0609020204030204" pitchFamily="49" charset="0"/>
              </a:rPr>
              <a:t> 22 12:30:31.536 UTC</a:t>
            </a:r>
          </a:p>
          <a:p>
            <a:endParaRPr lang="sk-SK" sz="900" dirty="0">
              <a:latin typeface="Consolas" panose="020B0609020204030204" pitchFamily="49" charset="0"/>
            </a:endParaRPr>
          </a:p>
          <a:p>
            <a:r>
              <a:rPr lang="sk-SK" sz="900" dirty="0">
                <a:latin typeface="Consolas" panose="020B0609020204030204" pitchFamily="49" charset="0"/>
              </a:rPr>
              <a:t>*** </a:t>
            </a:r>
            <a:r>
              <a:rPr lang="sk-SK" sz="900" dirty="0" err="1">
                <a:latin typeface="Consolas" panose="020B0609020204030204" pitchFamily="49" charset="0"/>
              </a:rPr>
              <a:t>Locator</a:t>
            </a:r>
            <a:r>
              <a:rPr lang="sk-SK" sz="900" dirty="0">
                <a:latin typeface="Consolas" panose="020B0609020204030204" pitchFamily="49" charset="0"/>
              </a:rPr>
              <a:t>: 'Loc_uSID_Algo_0' *** </a:t>
            </a:r>
          </a:p>
          <a:p>
            <a:endParaRPr lang="sk-SK" sz="900" dirty="0">
              <a:latin typeface="Consolas" panose="020B0609020204030204" pitchFamily="49" charset="0"/>
            </a:endParaRPr>
          </a:p>
          <a:p>
            <a:r>
              <a:rPr lang="sk-SK" sz="900" dirty="0">
                <a:latin typeface="Consolas" panose="020B0609020204030204" pitchFamily="49" charset="0"/>
              </a:rPr>
              <a:t>SID                         </a:t>
            </a:r>
            <a:r>
              <a:rPr lang="sk-SK" sz="900" dirty="0" err="1">
                <a:latin typeface="Consolas" panose="020B0609020204030204" pitchFamily="49" charset="0"/>
              </a:rPr>
              <a:t>Behavior</a:t>
            </a:r>
            <a:r>
              <a:rPr lang="sk-SK" sz="900" dirty="0">
                <a:latin typeface="Consolas" panose="020B0609020204030204" pitchFamily="49" charset="0"/>
              </a:rPr>
              <a:t>          </a:t>
            </a:r>
            <a:r>
              <a:rPr lang="sk-SK" sz="900" dirty="0" err="1">
                <a:latin typeface="Consolas" panose="020B0609020204030204" pitchFamily="49" charset="0"/>
              </a:rPr>
              <a:t>Context</a:t>
            </a:r>
            <a:r>
              <a:rPr lang="sk-SK" sz="900" dirty="0">
                <a:latin typeface="Consolas" panose="020B0609020204030204" pitchFamily="49" charset="0"/>
              </a:rPr>
              <a:t>                           </a:t>
            </a:r>
            <a:r>
              <a:rPr lang="sk-SK" sz="900" dirty="0" err="1">
                <a:latin typeface="Consolas" panose="020B0609020204030204" pitchFamily="49" charset="0"/>
              </a:rPr>
              <a:t>Owner</a:t>
            </a:r>
            <a:r>
              <a:rPr lang="sk-SK" sz="900" dirty="0">
                <a:latin typeface="Consolas" panose="020B0609020204030204" pitchFamily="49" charset="0"/>
              </a:rPr>
              <a:t>               State  RW</a:t>
            </a:r>
          </a:p>
          <a:p>
            <a:r>
              <a:rPr lang="sk-SK" sz="900" dirty="0">
                <a:latin typeface="Consolas" panose="020B0609020204030204" pitchFamily="49" charset="0"/>
              </a:rPr>
              <a:t>--------------------------  ----------------  --------------------------------  ------------------  -----  --</a:t>
            </a:r>
          </a:p>
          <a:p>
            <a:r>
              <a:rPr lang="sk-SK" sz="900" dirty="0">
                <a:highlight>
                  <a:srgbClr val="FF00FF"/>
                </a:highlight>
                <a:latin typeface="Consolas" panose="020B0609020204030204" pitchFamily="49" charset="0"/>
              </a:rPr>
              <a:t>fc00:ab00:2::               </a:t>
            </a:r>
            <a:r>
              <a:rPr lang="sk-SK" sz="900" dirty="0" err="1">
                <a:highlight>
                  <a:srgbClr val="FF00FF"/>
                </a:highlight>
                <a:latin typeface="Consolas" panose="020B0609020204030204" pitchFamily="49" charset="0"/>
              </a:rPr>
              <a:t>uN</a:t>
            </a:r>
            <a:r>
              <a:rPr lang="sk-SK" sz="900" dirty="0">
                <a:highlight>
                  <a:srgbClr val="FF00FF"/>
                </a:highlight>
                <a:latin typeface="Consolas" panose="020B0609020204030204" pitchFamily="49" charset="0"/>
              </a:rPr>
              <a:t> (PSP/USD)      'default':2                       </a:t>
            </a:r>
            <a:r>
              <a:rPr lang="sk-SK" sz="900" dirty="0" err="1">
                <a:highlight>
                  <a:srgbClr val="FF00FF"/>
                </a:highlight>
                <a:latin typeface="Consolas" panose="020B0609020204030204" pitchFamily="49" charset="0"/>
              </a:rPr>
              <a:t>sidmgr</a:t>
            </a:r>
            <a:r>
              <a:rPr lang="sk-SK" sz="900" dirty="0">
                <a:highlight>
                  <a:srgbClr val="FF00FF"/>
                </a:highlight>
                <a:latin typeface="Consolas" panose="020B0609020204030204" pitchFamily="49" charset="0"/>
              </a:rPr>
              <a:t>              </a:t>
            </a:r>
            <a:r>
              <a:rPr lang="sk-SK" sz="900" dirty="0" err="1">
                <a:highlight>
                  <a:srgbClr val="FF00FF"/>
                </a:highlight>
                <a:latin typeface="Consolas" panose="020B0609020204030204" pitchFamily="49" charset="0"/>
              </a:rPr>
              <a:t>InUse</a:t>
            </a:r>
            <a:r>
              <a:rPr lang="sk-SK" sz="900" dirty="0">
                <a:highlight>
                  <a:srgbClr val="FF00FF"/>
                </a:highlight>
                <a:latin typeface="Consolas" panose="020B0609020204030204" pitchFamily="49" charset="0"/>
              </a:rPr>
              <a:t>  Y </a:t>
            </a:r>
          </a:p>
          <a:p>
            <a:r>
              <a:rPr lang="sk-SK" sz="900" dirty="0">
                <a:highlight>
                  <a:srgbClr val="FF00FF"/>
                </a:highlight>
                <a:latin typeface="Consolas" panose="020B0609020204030204" pitchFamily="49" charset="0"/>
              </a:rPr>
              <a:t>fc00:ab00:2:e000::          </a:t>
            </a:r>
            <a:r>
              <a:rPr lang="sk-SK" sz="900" dirty="0" err="1">
                <a:highlight>
                  <a:srgbClr val="FF00FF"/>
                </a:highlight>
                <a:latin typeface="Consolas" panose="020B0609020204030204" pitchFamily="49" charset="0"/>
              </a:rPr>
              <a:t>uA</a:t>
            </a:r>
            <a:r>
              <a:rPr lang="sk-SK" sz="900" dirty="0">
                <a:highlight>
                  <a:srgbClr val="FF00FF"/>
                </a:highlight>
                <a:latin typeface="Consolas" panose="020B0609020204030204" pitchFamily="49" charset="0"/>
              </a:rPr>
              <a:t> (PSP/USD)      [Gi0/0/0/0, </a:t>
            </a:r>
            <a:r>
              <a:rPr lang="sk-SK" sz="900" dirty="0" err="1">
                <a:highlight>
                  <a:srgbClr val="FF00FF"/>
                </a:highlight>
                <a:latin typeface="Consolas" panose="020B0609020204030204" pitchFamily="49" charset="0"/>
              </a:rPr>
              <a:t>Link-Local</a:t>
            </a:r>
            <a:r>
              <a:rPr lang="sk-SK" sz="900" dirty="0">
                <a:highlight>
                  <a:srgbClr val="FF00FF"/>
                </a:highlight>
                <a:latin typeface="Consolas" panose="020B0609020204030204" pitchFamily="49" charset="0"/>
              </a:rPr>
              <a:t>]:0         isis-1              </a:t>
            </a:r>
            <a:r>
              <a:rPr lang="sk-SK" sz="900" dirty="0" err="1">
                <a:highlight>
                  <a:srgbClr val="FF00FF"/>
                </a:highlight>
                <a:latin typeface="Consolas" panose="020B0609020204030204" pitchFamily="49" charset="0"/>
              </a:rPr>
              <a:t>InUse</a:t>
            </a:r>
            <a:r>
              <a:rPr lang="sk-SK" sz="900" dirty="0">
                <a:highlight>
                  <a:srgbClr val="FF00FF"/>
                </a:highlight>
                <a:latin typeface="Consolas" panose="020B0609020204030204" pitchFamily="49" charset="0"/>
              </a:rPr>
              <a:t>  Y </a:t>
            </a:r>
          </a:p>
          <a:p>
            <a:r>
              <a:rPr lang="sk-SK" sz="900" dirty="0">
                <a:highlight>
                  <a:srgbClr val="FF00FF"/>
                </a:highlight>
                <a:latin typeface="Consolas" panose="020B0609020204030204" pitchFamily="49" charset="0"/>
              </a:rPr>
              <a:t>fc00:ab00:2:e001::          </a:t>
            </a:r>
            <a:r>
              <a:rPr lang="sk-SK" sz="900" dirty="0" err="1">
                <a:highlight>
                  <a:srgbClr val="FF00FF"/>
                </a:highlight>
                <a:latin typeface="Consolas" panose="020B0609020204030204" pitchFamily="49" charset="0"/>
              </a:rPr>
              <a:t>uA</a:t>
            </a:r>
            <a:r>
              <a:rPr lang="sk-SK" sz="900" dirty="0">
                <a:highlight>
                  <a:srgbClr val="FF00FF"/>
                </a:highlight>
                <a:latin typeface="Consolas" panose="020B0609020204030204" pitchFamily="49" charset="0"/>
              </a:rPr>
              <a:t> (PSP/USD)      [Gi0/0/0/4, </a:t>
            </a:r>
            <a:r>
              <a:rPr lang="sk-SK" sz="900" dirty="0" err="1">
                <a:highlight>
                  <a:srgbClr val="FF00FF"/>
                </a:highlight>
                <a:latin typeface="Consolas" panose="020B0609020204030204" pitchFamily="49" charset="0"/>
              </a:rPr>
              <a:t>Link-Local</a:t>
            </a:r>
            <a:r>
              <a:rPr lang="sk-SK" sz="900" dirty="0">
                <a:highlight>
                  <a:srgbClr val="FF00FF"/>
                </a:highlight>
                <a:latin typeface="Consolas" panose="020B0609020204030204" pitchFamily="49" charset="0"/>
              </a:rPr>
              <a:t>]:0         isis-1              </a:t>
            </a:r>
            <a:r>
              <a:rPr lang="sk-SK" sz="900" dirty="0" err="1">
                <a:highlight>
                  <a:srgbClr val="FF00FF"/>
                </a:highlight>
                <a:latin typeface="Consolas" panose="020B0609020204030204" pitchFamily="49" charset="0"/>
              </a:rPr>
              <a:t>InUse</a:t>
            </a:r>
            <a:r>
              <a:rPr lang="sk-SK" sz="900" dirty="0">
                <a:highlight>
                  <a:srgbClr val="FF00FF"/>
                </a:highlight>
                <a:latin typeface="Consolas" panose="020B0609020204030204" pitchFamily="49" charset="0"/>
              </a:rPr>
              <a:t>  Y </a:t>
            </a:r>
          </a:p>
          <a:p>
            <a:r>
              <a:rPr lang="sk-SK" sz="900" dirty="0">
                <a:highlight>
                  <a:srgbClr val="FF00FF"/>
                </a:highlight>
                <a:latin typeface="Consolas" panose="020B0609020204030204" pitchFamily="49" charset="0"/>
              </a:rPr>
              <a:t>fc00:ab00:2:e002::          </a:t>
            </a:r>
            <a:r>
              <a:rPr lang="sk-SK" sz="900" dirty="0" err="1">
                <a:highlight>
                  <a:srgbClr val="FF00FF"/>
                </a:highlight>
                <a:latin typeface="Consolas" panose="020B0609020204030204" pitchFamily="49" charset="0"/>
              </a:rPr>
              <a:t>uA</a:t>
            </a:r>
            <a:r>
              <a:rPr lang="sk-SK" sz="900" dirty="0">
                <a:highlight>
                  <a:srgbClr val="FF00FF"/>
                </a:highlight>
                <a:latin typeface="Consolas" panose="020B0609020204030204" pitchFamily="49" charset="0"/>
              </a:rPr>
              <a:t> (PSP/USD)      [Gi0/0/0/2, </a:t>
            </a:r>
            <a:r>
              <a:rPr lang="sk-SK" sz="900" dirty="0" err="1">
                <a:highlight>
                  <a:srgbClr val="FF00FF"/>
                </a:highlight>
                <a:latin typeface="Consolas" panose="020B0609020204030204" pitchFamily="49" charset="0"/>
              </a:rPr>
              <a:t>Link-Local</a:t>
            </a:r>
            <a:r>
              <a:rPr lang="sk-SK" sz="900" dirty="0">
                <a:highlight>
                  <a:srgbClr val="FF00FF"/>
                </a:highlight>
                <a:latin typeface="Consolas" panose="020B0609020204030204" pitchFamily="49" charset="0"/>
              </a:rPr>
              <a:t>]:0         isis-1              </a:t>
            </a:r>
            <a:r>
              <a:rPr lang="sk-SK" sz="900" dirty="0" err="1">
                <a:highlight>
                  <a:srgbClr val="FF00FF"/>
                </a:highlight>
                <a:latin typeface="Consolas" panose="020B0609020204030204" pitchFamily="49" charset="0"/>
              </a:rPr>
              <a:t>InUse</a:t>
            </a:r>
            <a:r>
              <a:rPr lang="sk-SK" sz="900" dirty="0">
                <a:highlight>
                  <a:srgbClr val="FF00FF"/>
                </a:highlight>
                <a:latin typeface="Consolas" panose="020B0609020204030204" pitchFamily="49" charset="0"/>
              </a:rPr>
              <a:t>  Y </a:t>
            </a:r>
          </a:p>
          <a:p>
            <a:r>
              <a:rPr lang="sk-SK" sz="900" dirty="0">
                <a:latin typeface="Consolas" panose="020B0609020204030204" pitchFamily="49" charset="0"/>
              </a:rPr>
              <a:t>RP/0/RP0/CPU0:R02#</a:t>
            </a:r>
            <a:endParaRPr lang="sk-SK" sz="900" dirty="0">
              <a:solidFill>
                <a:srgbClr val="FF0000"/>
              </a:solidFill>
              <a:latin typeface="Consolas" panose="020B0609020204030204" pitchFamily="49" charset="0"/>
            </a:endParaRPr>
          </a:p>
        </p:txBody>
      </p:sp>
      <p:pic>
        <p:nvPicPr>
          <p:cNvPr id="23" name="Picture 22" descr="A diagram of a network&#10;&#10;Description automatically generated">
            <a:extLst>
              <a:ext uri="{FF2B5EF4-FFF2-40B4-BE49-F238E27FC236}">
                <a16:creationId xmlns:a16="http://schemas.microsoft.com/office/drawing/2014/main" id="{D85336B3-FEBA-AABA-3898-FABD567975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4718" y="44814"/>
            <a:ext cx="9257282" cy="1713245"/>
          </a:xfrm>
          <a:prstGeom prst="rect">
            <a:avLst/>
          </a:prstGeom>
        </p:spPr>
      </p:pic>
      <p:sp>
        <p:nvSpPr>
          <p:cNvPr id="21" name="Rectangle 20">
            <a:extLst>
              <a:ext uri="{FF2B5EF4-FFF2-40B4-BE49-F238E27FC236}">
                <a16:creationId xmlns:a16="http://schemas.microsoft.com/office/drawing/2014/main" id="{0F650007-BBAE-8DD1-5CC0-090B2134B029}"/>
              </a:ext>
            </a:extLst>
          </p:cNvPr>
          <p:cNvSpPr/>
          <p:nvPr/>
        </p:nvSpPr>
        <p:spPr>
          <a:xfrm>
            <a:off x="6586474" y="412304"/>
            <a:ext cx="642366" cy="701769"/>
          </a:xfrm>
          <a:prstGeom prst="rect">
            <a:avLst/>
          </a:prstGeom>
          <a:noFill/>
          <a:ln w="254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A230AD45-DE09-0369-F10B-30642BF7FAB6}"/>
              </a:ext>
            </a:extLst>
          </p:cNvPr>
          <p:cNvSpPr>
            <a:spLocks noGrp="1"/>
          </p:cNvSpPr>
          <p:nvPr>
            <p:ph type="body" sz="quarter" idx="10"/>
          </p:nvPr>
        </p:nvSpPr>
        <p:spPr>
          <a:xfrm>
            <a:off x="110490" y="1437211"/>
            <a:ext cx="4809744" cy="2182098"/>
          </a:xfrm>
        </p:spPr>
        <p:txBody>
          <a:bodyPr/>
          <a:lstStyle/>
          <a:p>
            <a:r>
              <a:rPr lang="en-US" sz="1400" dirty="0"/>
              <a:t>R01: </a:t>
            </a:r>
            <a:r>
              <a:rPr lang="en-US" sz="1400" dirty="0">
                <a:highlight>
                  <a:srgbClr val="FFFF00"/>
                </a:highlight>
              </a:rPr>
              <a:t>Lo0=2001:9999::1/128</a:t>
            </a:r>
            <a:r>
              <a:rPr lang="en-US" sz="1400" dirty="0"/>
              <a:t>; </a:t>
            </a:r>
            <a:r>
              <a:rPr lang="en-US" sz="1400" dirty="0">
                <a:highlight>
                  <a:srgbClr val="00FF00"/>
                </a:highlight>
              </a:rPr>
              <a:t>Locator=fc00:ab00:1::/48</a:t>
            </a:r>
            <a:r>
              <a:rPr lang="en-US" sz="1400" dirty="0"/>
              <a:t>; NET=49.0001.0000.0000.0001.00</a:t>
            </a:r>
          </a:p>
          <a:p>
            <a:r>
              <a:rPr lang="en-US" sz="1400" dirty="0"/>
              <a:t>R02: </a:t>
            </a:r>
            <a:r>
              <a:rPr lang="en-US" sz="1400" dirty="0">
                <a:highlight>
                  <a:srgbClr val="00FFFF"/>
                </a:highlight>
              </a:rPr>
              <a:t>Lo0=2001:9999::2/128</a:t>
            </a:r>
            <a:r>
              <a:rPr lang="en-US" sz="1400" dirty="0"/>
              <a:t>; </a:t>
            </a:r>
            <a:r>
              <a:rPr lang="en-US" sz="1400" dirty="0">
                <a:highlight>
                  <a:srgbClr val="FF00FF"/>
                </a:highlight>
              </a:rPr>
              <a:t>Locator=fc00:ab00:2::/48</a:t>
            </a:r>
            <a:r>
              <a:rPr lang="en-US" sz="1400" dirty="0"/>
              <a:t>; NET=49.0001.0000.0000.0002.00</a:t>
            </a:r>
          </a:p>
          <a:p>
            <a:r>
              <a:rPr lang="en-US" sz="1400" dirty="0"/>
              <a:t>R03: </a:t>
            </a:r>
            <a:r>
              <a:rPr lang="en-US" sz="1400" dirty="0">
                <a:solidFill>
                  <a:schemeClr val="bg1"/>
                </a:solidFill>
                <a:highlight>
                  <a:srgbClr val="0000FF"/>
                </a:highlight>
              </a:rPr>
              <a:t>Lo0=2001:9999::3/128</a:t>
            </a:r>
            <a:r>
              <a:rPr lang="en-US" sz="1400" dirty="0"/>
              <a:t>; </a:t>
            </a:r>
            <a:r>
              <a:rPr lang="en-US" sz="1400" dirty="0">
                <a:highlight>
                  <a:srgbClr val="FF0000"/>
                </a:highlight>
              </a:rPr>
              <a:t>Locator=fc00:ab00:3::/48</a:t>
            </a:r>
            <a:r>
              <a:rPr lang="en-US" sz="1400" dirty="0"/>
              <a:t>; NET=49.0001.0000.0000.0003.00</a:t>
            </a:r>
          </a:p>
          <a:p>
            <a:r>
              <a:rPr lang="en-US" sz="1400" dirty="0"/>
              <a:t>R04: </a:t>
            </a:r>
            <a:r>
              <a:rPr lang="en-US" sz="1400" dirty="0">
                <a:solidFill>
                  <a:schemeClr val="bg1"/>
                </a:solidFill>
                <a:highlight>
                  <a:srgbClr val="000080"/>
                </a:highlight>
              </a:rPr>
              <a:t>Lo0=2001:9999::4/128</a:t>
            </a:r>
            <a:r>
              <a:rPr lang="en-US" sz="1400" dirty="0"/>
              <a:t>; </a:t>
            </a:r>
            <a:r>
              <a:rPr lang="en-US" sz="1400" dirty="0">
                <a:highlight>
                  <a:srgbClr val="008080"/>
                </a:highlight>
              </a:rPr>
              <a:t>Locator=fc00:ab00:4::/48</a:t>
            </a:r>
            <a:r>
              <a:rPr lang="en-US" sz="1400" dirty="0"/>
              <a:t>; NET=49.0001.0000.0000.0004.00</a:t>
            </a:r>
          </a:p>
          <a:p>
            <a:endParaRPr lang="en-US" sz="1400" dirty="0"/>
          </a:p>
        </p:txBody>
      </p:sp>
      <p:sp>
        <p:nvSpPr>
          <p:cNvPr id="7" name="Rectangle 6">
            <a:extLst>
              <a:ext uri="{FF2B5EF4-FFF2-40B4-BE49-F238E27FC236}">
                <a16:creationId xmlns:a16="http://schemas.microsoft.com/office/drawing/2014/main" id="{0967F153-BAB2-037A-945A-78B4F6704383}"/>
              </a:ext>
            </a:extLst>
          </p:cNvPr>
          <p:cNvSpPr/>
          <p:nvPr/>
        </p:nvSpPr>
        <p:spPr>
          <a:xfrm>
            <a:off x="7122160" y="235686"/>
            <a:ext cx="5069840" cy="6601807"/>
          </a:xfrm>
          <a:prstGeom prst="rect">
            <a:avLst/>
          </a:prstGeom>
          <a:solidFill>
            <a:schemeClr val="bg1">
              <a:lumMod val="95000"/>
            </a:schemeClr>
          </a:solidFill>
          <a:ln>
            <a:solidFill>
              <a:schemeClr val="tx1"/>
            </a:solidFill>
          </a:ln>
          <a:effectLst/>
        </p:spPr>
        <p:txBody>
          <a:bodyPr wrap="square">
            <a:spAutoFit/>
          </a:bodyPr>
          <a:lstStyle/>
          <a:p>
            <a:r>
              <a:rPr lang="sk-SK" sz="900" dirty="0">
                <a:latin typeface="Consolas" panose="020B0609020204030204" pitchFamily="49" charset="0"/>
              </a:rPr>
              <a:t>RP/0/RP0/CPU0:</a:t>
            </a:r>
            <a:r>
              <a:rPr lang="sk-SK" sz="900" b="1" dirty="0">
                <a:latin typeface="Consolas" panose="020B0609020204030204" pitchFamily="49" charset="0"/>
              </a:rPr>
              <a:t>R01</a:t>
            </a:r>
            <a:r>
              <a:rPr lang="sk-SK" sz="900" dirty="0">
                <a:latin typeface="Consolas" panose="020B0609020204030204" pitchFamily="49" charset="0"/>
              </a:rPr>
              <a:t>#sh </a:t>
            </a:r>
            <a:r>
              <a:rPr lang="sk-SK" sz="900" dirty="0" err="1">
                <a:latin typeface="Consolas" panose="020B0609020204030204" pitchFamily="49" charset="0"/>
              </a:rPr>
              <a:t>route</a:t>
            </a:r>
            <a:r>
              <a:rPr lang="sk-SK" sz="900" dirty="0">
                <a:latin typeface="Consolas" panose="020B0609020204030204" pitchFamily="49" charset="0"/>
              </a:rPr>
              <a:t> ipv6</a:t>
            </a:r>
          </a:p>
          <a:p>
            <a:r>
              <a:rPr lang="en-US" sz="900" dirty="0">
                <a:latin typeface="Consolas" panose="020B0609020204030204" pitchFamily="49" charset="0"/>
              </a:rPr>
              <a:t>-- Cut --</a:t>
            </a:r>
            <a:endParaRPr lang="sk-SK" sz="900" dirty="0">
              <a:latin typeface="Consolas" panose="020B0609020204030204" pitchFamily="49" charset="0"/>
            </a:endParaRPr>
          </a:p>
          <a:p>
            <a:r>
              <a:rPr lang="sk-SK" sz="900" dirty="0">
                <a:latin typeface="Consolas" panose="020B0609020204030204" pitchFamily="49" charset="0"/>
              </a:rPr>
              <a:t>L    ::ffff:127.0.0.0/104 [0/0] </a:t>
            </a:r>
            <a:r>
              <a:rPr lang="sk-SK" sz="900" dirty="0" err="1">
                <a:latin typeface="Consolas" panose="020B0609020204030204" pitchFamily="49" charset="0"/>
              </a:rPr>
              <a:t>via</a:t>
            </a:r>
            <a:r>
              <a:rPr lang="sk-SK" sz="900" dirty="0">
                <a:latin typeface="Consolas" panose="020B0609020204030204" pitchFamily="49" charset="0"/>
              </a:rPr>
              <a:t> ::, 1d03h</a:t>
            </a:r>
          </a:p>
          <a:p>
            <a:r>
              <a:rPr lang="sk-SK" sz="900" dirty="0">
                <a:highlight>
                  <a:srgbClr val="FFFF00"/>
                </a:highlight>
                <a:latin typeface="Consolas" panose="020B0609020204030204" pitchFamily="49" charset="0"/>
              </a:rPr>
              <a:t>i L2 2001:9999::1/128 </a:t>
            </a:r>
          </a:p>
          <a:p>
            <a:r>
              <a:rPr lang="sk-SK" sz="900" dirty="0">
                <a:highlight>
                  <a:srgbClr val="FFFF00"/>
                </a:highlight>
                <a:latin typeface="Consolas" panose="020B0609020204030204" pitchFamily="49" charset="0"/>
              </a:rPr>
              <a:t>      [115/10] </a:t>
            </a:r>
            <a:r>
              <a:rPr lang="sk-SK" sz="900" dirty="0" err="1">
                <a:highlight>
                  <a:srgbClr val="FFFF00"/>
                </a:highlight>
                <a:latin typeface="Consolas" panose="020B0609020204030204" pitchFamily="49" charset="0"/>
              </a:rPr>
              <a:t>via</a:t>
            </a:r>
            <a:r>
              <a:rPr lang="sk-SK" sz="900" dirty="0">
                <a:highlight>
                  <a:srgbClr val="FFFF00"/>
                </a:highlight>
                <a:latin typeface="Consolas" panose="020B0609020204030204" pitchFamily="49" charset="0"/>
              </a:rPr>
              <a:t> fe80::5054:ff:fe14:94d4, 23:36:38, GigabitEthernet0/0/0/0</a:t>
            </a:r>
          </a:p>
          <a:p>
            <a:r>
              <a:rPr lang="sk-SK" sz="900" dirty="0">
                <a:highlight>
                  <a:srgbClr val="00FFFF"/>
                </a:highlight>
                <a:latin typeface="Consolas" panose="020B0609020204030204" pitchFamily="49" charset="0"/>
              </a:rPr>
              <a:t>L    2001:9999::2/128 </a:t>
            </a:r>
            <a:r>
              <a:rPr lang="sk-SK" sz="900" dirty="0" err="1">
                <a:highlight>
                  <a:srgbClr val="00FFFF"/>
                </a:highlight>
                <a:latin typeface="Consolas" panose="020B0609020204030204" pitchFamily="49" charset="0"/>
              </a:rPr>
              <a:t>is</a:t>
            </a:r>
            <a:r>
              <a:rPr lang="sk-SK" sz="900" dirty="0">
                <a:highlight>
                  <a:srgbClr val="00FFFF"/>
                </a:highlight>
                <a:latin typeface="Consolas" panose="020B0609020204030204" pitchFamily="49" charset="0"/>
              </a:rPr>
              <a:t> </a:t>
            </a:r>
            <a:r>
              <a:rPr lang="sk-SK" sz="900" dirty="0" err="1">
                <a:highlight>
                  <a:srgbClr val="00FFFF"/>
                </a:highlight>
                <a:latin typeface="Consolas" panose="020B0609020204030204" pitchFamily="49" charset="0"/>
              </a:rPr>
              <a:t>directly</a:t>
            </a:r>
            <a:r>
              <a:rPr lang="sk-SK" sz="900" dirty="0">
                <a:highlight>
                  <a:srgbClr val="00FFFF"/>
                </a:highlight>
                <a:latin typeface="Consolas" panose="020B0609020204030204" pitchFamily="49" charset="0"/>
              </a:rPr>
              <a:t> </a:t>
            </a:r>
            <a:r>
              <a:rPr lang="sk-SK" sz="900" dirty="0" err="1">
                <a:highlight>
                  <a:srgbClr val="00FFFF"/>
                </a:highlight>
                <a:latin typeface="Consolas" panose="020B0609020204030204" pitchFamily="49" charset="0"/>
              </a:rPr>
              <a:t>connected</a:t>
            </a:r>
            <a:r>
              <a:rPr lang="sk-SK" sz="900" dirty="0">
                <a:highlight>
                  <a:srgbClr val="00FFFF"/>
                </a:highlight>
                <a:latin typeface="Consolas" panose="020B0609020204030204" pitchFamily="49" charset="0"/>
              </a:rPr>
              <a:t>,</a:t>
            </a:r>
          </a:p>
          <a:p>
            <a:r>
              <a:rPr lang="sk-SK" sz="900" dirty="0">
                <a:highlight>
                  <a:srgbClr val="00FFFF"/>
                </a:highlight>
                <a:latin typeface="Consolas" panose="020B0609020204030204" pitchFamily="49" charset="0"/>
              </a:rPr>
              <a:t>      1d03h, Loopback0</a:t>
            </a:r>
          </a:p>
          <a:p>
            <a:r>
              <a:rPr lang="sk-SK" sz="900" dirty="0">
                <a:solidFill>
                  <a:schemeClr val="bg1"/>
                </a:solidFill>
                <a:highlight>
                  <a:srgbClr val="0000FF"/>
                </a:highlight>
                <a:latin typeface="Consolas" panose="020B0609020204030204" pitchFamily="49" charset="0"/>
              </a:rPr>
              <a:t>i L2 2001:9999::3/128 </a:t>
            </a:r>
          </a:p>
          <a:p>
            <a:r>
              <a:rPr lang="sk-SK" sz="900" dirty="0">
                <a:solidFill>
                  <a:schemeClr val="bg1"/>
                </a:solidFill>
                <a:highlight>
                  <a:srgbClr val="0000FF"/>
                </a:highlight>
                <a:latin typeface="Consolas" panose="020B0609020204030204" pitchFamily="49" charset="0"/>
              </a:rPr>
              <a:t>      [115/10] </a:t>
            </a:r>
            <a:r>
              <a:rPr lang="sk-SK" sz="900" dirty="0" err="1">
                <a:solidFill>
                  <a:schemeClr val="bg1"/>
                </a:solidFill>
                <a:highlight>
                  <a:srgbClr val="0000FF"/>
                </a:highlight>
                <a:latin typeface="Consolas" panose="020B0609020204030204" pitchFamily="49" charset="0"/>
              </a:rPr>
              <a:t>via</a:t>
            </a:r>
            <a:r>
              <a:rPr lang="sk-SK" sz="900" dirty="0">
                <a:solidFill>
                  <a:schemeClr val="bg1"/>
                </a:solidFill>
                <a:highlight>
                  <a:srgbClr val="0000FF"/>
                </a:highlight>
                <a:latin typeface="Consolas" panose="020B0609020204030204" pitchFamily="49" charset="0"/>
              </a:rPr>
              <a:t> fe80::5054:ff:fe1c:96f4, 1d00h, GigabitEthernet0/0/0/2</a:t>
            </a:r>
          </a:p>
          <a:p>
            <a:r>
              <a:rPr lang="sk-SK" sz="900" dirty="0">
                <a:solidFill>
                  <a:schemeClr val="bg1"/>
                </a:solidFill>
                <a:highlight>
                  <a:srgbClr val="000080"/>
                </a:highlight>
                <a:latin typeface="Consolas" panose="020B0609020204030204" pitchFamily="49" charset="0"/>
              </a:rPr>
              <a:t>i L2 2001:9999::4/128 </a:t>
            </a:r>
          </a:p>
          <a:p>
            <a:r>
              <a:rPr lang="sk-SK" sz="900" dirty="0">
                <a:solidFill>
                  <a:schemeClr val="bg1"/>
                </a:solidFill>
                <a:highlight>
                  <a:srgbClr val="000080"/>
                </a:highlight>
                <a:latin typeface="Consolas" panose="020B0609020204030204" pitchFamily="49" charset="0"/>
              </a:rPr>
              <a:t>      [115/10] </a:t>
            </a:r>
            <a:r>
              <a:rPr lang="sk-SK" sz="900" dirty="0" err="1">
                <a:solidFill>
                  <a:schemeClr val="bg1"/>
                </a:solidFill>
                <a:highlight>
                  <a:srgbClr val="000080"/>
                </a:highlight>
                <a:latin typeface="Consolas" panose="020B0609020204030204" pitchFamily="49" charset="0"/>
              </a:rPr>
              <a:t>via</a:t>
            </a:r>
            <a:r>
              <a:rPr lang="sk-SK" sz="900" dirty="0">
                <a:solidFill>
                  <a:schemeClr val="bg1"/>
                </a:solidFill>
                <a:highlight>
                  <a:srgbClr val="000080"/>
                </a:highlight>
                <a:latin typeface="Consolas" panose="020B0609020204030204" pitchFamily="49" charset="0"/>
              </a:rPr>
              <a:t> fe80::5054:ff:fe09:6ab0, 1d00h, GigabitEthernet0/0/0/4</a:t>
            </a:r>
          </a:p>
          <a:p>
            <a:r>
              <a:rPr lang="sk-SK" sz="900" dirty="0">
                <a:highlight>
                  <a:srgbClr val="00FF00"/>
                </a:highlight>
                <a:latin typeface="Consolas" panose="020B0609020204030204" pitchFamily="49" charset="0"/>
              </a:rPr>
              <a:t>i L2 fc00:ab00:1::/48 </a:t>
            </a:r>
          </a:p>
          <a:p>
            <a:r>
              <a:rPr lang="sk-SK" sz="900" dirty="0">
                <a:highlight>
                  <a:srgbClr val="00FF00"/>
                </a:highlight>
                <a:latin typeface="Consolas" panose="020B0609020204030204" pitchFamily="49" charset="0"/>
              </a:rPr>
              <a:t>      [115/11] </a:t>
            </a:r>
            <a:r>
              <a:rPr lang="sk-SK" sz="900" dirty="0" err="1">
                <a:highlight>
                  <a:srgbClr val="00FF00"/>
                </a:highlight>
                <a:latin typeface="Consolas" panose="020B0609020204030204" pitchFamily="49" charset="0"/>
              </a:rPr>
              <a:t>via</a:t>
            </a:r>
            <a:r>
              <a:rPr lang="sk-SK" sz="900" dirty="0">
                <a:highlight>
                  <a:srgbClr val="00FF00"/>
                </a:highlight>
                <a:latin typeface="Consolas" panose="020B0609020204030204" pitchFamily="49" charset="0"/>
              </a:rPr>
              <a:t> fe80::5054:ff:fe14:94d4, 23:36:26, GigabitEthernet0/0/0/0</a:t>
            </a:r>
          </a:p>
          <a:p>
            <a:r>
              <a:rPr lang="sk-SK" sz="900" dirty="0">
                <a:highlight>
                  <a:srgbClr val="FF00FF"/>
                </a:highlight>
                <a:latin typeface="Consolas" panose="020B0609020204030204" pitchFamily="49" charset="0"/>
              </a:rPr>
              <a:t>L    fc00:ab00:2::/48, SRv6 </a:t>
            </a:r>
            <a:r>
              <a:rPr lang="sk-SK" sz="900" dirty="0" err="1">
                <a:highlight>
                  <a:srgbClr val="FF00FF"/>
                </a:highlight>
                <a:latin typeface="Consolas" panose="020B0609020204030204" pitchFamily="49" charset="0"/>
              </a:rPr>
              <a:t>Endpoint</a:t>
            </a:r>
            <a:r>
              <a:rPr lang="sk-SK" sz="900" dirty="0">
                <a:highlight>
                  <a:srgbClr val="FF00FF"/>
                </a:highlight>
                <a:latin typeface="Consolas" panose="020B0609020204030204" pitchFamily="49" charset="0"/>
              </a:rPr>
              <a:t> </a:t>
            </a:r>
            <a:r>
              <a:rPr lang="sk-SK" sz="900" dirty="0" err="1">
                <a:highlight>
                  <a:srgbClr val="FF00FF"/>
                </a:highlight>
                <a:latin typeface="Consolas" panose="020B0609020204030204" pitchFamily="49" charset="0"/>
              </a:rPr>
              <a:t>uN</a:t>
            </a:r>
            <a:r>
              <a:rPr lang="sk-SK" sz="900" dirty="0">
                <a:highlight>
                  <a:srgbClr val="FF00FF"/>
                </a:highlight>
                <a:latin typeface="Consolas" panose="020B0609020204030204" pitchFamily="49" charset="0"/>
              </a:rPr>
              <a:t> (</a:t>
            </a:r>
            <a:r>
              <a:rPr lang="sk-SK" sz="900" dirty="0" err="1">
                <a:highlight>
                  <a:srgbClr val="FF00FF"/>
                </a:highlight>
                <a:latin typeface="Consolas" panose="020B0609020204030204" pitchFamily="49" charset="0"/>
              </a:rPr>
              <a:t>shift</a:t>
            </a:r>
            <a:r>
              <a:rPr lang="sk-SK" sz="900" dirty="0">
                <a:highlight>
                  <a:srgbClr val="FF00FF"/>
                </a:highlight>
                <a:latin typeface="Consolas" panose="020B0609020204030204" pitchFamily="49" charset="0"/>
              </a:rPr>
              <a:t>) </a:t>
            </a:r>
          </a:p>
          <a:p>
            <a:r>
              <a:rPr lang="sk-SK" sz="900" dirty="0">
                <a:highlight>
                  <a:srgbClr val="FF00FF"/>
                </a:highlight>
                <a:latin typeface="Consolas" panose="020B0609020204030204" pitchFamily="49" charset="0"/>
              </a:rPr>
              <a:t>      [0/0] </a:t>
            </a:r>
            <a:r>
              <a:rPr lang="sk-SK" sz="900" dirty="0" err="1">
                <a:highlight>
                  <a:srgbClr val="FF00FF"/>
                </a:highlight>
                <a:latin typeface="Consolas" panose="020B0609020204030204" pitchFamily="49" charset="0"/>
              </a:rPr>
              <a:t>via</a:t>
            </a:r>
            <a:r>
              <a:rPr lang="sk-SK" sz="900" dirty="0">
                <a:highlight>
                  <a:srgbClr val="FF00FF"/>
                </a:highlight>
                <a:latin typeface="Consolas" panose="020B0609020204030204" pitchFamily="49" charset="0"/>
              </a:rPr>
              <a:t> ::, 1d03h</a:t>
            </a:r>
          </a:p>
          <a:p>
            <a:r>
              <a:rPr lang="sk-SK" sz="900" dirty="0">
                <a:highlight>
                  <a:srgbClr val="FF00FF"/>
                </a:highlight>
                <a:latin typeface="Consolas" panose="020B0609020204030204" pitchFamily="49" charset="0"/>
              </a:rPr>
              <a:t>L    fc00:ab00:2::/64, SRv6 </a:t>
            </a:r>
            <a:r>
              <a:rPr lang="sk-SK" sz="900" dirty="0" err="1">
                <a:highlight>
                  <a:srgbClr val="FF00FF"/>
                </a:highlight>
                <a:latin typeface="Consolas" panose="020B0609020204030204" pitchFamily="49" charset="0"/>
              </a:rPr>
              <a:t>Endpoint</a:t>
            </a:r>
            <a:r>
              <a:rPr lang="sk-SK" sz="900" dirty="0">
                <a:highlight>
                  <a:srgbClr val="FF00FF"/>
                </a:highlight>
                <a:latin typeface="Consolas" panose="020B0609020204030204" pitchFamily="49" charset="0"/>
              </a:rPr>
              <a:t> </a:t>
            </a:r>
            <a:r>
              <a:rPr lang="sk-SK" sz="900" dirty="0" err="1">
                <a:highlight>
                  <a:srgbClr val="FF00FF"/>
                </a:highlight>
                <a:latin typeface="Consolas" panose="020B0609020204030204" pitchFamily="49" charset="0"/>
              </a:rPr>
              <a:t>uN</a:t>
            </a:r>
            <a:r>
              <a:rPr lang="sk-SK" sz="900" dirty="0">
                <a:highlight>
                  <a:srgbClr val="FF00FF"/>
                </a:highlight>
                <a:latin typeface="Consolas" panose="020B0609020204030204" pitchFamily="49" charset="0"/>
              </a:rPr>
              <a:t> (PSP/USD) </a:t>
            </a:r>
          </a:p>
          <a:p>
            <a:r>
              <a:rPr lang="sk-SK" sz="900" dirty="0">
                <a:highlight>
                  <a:srgbClr val="FF00FF"/>
                </a:highlight>
                <a:latin typeface="Consolas" panose="020B0609020204030204" pitchFamily="49" charset="0"/>
              </a:rPr>
              <a:t>      [0/0] </a:t>
            </a:r>
            <a:r>
              <a:rPr lang="sk-SK" sz="900" dirty="0" err="1">
                <a:highlight>
                  <a:srgbClr val="FF00FF"/>
                </a:highlight>
                <a:latin typeface="Consolas" panose="020B0609020204030204" pitchFamily="49" charset="0"/>
              </a:rPr>
              <a:t>via</a:t>
            </a:r>
            <a:r>
              <a:rPr lang="sk-SK" sz="900" dirty="0">
                <a:highlight>
                  <a:srgbClr val="FF00FF"/>
                </a:highlight>
                <a:latin typeface="Consolas" panose="020B0609020204030204" pitchFamily="49" charset="0"/>
              </a:rPr>
              <a:t> ::, 1d03h</a:t>
            </a:r>
          </a:p>
          <a:p>
            <a:r>
              <a:rPr lang="sk-SK" sz="900" dirty="0">
                <a:highlight>
                  <a:srgbClr val="FF00FF"/>
                </a:highlight>
                <a:latin typeface="Consolas" panose="020B0609020204030204" pitchFamily="49" charset="0"/>
              </a:rPr>
              <a:t>L    fc00:ab00:2:e000::/64, SRv6 </a:t>
            </a:r>
            <a:r>
              <a:rPr lang="sk-SK" sz="900" dirty="0" err="1">
                <a:highlight>
                  <a:srgbClr val="FF00FF"/>
                </a:highlight>
                <a:latin typeface="Consolas" panose="020B0609020204030204" pitchFamily="49" charset="0"/>
              </a:rPr>
              <a:t>Endpoint</a:t>
            </a:r>
            <a:r>
              <a:rPr lang="sk-SK" sz="900" dirty="0">
                <a:highlight>
                  <a:srgbClr val="FF00FF"/>
                </a:highlight>
                <a:latin typeface="Consolas" panose="020B0609020204030204" pitchFamily="49" charset="0"/>
              </a:rPr>
              <a:t> </a:t>
            </a:r>
            <a:r>
              <a:rPr lang="sk-SK" sz="900" dirty="0" err="1">
                <a:highlight>
                  <a:srgbClr val="FF00FF"/>
                </a:highlight>
                <a:latin typeface="Consolas" panose="020B0609020204030204" pitchFamily="49" charset="0"/>
              </a:rPr>
              <a:t>uA</a:t>
            </a:r>
            <a:r>
              <a:rPr lang="sk-SK" sz="900" dirty="0">
                <a:highlight>
                  <a:srgbClr val="FF00FF"/>
                </a:highlight>
                <a:latin typeface="Consolas" panose="020B0609020204030204" pitchFamily="49" charset="0"/>
              </a:rPr>
              <a:t> (</a:t>
            </a:r>
            <a:r>
              <a:rPr lang="sk-SK" sz="900" dirty="0" err="1">
                <a:highlight>
                  <a:srgbClr val="FF00FF"/>
                </a:highlight>
                <a:latin typeface="Consolas" panose="020B0609020204030204" pitchFamily="49" charset="0"/>
              </a:rPr>
              <a:t>shift</a:t>
            </a:r>
            <a:r>
              <a:rPr lang="sk-SK" sz="900" dirty="0">
                <a:highlight>
                  <a:srgbClr val="FF00FF"/>
                </a:highlight>
                <a:latin typeface="Consolas" panose="020B0609020204030204" pitchFamily="49" charset="0"/>
              </a:rPr>
              <a:t>) </a:t>
            </a:r>
          </a:p>
          <a:p>
            <a:r>
              <a:rPr lang="sk-SK" sz="900" dirty="0">
                <a:highlight>
                  <a:srgbClr val="FF00FF"/>
                </a:highlight>
                <a:latin typeface="Consolas" panose="020B0609020204030204" pitchFamily="49" charset="0"/>
              </a:rPr>
              <a:t>      [0/0] </a:t>
            </a:r>
            <a:r>
              <a:rPr lang="sk-SK" sz="900" dirty="0" err="1">
                <a:highlight>
                  <a:srgbClr val="FF00FF"/>
                </a:highlight>
                <a:latin typeface="Consolas" panose="020B0609020204030204" pitchFamily="49" charset="0"/>
              </a:rPr>
              <a:t>via</a:t>
            </a:r>
            <a:r>
              <a:rPr lang="sk-SK" sz="900" dirty="0">
                <a:highlight>
                  <a:srgbClr val="FF00FF"/>
                </a:highlight>
                <a:latin typeface="Consolas" panose="020B0609020204030204" pitchFamily="49" charset="0"/>
              </a:rPr>
              <a:t> fe80::5054:ff:fe14:94d4, 23:36:41, GigabitEthernet0/0/0/0</a:t>
            </a:r>
          </a:p>
          <a:p>
            <a:r>
              <a:rPr lang="sk-SK" sz="900" dirty="0">
                <a:highlight>
                  <a:srgbClr val="FF00FF"/>
                </a:highlight>
                <a:latin typeface="Consolas" panose="020B0609020204030204" pitchFamily="49" charset="0"/>
              </a:rPr>
              <a:t>L    fc00:ab00:2:e000::/80, SRv6 </a:t>
            </a:r>
            <a:r>
              <a:rPr lang="sk-SK" sz="900" dirty="0" err="1">
                <a:highlight>
                  <a:srgbClr val="FF00FF"/>
                </a:highlight>
                <a:latin typeface="Consolas" panose="020B0609020204030204" pitchFamily="49" charset="0"/>
              </a:rPr>
              <a:t>Endpoint</a:t>
            </a:r>
            <a:r>
              <a:rPr lang="sk-SK" sz="900" dirty="0">
                <a:highlight>
                  <a:srgbClr val="FF00FF"/>
                </a:highlight>
                <a:latin typeface="Consolas" panose="020B0609020204030204" pitchFamily="49" charset="0"/>
              </a:rPr>
              <a:t> </a:t>
            </a:r>
            <a:r>
              <a:rPr lang="sk-SK" sz="900" dirty="0" err="1">
                <a:highlight>
                  <a:srgbClr val="FF00FF"/>
                </a:highlight>
                <a:latin typeface="Consolas" panose="020B0609020204030204" pitchFamily="49" charset="0"/>
              </a:rPr>
              <a:t>uA</a:t>
            </a:r>
            <a:r>
              <a:rPr lang="sk-SK" sz="900" dirty="0">
                <a:highlight>
                  <a:srgbClr val="FF00FF"/>
                </a:highlight>
                <a:latin typeface="Consolas" panose="020B0609020204030204" pitchFamily="49" charset="0"/>
              </a:rPr>
              <a:t> (PSP/USD) </a:t>
            </a:r>
          </a:p>
          <a:p>
            <a:r>
              <a:rPr lang="sk-SK" sz="900" dirty="0">
                <a:highlight>
                  <a:srgbClr val="FF00FF"/>
                </a:highlight>
                <a:latin typeface="Consolas" panose="020B0609020204030204" pitchFamily="49" charset="0"/>
              </a:rPr>
              <a:t>      [0/0] </a:t>
            </a:r>
            <a:r>
              <a:rPr lang="sk-SK" sz="900" dirty="0" err="1">
                <a:highlight>
                  <a:srgbClr val="FF00FF"/>
                </a:highlight>
                <a:latin typeface="Consolas" panose="020B0609020204030204" pitchFamily="49" charset="0"/>
              </a:rPr>
              <a:t>via</a:t>
            </a:r>
            <a:r>
              <a:rPr lang="sk-SK" sz="900" dirty="0">
                <a:highlight>
                  <a:srgbClr val="FF00FF"/>
                </a:highlight>
                <a:latin typeface="Consolas" panose="020B0609020204030204" pitchFamily="49" charset="0"/>
              </a:rPr>
              <a:t> fe80::5054:ff:fe14:94d4, 23:36:41, GigabitEthernet0/0/0/0</a:t>
            </a:r>
          </a:p>
          <a:p>
            <a:r>
              <a:rPr lang="sk-SK" sz="900" dirty="0">
                <a:highlight>
                  <a:srgbClr val="FF00FF"/>
                </a:highlight>
                <a:latin typeface="Consolas" panose="020B0609020204030204" pitchFamily="49" charset="0"/>
              </a:rPr>
              <a:t>L    fc00:ab00:2:e001::/64, SRv6 </a:t>
            </a:r>
            <a:r>
              <a:rPr lang="sk-SK" sz="900" dirty="0" err="1">
                <a:highlight>
                  <a:srgbClr val="FF00FF"/>
                </a:highlight>
                <a:latin typeface="Consolas" panose="020B0609020204030204" pitchFamily="49" charset="0"/>
              </a:rPr>
              <a:t>Endpoint</a:t>
            </a:r>
            <a:r>
              <a:rPr lang="sk-SK" sz="900" dirty="0">
                <a:highlight>
                  <a:srgbClr val="FF00FF"/>
                </a:highlight>
                <a:latin typeface="Consolas" panose="020B0609020204030204" pitchFamily="49" charset="0"/>
              </a:rPr>
              <a:t> </a:t>
            </a:r>
            <a:r>
              <a:rPr lang="sk-SK" sz="900" dirty="0" err="1">
                <a:highlight>
                  <a:srgbClr val="FF00FF"/>
                </a:highlight>
                <a:latin typeface="Consolas" panose="020B0609020204030204" pitchFamily="49" charset="0"/>
              </a:rPr>
              <a:t>uA</a:t>
            </a:r>
            <a:r>
              <a:rPr lang="sk-SK" sz="900" dirty="0">
                <a:highlight>
                  <a:srgbClr val="FF00FF"/>
                </a:highlight>
                <a:latin typeface="Consolas" panose="020B0609020204030204" pitchFamily="49" charset="0"/>
              </a:rPr>
              <a:t> (</a:t>
            </a:r>
            <a:r>
              <a:rPr lang="sk-SK" sz="900" dirty="0" err="1">
                <a:highlight>
                  <a:srgbClr val="FF00FF"/>
                </a:highlight>
                <a:latin typeface="Consolas" panose="020B0609020204030204" pitchFamily="49" charset="0"/>
              </a:rPr>
              <a:t>shift</a:t>
            </a:r>
            <a:r>
              <a:rPr lang="sk-SK" sz="900" dirty="0">
                <a:highlight>
                  <a:srgbClr val="FF00FF"/>
                </a:highlight>
                <a:latin typeface="Consolas" panose="020B0609020204030204" pitchFamily="49" charset="0"/>
              </a:rPr>
              <a:t>) </a:t>
            </a:r>
          </a:p>
          <a:p>
            <a:r>
              <a:rPr lang="sk-SK" sz="900" dirty="0">
                <a:highlight>
                  <a:srgbClr val="FF00FF"/>
                </a:highlight>
                <a:latin typeface="Consolas" panose="020B0609020204030204" pitchFamily="49" charset="0"/>
              </a:rPr>
              <a:t>      [0/0] </a:t>
            </a:r>
            <a:r>
              <a:rPr lang="sk-SK" sz="900" dirty="0" err="1">
                <a:highlight>
                  <a:srgbClr val="FF00FF"/>
                </a:highlight>
                <a:latin typeface="Consolas" panose="020B0609020204030204" pitchFamily="49" charset="0"/>
              </a:rPr>
              <a:t>via</a:t>
            </a:r>
            <a:r>
              <a:rPr lang="sk-SK" sz="900" dirty="0">
                <a:highlight>
                  <a:srgbClr val="FF00FF"/>
                </a:highlight>
                <a:latin typeface="Consolas" panose="020B0609020204030204" pitchFamily="49" charset="0"/>
              </a:rPr>
              <a:t> fe80::5054:ff:fe09:6ab0, 1d00h, GigabitEthernet0/0/0/4</a:t>
            </a:r>
          </a:p>
          <a:p>
            <a:r>
              <a:rPr lang="sk-SK" sz="900" dirty="0">
                <a:highlight>
                  <a:srgbClr val="FF00FF"/>
                </a:highlight>
                <a:latin typeface="Consolas" panose="020B0609020204030204" pitchFamily="49" charset="0"/>
              </a:rPr>
              <a:t>L    fc00:ab00:2:e001::/80, SRv6 </a:t>
            </a:r>
            <a:r>
              <a:rPr lang="sk-SK" sz="900" dirty="0" err="1">
                <a:highlight>
                  <a:srgbClr val="FF00FF"/>
                </a:highlight>
                <a:latin typeface="Consolas" panose="020B0609020204030204" pitchFamily="49" charset="0"/>
              </a:rPr>
              <a:t>Endpoint</a:t>
            </a:r>
            <a:r>
              <a:rPr lang="sk-SK" sz="900" dirty="0">
                <a:highlight>
                  <a:srgbClr val="FF00FF"/>
                </a:highlight>
                <a:latin typeface="Consolas" panose="020B0609020204030204" pitchFamily="49" charset="0"/>
              </a:rPr>
              <a:t> </a:t>
            </a:r>
            <a:r>
              <a:rPr lang="sk-SK" sz="900" dirty="0" err="1">
                <a:highlight>
                  <a:srgbClr val="FF00FF"/>
                </a:highlight>
                <a:latin typeface="Consolas" panose="020B0609020204030204" pitchFamily="49" charset="0"/>
              </a:rPr>
              <a:t>uA</a:t>
            </a:r>
            <a:r>
              <a:rPr lang="sk-SK" sz="900" dirty="0">
                <a:highlight>
                  <a:srgbClr val="FF00FF"/>
                </a:highlight>
                <a:latin typeface="Consolas" panose="020B0609020204030204" pitchFamily="49" charset="0"/>
              </a:rPr>
              <a:t> (PSP/USD) </a:t>
            </a:r>
          </a:p>
          <a:p>
            <a:r>
              <a:rPr lang="sk-SK" sz="900" dirty="0">
                <a:highlight>
                  <a:srgbClr val="FF00FF"/>
                </a:highlight>
                <a:latin typeface="Consolas" panose="020B0609020204030204" pitchFamily="49" charset="0"/>
              </a:rPr>
              <a:t>      [0/0] </a:t>
            </a:r>
            <a:r>
              <a:rPr lang="sk-SK" sz="900" dirty="0" err="1">
                <a:highlight>
                  <a:srgbClr val="FF00FF"/>
                </a:highlight>
                <a:latin typeface="Consolas" panose="020B0609020204030204" pitchFamily="49" charset="0"/>
              </a:rPr>
              <a:t>via</a:t>
            </a:r>
            <a:r>
              <a:rPr lang="sk-SK" sz="900" dirty="0">
                <a:highlight>
                  <a:srgbClr val="FF00FF"/>
                </a:highlight>
                <a:latin typeface="Consolas" panose="020B0609020204030204" pitchFamily="49" charset="0"/>
              </a:rPr>
              <a:t> fe80::5054:ff:fe09:6ab0, 1d00h, GigabitEthernet0/0/0/4</a:t>
            </a:r>
          </a:p>
          <a:p>
            <a:r>
              <a:rPr lang="sk-SK" sz="900" dirty="0">
                <a:highlight>
                  <a:srgbClr val="FF00FF"/>
                </a:highlight>
                <a:latin typeface="Consolas" panose="020B0609020204030204" pitchFamily="49" charset="0"/>
              </a:rPr>
              <a:t>L    fc00:ab00:2:e002::/64, SRv6 </a:t>
            </a:r>
            <a:r>
              <a:rPr lang="sk-SK" sz="900" dirty="0" err="1">
                <a:highlight>
                  <a:srgbClr val="FF00FF"/>
                </a:highlight>
                <a:latin typeface="Consolas" panose="020B0609020204030204" pitchFamily="49" charset="0"/>
              </a:rPr>
              <a:t>Endpoint</a:t>
            </a:r>
            <a:r>
              <a:rPr lang="sk-SK" sz="900" dirty="0">
                <a:highlight>
                  <a:srgbClr val="FF00FF"/>
                </a:highlight>
                <a:latin typeface="Consolas" panose="020B0609020204030204" pitchFamily="49" charset="0"/>
              </a:rPr>
              <a:t> </a:t>
            </a:r>
            <a:r>
              <a:rPr lang="sk-SK" sz="900" dirty="0" err="1">
                <a:highlight>
                  <a:srgbClr val="FF00FF"/>
                </a:highlight>
                <a:latin typeface="Consolas" panose="020B0609020204030204" pitchFamily="49" charset="0"/>
              </a:rPr>
              <a:t>uA</a:t>
            </a:r>
            <a:r>
              <a:rPr lang="sk-SK" sz="900" dirty="0">
                <a:highlight>
                  <a:srgbClr val="FF00FF"/>
                </a:highlight>
                <a:latin typeface="Consolas" panose="020B0609020204030204" pitchFamily="49" charset="0"/>
              </a:rPr>
              <a:t> (</a:t>
            </a:r>
            <a:r>
              <a:rPr lang="sk-SK" sz="900" dirty="0" err="1">
                <a:highlight>
                  <a:srgbClr val="FF00FF"/>
                </a:highlight>
                <a:latin typeface="Consolas" panose="020B0609020204030204" pitchFamily="49" charset="0"/>
              </a:rPr>
              <a:t>shift</a:t>
            </a:r>
            <a:r>
              <a:rPr lang="sk-SK" sz="900" dirty="0">
                <a:highlight>
                  <a:srgbClr val="FF00FF"/>
                </a:highlight>
                <a:latin typeface="Consolas" panose="020B0609020204030204" pitchFamily="49" charset="0"/>
              </a:rPr>
              <a:t>) </a:t>
            </a:r>
          </a:p>
          <a:p>
            <a:r>
              <a:rPr lang="sk-SK" sz="900" dirty="0">
                <a:highlight>
                  <a:srgbClr val="FF00FF"/>
                </a:highlight>
                <a:latin typeface="Consolas" panose="020B0609020204030204" pitchFamily="49" charset="0"/>
              </a:rPr>
              <a:t>      [0/0] </a:t>
            </a:r>
            <a:r>
              <a:rPr lang="sk-SK" sz="900" dirty="0" err="1">
                <a:highlight>
                  <a:srgbClr val="FF00FF"/>
                </a:highlight>
                <a:latin typeface="Consolas" panose="020B0609020204030204" pitchFamily="49" charset="0"/>
              </a:rPr>
              <a:t>via</a:t>
            </a:r>
            <a:r>
              <a:rPr lang="sk-SK" sz="900" dirty="0">
                <a:highlight>
                  <a:srgbClr val="FF00FF"/>
                </a:highlight>
                <a:latin typeface="Consolas" panose="020B0609020204030204" pitchFamily="49" charset="0"/>
              </a:rPr>
              <a:t> fe80::5054:ff:fe1c:96f4, 1d00h, GigabitEthernet0/0/0/2</a:t>
            </a:r>
          </a:p>
          <a:p>
            <a:r>
              <a:rPr lang="sk-SK" sz="900" dirty="0">
                <a:highlight>
                  <a:srgbClr val="FF00FF"/>
                </a:highlight>
                <a:latin typeface="Consolas" panose="020B0609020204030204" pitchFamily="49" charset="0"/>
              </a:rPr>
              <a:t>L    fc00:ab00:2:e002::/80, SRv6 </a:t>
            </a:r>
            <a:r>
              <a:rPr lang="sk-SK" sz="900" dirty="0" err="1">
                <a:highlight>
                  <a:srgbClr val="FF00FF"/>
                </a:highlight>
                <a:latin typeface="Consolas" panose="020B0609020204030204" pitchFamily="49" charset="0"/>
              </a:rPr>
              <a:t>Endpoint</a:t>
            </a:r>
            <a:r>
              <a:rPr lang="sk-SK" sz="900" dirty="0">
                <a:highlight>
                  <a:srgbClr val="FF00FF"/>
                </a:highlight>
                <a:latin typeface="Consolas" panose="020B0609020204030204" pitchFamily="49" charset="0"/>
              </a:rPr>
              <a:t> </a:t>
            </a:r>
            <a:r>
              <a:rPr lang="sk-SK" sz="900" dirty="0" err="1">
                <a:highlight>
                  <a:srgbClr val="FF00FF"/>
                </a:highlight>
                <a:latin typeface="Consolas" panose="020B0609020204030204" pitchFamily="49" charset="0"/>
              </a:rPr>
              <a:t>uA</a:t>
            </a:r>
            <a:r>
              <a:rPr lang="sk-SK" sz="900" dirty="0">
                <a:highlight>
                  <a:srgbClr val="FF00FF"/>
                </a:highlight>
                <a:latin typeface="Consolas" panose="020B0609020204030204" pitchFamily="49" charset="0"/>
              </a:rPr>
              <a:t> (PSP/USD) </a:t>
            </a:r>
          </a:p>
          <a:p>
            <a:r>
              <a:rPr lang="sk-SK" sz="900" dirty="0">
                <a:highlight>
                  <a:srgbClr val="FF00FF"/>
                </a:highlight>
                <a:latin typeface="Consolas" panose="020B0609020204030204" pitchFamily="49" charset="0"/>
              </a:rPr>
              <a:t>      [0/0] </a:t>
            </a:r>
            <a:r>
              <a:rPr lang="sk-SK" sz="900" dirty="0" err="1">
                <a:highlight>
                  <a:srgbClr val="FF00FF"/>
                </a:highlight>
                <a:latin typeface="Consolas" panose="020B0609020204030204" pitchFamily="49" charset="0"/>
              </a:rPr>
              <a:t>via</a:t>
            </a:r>
            <a:r>
              <a:rPr lang="sk-SK" sz="900" dirty="0">
                <a:highlight>
                  <a:srgbClr val="FF00FF"/>
                </a:highlight>
                <a:latin typeface="Consolas" panose="020B0609020204030204" pitchFamily="49" charset="0"/>
              </a:rPr>
              <a:t> fe80::5054:ff:fe1c:96f4, 1d00h, GigabitEthernet0/0/0/2</a:t>
            </a:r>
          </a:p>
          <a:p>
            <a:r>
              <a:rPr lang="sk-SK" sz="900" dirty="0">
                <a:highlight>
                  <a:srgbClr val="FF0000"/>
                </a:highlight>
                <a:latin typeface="Consolas" panose="020B0609020204030204" pitchFamily="49" charset="0"/>
              </a:rPr>
              <a:t>i L2 fc00:ab00:3::/48 </a:t>
            </a:r>
          </a:p>
          <a:p>
            <a:r>
              <a:rPr lang="sk-SK" sz="900" dirty="0">
                <a:highlight>
                  <a:srgbClr val="FF0000"/>
                </a:highlight>
                <a:latin typeface="Consolas" panose="020B0609020204030204" pitchFamily="49" charset="0"/>
              </a:rPr>
              <a:t>      [115/11] </a:t>
            </a:r>
            <a:r>
              <a:rPr lang="sk-SK" sz="900" dirty="0" err="1">
                <a:highlight>
                  <a:srgbClr val="FF0000"/>
                </a:highlight>
                <a:latin typeface="Consolas" panose="020B0609020204030204" pitchFamily="49" charset="0"/>
              </a:rPr>
              <a:t>via</a:t>
            </a:r>
            <a:r>
              <a:rPr lang="sk-SK" sz="900" dirty="0">
                <a:highlight>
                  <a:srgbClr val="FF0000"/>
                </a:highlight>
                <a:latin typeface="Consolas" panose="020B0609020204030204" pitchFamily="49" charset="0"/>
              </a:rPr>
              <a:t> fe80::5054:ff:fe1c:96f4, 23:58:28, GigabitEthernet0/0/0/2</a:t>
            </a:r>
          </a:p>
          <a:p>
            <a:r>
              <a:rPr lang="sk-SK" sz="900" dirty="0">
                <a:highlight>
                  <a:srgbClr val="008080"/>
                </a:highlight>
                <a:latin typeface="Consolas" panose="020B0609020204030204" pitchFamily="49" charset="0"/>
              </a:rPr>
              <a:t>i L2 fc00:ab00:4::/48 </a:t>
            </a:r>
          </a:p>
          <a:p>
            <a:r>
              <a:rPr lang="sk-SK" sz="900" dirty="0">
                <a:highlight>
                  <a:srgbClr val="008080"/>
                </a:highlight>
                <a:latin typeface="Consolas" panose="020B0609020204030204" pitchFamily="49" charset="0"/>
              </a:rPr>
              <a:t>      [115/11] </a:t>
            </a:r>
            <a:r>
              <a:rPr lang="sk-SK" sz="900" dirty="0" err="1">
                <a:highlight>
                  <a:srgbClr val="008080"/>
                </a:highlight>
                <a:latin typeface="Consolas" panose="020B0609020204030204" pitchFamily="49" charset="0"/>
              </a:rPr>
              <a:t>via</a:t>
            </a:r>
            <a:r>
              <a:rPr lang="sk-SK" sz="900" dirty="0">
                <a:highlight>
                  <a:srgbClr val="008080"/>
                </a:highlight>
                <a:latin typeface="Consolas" panose="020B0609020204030204" pitchFamily="49" charset="0"/>
              </a:rPr>
              <a:t> fe80::5054:ff:fe09:6ab0, 23:56:42, GigabitEthernet0/0/0/4</a:t>
            </a:r>
          </a:p>
          <a:p>
            <a:r>
              <a:rPr lang="sk-SK" sz="900" dirty="0">
                <a:latin typeface="Consolas" panose="020B0609020204030204" pitchFamily="49" charset="0"/>
              </a:rPr>
              <a:t>L    fc00:ab00:e000::/48, SRv6 </a:t>
            </a:r>
            <a:r>
              <a:rPr lang="sk-SK" sz="900" dirty="0" err="1">
                <a:latin typeface="Consolas" panose="020B0609020204030204" pitchFamily="49" charset="0"/>
              </a:rPr>
              <a:t>Endpoint</a:t>
            </a:r>
            <a:r>
              <a:rPr lang="sk-SK" sz="900" dirty="0">
                <a:latin typeface="Consolas" panose="020B0609020204030204" pitchFamily="49" charset="0"/>
              </a:rPr>
              <a:t> </a:t>
            </a:r>
            <a:r>
              <a:rPr lang="sk-SK" sz="900" dirty="0" err="1">
                <a:latin typeface="Consolas" panose="020B0609020204030204" pitchFamily="49" charset="0"/>
              </a:rPr>
              <a:t>uA</a:t>
            </a:r>
            <a:r>
              <a:rPr lang="sk-SK" sz="900" dirty="0">
                <a:latin typeface="Consolas" panose="020B0609020204030204" pitchFamily="49" charset="0"/>
              </a:rPr>
              <a:t> (</a:t>
            </a:r>
            <a:r>
              <a:rPr lang="sk-SK" sz="900" dirty="0" err="1">
                <a:latin typeface="Consolas" panose="020B0609020204030204" pitchFamily="49" charset="0"/>
              </a:rPr>
              <a:t>shift</a:t>
            </a:r>
            <a:r>
              <a:rPr lang="sk-SK" sz="900" dirty="0">
                <a:latin typeface="Consolas" panose="020B0609020204030204" pitchFamily="49" charset="0"/>
              </a:rPr>
              <a:t>) </a:t>
            </a:r>
          </a:p>
          <a:p>
            <a:r>
              <a:rPr lang="sk-SK" sz="900" dirty="0">
                <a:latin typeface="Consolas" panose="020B0609020204030204" pitchFamily="49" charset="0"/>
              </a:rPr>
              <a:t>      [0/0] </a:t>
            </a:r>
            <a:r>
              <a:rPr lang="sk-SK" sz="900" dirty="0" err="1">
                <a:latin typeface="Consolas" panose="020B0609020204030204" pitchFamily="49" charset="0"/>
              </a:rPr>
              <a:t>via</a:t>
            </a:r>
            <a:r>
              <a:rPr lang="sk-SK" sz="900" dirty="0">
                <a:latin typeface="Consolas" panose="020B0609020204030204" pitchFamily="49" charset="0"/>
              </a:rPr>
              <a:t> fe80::5054:ff:fe14:94d4, 23:36:41, GigabitEthernet0/0/0/0</a:t>
            </a:r>
          </a:p>
          <a:p>
            <a:r>
              <a:rPr lang="sk-SK" sz="900" dirty="0">
                <a:latin typeface="Consolas" panose="020B0609020204030204" pitchFamily="49" charset="0"/>
              </a:rPr>
              <a:t>L    fc00:ab00:e000::/64, SRv6 </a:t>
            </a:r>
            <a:r>
              <a:rPr lang="sk-SK" sz="900" dirty="0" err="1">
                <a:latin typeface="Consolas" panose="020B0609020204030204" pitchFamily="49" charset="0"/>
              </a:rPr>
              <a:t>Endpoint</a:t>
            </a:r>
            <a:r>
              <a:rPr lang="sk-SK" sz="900" dirty="0">
                <a:latin typeface="Consolas" panose="020B0609020204030204" pitchFamily="49" charset="0"/>
              </a:rPr>
              <a:t> </a:t>
            </a:r>
            <a:r>
              <a:rPr lang="sk-SK" sz="900" dirty="0" err="1">
                <a:latin typeface="Consolas" panose="020B0609020204030204" pitchFamily="49" charset="0"/>
              </a:rPr>
              <a:t>uA</a:t>
            </a:r>
            <a:r>
              <a:rPr lang="sk-SK" sz="900" dirty="0">
                <a:latin typeface="Consolas" panose="020B0609020204030204" pitchFamily="49" charset="0"/>
              </a:rPr>
              <a:t> (PSP/USD) </a:t>
            </a:r>
          </a:p>
          <a:p>
            <a:r>
              <a:rPr lang="sk-SK" sz="900" dirty="0">
                <a:latin typeface="Consolas" panose="020B0609020204030204" pitchFamily="49" charset="0"/>
              </a:rPr>
              <a:t>      [0/0] </a:t>
            </a:r>
            <a:r>
              <a:rPr lang="sk-SK" sz="900" dirty="0" err="1">
                <a:latin typeface="Consolas" panose="020B0609020204030204" pitchFamily="49" charset="0"/>
              </a:rPr>
              <a:t>via</a:t>
            </a:r>
            <a:r>
              <a:rPr lang="sk-SK" sz="900" dirty="0">
                <a:latin typeface="Consolas" panose="020B0609020204030204" pitchFamily="49" charset="0"/>
              </a:rPr>
              <a:t> fe80::5054:ff:fe14:94d4, 23:36:41, GigabitEthernet0/0/0/0</a:t>
            </a:r>
          </a:p>
          <a:p>
            <a:r>
              <a:rPr lang="sk-SK" sz="900" dirty="0">
                <a:latin typeface="Consolas" panose="020B0609020204030204" pitchFamily="49" charset="0"/>
              </a:rPr>
              <a:t>L    fc00:ab00:e001::/48, SRv6 </a:t>
            </a:r>
            <a:r>
              <a:rPr lang="sk-SK" sz="900" dirty="0" err="1">
                <a:latin typeface="Consolas" panose="020B0609020204030204" pitchFamily="49" charset="0"/>
              </a:rPr>
              <a:t>Endpoint</a:t>
            </a:r>
            <a:r>
              <a:rPr lang="sk-SK" sz="900" dirty="0">
                <a:latin typeface="Consolas" panose="020B0609020204030204" pitchFamily="49" charset="0"/>
              </a:rPr>
              <a:t> </a:t>
            </a:r>
            <a:r>
              <a:rPr lang="sk-SK" sz="900" dirty="0" err="1">
                <a:latin typeface="Consolas" panose="020B0609020204030204" pitchFamily="49" charset="0"/>
              </a:rPr>
              <a:t>uA</a:t>
            </a:r>
            <a:r>
              <a:rPr lang="sk-SK" sz="900" dirty="0">
                <a:latin typeface="Consolas" panose="020B0609020204030204" pitchFamily="49" charset="0"/>
              </a:rPr>
              <a:t> (</a:t>
            </a:r>
            <a:r>
              <a:rPr lang="sk-SK" sz="900" dirty="0" err="1">
                <a:latin typeface="Consolas" panose="020B0609020204030204" pitchFamily="49" charset="0"/>
              </a:rPr>
              <a:t>shift</a:t>
            </a:r>
            <a:r>
              <a:rPr lang="sk-SK" sz="900" dirty="0">
                <a:latin typeface="Consolas" panose="020B0609020204030204" pitchFamily="49" charset="0"/>
              </a:rPr>
              <a:t>) </a:t>
            </a:r>
          </a:p>
          <a:p>
            <a:r>
              <a:rPr lang="sk-SK" sz="900" dirty="0">
                <a:latin typeface="Consolas" panose="020B0609020204030204" pitchFamily="49" charset="0"/>
              </a:rPr>
              <a:t>      [0/0] </a:t>
            </a:r>
            <a:r>
              <a:rPr lang="sk-SK" sz="900" dirty="0" err="1">
                <a:latin typeface="Consolas" panose="020B0609020204030204" pitchFamily="49" charset="0"/>
              </a:rPr>
              <a:t>via</a:t>
            </a:r>
            <a:r>
              <a:rPr lang="sk-SK" sz="900" dirty="0">
                <a:latin typeface="Consolas" panose="020B0609020204030204" pitchFamily="49" charset="0"/>
              </a:rPr>
              <a:t> fe80::5054:ff:fe09:6ab0, 1d00h, GigabitEthernet0/0/0/4</a:t>
            </a:r>
          </a:p>
          <a:p>
            <a:r>
              <a:rPr lang="sk-SK" sz="900" dirty="0">
                <a:latin typeface="Consolas" panose="020B0609020204030204" pitchFamily="49" charset="0"/>
              </a:rPr>
              <a:t>L    fc00:ab00:e001::/64, SRv6 </a:t>
            </a:r>
            <a:r>
              <a:rPr lang="sk-SK" sz="900" dirty="0" err="1">
                <a:latin typeface="Consolas" panose="020B0609020204030204" pitchFamily="49" charset="0"/>
              </a:rPr>
              <a:t>Endpoint</a:t>
            </a:r>
            <a:r>
              <a:rPr lang="sk-SK" sz="900" dirty="0">
                <a:latin typeface="Consolas" panose="020B0609020204030204" pitchFamily="49" charset="0"/>
              </a:rPr>
              <a:t> </a:t>
            </a:r>
            <a:r>
              <a:rPr lang="sk-SK" sz="900" dirty="0" err="1">
                <a:latin typeface="Consolas" panose="020B0609020204030204" pitchFamily="49" charset="0"/>
              </a:rPr>
              <a:t>uA</a:t>
            </a:r>
            <a:r>
              <a:rPr lang="sk-SK" sz="900" dirty="0">
                <a:latin typeface="Consolas" panose="020B0609020204030204" pitchFamily="49" charset="0"/>
              </a:rPr>
              <a:t> (PSP/USD) </a:t>
            </a:r>
          </a:p>
          <a:p>
            <a:r>
              <a:rPr lang="sk-SK" sz="900" dirty="0">
                <a:latin typeface="Consolas" panose="020B0609020204030204" pitchFamily="49" charset="0"/>
              </a:rPr>
              <a:t>      [0/0] </a:t>
            </a:r>
            <a:r>
              <a:rPr lang="sk-SK" sz="900" dirty="0" err="1">
                <a:latin typeface="Consolas" panose="020B0609020204030204" pitchFamily="49" charset="0"/>
              </a:rPr>
              <a:t>via</a:t>
            </a:r>
            <a:r>
              <a:rPr lang="sk-SK" sz="900" dirty="0">
                <a:latin typeface="Consolas" panose="020B0609020204030204" pitchFamily="49" charset="0"/>
              </a:rPr>
              <a:t> fe80::5054:ff:fe09:6ab0, 1d00h, GigabitEthernet0/0/0/4</a:t>
            </a:r>
          </a:p>
          <a:p>
            <a:r>
              <a:rPr lang="sk-SK" sz="900" dirty="0">
                <a:latin typeface="Consolas" panose="020B0609020204030204" pitchFamily="49" charset="0"/>
              </a:rPr>
              <a:t>L    fc00:ab00:e002::/48, SRv6 </a:t>
            </a:r>
            <a:r>
              <a:rPr lang="sk-SK" sz="900" dirty="0" err="1">
                <a:latin typeface="Consolas" panose="020B0609020204030204" pitchFamily="49" charset="0"/>
              </a:rPr>
              <a:t>Endpoint</a:t>
            </a:r>
            <a:r>
              <a:rPr lang="sk-SK" sz="900" dirty="0">
                <a:latin typeface="Consolas" panose="020B0609020204030204" pitchFamily="49" charset="0"/>
              </a:rPr>
              <a:t> </a:t>
            </a:r>
            <a:r>
              <a:rPr lang="sk-SK" sz="900" dirty="0" err="1">
                <a:latin typeface="Consolas" panose="020B0609020204030204" pitchFamily="49" charset="0"/>
              </a:rPr>
              <a:t>uA</a:t>
            </a:r>
            <a:r>
              <a:rPr lang="sk-SK" sz="900" dirty="0">
                <a:latin typeface="Consolas" panose="020B0609020204030204" pitchFamily="49" charset="0"/>
              </a:rPr>
              <a:t> (</a:t>
            </a:r>
            <a:r>
              <a:rPr lang="sk-SK" sz="900" dirty="0" err="1">
                <a:latin typeface="Consolas" panose="020B0609020204030204" pitchFamily="49" charset="0"/>
              </a:rPr>
              <a:t>shift</a:t>
            </a:r>
            <a:r>
              <a:rPr lang="sk-SK" sz="900" dirty="0">
                <a:latin typeface="Consolas" panose="020B0609020204030204" pitchFamily="49" charset="0"/>
              </a:rPr>
              <a:t>) </a:t>
            </a:r>
          </a:p>
          <a:p>
            <a:r>
              <a:rPr lang="sk-SK" sz="900" dirty="0">
                <a:latin typeface="Consolas" panose="020B0609020204030204" pitchFamily="49" charset="0"/>
              </a:rPr>
              <a:t>      [0/0] </a:t>
            </a:r>
            <a:r>
              <a:rPr lang="sk-SK" sz="900" dirty="0" err="1">
                <a:latin typeface="Consolas" panose="020B0609020204030204" pitchFamily="49" charset="0"/>
              </a:rPr>
              <a:t>via</a:t>
            </a:r>
            <a:r>
              <a:rPr lang="sk-SK" sz="900" dirty="0">
                <a:latin typeface="Consolas" panose="020B0609020204030204" pitchFamily="49" charset="0"/>
              </a:rPr>
              <a:t> fe80::5054:ff:fe1c:96f4, 1d00h, GigabitEthernet0/0/0/2</a:t>
            </a:r>
          </a:p>
          <a:p>
            <a:r>
              <a:rPr lang="sk-SK" sz="900" dirty="0">
                <a:latin typeface="Consolas" panose="020B0609020204030204" pitchFamily="49" charset="0"/>
              </a:rPr>
              <a:t>L    fc00:ab00:e002::/64, SRv6 </a:t>
            </a:r>
            <a:r>
              <a:rPr lang="sk-SK" sz="900" dirty="0" err="1">
                <a:latin typeface="Consolas" panose="020B0609020204030204" pitchFamily="49" charset="0"/>
              </a:rPr>
              <a:t>Endpoint</a:t>
            </a:r>
            <a:r>
              <a:rPr lang="sk-SK" sz="900" dirty="0">
                <a:latin typeface="Consolas" panose="020B0609020204030204" pitchFamily="49" charset="0"/>
              </a:rPr>
              <a:t> </a:t>
            </a:r>
            <a:r>
              <a:rPr lang="sk-SK" sz="900" dirty="0" err="1">
                <a:latin typeface="Consolas" panose="020B0609020204030204" pitchFamily="49" charset="0"/>
              </a:rPr>
              <a:t>uA</a:t>
            </a:r>
            <a:r>
              <a:rPr lang="sk-SK" sz="900" dirty="0">
                <a:latin typeface="Consolas" panose="020B0609020204030204" pitchFamily="49" charset="0"/>
              </a:rPr>
              <a:t> (PSP/USD) </a:t>
            </a:r>
          </a:p>
          <a:p>
            <a:r>
              <a:rPr lang="sk-SK" sz="900" dirty="0">
                <a:latin typeface="Consolas" panose="020B0609020204030204" pitchFamily="49" charset="0"/>
              </a:rPr>
              <a:t>      [0/0] </a:t>
            </a:r>
            <a:r>
              <a:rPr lang="sk-SK" sz="900" dirty="0" err="1">
                <a:latin typeface="Consolas" panose="020B0609020204030204" pitchFamily="49" charset="0"/>
              </a:rPr>
              <a:t>via</a:t>
            </a:r>
            <a:r>
              <a:rPr lang="sk-SK" sz="900" dirty="0">
                <a:latin typeface="Consolas" panose="020B0609020204030204" pitchFamily="49" charset="0"/>
              </a:rPr>
              <a:t> fe80::5054:ff:fe1c:96f4, 1d00h, GigabitEthernet0/0/0/2</a:t>
            </a:r>
          </a:p>
          <a:p>
            <a:r>
              <a:rPr lang="en-US" sz="900" dirty="0">
                <a:latin typeface="Consolas" panose="020B0609020204030204" pitchFamily="49" charset="0"/>
              </a:rPr>
              <a:t>-- Cut --</a:t>
            </a:r>
            <a:endParaRPr lang="sk-SK" sz="900" dirty="0">
              <a:latin typeface="Consolas" panose="020B0609020204030204" pitchFamily="49" charset="0"/>
            </a:endParaRPr>
          </a:p>
          <a:p>
            <a:r>
              <a:rPr lang="sk-SK" sz="900" dirty="0">
                <a:latin typeface="Consolas" panose="020B0609020204030204" pitchFamily="49" charset="0"/>
              </a:rPr>
              <a:t>RP/0/RP0/CPU0:R02#</a:t>
            </a:r>
            <a:endParaRPr lang="sk-SK" sz="9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34416571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2C8C810-2CB6-E947-7135-6DE4DB5D497E}"/>
              </a:ext>
            </a:extLst>
          </p:cNvPr>
          <p:cNvSpPr>
            <a:spLocks noGrp="1"/>
          </p:cNvSpPr>
          <p:nvPr>
            <p:ph type="body" sz="quarter" idx="11"/>
          </p:nvPr>
        </p:nvSpPr>
        <p:spPr/>
        <p:txBody>
          <a:bodyPr/>
          <a:lstStyle/>
          <a:p>
            <a:r>
              <a:rPr lang="en-US" dirty="0"/>
              <a:t>uSID</a:t>
            </a:r>
          </a:p>
        </p:txBody>
      </p:sp>
      <p:cxnSp>
        <p:nvCxnSpPr>
          <p:cNvPr id="17" name="Straight Arrow Connector 16">
            <a:extLst>
              <a:ext uri="{FF2B5EF4-FFF2-40B4-BE49-F238E27FC236}">
                <a16:creationId xmlns:a16="http://schemas.microsoft.com/office/drawing/2014/main" id="{33E3A1F2-97F8-DA6A-3BF4-2AADBDA7B990}"/>
              </a:ext>
            </a:extLst>
          </p:cNvPr>
          <p:cNvCxnSpPr>
            <a:cxnSpLocks/>
          </p:cNvCxnSpPr>
          <p:nvPr/>
        </p:nvCxnSpPr>
        <p:spPr>
          <a:xfrm>
            <a:off x="4845431" y="2670494"/>
            <a:ext cx="2275459" cy="17962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14FA83B6-F9AF-8857-BD09-EBA0577B0521}"/>
              </a:ext>
            </a:extLst>
          </p:cNvPr>
          <p:cNvSpPr/>
          <p:nvPr/>
        </p:nvSpPr>
        <p:spPr>
          <a:xfrm>
            <a:off x="0" y="4826675"/>
            <a:ext cx="8613647" cy="2031325"/>
          </a:xfrm>
          <a:prstGeom prst="rect">
            <a:avLst/>
          </a:prstGeom>
          <a:solidFill>
            <a:schemeClr val="bg1">
              <a:lumMod val="95000"/>
            </a:schemeClr>
          </a:solidFill>
          <a:ln>
            <a:solidFill>
              <a:schemeClr val="tx1"/>
            </a:solidFill>
          </a:ln>
          <a:effectLst/>
        </p:spPr>
        <p:txBody>
          <a:bodyPr wrap="square">
            <a:spAutoFit/>
          </a:bodyPr>
          <a:lstStyle/>
          <a:p>
            <a:r>
              <a:rPr lang="sk-SK" sz="900" dirty="0">
                <a:latin typeface="Consolas" panose="020B0609020204030204" pitchFamily="49" charset="0"/>
              </a:rPr>
              <a:t>RP/0/RP0/CPU0:R03#</a:t>
            </a:r>
            <a:r>
              <a:rPr lang="sk-SK" sz="900" b="1" dirty="0">
                <a:latin typeface="Consolas" panose="020B0609020204030204" pitchFamily="49" charset="0"/>
              </a:rPr>
              <a:t>show segment-routing srv6 </a:t>
            </a:r>
            <a:r>
              <a:rPr lang="sk-SK" sz="900" b="1" dirty="0" err="1">
                <a:latin typeface="Consolas" panose="020B0609020204030204" pitchFamily="49" charset="0"/>
              </a:rPr>
              <a:t>locator</a:t>
            </a:r>
            <a:r>
              <a:rPr lang="sk-SK" sz="900" b="1" dirty="0">
                <a:latin typeface="Consolas" panose="020B0609020204030204" pitchFamily="49" charset="0"/>
              </a:rPr>
              <a:t> </a:t>
            </a:r>
          </a:p>
          <a:p>
            <a:r>
              <a:rPr lang="sk-SK" sz="900" dirty="0" err="1">
                <a:latin typeface="Consolas" panose="020B0609020204030204" pitchFamily="49" charset="0"/>
              </a:rPr>
              <a:t>Name</a:t>
            </a:r>
            <a:r>
              <a:rPr lang="sk-SK" sz="900" dirty="0">
                <a:latin typeface="Consolas" panose="020B0609020204030204" pitchFamily="49" charset="0"/>
              </a:rPr>
              <a:t>                  ID       </a:t>
            </a:r>
            <a:r>
              <a:rPr lang="sk-SK" sz="900" dirty="0" err="1">
                <a:latin typeface="Consolas" panose="020B0609020204030204" pitchFamily="49" charset="0"/>
              </a:rPr>
              <a:t>Algo</a:t>
            </a:r>
            <a:r>
              <a:rPr lang="sk-SK" sz="900" dirty="0">
                <a:latin typeface="Consolas" panose="020B0609020204030204" pitchFamily="49" charset="0"/>
              </a:rPr>
              <a:t>  Prefix                    Status   </a:t>
            </a:r>
            <a:r>
              <a:rPr lang="sk-SK" sz="900" dirty="0" err="1">
                <a:latin typeface="Consolas" panose="020B0609020204030204" pitchFamily="49" charset="0"/>
              </a:rPr>
              <a:t>Flags</a:t>
            </a:r>
            <a:r>
              <a:rPr lang="sk-SK" sz="900" dirty="0">
                <a:latin typeface="Consolas" panose="020B0609020204030204" pitchFamily="49" charset="0"/>
              </a:rPr>
              <a:t>   </a:t>
            </a:r>
          </a:p>
          <a:p>
            <a:r>
              <a:rPr lang="sk-SK" sz="900" dirty="0">
                <a:latin typeface="Consolas" panose="020B0609020204030204" pitchFamily="49" charset="0"/>
              </a:rPr>
              <a:t>--------------------  -------  ----  ------------------------  -------  --------</a:t>
            </a:r>
          </a:p>
          <a:p>
            <a:r>
              <a:rPr lang="sk-SK" sz="900" dirty="0">
                <a:latin typeface="Consolas" panose="020B0609020204030204" pitchFamily="49" charset="0"/>
              </a:rPr>
              <a:t>Loc_uSID_Algo_0       2        0     fc00:ab00:3::/48          </a:t>
            </a:r>
            <a:r>
              <a:rPr lang="sk-SK" sz="900" dirty="0" err="1">
                <a:latin typeface="Consolas" panose="020B0609020204030204" pitchFamily="49" charset="0"/>
              </a:rPr>
              <a:t>Up</a:t>
            </a:r>
            <a:r>
              <a:rPr lang="sk-SK" sz="900" dirty="0">
                <a:latin typeface="Consolas" panose="020B0609020204030204" pitchFamily="49" charset="0"/>
              </a:rPr>
              <a:t>       U       </a:t>
            </a:r>
          </a:p>
          <a:p>
            <a:r>
              <a:rPr lang="sk-SK" sz="900" dirty="0">
                <a:latin typeface="Consolas" panose="020B0609020204030204" pitchFamily="49" charset="0"/>
              </a:rPr>
              <a:t>RP/0/RP0/CPU0:R03#</a:t>
            </a:r>
            <a:r>
              <a:rPr lang="sk-SK" sz="900" b="1" dirty="0">
                <a:latin typeface="Consolas" panose="020B0609020204030204" pitchFamily="49" charset="0"/>
              </a:rPr>
              <a:t>show segment-routing srv6 </a:t>
            </a:r>
            <a:r>
              <a:rPr lang="sk-SK" sz="900" b="1" dirty="0" err="1">
                <a:latin typeface="Consolas" panose="020B0609020204030204" pitchFamily="49" charset="0"/>
              </a:rPr>
              <a:t>sid</a:t>
            </a:r>
            <a:r>
              <a:rPr lang="sk-SK" sz="900" b="1" dirty="0">
                <a:latin typeface="Consolas" panose="020B0609020204030204" pitchFamily="49" charset="0"/>
              </a:rPr>
              <a:t> </a:t>
            </a:r>
            <a:r>
              <a:rPr lang="sk-SK" sz="900" b="1" dirty="0" err="1">
                <a:latin typeface="Consolas" panose="020B0609020204030204" pitchFamily="49" charset="0"/>
              </a:rPr>
              <a:t>all</a:t>
            </a:r>
            <a:r>
              <a:rPr lang="sk-SK" sz="900" b="1" dirty="0">
                <a:latin typeface="Consolas" panose="020B0609020204030204" pitchFamily="49" charset="0"/>
              </a:rPr>
              <a:t> </a:t>
            </a:r>
          </a:p>
          <a:p>
            <a:endParaRPr lang="sk-SK" sz="900" dirty="0">
              <a:latin typeface="Consolas" panose="020B0609020204030204" pitchFamily="49" charset="0"/>
            </a:endParaRPr>
          </a:p>
          <a:p>
            <a:r>
              <a:rPr lang="sk-SK" sz="900" dirty="0">
                <a:latin typeface="Consolas" panose="020B0609020204030204" pitchFamily="49" charset="0"/>
              </a:rPr>
              <a:t>*** </a:t>
            </a:r>
            <a:r>
              <a:rPr lang="sk-SK" sz="900" dirty="0" err="1">
                <a:latin typeface="Consolas" panose="020B0609020204030204" pitchFamily="49" charset="0"/>
              </a:rPr>
              <a:t>Locator</a:t>
            </a:r>
            <a:r>
              <a:rPr lang="sk-SK" sz="900" dirty="0">
                <a:latin typeface="Consolas" panose="020B0609020204030204" pitchFamily="49" charset="0"/>
              </a:rPr>
              <a:t>: 'Loc_uSID_Algo_0' *** </a:t>
            </a:r>
          </a:p>
          <a:p>
            <a:endParaRPr lang="sk-SK" sz="900" dirty="0">
              <a:latin typeface="Consolas" panose="020B0609020204030204" pitchFamily="49" charset="0"/>
            </a:endParaRPr>
          </a:p>
          <a:p>
            <a:r>
              <a:rPr lang="sk-SK" sz="900" dirty="0">
                <a:latin typeface="Consolas" panose="020B0609020204030204" pitchFamily="49" charset="0"/>
              </a:rPr>
              <a:t>SID                         </a:t>
            </a:r>
            <a:r>
              <a:rPr lang="sk-SK" sz="900" dirty="0" err="1">
                <a:latin typeface="Consolas" panose="020B0609020204030204" pitchFamily="49" charset="0"/>
              </a:rPr>
              <a:t>Behavior</a:t>
            </a:r>
            <a:r>
              <a:rPr lang="sk-SK" sz="900" dirty="0">
                <a:latin typeface="Consolas" panose="020B0609020204030204" pitchFamily="49" charset="0"/>
              </a:rPr>
              <a:t>          </a:t>
            </a:r>
            <a:r>
              <a:rPr lang="sk-SK" sz="900" dirty="0" err="1">
                <a:latin typeface="Consolas" panose="020B0609020204030204" pitchFamily="49" charset="0"/>
              </a:rPr>
              <a:t>Context</a:t>
            </a:r>
            <a:r>
              <a:rPr lang="sk-SK" sz="900" dirty="0">
                <a:latin typeface="Consolas" panose="020B0609020204030204" pitchFamily="49" charset="0"/>
              </a:rPr>
              <a:t>                           </a:t>
            </a:r>
            <a:r>
              <a:rPr lang="sk-SK" sz="900" dirty="0" err="1">
                <a:latin typeface="Consolas" panose="020B0609020204030204" pitchFamily="49" charset="0"/>
              </a:rPr>
              <a:t>Owner</a:t>
            </a:r>
            <a:r>
              <a:rPr lang="sk-SK" sz="900" dirty="0">
                <a:latin typeface="Consolas" panose="020B0609020204030204" pitchFamily="49" charset="0"/>
              </a:rPr>
              <a:t>               State  RW</a:t>
            </a:r>
          </a:p>
          <a:p>
            <a:r>
              <a:rPr lang="sk-SK" sz="900" dirty="0">
                <a:latin typeface="Consolas" panose="020B0609020204030204" pitchFamily="49" charset="0"/>
              </a:rPr>
              <a:t>--------------------------  ----------------  --------------------------------  ------------------  -----  --</a:t>
            </a:r>
          </a:p>
          <a:p>
            <a:r>
              <a:rPr lang="sk-SK" sz="900" dirty="0">
                <a:highlight>
                  <a:srgbClr val="FF0000"/>
                </a:highlight>
                <a:latin typeface="Consolas" panose="020B0609020204030204" pitchFamily="49" charset="0"/>
              </a:rPr>
              <a:t>fc00:ab00:3::               </a:t>
            </a:r>
            <a:r>
              <a:rPr lang="sk-SK" sz="900" dirty="0" err="1">
                <a:highlight>
                  <a:srgbClr val="FF0000"/>
                </a:highlight>
                <a:latin typeface="Consolas" panose="020B0609020204030204" pitchFamily="49" charset="0"/>
              </a:rPr>
              <a:t>uN</a:t>
            </a:r>
            <a:r>
              <a:rPr lang="sk-SK" sz="900" dirty="0">
                <a:highlight>
                  <a:srgbClr val="FF0000"/>
                </a:highlight>
                <a:latin typeface="Consolas" panose="020B0609020204030204" pitchFamily="49" charset="0"/>
              </a:rPr>
              <a:t> (PSP/USD)      'default':3                       </a:t>
            </a:r>
            <a:r>
              <a:rPr lang="sk-SK" sz="900" dirty="0" err="1">
                <a:highlight>
                  <a:srgbClr val="FF0000"/>
                </a:highlight>
                <a:latin typeface="Consolas" panose="020B0609020204030204" pitchFamily="49" charset="0"/>
              </a:rPr>
              <a:t>sidmgr</a:t>
            </a:r>
            <a:r>
              <a:rPr lang="sk-SK" sz="900" dirty="0">
                <a:highlight>
                  <a:srgbClr val="FF0000"/>
                </a:highlight>
                <a:latin typeface="Consolas" panose="020B0609020204030204" pitchFamily="49" charset="0"/>
              </a:rPr>
              <a:t>              </a:t>
            </a:r>
            <a:r>
              <a:rPr lang="sk-SK" sz="900" dirty="0" err="1">
                <a:highlight>
                  <a:srgbClr val="FF0000"/>
                </a:highlight>
                <a:latin typeface="Consolas" panose="020B0609020204030204" pitchFamily="49" charset="0"/>
              </a:rPr>
              <a:t>InUse</a:t>
            </a:r>
            <a:r>
              <a:rPr lang="sk-SK" sz="900" dirty="0">
                <a:highlight>
                  <a:srgbClr val="FF0000"/>
                </a:highlight>
                <a:latin typeface="Consolas" panose="020B0609020204030204" pitchFamily="49" charset="0"/>
              </a:rPr>
              <a:t>  Y </a:t>
            </a:r>
          </a:p>
          <a:p>
            <a:r>
              <a:rPr lang="sk-SK" sz="900" dirty="0">
                <a:highlight>
                  <a:srgbClr val="FF0000"/>
                </a:highlight>
                <a:latin typeface="Consolas" panose="020B0609020204030204" pitchFamily="49" charset="0"/>
              </a:rPr>
              <a:t>fc00:ab00:3:e000::          </a:t>
            </a:r>
            <a:r>
              <a:rPr lang="sk-SK" sz="900" dirty="0" err="1">
                <a:highlight>
                  <a:srgbClr val="FF0000"/>
                </a:highlight>
                <a:latin typeface="Consolas" panose="020B0609020204030204" pitchFamily="49" charset="0"/>
              </a:rPr>
              <a:t>uA</a:t>
            </a:r>
            <a:r>
              <a:rPr lang="sk-SK" sz="900" dirty="0">
                <a:highlight>
                  <a:srgbClr val="FF0000"/>
                </a:highlight>
                <a:latin typeface="Consolas" panose="020B0609020204030204" pitchFamily="49" charset="0"/>
              </a:rPr>
              <a:t> (PSP/USD)      [Gi0/0/0/2, </a:t>
            </a:r>
            <a:r>
              <a:rPr lang="sk-SK" sz="900" dirty="0" err="1">
                <a:highlight>
                  <a:srgbClr val="FF0000"/>
                </a:highlight>
                <a:latin typeface="Consolas" panose="020B0609020204030204" pitchFamily="49" charset="0"/>
              </a:rPr>
              <a:t>Link-Local</a:t>
            </a:r>
            <a:r>
              <a:rPr lang="sk-SK" sz="900" dirty="0">
                <a:highlight>
                  <a:srgbClr val="FF0000"/>
                </a:highlight>
                <a:latin typeface="Consolas" panose="020B0609020204030204" pitchFamily="49" charset="0"/>
              </a:rPr>
              <a:t>]:0         isis-1              </a:t>
            </a:r>
            <a:r>
              <a:rPr lang="sk-SK" sz="900" dirty="0" err="1">
                <a:highlight>
                  <a:srgbClr val="FF0000"/>
                </a:highlight>
                <a:latin typeface="Consolas" panose="020B0609020204030204" pitchFamily="49" charset="0"/>
              </a:rPr>
              <a:t>InUse</a:t>
            </a:r>
            <a:r>
              <a:rPr lang="sk-SK" sz="900" dirty="0">
                <a:highlight>
                  <a:srgbClr val="FF0000"/>
                </a:highlight>
                <a:latin typeface="Consolas" panose="020B0609020204030204" pitchFamily="49" charset="0"/>
              </a:rPr>
              <a:t>  Y </a:t>
            </a:r>
          </a:p>
          <a:p>
            <a:r>
              <a:rPr lang="sk-SK" sz="900" dirty="0">
                <a:highlight>
                  <a:srgbClr val="FF0000"/>
                </a:highlight>
                <a:latin typeface="Consolas" panose="020B0609020204030204" pitchFamily="49" charset="0"/>
              </a:rPr>
              <a:t>fc00:ab00:3:e001::          </a:t>
            </a:r>
            <a:r>
              <a:rPr lang="sk-SK" sz="900" dirty="0" err="1">
                <a:highlight>
                  <a:srgbClr val="FF0000"/>
                </a:highlight>
                <a:latin typeface="Consolas" panose="020B0609020204030204" pitchFamily="49" charset="0"/>
              </a:rPr>
              <a:t>uA</a:t>
            </a:r>
            <a:r>
              <a:rPr lang="sk-SK" sz="900" dirty="0">
                <a:highlight>
                  <a:srgbClr val="FF0000"/>
                </a:highlight>
                <a:latin typeface="Consolas" panose="020B0609020204030204" pitchFamily="49" charset="0"/>
              </a:rPr>
              <a:t> (PSP/USD)      [Gi0/0/0/3, </a:t>
            </a:r>
            <a:r>
              <a:rPr lang="sk-SK" sz="900" dirty="0" err="1">
                <a:highlight>
                  <a:srgbClr val="FF0000"/>
                </a:highlight>
                <a:latin typeface="Consolas" panose="020B0609020204030204" pitchFamily="49" charset="0"/>
              </a:rPr>
              <a:t>Link-Local</a:t>
            </a:r>
            <a:r>
              <a:rPr lang="sk-SK" sz="900" dirty="0">
                <a:highlight>
                  <a:srgbClr val="FF0000"/>
                </a:highlight>
                <a:latin typeface="Consolas" panose="020B0609020204030204" pitchFamily="49" charset="0"/>
              </a:rPr>
              <a:t>]:0         isis-1              </a:t>
            </a:r>
            <a:r>
              <a:rPr lang="sk-SK" sz="900" dirty="0" err="1">
                <a:highlight>
                  <a:srgbClr val="FF0000"/>
                </a:highlight>
                <a:latin typeface="Consolas" panose="020B0609020204030204" pitchFamily="49" charset="0"/>
              </a:rPr>
              <a:t>InUse</a:t>
            </a:r>
            <a:r>
              <a:rPr lang="sk-SK" sz="900" dirty="0">
                <a:highlight>
                  <a:srgbClr val="FF0000"/>
                </a:highlight>
                <a:latin typeface="Consolas" panose="020B0609020204030204" pitchFamily="49" charset="0"/>
              </a:rPr>
              <a:t>  Y </a:t>
            </a:r>
          </a:p>
          <a:p>
            <a:r>
              <a:rPr lang="sk-SK" sz="900" dirty="0">
                <a:latin typeface="Consolas" panose="020B0609020204030204" pitchFamily="49" charset="0"/>
              </a:rPr>
              <a:t>RP/0/RP0/CPU0:R03#</a:t>
            </a:r>
            <a:endParaRPr lang="sk-SK" sz="900" dirty="0">
              <a:solidFill>
                <a:srgbClr val="FF0000"/>
              </a:solidFill>
              <a:latin typeface="Consolas" panose="020B0609020204030204" pitchFamily="49" charset="0"/>
            </a:endParaRPr>
          </a:p>
        </p:txBody>
      </p:sp>
      <p:pic>
        <p:nvPicPr>
          <p:cNvPr id="23" name="Picture 22" descr="A diagram of a network&#10;&#10;Description automatically generated">
            <a:extLst>
              <a:ext uri="{FF2B5EF4-FFF2-40B4-BE49-F238E27FC236}">
                <a16:creationId xmlns:a16="http://schemas.microsoft.com/office/drawing/2014/main" id="{D85336B3-FEBA-AABA-3898-FABD567975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4718" y="44814"/>
            <a:ext cx="9257282" cy="1713245"/>
          </a:xfrm>
          <a:prstGeom prst="rect">
            <a:avLst/>
          </a:prstGeom>
        </p:spPr>
      </p:pic>
      <p:sp>
        <p:nvSpPr>
          <p:cNvPr id="21" name="Rectangle 20">
            <a:extLst>
              <a:ext uri="{FF2B5EF4-FFF2-40B4-BE49-F238E27FC236}">
                <a16:creationId xmlns:a16="http://schemas.microsoft.com/office/drawing/2014/main" id="{0F650007-BBAE-8DD1-5CC0-090B2134B029}"/>
              </a:ext>
            </a:extLst>
          </p:cNvPr>
          <p:cNvSpPr/>
          <p:nvPr/>
        </p:nvSpPr>
        <p:spPr>
          <a:xfrm>
            <a:off x="7913751" y="1086326"/>
            <a:ext cx="642366" cy="701769"/>
          </a:xfrm>
          <a:prstGeom prst="rect">
            <a:avLst/>
          </a:prstGeom>
          <a:noFill/>
          <a:ln w="254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A230AD45-DE09-0369-F10B-30642BF7FAB6}"/>
              </a:ext>
            </a:extLst>
          </p:cNvPr>
          <p:cNvSpPr>
            <a:spLocks noGrp="1"/>
          </p:cNvSpPr>
          <p:nvPr>
            <p:ph type="body" sz="quarter" idx="10"/>
          </p:nvPr>
        </p:nvSpPr>
        <p:spPr>
          <a:xfrm>
            <a:off x="110490" y="1437211"/>
            <a:ext cx="4809744" cy="2182098"/>
          </a:xfrm>
        </p:spPr>
        <p:txBody>
          <a:bodyPr/>
          <a:lstStyle/>
          <a:p>
            <a:r>
              <a:rPr lang="en-US" sz="1400" dirty="0"/>
              <a:t>R01: </a:t>
            </a:r>
            <a:r>
              <a:rPr lang="en-US" sz="1400" dirty="0">
                <a:highlight>
                  <a:srgbClr val="FFFF00"/>
                </a:highlight>
              </a:rPr>
              <a:t>Lo0=2001:9999::1/128</a:t>
            </a:r>
            <a:r>
              <a:rPr lang="en-US" sz="1400" dirty="0"/>
              <a:t>; </a:t>
            </a:r>
            <a:r>
              <a:rPr lang="en-US" sz="1400" dirty="0">
                <a:highlight>
                  <a:srgbClr val="00FF00"/>
                </a:highlight>
              </a:rPr>
              <a:t>Locator=fc00:ab00:1::/48</a:t>
            </a:r>
            <a:r>
              <a:rPr lang="en-US" sz="1400" dirty="0"/>
              <a:t>; NET=49.0001.0000.0000.0001.00</a:t>
            </a:r>
          </a:p>
          <a:p>
            <a:r>
              <a:rPr lang="en-US" sz="1400" dirty="0"/>
              <a:t>R02: </a:t>
            </a:r>
            <a:r>
              <a:rPr lang="en-US" sz="1400" dirty="0">
                <a:highlight>
                  <a:srgbClr val="00FFFF"/>
                </a:highlight>
              </a:rPr>
              <a:t>Lo0=2001:9999::2/128</a:t>
            </a:r>
            <a:r>
              <a:rPr lang="en-US" sz="1400" dirty="0"/>
              <a:t>; </a:t>
            </a:r>
            <a:r>
              <a:rPr lang="en-US" sz="1400" dirty="0">
                <a:highlight>
                  <a:srgbClr val="FF00FF"/>
                </a:highlight>
              </a:rPr>
              <a:t>Locator=fc00:ab00:2::/48</a:t>
            </a:r>
            <a:r>
              <a:rPr lang="en-US" sz="1400" dirty="0"/>
              <a:t>; NET=49.0001.0000.0000.0002.00</a:t>
            </a:r>
          </a:p>
          <a:p>
            <a:r>
              <a:rPr lang="en-US" sz="1400" dirty="0"/>
              <a:t>R03: </a:t>
            </a:r>
            <a:r>
              <a:rPr lang="en-US" sz="1400" dirty="0">
                <a:solidFill>
                  <a:schemeClr val="bg1"/>
                </a:solidFill>
                <a:highlight>
                  <a:srgbClr val="0000FF"/>
                </a:highlight>
              </a:rPr>
              <a:t>Lo0=2001:9999::3/128</a:t>
            </a:r>
            <a:r>
              <a:rPr lang="en-US" sz="1400" dirty="0"/>
              <a:t>; </a:t>
            </a:r>
            <a:r>
              <a:rPr lang="en-US" sz="1400" dirty="0">
                <a:highlight>
                  <a:srgbClr val="FF0000"/>
                </a:highlight>
              </a:rPr>
              <a:t>Locator=fc00:ab00:3::/48</a:t>
            </a:r>
            <a:r>
              <a:rPr lang="en-US" sz="1400" dirty="0"/>
              <a:t>; NET=49.0001.0000.0000.0003.00</a:t>
            </a:r>
          </a:p>
          <a:p>
            <a:r>
              <a:rPr lang="en-US" sz="1400" dirty="0"/>
              <a:t>R04: </a:t>
            </a:r>
            <a:r>
              <a:rPr lang="en-US" sz="1400" dirty="0">
                <a:solidFill>
                  <a:schemeClr val="bg1"/>
                </a:solidFill>
                <a:highlight>
                  <a:srgbClr val="000080"/>
                </a:highlight>
              </a:rPr>
              <a:t>Lo0=2001:9999::4/128</a:t>
            </a:r>
            <a:r>
              <a:rPr lang="en-US" sz="1400" dirty="0"/>
              <a:t>; </a:t>
            </a:r>
            <a:r>
              <a:rPr lang="en-US" sz="1400" dirty="0">
                <a:highlight>
                  <a:srgbClr val="008080"/>
                </a:highlight>
              </a:rPr>
              <a:t>Locator=fc00:ab00:4::/48</a:t>
            </a:r>
            <a:r>
              <a:rPr lang="en-US" sz="1400" dirty="0"/>
              <a:t>; NET=49.0001.0000.0000.0004.00</a:t>
            </a:r>
          </a:p>
          <a:p>
            <a:endParaRPr lang="en-US" sz="1400" dirty="0"/>
          </a:p>
        </p:txBody>
      </p:sp>
      <p:sp>
        <p:nvSpPr>
          <p:cNvPr id="7" name="Rectangle 6">
            <a:extLst>
              <a:ext uri="{FF2B5EF4-FFF2-40B4-BE49-F238E27FC236}">
                <a16:creationId xmlns:a16="http://schemas.microsoft.com/office/drawing/2014/main" id="{0967F153-BAB2-037A-945A-78B4F6704383}"/>
              </a:ext>
            </a:extLst>
          </p:cNvPr>
          <p:cNvSpPr/>
          <p:nvPr/>
        </p:nvSpPr>
        <p:spPr>
          <a:xfrm>
            <a:off x="7121525" y="1505417"/>
            <a:ext cx="5069840" cy="5355312"/>
          </a:xfrm>
          <a:prstGeom prst="rect">
            <a:avLst/>
          </a:prstGeom>
          <a:solidFill>
            <a:schemeClr val="bg1">
              <a:lumMod val="95000"/>
            </a:schemeClr>
          </a:solidFill>
          <a:ln>
            <a:solidFill>
              <a:schemeClr val="tx1"/>
            </a:solidFill>
          </a:ln>
          <a:effectLst/>
        </p:spPr>
        <p:txBody>
          <a:bodyPr wrap="square">
            <a:spAutoFit/>
          </a:bodyPr>
          <a:lstStyle/>
          <a:p>
            <a:r>
              <a:rPr lang="sk-SK" sz="900" dirty="0">
                <a:latin typeface="Consolas" panose="020B0609020204030204" pitchFamily="49" charset="0"/>
              </a:rPr>
              <a:t>RP/0/RP0/CPU0:</a:t>
            </a:r>
            <a:r>
              <a:rPr lang="sk-SK" sz="900" b="1" dirty="0">
                <a:latin typeface="Consolas" panose="020B0609020204030204" pitchFamily="49" charset="0"/>
              </a:rPr>
              <a:t>R01</a:t>
            </a:r>
            <a:r>
              <a:rPr lang="sk-SK" sz="900" dirty="0">
                <a:latin typeface="Consolas" panose="020B0609020204030204" pitchFamily="49" charset="0"/>
              </a:rPr>
              <a:t>#sh </a:t>
            </a:r>
            <a:r>
              <a:rPr lang="sk-SK" sz="900" dirty="0" err="1">
                <a:latin typeface="Consolas" panose="020B0609020204030204" pitchFamily="49" charset="0"/>
              </a:rPr>
              <a:t>route</a:t>
            </a:r>
            <a:r>
              <a:rPr lang="sk-SK" sz="900" dirty="0">
                <a:latin typeface="Consolas" panose="020B0609020204030204" pitchFamily="49" charset="0"/>
              </a:rPr>
              <a:t> ipv6</a:t>
            </a:r>
          </a:p>
          <a:p>
            <a:r>
              <a:rPr lang="en-US" sz="900" dirty="0">
                <a:latin typeface="Consolas" panose="020B0609020204030204" pitchFamily="49" charset="0"/>
              </a:rPr>
              <a:t>-- Cut --</a:t>
            </a:r>
            <a:endParaRPr lang="sk-SK" sz="900" dirty="0">
              <a:latin typeface="Consolas" panose="020B0609020204030204" pitchFamily="49" charset="0"/>
            </a:endParaRPr>
          </a:p>
          <a:p>
            <a:r>
              <a:rPr lang="sk-SK" sz="900" dirty="0">
                <a:latin typeface="Consolas" panose="020B0609020204030204" pitchFamily="49" charset="0"/>
              </a:rPr>
              <a:t>L    ::ffff:127.0.0.0/104 [0/0] </a:t>
            </a:r>
            <a:r>
              <a:rPr lang="sk-SK" sz="900" dirty="0" err="1">
                <a:latin typeface="Consolas" panose="020B0609020204030204" pitchFamily="49" charset="0"/>
              </a:rPr>
              <a:t>via</a:t>
            </a:r>
            <a:r>
              <a:rPr lang="sk-SK" sz="900" dirty="0">
                <a:latin typeface="Consolas" panose="020B0609020204030204" pitchFamily="49" charset="0"/>
              </a:rPr>
              <a:t> ::, 1d04h</a:t>
            </a:r>
          </a:p>
          <a:p>
            <a:r>
              <a:rPr lang="sk-SK" sz="900" dirty="0">
                <a:highlight>
                  <a:srgbClr val="FFFF00"/>
                </a:highlight>
                <a:latin typeface="Consolas" panose="020B0609020204030204" pitchFamily="49" charset="0"/>
              </a:rPr>
              <a:t>i L2 2001:9999::1/128 </a:t>
            </a:r>
          </a:p>
          <a:p>
            <a:r>
              <a:rPr lang="sk-SK" sz="900" dirty="0">
                <a:highlight>
                  <a:srgbClr val="FFFF00"/>
                </a:highlight>
                <a:latin typeface="Consolas" panose="020B0609020204030204" pitchFamily="49" charset="0"/>
              </a:rPr>
              <a:t>      [115/20] </a:t>
            </a:r>
            <a:r>
              <a:rPr lang="sk-SK" sz="900" dirty="0" err="1">
                <a:highlight>
                  <a:srgbClr val="FFFF00"/>
                </a:highlight>
                <a:latin typeface="Consolas" panose="020B0609020204030204" pitchFamily="49" charset="0"/>
              </a:rPr>
              <a:t>via</a:t>
            </a:r>
            <a:r>
              <a:rPr lang="sk-SK" sz="900" dirty="0">
                <a:highlight>
                  <a:srgbClr val="FFFF00"/>
                </a:highlight>
                <a:latin typeface="Consolas" panose="020B0609020204030204" pitchFamily="49" charset="0"/>
              </a:rPr>
              <a:t> fe80::5054:ff:fe03:dd9a, 23:43:28, GigabitEthernet0/0/0/2</a:t>
            </a:r>
          </a:p>
          <a:p>
            <a:r>
              <a:rPr lang="sk-SK" sz="900" dirty="0">
                <a:highlight>
                  <a:srgbClr val="00FFFF"/>
                </a:highlight>
                <a:latin typeface="Consolas" panose="020B0609020204030204" pitchFamily="49" charset="0"/>
              </a:rPr>
              <a:t>i L2 2001:9999::2/128 </a:t>
            </a:r>
          </a:p>
          <a:p>
            <a:r>
              <a:rPr lang="sk-SK" sz="900" dirty="0">
                <a:highlight>
                  <a:srgbClr val="00FFFF"/>
                </a:highlight>
                <a:latin typeface="Consolas" panose="020B0609020204030204" pitchFamily="49" charset="0"/>
              </a:rPr>
              <a:t>      [115/10] </a:t>
            </a:r>
            <a:r>
              <a:rPr lang="sk-SK" sz="900" dirty="0" err="1">
                <a:highlight>
                  <a:srgbClr val="00FFFF"/>
                </a:highlight>
                <a:latin typeface="Consolas" panose="020B0609020204030204" pitchFamily="49" charset="0"/>
              </a:rPr>
              <a:t>via</a:t>
            </a:r>
            <a:r>
              <a:rPr lang="sk-SK" sz="900" dirty="0">
                <a:highlight>
                  <a:srgbClr val="00FFFF"/>
                </a:highlight>
                <a:latin typeface="Consolas" panose="020B0609020204030204" pitchFamily="49" charset="0"/>
              </a:rPr>
              <a:t> fe80::5054:ff:fe03:dd9a, 1d00h, GigabitEthernet0/0/0/2</a:t>
            </a:r>
          </a:p>
          <a:p>
            <a:r>
              <a:rPr lang="sk-SK" sz="900" dirty="0">
                <a:solidFill>
                  <a:schemeClr val="bg1"/>
                </a:solidFill>
                <a:highlight>
                  <a:srgbClr val="0000FF"/>
                </a:highlight>
                <a:latin typeface="Consolas" panose="020B0609020204030204" pitchFamily="49" charset="0"/>
              </a:rPr>
              <a:t>L    2001:9999::3/128 </a:t>
            </a:r>
            <a:r>
              <a:rPr lang="sk-SK" sz="900" dirty="0" err="1">
                <a:solidFill>
                  <a:schemeClr val="bg1"/>
                </a:solidFill>
                <a:highlight>
                  <a:srgbClr val="0000FF"/>
                </a:highlight>
                <a:latin typeface="Consolas" panose="020B0609020204030204" pitchFamily="49" charset="0"/>
              </a:rPr>
              <a:t>is</a:t>
            </a:r>
            <a:r>
              <a:rPr lang="sk-SK" sz="900" dirty="0">
                <a:solidFill>
                  <a:schemeClr val="bg1"/>
                </a:solidFill>
                <a:highlight>
                  <a:srgbClr val="0000FF"/>
                </a:highlight>
                <a:latin typeface="Consolas" panose="020B0609020204030204" pitchFamily="49" charset="0"/>
              </a:rPr>
              <a:t> </a:t>
            </a:r>
            <a:r>
              <a:rPr lang="sk-SK" sz="900" dirty="0" err="1">
                <a:solidFill>
                  <a:schemeClr val="bg1"/>
                </a:solidFill>
                <a:highlight>
                  <a:srgbClr val="0000FF"/>
                </a:highlight>
                <a:latin typeface="Consolas" panose="020B0609020204030204" pitchFamily="49" charset="0"/>
              </a:rPr>
              <a:t>directly</a:t>
            </a:r>
            <a:r>
              <a:rPr lang="sk-SK" sz="900" dirty="0">
                <a:solidFill>
                  <a:schemeClr val="bg1"/>
                </a:solidFill>
                <a:highlight>
                  <a:srgbClr val="0000FF"/>
                </a:highlight>
                <a:latin typeface="Consolas" panose="020B0609020204030204" pitchFamily="49" charset="0"/>
              </a:rPr>
              <a:t> </a:t>
            </a:r>
            <a:r>
              <a:rPr lang="sk-SK" sz="900" dirty="0" err="1">
                <a:solidFill>
                  <a:schemeClr val="bg1"/>
                </a:solidFill>
                <a:highlight>
                  <a:srgbClr val="0000FF"/>
                </a:highlight>
                <a:latin typeface="Consolas" panose="020B0609020204030204" pitchFamily="49" charset="0"/>
              </a:rPr>
              <a:t>connected</a:t>
            </a:r>
            <a:r>
              <a:rPr lang="sk-SK" sz="900" dirty="0">
                <a:solidFill>
                  <a:schemeClr val="bg1"/>
                </a:solidFill>
                <a:highlight>
                  <a:srgbClr val="0000FF"/>
                </a:highlight>
                <a:latin typeface="Consolas" panose="020B0609020204030204" pitchFamily="49" charset="0"/>
              </a:rPr>
              <a:t>, 1d04h, Loopback0</a:t>
            </a:r>
          </a:p>
          <a:p>
            <a:r>
              <a:rPr lang="sk-SK" sz="900" dirty="0">
                <a:solidFill>
                  <a:schemeClr val="bg1"/>
                </a:solidFill>
                <a:highlight>
                  <a:srgbClr val="000080"/>
                </a:highlight>
                <a:latin typeface="Consolas" panose="020B0609020204030204" pitchFamily="49" charset="0"/>
              </a:rPr>
              <a:t>i L2 2001:9999::4/128 </a:t>
            </a:r>
          </a:p>
          <a:p>
            <a:r>
              <a:rPr lang="sk-SK" sz="900" dirty="0">
                <a:solidFill>
                  <a:schemeClr val="bg1"/>
                </a:solidFill>
                <a:highlight>
                  <a:srgbClr val="000080"/>
                </a:highlight>
                <a:latin typeface="Consolas" panose="020B0609020204030204" pitchFamily="49" charset="0"/>
              </a:rPr>
              <a:t>      [115/10] </a:t>
            </a:r>
            <a:r>
              <a:rPr lang="sk-SK" sz="900" dirty="0" err="1">
                <a:solidFill>
                  <a:schemeClr val="bg1"/>
                </a:solidFill>
                <a:highlight>
                  <a:srgbClr val="000080"/>
                </a:highlight>
                <a:latin typeface="Consolas" panose="020B0609020204030204" pitchFamily="49" charset="0"/>
              </a:rPr>
              <a:t>via</a:t>
            </a:r>
            <a:r>
              <a:rPr lang="sk-SK" sz="900" dirty="0">
                <a:solidFill>
                  <a:schemeClr val="bg1"/>
                </a:solidFill>
                <a:highlight>
                  <a:srgbClr val="000080"/>
                </a:highlight>
                <a:latin typeface="Consolas" panose="020B0609020204030204" pitchFamily="49" charset="0"/>
              </a:rPr>
              <a:t> fe80::5054:ff:fe11:2f5e, 1d00h, GigabitEthernet0/0/0/3</a:t>
            </a:r>
          </a:p>
          <a:p>
            <a:r>
              <a:rPr lang="sk-SK" sz="900" dirty="0">
                <a:highlight>
                  <a:srgbClr val="00FF00"/>
                </a:highlight>
                <a:latin typeface="Consolas" panose="020B0609020204030204" pitchFamily="49" charset="0"/>
              </a:rPr>
              <a:t>i L2 fc00:ab00:1::/48 </a:t>
            </a:r>
          </a:p>
          <a:p>
            <a:r>
              <a:rPr lang="sk-SK" sz="900" dirty="0">
                <a:highlight>
                  <a:srgbClr val="00FF00"/>
                </a:highlight>
                <a:latin typeface="Consolas" panose="020B0609020204030204" pitchFamily="49" charset="0"/>
              </a:rPr>
              <a:t>      [115/21] </a:t>
            </a:r>
            <a:r>
              <a:rPr lang="sk-SK" sz="900" dirty="0" err="1">
                <a:highlight>
                  <a:srgbClr val="00FF00"/>
                </a:highlight>
                <a:latin typeface="Consolas" panose="020B0609020204030204" pitchFamily="49" charset="0"/>
              </a:rPr>
              <a:t>via</a:t>
            </a:r>
            <a:r>
              <a:rPr lang="sk-SK" sz="900" dirty="0">
                <a:highlight>
                  <a:srgbClr val="00FF00"/>
                </a:highlight>
                <a:latin typeface="Consolas" panose="020B0609020204030204" pitchFamily="49" charset="0"/>
              </a:rPr>
              <a:t> fe80::5054:ff:fe03:dd9a, 23:43:16, GigabitEthernet0/0/0/2</a:t>
            </a:r>
          </a:p>
          <a:p>
            <a:r>
              <a:rPr lang="sk-SK" sz="900" dirty="0">
                <a:highlight>
                  <a:srgbClr val="FF00FF"/>
                </a:highlight>
                <a:latin typeface="Consolas" panose="020B0609020204030204" pitchFamily="49" charset="0"/>
              </a:rPr>
              <a:t>i L2 fc00:ab00:2::/48 </a:t>
            </a:r>
          </a:p>
          <a:p>
            <a:r>
              <a:rPr lang="sk-SK" sz="900" dirty="0">
                <a:highlight>
                  <a:srgbClr val="FF00FF"/>
                </a:highlight>
                <a:latin typeface="Consolas" panose="020B0609020204030204" pitchFamily="49" charset="0"/>
              </a:rPr>
              <a:t>      [115/11] </a:t>
            </a:r>
            <a:r>
              <a:rPr lang="sk-SK" sz="900" dirty="0" err="1">
                <a:highlight>
                  <a:srgbClr val="FF00FF"/>
                </a:highlight>
                <a:latin typeface="Consolas" panose="020B0609020204030204" pitchFamily="49" charset="0"/>
              </a:rPr>
              <a:t>via</a:t>
            </a:r>
            <a:r>
              <a:rPr lang="sk-SK" sz="900" dirty="0">
                <a:highlight>
                  <a:srgbClr val="FF00FF"/>
                </a:highlight>
                <a:latin typeface="Consolas" panose="020B0609020204030204" pitchFamily="49" charset="0"/>
              </a:rPr>
              <a:t> fe80::5054:ff:fe03:dd9a, 23:43:54, GigabitEthernet0/0/0/2</a:t>
            </a:r>
          </a:p>
          <a:p>
            <a:r>
              <a:rPr lang="sk-SK" sz="900" dirty="0">
                <a:highlight>
                  <a:srgbClr val="FF0000"/>
                </a:highlight>
                <a:latin typeface="Consolas" panose="020B0609020204030204" pitchFamily="49" charset="0"/>
              </a:rPr>
              <a:t>L    fc00:ab00:3::/48, SRv6 </a:t>
            </a:r>
            <a:r>
              <a:rPr lang="sk-SK" sz="900" dirty="0" err="1">
                <a:highlight>
                  <a:srgbClr val="FF0000"/>
                </a:highlight>
                <a:latin typeface="Consolas" panose="020B0609020204030204" pitchFamily="49" charset="0"/>
              </a:rPr>
              <a:t>Endpoint</a:t>
            </a:r>
            <a:r>
              <a:rPr lang="sk-SK" sz="900" dirty="0">
                <a:highlight>
                  <a:srgbClr val="FF0000"/>
                </a:highlight>
                <a:latin typeface="Consolas" panose="020B0609020204030204" pitchFamily="49" charset="0"/>
              </a:rPr>
              <a:t> </a:t>
            </a:r>
            <a:r>
              <a:rPr lang="sk-SK" sz="900" dirty="0" err="1">
                <a:highlight>
                  <a:srgbClr val="FF0000"/>
                </a:highlight>
                <a:latin typeface="Consolas" panose="020B0609020204030204" pitchFamily="49" charset="0"/>
              </a:rPr>
              <a:t>uN</a:t>
            </a:r>
            <a:r>
              <a:rPr lang="sk-SK" sz="900" dirty="0">
                <a:highlight>
                  <a:srgbClr val="FF0000"/>
                </a:highlight>
                <a:latin typeface="Consolas" panose="020B0609020204030204" pitchFamily="49" charset="0"/>
              </a:rPr>
              <a:t> (</a:t>
            </a:r>
            <a:r>
              <a:rPr lang="sk-SK" sz="900" dirty="0" err="1">
                <a:highlight>
                  <a:srgbClr val="FF0000"/>
                </a:highlight>
                <a:latin typeface="Consolas" panose="020B0609020204030204" pitchFamily="49" charset="0"/>
              </a:rPr>
              <a:t>shift</a:t>
            </a:r>
            <a:r>
              <a:rPr lang="sk-SK" sz="900" dirty="0">
                <a:highlight>
                  <a:srgbClr val="FF0000"/>
                </a:highlight>
                <a:latin typeface="Consolas" panose="020B0609020204030204" pitchFamily="49" charset="0"/>
              </a:rPr>
              <a:t>) </a:t>
            </a:r>
          </a:p>
          <a:p>
            <a:r>
              <a:rPr lang="sk-SK" sz="900" dirty="0">
                <a:highlight>
                  <a:srgbClr val="FF0000"/>
                </a:highlight>
                <a:latin typeface="Consolas" panose="020B0609020204030204" pitchFamily="49" charset="0"/>
              </a:rPr>
              <a:t>      [0/0] </a:t>
            </a:r>
            <a:r>
              <a:rPr lang="sk-SK" sz="900" dirty="0" err="1">
                <a:highlight>
                  <a:srgbClr val="FF0000"/>
                </a:highlight>
                <a:latin typeface="Consolas" panose="020B0609020204030204" pitchFamily="49" charset="0"/>
              </a:rPr>
              <a:t>via</a:t>
            </a:r>
            <a:r>
              <a:rPr lang="sk-SK" sz="900" dirty="0">
                <a:highlight>
                  <a:srgbClr val="FF0000"/>
                </a:highlight>
                <a:latin typeface="Consolas" panose="020B0609020204030204" pitchFamily="49" charset="0"/>
              </a:rPr>
              <a:t> ::, 1d04h</a:t>
            </a:r>
          </a:p>
          <a:p>
            <a:r>
              <a:rPr lang="sk-SK" sz="900" dirty="0">
                <a:highlight>
                  <a:srgbClr val="FF0000"/>
                </a:highlight>
                <a:latin typeface="Consolas" panose="020B0609020204030204" pitchFamily="49" charset="0"/>
              </a:rPr>
              <a:t>L    fc00:ab00:3::/64, SRv6 </a:t>
            </a:r>
            <a:r>
              <a:rPr lang="sk-SK" sz="900" dirty="0" err="1">
                <a:highlight>
                  <a:srgbClr val="FF0000"/>
                </a:highlight>
                <a:latin typeface="Consolas" panose="020B0609020204030204" pitchFamily="49" charset="0"/>
              </a:rPr>
              <a:t>Endpoint</a:t>
            </a:r>
            <a:r>
              <a:rPr lang="sk-SK" sz="900" dirty="0">
                <a:highlight>
                  <a:srgbClr val="FF0000"/>
                </a:highlight>
                <a:latin typeface="Consolas" panose="020B0609020204030204" pitchFamily="49" charset="0"/>
              </a:rPr>
              <a:t> </a:t>
            </a:r>
            <a:r>
              <a:rPr lang="sk-SK" sz="900" dirty="0" err="1">
                <a:highlight>
                  <a:srgbClr val="FF0000"/>
                </a:highlight>
                <a:latin typeface="Consolas" panose="020B0609020204030204" pitchFamily="49" charset="0"/>
              </a:rPr>
              <a:t>uN</a:t>
            </a:r>
            <a:r>
              <a:rPr lang="sk-SK" sz="900" dirty="0">
                <a:highlight>
                  <a:srgbClr val="FF0000"/>
                </a:highlight>
                <a:latin typeface="Consolas" panose="020B0609020204030204" pitchFamily="49" charset="0"/>
              </a:rPr>
              <a:t> (PSP/USD) </a:t>
            </a:r>
          </a:p>
          <a:p>
            <a:r>
              <a:rPr lang="sk-SK" sz="900" dirty="0">
                <a:highlight>
                  <a:srgbClr val="FF0000"/>
                </a:highlight>
                <a:latin typeface="Consolas" panose="020B0609020204030204" pitchFamily="49" charset="0"/>
              </a:rPr>
              <a:t>      [0/0] </a:t>
            </a:r>
            <a:r>
              <a:rPr lang="sk-SK" sz="900" dirty="0" err="1">
                <a:highlight>
                  <a:srgbClr val="FF0000"/>
                </a:highlight>
                <a:latin typeface="Consolas" panose="020B0609020204030204" pitchFamily="49" charset="0"/>
              </a:rPr>
              <a:t>via</a:t>
            </a:r>
            <a:r>
              <a:rPr lang="sk-SK" sz="900" dirty="0">
                <a:highlight>
                  <a:srgbClr val="FF0000"/>
                </a:highlight>
                <a:latin typeface="Consolas" panose="020B0609020204030204" pitchFamily="49" charset="0"/>
              </a:rPr>
              <a:t> ::, 1d04h</a:t>
            </a:r>
          </a:p>
          <a:p>
            <a:r>
              <a:rPr lang="sk-SK" sz="900" dirty="0">
                <a:highlight>
                  <a:srgbClr val="FF0000"/>
                </a:highlight>
                <a:latin typeface="Consolas" panose="020B0609020204030204" pitchFamily="49" charset="0"/>
              </a:rPr>
              <a:t>L    fc00:ab00:3:e000::/64, SRv6 </a:t>
            </a:r>
            <a:r>
              <a:rPr lang="sk-SK" sz="900" dirty="0" err="1">
                <a:highlight>
                  <a:srgbClr val="FF0000"/>
                </a:highlight>
                <a:latin typeface="Consolas" panose="020B0609020204030204" pitchFamily="49" charset="0"/>
              </a:rPr>
              <a:t>Endpoint</a:t>
            </a:r>
            <a:r>
              <a:rPr lang="sk-SK" sz="900" dirty="0">
                <a:highlight>
                  <a:srgbClr val="FF0000"/>
                </a:highlight>
                <a:latin typeface="Consolas" panose="020B0609020204030204" pitchFamily="49" charset="0"/>
              </a:rPr>
              <a:t> </a:t>
            </a:r>
            <a:r>
              <a:rPr lang="sk-SK" sz="900" dirty="0" err="1">
                <a:highlight>
                  <a:srgbClr val="FF0000"/>
                </a:highlight>
                <a:latin typeface="Consolas" panose="020B0609020204030204" pitchFamily="49" charset="0"/>
              </a:rPr>
              <a:t>uA</a:t>
            </a:r>
            <a:r>
              <a:rPr lang="sk-SK" sz="900" dirty="0">
                <a:highlight>
                  <a:srgbClr val="FF0000"/>
                </a:highlight>
                <a:latin typeface="Consolas" panose="020B0609020204030204" pitchFamily="49" charset="0"/>
              </a:rPr>
              <a:t> (</a:t>
            </a:r>
            <a:r>
              <a:rPr lang="sk-SK" sz="900" dirty="0" err="1">
                <a:highlight>
                  <a:srgbClr val="FF0000"/>
                </a:highlight>
                <a:latin typeface="Consolas" panose="020B0609020204030204" pitchFamily="49" charset="0"/>
              </a:rPr>
              <a:t>shift</a:t>
            </a:r>
            <a:r>
              <a:rPr lang="sk-SK" sz="900" dirty="0">
                <a:highlight>
                  <a:srgbClr val="FF0000"/>
                </a:highlight>
                <a:latin typeface="Consolas" panose="020B0609020204030204" pitchFamily="49" charset="0"/>
              </a:rPr>
              <a:t>) </a:t>
            </a:r>
          </a:p>
          <a:p>
            <a:r>
              <a:rPr lang="sk-SK" sz="900" dirty="0">
                <a:highlight>
                  <a:srgbClr val="FF0000"/>
                </a:highlight>
                <a:latin typeface="Consolas" panose="020B0609020204030204" pitchFamily="49" charset="0"/>
              </a:rPr>
              <a:t>      [0/0] </a:t>
            </a:r>
            <a:r>
              <a:rPr lang="sk-SK" sz="900" dirty="0" err="1">
                <a:highlight>
                  <a:srgbClr val="FF0000"/>
                </a:highlight>
                <a:latin typeface="Consolas" panose="020B0609020204030204" pitchFamily="49" charset="0"/>
              </a:rPr>
              <a:t>via</a:t>
            </a:r>
            <a:r>
              <a:rPr lang="sk-SK" sz="900" dirty="0">
                <a:highlight>
                  <a:srgbClr val="FF0000"/>
                </a:highlight>
                <a:latin typeface="Consolas" panose="020B0609020204030204" pitchFamily="49" charset="0"/>
              </a:rPr>
              <a:t> fe80::5054:ff:fe03:dd9a, 1d00h, GigabitEthernet0/0/0/2</a:t>
            </a:r>
          </a:p>
          <a:p>
            <a:r>
              <a:rPr lang="sk-SK" sz="900" dirty="0">
                <a:highlight>
                  <a:srgbClr val="FF0000"/>
                </a:highlight>
                <a:latin typeface="Consolas" panose="020B0609020204030204" pitchFamily="49" charset="0"/>
              </a:rPr>
              <a:t>L    fc00:ab00:3:e000::/80, SRv6 </a:t>
            </a:r>
            <a:r>
              <a:rPr lang="sk-SK" sz="900" dirty="0" err="1">
                <a:highlight>
                  <a:srgbClr val="FF0000"/>
                </a:highlight>
                <a:latin typeface="Consolas" panose="020B0609020204030204" pitchFamily="49" charset="0"/>
              </a:rPr>
              <a:t>Endpoint</a:t>
            </a:r>
            <a:r>
              <a:rPr lang="sk-SK" sz="900" dirty="0">
                <a:highlight>
                  <a:srgbClr val="FF0000"/>
                </a:highlight>
                <a:latin typeface="Consolas" panose="020B0609020204030204" pitchFamily="49" charset="0"/>
              </a:rPr>
              <a:t> </a:t>
            </a:r>
            <a:r>
              <a:rPr lang="sk-SK" sz="900" dirty="0" err="1">
                <a:highlight>
                  <a:srgbClr val="FF0000"/>
                </a:highlight>
                <a:latin typeface="Consolas" panose="020B0609020204030204" pitchFamily="49" charset="0"/>
              </a:rPr>
              <a:t>uA</a:t>
            </a:r>
            <a:r>
              <a:rPr lang="sk-SK" sz="900" dirty="0">
                <a:highlight>
                  <a:srgbClr val="FF0000"/>
                </a:highlight>
                <a:latin typeface="Consolas" panose="020B0609020204030204" pitchFamily="49" charset="0"/>
              </a:rPr>
              <a:t> (PSP/USD) </a:t>
            </a:r>
          </a:p>
          <a:p>
            <a:r>
              <a:rPr lang="sk-SK" sz="900" dirty="0">
                <a:highlight>
                  <a:srgbClr val="FF0000"/>
                </a:highlight>
                <a:latin typeface="Consolas" panose="020B0609020204030204" pitchFamily="49" charset="0"/>
              </a:rPr>
              <a:t>      [0/0] </a:t>
            </a:r>
            <a:r>
              <a:rPr lang="sk-SK" sz="900" dirty="0" err="1">
                <a:highlight>
                  <a:srgbClr val="FF0000"/>
                </a:highlight>
                <a:latin typeface="Consolas" panose="020B0609020204030204" pitchFamily="49" charset="0"/>
              </a:rPr>
              <a:t>via</a:t>
            </a:r>
            <a:r>
              <a:rPr lang="sk-SK" sz="900" dirty="0">
                <a:highlight>
                  <a:srgbClr val="FF0000"/>
                </a:highlight>
                <a:latin typeface="Consolas" panose="020B0609020204030204" pitchFamily="49" charset="0"/>
              </a:rPr>
              <a:t> fe80::5054:ff:fe03:dd9a, 1d00h, GigabitEthernet0/0/0/2</a:t>
            </a:r>
          </a:p>
          <a:p>
            <a:r>
              <a:rPr lang="sk-SK" sz="900" dirty="0">
                <a:highlight>
                  <a:srgbClr val="FF0000"/>
                </a:highlight>
                <a:latin typeface="Consolas" panose="020B0609020204030204" pitchFamily="49" charset="0"/>
              </a:rPr>
              <a:t>L    fc00:ab00:3:e001::/64, SRv6 </a:t>
            </a:r>
            <a:r>
              <a:rPr lang="sk-SK" sz="900" dirty="0" err="1">
                <a:highlight>
                  <a:srgbClr val="FF0000"/>
                </a:highlight>
                <a:latin typeface="Consolas" panose="020B0609020204030204" pitchFamily="49" charset="0"/>
              </a:rPr>
              <a:t>Endpoint</a:t>
            </a:r>
            <a:r>
              <a:rPr lang="sk-SK" sz="900" dirty="0">
                <a:highlight>
                  <a:srgbClr val="FF0000"/>
                </a:highlight>
                <a:latin typeface="Consolas" panose="020B0609020204030204" pitchFamily="49" charset="0"/>
              </a:rPr>
              <a:t> </a:t>
            </a:r>
            <a:r>
              <a:rPr lang="sk-SK" sz="900" dirty="0" err="1">
                <a:highlight>
                  <a:srgbClr val="FF0000"/>
                </a:highlight>
                <a:latin typeface="Consolas" panose="020B0609020204030204" pitchFamily="49" charset="0"/>
              </a:rPr>
              <a:t>uA</a:t>
            </a:r>
            <a:r>
              <a:rPr lang="sk-SK" sz="900" dirty="0">
                <a:highlight>
                  <a:srgbClr val="FF0000"/>
                </a:highlight>
                <a:latin typeface="Consolas" panose="020B0609020204030204" pitchFamily="49" charset="0"/>
              </a:rPr>
              <a:t> (</a:t>
            </a:r>
            <a:r>
              <a:rPr lang="sk-SK" sz="900" dirty="0" err="1">
                <a:highlight>
                  <a:srgbClr val="FF0000"/>
                </a:highlight>
                <a:latin typeface="Consolas" panose="020B0609020204030204" pitchFamily="49" charset="0"/>
              </a:rPr>
              <a:t>shift</a:t>
            </a:r>
            <a:r>
              <a:rPr lang="sk-SK" sz="900" dirty="0">
                <a:highlight>
                  <a:srgbClr val="FF0000"/>
                </a:highlight>
                <a:latin typeface="Consolas" panose="020B0609020204030204" pitchFamily="49" charset="0"/>
              </a:rPr>
              <a:t>) </a:t>
            </a:r>
          </a:p>
          <a:p>
            <a:r>
              <a:rPr lang="sk-SK" sz="900" dirty="0">
                <a:highlight>
                  <a:srgbClr val="FF0000"/>
                </a:highlight>
                <a:latin typeface="Consolas" panose="020B0609020204030204" pitchFamily="49" charset="0"/>
              </a:rPr>
              <a:t>      [0/0] </a:t>
            </a:r>
            <a:r>
              <a:rPr lang="sk-SK" sz="900" dirty="0" err="1">
                <a:highlight>
                  <a:srgbClr val="FF0000"/>
                </a:highlight>
                <a:latin typeface="Consolas" panose="020B0609020204030204" pitchFamily="49" charset="0"/>
              </a:rPr>
              <a:t>via</a:t>
            </a:r>
            <a:r>
              <a:rPr lang="sk-SK" sz="900" dirty="0">
                <a:highlight>
                  <a:srgbClr val="FF0000"/>
                </a:highlight>
                <a:latin typeface="Consolas" panose="020B0609020204030204" pitchFamily="49" charset="0"/>
              </a:rPr>
              <a:t> fe80::5054:ff:fe11:2f5e, 1d00h, GigabitEthernet0/0/0/3</a:t>
            </a:r>
          </a:p>
          <a:p>
            <a:r>
              <a:rPr lang="sk-SK" sz="900" dirty="0">
                <a:highlight>
                  <a:srgbClr val="FF0000"/>
                </a:highlight>
                <a:latin typeface="Consolas" panose="020B0609020204030204" pitchFamily="49" charset="0"/>
              </a:rPr>
              <a:t>L    fc00:ab00:3:e001::/80, SRv6 </a:t>
            </a:r>
            <a:r>
              <a:rPr lang="sk-SK" sz="900" dirty="0" err="1">
                <a:highlight>
                  <a:srgbClr val="FF0000"/>
                </a:highlight>
                <a:latin typeface="Consolas" panose="020B0609020204030204" pitchFamily="49" charset="0"/>
              </a:rPr>
              <a:t>Endpoint</a:t>
            </a:r>
            <a:r>
              <a:rPr lang="sk-SK" sz="900" dirty="0">
                <a:highlight>
                  <a:srgbClr val="FF0000"/>
                </a:highlight>
                <a:latin typeface="Consolas" panose="020B0609020204030204" pitchFamily="49" charset="0"/>
              </a:rPr>
              <a:t> </a:t>
            </a:r>
            <a:r>
              <a:rPr lang="sk-SK" sz="900" dirty="0" err="1">
                <a:highlight>
                  <a:srgbClr val="FF0000"/>
                </a:highlight>
                <a:latin typeface="Consolas" panose="020B0609020204030204" pitchFamily="49" charset="0"/>
              </a:rPr>
              <a:t>uA</a:t>
            </a:r>
            <a:r>
              <a:rPr lang="sk-SK" sz="900" dirty="0">
                <a:highlight>
                  <a:srgbClr val="FF0000"/>
                </a:highlight>
                <a:latin typeface="Consolas" panose="020B0609020204030204" pitchFamily="49" charset="0"/>
              </a:rPr>
              <a:t> (PSP/USD) </a:t>
            </a:r>
          </a:p>
          <a:p>
            <a:r>
              <a:rPr lang="sk-SK" sz="900" dirty="0">
                <a:highlight>
                  <a:srgbClr val="FF0000"/>
                </a:highlight>
                <a:latin typeface="Consolas" panose="020B0609020204030204" pitchFamily="49" charset="0"/>
              </a:rPr>
              <a:t>      [0/0] </a:t>
            </a:r>
            <a:r>
              <a:rPr lang="sk-SK" sz="900" dirty="0" err="1">
                <a:highlight>
                  <a:srgbClr val="FF0000"/>
                </a:highlight>
                <a:latin typeface="Consolas" panose="020B0609020204030204" pitchFamily="49" charset="0"/>
              </a:rPr>
              <a:t>via</a:t>
            </a:r>
            <a:r>
              <a:rPr lang="sk-SK" sz="900" dirty="0">
                <a:highlight>
                  <a:srgbClr val="FF0000"/>
                </a:highlight>
                <a:latin typeface="Consolas" panose="020B0609020204030204" pitchFamily="49" charset="0"/>
              </a:rPr>
              <a:t> fe80::5054:ff:fe11:2f5e, 1d00h, GigabitEthernet0/0/0/3</a:t>
            </a:r>
          </a:p>
          <a:p>
            <a:r>
              <a:rPr lang="sk-SK" sz="900" dirty="0">
                <a:highlight>
                  <a:srgbClr val="008080"/>
                </a:highlight>
                <a:latin typeface="Consolas" panose="020B0609020204030204" pitchFamily="49" charset="0"/>
              </a:rPr>
              <a:t>i L2 fc00:ab00:4::/48 </a:t>
            </a:r>
          </a:p>
          <a:p>
            <a:r>
              <a:rPr lang="sk-SK" sz="900" dirty="0">
                <a:highlight>
                  <a:srgbClr val="008080"/>
                </a:highlight>
                <a:latin typeface="Consolas" panose="020B0609020204030204" pitchFamily="49" charset="0"/>
              </a:rPr>
              <a:t>      [115/11] </a:t>
            </a:r>
            <a:r>
              <a:rPr lang="sk-SK" sz="900" dirty="0" err="1">
                <a:highlight>
                  <a:srgbClr val="008080"/>
                </a:highlight>
                <a:latin typeface="Consolas" panose="020B0609020204030204" pitchFamily="49" charset="0"/>
              </a:rPr>
              <a:t>via</a:t>
            </a:r>
            <a:r>
              <a:rPr lang="sk-SK" sz="900" dirty="0">
                <a:highlight>
                  <a:srgbClr val="008080"/>
                </a:highlight>
                <a:latin typeface="Consolas" panose="020B0609020204030204" pitchFamily="49" charset="0"/>
              </a:rPr>
              <a:t> fe80::5054:ff:fe11:2f5e, 1d00h, GigabitEthernet0/0/0/3</a:t>
            </a:r>
          </a:p>
          <a:p>
            <a:r>
              <a:rPr lang="sk-SK" sz="900" dirty="0">
                <a:latin typeface="Consolas" panose="020B0609020204030204" pitchFamily="49" charset="0"/>
              </a:rPr>
              <a:t>L    fc00:ab00:e000::/48, SRv6 </a:t>
            </a:r>
            <a:r>
              <a:rPr lang="sk-SK" sz="900" dirty="0" err="1">
                <a:latin typeface="Consolas" panose="020B0609020204030204" pitchFamily="49" charset="0"/>
              </a:rPr>
              <a:t>Endpoint</a:t>
            </a:r>
            <a:r>
              <a:rPr lang="sk-SK" sz="900" dirty="0">
                <a:latin typeface="Consolas" panose="020B0609020204030204" pitchFamily="49" charset="0"/>
              </a:rPr>
              <a:t> </a:t>
            </a:r>
            <a:r>
              <a:rPr lang="sk-SK" sz="900" dirty="0" err="1">
                <a:latin typeface="Consolas" panose="020B0609020204030204" pitchFamily="49" charset="0"/>
              </a:rPr>
              <a:t>uA</a:t>
            </a:r>
            <a:r>
              <a:rPr lang="sk-SK" sz="900" dirty="0">
                <a:latin typeface="Consolas" panose="020B0609020204030204" pitchFamily="49" charset="0"/>
              </a:rPr>
              <a:t> (</a:t>
            </a:r>
            <a:r>
              <a:rPr lang="sk-SK" sz="900" dirty="0" err="1">
                <a:latin typeface="Consolas" panose="020B0609020204030204" pitchFamily="49" charset="0"/>
              </a:rPr>
              <a:t>shift</a:t>
            </a:r>
            <a:r>
              <a:rPr lang="sk-SK" sz="900" dirty="0">
                <a:latin typeface="Consolas" panose="020B0609020204030204" pitchFamily="49" charset="0"/>
              </a:rPr>
              <a:t>) </a:t>
            </a:r>
          </a:p>
          <a:p>
            <a:r>
              <a:rPr lang="sk-SK" sz="900" dirty="0">
                <a:latin typeface="Consolas" panose="020B0609020204030204" pitchFamily="49" charset="0"/>
              </a:rPr>
              <a:t>      [0/0] </a:t>
            </a:r>
            <a:r>
              <a:rPr lang="sk-SK" sz="900" dirty="0" err="1">
                <a:latin typeface="Consolas" panose="020B0609020204030204" pitchFamily="49" charset="0"/>
              </a:rPr>
              <a:t>via</a:t>
            </a:r>
            <a:r>
              <a:rPr lang="sk-SK" sz="900" dirty="0">
                <a:latin typeface="Consolas" panose="020B0609020204030204" pitchFamily="49" charset="0"/>
              </a:rPr>
              <a:t> fe80::5054:ff:fe03:dd9a, 1d00h, GigabitEthernet0/0/0/2</a:t>
            </a:r>
          </a:p>
          <a:p>
            <a:r>
              <a:rPr lang="sk-SK" sz="900" dirty="0">
                <a:latin typeface="Consolas" panose="020B0609020204030204" pitchFamily="49" charset="0"/>
              </a:rPr>
              <a:t>L    fc00:ab00:e000::/64, SRv6 </a:t>
            </a:r>
            <a:r>
              <a:rPr lang="sk-SK" sz="900" dirty="0" err="1">
                <a:latin typeface="Consolas" panose="020B0609020204030204" pitchFamily="49" charset="0"/>
              </a:rPr>
              <a:t>Endpoint</a:t>
            </a:r>
            <a:r>
              <a:rPr lang="sk-SK" sz="900" dirty="0">
                <a:latin typeface="Consolas" panose="020B0609020204030204" pitchFamily="49" charset="0"/>
              </a:rPr>
              <a:t> </a:t>
            </a:r>
            <a:r>
              <a:rPr lang="sk-SK" sz="900" dirty="0" err="1">
                <a:latin typeface="Consolas" panose="020B0609020204030204" pitchFamily="49" charset="0"/>
              </a:rPr>
              <a:t>uA</a:t>
            </a:r>
            <a:r>
              <a:rPr lang="sk-SK" sz="900" dirty="0">
                <a:latin typeface="Consolas" panose="020B0609020204030204" pitchFamily="49" charset="0"/>
              </a:rPr>
              <a:t> (PSP/USD) </a:t>
            </a:r>
          </a:p>
          <a:p>
            <a:r>
              <a:rPr lang="sk-SK" sz="900" dirty="0">
                <a:latin typeface="Consolas" panose="020B0609020204030204" pitchFamily="49" charset="0"/>
              </a:rPr>
              <a:t>      [0/0] </a:t>
            </a:r>
            <a:r>
              <a:rPr lang="sk-SK" sz="900" dirty="0" err="1">
                <a:latin typeface="Consolas" panose="020B0609020204030204" pitchFamily="49" charset="0"/>
              </a:rPr>
              <a:t>via</a:t>
            </a:r>
            <a:r>
              <a:rPr lang="sk-SK" sz="900" dirty="0">
                <a:latin typeface="Consolas" panose="020B0609020204030204" pitchFamily="49" charset="0"/>
              </a:rPr>
              <a:t> fe80::5054:ff:fe03:dd9a, 1d00h, GigabitEthernet0/0/0/2</a:t>
            </a:r>
          </a:p>
          <a:p>
            <a:r>
              <a:rPr lang="sk-SK" sz="900" dirty="0">
                <a:latin typeface="Consolas" panose="020B0609020204030204" pitchFamily="49" charset="0"/>
              </a:rPr>
              <a:t>L    fc00:ab00:e001::/48, SRv6 </a:t>
            </a:r>
            <a:r>
              <a:rPr lang="sk-SK" sz="900" dirty="0" err="1">
                <a:latin typeface="Consolas" panose="020B0609020204030204" pitchFamily="49" charset="0"/>
              </a:rPr>
              <a:t>Endpoint</a:t>
            </a:r>
            <a:r>
              <a:rPr lang="sk-SK" sz="900" dirty="0">
                <a:latin typeface="Consolas" panose="020B0609020204030204" pitchFamily="49" charset="0"/>
              </a:rPr>
              <a:t> </a:t>
            </a:r>
            <a:r>
              <a:rPr lang="sk-SK" sz="900" dirty="0" err="1">
                <a:latin typeface="Consolas" panose="020B0609020204030204" pitchFamily="49" charset="0"/>
              </a:rPr>
              <a:t>uA</a:t>
            </a:r>
            <a:r>
              <a:rPr lang="sk-SK" sz="900" dirty="0">
                <a:latin typeface="Consolas" panose="020B0609020204030204" pitchFamily="49" charset="0"/>
              </a:rPr>
              <a:t> (</a:t>
            </a:r>
            <a:r>
              <a:rPr lang="sk-SK" sz="900" dirty="0" err="1">
                <a:latin typeface="Consolas" panose="020B0609020204030204" pitchFamily="49" charset="0"/>
              </a:rPr>
              <a:t>shift</a:t>
            </a:r>
            <a:r>
              <a:rPr lang="sk-SK" sz="900" dirty="0">
                <a:latin typeface="Consolas" panose="020B0609020204030204" pitchFamily="49" charset="0"/>
              </a:rPr>
              <a:t>) </a:t>
            </a:r>
          </a:p>
          <a:p>
            <a:r>
              <a:rPr lang="sk-SK" sz="900" dirty="0">
                <a:latin typeface="Consolas" panose="020B0609020204030204" pitchFamily="49" charset="0"/>
              </a:rPr>
              <a:t>      [0/0] </a:t>
            </a:r>
            <a:r>
              <a:rPr lang="sk-SK" sz="900" dirty="0" err="1">
                <a:latin typeface="Consolas" panose="020B0609020204030204" pitchFamily="49" charset="0"/>
              </a:rPr>
              <a:t>via</a:t>
            </a:r>
            <a:r>
              <a:rPr lang="sk-SK" sz="900" dirty="0">
                <a:latin typeface="Consolas" panose="020B0609020204030204" pitchFamily="49" charset="0"/>
              </a:rPr>
              <a:t> fe80::5054:ff:fe11:2f5e, 1d00h, GigabitEthernet0/0/0/3</a:t>
            </a:r>
          </a:p>
          <a:p>
            <a:r>
              <a:rPr lang="sk-SK" sz="900" dirty="0">
                <a:latin typeface="Consolas" panose="020B0609020204030204" pitchFamily="49" charset="0"/>
              </a:rPr>
              <a:t>L    fc00:ab00:e001::/64, SRv6 </a:t>
            </a:r>
            <a:r>
              <a:rPr lang="sk-SK" sz="900" dirty="0" err="1">
                <a:latin typeface="Consolas" panose="020B0609020204030204" pitchFamily="49" charset="0"/>
              </a:rPr>
              <a:t>Endpoint</a:t>
            </a:r>
            <a:r>
              <a:rPr lang="sk-SK" sz="900" dirty="0">
                <a:latin typeface="Consolas" panose="020B0609020204030204" pitchFamily="49" charset="0"/>
              </a:rPr>
              <a:t> </a:t>
            </a:r>
            <a:r>
              <a:rPr lang="sk-SK" sz="900" dirty="0" err="1">
                <a:latin typeface="Consolas" panose="020B0609020204030204" pitchFamily="49" charset="0"/>
              </a:rPr>
              <a:t>uA</a:t>
            </a:r>
            <a:r>
              <a:rPr lang="sk-SK" sz="900" dirty="0">
                <a:latin typeface="Consolas" panose="020B0609020204030204" pitchFamily="49" charset="0"/>
              </a:rPr>
              <a:t> (PSP/USD) </a:t>
            </a:r>
          </a:p>
          <a:p>
            <a:r>
              <a:rPr lang="sk-SK" sz="900" dirty="0">
                <a:latin typeface="Consolas" panose="020B0609020204030204" pitchFamily="49" charset="0"/>
              </a:rPr>
              <a:t>      [0/0] </a:t>
            </a:r>
            <a:r>
              <a:rPr lang="sk-SK" sz="900" dirty="0" err="1">
                <a:latin typeface="Consolas" panose="020B0609020204030204" pitchFamily="49" charset="0"/>
              </a:rPr>
              <a:t>via</a:t>
            </a:r>
            <a:r>
              <a:rPr lang="sk-SK" sz="900" dirty="0">
                <a:latin typeface="Consolas" panose="020B0609020204030204" pitchFamily="49" charset="0"/>
              </a:rPr>
              <a:t> fe80::5054:ff:fe11:2f5e, 1d00h, GigabitEthernet0/0/0/3</a:t>
            </a:r>
          </a:p>
          <a:p>
            <a:r>
              <a:rPr lang="en-US" sz="900" dirty="0">
                <a:latin typeface="Consolas" panose="020B0609020204030204" pitchFamily="49" charset="0"/>
              </a:rPr>
              <a:t>-- Cut --</a:t>
            </a:r>
            <a:endParaRPr lang="sk-SK" sz="900" dirty="0">
              <a:latin typeface="Consolas" panose="020B0609020204030204" pitchFamily="49" charset="0"/>
            </a:endParaRPr>
          </a:p>
          <a:p>
            <a:r>
              <a:rPr lang="sk-SK" sz="900" dirty="0">
                <a:latin typeface="Consolas" panose="020B0609020204030204" pitchFamily="49" charset="0"/>
              </a:rPr>
              <a:t>RP/0/RP0/CPU0:R03#</a:t>
            </a:r>
            <a:endParaRPr lang="sk-SK" sz="9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298171868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2C8C810-2CB6-E947-7135-6DE4DB5D497E}"/>
              </a:ext>
            </a:extLst>
          </p:cNvPr>
          <p:cNvSpPr>
            <a:spLocks noGrp="1"/>
          </p:cNvSpPr>
          <p:nvPr>
            <p:ph type="body" sz="quarter" idx="11"/>
          </p:nvPr>
        </p:nvSpPr>
        <p:spPr/>
        <p:txBody>
          <a:bodyPr/>
          <a:lstStyle/>
          <a:p>
            <a:r>
              <a:rPr lang="en-US" dirty="0"/>
              <a:t>uSID</a:t>
            </a:r>
          </a:p>
        </p:txBody>
      </p:sp>
      <p:cxnSp>
        <p:nvCxnSpPr>
          <p:cNvPr id="17" name="Straight Arrow Connector 16">
            <a:extLst>
              <a:ext uri="{FF2B5EF4-FFF2-40B4-BE49-F238E27FC236}">
                <a16:creationId xmlns:a16="http://schemas.microsoft.com/office/drawing/2014/main" id="{33E3A1F2-97F8-DA6A-3BF4-2AADBDA7B990}"/>
              </a:ext>
            </a:extLst>
          </p:cNvPr>
          <p:cNvCxnSpPr>
            <a:cxnSpLocks/>
          </p:cNvCxnSpPr>
          <p:nvPr/>
        </p:nvCxnSpPr>
        <p:spPr>
          <a:xfrm>
            <a:off x="4837814" y="3285460"/>
            <a:ext cx="1380105" cy="8019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14FA83B6-F9AF-8857-BD09-EBA0577B0521}"/>
              </a:ext>
            </a:extLst>
          </p:cNvPr>
          <p:cNvSpPr/>
          <p:nvPr/>
        </p:nvSpPr>
        <p:spPr>
          <a:xfrm>
            <a:off x="0" y="4420133"/>
            <a:ext cx="8613647" cy="2446824"/>
          </a:xfrm>
          <a:prstGeom prst="rect">
            <a:avLst/>
          </a:prstGeom>
          <a:solidFill>
            <a:schemeClr val="bg1">
              <a:lumMod val="95000"/>
            </a:schemeClr>
          </a:solidFill>
          <a:ln>
            <a:solidFill>
              <a:schemeClr val="tx1"/>
            </a:solidFill>
          </a:ln>
          <a:effectLst/>
        </p:spPr>
        <p:txBody>
          <a:bodyPr wrap="square">
            <a:spAutoFit/>
          </a:bodyPr>
          <a:lstStyle/>
          <a:p>
            <a:r>
              <a:rPr lang="sk-SK" sz="900" dirty="0">
                <a:latin typeface="Consolas" panose="020B0609020204030204" pitchFamily="49" charset="0"/>
              </a:rPr>
              <a:t>RP/0/RP0/CPU0:R04#show segment-routing srv6 </a:t>
            </a:r>
            <a:r>
              <a:rPr lang="sk-SK" sz="900" dirty="0" err="1">
                <a:latin typeface="Consolas" panose="020B0609020204030204" pitchFamily="49" charset="0"/>
              </a:rPr>
              <a:t>locator</a:t>
            </a:r>
            <a:r>
              <a:rPr lang="sk-SK" sz="900" dirty="0">
                <a:latin typeface="Consolas" panose="020B0609020204030204" pitchFamily="49" charset="0"/>
              </a:rPr>
              <a:t> </a:t>
            </a:r>
          </a:p>
          <a:p>
            <a:r>
              <a:rPr lang="sk-SK" sz="900" dirty="0" err="1">
                <a:latin typeface="Consolas" panose="020B0609020204030204" pitchFamily="49" charset="0"/>
              </a:rPr>
              <a:t>Name</a:t>
            </a:r>
            <a:r>
              <a:rPr lang="sk-SK" sz="900" dirty="0">
                <a:latin typeface="Consolas" panose="020B0609020204030204" pitchFamily="49" charset="0"/>
              </a:rPr>
              <a:t>                  ID       </a:t>
            </a:r>
            <a:r>
              <a:rPr lang="sk-SK" sz="900" dirty="0" err="1">
                <a:latin typeface="Consolas" panose="020B0609020204030204" pitchFamily="49" charset="0"/>
              </a:rPr>
              <a:t>Algo</a:t>
            </a:r>
            <a:r>
              <a:rPr lang="sk-SK" sz="900" dirty="0">
                <a:latin typeface="Consolas" panose="020B0609020204030204" pitchFamily="49" charset="0"/>
              </a:rPr>
              <a:t>  Prefix                    Status   </a:t>
            </a:r>
            <a:r>
              <a:rPr lang="sk-SK" sz="900" dirty="0" err="1">
                <a:latin typeface="Consolas" panose="020B0609020204030204" pitchFamily="49" charset="0"/>
              </a:rPr>
              <a:t>Flags</a:t>
            </a:r>
            <a:r>
              <a:rPr lang="sk-SK" sz="900" dirty="0">
                <a:latin typeface="Consolas" panose="020B0609020204030204" pitchFamily="49" charset="0"/>
              </a:rPr>
              <a:t>   </a:t>
            </a:r>
          </a:p>
          <a:p>
            <a:r>
              <a:rPr lang="sk-SK" sz="900" dirty="0">
                <a:latin typeface="Consolas" panose="020B0609020204030204" pitchFamily="49" charset="0"/>
              </a:rPr>
              <a:t>--------------------  -------  ----  ------------------------  -------  --------</a:t>
            </a:r>
          </a:p>
          <a:p>
            <a:r>
              <a:rPr lang="sk-SK" sz="900" dirty="0">
                <a:latin typeface="Consolas" panose="020B0609020204030204" pitchFamily="49" charset="0"/>
              </a:rPr>
              <a:t>Loc_uSID_Algo_0       2        0     fc00:ab00:4::/48          </a:t>
            </a:r>
            <a:r>
              <a:rPr lang="sk-SK" sz="900" dirty="0" err="1">
                <a:latin typeface="Consolas" panose="020B0609020204030204" pitchFamily="49" charset="0"/>
              </a:rPr>
              <a:t>Up</a:t>
            </a:r>
            <a:r>
              <a:rPr lang="sk-SK" sz="900" dirty="0">
                <a:latin typeface="Consolas" panose="020B0609020204030204" pitchFamily="49" charset="0"/>
              </a:rPr>
              <a:t>       U       </a:t>
            </a:r>
          </a:p>
          <a:p>
            <a:r>
              <a:rPr lang="sk-SK" sz="900" dirty="0">
                <a:latin typeface="Consolas" panose="020B0609020204030204" pitchFamily="49" charset="0"/>
              </a:rPr>
              <a:t>RP/0/RP0/CPU0:R04#show segment-routing srv6 </a:t>
            </a:r>
            <a:r>
              <a:rPr lang="sk-SK" sz="900" dirty="0" err="1">
                <a:latin typeface="Consolas" panose="020B0609020204030204" pitchFamily="49" charset="0"/>
              </a:rPr>
              <a:t>sid</a:t>
            </a:r>
            <a:r>
              <a:rPr lang="sk-SK" sz="900" dirty="0">
                <a:latin typeface="Consolas" panose="020B0609020204030204" pitchFamily="49" charset="0"/>
              </a:rPr>
              <a:t> </a:t>
            </a:r>
            <a:r>
              <a:rPr lang="sk-SK" sz="900" dirty="0" err="1">
                <a:latin typeface="Consolas" panose="020B0609020204030204" pitchFamily="49" charset="0"/>
              </a:rPr>
              <a:t>all</a:t>
            </a:r>
            <a:r>
              <a:rPr lang="sk-SK" sz="900" dirty="0">
                <a:latin typeface="Consolas" panose="020B0609020204030204" pitchFamily="49" charset="0"/>
              </a:rPr>
              <a:t> </a:t>
            </a:r>
          </a:p>
          <a:p>
            <a:endParaRPr lang="sk-SK" sz="900" dirty="0">
              <a:latin typeface="Consolas" panose="020B0609020204030204" pitchFamily="49" charset="0"/>
            </a:endParaRPr>
          </a:p>
          <a:p>
            <a:r>
              <a:rPr lang="sk-SK" sz="900" dirty="0">
                <a:latin typeface="Consolas" panose="020B0609020204030204" pitchFamily="49" charset="0"/>
              </a:rPr>
              <a:t>*** </a:t>
            </a:r>
            <a:r>
              <a:rPr lang="sk-SK" sz="900" dirty="0" err="1">
                <a:latin typeface="Consolas" panose="020B0609020204030204" pitchFamily="49" charset="0"/>
              </a:rPr>
              <a:t>Locator</a:t>
            </a:r>
            <a:r>
              <a:rPr lang="sk-SK" sz="900" dirty="0">
                <a:latin typeface="Consolas" panose="020B0609020204030204" pitchFamily="49" charset="0"/>
              </a:rPr>
              <a:t>: 'Loc_uSID_Algo_0' *** </a:t>
            </a:r>
          </a:p>
          <a:p>
            <a:endParaRPr lang="sk-SK" sz="900" dirty="0">
              <a:latin typeface="Consolas" panose="020B0609020204030204" pitchFamily="49" charset="0"/>
            </a:endParaRPr>
          </a:p>
          <a:p>
            <a:r>
              <a:rPr lang="sk-SK" sz="900" dirty="0">
                <a:latin typeface="Consolas" panose="020B0609020204030204" pitchFamily="49" charset="0"/>
              </a:rPr>
              <a:t>SID                         </a:t>
            </a:r>
            <a:r>
              <a:rPr lang="sk-SK" sz="900" dirty="0" err="1">
                <a:latin typeface="Consolas" panose="020B0609020204030204" pitchFamily="49" charset="0"/>
              </a:rPr>
              <a:t>Behavior</a:t>
            </a:r>
            <a:r>
              <a:rPr lang="sk-SK" sz="900" dirty="0">
                <a:latin typeface="Consolas" panose="020B0609020204030204" pitchFamily="49" charset="0"/>
              </a:rPr>
              <a:t>          </a:t>
            </a:r>
            <a:r>
              <a:rPr lang="sk-SK" sz="900" dirty="0" err="1">
                <a:latin typeface="Consolas" panose="020B0609020204030204" pitchFamily="49" charset="0"/>
              </a:rPr>
              <a:t>Context</a:t>
            </a:r>
            <a:r>
              <a:rPr lang="sk-SK" sz="900" dirty="0">
                <a:latin typeface="Consolas" panose="020B0609020204030204" pitchFamily="49" charset="0"/>
              </a:rPr>
              <a:t>                           </a:t>
            </a:r>
            <a:r>
              <a:rPr lang="sk-SK" sz="900" dirty="0" err="1">
                <a:latin typeface="Consolas" panose="020B0609020204030204" pitchFamily="49" charset="0"/>
              </a:rPr>
              <a:t>Owner</a:t>
            </a:r>
            <a:r>
              <a:rPr lang="sk-SK" sz="900" dirty="0">
                <a:latin typeface="Consolas" panose="020B0609020204030204" pitchFamily="49" charset="0"/>
              </a:rPr>
              <a:t>               State  RW</a:t>
            </a:r>
          </a:p>
          <a:p>
            <a:r>
              <a:rPr lang="sk-SK" sz="900" dirty="0">
                <a:latin typeface="Consolas" panose="020B0609020204030204" pitchFamily="49" charset="0"/>
              </a:rPr>
              <a:t>--------------------------  ----------------  --------------------------------  ------------------  -----  --</a:t>
            </a:r>
          </a:p>
          <a:p>
            <a:r>
              <a:rPr lang="sk-SK" sz="900" dirty="0">
                <a:latin typeface="Consolas" panose="020B0609020204030204" pitchFamily="49" charset="0"/>
              </a:rPr>
              <a:t>fc00:ab00:4::               </a:t>
            </a:r>
            <a:r>
              <a:rPr lang="sk-SK" sz="900" dirty="0" err="1">
                <a:latin typeface="Consolas" panose="020B0609020204030204" pitchFamily="49" charset="0"/>
              </a:rPr>
              <a:t>uN</a:t>
            </a:r>
            <a:r>
              <a:rPr lang="sk-SK" sz="900" dirty="0">
                <a:latin typeface="Consolas" panose="020B0609020204030204" pitchFamily="49" charset="0"/>
              </a:rPr>
              <a:t> (PSP/USD)      'default':4                       </a:t>
            </a:r>
            <a:r>
              <a:rPr lang="sk-SK" sz="900" dirty="0" err="1">
                <a:latin typeface="Consolas" panose="020B0609020204030204" pitchFamily="49" charset="0"/>
              </a:rPr>
              <a:t>sidmgr</a:t>
            </a:r>
            <a:r>
              <a:rPr lang="sk-SK" sz="900" dirty="0">
                <a:latin typeface="Consolas" panose="020B0609020204030204" pitchFamily="49" charset="0"/>
              </a:rPr>
              <a:t>              </a:t>
            </a:r>
            <a:r>
              <a:rPr lang="sk-SK" sz="900" dirty="0" err="1">
                <a:latin typeface="Consolas" panose="020B0609020204030204" pitchFamily="49" charset="0"/>
              </a:rPr>
              <a:t>InUse</a:t>
            </a:r>
            <a:r>
              <a:rPr lang="sk-SK" sz="900" dirty="0">
                <a:latin typeface="Consolas" panose="020B0609020204030204" pitchFamily="49" charset="0"/>
              </a:rPr>
              <a:t>  Y </a:t>
            </a:r>
          </a:p>
          <a:p>
            <a:r>
              <a:rPr lang="sk-SK" sz="900" dirty="0">
                <a:latin typeface="Consolas" panose="020B0609020204030204" pitchFamily="49" charset="0"/>
              </a:rPr>
              <a:t>fc00:ab00:4:e000::          </a:t>
            </a:r>
            <a:r>
              <a:rPr lang="sk-SK" sz="900" dirty="0" err="1">
                <a:latin typeface="Consolas" panose="020B0609020204030204" pitchFamily="49" charset="0"/>
              </a:rPr>
              <a:t>uA</a:t>
            </a:r>
            <a:r>
              <a:rPr lang="sk-SK" sz="900" dirty="0">
                <a:latin typeface="Consolas" panose="020B0609020204030204" pitchFamily="49" charset="0"/>
              </a:rPr>
              <a:t> (PSP/USD)      [Gi0/0/0/4, </a:t>
            </a:r>
            <a:r>
              <a:rPr lang="sk-SK" sz="900" dirty="0" err="1">
                <a:latin typeface="Consolas" panose="020B0609020204030204" pitchFamily="49" charset="0"/>
              </a:rPr>
              <a:t>Link-Local</a:t>
            </a:r>
            <a:r>
              <a:rPr lang="sk-SK" sz="900" dirty="0">
                <a:latin typeface="Consolas" panose="020B0609020204030204" pitchFamily="49" charset="0"/>
              </a:rPr>
              <a:t>]:0         isis-1              </a:t>
            </a:r>
            <a:r>
              <a:rPr lang="sk-SK" sz="900" dirty="0" err="1">
                <a:latin typeface="Consolas" panose="020B0609020204030204" pitchFamily="49" charset="0"/>
              </a:rPr>
              <a:t>InUse</a:t>
            </a:r>
            <a:r>
              <a:rPr lang="sk-SK" sz="900" dirty="0">
                <a:latin typeface="Consolas" panose="020B0609020204030204" pitchFamily="49" charset="0"/>
              </a:rPr>
              <a:t>  Y </a:t>
            </a:r>
          </a:p>
          <a:p>
            <a:r>
              <a:rPr lang="sk-SK" sz="900" dirty="0">
                <a:latin typeface="Consolas" panose="020B0609020204030204" pitchFamily="49" charset="0"/>
              </a:rPr>
              <a:t>fc00:ab00:4:e001::          </a:t>
            </a:r>
            <a:r>
              <a:rPr lang="sk-SK" sz="900" dirty="0" err="1">
                <a:latin typeface="Consolas" panose="020B0609020204030204" pitchFamily="49" charset="0"/>
              </a:rPr>
              <a:t>uA</a:t>
            </a:r>
            <a:r>
              <a:rPr lang="sk-SK" sz="900" dirty="0">
                <a:latin typeface="Consolas" panose="020B0609020204030204" pitchFamily="49" charset="0"/>
              </a:rPr>
              <a:t> (PSP/USD)      [Gi0/0/0/3, </a:t>
            </a:r>
            <a:r>
              <a:rPr lang="sk-SK" sz="900" dirty="0" err="1">
                <a:latin typeface="Consolas" panose="020B0609020204030204" pitchFamily="49" charset="0"/>
              </a:rPr>
              <a:t>Link-Local</a:t>
            </a:r>
            <a:r>
              <a:rPr lang="sk-SK" sz="900" dirty="0">
                <a:latin typeface="Consolas" panose="020B0609020204030204" pitchFamily="49" charset="0"/>
              </a:rPr>
              <a:t>]:0         isis-1              </a:t>
            </a:r>
            <a:r>
              <a:rPr lang="sk-SK" sz="900" dirty="0" err="1">
                <a:latin typeface="Consolas" panose="020B0609020204030204" pitchFamily="49" charset="0"/>
              </a:rPr>
              <a:t>InUse</a:t>
            </a:r>
            <a:r>
              <a:rPr lang="sk-SK" sz="900" dirty="0">
                <a:latin typeface="Consolas" panose="020B0609020204030204" pitchFamily="49" charset="0"/>
              </a:rPr>
              <a:t>  Y </a:t>
            </a:r>
          </a:p>
          <a:p>
            <a:r>
              <a:rPr lang="sk-SK" sz="900" dirty="0">
                <a:latin typeface="Consolas" panose="020B0609020204030204" pitchFamily="49" charset="0"/>
              </a:rPr>
              <a:t>fc00:ab00:4:e002::          </a:t>
            </a:r>
            <a:r>
              <a:rPr lang="sk-SK" sz="900" dirty="0" err="1">
                <a:latin typeface="Consolas" panose="020B0609020204030204" pitchFamily="49" charset="0"/>
              </a:rPr>
              <a:t>uA</a:t>
            </a:r>
            <a:r>
              <a:rPr lang="sk-SK" sz="900" dirty="0">
                <a:latin typeface="Consolas" panose="020B0609020204030204" pitchFamily="49" charset="0"/>
              </a:rPr>
              <a:t> (PSP/USD)      [Gi0/0/0/6, </a:t>
            </a:r>
            <a:r>
              <a:rPr lang="sk-SK" sz="900" dirty="0" err="1">
                <a:latin typeface="Consolas" panose="020B0609020204030204" pitchFamily="49" charset="0"/>
              </a:rPr>
              <a:t>Link-Local</a:t>
            </a:r>
            <a:r>
              <a:rPr lang="sk-SK" sz="900" dirty="0">
                <a:latin typeface="Consolas" panose="020B0609020204030204" pitchFamily="49" charset="0"/>
              </a:rPr>
              <a:t>]:0         isis-1              </a:t>
            </a:r>
            <a:r>
              <a:rPr lang="sk-SK" sz="900" dirty="0" err="1">
                <a:latin typeface="Consolas" panose="020B0609020204030204" pitchFamily="49" charset="0"/>
              </a:rPr>
              <a:t>InUse</a:t>
            </a:r>
            <a:r>
              <a:rPr lang="sk-SK" sz="900" dirty="0">
                <a:latin typeface="Consolas" panose="020B0609020204030204" pitchFamily="49" charset="0"/>
              </a:rPr>
              <a:t>  Y </a:t>
            </a:r>
          </a:p>
          <a:p>
            <a:r>
              <a:rPr lang="sk-SK" sz="900" dirty="0">
                <a:latin typeface="Consolas" panose="020B0609020204030204" pitchFamily="49" charset="0"/>
              </a:rPr>
              <a:t>fc00:ab00:4:e003::          uDT4              'A'                               bgp-65000           </a:t>
            </a:r>
            <a:r>
              <a:rPr lang="sk-SK" sz="900" dirty="0" err="1">
                <a:latin typeface="Consolas" panose="020B0609020204030204" pitchFamily="49" charset="0"/>
              </a:rPr>
              <a:t>InUse</a:t>
            </a:r>
            <a:r>
              <a:rPr lang="sk-SK" sz="900" dirty="0">
                <a:latin typeface="Consolas" panose="020B0609020204030204" pitchFamily="49" charset="0"/>
              </a:rPr>
              <a:t>  Y </a:t>
            </a:r>
          </a:p>
          <a:p>
            <a:r>
              <a:rPr lang="sk-SK" sz="900" dirty="0">
                <a:latin typeface="Consolas" panose="020B0609020204030204" pitchFamily="49" charset="0"/>
              </a:rPr>
              <a:t>fc00:ab00:4:e004::          uDX2              14:140104                         l2vpn_srv6          </a:t>
            </a:r>
            <a:r>
              <a:rPr lang="sk-SK" sz="900" dirty="0" err="1">
                <a:latin typeface="Consolas" panose="020B0609020204030204" pitchFamily="49" charset="0"/>
              </a:rPr>
              <a:t>InUse</a:t>
            </a:r>
            <a:r>
              <a:rPr lang="sk-SK" sz="900" dirty="0">
                <a:latin typeface="Consolas" panose="020B0609020204030204" pitchFamily="49" charset="0"/>
              </a:rPr>
              <a:t>  Y </a:t>
            </a:r>
          </a:p>
          <a:p>
            <a:r>
              <a:rPr lang="sk-SK" sz="900" dirty="0">
                <a:latin typeface="Consolas" panose="020B0609020204030204" pitchFamily="49" charset="0"/>
              </a:rPr>
              <a:t>RP/0/RP0/CPU0:R04#</a:t>
            </a:r>
            <a:endParaRPr lang="sk-SK" sz="900" dirty="0">
              <a:solidFill>
                <a:srgbClr val="FF0000"/>
              </a:solidFill>
              <a:latin typeface="Consolas" panose="020B0609020204030204" pitchFamily="49" charset="0"/>
            </a:endParaRPr>
          </a:p>
        </p:txBody>
      </p:sp>
      <p:pic>
        <p:nvPicPr>
          <p:cNvPr id="23" name="Picture 22" descr="A diagram of a network&#10;&#10;Description automatically generated">
            <a:extLst>
              <a:ext uri="{FF2B5EF4-FFF2-40B4-BE49-F238E27FC236}">
                <a16:creationId xmlns:a16="http://schemas.microsoft.com/office/drawing/2014/main" id="{D85336B3-FEBA-AABA-3898-FABD567975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4718" y="44814"/>
            <a:ext cx="9257282" cy="1713245"/>
          </a:xfrm>
          <a:prstGeom prst="rect">
            <a:avLst/>
          </a:prstGeom>
        </p:spPr>
      </p:pic>
      <p:sp>
        <p:nvSpPr>
          <p:cNvPr id="21" name="Rectangle 20">
            <a:extLst>
              <a:ext uri="{FF2B5EF4-FFF2-40B4-BE49-F238E27FC236}">
                <a16:creationId xmlns:a16="http://schemas.microsoft.com/office/drawing/2014/main" id="{0F650007-BBAE-8DD1-5CC0-090B2134B029}"/>
              </a:ext>
            </a:extLst>
          </p:cNvPr>
          <p:cNvSpPr/>
          <p:nvPr/>
        </p:nvSpPr>
        <p:spPr>
          <a:xfrm>
            <a:off x="9177274" y="381824"/>
            <a:ext cx="642366" cy="701769"/>
          </a:xfrm>
          <a:prstGeom prst="rect">
            <a:avLst/>
          </a:prstGeom>
          <a:noFill/>
          <a:ln w="254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A230AD45-DE09-0369-F10B-30642BF7FAB6}"/>
              </a:ext>
            </a:extLst>
          </p:cNvPr>
          <p:cNvSpPr>
            <a:spLocks noGrp="1"/>
          </p:cNvSpPr>
          <p:nvPr>
            <p:ph type="body" sz="quarter" idx="10"/>
          </p:nvPr>
        </p:nvSpPr>
        <p:spPr>
          <a:xfrm>
            <a:off x="110490" y="1437211"/>
            <a:ext cx="4809744" cy="2182098"/>
          </a:xfrm>
        </p:spPr>
        <p:txBody>
          <a:bodyPr/>
          <a:lstStyle/>
          <a:p>
            <a:r>
              <a:rPr lang="en-US" sz="1400" dirty="0"/>
              <a:t>R01: </a:t>
            </a:r>
            <a:r>
              <a:rPr lang="en-US" sz="1400" dirty="0">
                <a:highlight>
                  <a:srgbClr val="FFFF00"/>
                </a:highlight>
              </a:rPr>
              <a:t>Lo0=2001:9999::1/128</a:t>
            </a:r>
            <a:r>
              <a:rPr lang="en-US" sz="1400" dirty="0"/>
              <a:t>; </a:t>
            </a:r>
            <a:r>
              <a:rPr lang="en-US" sz="1400" dirty="0">
                <a:highlight>
                  <a:srgbClr val="00FF00"/>
                </a:highlight>
              </a:rPr>
              <a:t>Locator=fc00:ab00:1::/48</a:t>
            </a:r>
            <a:r>
              <a:rPr lang="en-US" sz="1400" dirty="0"/>
              <a:t>; NET=49.0001.0000.0000.0001.00</a:t>
            </a:r>
          </a:p>
          <a:p>
            <a:r>
              <a:rPr lang="en-US" sz="1400" dirty="0"/>
              <a:t>R02: </a:t>
            </a:r>
            <a:r>
              <a:rPr lang="en-US" sz="1400" dirty="0">
                <a:highlight>
                  <a:srgbClr val="00FFFF"/>
                </a:highlight>
              </a:rPr>
              <a:t>Lo0=2001:9999::2/128</a:t>
            </a:r>
            <a:r>
              <a:rPr lang="en-US" sz="1400" dirty="0"/>
              <a:t>; </a:t>
            </a:r>
            <a:r>
              <a:rPr lang="en-US" sz="1400" dirty="0">
                <a:highlight>
                  <a:srgbClr val="FF00FF"/>
                </a:highlight>
              </a:rPr>
              <a:t>Locator=fc00:ab00:2::/48</a:t>
            </a:r>
            <a:r>
              <a:rPr lang="en-US" sz="1400" dirty="0"/>
              <a:t>; NET=49.0001.0000.0000.0002.00</a:t>
            </a:r>
          </a:p>
          <a:p>
            <a:r>
              <a:rPr lang="en-US" sz="1400" dirty="0"/>
              <a:t>R03: </a:t>
            </a:r>
            <a:r>
              <a:rPr lang="en-US" sz="1400" dirty="0">
                <a:solidFill>
                  <a:schemeClr val="bg1"/>
                </a:solidFill>
                <a:highlight>
                  <a:srgbClr val="0000FF"/>
                </a:highlight>
              </a:rPr>
              <a:t>Lo0=2001:9999::3/128</a:t>
            </a:r>
            <a:r>
              <a:rPr lang="en-US" sz="1400" dirty="0"/>
              <a:t>; </a:t>
            </a:r>
            <a:r>
              <a:rPr lang="en-US" sz="1400" dirty="0">
                <a:highlight>
                  <a:srgbClr val="FF0000"/>
                </a:highlight>
              </a:rPr>
              <a:t>Locator=fc00:ab00:3::/48</a:t>
            </a:r>
            <a:r>
              <a:rPr lang="en-US" sz="1400" dirty="0"/>
              <a:t>; NET=49.0001.0000.0000.0003.00</a:t>
            </a:r>
          </a:p>
          <a:p>
            <a:r>
              <a:rPr lang="en-US" sz="1400" dirty="0"/>
              <a:t>R04: </a:t>
            </a:r>
            <a:r>
              <a:rPr lang="en-US" sz="1400" dirty="0">
                <a:solidFill>
                  <a:schemeClr val="bg1"/>
                </a:solidFill>
                <a:highlight>
                  <a:srgbClr val="000080"/>
                </a:highlight>
              </a:rPr>
              <a:t>Lo0=2001:9999::4/128</a:t>
            </a:r>
            <a:r>
              <a:rPr lang="en-US" sz="1400" dirty="0"/>
              <a:t>; </a:t>
            </a:r>
            <a:r>
              <a:rPr lang="en-US" sz="1400" dirty="0">
                <a:highlight>
                  <a:srgbClr val="008080"/>
                </a:highlight>
              </a:rPr>
              <a:t>Locator=fc00:ab00:4::/48</a:t>
            </a:r>
            <a:r>
              <a:rPr lang="en-US" sz="1400" dirty="0"/>
              <a:t>; NET=49.0001.0000.0000.0004.00</a:t>
            </a:r>
          </a:p>
          <a:p>
            <a:endParaRPr lang="en-US" sz="1400" dirty="0"/>
          </a:p>
        </p:txBody>
      </p:sp>
      <p:sp>
        <p:nvSpPr>
          <p:cNvPr id="7" name="Rectangle 6">
            <a:extLst>
              <a:ext uri="{FF2B5EF4-FFF2-40B4-BE49-F238E27FC236}">
                <a16:creationId xmlns:a16="http://schemas.microsoft.com/office/drawing/2014/main" id="{0967F153-BAB2-037A-945A-78B4F6704383}"/>
              </a:ext>
            </a:extLst>
          </p:cNvPr>
          <p:cNvSpPr/>
          <p:nvPr/>
        </p:nvSpPr>
        <p:spPr>
          <a:xfrm>
            <a:off x="6662292" y="1083593"/>
            <a:ext cx="5529708" cy="5786199"/>
          </a:xfrm>
          <a:prstGeom prst="rect">
            <a:avLst/>
          </a:prstGeom>
          <a:solidFill>
            <a:schemeClr val="bg1">
              <a:lumMod val="95000"/>
            </a:schemeClr>
          </a:solidFill>
          <a:ln>
            <a:solidFill>
              <a:schemeClr val="tx1"/>
            </a:solidFill>
          </a:ln>
          <a:effectLst/>
        </p:spPr>
        <p:txBody>
          <a:bodyPr wrap="square">
            <a:spAutoFit/>
          </a:bodyPr>
          <a:lstStyle/>
          <a:p>
            <a:r>
              <a:rPr lang="sk-SK" sz="1000" dirty="0">
                <a:latin typeface="Consolas" panose="020B0609020204030204" pitchFamily="49" charset="0"/>
              </a:rPr>
              <a:t>RP/0/RP0/CPU0:</a:t>
            </a:r>
            <a:r>
              <a:rPr lang="sk-SK" sz="1000" b="1" dirty="0">
                <a:latin typeface="Consolas" panose="020B0609020204030204" pitchFamily="49" charset="0"/>
              </a:rPr>
              <a:t>R0</a:t>
            </a:r>
            <a:r>
              <a:rPr lang="en-US" sz="1000" b="1" dirty="0">
                <a:latin typeface="Consolas" panose="020B0609020204030204" pitchFamily="49" charset="0"/>
              </a:rPr>
              <a:t>4</a:t>
            </a:r>
            <a:r>
              <a:rPr lang="sk-SK" sz="1000" dirty="0">
                <a:latin typeface="Consolas" panose="020B0609020204030204" pitchFamily="49" charset="0"/>
              </a:rPr>
              <a:t>#sh </a:t>
            </a:r>
            <a:r>
              <a:rPr lang="sk-SK" sz="1000" dirty="0" err="1">
                <a:latin typeface="Consolas" panose="020B0609020204030204" pitchFamily="49" charset="0"/>
              </a:rPr>
              <a:t>route</a:t>
            </a:r>
            <a:r>
              <a:rPr lang="sk-SK" sz="1000" dirty="0">
                <a:latin typeface="Consolas" panose="020B0609020204030204" pitchFamily="49" charset="0"/>
              </a:rPr>
              <a:t> ipv6</a:t>
            </a:r>
          </a:p>
          <a:p>
            <a:r>
              <a:rPr lang="en-US" sz="1000" dirty="0">
                <a:latin typeface="Consolas" panose="020B0609020204030204" pitchFamily="49" charset="0"/>
              </a:rPr>
              <a:t>-- Cut --</a:t>
            </a:r>
            <a:endParaRPr lang="sk-SK" sz="1000" dirty="0">
              <a:latin typeface="Consolas" panose="020B0609020204030204" pitchFamily="49" charset="0"/>
            </a:endParaRPr>
          </a:p>
          <a:p>
            <a:r>
              <a:rPr lang="sk-SK" sz="1000" dirty="0">
                <a:highlight>
                  <a:srgbClr val="FFFF00"/>
                </a:highlight>
                <a:latin typeface="Consolas" panose="020B0609020204030204" pitchFamily="49" charset="0"/>
              </a:rPr>
              <a:t>i L2 2001:9999::1/128 </a:t>
            </a:r>
          </a:p>
          <a:p>
            <a:r>
              <a:rPr lang="sk-SK" sz="1000" dirty="0">
                <a:highlight>
                  <a:srgbClr val="FFFF00"/>
                </a:highlight>
                <a:latin typeface="Consolas" panose="020B0609020204030204" pitchFamily="49" charset="0"/>
              </a:rPr>
              <a:t>      [115/20] </a:t>
            </a:r>
            <a:r>
              <a:rPr lang="sk-SK" sz="1000" dirty="0" err="1">
                <a:highlight>
                  <a:srgbClr val="FFFF00"/>
                </a:highlight>
                <a:latin typeface="Consolas" panose="020B0609020204030204" pitchFamily="49" charset="0"/>
              </a:rPr>
              <a:t>via</a:t>
            </a:r>
            <a:r>
              <a:rPr lang="sk-SK" sz="1000" dirty="0">
                <a:highlight>
                  <a:srgbClr val="FFFF00"/>
                </a:highlight>
                <a:latin typeface="Consolas" panose="020B0609020204030204" pitchFamily="49" charset="0"/>
              </a:rPr>
              <a:t> fe80::5054:ff:fe05:ee55, 1d00h, GigabitEthernet0/0/0/4</a:t>
            </a:r>
          </a:p>
          <a:p>
            <a:r>
              <a:rPr lang="sk-SK" sz="1000" dirty="0">
                <a:highlight>
                  <a:srgbClr val="00FFFF"/>
                </a:highlight>
                <a:latin typeface="Consolas" panose="020B0609020204030204" pitchFamily="49" charset="0"/>
              </a:rPr>
              <a:t>i L2 2001:9999::2/128 </a:t>
            </a:r>
          </a:p>
          <a:p>
            <a:r>
              <a:rPr lang="sk-SK" sz="1000" dirty="0">
                <a:highlight>
                  <a:srgbClr val="00FFFF"/>
                </a:highlight>
                <a:latin typeface="Consolas" panose="020B0609020204030204" pitchFamily="49" charset="0"/>
              </a:rPr>
              <a:t>      [115/10] </a:t>
            </a:r>
            <a:r>
              <a:rPr lang="sk-SK" sz="1000" dirty="0" err="1">
                <a:highlight>
                  <a:srgbClr val="00FFFF"/>
                </a:highlight>
                <a:latin typeface="Consolas" panose="020B0609020204030204" pitchFamily="49" charset="0"/>
              </a:rPr>
              <a:t>via</a:t>
            </a:r>
            <a:r>
              <a:rPr lang="sk-SK" sz="1000" dirty="0">
                <a:highlight>
                  <a:srgbClr val="00FFFF"/>
                </a:highlight>
                <a:latin typeface="Consolas" panose="020B0609020204030204" pitchFamily="49" charset="0"/>
              </a:rPr>
              <a:t> fe80::5054:ff:fe05:ee55, 1d00h, GigabitEthernet0/0/0/4</a:t>
            </a:r>
          </a:p>
          <a:p>
            <a:r>
              <a:rPr lang="sk-SK" sz="1000" dirty="0">
                <a:solidFill>
                  <a:schemeClr val="bg1"/>
                </a:solidFill>
                <a:highlight>
                  <a:srgbClr val="0000FF"/>
                </a:highlight>
                <a:latin typeface="Consolas" panose="020B0609020204030204" pitchFamily="49" charset="0"/>
              </a:rPr>
              <a:t>i L2 2001:9999::3/128 </a:t>
            </a:r>
          </a:p>
          <a:p>
            <a:r>
              <a:rPr lang="sk-SK" sz="1000" dirty="0">
                <a:solidFill>
                  <a:schemeClr val="bg1"/>
                </a:solidFill>
                <a:highlight>
                  <a:srgbClr val="0000FF"/>
                </a:highlight>
                <a:latin typeface="Consolas" panose="020B0609020204030204" pitchFamily="49" charset="0"/>
              </a:rPr>
              <a:t>      [115/10] </a:t>
            </a:r>
            <a:r>
              <a:rPr lang="sk-SK" sz="1000" dirty="0" err="1">
                <a:solidFill>
                  <a:schemeClr val="bg1"/>
                </a:solidFill>
                <a:highlight>
                  <a:srgbClr val="0000FF"/>
                </a:highlight>
                <a:latin typeface="Consolas" panose="020B0609020204030204" pitchFamily="49" charset="0"/>
              </a:rPr>
              <a:t>via</a:t>
            </a:r>
            <a:r>
              <a:rPr lang="sk-SK" sz="1000" dirty="0">
                <a:solidFill>
                  <a:schemeClr val="bg1"/>
                </a:solidFill>
                <a:highlight>
                  <a:srgbClr val="0000FF"/>
                </a:highlight>
                <a:latin typeface="Consolas" panose="020B0609020204030204" pitchFamily="49" charset="0"/>
              </a:rPr>
              <a:t> fe80::5054:ff:fe1f:b0f5, 1d00h, GigabitEthernet0/0/0/3</a:t>
            </a:r>
          </a:p>
          <a:p>
            <a:r>
              <a:rPr lang="sk-SK" sz="1000" dirty="0">
                <a:solidFill>
                  <a:schemeClr val="bg1"/>
                </a:solidFill>
                <a:highlight>
                  <a:srgbClr val="000080"/>
                </a:highlight>
                <a:latin typeface="Consolas" panose="020B0609020204030204" pitchFamily="49" charset="0"/>
              </a:rPr>
              <a:t>L    2001:9999::4/128 </a:t>
            </a:r>
            <a:r>
              <a:rPr lang="sk-SK" sz="1000" dirty="0" err="1">
                <a:solidFill>
                  <a:schemeClr val="bg1"/>
                </a:solidFill>
                <a:highlight>
                  <a:srgbClr val="000080"/>
                </a:highlight>
                <a:latin typeface="Consolas" panose="020B0609020204030204" pitchFamily="49" charset="0"/>
              </a:rPr>
              <a:t>is</a:t>
            </a:r>
            <a:r>
              <a:rPr lang="sk-SK" sz="1000" dirty="0">
                <a:solidFill>
                  <a:schemeClr val="bg1"/>
                </a:solidFill>
                <a:highlight>
                  <a:srgbClr val="000080"/>
                </a:highlight>
                <a:latin typeface="Consolas" panose="020B0609020204030204" pitchFamily="49" charset="0"/>
              </a:rPr>
              <a:t> </a:t>
            </a:r>
            <a:r>
              <a:rPr lang="sk-SK" sz="1000" dirty="0" err="1">
                <a:solidFill>
                  <a:schemeClr val="bg1"/>
                </a:solidFill>
                <a:highlight>
                  <a:srgbClr val="000080"/>
                </a:highlight>
                <a:latin typeface="Consolas" panose="020B0609020204030204" pitchFamily="49" charset="0"/>
              </a:rPr>
              <a:t>directly</a:t>
            </a:r>
            <a:r>
              <a:rPr lang="sk-SK" sz="1000" dirty="0">
                <a:solidFill>
                  <a:schemeClr val="bg1"/>
                </a:solidFill>
                <a:highlight>
                  <a:srgbClr val="000080"/>
                </a:highlight>
                <a:latin typeface="Consolas" panose="020B0609020204030204" pitchFamily="49" charset="0"/>
              </a:rPr>
              <a:t> </a:t>
            </a:r>
            <a:r>
              <a:rPr lang="sk-SK" sz="1000" dirty="0" err="1">
                <a:solidFill>
                  <a:schemeClr val="bg1"/>
                </a:solidFill>
                <a:highlight>
                  <a:srgbClr val="000080"/>
                </a:highlight>
                <a:latin typeface="Consolas" panose="020B0609020204030204" pitchFamily="49" charset="0"/>
              </a:rPr>
              <a:t>connected</a:t>
            </a:r>
            <a:r>
              <a:rPr lang="sk-SK" sz="1000" dirty="0">
                <a:solidFill>
                  <a:schemeClr val="bg1"/>
                </a:solidFill>
                <a:highlight>
                  <a:srgbClr val="000080"/>
                </a:highlight>
                <a:latin typeface="Consolas" panose="020B0609020204030204" pitchFamily="49" charset="0"/>
              </a:rPr>
              <a:t>,</a:t>
            </a:r>
          </a:p>
          <a:p>
            <a:r>
              <a:rPr lang="sk-SK" sz="1000" dirty="0">
                <a:solidFill>
                  <a:schemeClr val="bg1"/>
                </a:solidFill>
                <a:highlight>
                  <a:srgbClr val="000080"/>
                </a:highlight>
                <a:latin typeface="Consolas" panose="020B0609020204030204" pitchFamily="49" charset="0"/>
              </a:rPr>
              <a:t>      1d05h, Loopback0</a:t>
            </a:r>
          </a:p>
          <a:p>
            <a:r>
              <a:rPr lang="sk-SK" sz="1000" dirty="0">
                <a:highlight>
                  <a:srgbClr val="00FF00"/>
                </a:highlight>
                <a:latin typeface="Consolas" panose="020B0609020204030204" pitchFamily="49" charset="0"/>
              </a:rPr>
              <a:t>i L2 fc00:ab00:1::/48 </a:t>
            </a:r>
          </a:p>
          <a:p>
            <a:r>
              <a:rPr lang="sk-SK" sz="1000" dirty="0">
                <a:highlight>
                  <a:srgbClr val="00FF00"/>
                </a:highlight>
                <a:latin typeface="Consolas" panose="020B0609020204030204" pitchFamily="49" charset="0"/>
              </a:rPr>
              <a:t>      [115/21] </a:t>
            </a:r>
            <a:r>
              <a:rPr lang="sk-SK" sz="1000" dirty="0" err="1">
                <a:highlight>
                  <a:srgbClr val="00FF00"/>
                </a:highlight>
                <a:latin typeface="Consolas" panose="020B0609020204030204" pitchFamily="49" charset="0"/>
              </a:rPr>
              <a:t>via</a:t>
            </a:r>
            <a:r>
              <a:rPr lang="sk-SK" sz="1000" dirty="0">
                <a:highlight>
                  <a:srgbClr val="00FF00"/>
                </a:highlight>
                <a:latin typeface="Consolas" panose="020B0609020204030204" pitchFamily="49" charset="0"/>
              </a:rPr>
              <a:t> fe80::5054:ff:fe05:ee55, 1d00h, GigabitEthernet0/0/0/4</a:t>
            </a:r>
          </a:p>
          <a:p>
            <a:r>
              <a:rPr lang="sk-SK" sz="1000" dirty="0">
                <a:highlight>
                  <a:srgbClr val="FF00FF"/>
                </a:highlight>
                <a:latin typeface="Consolas" panose="020B0609020204030204" pitchFamily="49" charset="0"/>
              </a:rPr>
              <a:t>i L2 fc00:ab00:2::/48 </a:t>
            </a:r>
          </a:p>
          <a:p>
            <a:r>
              <a:rPr lang="sk-SK" sz="1000" dirty="0">
                <a:highlight>
                  <a:srgbClr val="FF00FF"/>
                </a:highlight>
                <a:latin typeface="Consolas" panose="020B0609020204030204" pitchFamily="49" charset="0"/>
              </a:rPr>
              <a:t>      [115/11] </a:t>
            </a:r>
            <a:r>
              <a:rPr lang="sk-SK" sz="1000" dirty="0" err="1">
                <a:highlight>
                  <a:srgbClr val="FF00FF"/>
                </a:highlight>
                <a:latin typeface="Consolas" panose="020B0609020204030204" pitchFamily="49" charset="0"/>
              </a:rPr>
              <a:t>via</a:t>
            </a:r>
            <a:r>
              <a:rPr lang="sk-SK" sz="1000" dirty="0">
                <a:highlight>
                  <a:srgbClr val="FF00FF"/>
                </a:highlight>
                <a:latin typeface="Consolas" panose="020B0609020204030204" pitchFamily="49" charset="0"/>
              </a:rPr>
              <a:t> fe80::5054:ff:fe05:ee55, 1d00h, GigabitEthernet0/0/0/4</a:t>
            </a:r>
          </a:p>
          <a:p>
            <a:r>
              <a:rPr lang="sk-SK" sz="1000" dirty="0">
                <a:highlight>
                  <a:srgbClr val="FF0000"/>
                </a:highlight>
                <a:latin typeface="Consolas" panose="020B0609020204030204" pitchFamily="49" charset="0"/>
              </a:rPr>
              <a:t>i L2 fc00:ab00:3::/48 </a:t>
            </a:r>
          </a:p>
          <a:p>
            <a:r>
              <a:rPr lang="sk-SK" sz="1000" dirty="0">
                <a:highlight>
                  <a:srgbClr val="FF0000"/>
                </a:highlight>
                <a:latin typeface="Consolas" panose="020B0609020204030204" pitchFamily="49" charset="0"/>
              </a:rPr>
              <a:t>      [115/11] </a:t>
            </a:r>
            <a:r>
              <a:rPr lang="sk-SK" sz="1000" dirty="0" err="1">
                <a:highlight>
                  <a:srgbClr val="FF0000"/>
                </a:highlight>
                <a:latin typeface="Consolas" panose="020B0609020204030204" pitchFamily="49" charset="0"/>
              </a:rPr>
              <a:t>via</a:t>
            </a:r>
            <a:r>
              <a:rPr lang="sk-SK" sz="1000" dirty="0">
                <a:highlight>
                  <a:srgbClr val="FF0000"/>
                </a:highlight>
                <a:latin typeface="Consolas" panose="020B0609020204030204" pitchFamily="49" charset="0"/>
              </a:rPr>
              <a:t> fe80::5054:ff:fe1f:b0f5, 1d00h, GigabitEthernet0/0/0/3</a:t>
            </a:r>
          </a:p>
          <a:p>
            <a:r>
              <a:rPr lang="sk-SK" sz="1000" dirty="0">
                <a:highlight>
                  <a:srgbClr val="008080"/>
                </a:highlight>
                <a:latin typeface="Consolas" panose="020B0609020204030204" pitchFamily="49" charset="0"/>
              </a:rPr>
              <a:t>L    fc00:ab00:4::/48, SRv6 </a:t>
            </a:r>
            <a:r>
              <a:rPr lang="sk-SK" sz="1000" dirty="0" err="1">
                <a:highlight>
                  <a:srgbClr val="008080"/>
                </a:highlight>
                <a:latin typeface="Consolas" panose="020B0609020204030204" pitchFamily="49" charset="0"/>
              </a:rPr>
              <a:t>Endpoint</a:t>
            </a:r>
            <a:r>
              <a:rPr lang="sk-SK" sz="1000" dirty="0">
                <a:highlight>
                  <a:srgbClr val="008080"/>
                </a:highlight>
                <a:latin typeface="Consolas" panose="020B0609020204030204" pitchFamily="49" charset="0"/>
              </a:rPr>
              <a:t> </a:t>
            </a:r>
            <a:r>
              <a:rPr lang="sk-SK" sz="1000" dirty="0" err="1">
                <a:highlight>
                  <a:srgbClr val="008080"/>
                </a:highlight>
                <a:latin typeface="Consolas" panose="020B0609020204030204" pitchFamily="49" charset="0"/>
              </a:rPr>
              <a:t>uN</a:t>
            </a:r>
            <a:r>
              <a:rPr lang="sk-SK" sz="1000" dirty="0">
                <a:highlight>
                  <a:srgbClr val="008080"/>
                </a:highlight>
                <a:latin typeface="Consolas" panose="020B0609020204030204" pitchFamily="49" charset="0"/>
              </a:rPr>
              <a:t> (</a:t>
            </a:r>
            <a:r>
              <a:rPr lang="sk-SK" sz="1000" dirty="0" err="1">
                <a:highlight>
                  <a:srgbClr val="008080"/>
                </a:highlight>
                <a:latin typeface="Consolas" panose="020B0609020204030204" pitchFamily="49" charset="0"/>
              </a:rPr>
              <a:t>shift</a:t>
            </a:r>
            <a:r>
              <a:rPr lang="sk-SK" sz="1000" dirty="0">
                <a:highlight>
                  <a:srgbClr val="008080"/>
                </a:highlight>
                <a:latin typeface="Consolas" panose="020B0609020204030204" pitchFamily="49" charset="0"/>
              </a:rPr>
              <a:t>) </a:t>
            </a:r>
          </a:p>
          <a:p>
            <a:r>
              <a:rPr lang="sk-SK" sz="1000" dirty="0">
                <a:highlight>
                  <a:srgbClr val="008080"/>
                </a:highlight>
                <a:latin typeface="Consolas" panose="020B0609020204030204" pitchFamily="49" charset="0"/>
              </a:rPr>
              <a:t>      [0/0] </a:t>
            </a:r>
            <a:r>
              <a:rPr lang="sk-SK" sz="1000" dirty="0" err="1">
                <a:highlight>
                  <a:srgbClr val="008080"/>
                </a:highlight>
                <a:latin typeface="Consolas" panose="020B0609020204030204" pitchFamily="49" charset="0"/>
              </a:rPr>
              <a:t>via</a:t>
            </a:r>
            <a:r>
              <a:rPr lang="sk-SK" sz="1000" dirty="0">
                <a:highlight>
                  <a:srgbClr val="008080"/>
                </a:highlight>
                <a:latin typeface="Consolas" panose="020B0609020204030204" pitchFamily="49" charset="0"/>
              </a:rPr>
              <a:t> ::, 1d05h</a:t>
            </a:r>
          </a:p>
          <a:p>
            <a:r>
              <a:rPr lang="sk-SK" sz="1000" dirty="0">
                <a:highlight>
                  <a:srgbClr val="008080"/>
                </a:highlight>
                <a:latin typeface="Consolas" panose="020B0609020204030204" pitchFamily="49" charset="0"/>
              </a:rPr>
              <a:t>L    fc00:ab00:4::/64, SRv6 </a:t>
            </a:r>
            <a:r>
              <a:rPr lang="sk-SK" sz="1000" dirty="0" err="1">
                <a:highlight>
                  <a:srgbClr val="008080"/>
                </a:highlight>
                <a:latin typeface="Consolas" panose="020B0609020204030204" pitchFamily="49" charset="0"/>
              </a:rPr>
              <a:t>Endpoint</a:t>
            </a:r>
            <a:r>
              <a:rPr lang="sk-SK" sz="1000" dirty="0">
                <a:highlight>
                  <a:srgbClr val="008080"/>
                </a:highlight>
                <a:latin typeface="Consolas" panose="020B0609020204030204" pitchFamily="49" charset="0"/>
              </a:rPr>
              <a:t> </a:t>
            </a:r>
            <a:r>
              <a:rPr lang="sk-SK" sz="1000" dirty="0" err="1">
                <a:highlight>
                  <a:srgbClr val="008080"/>
                </a:highlight>
                <a:latin typeface="Consolas" panose="020B0609020204030204" pitchFamily="49" charset="0"/>
              </a:rPr>
              <a:t>uN</a:t>
            </a:r>
            <a:r>
              <a:rPr lang="sk-SK" sz="1000" dirty="0">
                <a:highlight>
                  <a:srgbClr val="008080"/>
                </a:highlight>
                <a:latin typeface="Consolas" panose="020B0609020204030204" pitchFamily="49" charset="0"/>
              </a:rPr>
              <a:t> (PSP/USD) </a:t>
            </a:r>
          </a:p>
          <a:p>
            <a:r>
              <a:rPr lang="sk-SK" sz="1000" dirty="0">
                <a:highlight>
                  <a:srgbClr val="008080"/>
                </a:highlight>
                <a:latin typeface="Consolas" panose="020B0609020204030204" pitchFamily="49" charset="0"/>
              </a:rPr>
              <a:t>      [0/0] </a:t>
            </a:r>
            <a:r>
              <a:rPr lang="sk-SK" sz="1000" dirty="0" err="1">
                <a:highlight>
                  <a:srgbClr val="008080"/>
                </a:highlight>
                <a:latin typeface="Consolas" panose="020B0609020204030204" pitchFamily="49" charset="0"/>
              </a:rPr>
              <a:t>via</a:t>
            </a:r>
            <a:r>
              <a:rPr lang="sk-SK" sz="1000" dirty="0">
                <a:highlight>
                  <a:srgbClr val="008080"/>
                </a:highlight>
                <a:latin typeface="Consolas" panose="020B0609020204030204" pitchFamily="49" charset="0"/>
              </a:rPr>
              <a:t> ::, 1d05h</a:t>
            </a:r>
          </a:p>
          <a:p>
            <a:r>
              <a:rPr lang="sk-SK" sz="1000" dirty="0">
                <a:highlight>
                  <a:srgbClr val="008080"/>
                </a:highlight>
                <a:latin typeface="Consolas" panose="020B0609020204030204" pitchFamily="49" charset="0"/>
              </a:rPr>
              <a:t>L    fc00:ab00:4:e000::/64, SRv6 </a:t>
            </a:r>
            <a:r>
              <a:rPr lang="sk-SK" sz="1000" dirty="0" err="1">
                <a:highlight>
                  <a:srgbClr val="008080"/>
                </a:highlight>
                <a:latin typeface="Consolas" panose="020B0609020204030204" pitchFamily="49" charset="0"/>
              </a:rPr>
              <a:t>Endpoint</a:t>
            </a:r>
            <a:r>
              <a:rPr lang="sk-SK" sz="1000" dirty="0">
                <a:highlight>
                  <a:srgbClr val="008080"/>
                </a:highlight>
                <a:latin typeface="Consolas" panose="020B0609020204030204" pitchFamily="49" charset="0"/>
              </a:rPr>
              <a:t> </a:t>
            </a:r>
            <a:r>
              <a:rPr lang="sk-SK" sz="1000" dirty="0" err="1">
                <a:highlight>
                  <a:srgbClr val="008080"/>
                </a:highlight>
                <a:latin typeface="Consolas" panose="020B0609020204030204" pitchFamily="49" charset="0"/>
              </a:rPr>
              <a:t>uA</a:t>
            </a:r>
            <a:r>
              <a:rPr lang="sk-SK" sz="1000" dirty="0">
                <a:highlight>
                  <a:srgbClr val="008080"/>
                </a:highlight>
                <a:latin typeface="Consolas" panose="020B0609020204030204" pitchFamily="49" charset="0"/>
              </a:rPr>
              <a:t> (</a:t>
            </a:r>
            <a:r>
              <a:rPr lang="sk-SK" sz="1000" dirty="0" err="1">
                <a:highlight>
                  <a:srgbClr val="008080"/>
                </a:highlight>
                <a:latin typeface="Consolas" panose="020B0609020204030204" pitchFamily="49" charset="0"/>
              </a:rPr>
              <a:t>shift</a:t>
            </a:r>
            <a:r>
              <a:rPr lang="sk-SK" sz="1000" dirty="0">
                <a:highlight>
                  <a:srgbClr val="008080"/>
                </a:highlight>
                <a:latin typeface="Consolas" panose="020B0609020204030204" pitchFamily="49" charset="0"/>
              </a:rPr>
              <a:t>) </a:t>
            </a:r>
          </a:p>
          <a:p>
            <a:r>
              <a:rPr lang="sk-SK" sz="1000" dirty="0">
                <a:highlight>
                  <a:srgbClr val="008080"/>
                </a:highlight>
                <a:latin typeface="Consolas" panose="020B0609020204030204" pitchFamily="49" charset="0"/>
              </a:rPr>
              <a:t>      [0/0] </a:t>
            </a:r>
            <a:r>
              <a:rPr lang="sk-SK" sz="1000" dirty="0" err="1">
                <a:highlight>
                  <a:srgbClr val="008080"/>
                </a:highlight>
                <a:latin typeface="Consolas" panose="020B0609020204030204" pitchFamily="49" charset="0"/>
              </a:rPr>
              <a:t>via</a:t>
            </a:r>
            <a:r>
              <a:rPr lang="sk-SK" sz="1000" dirty="0">
                <a:highlight>
                  <a:srgbClr val="008080"/>
                </a:highlight>
                <a:latin typeface="Consolas" panose="020B0609020204030204" pitchFamily="49" charset="0"/>
              </a:rPr>
              <a:t> fe80::5054:ff:fe05:ee55, 1d00h, GigabitEthernet0/0/0/4</a:t>
            </a:r>
          </a:p>
          <a:p>
            <a:r>
              <a:rPr lang="sk-SK" sz="1000" dirty="0">
                <a:highlight>
                  <a:srgbClr val="008080"/>
                </a:highlight>
                <a:latin typeface="Consolas" panose="020B0609020204030204" pitchFamily="49" charset="0"/>
              </a:rPr>
              <a:t>L    fc00:ab00:4:e000::/80, SRv6 </a:t>
            </a:r>
            <a:r>
              <a:rPr lang="sk-SK" sz="1000" dirty="0" err="1">
                <a:highlight>
                  <a:srgbClr val="008080"/>
                </a:highlight>
                <a:latin typeface="Consolas" panose="020B0609020204030204" pitchFamily="49" charset="0"/>
              </a:rPr>
              <a:t>Endpoint</a:t>
            </a:r>
            <a:r>
              <a:rPr lang="sk-SK" sz="1000" dirty="0">
                <a:highlight>
                  <a:srgbClr val="008080"/>
                </a:highlight>
                <a:latin typeface="Consolas" panose="020B0609020204030204" pitchFamily="49" charset="0"/>
              </a:rPr>
              <a:t> </a:t>
            </a:r>
            <a:r>
              <a:rPr lang="sk-SK" sz="1000" dirty="0" err="1">
                <a:highlight>
                  <a:srgbClr val="008080"/>
                </a:highlight>
                <a:latin typeface="Consolas" panose="020B0609020204030204" pitchFamily="49" charset="0"/>
              </a:rPr>
              <a:t>uA</a:t>
            </a:r>
            <a:r>
              <a:rPr lang="sk-SK" sz="1000" dirty="0">
                <a:highlight>
                  <a:srgbClr val="008080"/>
                </a:highlight>
                <a:latin typeface="Consolas" panose="020B0609020204030204" pitchFamily="49" charset="0"/>
              </a:rPr>
              <a:t> (PSP/USD) </a:t>
            </a:r>
          </a:p>
          <a:p>
            <a:r>
              <a:rPr lang="sk-SK" sz="1000" dirty="0">
                <a:highlight>
                  <a:srgbClr val="008080"/>
                </a:highlight>
                <a:latin typeface="Consolas" panose="020B0609020204030204" pitchFamily="49" charset="0"/>
              </a:rPr>
              <a:t>      [0/0] </a:t>
            </a:r>
            <a:r>
              <a:rPr lang="sk-SK" sz="1000" dirty="0" err="1">
                <a:highlight>
                  <a:srgbClr val="008080"/>
                </a:highlight>
                <a:latin typeface="Consolas" panose="020B0609020204030204" pitchFamily="49" charset="0"/>
              </a:rPr>
              <a:t>via</a:t>
            </a:r>
            <a:r>
              <a:rPr lang="sk-SK" sz="1000" dirty="0">
                <a:highlight>
                  <a:srgbClr val="008080"/>
                </a:highlight>
                <a:latin typeface="Consolas" panose="020B0609020204030204" pitchFamily="49" charset="0"/>
              </a:rPr>
              <a:t> fe80::5054:ff:fe05:ee55, 1d00h, GigabitEthernet0/0/0/4</a:t>
            </a:r>
          </a:p>
          <a:p>
            <a:r>
              <a:rPr lang="sk-SK" sz="1000" dirty="0">
                <a:highlight>
                  <a:srgbClr val="008080"/>
                </a:highlight>
                <a:latin typeface="Consolas" panose="020B0609020204030204" pitchFamily="49" charset="0"/>
              </a:rPr>
              <a:t>L    fc00:ab00:4:e001::/64, SRv6 </a:t>
            </a:r>
            <a:r>
              <a:rPr lang="sk-SK" sz="1000" dirty="0" err="1">
                <a:highlight>
                  <a:srgbClr val="008080"/>
                </a:highlight>
                <a:latin typeface="Consolas" panose="020B0609020204030204" pitchFamily="49" charset="0"/>
              </a:rPr>
              <a:t>Endpoint</a:t>
            </a:r>
            <a:r>
              <a:rPr lang="sk-SK" sz="1000" dirty="0">
                <a:highlight>
                  <a:srgbClr val="008080"/>
                </a:highlight>
                <a:latin typeface="Consolas" panose="020B0609020204030204" pitchFamily="49" charset="0"/>
              </a:rPr>
              <a:t> </a:t>
            </a:r>
            <a:r>
              <a:rPr lang="sk-SK" sz="1000" dirty="0" err="1">
                <a:highlight>
                  <a:srgbClr val="008080"/>
                </a:highlight>
                <a:latin typeface="Consolas" panose="020B0609020204030204" pitchFamily="49" charset="0"/>
              </a:rPr>
              <a:t>uA</a:t>
            </a:r>
            <a:r>
              <a:rPr lang="sk-SK" sz="1000" dirty="0">
                <a:highlight>
                  <a:srgbClr val="008080"/>
                </a:highlight>
                <a:latin typeface="Consolas" panose="020B0609020204030204" pitchFamily="49" charset="0"/>
              </a:rPr>
              <a:t> (</a:t>
            </a:r>
            <a:r>
              <a:rPr lang="sk-SK" sz="1000" dirty="0" err="1">
                <a:highlight>
                  <a:srgbClr val="008080"/>
                </a:highlight>
                <a:latin typeface="Consolas" panose="020B0609020204030204" pitchFamily="49" charset="0"/>
              </a:rPr>
              <a:t>shift</a:t>
            </a:r>
            <a:r>
              <a:rPr lang="sk-SK" sz="1000" dirty="0">
                <a:highlight>
                  <a:srgbClr val="008080"/>
                </a:highlight>
                <a:latin typeface="Consolas" panose="020B0609020204030204" pitchFamily="49" charset="0"/>
              </a:rPr>
              <a:t>) </a:t>
            </a:r>
          </a:p>
          <a:p>
            <a:r>
              <a:rPr lang="sk-SK" sz="1000" dirty="0">
                <a:highlight>
                  <a:srgbClr val="008080"/>
                </a:highlight>
                <a:latin typeface="Consolas" panose="020B0609020204030204" pitchFamily="49" charset="0"/>
              </a:rPr>
              <a:t>      [0/0] </a:t>
            </a:r>
            <a:r>
              <a:rPr lang="sk-SK" sz="1000" dirty="0" err="1">
                <a:highlight>
                  <a:srgbClr val="008080"/>
                </a:highlight>
                <a:latin typeface="Consolas" panose="020B0609020204030204" pitchFamily="49" charset="0"/>
              </a:rPr>
              <a:t>via</a:t>
            </a:r>
            <a:r>
              <a:rPr lang="sk-SK" sz="1000" dirty="0">
                <a:highlight>
                  <a:srgbClr val="008080"/>
                </a:highlight>
                <a:latin typeface="Consolas" panose="020B0609020204030204" pitchFamily="49" charset="0"/>
              </a:rPr>
              <a:t> fe80::5054:ff:fe1f:b0f5, 1d00h, GigabitEthernet0/0/0/3</a:t>
            </a:r>
          </a:p>
          <a:p>
            <a:r>
              <a:rPr lang="sk-SK" sz="1000" dirty="0">
                <a:highlight>
                  <a:srgbClr val="008080"/>
                </a:highlight>
                <a:latin typeface="Consolas" panose="020B0609020204030204" pitchFamily="49" charset="0"/>
              </a:rPr>
              <a:t>L    fc00:ab00:4:e001::/80, SRv6 </a:t>
            </a:r>
            <a:r>
              <a:rPr lang="sk-SK" sz="1000" dirty="0" err="1">
                <a:highlight>
                  <a:srgbClr val="008080"/>
                </a:highlight>
                <a:latin typeface="Consolas" panose="020B0609020204030204" pitchFamily="49" charset="0"/>
              </a:rPr>
              <a:t>Endpoint</a:t>
            </a:r>
            <a:r>
              <a:rPr lang="sk-SK" sz="1000" dirty="0">
                <a:highlight>
                  <a:srgbClr val="008080"/>
                </a:highlight>
                <a:latin typeface="Consolas" panose="020B0609020204030204" pitchFamily="49" charset="0"/>
              </a:rPr>
              <a:t> </a:t>
            </a:r>
            <a:r>
              <a:rPr lang="sk-SK" sz="1000" dirty="0" err="1">
                <a:highlight>
                  <a:srgbClr val="008080"/>
                </a:highlight>
                <a:latin typeface="Consolas" panose="020B0609020204030204" pitchFamily="49" charset="0"/>
              </a:rPr>
              <a:t>uA</a:t>
            </a:r>
            <a:r>
              <a:rPr lang="sk-SK" sz="1000" dirty="0">
                <a:highlight>
                  <a:srgbClr val="008080"/>
                </a:highlight>
                <a:latin typeface="Consolas" panose="020B0609020204030204" pitchFamily="49" charset="0"/>
              </a:rPr>
              <a:t> (PSP/USD) </a:t>
            </a:r>
          </a:p>
          <a:p>
            <a:r>
              <a:rPr lang="sk-SK" sz="1000" dirty="0">
                <a:highlight>
                  <a:srgbClr val="008080"/>
                </a:highlight>
                <a:latin typeface="Consolas" panose="020B0609020204030204" pitchFamily="49" charset="0"/>
              </a:rPr>
              <a:t>      [0/0] </a:t>
            </a:r>
            <a:r>
              <a:rPr lang="sk-SK" sz="1000" dirty="0" err="1">
                <a:highlight>
                  <a:srgbClr val="008080"/>
                </a:highlight>
                <a:latin typeface="Consolas" panose="020B0609020204030204" pitchFamily="49" charset="0"/>
              </a:rPr>
              <a:t>via</a:t>
            </a:r>
            <a:r>
              <a:rPr lang="sk-SK" sz="1000" dirty="0">
                <a:highlight>
                  <a:srgbClr val="008080"/>
                </a:highlight>
                <a:latin typeface="Consolas" panose="020B0609020204030204" pitchFamily="49" charset="0"/>
              </a:rPr>
              <a:t> fe80::5054:ff:fe1f:b0f5, 1d00h, GigabitEthernet0/0/0/3</a:t>
            </a:r>
          </a:p>
          <a:p>
            <a:r>
              <a:rPr lang="sk-SK" sz="1000" dirty="0">
                <a:highlight>
                  <a:srgbClr val="008080"/>
                </a:highlight>
                <a:latin typeface="Consolas" panose="020B0609020204030204" pitchFamily="49" charset="0"/>
              </a:rPr>
              <a:t>L    fc00:ab00:4:e002::/64, SRv6 </a:t>
            </a:r>
            <a:r>
              <a:rPr lang="sk-SK" sz="1000" dirty="0" err="1">
                <a:highlight>
                  <a:srgbClr val="008080"/>
                </a:highlight>
                <a:latin typeface="Consolas" panose="020B0609020204030204" pitchFamily="49" charset="0"/>
              </a:rPr>
              <a:t>Endpoint</a:t>
            </a:r>
            <a:r>
              <a:rPr lang="sk-SK" sz="1000" dirty="0">
                <a:highlight>
                  <a:srgbClr val="008080"/>
                </a:highlight>
                <a:latin typeface="Consolas" panose="020B0609020204030204" pitchFamily="49" charset="0"/>
              </a:rPr>
              <a:t> </a:t>
            </a:r>
            <a:r>
              <a:rPr lang="sk-SK" sz="1000" dirty="0" err="1">
                <a:highlight>
                  <a:srgbClr val="008080"/>
                </a:highlight>
                <a:latin typeface="Consolas" panose="020B0609020204030204" pitchFamily="49" charset="0"/>
              </a:rPr>
              <a:t>uA</a:t>
            </a:r>
            <a:r>
              <a:rPr lang="sk-SK" sz="1000" dirty="0">
                <a:highlight>
                  <a:srgbClr val="008080"/>
                </a:highlight>
                <a:latin typeface="Consolas" panose="020B0609020204030204" pitchFamily="49" charset="0"/>
              </a:rPr>
              <a:t> (</a:t>
            </a:r>
            <a:r>
              <a:rPr lang="sk-SK" sz="1000" dirty="0" err="1">
                <a:highlight>
                  <a:srgbClr val="008080"/>
                </a:highlight>
                <a:latin typeface="Consolas" panose="020B0609020204030204" pitchFamily="49" charset="0"/>
              </a:rPr>
              <a:t>shift</a:t>
            </a:r>
            <a:r>
              <a:rPr lang="sk-SK" sz="1000" dirty="0">
                <a:highlight>
                  <a:srgbClr val="008080"/>
                </a:highlight>
                <a:latin typeface="Consolas" panose="020B0609020204030204" pitchFamily="49" charset="0"/>
              </a:rPr>
              <a:t>) </a:t>
            </a:r>
          </a:p>
          <a:p>
            <a:r>
              <a:rPr lang="sk-SK" sz="1000" dirty="0">
                <a:highlight>
                  <a:srgbClr val="008080"/>
                </a:highlight>
                <a:latin typeface="Consolas" panose="020B0609020204030204" pitchFamily="49" charset="0"/>
              </a:rPr>
              <a:t>      [0/0] </a:t>
            </a:r>
            <a:r>
              <a:rPr lang="sk-SK" sz="1000" dirty="0" err="1">
                <a:highlight>
                  <a:srgbClr val="008080"/>
                </a:highlight>
                <a:latin typeface="Consolas" panose="020B0609020204030204" pitchFamily="49" charset="0"/>
              </a:rPr>
              <a:t>via</a:t>
            </a:r>
            <a:r>
              <a:rPr lang="sk-SK" sz="1000" dirty="0">
                <a:highlight>
                  <a:srgbClr val="008080"/>
                </a:highlight>
                <a:latin typeface="Consolas" panose="020B0609020204030204" pitchFamily="49" charset="0"/>
              </a:rPr>
              <a:t> fe80::5054:ff:fe07:91b0, 1d00h, GigabitEthernet0/0/0/6</a:t>
            </a:r>
          </a:p>
          <a:p>
            <a:r>
              <a:rPr lang="sk-SK" sz="1000" dirty="0">
                <a:highlight>
                  <a:srgbClr val="008080"/>
                </a:highlight>
                <a:latin typeface="Consolas" panose="020B0609020204030204" pitchFamily="49" charset="0"/>
              </a:rPr>
              <a:t>L    fc00:ab00:4:e002::/80, SRv6 </a:t>
            </a:r>
            <a:r>
              <a:rPr lang="sk-SK" sz="1000" dirty="0" err="1">
                <a:highlight>
                  <a:srgbClr val="008080"/>
                </a:highlight>
                <a:latin typeface="Consolas" panose="020B0609020204030204" pitchFamily="49" charset="0"/>
              </a:rPr>
              <a:t>Endpoint</a:t>
            </a:r>
            <a:r>
              <a:rPr lang="sk-SK" sz="1000" dirty="0">
                <a:highlight>
                  <a:srgbClr val="008080"/>
                </a:highlight>
                <a:latin typeface="Consolas" panose="020B0609020204030204" pitchFamily="49" charset="0"/>
              </a:rPr>
              <a:t> </a:t>
            </a:r>
            <a:r>
              <a:rPr lang="sk-SK" sz="1000" dirty="0" err="1">
                <a:highlight>
                  <a:srgbClr val="008080"/>
                </a:highlight>
                <a:latin typeface="Consolas" panose="020B0609020204030204" pitchFamily="49" charset="0"/>
              </a:rPr>
              <a:t>uA</a:t>
            </a:r>
            <a:r>
              <a:rPr lang="sk-SK" sz="1000" dirty="0">
                <a:highlight>
                  <a:srgbClr val="008080"/>
                </a:highlight>
                <a:latin typeface="Consolas" panose="020B0609020204030204" pitchFamily="49" charset="0"/>
              </a:rPr>
              <a:t> (PSP/USD) </a:t>
            </a:r>
          </a:p>
          <a:p>
            <a:r>
              <a:rPr lang="sk-SK" sz="1000" dirty="0">
                <a:highlight>
                  <a:srgbClr val="008080"/>
                </a:highlight>
                <a:latin typeface="Consolas" panose="020B0609020204030204" pitchFamily="49" charset="0"/>
              </a:rPr>
              <a:t>      [0/0] </a:t>
            </a:r>
            <a:r>
              <a:rPr lang="sk-SK" sz="1000" dirty="0" err="1">
                <a:highlight>
                  <a:srgbClr val="008080"/>
                </a:highlight>
                <a:latin typeface="Consolas" panose="020B0609020204030204" pitchFamily="49" charset="0"/>
              </a:rPr>
              <a:t>via</a:t>
            </a:r>
            <a:r>
              <a:rPr lang="sk-SK" sz="1000" dirty="0">
                <a:highlight>
                  <a:srgbClr val="008080"/>
                </a:highlight>
                <a:latin typeface="Consolas" panose="020B0609020204030204" pitchFamily="49" charset="0"/>
              </a:rPr>
              <a:t> fe80::5054:ff:fe07:91b0, 1d00h, GigabitEthernet0/0/0/6</a:t>
            </a:r>
          </a:p>
          <a:p>
            <a:r>
              <a:rPr lang="sk-SK" sz="1000" dirty="0">
                <a:highlight>
                  <a:srgbClr val="008080"/>
                </a:highlight>
                <a:latin typeface="Consolas" panose="020B0609020204030204" pitchFamily="49" charset="0"/>
              </a:rPr>
              <a:t>L    fc00:ab00:4:e003::/64, SRv6 </a:t>
            </a:r>
            <a:r>
              <a:rPr lang="sk-SK" sz="1000" dirty="0" err="1">
                <a:highlight>
                  <a:srgbClr val="008080"/>
                </a:highlight>
                <a:latin typeface="Consolas" panose="020B0609020204030204" pitchFamily="49" charset="0"/>
              </a:rPr>
              <a:t>Endpoint</a:t>
            </a:r>
            <a:r>
              <a:rPr lang="sk-SK" sz="1000" dirty="0">
                <a:highlight>
                  <a:srgbClr val="008080"/>
                </a:highlight>
                <a:latin typeface="Consolas" panose="020B0609020204030204" pitchFamily="49" charset="0"/>
              </a:rPr>
              <a:t> uDT4 </a:t>
            </a:r>
          </a:p>
          <a:p>
            <a:r>
              <a:rPr lang="sk-SK" sz="1000" dirty="0">
                <a:highlight>
                  <a:srgbClr val="008080"/>
                </a:highlight>
                <a:latin typeface="Consolas" panose="020B0609020204030204" pitchFamily="49" charset="0"/>
              </a:rPr>
              <a:t>      [0/0] </a:t>
            </a:r>
            <a:r>
              <a:rPr lang="sk-SK" sz="1000" dirty="0" err="1">
                <a:highlight>
                  <a:srgbClr val="008080"/>
                </a:highlight>
                <a:latin typeface="Consolas" panose="020B0609020204030204" pitchFamily="49" charset="0"/>
              </a:rPr>
              <a:t>via</a:t>
            </a:r>
            <a:r>
              <a:rPr lang="sk-SK" sz="1000" dirty="0">
                <a:highlight>
                  <a:srgbClr val="008080"/>
                </a:highlight>
                <a:latin typeface="Consolas" panose="020B0609020204030204" pitchFamily="49" charset="0"/>
              </a:rPr>
              <a:t> ::ffff:0.0.0.0 (</a:t>
            </a:r>
            <a:r>
              <a:rPr lang="sk-SK" sz="1000" dirty="0" err="1">
                <a:highlight>
                  <a:srgbClr val="008080"/>
                </a:highlight>
                <a:latin typeface="Consolas" panose="020B0609020204030204" pitchFamily="49" charset="0"/>
              </a:rPr>
              <a:t>nexthop</a:t>
            </a:r>
            <a:r>
              <a:rPr lang="sk-SK" sz="1000" dirty="0">
                <a:highlight>
                  <a:srgbClr val="008080"/>
                </a:highlight>
                <a:latin typeface="Consolas" panose="020B0609020204030204" pitchFamily="49" charset="0"/>
              </a:rPr>
              <a:t> in vrf A), 1d00h</a:t>
            </a:r>
          </a:p>
          <a:p>
            <a:r>
              <a:rPr lang="sk-SK" sz="1000" dirty="0">
                <a:highlight>
                  <a:srgbClr val="008080"/>
                </a:highlight>
                <a:latin typeface="Consolas" panose="020B0609020204030204" pitchFamily="49" charset="0"/>
              </a:rPr>
              <a:t>L    fc00:ab00:4:e004::/64, SRv6 </a:t>
            </a:r>
            <a:r>
              <a:rPr lang="sk-SK" sz="1000" dirty="0" err="1">
                <a:highlight>
                  <a:srgbClr val="008080"/>
                </a:highlight>
                <a:latin typeface="Consolas" panose="020B0609020204030204" pitchFamily="49" charset="0"/>
              </a:rPr>
              <a:t>Endpoint</a:t>
            </a:r>
            <a:r>
              <a:rPr lang="sk-SK" sz="1000" dirty="0">
                <a:highlight>
                  <a:srgbClr val="008080"/>
                </a:highlight>
                <a:latin typeface="Consolas" panose="020B0609020204030204" pitchFamily="49" charset="0"/>
              </a:rPr>
              <a:t> uDX2 </a:t>
            </a:r>
          </a:p>
          <a:p>
            <a:r>
              <a:rPr lang="sk-SK" sz="1000" dirty="0">
                <a:highlight>
                  <a:srgbClr val="008080"/>
                </a:highlight>
                <a:latin typeface="Consolas" panose="020B0609020204030204" pitchFamily="49" charset="0"/>
              </a:rPr>
              <a:t>      [0/0] </a:t>
            </a:r>
            <a:r>
              <a:rPr lang="sk-SK" sz="1000" dirty="0" err="1">
                <a:highlight>
                  <a:srgbClr val="008080"/>
                </a:highlight>
                <a:latin typeface="Consolas" panose="020B0609020204030204" pitchFamily="49" charset="0"/>
              </a:rPr>
              <a:t>via</a:t>
            </a:r>
            <a:r>
              <a:rPr lang="sk-SK" sz="1000" dirty="0">
                <a:highlight>
                  <a:srgbClr val="008080"/>
                </a:highlight>
                <a:latin typeface="Consolas" panose="020B0609020204030204" pitchFamily="49" charset="0"/>
              </a:rPr>
              <a:t> ::, 05:08:26, GigabitEthernet0/0/0/20</a:t>
            </a:r>
          </a:p>
          <a:p>
            <a:r>
              <a:rPr lang="en-US" sz="1000" dirty="0">
                <a:latin typeface="Consolas" panose="020B0609020204030204" pitchFamily="49" charset="0"/>
              </a:rPr>
              <a:t>-- cut --</a:t>
            </a:r>
            <a:endParaRPr lang="sk-SK" sz="1000" dirty="0">
              <a:solidFill>
                <a:srgbClr val="FF0000"/>
              </a:solidFill>
              <a:latin typeface="Consolas" panose="020B0609020204030204" pitchFamily="49" charset="0"/>
            </a:endParaRPr>
          </a:p>
        </p:txBody>
      </p:sp>
      <p:sp>
        <p:nvSpPr>
          <p:cNvPr id="4" name="Callout: Double Bent Line 3">
            <a:extLst>
              <a:ext uri="{FF2B5EF4-FFF2-40B4-BE49-F238E27FC236}">
                <a16:creationId xmlns:a16="http://schemas.microsoft.com/office/drawing/2014/main" id="{30183F4B-79FD-7530-E5DD-983360802C06}"/>
              </a:ext>
            </a:extLst>
          </p:cNvPr>
          <p:cNvSpPr/>
          <p:nvPr/>
        </p:nvSpPr>
        <p:spPr>
          <a:xfrm>
            <a:off x="497840" y="3643665"/>
            <a:ext cx="2346960" cy="302139"/>
          </a:xfrm>
          <a:prstGeom prst="borderCallout3">
            <a:avLst>
              <a:gd name="adj1" fmla="val 18750"/>
              <a:gd name="adj2" fmla="val -8333"/>
              <a:gd name="adj3" fmla="val 18750"/>
              <a:gd name="adj4" fmla="val -16667"/>
              <a:gd name="adj5" fmla="val 100000"/>
              <a:gd name="adj6" fmla="val -16667"/>
              <a:gd name="adj7" fmla="val 946910"/>
              <a:gd name="adj8" fmla="val 48811"/>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800" i="0" u="none" strike="noStrike" kern="1200" cap="none" spc="0" normalizeH="0" baseline="0" noProof="0" dirty="0">
                <a:ln>
                  <a:noFill/>
                </a:ln>
                <a:solidFill>
                  <a:schemeClr val="bg1"/>
                </a:solidFill>
                <a:effectLst/>
                <a:uLnTx/>
                <a:uFillTx/>
                <a:latin typeface="Arial" panose="020B0604020202020204"/>
                <a:ea typeface="+mn-ea"/>
                <a:cs typeface="+mn-cs"/>
              </a:rPr>
              <a:t>L3 VPN = vrf A</a:t>
            </a:r>
          </a:p>
        </p:txBody>
      </p:sp>
      <p:sp>
        <p:nvSpPr>
          <p:cNvPr id="8" name="Callout: Double Bent Line 7">
            <a:extLst>
              <a:ext uri="{FF2B5EF4-FFF2-40B4-BE49-F238E27FC236}">
                <a16:creationId xmlns:a16="http://schemas.microsoft.com/office/drawing/2014/main" id="{D77487CA-F543-40CF-9666-B4CB411C970A}"/>
              </a:ext>
            </a:extLst>
          </p:cNvPr>
          <p:cNvSpPr/>
          <p:nvPr/>
        </p:nvSpPr>
        <p:spPr>
          <a:xfrm>
            <a:off x="912368" y="4013640"/>
            <a:ext cx="2704592" cy="302139"/>
          </a:xfrm>
          <a:prstGeom prst="borderCallout3">
            <a:avLst>
              <a:gd name="adj1" fmla="val 18750"/>
              <a:gd name="adj2" fmla="val -8333"/>
              <a:gd name="adj3" fmla="val 18750"/>
              <a:gd name="adj4" fmla="val -16667"/>
              <a:gd name="adj5" fmla="val 100000"/>
              <a:gd name="adj6" fmla="val -16667"/>
              <a:gd name="adj7" fmla="val 839304"/>
              <a:gd name="adj8" fmla="val 31995"/>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800" i="0" u="none" strike="noStrike" kern="1200" cap="none" spc="0" normalizeH="0" baseline="0" noProof="0" dirty="0">
                <a:ln>
                  <a:noFill/>
                </a:ln>
                <a:solidFill>
                  <a:schemeClr val="bg1"/>
                </a:solidFill>
                <a:effectLst/>
                <a:uLnTx/>
                <a:uFillTx/>
                <a:latin typeface="Arial" panose="020B0604020202020204"/>
                <a:ea typeface="+mn-ea"/>
                <a:cs typeface="+mn-cs"/>
              </a:rPr>
              <a:t>L2 VPN = EVPN VPWS</a:t>
            </a:r>
          </a:p>
        </p:txBody>
      </p:sp>
    </p:spTree>
    <p:extLst>
      <p:ext uri="{BB962C8B-B14F-4D97-AF65-F5344CB8AC3E}">
        <p14:creationId xmlns:p14="http://schemas.microsoft.com/office/powerpoint/2010/main" val="21648202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A7E2CD2-24EF-6589-5BD4-0F6F8ACA263F}"/>
              </a:ext>
            </a:extLst>
          </p:cNvPr>
          <p:cNvSpPr>
            <a:spLocks noGrp="1"/>
          </p:cNvSpPr>
          <p:nvPr>
            <p:ph type="body" sz="quarter" idx="10"/>
          </p:nvPr>
        </p:nvSpPr>
        <p:spPr/>
        <p:txBody>
          <a:bodyPr/>
          <a:lstStyle/>
          <a:p>
            <a:r>
              <a:rPr lang="en-US" dirty="0"/>
              <a:t>Data Plane</a:t>
            </a:r>
          </a:p>
          <a:p>
            <a:pPr lvl="1"/>
            <a:r>
              <a:rPr lang="en-US" dirty="0"/>
              <a:t>Best MTU efficiency (6 </a:t>
            </a:r>
            <a:r>
              <a:rPr lang="en-US" dirty="0" err="1"/>
              <a:t>uSIDs</a:t>
            </a:r>
            <a:r>
              <a:rPr lang="en-US" dirty="0"/>
              <a:t> without SRH)</a:t>
            </a:r>
          </a:p>
          <a:p>
            <a:pPr lvl="1"/>
            <a:r>
              <a:rPr lang="en-US" dirty="0"/>
              <a:t>Hyper-Scalable SR-TE (18 </a:t>
            </a:r>
            <a:r>
              <a:rPr lang="en-US" dirty="0" err="1"/>
              <a:t>uSIDs</a:t>
            </a:r>
            <a:r>
              <a:rPr lang="en-US" dirty="0"/>
              <a:t> with 40 bytes overhead)</a:t>
            </a:r>
          </a:p>
          <a:p>
            <a:pPr lvl="1"/>
            <a:r>
              <a:rPr lang="en-US" dirty="0"/>
              <a:t>Hardware-friendly (</a:t>
            </a:r>
            <a:r>
              <a:rPr lang="en-US" dirty="0" err="1"/>
              <a:t>linerate</a:t>
            </a:r>
            <a:r>
              <a:rPr lang="en-US" dirty="0"/>
              <a:t> on merchant silicon)</a:t>
            </a:r>
          </a:p>
          <a:p>
            <a:r>
              <a:rPr lang="en-US" dirty="0"/>
              <a:t>Control Plane</a:t>
            </a:r>
          </a:p>
          <a:p>
            <a:pPr lvl="1"/>
            <a:r>
              <a:rPr lang="en-US" dirty="0"/>
              <a:t>Scalable number of globally unique </a:t>
            </a:r>
            <a:r>
              <a:rPr lang="en-US" dirty="0" err="1"/>
              <a:t>uSIDs</a:t>
            </a:r>
            <a:r>
              <a:rPr lang="en-US" dirty="0"/>
              <a:t> per domain</a:t>
            </a:r>
          </a:p>
          <a:p>
            <a:pPr lvl="1"/>
            <a:r>
              <a:rPr lang="en-US" dirty="0"/>
              <a:t>No new protocol extensions</a:t>
            </a:r>
          </a:p>
          <a:p>
            <a:r>
              <a:rPr lang="en-US" dirty="0"/>
              <a:t>IP Power</a:t>
            </a:r>
          </a:p>
          <a:p>
            <a:pPr lvl="1"/>
            <a:r>
              <a:rPr lang="en-US" dirty="0"/>
              <a:t>IP summarization and longest match is POWERFUL</a:t>
            </a:r>
          </a:p>
          <a:p>
            <a:pPr lvl="1"/>
            <a:r>
              <a:rPr lang="en-US" dirty="0"/>
              <a:t>FIB efficiency 2 to 3 times gain vs. MPLS</a:t>
            </a:r>
          </a:p>
          <a:p>
            <a:pPr lvl="1"/>
            <a:r>
              <a:rPr lang="en-US" dirty="0"/>
              <a:t>Optimal IPv6 load-balancing (flow label)</a:t>
            </a:r>
          </a:p>
        </p:txBody>
      </p:sp>
      <p:sp>
        <p:nvSpPr>
          <p:cNvPr id="3" name="Text Placeholder 2">
            <a:extLst>
              <a:ext uri="{FF2B5EF4-FFF2-40B4-BE49-F238E27FC236}">
                <a16:creationId xmlns:a16="http://schemas.microsoft.com/office/drawing/2014/main" id="{8BE9B1F5-75A5-89EA-3B3F-16163875F2A0}"/>
              </a:ext>
            </a:extLst>
          </p:cNvPr>
          <p:cNvSpPr>
            <a:spLocks noGrp="1"/>
          </p:cNvSpPr>
          <p:nvPr>
            <p:ph type="body" sz="quarter" idx="11"/>
          </p:nvPr>
        </p:nvSpPr>
        <p:spPr/>
        <p:txBody>
          <a:bodyPr/>
          <a:lstStyle/>
          <a:p>
            <a:r>
              <a:rPr lang="en-US" dirty="0"/>
              <a:t>uSID Benefits</a:t>
            </a:r>
          </a:p>
        </p:txBody>
      </p:sp>
    </p:spTree>
    <p:extLst>
      <p:ext uri="{BB962C8B-B14F-4D97-AF65-F5344CB8AC3E}">
        <p14:creationId xmlns:p14="http://schemas.microsoft.com/office/powerpoint/2010/main" val="113598158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7DF76D3A-5E3E-4BC8-8F39-771134FF4322}"/>
              </a:ext>
            </a:extLst>
          </p:cNvPr>
          <p:cNvSpPr>
            <a:spLocks noGrp="1"/>
          </p:cNvSpPr>
          <p:nvPr>
            <p:ph type="body" idx="1"/>
          </p:nvPr>
        </p:nvSpPr>
        <p:spPr/>
        <p:txBody>
          <a:bodyPr/>
          <a:lstStyle/>
          <a:p>
            <a:r>
              <a:rPr lang="en-US" noProof="0" dirty="0"/>
              <a:t>Segment Routing</a:t>
            </a:r>
          </a:p>
          <a:p>
            <a:r>
              <a:rPr lang="en-US" dirty="0"/>
              <a:t>SRv6</a:t>
            </a:r>
            <a:endParaRPr lang="en-US" noProof="0" dirty="0"/>
          </a:p>
        </p:txBody>
      </p:sp>
      <p:sp>
        <p:nvSpPr>
          <p:cNvPr id="2" name="Text Placeholder 1">
            <a:extLst>
              <a:ext uri="{FF2B5EF4-FFF2-40B4-BE49-F238E27FC236}">
                <a16:creationId xmlns:a16="http://schemas.microsoft.com/office/drawing/2014/main" id="{B367786B-A4DD-DB9E-9087-78A451525AAC}"/>
              </a:ext>
            </a:extLst>
          </p:cNvPr>
          <p:cNvSpPr>
            <a:spLocks noGrp="1"/>
          </p:cNvSpPr>
          <p:nvPr>
            <p:ph type="body" sz="quarter" idx="15"/>
          </p:nvPr>
        </p:nvSpPr>
        <p:spPr/>
        <p:txBody>
          <a:bodyPr/>
          <a:lstStyle/>
          <a:p>
            <a:r>
              <a:rPr lang="en-US" dirty="0">
                <a:cs typeface="Calibri" pitchFamily="34" charset="0"/>
              </a:rPr>
              <a:t>SRv6 and service migration</a:t>
            </a:r>
            <a:endParaRPr lang="cs-CZ" dirty="0"/>
          </a:p>
        </p:txBody>
      </p:sp>
      <p:sp>
        <p:nvSpPr>
          <p:cNvPr id="5" name="Zástupný text 4">
            <a:extLst>
              <a:ext uri="{FF2B5EF4-FFF2-40B4-BE49-F238E27FC236}">
                <a16:creationId xmlns:a16="http://schemas.microsoft.com/office/drawing/2014/main" id="{CA46CB7B-0002-4873-B253-4D2438CC3611}"/>
              </a:ext>
            </a:extLst>
          </p:cNvPr>
          <p:cNvSpPr>
            <a:spLocks noGrp="1"/>
          </p:cNvSpPr>
          <p:nvPr>
            <p:ph type="body" sz="quarter" idx="13"/>
          </p:nvPr>
        </p:nvSpPr>
        <p:spPr/>
        <p:txBody>
          <a:bodyPr/>
          <a:lstStyle/>
          <a:p>
            <a:r>
              <a:rPr lang="en-US" dirty="0"/>
              <a:t>Segment Routing MPLS and SRv6</a:t>
            </a:r>
          </a:p>
        </p:txBody>
      </p:sp>
      <p:sp>
        <p:nvSpPr>
          <p:cNvPr id="6" name="Zástupný text 5">
            <a:extLst>
              <a:ext uri="{FF2B5EF4-FFF2-40B4-BE49-F238E27FC236}">
                <a16:creationId xmlns:a16="http://schemas.microsoft.com/office/drawing/2014/main" id="{955FA430-FA92-4EB5-849C-E3D05AB9B217}"/>
              </a:ext>
            </a:extLst>
          </p:cNvPr>
          <p:cNvSpPr>
            <a:spLocks noGrp="1"/>
          </p:cNvSpPr>
          <p:nvPr>
            <p:ph type="body" sz="quarter" idx="14"/>
          </p:nvPr>
        </p:nvSpPr>
        <p:spPr/>
        <p:txBody>
          <a:bodyPr/>
          <a:lstStyle/>
          <a:p>
            <a:r>
              <a:rPr lang="en-US" dirty="0"/>
              <a:t>Function</a:t>
            </a:r>
          </a:p>
        </p:txBody>
      </p:sp>
    </p:spTree>
    <p:extLst>
      <p:ext uri="{BB962C8B-B14F-4D97-AF65-F5344CB8AC3E}">
        <p14:creationId xmlns:p14="http://schemas.microsoft.com/office/powerpoint/2010/main" val="355781725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endParaRPr lang="en-US" dirty="0"/>
          </a:p>
          <a:p>
            <a:pPr marL="0" indent="0">
              <a:buNone/>
            </a:pPr>
            <a:endParaRPr lang="en-US" dirty="0"/>
          </a:p>
          <a:p>
            <a:r>
              <a:rPr lang="en-US" dirty="0"/>
              <a:t>SRv6 SIDs are 128-bit addresses</a:t>
            </a:r>
          </a:p>
          <a:p>
            <a:pPr lvl="1"/>
            <a:r>
              <a:rPr lang="en-US" b="1" dirty="0"/>
              <a:t>Locator:</a:t>
            </a:r>
            <a:r>
              <a:rPr lang="en-US" dirty="0"/>
              <a:t> most significant bits are used to </a:t>
            </a:r>
            <a:r>
              <a:rPr lang="en-US" b="1" dirty="0"/>
              <a:t>route</a:t>
            </a:r>
            <a:r>
              <a:rPr lang="en-US" dirty="0"/>
              <a:t> the segment to its </a:t>
            </a:r>
            <a:r>
              <a:rPr lang="en-US" b="1" dirty="0"/>
              <a:t>parent node</a:t>
            </a:r>
          </a:p>
          <a:p>
            <a:pPr lvl="1"/>
            <a:r>
              <a:rPr lang="en-US" b="1" dirty="0"/>
              <a:t>Function:</a:t>
            </a:r>
            <a:r>
              <a:rPr lang="en-US" dirty="0"/>
              <a:t> least significant bits identify the </a:t>
            </a:r>
            <a:r>
              <a:rPr lang="en-US" b="1" dirty="0"/>
              <a:t>action</a:t>
            </a:r>
            <a:r>
              <a:rPr lang="en-US" dirty="0"/>
              <a:t> to be performed on the </a:t>
            </a:r>
            <a:r>
              <a:rPr lang="en-US" b="1" dirty="0"/>
              <a:t>parent node</a:t>
            </a:r>
          </a:p>
          <a:p>
            <a:pPr lvl="2"/>
            <a:r>
              <a:rPr lang="en-US" b="1" dirty="0"/>
              <a:t>Argument</a:t>
            </a:r>
            <a:r>
              <a:rPr lang="en-US" dirty="0"/>
              <a:t> [optional]: Last bits can be used as a local function argument</a:t>
            </a:r>
          </a:p>
          <a:p>
            <a:r>
              <a:rPr lang="en-US" dirty="0"/>
              <a:t>Flexible bit-length allocation</a:t>
            </a:r>
          </a:p>
          <a:p>
            <a:pPr lvl="1"/>
            <a:r>
              <a:rPr lang="en-US" dirty="0"/>
              <a:t>Segment format is </a:t>
            </a:r>
            <a:r>
              <a:rPr lang="en-US" b="1" dirty="0"/>
              <a:t>local knowledge </a:t>
            </a:r>
            <a:r>
              <a:rPr lang="en-US" dirty="0"/>
              <a:t>on the parent node</a:t>
            </a:r>
            <a:endParaRPr lang="cs-CZ" dirty="0"/>
          </a:p>
        </p:txBody>
      </p:sp>
      <p:sp>
        <p:nvSpPr>
          <p:cNvPr id="3" name="Text Placeholder 2"/>
          <p:cNvSpPr>
            <a:spLocks noGrp="1"/>
          </p:cNvSpPr>
          <p:nvPr>
            <p:ph type="body" sz="quarter" idx="11"/>
          </p:nvPr>
        </p:nvSpPr>
        <p:spPr/>
        <p:txBody>
          <a:bodyPr/>
          <a:lstStyle/>
          <a:p>
            <a:r>
              <a:rPr lang="cs-CZ" dirty="0"/>
              <a:t>SRv6 -Segment </a:t>
            </a:r>
            <a:r>
              <a:rPr lang="cs-CZ" dirty="0" err="1"/>
              <a:t>format</a:t>
            </a:r>
            <a:endParaRPr lang="cs-CZ" dirty="0"/>
          </a:p>
        </p:txBody>
      </p:sp>
      <p:pic>
        <p:nvPicPr>
          <p:cNvPr id="4" name="Picture 3"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7277" y="1047565"/>
            <a:ext cx="6370872" cy="739204"/>
          </a:xfrm>
          <a:prstGeom prst="rect">
            <a:avLst/>
          </a:prstGeom>
        </p:spPr>
      </p:pic>
      <p:sp>
        <p:nvSpPr>
          <p:cNvPr id="5" name="Rectangle 4">
            <a:extLst>
              <a:ext uri="{FF2B5EF4-FFF2-40B4-BE49-F238E27FC236}">
                <a16:creationId xmlns:a16="http://schemas.microsoft.com/office/drawing/2014/main" id="{C947D1AD-BE01-8BB0-FC62-31DD6E46FD6A}"/>
              </a:ext>
            </a:extLst>
          </p:cNvPr>
          <p:cNvSpPr/>
          <p:nvPr/>
        </p:nvSpPr>
        <p:spPr>
          <a:xfrm>
            <a:off x="6724650" y="926800"/>
            <a:ext cx="2393499" cy="940100"/>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042753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p:txBody>
          <a:bodyPr/>
          <a:lstStyle/>
          <a:p>
            <a:r>
              <a:rPr lang="en-US" sz="2400" i="1" dirty="0"/>
              <a:t>Default endpoint</a:t>
            </a:r>
            <a:r>
              <a:rPr lang="en-US" sz="2400" dirty="0"/>
              <a:t> behavior (node segment)</a:t>
            </a:r>
          </a:p>
          <a:p>
            <a:pPr lvl="1"/>
            <a:r>
              <a:rPr lang="en-US" sz="2133" dirty="0"/>
              <a:t>Decrement Segments Left, update DA</a:t>
            </a:r>
          </a:p>
          <a:p>
            <a:pPr lvl="1"/>
            <a:r>
              <a:rPr lang="en-US" sz="2133" dirty="0"/>
              <a:t>Forward according to new DA</a:t>
            </a:r>
          </a:p>
          <a:p>
            <a:r>
              <a:rPr lang="en-US" sz="2400" dirty="0"/>
              <a:t>Node 2 advertises prefix A2::/64 (A2::/64 is the SID locator)</a:t>
            </a:r>
          </a:p>
          <a:p>
            <a:pPr lvl="1"/>
            <a:r>
              <a:rPr lang="en-US" sz="2133" dirty="0"/>
              <a:t>Packets are forwarded to node 2 along the default routes (shortest path)</a:t>
            </a:r>
          </a:p>
          <a:p>
            <a:r>
              <a:rPr lang="en-US" sz="2400" dirty="0"/>
              <a:t>On 2, the </a:t>
            </a:r>
            <a:r>
              <a:rPr lang="en-US" sz="2400" i="1" dirty="0"/>
              <a:t>default endpoint</a:t>
            </a:r>
            <a:r>
              <a:rPr lang="en-US" sz="2400" dirty="0"/>
              <a:t> behavior is associated with ID 0 (0 is the function)</a:t>
            </a:r>
          </a:p>
          <a:p>
            <a:r>
              <a:rPr lang="en-US" sz="2400" dirty="0"/>
              <a:t>The SID corresponding to the </a:t>
            </a:r>
            <a:r>
              <a:rPr lang="en-US" sz="2400" i="1" dirty="0"/>
              <a:t>default endpoint</a:t>
            </a:r>
            <a:r>
              <a:rPr lang="en-US" sz="2400" dirty="0"/>
              <a:t> behavior on node 2 is A2::0</a:t>
            </a:r>
          </a:p>
        </p:txBody>
      </p:sp>
      <p:sp>
        <p:nvSpPr>
          <p:cNvPr id="12" name="Text Placeholder 11">
            <a:extLst>
              <a:ext uri="{FF2B5EF4-FFF2-40B4-BE49-F238E27FC236}">
                <a16:creationId xmlns:a16="http://schemas.microsoft.com/office/drawing/2014/main" id="{64FAA46D-BDD8-DF8A-707F-130A9A73D28F}"/>
              </a:ext>
            </a:extLst>
          </p:cNvPr>
          <p:cNvSpPr>
            <a:spLocks noGrp="1"/>
          </p:cNvSpPr>
          <p:nvPr>
            <p:ph type="body" sz="quarter" idx="11"/>
          </p:nvPr>
        </p:nvSpPr>
        <p:spPr/>
        <p:txBody>
          <a:bodyPr/>
          <a:lstStyle/>
          <a:p>
            <a:r>
              <a:rPr lang="en-US" dirty="0"/>
              <a:t>END – Default endpoint</a:t>
            </a:r>
          </a:p>
        </p:txBody>
      </p:sp>
      <p:grpSp>
        <p:nvGrpSpPr>
          <p:cNvPr id="4" name="Group 3"/>
          <p:cNvGrpSpPr/>
          <p:nvPr/>
        </p:nvGrpSpPr>
        <p:grpSpPr>
          <a:xfrm>
            <a:off x="2801803" y="5080240"/>
            <a:ext cx="2030071" cy="644528"/>
            <a:chOff x="3435803" y="1769864"/>
            <a:chExt cx="1428346" cy="483396"/>
          </a:xfrm>
        </p:grpSpPr>
        <p:sp>
          <p:nvSpPr>
            <p:cNvPr id="5" name="Rectángulo redondeado 65"/>
            <p:cNvSpPr/>
            <p:nvPr/>
          </p:nvSpPr>
          <p:spPr>
            <a:xfrm>
              <a:off x="3435803" y="1930995"/>
              <a:ext cx="434863" cy="161131"/>
            </a:xfrm>
            <a:prstGeom prst="rect">
              <a:avLst/>
            </a:prstGeom>
            <a:solidFill>
              <a:schemeClr val="tx2">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FFFFFF"/>
                  </a:solidFill>
                </a:rPr>
                <a:t>SR </a:t>
              </a:r>
              <a:r>
                <a:rPr lang="es-ES_tradnl" sz="1067" dirty="0" err="1">
                  <a:solidFill>
                    <a:srgbClr val="FFFFFF"/>
                  </a:solidFill>
                </a:rPr>
                <a:t>Hdr</a:t>
              </a:r>
              <a:endParaRPr lang="es-ES_tradnl" sz="1067" dirty="0">
                <a:solidFill>
                  <a:srgbClr val="FFFFFF"/>
                </a:solidFill>
              </a:endParaRPr>
            </a:p>
          </p:txBody>
        </p:sp>
        <p:sp>
          <p:nvSpPr>
            <p:cNvPr id="6" name="Rectángulo redondeado 64"/>
            <p:cNvSpPr/>
            <p:nvPr/>
          </p:nvSpPr>
          <p:spPr>
            <a:xfrm rot="16200000">
              <a:off x="3572670" y="1632999"/>
              <a:ext cx="161130" cy="434861"/>
            </a:xfrm>
            <a:prstGeom prst="round1Rect">
              <a:avLst/>
            </a:prstGeom>
            <a:solidFill>
              <a:schemeClr val="accent4">
                <a:lumMod val="75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 lIns="0" tIns="0" rIns="0" bIns="0" rtlCol="0" anchor="ctr"/>
            <a:lstStyle/>
            <a:p>
              <a:pPr algn="ctr"/>
              <a:r>
                <a:rPr lang="es-ES_tradnl" sz="1067" dirty="0">
                  <a:solidFill>
                    <a:srgbClr val="FFFFFF"/>
                  </a:solidFill>
                </a:rPr>
                <a:t>IPv6 </a:t>
              </a:r>
              <a:r>
                <a:rPr lang="es-ES_tradnl" sz="1067" dirty="0" err="1">
                  <a:solidFill>
                    <a:srgbClr val="FFFFFF"/>
                  </a:solidFill>
                </a:rPr>
                <a:t>Hdr</a:t>
              </a:r>
              <a:endParaRPr lang="es-ES_tradnl" sz="1067" b="1" dirty="0">
                <a:solidFill>
                  <a:srgbClr val="FFC000"/>
                </a:solidFill>
              </a:endParaRPr>
            </a:p>
          </p:txBody>
        </p:sp>
        <p:sp>
          <p:nvSpPr>
            <p:cNvPr id="7" name="Rectángulo redondeado 64"/>
            <p:cNvSpPr/>
            <p:nvPr/>
          </p:nvSpPr>
          <p:spPr>
            <a:xfrm>
              <a:off x="3870666" y="1769864"/>
              <a:ext cx="993482" cy="161131"/>
            </a:xfrm>
            <a:prstGeom prst="round1Rect">
              <a:avLst/>
            </a:prstGeom>
            <a:solidFill>
              <a:schemeClr val="accent4">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r>
                <a:rPr lang="es-ES_tradnl" sz="1067" dirty="0">
                  <a:solidFill>
                    <a:srgbClr val="676767"/>
                  </a:solidFill>
                </a:rPr>
                <a:t>SA = A1::, DA = </a:t>
              </a:r>
              <a:r>
                <a:rPr lang="es-ES_tradnl" sz="1067" b="1" dirty="0">
                  <a:solidFill>
                    <a:srgbClr val="676767"/>
                  </a:solidFill>
                </a:rPr>
                <a:t>A2::0</a:t>
              </a:r>
            </a:p>
          </p:txBody>
        </p:sp>
        <p:sp>
          <p:nvSpPr>
            <p:cNvPr id="8" name="Rectángulo redondeado 65"/>
            <p:cNvSpPr/>
            <p:nvPr/>
          </p:nvSpPr>
          <p:spPr>
            <a:xfrm>
              <a:off x="3870667" y="1930994"/>
              <a:ext cx="993482" cy="161131"/>
            </a:xfrm>
            <a:prstGeom prst="rect">
              <a:avLst/>
            </a:prstGeom>
            <a:solidFill>
              <a:schemeClr val="tx2">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676767"/>
                  </a:solidFill>
                </a:rPr>
                <a:t>(</a:t>
              </a:r>
              <a:r>
                <a:rPr lang="mr-IN" sz="1067" dirty="0">
                  <a:solidFill>
                    <a:srgbClr val="676767"/>
                  </a:solidFill>
                </a:rPr>
                <a:t>…</a:t>
              </a:r>
              <a:r>
                <a:rPr lang="en-US" sz="1067" dirty="0">
                  <a:solidFill>
                    <a:srgbClr val="676767"/>
                  </a:solidFill>
                </a:rPr>
                <a:t>,A3::,</a:t>
              </a:r>
              <a:r>
                <a:rPr lang="es-ES_tradnl" sz="1067" dirty="0">
                  <a:solidFill>
                    <a:srgbClr val="FA661C"/>
                  </a:solidFill>
                </a:rPr>
                <a:t>A2::0</a:t>
              </a:r>
              <a:r>
                <a:rPr lang="es-ES_tradnl" sz="1067" dirty="0">
                  <a:solidFill>
                    <a:srgbClr val="676767"/>
                  </a:solidFill>
                </a:rPr>
                <a:t>,</a:t>
              </a:r>
              <a:r>
                <a:rPr lang="mr-IN" sz="1067" dirty="0">
                  <a:solidFill>
                    <a:srgbClr val="676767"/>
                  </a:solidFill>
                </a:rPr>
                <a:t>…</a:t>
              </a:r>
              <a:r>
                <a:rPr lang="es-ES_tradnl" sz="1067" dirty="0">
                  <a:solidFill>
                    <a:srgbClr val="676767"/>
                  </a:solidFill>
                </a:rPr>
                <a:t>) SL=k</a:t>
              </a:r>
            </a:p>
          </p:txBody>
        </p:sp>
        <p:grpSp>
          <p:nvGrpSpPr>
            <p:cNvPr id="9" name="Group 8"/>
            <p:cNvGrpSpPr/>
            <p:nvPr/>
          </p:nvGrpSpPr>
          <p:grpSpPr>
            <a:xfrm>
              <a:off x="3435803" y="2092129"/>
              <a:ext cx="1428345" cy="161131"/>
              <a:chOff x="3435803" y="2345673"/>
              <a:chExt cx="1428345" cy="161131"/>
            </a:xfrm>
          </p:grpSpPr>
          <p:sp>
            <p:nvSpPr>
              <p:cNvPr id="10" name="Rectángulo redondeado 66"/>
              <p:cNvSpPr/>
              <p:nvPr/>
            </p:nvSpPr>
            <p:spPr>
              <a:xfrm rot="10800000">
                <a:off x="3435804" y="2345673"/>
                <a:ext cx="1428344" cy="161131"/>
              </a:xfrm>
              <a:prstGeom prst="round2SameRect">
                <a:avLst/>
              </a:prstGeom>
              <a:solidFill>
                <a:schemeClr val="tx1">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067" dirty="0">
                  <a:solidFill>
                    <a:srgbClr val="FFFFFF"/>
                  </a:solidFill>
                </a:endParaRPr>
              </a:p>
            </p:txBody>
          </p:sp>
          <p:sp>
            <p:nvSpPr>
              <p:cNvPr id="11" name="TextBox 10"/>
              <p:cNvSpPr txBox="1"/>
              <p:nvPr/>
            </p:nvSpPr>
            <p:spPr>
              <a:xfrm>
                <a:off x="3435803" y="2345673"/>
                <a:ext cx="1428345" cy="161131"/>
              </a:xfrm>
              <a:prstGeom prst="rect">
                <a:avLst/>
              </a:prstGeom>
              <a:noFill/>
            </p:spPr>
            <p:txBody>
              <a:bodyPr wrap="square" lIns="0" tIns="0" rIns="0" bIns="0" rtlCol="0" anchor="ctr">
                <a:normAutofit/>
              </a:bodyPr>
              <a:lstStyle/>
              <a:p>
                <a:pPr algn="ctr"/>
                <a:r>
                  <a:rPr lang="es-ES_tradnl" sz="1067" dirty="0" err="1">
                    <a:solidFill>
                      <a:srgbClr val="FFFFFF">
                        <a:lumMod val="50000"/>
                      </a:srgbClr>
                    </a:solidFill>
                    <a:latin typeface="Arial"/>
                  </a:rPr>
                  <a:t>Payload</a:t>
                </a:r>
                <a:endParaRPr lang="es-ES_tradnl" sz="1067" dirty="0">
                  <a:solidFill>
                    <a:srgbClr val="FFFFFF">
                      <a:lumMod val="50000"/>
                    </a:srgbClr>
                  </a:solidFill>
                  <a:latin typeface="Arial"/>
                </a:endParaRPr>
              </a:p>
            </p:txBody>
          </p:sp>
        </p:grpSp>
      </p:grpSp>
      <p:cxnSp>
        <p:nvCxnSpPr>
          <p:cNvPr id="21" name="Conector recto de flecha 27"/>
          <p:cNvCxnSpPr>
            <a:endCxn id="22" idx="2"/>
          </p:cNvCxnSpPr>
          <p:nvPr/>
        </p:nvCxnSpPr>
        <p:spPr>
          <a:xfrm>
            <a:off x="4940499" y="5402504"/>
            <a:ext cx="920792" cy="0"/>
          </a:xfrm>
          <a:prstGeom prst="straightConnector1">
            <a:avLst/>
          </a:prstGeom>
          <a:ln w="317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2" name="Elipse 11"/>
          <p:cNvSpPr/>
          <p:nvPr/>
        </p:nvSpPr>
        <p:spPr>
          <a:xfrm>
            <a:off x="5861291" y="5057292"/>
            <a:ext cx="690424" cy="690424"/>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b="1" dirty="0">
                <a:solidFill>
                  <a:srgbClr val="676767"/>
                </a:solidFill>
              </a:rPr>
              <a:t>2</a:t>
            </a:r>
          </a:p>
          <a:p>
            <a:pPr algn="ctr"/>
            <a:r>
              <a:rPr lang="es-ES_tradnl" sz="1067" dirty="0">
                <a:solidFill>
                  <a:srgbClr val="676767"/>
                </a:solidFill>
              </a:rPr>
              <a:t>A2:: /64</a:t>
            </a:r>
            <a:endParaRPr lang="es-ES_tradnl" sz="1200" dirty="0">
              <a:solidFill>
                <a:srgbClr val="676767"/>
              </a:solidFill>
            </a:endParaRPr>
          </a:p>
        </p:txBody>
      </p:sp>
      <p:cxnSp>
        <p:nvCxnSpPr>
          <p:cNvPr id="29" name="Conector recto de flecha 27"/>
          <p:cNvCxnSpPr>
            <a:stCxn id="22" idx="6"/>
            <a:endCxn id="25" idx="2"/>
          </p:cNvCxnSpPr>
          <p:nvPr/>
        </p:nvCxnSpPr>
        <p:spPr>
          <a:xfrm>
            <a:off x="6551716" y="5402505"/>
            <a:ext cx="1335297" cy="252743"/>
          </a:xfrm>
          <a:prstGeom prst="straightConnector1">
            <a:avLst/>
          </a:prstGeom>
          <a:ln w="317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grpSp>
        <p:nvGrpSpPr>
          <p:cNvPr id="34" name="Group 33"/>
          <p:cNvGrpSpPr/>
          <p:nvPr/>
        </p:nvGrpSpPr>
        <p:grpSpPr>
          <a:xfrm>
            <a:off x="6120403" y="5871556"/>
            <a:ext cx="2222877" cy="644528"/>
            <a:chOff x="3435803" y="1769864"/>
            <a:chExt cx="1564004" cy="483396"/>
          </a:xfrm>
        </p:grpSpPr>
        <p:sp>
          <p:nvSpPr>
            <p:cNvPr id="35" name="Rectángulo redondeado 65"/>
            <p:cNvSpPr/>
            <p:nvPr/>
          </p:nvSpPr>
          <p:spPr>
            <a:xfrm>
              <a:off x="3435803" y="1930995"/>
              <a:ext cx="434863" cy="161131"/>
            </a:xfrm>
            <a:prstGeom prst="rect">
              <a:avLst/>
            </a:prstGeom>
            <a:solidFill>
              <a:schemeClr val="tx2">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FFFFFF"/>
                  </a:solidFill>
                </a:rPr>
                <a:t>SR </a:t>
              </a:r>
              <a:r>
                <a:rPr lang="es-ES_tradnl" sz="1067" dirty="0" err="1">
                  <a:solidFill>
                    <a:srgbClr val="FFFFFF"/>
                  </a:solidFill>
                </a:rPr>
                <a:t>Hdr</a:t>
              </a:r>
              <a:endParaRPr lang="es-ES_tradnl" sz="1067" dirty="0">
                <a:solidFill>
                  <a:srgbClr val="FFFFFF"/>
                </a:solidFill>
              </a:endParaRPr>
            </a:p>
          </p:txBody>
        </p:sp>
        <p:sp>
          <p:nvSpPr>
            <p:cNvPr id="36" name="Rectángulo redondeado 64"/>
            <p:cNvSpPr/>
            <p:nvPr/>
          </p:nvSpPr>
          <p:spPr>
            <a:xfrm rot="16200000">
              <a:off x="3572670" y="1632999"/>
              <a:ext cx="161130" cy="434861"/>
            </a:xfrm>
            <a:prstGeom prst="round1Rect">
              <a:avLst/>
            </a:prstGeom>
            <a:solidFill>
              <a:schemeClr val="accent4">
                <a:lumMod val="75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 lIns="0" tIns="0" rIns="0" bIns="0" rtlCol="0" anchor="ctr"/>
            <a:lstStyle/>
            <a:p>
              <a:pPr algn="ctr"/>
              <a:r>
                <a:rPr lang="es-ES_tradnl" sz="1067" dirty="0">
                  <a:solidFill>
                    <a:srgbClr val="FFFFFF"/>
                  </a:solidFill>
                </a:rPr>
                <a:t>IPv6 </a:t>
              </a:r>
              <a:r>
                <a:rPr lang="es-ES_tradnl" sz="1067" dirty="0" err="1">
                  <a:solidFill>
                    <a:srgbClr val="FFFFFF"/>
                  </a:solidFill>
                </a:rPr>
                <a:t>Hdr</a:t>
              </a:r>
              <a:endParaRPr lang="es-ES_tradnl" sz="1067" b="1" dirty="0">
                <a:solidFill>
                  <a:srgbClr val="FFC000"/>
                </a:solidFill>
              </a:endParaRPr>
            </a:p>
          </p:txBody>
        </p:sp>
        <p:sp>
          <p:nvSpPr>
            <p:cNvPr id="37" name="Rectángulo redondeado 64"/>
            <p:cNvSpPr/>
            <p:nvPr/>
          </p:nvSpPr>
          <p:spPr>
            <a:xfrm>
              <a:off x="3870666" y="1769864"/>
              <a:ext cx="1129140" cy="161131"/>
            </a:xfrm>
            <a:prstGeom prst="round1Rect">
              <a:avLst/>
            </a:prstGeom>
            <a:solidFill>
              <a:schemeClr val="accent4">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r>
                <a:rPr lang="es-ES_tradnl" sz="1067" dirty="0">
                  <a:solidFill>
                    <a:srgbClr val="676767"/>
                  </a:solidFill>
                </a:rPr>
                <a:t>SA = A1::, DA = </a:t>
              </a:r>
              <a:r>
                <a:rPr lang="es-ES_tradnl" sz="1067" b="1" dirty="0">
                  <a:solidFill>
                    <a:srgbClr val="676767"/>
                  </a:solidFill>
                </a:rPr>
                <a:t>A3::</a:t>
              </a:r>
            </a:p>
          </p:txBody>
        </p:sp>
        <p:sp>
          <p:nvSpPr>
            <p:cNvPr id="38" name="Rectángulo redondeado 65"/>
            <p:cNvSpPr/>
            <p:nvPr/>
          </p:nvSpPr>
          <p:spPr>
            <a:xfrm>
              <a:off x="3870667" y="1930994"/>
              <a:ext cx="1129140" cy="161131"/>
            </a:xfrm>
            <a:prstGeom prst="rect">
              <a:avLst/>
            </a:prstGeom>
            <a:solidFill>
              <a:schemeClr val="tx2">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676767"/>
                  </a:solidFill>
                </a:rPr>
                <a:t>(</a:t>
              </a:r>
              <a:r>
                <a:rPr lang="mr-IN" sz="1067" dirty="0">
                  <a:solidFill>
                    <a:srgbClr val="676767"/>
                  </a:solidFill>
                </a:rPr>
                <a:t>…</a:t>
              </a:r>
              <a:r>
                <a:rPr lang="en-US" sz="1067" dirty="0">
                  <a:solidFill>
                    <a:srgbClr val="676767"/>
                  </a:solidFill>
                </a:rPr>
                <a:t>, </a:t>
              </a:r>
              <a:r>
                <a:rPr lang="es-ES_tradnl" sz="1067" b="1" dirty="0">
                  <a:solidFill>
                    <a:srgbClr val="FA661C"/>
                  </a:solidFill>
                </a:rPr>
                <a:t>A3::</a:t>
              </a:r>
              <a:r>
                <a:rPr lang="es-ES_tradnl" sz="1067" dirty="0">
                  <a:solidFill>
                    <a:srgbClr val="676767"/>
                  </a:solidFill>
                </a:rPr>
                <a:t>, A2::0,</a:t>
              </a:r>
              <a:r>
                <a:rPr lang="mr-IN" sz="1067" dirty="0">
                  <a:solidFill>
                    <a:srgbClr val="676767"/>
                  </a:solidFill>
                </a:rPr>
                <a:t>…</a:t>
              </a:r>
              <a:r>
                <a:rPr lang="es-ES_tradnl" sz="1067" dirty="0">
                  <a:solidFill>
                    <a:srgbClr val="676767"/>
                  </a:solidFill>
                </a:rPr>
                <a:t>) SL=k-1</a:t>
              </a:r>
            </a:p>
          </p:txBody>
        </p:sp>
        <p:grpSp>
          <p:nvGrpSpPr>
            <p:cNvPr id="39" name="Group 38"/>
            <p:cNvGrpSpPr/>
            <p:nvPr/>
          </p:nvGrpSpPr>
          <p:grpSpPr>
            <a:xfrm>
              <a:off x="3435803" y="2092128"/>
              <a:ext cx="1564003" cy="161132"/>
              <a:chOff x="3435803" y="2345672"/>
              <a:chExt cx="1564003" cy="161132"/>
            </a:xfrm>
          </p:grpSpPr>
          <p:sp>
            <p:nvSpPr>
              <p:cNvPr id="40" name="Rectángulo redondeado 66"/>
              <p:cNvSpPr/>
              <p:nvPr/>
            </p:nvSpPr>
            <p:spPr>
              <a:xfrm rot="10800000">
                <a:off x="3435803" y="2345672"/>
                <a:ext cx="1564003" cy="161131"/>
              </a:xfrm>
              <a:prstGeom prst="round2SameRect">
                <a:avLst/>
              </a:prstGeom>
              <a:solidFill>
                <a:schemeClr val="tx1">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067" dirty="0">
                  <a:solidFill>
                    <a:srgbClr val="FFFFFF"/>
                  </a:solidFill>
                </a:endParaRPr>
              </a:p>
            </p:txBody>
          </p:sp>
          <p:sp>
            <p:nvSpPr>
              <p:cNvPr id="41" name="TextBox 40"/>
              <p:cNvSpPr txBox="1"/>
              <p:nvPr/>
            </p:nvSpPr>
            <p:spPr>
              <a:xfrm>
                <a:off x="3435803" y="2345673"/>
                <a:ext cx="1564003" cy="161131"/>
              </a:xfrm>
              <a:prstGeom prst="rect">
                <a:avLst/>
              </a:prstGeom>
              <a:noFill/>
            </p:spPr>
            <p:txBody>
              <a:bodyPr wrap="square" lIns="0" tIns="0" rIns="0" bIns="0" rtlCol="0" anchor="ctr">
                <a:normAutofit/>
              </a:bodyPr>
              <a:lstStyle/>
              <a:p>
                <a:pPr algn="ctr"/>
                <a:r>
                  <a:rPr lang="es-ES_tradnl" sz="1067" dirty="0" err="1">
                    <a:solidFill>
                      <a:srgbClr val="FFFFFF">
                        <a:lumMod val="50000"/>
                      </a:srgbClr>
                    </a:solidFill>
                    <a:latin typeface="Arial"/>
                  </a:rPr>
                  <a:t>Payload</a:t>
                </a:r>
                <a:endParaRPr lang="es-ES_tradnl" sz="1067" dirty="0">
                  <a:solidFill>
                    <a:srgbClr val="FFFFFF">
                      <a:lumMod val="50000"/>
                    </a:srgbClr>
                  </a:solidFill>
                  <a:latin typeface="Arial"/>
                </a:endParaRPr>
              </a:p>
            </p:txBody>
          </p:sp>
        </p:grpSp>
      </p:grpSp>
      <p:sp>
        <p:nvSpPr>
          <p:cNvPr id="25" name="Elipse 11"/>
          <p:cNvSpPr/>
          <p:nvPr/>
        </p:nvSpPr>
        <p:spPr>
          <a:xfrm>
            <a:off x="7887013" y="5479254"/>
            <a:ext cx="351985" cy="351985"/>
          </a:xfrm>
          <a:prstGeom prst="ellipse">
            <a:avLst/>
          </a:prstGeom>
          <a:no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es-ES_tradnl" sz="1200" dirty="0">
              <a:solidFill>
                <a:srgbClr val="676767"/>
              </a:solidFill>
            </a:endParaRPr>
          </a:p>
        </p:txBody>
      </p:sp>
      <p:sp>
        <p:nvSpPr>
          <p:cNvPr id="27" name="Elipse 11"/>
          <p:cNvSpPr/>
          <p:nvPr/>
        </p:nvSpPr>
        <p:spPr>
          <a:xfrm>
            <a:off x="9038212" y="5479253"/>
            <a:ext cx="351985" cy="351985"/>
          </a:xfrm>
          <a:prstGeom prst="ellipse">
            <a:avLst/>
          </a:prstGeom>
          <a:no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b="1" dirty="0">
                <a:solidFill>
                  <a:srgbClr val="676767"/>
                </a:solidFill>
              </a:rPr>
              <a:t>3</a:t>
            </a:r>
            <a:endParaRPr lang="es-ES_tradnl" sz="1200" dirty="0">
              <a:solidFill>
                <a:srgbClr val="676767"/>
              </a:solidFill>
            </a:endParaRPr>
          </a:p>
        </p:txBody>
      </p:sp>
      <p:sp>
        <p:nvSpPr>
          <p:cNvPr id="28" name="Elipse 11"/>
          <p:cNvSpPr/>
          <p:nvPr/>
        </p:nvSpPr>
        <p:spPr>
          <a:xfrm>
            <a:off x="9038213" y="4750578"/>
            <a:ext cx="351985" cy="351985"/>
          </a:xfrm>
          <a:prstGeom prst="ellipse">
            <a:avLst/>
          </a:prstGeom>
          <a:no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es-ES_tradnl" sz="1200" dirty="0">
              <a:solidFill>
                <a:srgbClr val="676767"/>
              </a:solidFill>
            </a:endParaRPr>
          </a:p>
        </p:txBody>
      </p:sp>
      <p:sp>
        <p:nvSpPr>
          <p:cNvPr id="30" name="Elipse 11"/>
          <p:cNvSpPr/>
          <p:nvPr/>
        </p:nvSpPr>
        <p:spPr>
          <a:xfrm>
            <a:off x="7887241" y="4757284"/>
            <a:ext cx="351985" cy="351985"/>
          </a:xfrm>
          <a:prstGeom prst="ellipse">
            <a:avLst/>
          </a:prstGeom>
          <a:no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es-ES_tradnl" sz="1200" dirty="0">
              <a:solidFill>
                <a:srgbClr val="676767"/>
              </a:solidFill>
            </a:endParaRPr>
          </a:p>
        </p:txBody>
      </p:sp>
      <p:cxnSp>
        <p:nvCxnSpPr>
          <p:cNvPr id="16" name="Straight Connector 15"/>
          <p:cNvCxnSpPr>
            <a:stCxn id="22" idx="6"/>
            <a:endCxn id="30" idx="2"/>
          </p:cNvCxnSpPr>
          <p:nvPr/>
        </p:nvCxnSpPr>
        <p:spPr>
          <a:xfrm flipV="1">
            <a:off x="6551715" y="4933277"/>
            <a:ext cx="1335525" cy="4692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30" idx="6"/>
            <a:endCxn id="28" idx="2"/>
          </p:cNvCxnSpPr>
          <p:nvPr/>
        </p:nvCxnSpPr>
        <p:spPr>
          <a:xfrm flipV="1">
            <a:off x="8239225" y="4926572"/>
            <a:ext cx="798987" cy="67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25" idx="6"/>
            <a:endCxn id="27" idx="2"/>
          </p:cNvCxnSpPr>
          <p:nvPr/>
        </p:nvCxnSpPr>
        <p:spPr>
          <a:xfrm flipV="1">
            <a:off x="8238998" y="5655246"/>
            <a:ext cx="799213"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218252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p:txBody>
          <a:bodyPr anchor="t"/>
          <a:lstStyle/>
          <a:p>
            <a:r>
              <a:rPr lang="en-US" sz="2400" i="1" dirty="0"/>
              <a:t>Endpoint </a:t>
            </a:r>
            <a:r>
              <a:rPr lang="en-US" sz="2400" i="1" dirty="0" err="1"/>
              <a:t>xconnect</a:t>
            </a:r>
            <a:r>
              <a:rPr lang="en-US" sz="2400" dirty="0"/>
              <a:t> behavior (adjacency segment)</a:t>
            </a:r>
          </a:p>
          <a:p>
            <a:pPr lvl="1"/>
            <a:r>
              <a:rPr lang="en-US" sz="2133" dirty="0"/>
              <a:t>Decrement Segments Left, update DA</a:t>
            </a:r>
          </a:p>
          <a:p>
            <a:pPr lvl="1"/>
            <a:r>
              <a:rPr lang="en-US" sz="2133" dirty="0"/>
              <a:t>Forward on the interface associated with the </a:t>
            </a:r>
            <a:r>
              <a:rPr lang="en-US" sz="2133" dirty="0" err="1"/>
              <a:t>Xconnect</a:t>
            </a:r>
            <a:r>
              <a:rPr lang="en-US" sz="2133" dirty="0"/>
              <a:t> segment</a:t>
            </a:r>
          </a:p>
          <a:p>
            <a:r>
              <a:rPr lang="en-US" sz="2400" dirty="0"/>
              <a:t>Node 3 advertises prefix A3::/64</a:t>
            </a:r>
          </a:p>
          <a:p>
            <a:pPr lvl="1"/>
            <a:r>
              <a:rPr lang="en-US" sz="2133" dirty="0"/>
              <a:t>Packets are forwarded to node 3 along the default routes (shortest path)</a:t>
            </a:r>
          </a:p>
          <a:p>
            <a:r>
              <a:rPr lang="en-US" sz="2400" dirty="0"/>
              <a:t>On 3, the </a:t>
            </a:r>
            <a:r>
              <a:rPr lang="en-US" sz="2400" i="1" dirty="0"/>
              <a:t>endpoint </a:t>
            </a:r>
            <a:r>
              <a:rPr lang="en-US" sz="2400" i="1" dirty="0" err="1"/>
              <a:t>xconnect</a:t>
            </a:r>
            <a:r>
              <a:rPr lang="en-US" sz="2400" dirty="0"/>
              <a:t> behavior for link 1 is associated with ID C1</a:t>
            </a:r>
          </a:p>
          <a:p>
            <a:r>
              <a:rPr lang="en-US" sz="2400" dirty="0"/>
              <a:t>The SID corresponding to </a:t>
            </a:r>
            <a:r>
              <a:rPr lang="en-US" sz="2400" i="1" dirty="0"/>
              <a:t>endpoint xconnect-1</a:t>
            </a:r>
            <a:r>
              <a:rPr lang="en-US" sz="2400" dirty="0"/>
              <a:t> behavior on node 3 is A3::C1</a:t>
            </a:r>
          </a:p>
        </p:txBody>
      </p:sp>
      <p:sp>
        <p:nvSpPr>
          <p:cNvPr id="5" name="Text Placeholder 4">
            <a:extLst>
              <a:ext uri="{FF2B5EF4-FFF2-40B4-BE49-F238E27FC236}">
                <a16:creationId xmlns:a16="http://schemas.microsoft.com/office/drawing/2014/main" id="{66B81A11-EFF0-47B7-1FC6-8457DEE5B8C5}"/>
              </a:ext>
            </a:extLst>
          </p:cNvPr>
          <p:cNvSpPr>
            <a:spLocks noGrp="1"/>
          </p:cNvSpPr>
          <p:nvPr>
            <p:ph type="body" sz="quarter" idx="11"/>
          </p:nvPr>
        </p:nvSpPr>
        <p:spPr/>
        <p:txBody>
          <a:bodyPr/>
          <a:lstStyle/>
          <a:p>
            <a:r>
              <a:rPr lang="en-US" dirty="0"/>
              <a:t>END.X – Endpoint then Xconnect</a:t>
            </a:r>
          </a:p>
        </p:txBody>
      </p:sp>
      <p:grpSp>
        <p:nvGrpSpPr>
          <p:cNvPr id="13" name="Group 12"/>
          <p:cNvGrpSpPr/>
          <p:nvPr/>
        </p:nvGrpSpPr>
        <p:grpSpPr>
          <a:xfrm>
            <a:off x="2771503" y="4793044"/>
            <a:ext cx="6648996" cy="1758801"/>
            <a:chOff x="1942732" y="3379326"/>
            <a:chExt cx="4986747" cy="1319101"/>
          </a:xfrm>
        </p:grpSpPr>
        <p:grpSp>
          <p:nvGrpSpPr>
            <p:cNvPr id="26" name="Group 25"/>
            <p:cNvGrpSpPr/>
            <p:nvPr/>
          </p:nvGrpSpPr>
          <p:grpSpPr>
            <a:xfrm>
              <a:off x="1942732" y="4135178"/>
              <a:ext cx="1608630" cy="483396"/>
              <a:chOff x="3435801" y="1769864"/>
              <a:chExt cx="1509097" cy="483396"/>
            </a:xfrm>
          </p:grpSpPr>
          <p:sp>
            <p:nvSpPr>
              <p:cNvPr id="27" name="Rectángulo redondeado 65"/>
              <p:cNvSpPr/>
              <p:nvPr/>
            </p:nvSpPr>
            <p:spPr>
              <a:xfrm>
                <a:off x="3435803" y="1930995"/>
                <a:ext cx="434863" cy="161131"/>
              </a:xfrm>
              <a:prstGeom prst="rect">
                <a:avLst/>
              </a:prstGeom>
              <a:solidFill>
                <a:schemeClr val="tx2">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FFFFFF"/>
                    </a:solidFill>
                  </a:rPr>
                  <a:t>SR </a:t>
                </a:r>
                <a:r>
                  <a:rPr lang="es-ES_tradnl" sz="1067" dirty="0" err="1">
                    <a:solidFill>
                      <a:srgbClr val="FFFFFF"/>
                    </a:solidFill>
                  </a:rPr>
                  <a:t>Hdr</a:t>
                </a:r>
                <a:endParaRPr lang="es-ES_tradnl" sz="1067" dirty="0">
                  <a:solidFill>
                    <a:srgbClr val="FFFFFF"/>
                  </a:solidFill>
                </a:endParaRPr>
              </a:p>
            </p:txBody>
          </p:sp>
          <p:sp>
            <p:nvSpPr>
              <p:cNvPr id="28" name="Rectángulo redondeado 64"/>
              <p:cNvSpPr/>
              <p:nvPr/>
            </p:nvSpPr>
            <p:spPr>
              <a:xfrm rot="16200000">
                <a:off x="3572670" y="1632999"/>
                <a:ext cx="161130" cy="434861"/>
              </a:xfrm>
              <a:prstGeom prst="round1Rect">
                <a:avLst/>
              </a:prstGeom>
              <a:solidFill>
                <a:schemeClr val="accent4">
                  <a:lumMod val="75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 lIns="0" tIns="0" rIns="0" bIns="0" rtlCol="0" anchor="ctr"/>
              <a:lstStyle/>
              <a:p>
                <a:pPr algn="ctr"/>
                <a:r>
                  <a:rPr lang="es-ES_tradnl" sz="1067" dirty="0">
                    <a:solidFill>
                      <a:srgbClr val="FFFFFF"/>
                    </a:solidFill>
                  </a:rPr>
                  <a:t>IPv6 </a:t>
                </a:r>
                <a:r>
                  <a:rPr lang="es-ES_tradnl" sz="1067" dirty="0" err="1">
                    <a:solidFill>
                      <a:srgbClr val="FFFFFF"/>
                    </a:solidFill>
                  </a:rPr>
                  <a:t>Hdr</a:t>
                </a:r>
                <a:endParaRPr lang="es-ES_tradnl" sz="1067" b="1" dirty="0">
                  <a:solidFill>
                    <a:srgbClr val="FFC000"/>
                  </a:solidFill>
                </a:endParaRPr>
              </a:p>
            </p:txBody>
          </p:sp>
          <p:sp>
            <p:nvSpPr>
              <p:cNvPr id="30" name="Rectángulo redondeado 64"/>
              <p:cNvSpPr/>
              <p:nvPr/>
            </p:nvSpPr>
            <p:spPr>
              <a:xfrm>
                <a:off x="3870666" y="1769864"/>
                <a:ext cx="1074231" cy="161131"/>
              </a:xfrm>
              <a:prstGeom prst="round1Rect">
                <a:avLst/>
              </a:prstGeom>
              <a:solidFill>
                <a:schemeClr val="accent4">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r>
                  <a:rPr lang="es-ES_tradnl" sz="1067" dirty="0">
                    <a:solidFill>
                      <a:srgbClr val="676767"/>
                    </a:solidFill>
                  </a:rPr>
                  <a:t>SA = A1::, DA = </a:t>
                </a:r>
                <a:r>
                  <a:rPr lang="es-ES_tradnl" sz="1067" b="1" dirty="0">
                    <a:solidFill>
                      <a:srgbClr val="676767"/>
                    </a:solidFill>
                  </a:rPr>
                  <a:t>A3::C1</a:t>
                </a:r>
              </a:p>
            </p:txBody>
          </p:sp>
          <p:sp>
            <p:nvSpPr>
              <p:cNvPr id="31" name="Rectángulo redondeado 65"/>
              <p:cNvSpPr/>
              <p:nvPr/>
            </p:nvSpPr>
            <p:spPr>
              <a:xfrm>
                <a:off x="3870667" y="1930994"/>
                <a:ext cx="1074231" cy="161131"/>
              </a:xfrm>
              <a:prstGeom prst="rect">
                <a:avLst/>
              </a:prstGeom>
              <a:solidFill>
                <a:schemeClr val="tx2">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676767"/>
                    </a:solidFill>
                  </a:rPr>
                  <a:t>(</a:t>
                </a:r>
                <a:r>
                  <a:rPr lang="mr-IN" sz="1067" dirty="0">
                    <a:solidFill>
                      <a:srgbClr val="676767"/>
                    </a:solidFill>
                  </a:rPr>
                  <a:t>…</a:t>
                </a:r>
                <a:r>
                  <a:rPr lang="en-US" sz="1067" dirty="0">
                    <a:solidFill>
                      <a:srgbClr val="676767"/>
                    </a:solidFill>
                  </a:rPr>
                  <a:t>,A4::,</a:t>
                </a:r>
                <a:r>
                  <a:rPr lang="es-ES_tradnl" sz="1067" dirty="0">
                    <a:solidFill>
                      <a:srgbClr val="676767"/>
                    </a:solidFill>
                  </a:rPr>
                  <a:t> </a:t>
                </a:r>
                <a:r>
                  <a:rPr lang="es-ES_tradnl" sz="1067" dirty="0">
                    <a:solidFill>
                      <a:srgbClr val="FA661C"/>
                    </a:solidFill>
                  </a:rPr>
                  <a:t>A3::C1</a:t>
                </a:r>
                <a:r>
                  <a:rPr lang="es-ES_tradnl" sz="1067" dirty="0">
                    <a:solidFill>
                      <a:srgbClr val="676767"/>
                    </a:solidFill>
                  </a:rPr>
                  <a:t>,</a:t>
                </a:r>
                <a:r>
                  <a:rPr lang="mr-IN" sz="1067" dirty="0">
                    <a:solidFill>
                      <a:srgbClr val="676767"/>
                    </a:solidFill>
                  </a:rPr>
                  <a:t>…</a:t>
                </a:r>
                <a:r>
                  <a:rPr lang="es-ES_tradnl" sz="1067" dirty="0">
                    <a:solidFill>
                      <a:srgbClr val="676767"/>
                    </a:solidFill>
                  </a:rPr>
                  <a:t>) SL=k</a:t>
                </a:r>
              </a:p>
            </p:txBody>
          </p:sp>
          <p:grpSp>
            <p:nvGrpSpPr>
              <p:cNvPr id="33" name="Group 32"/>
              <p:cNvGrpSpPr/>
              <p:nvPr/>
            </p:nvGrpSpPr>
            <p:grpSpPr>
              <a:xfrm>
                <a:off x="3435801" y="2092127"/>
                <a:ext cx="1509096" cy="161133"/>
                <a:chOff x="3435801" y="2345671"/>
                <a:chExt cx="1509096" cy="161133"/>
              </a:xfrm>
            </p:grpSpPr>
            <p:sp>
              <p:nvSpPr>
                <p:cNvPr id="43" name="Rectángulo redondeado 66"/>
                <p:cNvSpPr/>
                <p:nvPr/>
              </p:nvSpPr>
              <p:spPr>
                <a:xfrm rot="10800000">
                  <a:off x="3435802" y="2345671"/>
                  <a:ext cx="1509095" cy="161131"/>
                </a:xfrm>
                <a:prstGeom prst="round2SameRect">
                  <a:avLst/>
                </a:prstGeom>
                <a:solidFill>
                  <a:schemeClr val="tx1">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067" dirty="0">
                    <a:solidFill>
                      <a:srgbClr val="FFFFFF"/>
                    </a:solidFill>
                  </a:endParaRPr>
                </a:p>
              </p:txBody>
            </p:sp>
            <p:sp>
              <p:nvSpPr>
                <p:cNvPr id="44" name="TextBox 43"/>
                <p:cNvSpPr txBox="1"/>
                <p:nvPr/>
              </p:nvSpPr>
              <p:spPr>
                <a:xfrm>
                  <a:off x="3435801" y="2345673"/>
                  <a:ext cx="1509095" cy="161131"/>
                </a:xfrm>
                <a:prstGeom prst="rect">
                  <a:avLst/>
                </a:prstGeom>
                <a:noFill/>
              </p:spPr>
              <p:txBody>
                <a:bodyPr wrap="square" lIns="0" tIns="0" rIns="0" bIns="0" rtlCol="0" anchor="ctr">
                  <a:normAutofit/>
                </a:bodyPr>
                <a:lstStyle/>
                <a:p>
                  <a:pPr algn="ctr"/>
                  <a:r>
                    <a:rPr lang="es-ES_tradnl" sz="1067" dirty="0" err="1">
                      <a:solidFill>
                        <a:srgbClr val="FFFFFF">
                          <a:lumMod val="50000"/>
                        </a:srgbClr>
                      </a:solidFill>
                      <a:latin typeface="Arial"/>
                    </a:rPr>
                    <a:t>Payload</a:t>
                  </a:r>
                  <a:endParaRPr lang="es-ES_tradnl" sz="1067" dirty="0">
                    <a:solidFill>
                      <a:srgbClr val="FFFFFF">
                        <a:lumMod val="50000"/>
                      </a:srgbClr>
                    </a:solidFill>
                    <a:latin typeface="Arial"/>
                  </a:endParaRPr>
                </a:p>
              </p:txBody>
            </p:sp>
          </p:grpSp>
        </p:grpSp>
        <p:grpSp>
          <p:nvGrpSpPr>
            <p:cNvPr id="45" name="Group 44"/>
            <p:cNvGrpSpPr/>
            <p:nvPr/>
          </p:nvGrpSpPr>
          <p:grpSpPr>
            <a:xfrm>
              <a:off x="4429698" y="3379326"/>
              <a:ext cx="1746236" cy="483396"/>
              <a:chOff x="3435802" y="1769864"/>
              <a:chExt cx="1638189" cy="483396"/>
            </a:xfrm>
          </p:grpSpPr>
          <p:sp>
            <p:nvSpPr>
              <p:cNvPr id="46" name="Rectángulo redondeado 65"/>
              <p:cNvSpPr/>
              <p:nvPr/>
            </p:nvSpPr>
            <p:spPr>
              <a:xfrm>
                <a:off x="3435803" y="1930995"/>
                <a:ext cx="434863" cy="161131"/>
              </a:xfrm>
              <a:prstGeom prst="rect">
                <a:avLst/>
              </a:prstGeom>
              <a:solidFill>
                <a:schemeClr val="tx2">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FFFFFF"/>
                    </a:solidFill>
                  </a:rPr>
                  <a:t>SR </a:t>
                </a:r>
                <a:r>
                  <a:rPr lang="es-ES_tradnl" sz="1067" dirty="0" err="1">
                    <a:solidFill>
                      <a:srgbClr val="FFFFFF"/>
                    </a:solidFill>
                  </a:rPr>
                  <a:t>Hdr</a:t>
                </a:r>
                <a:endParaRPr lang="es-ES_tradnl" sz="1067" dirty="0">
                  <a:solidFill>
                    <a:srgbClr val="FFFFFF"/>
                  </a:solidFill>
                </a:endParaRPr>
              </a:p>
            </p:txBody>
          </p:sp>
          <p:sp>
            <p:nvSpPr>
              <p:cNvPr id="47" name="Rectángulo redondeado 64"/>
              <p:cNvSpPr/>
              <p:nvPr/>
            </p:nvSpPr>
            <p:spPr>
              <a:xfrm rot="16200000">
                <a:off x="3572670" y="1632999"/>
                <a:ext cx="161130" cy="434861"/>
              </a:xfrm>
              <a:prstGeom prst="round1Rect">
                <a:avLst/>
              </a:prstGeom>
              <a:solidFill>
                <a:schemeClr val="accent4">
                  <a:lumMod val="75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 lIns="0" tIns="0" rIns="0" bIns="0" rtlCol="0" anchor="ctr"/>
              <a:lstStyle/>
              <a:p>
                <a:pPr algn="ctr"/>
                <a:r>
                  <a:rPr lang="es-ES_tradnl" sz="1067" dirty="0">
                    <a:solidFill>
                      <a:srgbClr val="FFFFFF"/>
                    </a:solidFill>
                  </a:rPr>
                  <a:t>IPv6 </a:t>
                </a:r>
                <a:r>
                  <a:rPr lang="es-ES_tradnl" sz="1067" dirty="0" err="1">
                    <a:solidFill>
                      <a:srgbClr val="FFFFFF"/>
                    </a:solidFill>
                  </a:rPr>
                  <a:t>Hdr</a:t>
                </a:r>
                <a:endParaRPr lang="es-ES_tradnl" sz="1067" b="1" dirty="0">
                  <a:solidFill>
                    <a:srgbClr val="FFC000"/>
                  </a:solidFill>
                </a:endParaRPr>
              </a:p>
            </p:txBody>
          </p:sp>
          <p:sp>
            <p:nvSpPr>
              <p:cNvPr id="48" name="Rectángulo redondeado 64"/>
              <p:cNvSpPr/>
              <p:nvPr/>
            </p:nvSpPr>
            <p:spPr>
              <a:xfrm>
                <a:off x="3870666" y="1769864"/>
                <a:ext cx="1203324" cy="161131"/>
              </a:xfrm>
              <a:prstGeom prst="round1Rect">
                <a:avLst/>
              </a:prstGeom>
              <a:solidFill>
                <a:schemeClr val="accent4">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r>
                  <a:rPr lang="es-ES_tradnl" sz="1067" dirty="0">
                    <a:solidFill>
                      <a:srgbClr val="676767"/>
                    </a:solidFill>
                  </a:rPr>
                  <a:t>SA = A1::, DA = </a:t>
                </a:r>
                <a:r>
                  <a:rPr lang="es-ES_tradnl" sz="1067" b="1" dirty="0">
                    <a:solidFill>
                      <a:srgbClr val="676767"/>
                    </a:solidFill>
                  </a:rPr>
                  <a:t>A4::</a:t>
                </a:r>
              </a:p>
            </p:txBody>
          </p:sp>
          <p:sp>
            <p:nvSpPr>
              <p:cNvPr id="49" name="Rectángulo redondeado 65"/>
              <p:cNvSpPr/>
              <p:nvPr/>
            </p:nvSpPr>
            <p:spPr>
              <a:xfrm>
                <a:off x="3870666" y="1930994"/>
                <a:ext cx="1203325" cy="161131"/>
              </a:xfrm>
              <a:prstGeom prst="rect">
                <a:avLst/>
              </a:prstGeom>
              <a:solidFill>
                <a:schemeClr val="tx2">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676767"/>
                    </a:solidFill>
                  </a:rPr>
                  <a:t>(</a:t>
                </a:r>
                <a:r>
                  <a:rPr lang="mr-IN" sz="1067" dirty="0">
                    <a:solidFill>
                      <a:srgbClr val="676767"/>
                    </a:solidFill>
                  </a:rPr>
                  <a:t>…</a:t>
                </a:r>
                <a:r>
                  <a:rPr lang="es-ES_tradnl" sz="1067" dirty="0">
                    <a:solidFill>
                      <a:srgbClr val="676767"/>
                    </a:solidFill>
                  </a:rPr>
                  <a:t>, </a:t>
                </a:r>
                <a:r>
                  <a:rPr lang="es-ES_tradnl" sz="1067" b="1" dirty="0">
                    <a:solidFill>
                      <a:srgbClr val="FA661C"/>
                    </a:solidFill>
                  </a:rPr>
                  <a:t>A4::</a:t>
                </a:r>
                <a:r>
                  <a:rPr lang="es-ES_tradnl" sz="1067" dirty="0">
                    <a:solidFill>
                      <a:srgbClr val="676767"/>
                    </a:solidFill>
                  </a:rPr>
                  <a:t>, A3::C1,</a:t>
                </a:r>
                <a:r>
                  <a:rPr lang="mr-IN" sz="1067" dirty="0">
                    <a:solidFill>
                      <a:srgbClr val="676767"/>
                    </a:solidFill>
                  </a:rPr>
                  <a:t>…</a:t>
                </a:r>
                <a:r>
                  <a:rPr lang="es-ES_tradnl" sz="1067" dirty="0">
                    <a:solidFill>
                      <a:srgbClr val="676767"/>
                    </a:solidFill>
                  </a:rPr>
                  <a:t>) SL=k-1</a:t>
                </a:r>
              </a:p>
            </p:txBody>
          </p:sp>
          <p:grpSp>
            <p:nvGrpSpPr>
              <p:cNvPr id="50" name="Group 49"/>
              <p:cNvGrpSpPr/>
              <p:nvPr/>
            </p:nvGrpSpPr>
            <p:grpSpPr>
              <a:xfrm>
                <a:off x="3435802" y="2092127"/>
                <a:ext cx="1638188" cy="161133"/>
                <a:chOff x="3435802" y="2345671"/>
                <a:chExt cx="1638188" cy="161133"/>
              </a:xfrm>
            </p:grpSpPr>
            <p:sp>
              <p:nvSpPr>
                <p:cNvPr id="51" name="Rectángulo redondeado 66"/>
                <p:cNvSpPr/>
                <p:nvPr/>
              </p:nvSpPr>
              <p:spPr>
                <a:xfrm rot="10800000">
                  <a:off x="3435802" y="2345671"/>
                  <a:ext cx="1638188" cy="161131"/>
                </a:xfrm>
                <a:prstGeom prst="round2SameRect">
                  <a:avLst/>
                </a:prstGeom>
                <a:solidFill>
                  <a:schemeClr val="tx1">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067" dirty="0">
                    <a:solidFill>
                      <a:srgbClr val="FFFFFF"/>
                    </a:solidFill>
                  </a:endParaRPr>
                </a:p>
              </p:txBody>
            </p:sp>
            <p:sp>
              <p:nvSpPr>
                <p:cNvPr id="52" name="TextBox 51"/>
                <p:cNvSpPr txBox="1"/>
                <p:nvPr/>
              </p:nvSpPr>
              <p:spPr>
                <a:xfrm>
                  <a:off x="3435803" y="2345673"/>
                  <a:ext cx="1638187" cy="161131"/>
                </a:xfrm>
                <a:prstGeom prst="rect">
                  <a:avLst/>
                </a:prstGeom>
                <a:noFill/>
              </p:spPr>
              <p:txBody>
                <a:bodyPr wrap="square" lIns="0" tIns="0" rIns="0" bIns="0" rtlCol="0" anchor="ctr">
                  <a:normAutofit/>
                </a:bodyPr>
                <a:lstStyle/>
                <a:p>
                  <a:pPr algn="ctr"/>
                  <a:r>
                    <a:rPr lang="es-ES_tradnl" sz="1067" dirty="0" err="1">
                      <a:solidFill>
                        <a:srgbClr val="FFFFFF">
                          <a:lumMod val="50000"/>
                        </a:srgbClr>
                      </a:solidFill>
                      <a:latin typeface="Arial"/>
                    </a:rPr>
                    <a:t>Payload</a:t>
                  </a:r>
                  <a:endParaRPr lang="es-ES_tradnl" sz="1067" dirty="0">
                    <a:solidFill>
                      <a:srgbClr val="FFFFFF">
                        <a:lumMod val="50000"/>
                      </a:srgbClr>
                    </a:solidFill>
                    <a:latin typeface="Arial"/>
                  </a:endParaRPr>
                </a:p>
              </p:txBody>
            </p:sp>
          </p:grpSp>
        </p:grpSp>
        <p:cxnSp>
          <p:nvCxnSpPr>
            <p:cNvPr id="53" name="Conector recto de flecha 27"/>
            <p:cNvCxnSpPr/>
            <p:nvPr/>
          </p:nvCxnSpPr>
          <p:spPr>
            <a:xfrm>
              <a:off x="3592206" y="4376873"/>
              <a:ext cx="690594" cy="0"/>
            </a:xfrm>
            <a:prstGeom prst="straightConnector1">
              <a:avLst/>
            </a:prstGeom>
            <a:ln w="317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4" name="Elipse 11"/>
            <p:cNvSpPr/>
            <p:nvPr/>
          </p:nvSpPr>
          <p:spPr>
            <a:xfrm>
              <a:off x="4282800" y="4117967"/>
              <a:ext cx="517818" cy="517818"/>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b="1" dirty="0">
                  <a:solidFill>
                    <a:srgbClr val="676767"/>
                  </a:solidFill>
                </a:rPr>
                <a:t>3</a:t>
              </a:r>
            </a:p>
            <a:p>
              <a:pPr algn="ctr"/>
              <a:r>
                <a:rPr lang="es-ES_tradnl" sz="1067" dirty="0">
                  <a:solidFill>
                    <a:srgbClr val="676767"/>
                  </a:solidFill>
                </a:rPr>
                <a:t>A3:: /64</a:t>
              </a:r>
            </a:p>
          </p:txBody>
        </p:sp>
        <p:sp>
          <p:nvSpPr>
            <p:cNvPr id="55" name="Elipse 11"/>
            <p:cNvSpPr/>
            <p:nvPr/>
          </p:nvSpPr>
          <p:spPr>
            <a:xfrm>
              <a:off x="5802091" y="4434438"/>
              <a:ext cx="263989" cy="263989"/>
            </a:xfrm>
            <a:prstGeom prst="ellipse">
              <a:avLst/>
            </a:prstGeom>
            <a:no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es-ES_tradnl" sz="1200" dirty="0">
                <a:solidFill>
                  <a:srgbClr val="676767"/>
                </a:solidFill>
              </a:endParaRPr>
            </a:p>
          </p:txBody>
        </p:sp>
        <p:sp>
          <p:nvSpPr>
            <p:cNvPr id="56" name="Elipse 11"/>
            <p:cNvSpPr/>
            <p:nvPr/>
          </p:nvSpPr>
          <p:spPr>
            <a:xfrm>
              <a:off x="6665490" y="4163699"/>
              <a:ext cx="263989" cy="263989"/>
            </a:xfrm>
            <a:prstGeom prst="ellipse">
              <a:avLst/>
            </a:prstGeom>
            <a:no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b="1" dirty="0">
                  <a:solidFill>
                    <a:srgbClr val="676767"/>
                  </a:solidFill>
                </a:rPr>
                <a:t>4</a:t>
              </a:r>
              <a:endParaRPr lang="es-ES_tradnl" sz="1200" dirty="0">
                <a:solidFill>
                  <a:srgbClr val="676767"/>
                </a:solidFill>
              </a:endParaRPr>
            </a:p>
          </p:txBody>
        </p:sp>
        <p:sp>
          <p:nvSpPr>
            <p:cNvPr id="57" name="Elipse 11"/>
            <p:cNvSpPr/>
            <p:nvPr/>
          </p:nvSpPr>
          <p:spPr>
            <a:xfrm>
              <a:off x="5802262" y="3892960"/>
              <a:ext cx="263989" cy="263989"/>
            </a:xfrm>
            <a:prstGeom prst="ellipse">
              <a:avLst/>
            </a:prstGeom>
            <a:no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es-ES_tradnl" sz="1200" dirty="0">
                <a:solidFill>
                  <a:srgbClr val="676767"/>
                </a:solidFill>
              </a:endParaRPr>
            </a:p>
          </p:txBody>
        </p:sp>
        <p:cxnSp>
          <p:nvCxnSpPr>
            <p:cNvPr id="58" name="Straight Connector 57"/>
            <p:cNvCxnSpPr/>
            <p:nvPr/>
          </p:nvCxnSpPr>
          <p:spPr>
            <a:xfrm>
              <a:off x="6066251" y="4024956"/>
              <a:ext cx="599239" cy="2707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flipV="1">
              <a:off x="6066080" y="4295694"/>
              <a:ext cx="599410" cy="2707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4800618" y="4376876"/>
              <a:ext cx="1001473" cy="1895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Conector recto de flecha 27"/>
            <p:cNvCxnSpPr/>
            <p:nvPr/>
          </p:nvCxnSpPr>
          <p:spPr>
            <a:xfrm flipV="1">
              <a:off x="4800618" y="4024955"/>
              <a:ext cx="1001644" cy="351921"/>
            </a:xfrm>
            <a:prstGeom prst="straightConnector1">
              <a:avLst/>
            </a:prstGeom>
            <a:ln w="317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grpSp>
      <p:sp>
        <p:nvSpPr>
          <p:cNvPr id="4" name="TextBox 3"/>
          <p:cNvSpPr txBox="1"/>
          <p:nvPr/>
        </p:nvSpPr>
        <p:spPr>
          <a:xfrm>
            <a:off x="6912940" y="5543066"/>
            <a:ext cx="298480" cy="338554"/>
          </a:xfrm>
          <a:prstGeom prst="rect">
            <a:avLst/>
          </a:prstGeom>
          <a:noFill/>
        </p:spPr>
        <p:txBody>
          <a:bodyPr wrap="none" rtlCol="0">
            <a:spAutoFit/>
          </a:bodyPr>
          <a:lstStyle/>
          <a:p>
            <a:r>
              <a:rPr lang="en-US" sz="1600" dirty="0">
                <a:solidFill>
                  <a:srgbClr val="676767"/>
                </a:solidFill>
              </a:rPr>
              <a:t>1</a:t>
            </a:r>
          </a:p>
        </p:txBody>
      </p:sp>
      <p:sp>
        <p:nvSpPr>
          <p:cNvPr id="32" name="TextBox 31"/>
          <p:cNvSpPr txBox="1"/>
          <p:nvPr/>
        </p:nvSpPr>
        <p:spPr>
          <a:xfrm>
            <a:off x="6909712" y="6230527"/>
            <a:ext cx="298480" cy="338554"/>
          </a:xfrm>
          <a:prstGeom prst="rect">
            <a:avLst/>
          </a:prstGeom>
          <a:noFill/>
        </p:spPr>
        <p:txBody>
          <a:bodyPr wrap="none" rtlCol="0">
            <a:spAutoFit/>
          </a:bodyPr>
          <a:lstStyle/>
          <a:p>
            <a:r>
              <a:rPr lang="en-US" sz="1600">
                <a:solidFill>
                  <a:srgbClr val="676767"/>
                </a:solidFill>
              </a:rPr>
              <a:t>2</a:t>
            </a:r>
            <a:endParaRPr lang="en-US" sz="1600" dirty="0">
              <a:solidFill>
                <a:srgbClr val="676767"/>
              </a:solidFill>
            </a:endParaRPr>
          </a:p>
        </p:txBody>
      </p:sp>
    </p:spTree>
    <p:extLst>
      <p:ext uri="{BB962C8B-B14F-4D97-AF65-F5344CB8AC3E}">
        <p14:creationId xmlns:p14="http://schemas.microsoft.com/office/powerpoint/2010/main" val="51893862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p:cNvGrpSpPr/>
          <p:nvPr/>
        </p:nvGrpSpPr>
        <p:grpSpPr>
          <a:xfrm>
            <a:off x="7475418" y="4923069"/>
            <a:ext cx="2415876" cy="1074232"/>
            <a:chOff x="2903692" y="1510127"/>
            <a:chExt cx="1811907" cy="805674"/>
          </a:xfrm>
        </p:grpSpPr>
        <p:grpSp>
          <p:nvGrpSpPr>
            <p:cNvPr id="46" name="Group 45"/>
            <p:cNvGrpSpPr/>
            <p:nvPr/>
          </p:nvGrpSpPr>
          <p:grpSpPr>
            <a:xfrm>
              <a:off x="2903693" y="1510127"/>
              <a:ext cx="1811904" cy="161131"/>
              <a:chOff x="2903694" y="1832404"/>
              <a:chExt cx="1811904" cy="161131"/>
            </a:xfrm>
          </p:grpSpPr>
          <p:sp>
            <p:nvSpPr>
              <p:cNvPr id="59" name="Rectángulo redondeado 64"/>
              <p:cNvSpPr/>
              <p:nvPr/>
            </p:nvSpPr>
            <p:spPr>
              <a:xfrm rot="16200000">
                <a:off x="3054900" y="1681198"/>
                <a:ext cx="161130" cy="463542"/>
              </a:xfrm>
              <a:prstGeom prst="round1Rect">
                <a:avLst/>
              </a:prstGeom>
              <a:solidFill>
                <a:schemeClr val="accent4">
                  <a:lumMod val="75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 lIns="0" tIns="0" rIns="0" bIns="0" rtlCol="0" anchor="ctr"/>
              <a:lstStyle/>
              <a:p>
                <a:pPr algn="ctr"/>
                <a:r>
                  <a:rPr lang="es-ES_tradnl" sz="1067" dirty="0">
                    <a:solidFill>
                      <a:srgbClr val="FFFFFF"/>
                    </a:solidFill>
                  </a:rPr>
                  <a:t>IPv6 </a:t>
                </a:r>
                <a:r>
                  <a:rPr lang="es-ES_tradnl" sz="1067" dirty="0" err="1">
                    <a:solidFill>
                      <a:srgbClr val="FFFFFF"/>
                    </a:solidFill>
                  </a:rPr>
                  <a:t>Hdr</a:t>
                </a:r>
                <a:endParaRPr lang="es-ES_tradnl" sz="1067" b="1" dirty="0">
                  <a:solidFill>
                    <a:srgbClr val="FFC000"/>
                  </a:solidFill>
                </a:endParaRPr>
              </a:p>
            </p:txBody>
          </p:sp>
          <p:sp>
            <p:nvSpPr>
              <p:cNvPr id="60" name="Rectángulo redondeado 64"/>
              <p:cNvSpPr/>
              <p:nvPr/>
            </p:nvSpPr>
            <p:spPr>
              <a:xfrm>
                <a:off x="3367237" y="1832404"/>
                <a:ext cx="1348361" cy="161131"/>
              </a:xfrm>
              <a:prstGeom prst="round1Rect">
                <a:avLst/>
              </a:prstGeom>
              <a:solidFill>
                <a:schemeClr val="accent4">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r>
                  <a:rPr lang="es-ES_tradnl" sz="1067" dirty="0">
                    <a:solidFill>
                      <a:srgbClr val="676767"/>
                    </a:solidFill>
                  </a:rPr>
                  <a:t>SA = </a:t>
                </a:r>
                <a:r>
                  <a:rPr lang="ru-RU" sz="1067" b="1" dirty="0">
                    <a:solidFill>
                      <a:srgbClr val="676767"/>
                    </a:solidFill>
                  </a:rPr>
                  <a:t>A4::</a:t>
                </a:r>
                <a:r>
                  <a:rPr lang="es-ES_tradnl" sz="1067" dirty="0">
                    <a:solidFill>
                      <a:srgbClr val="676767"/>
                    </a:solidFill>
                  </a:rPr>
                  <a:t>, DA = </a:t>
                </a:r>
                <a:r>
                  <a:rPr lang="es-ES_tradnl" sz="1067" b="1" dirty="0">
                    <a:solidFill>
                      <a:srgbClr val="676767"/>
                    </a:solidFill>
                  </a:rPr>
                  <a:t>S1</a:t>
                </a:r>
              </a:p>
            </p:txBody>
          </p:sp>
        </p:grpSp>
        <p:grpSp>
          <p:nvGrpSpPr>
            <p:cNvPr id="47" name="Group 46"/>
            <p:cNvGrpSpPr/>
            <p:nvPr/>
          </p:nvGrpSpPr>
          <p:grpSpPr>
            <a:xfrm>
              <a:off x="2903692" y="1993534"/>
              <a:ext cx="1811907" cy="161132"/>
              <a:chOff x="2903692" y="1993534"/>
              <a:chExt cx="1811907" cy="161132"/>
            </a:xfrm>
          </p:grpSpPr>
          <p:sp>
            <p:nvSpPr>
              <p:cNvPr id="57" name="Rectángulo redondeado 65"/>
              <p:cNvSpPr/>
              <p:nvPr/>
            </p:nvSpPr>
            <p:spPr>
              <a:xfrm>
                <a:off x="2903692" y="1993535"/>
                <a:ext cx="463545" cy="161131"/>
              </a:xfrm>
              <a:prstGeom prst="rect">
                <a:avLst/>
              </a:prstGeom>
              <a:solidFill>
                <a:schemeClr val="tx1">
                  <a:lumMod val="75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FFFFFF"/>
                    </a:solidFill>
                  </a:rPr>
                  <a:t>SR </a:t>
                </a:r>
                <a:r>
                  <a:rPr lang="es-ES_tradnl" sz="1067" dirty="0" err="1">
                    <a:solidFill>
                      <a:srgbClr val="FFFFFF"/>
                    </a:solidFill>
                  </a:rPr>
                  <a:t>Hdr</a:t>
                </a:r>
                <a:endParaRPr lang="es-ES_tradnl" sz="1067" dirty="0">
                  <a:solidFill>
                    <a:srgbClr val="FFFFFF"/>
                  </a:solidFill>
                </a:endParaRPr>
              </a:p>
            </p:txBody>
          </p:sp>
          <p:sp>
            <p:nvSpPr>
              <p:cNvPr id="58" name="Rectángulo redondeado 65"/>
              <p:cNvSpPr/>
              <p:nvPr/>
            </p:nvSpPr>
            <p:spPr>
              <a:xfrm>
                <a:off x="3367237" y="1993534"/>
                <a:ext cx="1348362" cy="161131"/>
              </a:xfrm>
              <a:prstGeom prst="rect">
                <a:avLst/>
              </a:prstGeom>
              <a:solidFill>
                <a:schemeClr val="tx1">
                  <a:lumMod val="60000"/>
                  <a:lumOff val="4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676767"/>
                    </a:solidFill>
                  </a:rPr>
                  <a:t>(</a:t>
                </a:r>
                <a:r>
                  <a:rPr lang="mr-IN" sz="1067" dirty="0">
                    <a:solidFill>
                      <a:srgbClr val="676767"/>
                    </a:solidFill>
                  </a:rPr>
                  <a:t>…</a:t>
                </a:r>
                <a:r>
                  <a:rPr lang="es-ES_tradnl" sz="1067" dirty="0">
                    <a:solidFill>
                      <a:srgbClr val="676767"/>
                    </a:solidFill>
                  </a:rPr>
                  <a:t>, </a:t>
                </a:r>
                <a:r>
                  <a:rPr lang="es-ES_tradnl" sz="1067" dirty="0">
                    <a:solidFill>
                      <a:srgbClr val="FA661C"/>
                    </a:solidFill>
                  </a:rPr>
                  <a:t>A5::</a:t>
                </a:r>
                <a:r>
                  <a:rPr lang="es-ES_tradnl" sz="1067" dirty="0">
                    <a:solidFill>
                      <a:srgbClr val="676767"/>
                    </a:solidFill>
                  </a:rPr>
                  <a:t>, </a:t>
                </a:r>
                <a:r>
                  <a:rPr lang="ru-RU" sz="1067" dirty="0">
                    <a:solidFill>
                      <a:srgbClr val="676767"/>
                    </a:solidFill>
                  </a:rPr>
                  <a:t>A4::</a:t>
                </a:r>
                <a:r>
                  <a:rPr lang="es-ES_tradnl" sz="1067" dirty="0">
                    <a:solidFill>
                      <a:srgbClr val="676767"/>
                    </a:solidFill>
                  </a:rPr>
                  <a:t>10,</a:t>
                </a:r>
                <a:r>
                  <a:rPr lang="mr-IN" sz="1067" dirty="0">
                    <a:solidFill>
                      <a:srgbClr val="676767"/>
                    </a:solidFill>
                  </a:rPr>
                  <a:t>…</a:t>
                </a:r>
                <a:r>
                  <a:rPr lang="en-US" sz="1067" dirty="0">
                    <a:solidFill>
                      <a:srgbClr val="676767"/>
                    </a:solidFill>
                  </a:rPr>
                  <a:t> </a:t>
                </a:r>
                <a:r>
                  <a:rPr lang="es-ES_tradnl" sz="1067" dirty="0">
                    <a:solidFill>
                      <a:srgbClr val="676767"/>
                    </a:solidFill>
                  </a:rPr>
                  <a:t>) SL=k-1</a:t>
                </a:r>
              </a:p>
            </p:txBody>
          </p:sp>
        </p:grpSp>
        <p:grpSp>
          <p:nvGrpSpPr>
            <p:cNvPr id="48" name="Group 47"/>
            <p:cNvGrpSpPr/>
            <p:nvPr/>
          </p:nvGrpSpPr>
          <p:grpSpPr>
            <a:xfrm>
              <a:off x="2903692" y="2154669"/>
              <a:ext cx="1811906" cy="161132"/>
              <a:chOff x="3435803" y="2345673"/>
              <a:chExt cx="1699795" cy="161132"/>
            </a:xfrm>
          </p:grpSpPr>
          <p:sp>
            <p:nvSpPr>
              <p:cNvPr id="55" name="Rectángulo redondeado 66"/>
              <p:cNvSpPr/>
              <p:nvPr/>
            </p:nvSpPr>
            <p:spPr>
              <a:xfrm rot="10800000">
                <a:off x="3435804" y="2345674"/>
                <a:ext cx="1699794" cy="161131"/>
              </a:xfrm>
              <a:prstGeom prst="round2SameRect">
                <a:avLst/>
              </a:prstGeom>
              <a:solidFill>
                <a:schemeClr val="tx1">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067" dirty="0">
                  <a:solidFill>
                    <a:srgbClr val="FFFFFF"/>
                  </a:solidFill>
                </a:endParaRPr>
              </a:p>
            </p:txBody>
          </p:sp>
          <p:sp>
            <p:nvSpPr>
              <p:cNvPr id="56" name="TextBox 55"/>
              <p:cNvSpPr txBox="1"/>
              <p:nvPr/>
            </p:nvSpPr>
            <p:spPr>
              <a:xfrm>
                <a:off x="3435803" y="2345673"/>
                <a:ext cx="1699794" cy="161131"/>
              </a:xfrm>
              <a:prstGeom prst="rect">
                <a:avLst/>
              </a:prstGeom>
              <a:noFill/>
            </p:spPr>
            <p:txBody>
              <a:bodyPr wrap="square" lIns="0" tIns="0" rIns="0" bIns="0" rtlCol="0" anchor="ctr">
                <a:normAutofit/>
              </a:bodyPr>
              <a:lstStyle/>
              <a:p>
                <a:pPr algn="ctr"/>
                <a:r>
                  <a:rPr lang="es-ES_tradnl" sz="1067" dirty="0" err="1">
                    <a:solidFill>
                      <a:srgbClr val="FFFFFF">
                        <a:lumMod val="50000"/>
                      </a:srgbClr>
                    </a:solidFill>
                    <a:latin typeface="Arial"/>
                  </a:rPr>
                  <a:t>Payload</a:t>
                </a:r>
                <a:endParaRPr lang="es-ES_tradnl" sz="1067" dirty="0">
                  <a:solidFill>
                    <a:srgbClr val="FFFFFF">
                      <a:lumMod val="50000"/>
                    </a:srgbClr>
                  </a:solidFill>
                  <a:latin typeface="Arial"/>
                </a:endParaRPr>
              </a:p>
            </p:txBody>
          </p:sp>
        </p:grpSp>
        <p:grpSp>
          <p:nvGrpSpPr>
            <p:cNvPr id="49" name="Group 48"/>
            <p:cNvGrpSpPr/>
            <p:nvPr/>
          </p:nvGrpSpPr>
          <p:grpSpPr>
            <a:xfrm>
              <a:off x="2903692" y="1832399"/>
              <a:ext cx="1811905" cy="161132"/>
              <a:chOff x="2903692" y="1993534"/>
              <a:chExt cx="1811905" cy="161132"/>
            </a:xfrm>
          </p:grpSpPr>
          <p:sp>
            <p:nvSpPr>
              <p:cNvPr id="53" name="Rectángulo redondeado 65"/>
              <p:cNvSpPr/>
              <p:nvPr/>
            </p:nvSpPr>
            <p:spPr>
              <a:xfrm>
                <a:off x="2903692" y="1993535"/>
                <a:ext cx="463545" cy="161131"/>
              </a:xfrm>
              <a:prstGeom prst="rect">
                <a:avLst/>
              </a:prstGeom>
              <a:solidFill>
                <a:schemeClr val="bg1">
                  <a:lumMod val="65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FFFFFF"/>
                    </a:solidFill>
                  </a:rPr>
                  <a:t>IPv6 </a:t>
                </a:r>
                <a:r>
                  <a:rPr lang="es-ES_tradnl" sz="1067" dirty="0" err="1">
                    <a:solidFill>
                      <a:srgbClr val="FFFFFF"/>
                    </a:solidFill>
                  </a:rPr>
                  <a:t>Hdr</a:t>
                </a:r>
                <a:endParaRPr lang="es-ES_tradnl" sz="1067" dirty="0">
                  <a:solidFill>
                    <a:srgbClr val="FFFFFF"/>
                  </a:solidFill>
                </a:endParaRPr>
              </a:p>
            </p:txBody>
          </p:sp>
          <p:sp>
            <p:nvSpPr>
              <p:cNvPr id="54" name="Rectángulo redondeado 65"/>
              <p:cNvSpPr/>
              <p:nvPr/>
            </p:nvSpPr>
            <p:spPr>
              <a:xfrm>
                <a:off x="3367237" y="1993534"/>
                <a:ext cx="1348360" cy="161131"/>
              </a:xfrm>
              <a:prstGeom prst="rect">
                <a:avLst/>
              </a:prstGeom>
              <a:solidFill>
                <a:schemeClr val="bg1">
                  <a:lumMod val="75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676767"/>
                    </a:solidFill>
                  </a:rPr>
                  <a:t>SA = </a:t>
                </a:r>
                <a:r>
                  <a:rPr lang="ru-RU" sz="1067" dirty="0">
                    <a:solidFill>
                      <a:srgbClr val="676767"/>
                    </a:solidFill>
                  </a:rPr>
                  <a:t>A1::</a:t>
                </a:r>
                <a:r>
                  <a:rPr lang="es-ES_tradnl" sz="1067" dirty="0">
                    <a:solidFill>
                      <a:srgbClr val="676767"/>
                    </a:solidFill>
                  </a:rPr>
                  <a:t>, DA = </a:t>
                </a:r>
                <a:r>
                  <a:rPr lang="es-ES_tradnl" sz="1067" b="1" dirty="0">
                    <a:solidFill>
                      <a:srgbClr val="676767"/>
                    </a:solidFill>
                  </a:rPr>
                  <a:t>A5::</a:t>
                </a:r>
              </a:p>
            </p:txBody>
          </p:sp>
        </p:grpSp>
        <p:grpSp>
          <p:nvGrpSpPr>
            <p:cNvPr id="50" name="Group 49"/>
            <p:cNvGrpSpPr/>
            <p:nvPr/>
          </p:nvGrpSpPr>
          <p:grpSpPr>
            <a:xfrm>
              <a:off x="2903692" y="1671263"/>
              <a:ext cx="1811905" cy="161132"/>
              <a:chOff x="2903692" y="1993534"/>
              <a:chExt cx="1811905" cy="161132"/>
            </a:xfrm>
          </p:grpSpPr>
          <p:sp>
            <p:nvSpPr>
              <p:cNvPr id="51" name="Rectángulo redondeado 65"/>
              <p:cNvSpPr/>
              <p:nvPr/>
            </p:nvSpPr>
            <p:spPr>
              <a:xfrm>
                <a:off x="2903692" y="1993535"/>
                <a:ext cx="463545" cy="161131"/>
              </a:xfrm>
              <a:prstGeom prst="rect">
                <a:avLst/>
              </a:prstGeom>
              <a:solidFill>
                <a:schemeClr val="tx2">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FFFFFF"/>
                    </a:solidFill>
                  </a:rPr>
                  <a:t>SR </a:t>
                </a:r>
                <a:r>
                  <a:rPr lang="es-ES_tradnl" sz="1067" dirty="0" err="1">
                    <a:solidFill>
                      <a:srgbClr val="FFFFFF"/>
                    </a:solidFill>
                  </a:rPr>
                  <a:t>Hdr</a:t>
                </a:r>
                <a:endParaRPr lang="es-ES_tradnl" sz="1067" dirty="0">
                  <a:solidFill>
                    <a:srgbClr val="FFFFFF"/>
                  </a:solidFill>
                </a:endParaRPr>
              </a:p>
            </p:txBody>
          </p:sp>
          <p:sp>
            <p:nvSpPr>
              <p:cNvPr id="52" name="Rectángulo redondeado 65"/>
              <p:cNvSpPr/>
              <p:nvPr/>
            </p:nvSpPr>
            <p:spPr>
              <a:xfrm>
                <a:off x="3367237" y="1993534"/>
                <a:ext cx="1348360" cy="161131"/>
              </a:xfrm>
              <a:prstGeom prst="rect">
                <a:avLst/>
              </a:prstGeom>
              <a:solidFill>
                <a:schemeClr val="tx2">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676767"/>
                    </a:solidFill>
                  </a:rPr>
                  <a:t>(S3, S2, </a:t>
                </a:r>
                <a:r>
                  <a:rPr lang="es-ES_tradnl" sz="1067" dirty="0">
                    <a:solidFill>
                      <a:srgbClr val="FA661C"/>
                    </a:solidFill>
                  </a:rPr>
                  <a:t>S1</a:t>
                </a:r>
                <a:r>
                  <a:rPr lang="es-ES_tradnl" sz="1067" dirty="0">
                    <a:solidFill>
                      <a:srgbClr val="676767"/>
                    </a:solidFill>
                  </a:rPr>
                  <a:t>) SL=2</a:t>
                </a:r>
              </a:p>
            </p:txBody>
          </p:sp>
        </p:grpSp>
      </p:grpSp>
      <p:sp>
        <p:nvSpPr>
          <p:cNvPr id="3" name="Content Placeholder 2"/>
          <p:cNvSpPr>
            <a:spLocks noGrp="1"/>
          </p:cNvSpPr>
          <p:nvPr>
            <p:ph type="body" sz="quarter" idx="10"/>
          </p:nvPr>
        </p:nvSpPr>
        <p:spPr/>
        <p:txBody>
          <a:bodyPr anchor="t"/>
          <a:lstStyle/>
          <a:p>
            <a:r>
              <a:rPr lang="en-US" sz="2400" i="1" dirty="0"/>
              <a:t>IPv6 binding segment</a:t>
            </a:r>
            <a:endParaRPr lang="en-US" sz="2400" dirty="0"/>
          </a:p>
          <a:p>
            <a:pPr lvl="1"/>
            <a:r>
              <a:rPr lang="en-US" sz="2133" dirty="0"/>
              <a:t>Decrement Segments Left, update DA </a:t>
            </a:r>
          </a:p>
          <a:p>
            <a:pPr lvl="1"/>
            <a:r>
              <a:rPr lang="en-US" sz="2133" dirty="0"/>
              <a:t>Push outer IP and SR headers associated with the binding segment</a:t>
            </a:r>
          </a:p>
          <a:p>
            <a:pPr lvl="1"/>
            <a:r>
              <a:rPr lang="en-US" sz="2133" dirty="0"/>
              <a:t>Forward according to outer header DA (first segment of the new SRH)</a:t>
            </a:r>
          </a:p>
          <a:p>
            <a:r>
              <a:rPr lang="en-US" sz="2400" dirty="0"/>
              <a:t>Node 4 advertises prefix A4::/64</a:t>
            </a:r>
          </a:p>
          <a:p>
            <a:r>
              <a:rPr lang="en-US" sz="2400" dirty="0"/>
              <a:t>The SR </a:t>
            </a:r>
            <a:r>
              <a:rPr lang="en-US" sz="2400" i="1" dirty="0" err="1"/>
              <a:t>encaps</a:t>
            </a:r>
            <a:r>
              <a:rPr lang="en-US" sz="2400" dirty="0"/>
              <a:t> policy (SA = A4::, SL = 〈 S1, S2, S3 〉) is associated with ID 10</a:t>
            </a:r>
          </a:p>
          <a:p>
            <a:r>
              <a:rPr lang="en-US" sz="2400" dirty="0"/>
              <a:t>The corresponding </a:t>
            </a:r>
            <a:r>
              <a:rPr lang="en-US" sz="2400" i="1" dirty="0"/>
              <a:t>binding SID </a:t>
            </a:r>
            <a:r>
              <a:rPr lang="en-US" sz="2400" dirty="0"/>
              <a:t>is A4::10</a:t>
            </a:r>
          </a:p>
        </p:txBody>
      </p:sp>
      <p:sp>
        <p:nvSpPr>
          <p:cNvPr id="12" name="Text Placeholder 11">
            <a:extLst>
              <a:ext uri="{FF2B5EF4-FFF2-40B4-BE49-F238E27FC236}">
                <a16:creationId xmlns:a16="http://schemas.microsoft.com/office/drawing/2014/main" id="{6376994B-7DAA-D60A-A159-1ACB1910D906}"/>
              </a:ext>
            </a:extLst>
          </p:cNvPr>
          <p:cNvSpPr>
            <a:spLocks noGrp="1"/>
          </p:cNvSpPr>
          <p:nvPr>
            <p:ph type="body" sz="quarter" idx="11"/>
          </p:nvPr>
        </p:nvSpPr>
        <p:spPr/>
        <p:txBody>
          <a:bodyPr/>
          <a:lstStyle/>
          <a:p>
            <a:r>
              <a:rPr lang="en-US" sz="3200" dirty="0"/>
              <a:t>END.B6.ENCAPS – IPv6 Binding Segment (</a:t>
            </a:r>
            <a:r>
              <a:rPr lang="en-US" sz="3200" dirty="0" err="1"/>
              <a:t>encap</a:t>
            </a:r>
            <a:r>
              <a:rPr lang="en-US" sz="3200" dirty="0"/>
              <a:t>)</a:t>
            </a:r>
          </a:p>
        </p:txBody>
      </p:sp>
      <p:grpSp>
        <p:nvGrpSpPr>
          <p:cNvPr id="4" name="Group 3"/>
          <p:cNvGrpSpPr/>
          <p:nvPr/>
        </p:nvGrpSpPr>
        <p:grpSpPr>
          <a:xfrm>
            <a:off x="2414108" y="5137924"/>
            <a:ext cx="2302475" cy="644531"/>
            <a:chOff x="3286779" y="1769862"/>
            <a:chExt cx="1620008" cy="483398"/>
          </a:xfrm>
        </p:grpSpPr>
        <p:sp>
          <p:nvSpPr>
            <p:cNvPr id="5" name="Rectángulo redondeado 65"/>
            <p:cNvSpPr/>
            <p:nvPr/>
          </p:nvSpPr>
          <p:spPr>
            <a:xfrm>
              <a:off x="3286784" y="1930994"/>
              <a:ext cx="434863" cy="161131"/>
            </a:xfrm>
            <a:prstGeom prst="rect">
              <a:avLst/>
            </a:prstGeom>
            <a:solidFill>
              <a:schemeClr val="tx2">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FFFFFF"/>
                  </a:solidFill>
                </a:rPr>
                <a:t>SR </a:t>
              </a:r>
              <a:r>
                <a:rPr lang="es-ES_tradnl" sz="1067" dirty="0" err="1">
                  <a:solidFill>
                    <a:srgbClr val="FFFFFF"/>
                  </a:solidFill>
                </a:rPr>
                <a:t>Hdr</a:t>
              </a:r>
              <a:endParaRPr lang="es-ES_tradnl" sz="1067" dirty="0">
                <a:solidFill>
                  <a:srgbClr val="FFFFFF"/>
                </a:solidFill>
              </a:endParaRPr>
            </a:p>
          </p:txBody>
        </p:sp>
        <p:sp>
          <p:nvSpPr>
            <p:cNvPr id="6" name="Rectángulo redondeado 64"/>
            <p:cNvSpPr/>
            <p:nvPr/>
          </p:nvSpPr>
          <p:spPr>
            <a:xfrm rot="16200000">
              <a:off x="3423649" y="1632996"/>
              <a:ext cx="161130" cy="434861"/>
            </a:xfrm>
            <a:prstGeom prst="round1Rect">
              <a:avLst/>
            </a:prstGeom>
            <a:solidFill>
              <a:schemeClr val="accent4">
                <a:lumMod val="75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 lIns="0" tIns="0" rIns="0" bIns="0" rtlCol="0" anchor="ctr"/>
            <a:lstStyle/>
            <a:p>
              <a:pPr algn="ctr"/>
              <a:r>
                <a:rPr lang="es-ES_tradnl" sz="1067" dirty="0">
                  <a:solidFill>
                    <a:srgbClr val="FFFFFF"/>
                  </a:solidFill>
                </a:rPr>
                <a:t>IPv6 </a:t>
              </a:r>
              <a:r>
                <a:rPr lang="es-ES_tradnl" sz="1067" dirty="0" err="1">
                  <a:solidFill>
                    <a:srgbClr val="FFFFFF"/>
                  </a:solidFill>
                </a:rPr>
                <a:t>Hdr</a:t>
              </a:r>
              <a:endParaRPr lang="es-ES_tradnl" sz="1067" b="1" dirty="0">
                <a:solidFill>
                  <a:srgbClr val="FFC000"/>
                </a:solidFill>
              </a:endParaRPr>
            </a:p>
          </p:txBody>
        </p:sp>
        <p:sp>
          <p:nvSpPr>
            <p:cNvPr id="7" name="Rectángulo redondeado 64"/>
            <p:cNvSpPr/>
            <p:nvPr/>
          </p:nvSpPr>
          <p:spPr>
            <a:xfrm>
              <a:off x="3721644" y="1769864"/>
              <a:ext cx="1185143" cy="161131"/>
            </a:xfrm>
            <a:prstGeom prst="round1Rect">
              <a:avLst/>
            </a:prstGeom>
            <a:solidFill>
              <a:schemeClr val="accent4">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r>
                <a:rPr lang="es-ES_tradnl" sz="1067" dirty="0">
                  <a:solidFill>
                    <a:srgbClr val="676767"/>
                  </a:solidFill>
                </a:rPr>
                <a:t>SA = A1::, DA = </a:t>
              </a:r>
              <a:r>
                <a:rPr lang="es-ES_tradnl" sz="1067" b="1" dirty="0">
                  <a:solidFill>
                    <a:srgbClr val="676767"/>
                  </a:solidFill>
                </a:rPr>
                <a:t>A4::10</a:t>
              </a:r>
            </a:p>
          </p:txBody>
        </p:sp>
        <p:sp>
          <p:nvSpPr>
            <p:cNvPr id="8" name="Rectángulo redondeado 65"/>
            <p:cNvSpPr/>
            <p:nvPr/>
          </p:nvSpPr>
          <p:spPr>
            <a:xfrm>
              <a:off x="3721644" y="1930994"/>
              <a:ext cx="1185141" cy="161131"/>
            </a:xfrm>
            <a:prstGeom prst="rect">
              <a:avLst/>
            </a:prstGeom>
            <a:solidFill>
              <a:schemeClr val="tx2">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676767"/>
                  </a:solidFill>
                </a:rPr>
                <a:t>(</a:t>
              </a:r>
              <a:r>
                <a:rPr lang="mr-IN" sz="1067" dirty="0">
                  <a:solidFill>
                    <a:srgbClr val="676767"/>
                  </a:solidFill>
                </a:rPr>
                <a:t>…</a:t>
              </a:r>
              <a:r>
                <a:rPr lang="en-US" sz="1067" dirty="0">
                  <a:solidFill>
                    <a:srgbClr val="676767"/>
                  </a:solidFill>
                </a:rPr>
                <a:t>, A5::, </a:t>
              </a:r>
              <a:r>
                <a:rPr lang="es-ES_tradnl" sz="1067" dirty="0">
                  <a:solidFill>
                    <a:srgbClr val="FA661C"/>
                  </a:solidFill>
                </a:rPr>
                <a:t>A4::10</a:t>
              </a:r>
              <a:r>
                <a:rPr lang="es-ES_tradnl" sz="1067" dirty="0">
                  <a:solidFill>
                    <a:srgbClr val="676767"/>
                  </a:solidFill>
                </a:rPr>
                <a:t>,</a:t>
              </a:r>
              <a:r>
                <a:rPr lang="mr-IN" sz="1067" dirty="0">
                  <a:solidFill>
                    <a:srgbClr val="676767"/>
                  </a:solidFill>
                </a:rPr>
                <a:t>…</a:t>
              </a:r>
              <a:r>
                <a:rPr lang="es-ES_tradnl" sz="1067" dirty="0">
                  <a:solidFill>
                    <a:srgbClr val="676767"/>
                  </a:solidFill>
                </a:rPr>
                <a:t>) SL=k</a:t>
              </a:r>
            </a:p>
          </p:txBody>
        </p:sp>
        <p:grpSp>
          <p:nvGrpSpPr>
            <p:cNvPr id="9" name="Group 8"/>
            <p:cNvGrpSpPr/>
            <p:nvPr/>
          </p:nvGrpSpPr>
          <p:grpSpPr>
            <a:xfrm>
              <a:off x="3286779" y="2092127"/>
              <a:ext cx="1620007" cy="161133"/>
              <a:chOff x="3286779" y="2345671"/>
              <a:chExt cx="1620007" cy="161133"/>
            </a:xfrm>
          </p:grpSpPr>
          <p:sp>
            <p:nvSpPr>
              <p:cNvPr id="10" name="Rectángulo redondeado 66"/>
              <p:cNvSpPr/>
              <p:nvPr/>
            </p:nvSpPr>
            <p:spPr>
              <a:xfrm rot="10800000">
                <a:off x="3286781" y="2345671"/>
                <a:ext cx="1620005" cy="161131"/>
              </a:xfrm>
              <a:prstGeom prst="round2SameRect">
                <a:avLst/>
              </a:prstGeom>
              <a:solidFill>
                <a:schemeClr val="tx1">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067" dirty="0">
                  <a:solidFill>
                    <a:srgbClr val="FFFFFF"/>
                  </a:solidFill>
                </a:endParaRPr>
              </a:p>
            </p:txBody>
          </p:sp>
          <p:sp>
            <p:nvSpPr>
              <p:cNvPr id="11" name="TextBox 10"/>
              <p:cNvSpPr txBox="1"/>
              <p:nvPr/>
            </p:nvSpPr>
            <p:spPr>
              <a:xfrm>
                <a:off x="3286779" y="2345673"/>
                <a:ext cx="1620007" cy="161131"/>
              </a:xfrm>
              <a:prstGeom prst="rect">
                <a:avLst/>
              </a:prstGeom>
              <a:noFill/>
            </p:spPr>
            <p:txBody>
              <a:bodyPr wrap="square" lIns="0" tIns="0" rIns="0" bIns="0" rtlCol="0" anchor="ctr">
                <a:normAutofit/>
              </a:bodyPr>
              <a:lstStyle/>
              <a:p>
                <a:pPr algn="ctr"/>
                <a:r>
                  <a:rPr lang="es-ES_tradnl" sz="1067" dirty="0" err="1">
                    <a:solidFill>
                      <a:srgbClr val="FFFFFF">
                        <a:lumMod val="50000"/>
                      </a:srgbClr>
                    </a:solidFill>
                    <a:latin typeface="Arial"/>
                  </a:rPr>
                  <a:t>Payload</a:t>
                </a:r>
                <a:endParaRPr lang="es-ES_tradnl" sz="1067" dirty="0">
                  <a:solidFill>
                    <a:srgbClr val="FFFFFF">
                      <a:lumMod val="50000"/>
                    </a:srgbClr>
                  </a:solidFill>
                  <a:latin typeface="Arial"/>
                </a:endParaRPr>
              </a:p>
            </p:txBody>
          </p:sp>
        </p:grpSp>
      </p:grpSp>
      <p:grpSp>
        <p:nvGrpSpPr>
          <p:cNvPr id="32" name="Group 31"/>
          <p:cNvGrpSpPr/>
          <p:nvPr/>
        </p:nvGrpSpPr>
        <p:grpSpPr>
          <a:xfrm>
            <a:off x="4829996" y="5114979"/>
            <a:ext cx="2532008" cy="690424"/>
            <a:chOff x="3928301" y="3836234"/>
            <a:chExt cx="1899006" cy="517818"/>
          </a:xfrm>
        </p:grpSpPr>
        <p:cxnSp>
          <p:nvCxnSpPr>
            <p:cNvPr id="21" name="Conector recto de flecha 27"/>
            <p:cNvCxnSpPr>
              <a:endCxn id="22" idx="2"/>
            </p:cNvCxnSpPr>
            <p:nvPr/>
          </p:nvCxnSpPr>
          <p:spPr>
            <a:xfrm>
              <a:off x="3928301" y="4095143"/>
              <a:ext cx="690594" cy="0"/>
            </a:xfrm>
            <a:prstGeom prst="straightConnector1">
              <a:avLst/>
            </a:prstGeom>
            <a:ln w="317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2" name="Elipse 11"/>
            <p:cNvSpPr/>
            <p:nvPr/>
          </p:nvSpPr>
          <p:spPr>
            <a:xfrm>
              <a:off x="4618895" y="3836234"/>
              <a:ext cx="517818" cy="517818"/>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b="1" dirty="0">
                  <a:solidFill>
                    <a:srgbClr val="676767"/>
                  </a:solidFill>
                </a:rPr>
                <a:t>4</a:t>
              </a:r>
            </a:p>
            <a:p>
              <a:pPr algn="ctr"/>
              <a:r>
                <a:rPr lang="ru-RU" sz="1067" dirty="0">
                  <a:solidFill>
                    <a:srgbClr val="676767"/>
                  </a:solidFill>
                </a:rPr>
                <a:t>A4::</a:t>
              </a:r>
              <a:r>
                <a:rPr lang="es-ES_tradnl" sz="1067" dirty="0">
                  <a:solidFill>
                    <a:srgbClr val="676767"/>
                  </a:solidFill>
                </a:rPr>
                <a:t> /64</a:t>
              </a:r>
            </a:p>
          </p:txBody>
        </p:sp>
        <p:cxnSp>
          <p:nvCxnSpPr>
            <p:cNvPr id="29" name="Conector recto de flecha 27"/>
            <p:cNvCxnSpPr>
              <a:stCxn id="22" idx="6"/>
            </p:cNvCxnSpPr>
            <p:nvPr/>
          </p:nvCxnSpPr>
          <p:spPr>
            <a:xfrm>
              <a:off x="5136713" y="4095143"/>
              <a:ext cx="690594" cy="0"/>
            </a:xfrm>
            <a:prstGeom prst="straightConnector1">
              <a:avLst/>
            </a:prstGeom>
            <a:ln w="317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2342292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p:cNvGrpSpPr/>
          <p:nvPr/>
        </p:nvGrpSpPr>
        <p:grpSpPr>
          <a:xfrm>
            <a:off x="7475417" y="5456911"/>
            <a:ext cx="2302467" cy="859389"/>
            <a:chOff x="2903692" y="1671260"/>
            <a:chExt cx="1726850" cy="644542"/>
          </a:xfrm>
        </p:grpSpPr>
        <p:grpSp>
          <p:nvGrpSpPr>
            <p:cNvPr id="46" name="Group 45"/>
            <p:cNvGrpSpPr/>
            <p:nvPr/>
          </p:nvGrpSpPr>
          <p:grpSpPr>
            <a:xfrm>
              <a:off x="2903693" y="1671260"/>
              <a:ext cx="1726846" cy="161131"/>
              <a:chOff x="2903694" y="1993537"/>
              <a:chExt cx="1726846" cy="161131"/>
            </a:xfrm>
          </p:grpSpPr>
          <p:sp>
            <p:nvSpPr>
              <p:cNvPr id="59" name="Rectángulo redondeado 64"/>
              <p:cNvSpPr/>
              <p:nvPr/>
            </p:nvSpPr>
            <p:spPr>
              <a:xfrm rot="16200000">
                <a:off x="3054900" y="1842331"/>
                <a:ext cx="161130" cy="463542"/>
              </a:xfrm>
              <a:prstGeom prst="round1Rect">
                <a:avLst/>
              </a:prstGeom>
              <a:solidFill>
                <a:schemeClr val="accent4">
                  <a:lumMod val="75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 lIns="0" tIns="0" rIns="0" bIns="0" rtlCol="0" anchor="ctr"/>
              <a:lstStyle/>
              <a:p>
                <a:pPr algn="ctr"/>
                <a:r>
                  <a:rPr lang="es-ES_tradnl" sz="1067" dirty="0">
                    <a:solidFill>
                      <a:srgbClr val="FFFFFF"/>
                    </a:solidFill>
                  </a:rPr>
                  <a:t>IPv6 </a:t>
                </a:r>
                <a:r>
                  <a:rPr lang="es-ES_tradnl" sz="1067" dirty="0" err="1">
                    <a:solidFill>
                      <a:srgbClr val="FFFFFF"/>
                    </a:solidFill>
                  </a:rPr>
                  <a:t>Hdr</a:t>
                </a:r>
                <a:endParaRPr lang="es-ES_tradnl" sz="1067" b="1" dirty="0">
                  <a:solidFill>
                    <a:srgbClr val="FFC000"/>
                  </a:solidFill>
                </a:endParaRPr>
              </a:p>
            </p:txBody>
          </p:sp>
          <p:sp>
            <p:nvSpPr>
              <p:cNvPr id="60" name="Rectángulo redondeado 64"/>
              <p:cNvSpPr/>
              <p:nvPr/>
            </p:nvSpPr>
            <p:spPr>
              <a:xfrm>
                <a:off x="3367237" y="1993537"/>
                <a:ext cx="1263303" cy="161131"/>
              </a:xfrm>
              <a:prstGeom prst="round1Rect">
                <a:avLst/>
              </a:prstGeom>
              <a:solidFill>
                <a:schemeClr val="accent4">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r>
                  <a:rPr lang="es-ES_tradnl" sz="1067" dirty="0">
                    <a:solidFill>
                      <a:srgbClr val="676767"/>
                    </a:solidFill>
                  </a:rPr>
                  <a:t>SA = </a:t>
                </a:r>
                <a:r>
                  <a:rPr lang="ru-RU" sz="1067" dirty="0">
                    <a:solidFill>
                      <a:srgbClr val="676767"/>
                    </a:solidFill>
                  </a:rPr>
                  <a:t>A1::</a:t>
                </a:r>
                <a:r>
                  <a:rPr lang="es-ES_tradnl" sz="1067" dirty="0">
                    <a:solidFill>
                      <a:srgbClr val="676767"/>
                    </a:solidFill>
                  </a:rPr>
                  <a:t>, DA = </a:t>
                </a:r>
                <a:r>
                  <a:rPr lang="es-ES_tradnl" sz="1067" b="1" dirty="0">
                    <a:solidFill>
                      <a:srgbClr val="676767"/>
                    </a:solidFill>
                  </a:rPr>
                  <a:t>S1</a:t>
                </a:r>
              </a:p>
            </p:txBody>
          </p:sp>
        </p:grpSp>
        <p:grpSp>
          <p:nvGrpSpPr>
            <p:cNvPr id="47" name="Group 46"/>
            <p:cNvGrpSpPr/>
            <p:nvPr/>
          </p:nvGrpSpPr>
          <p:grpSpPr>
            <a:xfrm>
              <a:off x="2903692" y="1993534"/>
              <a:ext cx="1726848" cy="161132"/>
              <a:chOff x="2903692" y="1993534"/>
              <a:chExt cx="1726848" cy="161132"/>
            </a:xfrm>
          </p:grpSpPr>
          <p:sp>
            <p:nvSpPr>
              <p:cNvPr id="57" name="Rectángulo redondeado 65"/>
              <p:cNvSpPr/>
              <p:nvPr/>
            </p:nvSpPr>
            <p:spPr>
              <a:xfrm>
                <a:off x="2903692" y="1993535"/>
                <a:ext cx="463545" cy="161131"/>
              </a:xfrm>
              <a:prstGeom prst="rect">
                <a:avLst/>
              </a:prstGeom>
              <a:solidFill>
                <a:schemeClr val="tx2">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FFFFFF"/>
                    </a:solidFill>
                  </a:rPr>
                  <a:t>SR </a:t>
                </a:r>
                <a:r>
                  <a:rPr lang="es-ES_tradnl" sz="1067" dirty="0" err="1">
                    <a:solidFill>
                      <a:srgbClr val="FFFFFF"/>
                    </a:solidFill>
                  </a:rPr>
                  <a:t>Hdr</a:t>
                </a:r>
                <a:endParaRPr lang="es-ES_tradnl" sz="1067" dirty="0">
                  <a:solidFill>
                    <a:srgbClr val="FFFFFF"/>
                  </a:solidFill>
                </a:endParaRPr>
              </a:p>
            </p:txBody>
          </p:sp>
          <p:sp>
            <p:nvSpPr>
              <p:cNvPr id="58" name="Rectángulo redondeado 65"/>
              <p:cNvSpPr/>
              <p:nvPr/>
            </p:nvSpPr>
            <p:spPr>
              <a:xfrm>
                <a:off x="3367237" y="1993534"/>
                <a:ext cx="1263303" cy="161131"/>
              </a:xfrm>
              <a:prstGeom prst="rect">
                <a:avLst/>
              </a:prstGeom>
              <a:solidFill>
                <a:schemeClr val="tx2">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676767"/>
                    </a:solidFill>
                  </a:rPr>
                  <a:t>(</a:t>
                </a:r>
                <a:r>
                  <a:rPr lang="mr-IN" sz="1067" dirty="0">
                    <a:solidFill>
                      <a:srgbClr val="676767"/>
                    </a:solidFill>
                  </a:rPr>
                  <a:t>…</a:t>
                </a:r>
                <a:r>
                  <a:rPr lang="en-US" sz="1067" dirty="0">
                    <a:solidFill>
                      <a:srgbClr val="676767"/>
                    </a:solidFill>
                  </a:rPr>
                  <a:t>,A5::,</a:t>
                </a:r>
                <a:r>
                  <a:rPr lang="es-ES_tradnl" sz="1067" dirty="0">
                    <a:solidFill>
                      <a:srgbClr val="676767"/>
                    </a:solidFill>
                  </a:rPr>
                  <a:t> </a:t>
                </a:r>
                <a:r>
                  <a:rPr lang="ru-RU" sz="1067" dirty="0">
                    <a:solidFill>
                      <a:srgbClr val="FA661C"/>
                    </a:solidFill>
                  </a:rPr>
                  <a:t>A4::</a:t>
                </a:r>
                <a:r>
                  <a:rPr lang="es-ES_tradnl" sz="1067" dirty="0">
                    <a:solidFill>
                      <a:srgbClr val="FA661C"/>
                    </a:solidFill>
                  </a:rPr>
                  <a:t>20</a:t>
                </a:r>
                <a:r>
                  <a:rPr lang="es-ES_tradnl" sz="1067" dirty="0">
                    <a:solidFill>
                      <a:srgbClr val="676767"/>
                    </a:solidFill>
                  </a:rPr>
                  <a:t>,</a:t>
                </a:r>
                <a:r>
                  <a:rPr lang="mr-IN" sz="1067" dirty="0">
                    <a:solidFill>
                      <a:srgbClr val="676767"/>
                    </a:solidFill>
                  </a:rPr>
                  <a:t>…</a:t>
                </a:r>
                <a:r>
                  <a:rPr lang="es-ES_tradnl" sz="1067" dirty="0">
                    <a:solidFill>
                      <a:srgbClr val="676767"/>
                    </a:solidFill>
                  </a:rPr>
                  <a:t>) SL=k</a:t>
                </a:r>
              </a:p>
            </p:txBody>
          </p:sp>
        </p:grpSp>
        <p:grpSp>
          <p:nvGrpSpPr>
            <p:cNvPr id="48" name="Group 47"/>
            <p:cNvGrpSpPr/>
            <p:nvPr/>
          </p:nvGrpSpPr>
          <p:grpSpPr>
            <a:xfrm>
              <a:off x="2903692" y="2154669"/>
              <a:ext cx="1726850" cy="161133"/>
              <a:chOff x="3435803" y="2345673"/>
              <a:chExt cx="1620002" cy="161133"/>
            </a:xfrm>
          </p:grpSpPr>
          <p:sp>
            <p:nvSpPr>
              <p:cNvPr id="55" name="Rectángulo redondeado 66"/>
              <p:cNvSpPr/>
              <p:nvPr/>
            </p:nvSpPr>
            <p:spPr>
              <a:xfrm rot="10800000">
                <a:off x="3435805" y="2345675"/>
                <a:ext cx="1620000" cy="161131"/>
              </a:xfrm>
              <a:prstGeom prst="round2SameRect">
                <a:avLst/>
              </a:prstGeom>
              <a:solidFill>
                <a:schemeClr val="tx1">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067" dirty="0">
                  <a:solidFill>
                    <a:srgbClr val="FFFFFF"/>
                  </a:solidFill>
                </a:endParaRPr>
              </a:p>
            </p:txBody>
          </p:sp>
          <p:sp>
            <p:nvSpPr>
              <p:cNvPr id="56" name="TextBox 55"/>
              <p:cNvSpPr txBox="1"/>
              <p:nvPr/>
            </p:nvSpPr>
            <p:spPr>
              <a:xfrm>
                <a:off x="3435803" y="2345673"/>
                <a:ext cx="1619999" cy="161131"/>
              </a:xfrm>
              <a:prstGeom prst="rect">
                <a:avLst/>
              </a:prstGeom>
              <a:noFill/>
            </p:spPr>
            <p:txBody>
              <a:bodyPr wrap="square" lIns="0" tIns="0" rIns="0" bIns="0" rtlCol="0" anchor="ctr">
                <a:normAutofit/>
              </a:bodyPr>
              <a:lstStyle/>
              <a:p>
                <a:pPr algn="ctr"/>
                <a:r>
                  <a:rPr lang="es-ES_tradnl" sz="1067" dirty="0" err="1">
                    <a:solidFill>
                      <a:srgbClr val="FFFFFF">
                        <a:lumMod val="50000"/>
                      </a:srgbClr>
                    </a:solidFill>
                    <a:latin typeface="Arial"/>
                  </a:rPr>
                  <a:t>Payload</a:t>
                </a:r>
                <a:endParaRPr lang="es-ES_tradnl" sz="1067" dirty="0">
                  <a:solidFill>
                    <a:srgbClr val="FFFFFF">
                      <a:lumMod val="50000"/>
                    </a:srgbClr>
                  </a:solidFill>
                  <a:latin typeface="Arial"/>
                </a:endParaRPr>
              </a:p>
            </p:txBody>
          </p:sp>
        </p:grpSp>
        <p:grpSp>
          <p:nvGrpSpPr>
            <p:cNvPr id="50" name="Group 49"/>
            <p:cNvGrpSpPr/>
            <p:nvPr/>
          </p:nvGrpSpPr>
          <p:grpSpPr>
            <a:xfrm>
              <a:off x="2903692" y="1832396"/>
              <a:ext cx="1726848" cy="161132"/>
              <a:chOff x="2903692" y="2154667"/>
              <a:chExt cx="1726848" cy="161132"/>
            </a:xfrm>
          </p:grpSpPr>
          <p:sp>
            <p:nvSpPr>
              <p:cNvPr id="51" name="Rectángulo redondeado 65"/>
              <p:cNvSpPr/>
              <p:nvPr/>
            </p:nvSpPr>
            <p:spPr>
              <a:xfrm>
                <a:off x="2903692" y="2154668"/>
                <a:ext cx="463545" cy="161131"/>
              </a:xfrm>
              <a:prstGeom prst="rect">
                <a:avLst/>
              </a:prstGeom>
              <a:solidFill>
                <a:srgbClr val="7030A0">
                  <a:alpha val="8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FFFFFF"/>
                    </a:solidFill>
                  </a:rPr>
                  <a:t>SR </a:t>
                </a:r>
                <a:r>
                  <a:rPr lang="es-ES_tradnl" sz="1067" dirty="0" err="1">
                    <a:solidFill>
                      <a:srgbClr val="FFFFFF"/>
                    </a:solidFill>
                  </a:rPr>
                  <a:t>Hdr</a:t>
                </a:r>
                <a:endParaRPr lang="es-ES_tradnl" sz="1067" dirty="0">
                  <a:solidFill>
                    <a:srgbClr val="FFFFFF"/>
                  </a:solidFill>
                </a:endParaRPr>
              </a:p>
            </p:txBody>
          </p:sp>
          <p:sp>
            <p:nvSpPr>
              <p:cNvPr id="52" name="Rectángulo redondeado 65"/>
              <p:cNvSpPr/>
              <p:nvPr/>
            </p:nvSpPr>
            <p:spPr>
              <a:xfrm>
                <a:off x="3367237" y="2154667"/>
                <a:ext cx="1263303" cy="161131"/>
              </a:xfrm>
              <a:prstGeom prst="rect">
                <a:avLst/>
              </a:prstGeom>
              <a:solidFill>
                <a:srgbClr val="D7ACD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676767"/>
                    </a:solidFill>
                  </a:rPr>
                  <a:t>( S3, S2, </a:t>
                </a:r>
                <a:r>
                  <a:rPr lang="es-ES_tradnl" sz="1067" dirty="0">
                    <a:solidFill>
                      <a:srgbClr val="FA661C"/>
                    </a:solidFill>
                  </a:rPr>
                  <a:t>S1</a:t>
                </a:r>
                <a:r>
                  <a:rPr lang="es-ES_tradnl" sz="1067" dirty="0">
                    <a:solidFill>
                      <a:srgbClr val="676767"/>
                    </a:solidFill>
                  </a:rPr>
                  <a:t> ) SL=2</a:t>
                </a:r>
              </a:p>
            </p:txBody>
          </p:sp>
        </p:grpSp>
      </p:grpSp>
      <p:sp>
        <p:nvSpPr>
          <p:cNvPr id="3" name="Content Placeholder 2"/>
          <p:cNvSpPr>
            <a:spLocks noGrp="1"/>
          </p:cNvSpPr>
          <p:nvPr>
            <p:ph type="body" sz="quarter" idx="10"/>
          </p:nvPr>
        </p:nvSpPr>
        <p:spPr/>
        <p:txBody>
          <a:bodyPr anchor="t"/>
          <a:lstStyle/>
          <a:p>
            <a:r>
              <a:rPr lang="en-US" sz="2400" i="1" dirty="0"/>
              <a:t>IPv6 binding segment</a:t>
            </a:r>
            <a:endParaRPr lang="en-US" sz="2400" dirty="0"/>
          </a:p>
          <a:p>
            <a:pPr lvl="1"/>
            <a:r>
              <a:rPr lang="en-US" sz="2133" dirty="0"/>
              <a:t>Do not decrement Segments Left</a:t>
            </a:r>
          </a:p>
          <a:p>
            <a:pPr lvl="1"/>
            <a:r>
              <a:rPr lang="en-US" sz="2133" dirty="0"/>
              <a:t>Push outer SR header associated with the binding segment</a:t>
            </a:r>
          </a:p>
          <a:p>
            <a:pPr lvl="1"/>
            <a:r>
              <a:rPr lang="en-US" sz="2133" dirty="0"/>
              <a:t>Update DA with the first segment of the outer SR header</a:t>
            </a:r>
          </a:p>
          <a:p>
            <a:pPr lvl="1"/>
            <a:r>
              <a:rPr lang="en-US" sz="2133" dirty="0"/>
              <a:t>Forward according to outer header DA (first segment of the new SRH)</a:t>
            </a:r>
          </a:p>
          <a:p>
            <a:r>
              <a:rPr lang="en-US" sz="2400" dirty="0"/>
              <a:t>Node 4 advertises prefix </a:t>
            </a:r>
            <a:r>
              <a:rPr lang="ru-RU" sz="2400" dirty="0"/>
              <a:t>A4::</a:t>
            </a:r>
            <a:r>
              <a:rPr lang="en-US" sz="2400" dirty="0"/>
              <a:t>/64</a:t>
            </a:r>
          </a:p>
          <a:p>
            <a:r>
              <a:rPr lang="en-US" sz="2400" dirty="0"/>
              <a:t>On 4, the SR </a:t>
            </a:r>
            <a:r>
              <a:rPr lang="en-US" sz="2400" i="1" dirty="0"/>
              <a:t>insert</a:t>
            </a:r>
            <a:r>
              <a:rPr lang="en-US" sz="2400" dirty="0"/>
              <a:t> policy 〈 S1, S2, S3 〉 is associated with ID 20</a:t>
            </a:r>
          </a:p>
          <a:p>
            <a:r>
              <a:rPr lang="en-US" sz="2400" dirty="0"/>
              <a:t>The corresponding </a:t>
            </a:r>
            <a:r>
              <a:rPr lang="en-US" sz="2400" i="1" dirty="0"/>
              <a:t>binding SID </a:t>
            </a:r>
            <a:r>
              <a:rPr lang="en-US" sz="2400" dirty="0"/>
              <a:t>is </a:t>
            </a:r>
            <a:r>
              <a:rPr lang="ru-RU" sz="2400" dirty="0"/>
              <a:t>A4::</a:t>
            </a:r>
            <a:r>
              <a:rPr lang="en-US" sz="2400" dirty="0"/>
              <a:t>20</a:t>
            </a:r>
          </a:p>
        </p:txBody>
      </p:sp>
      <p:sp>
        <p:nvSpPr>
          <p:cNvPr id="12" name="Text Placeholder 11">
            <a:extLst>
              <a:ext uri="{FF2B5EF4-FFF2-40B4-BE49-F238E27FC236}">
                <a16:creationId xmlns:a16="http://schemas.microsoft.com/office/drawing/2014/main" id="{0D0AF2B7-808E-AA71-69DF-CDA2F1366E42}"/>
              </a:ext>
            </a:extLst>
          </p:cNvPr>
          <p:cNvSpPr>
            <a:spLocks noGrp="1"/>
          </p:cNvSpPr>
          <p:nvPr>
            <p:ph type="body" sz="quarter" idx="11"/>
          </p:nvPr>
        </p:nvSpPr>
        <p:spPr/>
        <p:txBody>
          <a:bodyPr/>
          <a:lstStyle/>
          <a:p>
            <a:r>
              <a:rPr lang="en-US" sz="3600" dirty="0"/>
              <a:t>END.B6 </a:t>
            </a:r>
            <a:r>
              <a:rPr lang="mr-IN" sz="3600" dirty="0"/>
              <a:t>–</a:t>
            </a:r>
            <a:r>
              <a:rPr lang="en-US" sz="3600" dirty="0"/>
              <a:t> IPv6 Binding Segment (insert)</a:t>
            </a:r>
            <a:endParaRPr lang="en-US" dirty="0"/>
          </a:p>
        </p:txBody>
      </p:sp>
      <p:grpSp>
        <p:nvGrpSpPr>
          <p:cNvPr id="4" name="Group 3"/>
          <p:cNvGrpSpPr/>
          <p:nvPr/>
        </p:nvGrpSpPr>
        <p:grpSpPr>
          <a:xfrm>
            <a:off x="2414108" y="5564343"/>
            <a:ext cx="2302475" cy="644531"/>
            <a:chOff x="3286779" y="1769862"/>
            <a:chExt cx="1620008" cy="483398"/>
          </a:xfrm>
        </p:grpSpPr>
        <p:sp>
          <p:nvSpPr>
            <p:cNvPr id="5" name="Rectángulo redondeado 65"/>
            <p:cNvSpPr/>
            <p:nvPr/>
          </p:nvSpPr>
          <p:spPr>
            <a:xfrm>
              <a:off x="3286784" y="1930994"/>
              <a:ext cx="434863" cy="161131"/>
            </a:xfrm>
            <a:prstGeom prst="rect">
              <a:avLst/>
            </a:prstGeom>
            <a:solidFill>
              <a:schemeClr val="tx2">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FFFFFF"/>
                  </a:solidFill>
                </a:rPr>
                <a:t>SR </a:t>
              </a:r>
              <a:r>
                <a:rPr lang="es-ES_tradnl" sz="1067" dirty="0" err="1">
                  <a:solidFill>
                    <a:srgbClr val="FFFFFF"/>
                  </a:solidFill>
                </a:rPr>
                <a:t>Hdr</a:t>
              </a:r>
              <a:endParaRPr lang="es-ES_tradnl" sz="1067" dirty="0">
                <a:solidFill>
                  <a:srgbClr val="FFFFFF"/>
                </a:solidFill>
              </a:endParaRPr>
            </a:p>
          </p:txBody>
        </p:sp>
        <p:sp>
          <p:nvSpPr>
            <p:cNvPr id="6" name="Rectángulo redondeado 64"/>
            <p:cNvSpPr/>
            <p:nvPr/>
          </p:nvSpPr>
          <p:spPr>
            <a:xfrm rot="16200000">
              <a:off x="3423649" y="1632996"/>
              <a:ext cx="161130" cy="434861"/>
            </a:xfrm>
            <a:prstGeom prst="round1Rect">
              <a:avLst/>
            </a:prstGeom>
            <a:solidFill>
              <a:schemeClr val="accent4">
                <a:lumMod val="75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 lIns="0" tIns="0" rIns="0" bIns="0" rtlCol="0" anchor="ctr"/>
            <a:lstStyle/>
            <a:p>
              <a:pPr algn="ctr"/>
              <a:r>
                <a:rPr lang="es-ES_tradnl" sz="1067" dirty="0">
                  <a:solidFill>
                    <a:srgbClr val="FFFFFF"/>
                  </a:solidFill>
                </a:rPr>
                <a:t>IPv6 </a:t>
              </a:r>
              <a:r>
                <a:rPr lang="es-ES_tradnl" sz="1067" dirty="0" err="1">
                  <a:solidFill>
                    <a:srgbClr val="FFFFFF"/>
                  </a:solidFill>
                </a:rPr>
                <a:t>Hdr</a:t>
              </a:r>
              <a:endParaRPr lang="es-ES_tradnl" sz="1067" b="1" dirty="0">
                <a:solidFill>
                  <a:srgbClr val="FFC000"/>
                </a:solidFill>
              </a:endParaRPr>
            </a:p>
          </p:txBody>
        </p:sp>
        <p:sp>
          <p:nvSpPr>
            <p:cNvPr id="7" name="Rectángulo redondeado 64"/>
            <p:cNvSpPr/>
            <p:nvPr/>
          </p:nvSpPr>
          <p:spPr>
            <a:xfrm>
              <a:off x="3721644" y="1769864"/>
              <a:ext cx="1185143" cy="161131"/>
            </a:xfrm>
            <a:prstGeom prst="round1Rect">
              <a:avLst/>
            </a:prstGeom>
            <a:solidFill>
              <a:schemeClr val="accent4">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r>
                <a:rPr lang="es-ES_tradnl" sz="1067" dirty="0">
                  <a:solidFill>
                    <a:srgbClr val="676767"/>
                  </a:solidFill>
                </a:rPr>
                <a:t>SA = </a:t>
              </a:r>
              <a:r>
                <a:rPr lang="ru-RU" sz="1067" dirty="0">
                  <a:solidFill>
                    <a:srgbClr val="676767"/>
                  </a:solidFill>
                </a:rPr>
                <a:t>A1::</a:t>
              </a:r>
              <a:r>
                <a:rPr lang="es-ES_tradnl" sz="1067" dirty="0">
                  <a:solidFill>
                    <a:srgbClr val="676767"/>
                  </a:solidFill>
                </a:rPr>
                <a:t>, DA = </a:t>
              </a:r>
              <a:r>
                <a:rPr lang="ru-RU" sz="1067" b="1" dirty="0">
                  <a:solidFill>
                    <a:srgbClr val="676767"/>
                  </a:solidFill>
                </a:rPr>
                <a:t>A4::</a:t>
              </a:r>
              <a:r>
                <a:rPr lang="es-ES_tradnl" sz="1067" b="1" dirty="0">
                  <a:solidFill>
                    <a:srgbClr val="676767"/>
                  </a:solidFill>
                </a:rPr>
                <a:t>20</a:t>
              </a:r>
            </a:p>
          </p:txBody>
        </p:sp>
        <p:sp>
          <p:nvSpPr>
            <p:cNvPr id="8" name="Rectángulo redondeado 65"/>
            <p:cNvSpPr/>
            <p:nvPr/>
          </p:nvSpPr>
          <p:spPr>
            <a:xfrm>
              <a:off x="3721644" y="1930994"/>
              <a:ext cx="1185141" cy="161131"/>
            </a:xfrm>
            <a:prstGeom prst="rect">
              <a:avLst/>
            </a:prstGeom>
            <a:solidFill>
              <a:schemeClr val="tx2">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676767"/>
                  </a:solidFill>
                </a:rPr>
                <a:t>(</a:t>
              </a:r>
              <a:r>
                <a:rPr lang="mr-IN" sz="1067" dirty="0">
                  <a:solidFill>
                    <a:srgbClr val="676767"/>
                  </a:solidFill>
                </a:rPr>
                <a:t>…</a:t>
              </a:r>
              <a:r>
                <a:rPr lang="en-US" sz="1067" dirty="0">
                  <a:solidFill>
                    <a:srgbClr val="676767"/>
                  </a:solidFill>
                </a:rPr>
                <a:t>,A5::,</a:t>
              </a:r>
              <a:r>
                <a:rPr lang="es-ES_tradnl" sz="1067" dirty="0">
                  <a:solidFill>
                    <a:srgbClr val="676767"/>
                  </a:solidFill>
                </a:rPr>
                <a:t> </a:t>
              </a:r>
              <a:r>
                <a:rPr lang="ru-RU" sz="1067" dirty="0">
                  <a:solidFill>
                    <a:srgbClr val="FA661C"/>
                  </a:solidFill>
                </a:rPr>
                <a:t>A4::</a:t>
              </a:r>
              <a:r>
                <a:rPr lang="es-ES_tradnl" sz="1067" dirty="0">
                  <a:solidFill>
                    <a:srgbClr val="FA661C"/>
                  </a:solidFill>
                </a:rPr>
                <a:t>20</a:t>
              </a:r>
              <a:r>
                <a:rPr lang="es-ES_tradnl" sz="1067" dirty="0">
                  <a:solidFill>
                    <a:srgbClr val="676767"/>
                  </a:solidFill>
                </a:rPr>
                <a:t>,</a:t>
              </a:r>
              <a:r>
                <a:rPr lang="mr-IN" sz="1067" dirty="0">
                  <a:solidFill>
                    <a:srgbClr val="676767"/>
                  </a:solidFill>
                </a:rPr>
                <a:t>…</a:t>
              </a:r>
              <a:r>
                <a:rPr lang="es-ES_tradnl" sz="1067" dirty="0">
                  <a:solidFill>
                    <a:srgbClr val="676767"/>
                  </a:solidFill>
                </a:rPr>
                <a:t>) SL=k</a:t>
              </a:r>
            </a:p>
          </p:txBody>
        </p:sp>
        <p:grpSp>
          <p:nvGrpSpPr>
            <p:cNvPr id="9" name="Group 8"/>
            <p:cNvGrpSpPr/>
            <p:nvPr/>
          </p:nvGrpSpPr>
          <p:grpSpPr>
            <a:xfrm>
              <a:off x="3286779" y="2092127"/>
              <a:ext cx="1620007" cy="161133"/>
              <a:chOff x="3286779" y="2345671"/>
              <a:chExt cx="1620007" cy="161133"/>
            </a:xfrm>
          </p:grpSpPr>
          <p:sp>
            <p:nvSpPr>
              <p:cNvPr id="10" name="Rectángulo redondeado 66"/>
              <p:cNvSpPr/>
              <p:nvPr/>
            </p:nvSpPr>
            <p:spPr>
              <a:xfrm rot="10800000">
                <a:off x="3286781" y="2345671"/>
                <a:ext cx="1620005" cy="161131"/>
              </a:xfrm>
              <a:prstGeom prst="round2SameRect">
                <a:avLst/>
              </a:prstGeom>
              <a:solidFill>
                <a:schemeClr val="tx1">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067" dirty="0">
                  <a:solidFill>
                    <a:srgbClr val="FFFFFF"/>
                  </a:solidFill>
                </a:endParaRPr>
              </a:p>
            </p:txBody>
          </p:sp>
          <p:sp>
            <p:nvSpPr>
              <p:cNvPr id="11" name="TextBox 10"/>
              <p:cNvSpPr txBox="1"/>
              <p:nvPr/>
            </p:nvSpPr>
            <p:spPr>
              <a:xfrm>
                <a:off x="3286779" y="2345673"/>
                <a:ext cx="1620007" cy="161131"/>
              </a:xfrm>
              <a:prstGeom prst="rect">
                <a:avLst/>
              </a:prstGeom>
              <a:noFill/>
            </p:spPr>
            <p:txBody>
              <a:bodyPr wrap="square" lIns="0" tIns="0" rIns="0" bIns="0" rtlCol="0" anchor="ctr">
                <a:normAutofit/>
              </a:bodyPr>
              <a:lstStyle/>
              <a:p>
                <a:pPr algn="ctr"/>
                <a:r>
                  <a:rPr lang="es-ES_tradnl" sz="1067" dirty="0" err="1">
                    <a:solidFill>
                      <a:srgbClr val="FFFFFF">
                        <a:lumMod val="50000"/>
                      </a:srgbClr>
                    </a:solidFill>
                    <a:latin typeface="Arial"/>
                  </a:rPr>
                  <a:t>Payload</a:t>
                </a:r>
                <a:endParaRPr lang="es-ES_tradnl" sz="1067" dirty="0">
                  <a:solidFill>
                    <a:srgbClr val="FFFFFF">
                      <a:lumMod val="50000"/>
                    </a:srgbClr>
                  </a:solidFill>
                  <a:latin typeface="Arial"/>
                </a:endParaRPr>
              </a:p>
            </p:txBody>
          </p:sp>
        </p:grpSp>
      </p:grpSp>
      <p:grpSp>
        <p:nvGrpSpPr>
          <p:cNvPr id="32" name="Group 31"/>
          <p:cNvGrpSpPr/>
          <p:nvPr/>
        </p:nvGrpSpPr>
        <p:grpSpPr>
          <a:xfrm>
            <a:off x="4829996" y="5541397"/>
            <a:ext cx="2532008" cy="690424"/>
            <a:chOff x="3928301" y="3836234"/>
            <a:chExt cx="1899006" cy="517818"/>
          </a:xfrm>
        </p:grpSpPr>
        <p:cxnSp>
          <p:nvCxnSpPr>
            <p:cNvPr id="21" name="Conector recto de flecha 27"/>
            <p:cNvCxnSpPr>
              <a:endCxn id="22" idx="2"/>
            </p:cNvCxnSpPr>
            <p:nvPr/>
          </p:nvCxnSpPr>
          <p:spPr>
            <a:xfrm>
              <a:off x="3928301" y="4095143"/>
              <a:ext cx="690594" cy="0"/>
            </a:xfrm>
            <a:prstGeom prst="straightConnector1">
              <a:avLst/>
            </a:prstGeom>
            <a:ln w="317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2" name="Elipse 11"/>
            <p:cNvSpPr/>
            <p:nvPr/>
          </p:nvSpPr>
          <p:spPr>
            <a:xfrm>
              <a:off x="4618895" y="3836234"/>
              <a:ext cx="517818" cy="517818"/>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b="1" dirty="0">
                  <a:solidFill>
                    <a:srgbClr val="676767"/>
                  </a:solidFill>
                </a:rPr>
                <a:t>4</a:t>
              </a:r>
            </a:p>
            <a:p>
              <a:pPr algn="ctr"/>
              <a:r>
                <a:rPr lang="ru-RU" sz="1067" dirty="0">
                  <a:solidFill>
                    <a:srgbClr val="676767"/>
                  </a:solidFill>
                </a:rPr>
                <a:t>A4::</a:t>
              </a:r>
              <a:r>
                <a:rPr lang="es-ES_tradnl" sz="1067" dirty="0">
                  <a:solidFill>
                    <a:srgbClr val="676767"/>
                  </a:solidFill>
                </a:rPr>
                <a:t> /64</a:t>
              </a:r>
            </a:p>
          </p:txBody>
        </p:sp>
        <p:cxnSp>
          <p:nvCxnSpPr>
            <p:cNvPr id="29" name="Conector recto de flecha 27"/>
            <p:cNvCxnSpPr>
              <a:stCxn id="22" idx="6"/>
            </p:cNvCxnSpPr>
            <p:nvPr/>
          </p:nvCxnSpPr>
          <p:spPr>
            <a:xfrm>
              <a:off x="5136713" y="4095143"/>
              <a:ext cx="690594" cy="0"/>
            </a:xfrm>
            <a:prstGeom prst="straightConnector1">
              <a:avLst/>
            </a:prstGeom>
            <a:ln w="317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1309918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p:cNvGrpSpPr/>
          <p:nvPr/>
        </p:nvGrpSpPr>
        <p:grpSpPr>
          <a:xfrm>
            <a:off x="7475417" y="5456911"/>
            <a:ext cx="2302467" cy="859389"/>
            <a:chOff x="2903692" y="1671260"/>
            <a:chExt cx="1726850" cy="644542"/>
          </a:xfrm>
        </p:grpSpPr>
        <p:grpSp>
          <p:nvGrpSpPr>
            <p:cNvPr id="46" name="Group 45"/>
            <p:cNvGrpSpPr/>
            <p:nvPr/>
          </p:nvGrpSpPr>
          <p:grpSpPr>
            <a:xfrm>
              <a:off x="2903693" y="1671260"/>
              <a:ext cx="1726846" cy="161131"/>
              <a:chOff x="2903694" y="1993537"/>
              <a:chExt cx="1726846" cy="161131"/>
            </a:xfrm>
          </p:grpSpPr>
          <p:sp>
            <p:nvSpPr>
              <p:cNvPr id="59" name="Rectángulo redondeado 64"/>
              <p:cNvSpPr/>
              <p:nvPr/>
            </p:nvSpPr>
            <p:spPr>
              <a:xfrm rot="16200000">
                <a:off x="3054900" y="1842331"/>
                <a:ext cx="161130" cy="463542"/>
              </a:xfrm>
              <a:prstGeom prst="round1Rect">
                <a:avLst/>
              </a:prstGeom>
              <a:solidFill>
                <a:srgbClr val="F4B63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 lIns="0" tIns="0" rIns="0" bIns="0" rtlCol="0" anchor="ctr"/>
              <a:lstStyle/>
              <a:p>
                <a:pPr algn="ctr"/>
                <a:r>
                  <a:rPr lang="es-ES_tradnl" sz="1067" dirty="0">
                    <a:solidFill>
                      <a:srgbClr val="FFFFFF"/>
                    </a:solidFill>
                  </a:rPr>
                  <a:t>MPLS</a:t>
                </a:r>
                <a:endParaRPr lang="es-ES_tradnl" sz="1067" b="1" dirty="0">
                  <a:solidFill>
                    <a:srgbClr val="FFC000"/>
                  </a:solidFill>
                </a:endParaRPr>
              </a:p>
            </p:txBody>
          </p:sp>
          <p:sp>
            <p:nvSpPr>
              <p:cNvPr id="60" name="Rectángulo redondeado 64"/>
              <p:cNvSpPr/>
              <p:nvPr/>
            </p:nvSpPr>
            <p:spPr>
              <a:xfrm>
                <a:off x="3367237" y="1993537"/>
                <a:ext cx="1263303" cy="161131"/>
              </a:xfrm>
              <a:prstGeom prst="round1Rect">
                <a:avLst/>
              </a:prstGeom>
              <a:solidFill>
                <a:srgbClr val="FFD57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r>
                  <a:rPr lang="es-ES_tradnl" sz="1067" dirty="0">
                    <a:solidFill>
                      <a:srgbClr val="676767"/>
                    </a:solidFill>
                  </a:rPr>
                  <a:t>{ L1, L2, L3 }</a:t>
                </a:r>
                <a:endParaRPr lang="es-ES_tradnl" sz="1067" b="1" dirty="0">
                  <a:solidFill>
                    <a:srgbClr val="676767"/>
                  </a:solidFill>
                </a:endParaRPr>
              </a:p>
            </p:txBody>
          </p:sp>
        </p:grpSp>
        <p:grpSp>
          <p:nvGrpSpPr>
            <p:cNvPr id="47" name="Group 46"/>
            <p:cNvGrpSpPr/>
            <p:nvPr/>
          </p:nvGrpSpPr>
          <p:grpSpPr>
            <a:xfrm>
              <a:off x="2903692" y="1993534"/>
              <a:ext cx="1726848" cy="161132"/>
              <a:chOff x="2903692" y="1993534"/>
              <a:chExt cx="1726848" cy="161132"/>
            </a:xfrm>
          </p:grpSpPr>
          <p:sp>
            <p:nvSpPr>
              <p:cNvPr id="57" name="Rectángulo redondeado 65"/>
              <p:cNvSpPr/>
              <p:nvPr/>
            </p:nvSpPr>
            <p:spPr>
              <a:xfrm>
                <a:off x="2903692" y="1993535"/>
                <a:ext cx="463545" cy="161131"/>
              </a:xfrm>
              <a:prstGeom prst="rect">
                <a:avLst/>
              </a:prstGeom>
              <a:solidFill>
                <a:schemeClr val="tx2">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FFFFFF"/>
                    </a:solidFill>
                  </a:rPr>
                  <a:t>SR </a:t>
                </a:r>
                <a:r>
                  <a:rPr lang="es-ES_tradnl" sz="1067" dirty="0" err="1">
                    <a:solidFill>
                      <a:srgbClr val="FFFFFF"/>
                    </a:solidFill>
                  </a:rPr>
                  <a:t>Hdr</a:t>
                </a:r>
                <a:endParaRPr lang="es-ES_tradnl" sz="1067" dirty="0">
                  <a:solidFill>
                    <a:srgbClr val="FFFFFF"/>
                  </a:solidFill>
                </a:endParaRPr>
              </a:p>
            </p:txBody>
          </p:sp>
          <p:sp>
            <p:nvSpPr>
              <p:cNvPr id="58" name="Rectángulo redondeado 65"/>
              <p:cNvSpPr/>
              <p:nvPr/>
            </p:nvSpPr>
            <p:spPr>
              <a:xfrm>
                <a:off x="3367237" y="1993534"/>
                <a:ext cx="1263303" cy="161131"/>
              </a:xfrm>
              <a:prstGeom prst="rect">
                <a:avLst/>
              </a:prstGeom>
              <a:solidFill>
                <a:schemeClr val="tx2">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676767"/>
                    </a:solidFill>
                  </a:rPr>
                  <a:t>(</a:t>
                </a:r>
                <a:r>
                  <a:rPr lang="mr-IN" sz="1067" dirty="0">
                    <a:solidFill>
                      <a:srgbClr val="676767"/>
                    </a:solidFill>
                  </a:rPr>
                  <a:t>…</a:t>
                </a:r>
                <a:r>
                  <a:rPr lang="en-US" sz="1067" dirty="0">
                    <a:solidFill>
                      <a:srgbClr val="676767"/>
                    </a:solidFill>
                  </a:rPr>
                  <a:t>,</a:t>
                </a:r>
                <a:r>
                  <a:rPr lang="en-US" sz="1067" dirty="0">
                    <a:solidFill>
                      <a:srgbClr val="FA661C"/>
                    </a:solidFill>
                  </a:rPr>
                  <a:t>A5::</a:t>
                </a:r>
                <a:r>
                  <a:rPr lang="en-US" sz="1067" dirty="0">
                    <a:solidFill>
                      <a:srgbClr val="676767"/>
                    </a:solidFill>
                  </a:rPr>
                  <a:t>,</a:t>
                </a:r>
                <a:r>
                  <a:rPr lang="es-ES_tradnl" sz="1067" dirty="0">
                    <a:solidFill>
                      <a:srgbClr val="676767"/>
                    </a:solidFill>
                  </a:rPr>
                  <a:t> </a:t>
                </a:r>
                <a:r>
                  <a:rPr lang="ru-RU" sz="1067" dirty="0">
                    <a:solidFill>
                      <a:srgbClr val="676767"/>
                    </a:solidFill>
                  </a:rPr>
                  <a:t>A4::</a:t>
                </a:r>
                <a:r>
                  <a:rPr lang="es-ES_tradnl" sz="1067" dirty="0">
                    <a:solidFill>
                      <a:srgbClr val="676767"/>
                    </a:solidFill>
                  </a:rPr>
                  <a:t>30,</a:t>
                </a:r>
                <a:r>
                  <a:rPr lang="mr-IN" sz="1067" dirty="0">
                    <a:solidFill>
                      <a:srgbClr val="676767"/>
                    </a:solidFill>
                  </a:rPr>
                  <a:t>…</a:t>
                </a:r>
                <a:r>
                  <a:rPr lang="es-ES_tradnl" sz="1067" dirty="0">
                    <a:solidFill>
                      <a:srgbClr val="676767"/>
                    </a:solidFill>
                  </a:rPr>
                  <a:t>) SL=k-1</a:t>
                </a:r>
              </a:p>
            </p:txBody>
          </p:sp>
        </p:grpSp>
        <p:grpSp>
          <p:nvGrpSpPr>
            <p:cNvPr id="48" name="Group 47"/>
            <p:cNvGrpSpPr/>
            <p:nvPr/>
          </p:nvGrpSpPr>
          <p:grpSpPr>
            <a:xfrm>
              <a:off x="2903692" y="2154669"/>
              <a:ext cx="1726850" cy="161133"/>
              <a:chOff x="3435803" y="2345673"/>
              <a:chExt cx="1620002" cy="161133"/>
            </a:xfrm>
          </p:grpSpPr>
          <p:sp>
            <p:nvSpPr>
              <p:cNvPr id="55" name="Rectángulo redondeado 66"/>
              <p:cNvSpPr/>
              <p:nvPr/>
            </p:nvSpPr>
            <p:spPr>
              <a:xfrm rot="10800000">
                <a:off x="3435805" y="2345675"/>
                <a:ext cx="1620000" cy="161131"/>
              </a:xfrm>
              <a:prstGeom prst="round2SameRect">
                <a:avLst/>
              </a:prstGeom>
              <a:solidFill>
                <a:schemeClr val="tx1">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067" dirty="0">
                  <a:solidFill>
                    <a:srgbClr val="FFFFFF"/>
                  </a:solidFill>
                </a:endParaRPr>
              </a:p>
            </p:txBody>
          </p:sp>
          <p:sp>
            <p:nvSpPr>
              <p:cNvPr id="56" name="TextBox 55"/>
              <p:cNvSpPr txBox="1"/>
              <p:nvPr/>
            </p:nvSpPr>
            <p:spPr>
              <a:xfrm>
                <a:off x="3435803" y="2345673"/>
                <a:ext cx="1619999" cy="161131"/>
              </a:xfrm>
              <a:prstGeom prst="rect">
                <a:avLst/>
              </a:prstGeom>
              <a:noFill/>
            </p:spPr>
            <p:txBody>
              <a:bodyPr wrap="square" lIns="0" tIns="0" rIns="0" bIns="0" rtlCol="0" anchor="ctr">
                <a:normAutofit/>
              </a:bodyPr>
              <a:lstStyle/>
              <a:p>
                <a:pPr algn="ctr"/>
                <a:r>
                  <a:rPr lang="es-ES_tradnl" sz="1067" dirty="0" err="1">
                    <a:solidFill>
                      <a:srgbClr val="FFFFFF">
                        <a:lumMod val="50000"/>
                      </a:srgbClr>
                    </a:solidFill>
                    <a:latin typeface="Arial"/>
                  </a:rPr>
                  <a:t>Payload</a:t>
                </a:r>
                <a:endParaRPr lang="es-ES_tradnl" sz="1067" dirty="0">
                  <a:solidFill>
                    <a:srgbClr val="FFFFFF">
                      <a:lumMod val="50000"/>
                    </a:srgbClr>
                  </a:solidFill>
                  <a:latin typeface="Arial"/>
                </a:endParaRPr>
              </a:p>
            </p:txBody>
          </p:sp>
        </p:grpSp>
        <p:grpSp>
          <p:nvGrpSpPr>
            <p:cNvPr id="50" name="Group 49"/>
            <p:cNvGrpSpPr/>
            <p:nvPr/>
          </p:nvGrpSpPr>
          <p:grpSpPr>
            <a:xfrm>
              <a:off x="2903692" y="1832396"/>
              <a:ext cx="1726848" cy="161132"/>
              <a:chOff x="2903692" y="2154667"/>
              <a:chExt cx="1726848" cy="161132"/>
            </a:xfrm>
          </p:grpSpPr>
          <p:sp>
            <p:nvSpPr>
              <p:cNvPr id="51" name="Rectángulo redondeado 65"/>
              <p:cNvSpPr/>
              <p:nvPr/>
            </p:nvSpPr>
            <p:spPr>
              <a:xfrm>
                <a:off x="2903692" y="2154668"/>
                <a:ext cx="463545" cy="161131"/>
              </a:xfrm>
              <a:prstGeom prst="rect">
                <a:avLst/>
              </a:prstGeom>
              <a:solidFill>
                <a:srgbClr val="67A36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FFFFFF"/>
                    </a:solidFill>
                  </a:rPr>
                  <a:t>IPv6 </a:t>
                </a:r>
                <a:r>
                  <a:rPr lang="es-ES_tradnl" sz="1067" dirty="0" err="1">
                    <a:solidFill>
                      <a:srgbClr val="FFFFFF"/>
                    </a:solidFill>
                  </a:rPr>
                  <a:t>Hdr</a:t>
                </a:r>
                <a:endParaRPr lang="es-ES_tradnl" sz="1067" dirty="0">
                  <a:solidFill>
                    <a:srgbClr val="FFFFFF"/>
                  </a:solidFill>
                </a:endParaRPr>
              </a:p>
            </p:txBody>
          </p:sp>
          <p:sp>
            <p:nvSpPr>
              <p:cNvPr id="52" name="Rectángulo redondeado 65"/>
              <p:cNvSpPr/>
              <p:nvPr/>
            </p:nvSpPr>
            <p:spPr>
              <a:xfrm>
                <a:off x="3367237" y="2154667"/>
                <a:ext cx="1263303" cy="161131"/>
              </a:xfrm>
              <a:prstGeom prst="rect">
                <a:avLst/>
              </a:prstGeom>
              <a:solidFill>
                <a:srgbClr val="CAE8C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676767"/>
                    </a:solidFill>
                  </a:rPr>
                  <a:t>SA = </a:t>
                </a:r>
                <a:r>
                  <a:rPr lang="ru-RU" sz="1067" dirty="0">
                    <a:solidFill>
                      <a:srgbClr val="676767"/>
                    </a:solidFill>
                  </a:rPr>
                  <a:t>A1::</a:t>
                </a:r>
                <a:r>
                  <a:rPr lang="es-ES_tradnl" sz="1067" dirty="0">
                    <a:solidFill>
                      <a:srgbClr val="676767"/>
                    </a:solidFill>
                  </a:rPr>
                  <a:t>, DA = </a:t>
                </a:r>
                <a:r>
                  <a:rPr lang="es-ES_tradnl" sz="1067" b="1" dirty="0">
                    <a:solidFill>
                      <a:srgbClr val="676767"/>
                    </a:solidFill>
                  </a:rPr>
                  <a:t>A5::</a:t>
                </a:r>
              </a:p>
            </p:txBody>
          </p:sp>
        </p:grpSp>
      </p:grpSp>
      <p:sp>
        <p:nvSpPr>
          <p:cNvPr id="3" name="Content Placeholder 2"/>
          <p:cNvSpPr>
            <a:spLocks noGrp="1"/>
          </p:cNvSpPr>
          <p:nvPr>
            <p:ph type="body" sz="quarter" idx="10"/>
          </p:nvPr>
        </p:nvSpPr>
        <p:spPr/>
        <p:txBody>
          <a:bodyPr anchor="t"/>
          <a:lstStyle/>
          <a:p>
            <a:r>
              <a:rPr lang="en-US" sz="2400" i="1" dirty="0"/>
              <a:t>MPLS binding segment</a:t>
            </a:r>
            <a:endParaRPr lang="en-US" sz="2400" dirty="0"/>
          </a:p>
          <a:p>
            <a:pPr lvl="1"/>
            <a:r>
              <a:rPr lang="en-US" sz="2133" dirty="0"/>
              <a:t>Decrement Segments Left</a:t>
            </a:r>
          </a:p>
          <a:p>
            <a:pPr lvl="1"/>
            <a:r>
              <a:rPr lang="en-US" sz="2133" dirty="0"/>
              <a:t>Push outer MPLS label stack associated with the binding segment</a:t>
            </a:r>
          </a:p>
          <a:p>
            <a:pPr lvl="1"/>
            <a:r>
              <a:rPr lang="en-US" sz="2133" dirty="0"/>
              <a:t>Forward according to the top MPLS label</a:t>
            </a:r>
          </a:p>
          <a:p>
            <a:r>
              <a:rPr lang="en-US" sz="2400" dirty="0"/>
              <a:t>Node 4 advertises prefix </a:t>
            </a:r>
            <a:r>
              <a:rPr lang="ru-RU" sz="2400" dirty="0"/>
              <a:t>A4::</a:t>
            </a:r>
            <a:r>
              <a:rPr lang="en-US" sz="2400" dirty="0"/>
              <a:t>/64</a:t>
            </a:r>
          </a:p>
          <a:p>
            <a:r>
              <a:rPr lang="en-US" sz="2400" dirty="0"/>
              <a:t>On 4, the MPLS SR policy &lt;L1, L2, L3&gt; is associated with ID 30</a:t>
            </a:r>
          </a:p>
          <a:p>
            <a:r>
              <a:rPr lang="en-US" sz="2400" dirty="0"/>
              <a:t>The corresponding </a:t>
            </a:r>
            <a:r>
              <a:rPr lang="en-US" sz="2400" i="1" dirty="0"/>
              <a:t>binding SID </a:t>
            </a:r>
            <a:r>
              <a:rPr lang="en-US" sz="2400" dirty="0"/>
              <a:t>is </a:t>
            </a:r>
            <a:r>
              <a:rPr lang="ru-RU" sz="2400" dirty="0"/>
              <a:t>A4::</a:t>
            </a:r>
            <a:r>
              <a:rPr lang="en-US" sz="2400" dirty="0"/>
              <a:t>30</a:t>
            </a:r>
          </a:p>
        </p:txBody>
      </p:sp>
      <p:sp>
        <p:nvSpPr>
          <p:cNvPr id="12" name="Text Placeholder 11">
            <a:extLst>
              <a:ext uri="{FF2B5EF4-FFF2-40B4-BE49-F238E27FC236}">
                <a16:creationId xmlns:a16="http://schemas.microsoft.com/office/drawing/2014/main" id="{ABFA07A8-E932-C896-932F-42257730DC1A}"/>
              </a:ext>
            </a:extLst>
          </p:cNvPr>
          <p:cNvSpPr>
            <a:spLocks noGrp="1"/>
          </p:cNvSpPr>
          <p:nvPr>
            <p:ph type="body" sz="quarter" idx="11"/>
          </p:nvPr>
        </p:nvSpPr>
        <p:spPr/>
        <p:txBody>
          <a:bodyPr/>
          <a:lstStyle/>
          <a:p>
            <a:r>
              <a:rPr lang="en-US" sz="3600" dirty="0"/>
              <a:t>END.BM </a:t>
            </a:r>
            <a:r>
              <a:rPr lang="mr-IN" sz="3600" dirty="0"/>
              <a:t>–</a:t>
            </a:r>
            <a:r>
              <a:rPr lang="en-US" sz="3600" dirty="0"/>
              <a:t> MPLS Binding Segment</a:t>
            </a:r>
            <a:endParaRPr lang="en-US" dirty="0"/>
          </a:p>
        </p:txBody>
      </p:sp>
      <p:grpSp>
        <p:nvGrpSpPr>
          <p:cNvPr id="4" name="Group 3"/>
          <p:cNvGrpSpPr/>
          <p:nvPr/>
        </p:nvGrpSpPr>
        <p:grpSpPr>
          <a:xfrm>
            <a:off x="2414108" y="5564343"/>
            <a:ext cx="2302475" cy="644531"/>
            <a:chOff x="3286779" y="1769862"/>
            <a:chExt cx="1620008" cy="483398"/>
          </a:xfrm>
        </p:grpSpPr>
        <p:sp>
          <p:nvSpPr>
            <p:cNvPr id="5" name="Rectángulo redondeado 65"/>
            <p:cNvSpPr/>
            <p:nvPr/>
          </p:nvSpPr>
          <p:spPr>
            <a:xfrm>
              <a:off x="3286784" y="1930994"/>
              <a:ext cx="434863" cy="161131"/>
            </a:xfrm>
            <a:prstGeom prst="rect">
              <a:avLst/>
            </a:prstGeom>
            <a:solidFill>
              <a:schemeClr val="tx2">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FFFFFF"/>
                  </a:solidFill>
                </a:rPr>
                <a:t>SR </a:t>
              </a:r>
              <a:r>
                <a:rPr lang="es-ES_tradnl" sz="1067" dirty="0" err="1">
                  <a:solidFill>
                    <a:srgbClr val="FFFFFF"/>
                  </a:solidFill>
                </a:rPr>
                <a:t>Hdr</a:t>
              </a:r>
              <a:endParaRPr lang="es-ES_tradnl" sz="1067" dirty="0">
                <a:solidFill>
                  <a:srgbClr val="FFFFFF"/>
                </a:solidFill>
              </a:endParaRPr>
            </a:p>
          </p:txBody>
        </p:sp>
        <p:sp>
          <p:nvSpPr>
            <p:cNvPr id="6" name="Rectángulo redondeado 64"/>
            <p:cNvSpPr/>
            <p:nvPr/>
          </p:nvSpPr>
          <p:spPr>
            <a:xfrm rot="16200000">
              <a:off x="3423649" y="1632996"/>
              <a:ext cx="161130" cy="434861"/>
            </a:xfrm>
            <a:prstGeom prst="round1Rect">
              <a:avLst/>
            </a:prstGeom>
            <a:solidFill>
              <a:schemeClr val="accent4">
                <a:lumMod val="75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 lIns="0" tIns="0" rIns="0" bIns="0" rtlCol="0" anchor="ctr"/>
            <a:lstStyle/>
            <a:p>
              <a:pPr algn="ctr"/>
              <a:r>
                <a:rPr lang="es-ES_tradnl" sz="1067" dirty="0">
                  <a:solidFill>
                    <a:srgbClr val="FFFFFF"/>
                  </a:solidFill>
                </a:rPr>
                <a:t>IPv6 </a:t>
              </a:r>
              <a:r>
                <a:rPr lang="es-ES_tradnl" sz="1067" dirty="0" err="1">
                  <a:solidFill>
                    <a:srgbClr val="FFFFFF"/>
                  </a:solidFill>
                </a:rPr>
                <a:t>Hdr</a:t>
              </a:r>
              <a:endParaRPr lang="es-ES_tradnl" sz="1067" b="1" dirty="0">
                <a:solidFill>
                  <a:srgbClr val="FFC000"/>
                </a:solidFill>
              </a:endParaRPr>
            </a:p>
          </p:txBody>
        </p:sp>
        <p:sp>
          <p:nvSpPr>
            <p:cNvPr id="7" name="Rectángulo redondeado 64"/>
            <p:cNvSpPr/>
            <p:nvPr/>
          </p:nvSpPr>
          <p:spPr>
            <a:xfrm>
              <a:off x="3721644" y="1769864"/>
              <a:ext cx="1185143" cy="161131"/>
            </a:xfrm>
            <a:prstGeom prst="round1Rect">
              <a:avLst/>
            </a:prstGeom>
            <a:solidFill>
              <a:schemeClr val="accent4">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r>
                <a:rPr lang="es-ES_tradnl" sz="1067" dirty="0">
                  <a:solidFill>
                    <a:srgbClr val="676767"/>
                  </a:solidFill>
                </a:rPr>
                <a:t>SA = </a:t>
              </a:r>
              <a:r>
                <a:rPr lang="ru-RU" sz="1067" dirty="0">
                  <a:solidFill>
                    <a:srgbClr val="676767"/>
                  </a:solidFill>
                </a:rPr>
                <a:t>A1::</a:t>
              </a:r>
              <a:r>
                <a:rPr lang="es-ES_tradnl" sz="1067" dirty="0">
                  <a:solidFill>
                    <a:srgbClr val="676767"/>
                  </a:solidFill>
                </a:rPr>
                <a:t>, DA = </a:t>
              </a:r>
              <a:r>
                <a:rPr lang="ru-RU" sz="1067" b="1" dirty="0">
                  <a:solidFill>
                    <a:srgbClr val="676767"/>
                  </a:solidFill>
                </a:rPr>
                <a:t>A4::</a:t>
              </a:r>
              <a:r>
                <a:rPr lang="es-ES_tradnl" sz="1067" b="1" dirty="0">
                  <a:solidFill>
                    <a:srgbClr val="676767"/>
                  </a:solidFill>
                </a:rPr>
                <a:t>30</a:t>
              </a:r>
            </a:p>
          </p:txBody>
        </p:sp>
        <p:sp>
          <p:nvSpPr>
            <p:cNvPr id="8" name="Rectángulo redondeado 65"/>
            <p:cNvSpPr/>
            <p:nvPr/>
          </p:nvSpPr>
          <p:spPr>
            <a:xfrm>
              <a:off x="3721644" y="1930994"/>
              <a:ext cx="1185141" cy="161131"/>
            </a:xfrm>
            <a:prstGeom prst="rect">
              <a:avLst/>
            </a:prstGeom>
            <a:solidFill>
              <a:schemeClr val="tx2">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676767"/>
                  </a:solidFill>
                </a:rPr>
                <a:t>(</a:t>
              </a:r>
              <a:r>
                <a:rPr lang="mr-IN" sz="1067" dirty="0">
                  <a:solidFill>
                    <a:srgbClr val="676767"/>
                  </a:solidFill>
                </a:rPr>
                <a:t>…</a:t>
              </a:r>
              <a:r>
                <a:rPr lang="en-US" sz="1067" dirty="0">
                  <a:solidFill>
                    <a:srgbClr val="676767"/>
                  </a:solidFill>
                </a:rPr>
                <a:t>,A5::,</a:t>
              </a:r>
              <a:r>
                <a:rPr lang="es-ES_tradnl" sz="1067" dirty="0">
                  <a:solidFill>
                    <a:srgbClr val="676767"/>
                  </a:solidFill>
                </a:rPr>
                <a:t> </a:t>
              </a:r>
              <a:r>
                <a:rPr lang="ru-RU" sz="1067" dirty="0">
                  <a:solidFill>
                    <a:srgbClr val="FA661C"/>
                  </a:solidFill>
                </a:rPr>
                <a:t>A4::</a:t>
              </a:r>
              <a:r>
                <a:rPr lang="es-ES_tradnl" sz="1067" dirty="0">
                  <a:solidFill>
                    <a:srgbClr val="FA661C"/>
                  </a:solidFill>
                </a:rPr>
                <a:t>30</a:t>
              </a:r>
              <a:r>
                <a:rPr lang="es-ES_tradnl" sz="1067" dirty="0">
                  <a:solidFill>
                    <a:srgbClr val="676767"/>
                  </a:solidFill>
                </a:rPr>
                <a:t>,</a:t>
              </a:r>
              <a:r>
                <a:rPr lang="mr-IN" sz="1067" dirty="0">
                  <a:solidFill>
                    <a:srgbClr val="676767"/>
                  </a:solidFill>
                </a:rPr>
                <a:t>…</a:t>
              </a:r>
              <a:r>
                <a:rPr lang="es-ES_tradnl" sz="1067" dirty="0">
                  <a:solidFill>
                    <a:srgbClr val="676767"/>
                  </a:solidFill>
                </a:rPr>
                <a:t>) SL=k</a:t>
              </a:r>
            </a:p>
          </p:txBody>
        </p:sp>
        <p:grpSp>
          <p:nvGrpSpPr>
            <p:cNvPr id="9" name="Group 8"/>
            <p:cNvGrpSpPr/>
            <p:nvPr/>
          </p:nvGrpSpPr>
          <p:grpSpPr>
            <a:xfrm>
              <a:off x="3286779" y="2092127"/>
              <a:ext cx="1620007" cy="161133"/>
              <a:chOff x="3286779" y="2345671"/>
              <a:chExt cx="1620007" cy="161133"/>
            </a:xfrm>
          </p:grpSpPr>
          <p:sp>
            <p:nvSpPr>
              <p:cNvPr id="10" name="Rectángulo redondeado 66"/>
              <p:cNvSpPr/>
              <p:nvPr/>
            </p:nvSpPr>
            <p:spPr>
              <a:xfrm rot="10800000">
                <a:off x="3286781" y="2345671"/>
                <a:ext cx="1620005" cy="161131"/>
              </a:xfrm>
              <a:prstGeom prst="round2SameRect">
                <a:avLst/>
              </a:prstGeom>
              <a:solidFill>
                <a:schemeClr val="tx1">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067" dirty="0">
                  <a:solidFill>
                    <a:srgbClr val="FFFFFF"/>
                  </a:solidFill>
                </a:endParaRPr>
              </a:p>
            </p:txBody>
          </p:sp>
          <p:sp>
            <p:nvSpPr>
              <p:cNvPr id="11" name="TextBox 10"/>
              <p:cNvSpPr txBox="1"/>
              <p:nvPr/>
            </p:nvSpPr>
            <p:spPr>
              <a:xfrm>
                <a:off x="3286779" y="2345673"/>
                <a:ext cx="1620007" cy="161131"/>
              </a:xfrm>
              <a:prstGeom prst="rect">
                <a:avLst/>
              </a:prstGeom>
              <a:noFill/>
            </p:spPr>
            <p:txBody>
              <a:bodyPr wrap="square" lIns="0" tIns="0" rIns="0" bIns="0" rtlCol="0" anchor="ctr">
                <a:normAutofit/>
              </a:bodyPr>
              <a:lstStyle/>
              <a:p>
                <a:pPr algn="ctr"/>
                <a:r>
                  <a:rPr lang="es-ES_tradnl" sz="1067" dirty="0" err="1">
                    <a:solidFill>
                      <a:srgbClr val="FFFFFF">
                        <a:lumMod val="50000"/>
                      </a:srgbClr>
                    </a:solidFill>
                    <a:latin typeface="Arial"/>
                  </a:rPr>
                  <a:t>Payload</a:t>
                </a:r>
                <a:endParaRPr lang="es-ES_tradnl" sz="1067" dirty="0">
                  <a:solidFill>
                    <a:srgbClr val="FFFFFF">
                      <a:lumMod val="50000"/>
                    </a:srgbClr>
                  </a:solidFill>
                  <a:latin typeface="Arial"/>
                </a:endParaRPr>
              </a:p>
            </p:txBody>
          </p:sp>
        </p:grpSp>
      </p:grpSp>
      <p:grpSp>
        <p:nvGrpSpPr>
          <p:cNvPr id="32" name="Group 31"/>
          <p:cNvGrpSpPr/>
          <p:nvPr/>
        </p:nvGrpSpPr>
        <p:grpSpPr>
          <a:xfrm>
            <a:off x="4829996" y="5541397"/>
            <a:ext cx="2532008" cy="690424"/>
            <a:chOff x="3928301" y="3836234"/>
            <a:chExt cx="1899006" cy="517818"/>
          </a:xfrm>
        </p:grpSpPr>
        <p:cxnSp>
          <p:nvCxnSpPr>
            <p:cNvPr id="21" name="Conector recto de flecha 27"/>
            <p:cNvCxnSpPr>
              <a:endCxn id="22" idx="2"/>
            </p:cNvCxnSpPr>
            <p:nvPr/>
          </p:nvCxnSpPr>
          <p:spPr>
            <a:xfrm>
              <a:off x="3928301" y="4095143"/>
              <a:ext cx="690594" cy="0"/>
            </a:xfrm>
            <a:prstGeom prst="straightConnector1">
              <a:avLst/>
            </a:prstGeom>
            <a:ln w="317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2" name="Elipse 11"/>
            <p:cNvSpPr/>
            <p:nvPr/>
          </p:nvSpPr>
          <p:spPr>
            <a:xfrm>
              <a:off x="4618895" y="3836234"/>
              <a:ext cx="517818" cy="517818"/>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b="1" dirty="0">
                  <a:solidFill>
                    <a:srgbClr val="676767"/>
                  </a:solidFill>
                </a:rPr>
                <a:t>4</a:t>
              </a:r>
            </a:p>
            <a:p>
              <a:pPr algn="ctr"/>
              <a:r>
                <a:rPr lang="ru-RU" sz="1067" dirty="0">
                  <a:solidFill>
                    <a:srgbClr val="676767"/>
                  </a:solidFill>
                </a:rPr>
                <a:t>A4::</a:t>
              </a:r>
              <a:r>
                <a:rPr lang="es-ES_tradnl" sz="1067" dirty="0">
                  <a:solidFill>
                    <a:srgbClr val="676767"/>
                  </a:solidFill>
                </a:rPr>
                <a:t> /64</a:t>
              </a:r>
            </a:p>
          </p:txBody>
        </p:sp>
        <p:cxnSp>
          <p:nvCxnSpPr>
            <p:cNvPr id="29" name="Conector recto de flecha 27"/>
            <p:cNvCxnSpPr>
              <a:stCxn id="22" idx="6"/>
            </p:cNvCxnSpPr>
            <p:nvPr/>
          </p:nvCxnSpPr>
          <p:spPr>
            <a:xfrm>
              <a:off x="5136713" y="4095143"/>
              <a:ext cx="690594" cy="0"/>
            </a:xfrm>
            <a:prstGeom prst="straightConnector1">
              <a:avLst/>
            </a:prstGeom>
            <a:ln w="317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4867414"/>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p:txBody>
          <a:bodyPr/>
          <a:lstStyle/>
          <a:p>
            <a:r>
              <a:rPr lang="en-US" sz="2400" i="1" dirty="0"/>
              <a:t>Penultimate Segment Popping (PSP)</a:t>
            </a:r>
            <a:r>
              <a:rPr lang="en-US" sz="2400" dirty="0"/>
              <a:t> behavior</a:t>
            </a:r>
          </a:p>
          <a:p>
            <a:pPr lvl="1"/>
            <a:r>
              <a:rPr lang="en-US" sz="2133" dirty="0"/>
              <a:t>Decrement Segments Left, update DA</a:t>
            </a:r>
          </a:p>
          <a:p>
            <a:pPr lvl="1"/>
            <a:r>
              <a:rPr lang="en-US" sz="2133" b="1" dirty="0">
                <a:solidFill>
                  <a:schemeClr val="accent6">
                    <a:lumMod val="75000"/>
                  </a:schemeClr>
                </a:solidFill>
              </a:rPr>
              <a:t>If Segments Left = 0, remove SRH</a:t>
            </a:r>
          </a:p>
          <a:p>
            <a:pPr lvl="1"/>
            <a:r>
              <a:rPr lang="en-US" sz="2133" dirty="0"/>
              <a:t>Forward according to new DA</a:t>
            </a:r>
          </a:p>
          <a:p>
            <a:r>
              <a:rPr lang="en-US" sz="2400" dirty="0"/>
              <a:t>Node 5 advertises prefix A5::/64</a:t>
            </a:r>
          </a:p>
          <a:p>
            <a:r>
              <a:rPr lang="en-US" sz="2400" dirty="0"/>
              <a:t>On 5, the </a:t>
            </a:r>
            <a:r>
              <a:rPr lang="en-US" sz="2400" i="1" dirty="0"/>
              <a:t>Penultimate Segment Popping</a:t>
            </a:r>
            <a:r>
              <a:rPr lang="en-US" sz="2400" dirty="0"/>
              <a:t> behavior is associated with ID 1</a:t>
            </a:r>
          </a:p>
          <a:p>
            <a:r>
              <a:rPr lang="en-US" sz="2400" dirty="0"/>
              <a:t>The corresponding SID is A5::1</a:t>
            </a:r>
          </a:p>
        </p:txBody>
      </p:sp>
      <p:sp>
        <p:nvSpPr>
          <p:cNvPr id="12" name="Text Placeholder 11">
            <a:extLst>
              <a:ext uri="{FF2B5EF4-FFF2-40B4-BE49-F238E27FC236}">
                <a16:creationId xmlns:a16="http://schemas.microsoft.com/office/drawing/2014/main" id="{F9A02091-8F20-05B9-2442-70B99DE91262}"/>
              </a:ext>
            </a:extLst>
          </p:cNvPr>
          <p:cNvSpPr>
            <a:spLocks noGrp="1"/>
          </p:cNvSpPr>
          <p:nvPr>
            <p:ph type="body" sz="quarter" idx="11"/>
          </p:nvPr>
        </p:nvSpPr>
        <p:spPr/>
        <p:txBody>
          <a:bodyPr/>
          <a:lstStyle/>
          <a:p>
            <a:r>
              <a:rPr lang="en-US" sz="3600" dirty="0"/>
              <a:t>END.PSP </a:t>
            </a:r>
            <a:r>
              <a:rPr lang="mr-IN" sz="3600" dirty="0"/>
              <a:t>–</a:t>
            </a:r>
            <a:r>
              <a:rPr lang="en-US" sz="3600" dirty="0"/>
              <a:t> Penultimate Segment Popping #1</a:t>
            </a:r>
            <a:endParaRPr lang="en-US" dirty="0"/>
          </a:p>
        </p:txBody>
      </p:sp>
      <p:grpSp>
        <p:nvGrpSpPr>
          <p:cNvPr id="4" name="Group 3"/>
          <p:cNvGrpSpPr/>
          <p:nvPr/>
        </p:nvGrpSpPr>
        <p:grpSpPr>
          <a:xfrm>
            <a:off x="2713750" y="5252547"/>
            <a:ext cx="2030071" cy="644528"/>
            <a:chOff x="3435803" y="1769864"/>
            <a:chExt cx="1428346" cy="483396"/>
          </a:xfrm>
        </p:grpSpPr>
        <p:sp>
          <p:nvSpPr>
            <p:cNvPr id="5" name="Rectángulo redondeado 65"/>
            <p:cNvSpPr/>
            <p:nvPr/>
          </p:nvSpPr>
          <p:spPr>
            <a:xfrm>
              <a:off x="3435803" y="1930995"/>
              <a:ext cx="434863" cy="161131"/>
            </a:xfrm>
            <a:prstGeom prst="rect">
              <a:avLst/>
            </a:prstGeom>
            <a:solidFill>
              <a:schemeClr val="tx2">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FFFFFF"/>
                  </a:solidFill>
                </a:rPr>
                <a:t>SR </a:t>
              </a:r>
              <a:r>
                <a:rPr lang="es-ES_tradnl" sz="1067" dirty="0" err="1">
                  <a:solidFill>
                    <a:srgbClr val="FFFFFF"/>
                  </a:solidFill>
                </a:rPr>
                <a:t>Hdr</a:t>
              </a:r>
              <a:endParaRPr lang="es-ES_tradnl" sz="1067" dirty="0">
                <a:solidFill>
                  <a:srgbClr val="FFFFFF"/>
                </a:solidFill>
              </a:endParaRPr>
            </a:p>
          </p:txBody>
        </p:sp>
        <p:sp>
          <p:nvSpPr>
            <p:cNvPr id="6" name="Rectángulo redondeado 64"/>
            <p:cNvSpPr/>
            <p:nvPr/>
          </p:nvSpPr>
          <p:spPr>
            <a:xfrm rot="16200000">
              <a:off x="3572670" y="1632999"/>
              <a:ext cx="161130" cy="434861"/>
            </a:xfrm>
            <a:prstGeom prst="round1Rect">
              <a:avLst/>
            </a:prstGeom>
            <a:solidFill>
              <a:schemeClr val="accent4">
                <a:lumMod val="75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 lIns="0" tIns="0" rIns="0" bIns="0" rtlCol="0" anchor="ctr"/>
            <a:lstStyle/>
            <a:p>
              <a:pPr algn="ctr"/>
              <a:r>
                <a:rPr lang="es-ES_tradnl" sz="1067" dirty="0">
                  <a:solidFill>
                    <a:srgbClr val="FFFFFF"/>
                  </a:solidFill>
                </a:rPr>
                <a:t>IPv6 </a:t>
              </a:r>
              <a:r>
                <a:rPr lang="es-ES_tradnl" sz="1067" dirty="0" err="1">
                  <a:solidFill>
                    <a:srgbClr val="FFFFFF"/>
                  </a:solidFill>
                </a:rPr>
                <a:t>Hdr</a:t>
              </a:r>
              <a:endParaRPr lang="es-ES_tradnl" sz="1067" b="1" dirty="0">
                <a:solidFill>
                  <a:srgbClr val="FFC000"/>
                </a:solidFill>
              </a:endParaRPr>
            </a:p>
          </p:txBody>
        </p:sp>
        <p:sp>
          <p:nvSpPr>
            <p:cNvPr id="7" name="Rectángulo redondeado 64"/>
            <p:cNvSpPr/>
            <p:nvPr/>
          </p:nvSpPr>
          <p:spPr>
            <a:xfrm>
              <a:off x="3870666" y="1769864"/>
              <a:ext cx="993482" cy="161131"/>
            </a:xfrm>
            <a:prstGeom prst="round1Rect">
              <a:avLst/>
            </a:prstGeom>
            <a:solidFill>
              <a:schemeClr val="accent4">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r>
                <a:rPr lang="es-ES_tradnl" sz="1067" dirty="0">
                  <a:solidFill>
                    <a:srgbClr val="676767"/>
                  </a:solidFill>
                </a:rPr>
                <a:t>SA = </a:t>
              </a:r>
              <a:r>
                <a:rPr lang="ru-RU" sz="1067" dirty="0">
                  <a:solidFill>
                    <a:srgbClr val="676767"/>
                  </a:solidFill>
                </a:rPr>
                <a:t>A1::</a:t>
              </a:r>
              <a:r>
                <a:rPr lang="es-ES_tradnl" sz="1067" dirty="0">
                  <a:solidFill>
                    <a:srgbClr val="676767"/>
                  </a:solidFill>
                </a:rPr>
                <a:t>, DA = </a:t>
              </a:r>
              <a:r>
                <a:rPr lang="es-ES_tradnl" sz="1067" b="1" dirty="0">
                  <a:solidFill>
                    <a:srgbClr val="676767"/>
                  </a:solidFill>
                </a:rPr>
                <a:t>A5::1</a:t>
              </a:r>
            </a:p>
          </p:txBody>
        </p:sp>
        <p:sp>
          <p:nvSpPr>
            <p:cNvPr id="8" name="Rectángulo redondeado 65"/>
            <p:cNvSpPr/>
            <p:nvPr/>
          </p:nvSpPr>
          <p:spPr>
            <a:xfrm>
              <a:off x="3870667" y="1930994"/>
              <a:ext cx="993482" cy="161131"/>
            </a:xfrm>
            <a:prstGeom prst="rect">
              <a:avLst/>
            </a:prstGeom>
            <a:solidFill>
              <a:schemeClr val="tx2">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67" dirty="0">
                  <a:solidFill>
                    <a:srgbClr val="676767"/>
                  </a:solidFill>
                </a:rPr>
                <a:t>( A6::,</a:t>
              </a:r>
              <a:r>
                <a:rPr lang="es-ES_tradnl" sz="1067" dirty="0">
                  <a:solidFill>
                    <a:srgbClr val="676767"/>
                  </a:solidFill>
                </a:rPr>
                <a:t> </a:t>
              </a:r>
              <a:r>
                <a:rPr lang="es-ES_tradnl" sz="1067" dirty="0">
                  <a:solidFill>
                    <a:srgbClr val="FA661C"/>
                  </a:solidFill>
                </a:rPr>
                <a:t>A5::1</a:t>
              </a:r>
              <a:r>
                <a:rPr lang="es-ES_tradnl" sz="1067" dirty="0">
                  <a:solidFill>
                    <a:srgbClr val="676767"/>
                  </a:solidFill>
                </a:rPr>
                <a:t>,</a:t>
              </a:r>
              <a:r>
                <a:rPr lang="mr-IN" sz="1067" dirty="0">
                  <a:solidFill>
                    <a:srgbClr val="676767"/>
                  </a:solidFill>
                </a:rPr>
                <a:t>…</a:t>
              </a:r>
              <a:r>
                <a:rPr lang="es-ES_tradnl" sz="1067" dirty="0">
                  <a:solidFill>
                    <a:srgbClr val="676767"/>
                  </a:solidFill>
                </a:rPr>
                <a:t> ) SL=1</a:t>
              </a:r>
            </a:p>
          </p:txBody>
        </p:sp>
        <p:grpSp>
          <p:nvGrpSpPr>
            <p:cNvPr id="9" name="Group 8"/>
            <p:cNvGrpSpPr/>
            <p:nvPr/>
          </p:nvGrpSpPr>
          <p:grpSpPr>
            <a:xfrm>
              <a:off x="3435803" y="2092129"/>
              <a:ext cx="1428345" cy="161131"/>
              <a:chOff x="3435803" y="2345673"/>
              <a:chExt cx="1428345" cy="161131"/>
            </a:xfrm>
          </p:grpSpPr>
          <p:sp>
            <p:nvSpPr>
              <p:cNvPr id="10" name="Rectángulo redondeado 66"/>
              <p:cNvSpPr/>
              <p:nvPr/>
            </p:nvSpPr>
            <p:spPr>
              <a:xfrm rot="10800000">
                <a:off x="3435804" y="2345673"/>
                <a:ext cx="1428344" cy="161131"/>
              </a:xfrm>
              <a:prstGeom prst="round2SameRect">
                <a:avLst/>
              </a:prstGeom>
              <a:solidFill>
                <a:schemeClr val="tx1">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067" dirty="0">
                  <a:solidFill>
                    <a:srgbClr val="FFFFFF"/>
                  </a:solidFill>
                </a:endParaRPr>
              </a:p>
            </p:txBody>
          </p:sp>
          <p:sp>
            <p:nvSpPr>
              <p:cNvPr id="11" name="TextBox 10"/>
              <p:cNvSpPr txBox="1"/>
              <p:nvPr/>
            </p:nvSpPr>
            <p:spPr>
              <a:xfrm>
                <a:off x="3435803" y="2345673"/>
                <a:ext cx="1428345" cy="161131"/>
              </a:xfrm>
              <a:prstGeom prst="rect">
                <a:avLst/>
              </a:prstGeom>
              <a:noFill/>
            </p:spPr>
            <p:txBody>
              <a:bodyPr wrap="square" lIns="0" tIns="0" rIns="0" bIns="0" rtlCol="0" anchor="ctr">
                <a:normAutofit/>
              </a:bodyPr>
              <a:lstStyle/>
              <a:p>
                <a:pPr algn="ctr"/>
                <a:r>
                  <a:rPr lang="es-ES_tradnl" sz="1067" dirty="0" err="1">
                    <a:solidFill>
                      <a:srgbClr val="FFFFFF">
                        <a:lumMod val="50000"/>
                      </a:srgbClr>
                    </a:solidFill>
                    <a:latin typeface="Arial"/>
                  </a:rPr>
                  <a:t>Payload</a:t>
                </a:r>
                <a:endParaRPr lang="es-ES_tradnl" sz="1067" dirty="0">
                  <a:solidFill>
                    <a:srgbClr val="FFFFFF">
                      <a:lumMod val="50000"/>
                    </a:srgbClr>
                  </a:solidFill>
                  <a:latin typeface="Arial"/>
                </a:endParaRPr>
              </a:p>
            </p:txBody>
          </p:sp>
        </p:grpSp>
      </p:grpSp>
      <p:cxnSp>
        <p:nvCxnSpPr>
          <p:cNvPr id="21" name="Conector recto de flecha 27"/>
          <p:cNvCxnSpPr>
            <a:endCxn id="22" idx="2"/>
          </p:cNvCxnSpPr>
          <p:nvPr/>
        </p:nvCxnSpPr>
        <p:spPr>
          <a:xfrm>
            <a:off x="4852445" y="5574811"/>
            <a:ext cx="920792" cy="0"/>
          </a:xfrm>
          <a:prstGeom prst="straightConnector1">
            <a:avLst/>
          </a:prstGeom>
          <a:ln w="317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2" name="Elipse 11"/>
          <p:cNvSpPr/>
          <p:nvPr/>
        </p:nvSpPr>
        <p:spPr>
          <a:xfrm>
            <a:off x="5773237" y="5229599"/>
            <a:ext cx="690424" cy="690424"/>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b="1" dirty="0">
                <a:solidFill>
                  <a:srgbClr val="676767"/>
                </a:solidFill>
              </a:rPr>
              <a:t>5</a:t>
            </a:r>
          </a:p>
          <a:p>
            <a:pPr algn="ctr"/>
            <a:r>
              <a:rPr lang="es-ES_tradnl" sz="1067" dirty="0">
                <a:solidFill>
                  <a:srgbClr val="676767"/>
                </a:solidFill>
              </a:rPr>
              <a:t>A5:: /64</a:t>
            </a:r>
          </a:p>
        </p:txBody>
      </p:sp>
      <p:grpSp>
        <p:nvGrpSpPr>
          <p:cNvPr id="34" name="Group 33"/>
          <p:cNvGrpSpPr/>
          <p:nvPr/>
        </p:nvGrpSpPr>
        <p:grpSpPr>
          <a:xfrm>
            <a:off x="7487072" y="5359973"/>
            <a:ext cx="2030069" cy="429681"/>
            <a:chOff x="3435803" y="1769864"/>
            <a:chExt cx="1428345" cy="322261"/>
          </a:xfrm>
        </p:grpSpPr>
        <p:sp>
          <p:nvSpPr>
            <p:cNvPr id="36" name="Rectángulo redondeado 64"/>
            <p:cNvSpPr/>
            <p:nvPr/>
          </p:nvSpPr>
          <p:spPr>
            <a:xfrm rot="16200000">
              <a:off x="3572670" y="1632999"/>
              <a:ext cx="161130" cy="434861"/>
            </a:xfrm>
            <a:prstGeom prst="round1Rect">
              <a:avLst/>
            </a:prstGeom>
            <a:solidFill>
              <a:schemeClr val="accent4">
                <a:lumMod val="75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 lIns="0" tIns="0" rIns="0" bIns="0" rtlCol="0" anchor="ctr"/>
            <a:lstStyle/>
            <a:p>
              <a:pPr algn="ctr"/>
              <a:r>
                <a:rPr lang="es-ES_tradnl" sz="1067" dirty="0">
                  <a:solidFill>
                    <a:srgbClr val="FFFFFF"/>
                  </a:solidFill>
                </a:rPr>
                <a:t>IPv6 </a:t>
              </a:r>
              <a:r>
                <a:rPr lang="es-ES_tradnl" sz="1067" dirty="0" err="1">
                  <a:solidFill>
                    <a:srgbClr val="FFFFFF"/>
                  </a:solidFill>
                </a:rPr>
                <a:t>Hdr</a:t>
              </a:r>
              <a:endParaRPr lang="es-ES_tradnl" sz="1067" b="1" dirty="0">
                <a:solidFill>
                  <a:srgbClr val="FFC000"/>
                </a:solidFill>
              </a:endParaRPr>
            </a:p>
          </p:txBody>
        </p:sp>
        <p:sp>
          <p:nvSpPr>
            <p:cNvPr id="37" name="Rectángulo redondeado 64"/>
            <p:cNvSpPr/>
            <p:nvPr/>
          </p:nvSpPr>
          <p:spPr>
            <a:xfrm>
              <a:off x="3870666" y="1769864"/>
              <a:ext cx="993482" cy="161131"/>
            </a:xfrm>
            <a:prstGeom prst="round1Rect">
              <a:avLst/>
            </a:prstGeom>
            <a:solidFill>
              <a:schemeClr val="accent4">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r>
                <a:rPr lang="es-ES_tradnl" sz="1067" dirty="0">
                  <a:solidFill>
                    <a:srgbClr val="676767"/>
                  </a:solidFill>
                </a:rPr>
                <a:t>SA = </a:t>
              </a:r>
              <a:r>
                <a:rPr lang="ru-RU" sz="1067" dirty="0">
                  <a:solidFill>
                    <a:srgbClr val="676767"/>
                  </a:solidFill>
                </a:rPr>
                <a:t>A1::</a:t>
              </a:r>
              <a:r>
                <a:rPr lang="es-ES_tradnl" sz="1067" dirty="0">
                  <a:solidFill>
                    <a:srgbClr val="676767"/>
                  </a:solidFill>
                </a:rPr>
                <a:t>, DA = </a:t>
              </a:r>
              <a:r>
                <a:rPr lang="es-ES_tradnl" sz="1067" b="1" dirty="0">
                  <a:solidFill>
                    <a:srgbClr val="676767"/>
                  </a:solidFill>
                </a:rPr>
                <a:t>A6::</a:t>
              </a:r>
            </a:p>
          </p:txBody>
        </p:sp>
        <p:grpSp>
          <p:nvGrpSpPr>
            <p:cNvPr id="39" name="Group 38"/>
            <p:cNvGrpSpPr/>
            <p:nvPr/>
          </p:nvGrpSpPr>
          <p:grpSpPr>
            <a:xfrm>
              <a:off x="3435803" y="1930993"/>
              <a:ext cx="1428345" cy="161132"/>
              <a:chOff x="3435803" y="2184537"/>
              <a:chExt cx="1428345" cy="161132"/>
            </a:xfrm>
          </p:grpSpPr>
          <p:sp>
            <p:nvSpPr>
              <p:cNvPr id="40" name="Rectángulo redondeado 66"/>
              <p:cNvSpPr/>
              <p:nvPr/>
            </p:nvSpPr>
            <p:spPr>
              <a:xfrm rot="10800000">
                <a:off x="3435804" y="2184537"/>
                <a:ext cx="1428344" cy="161131"/>
              </a:xfrm>
              <a:prstGeom prst="round2SameRect">
                <a:avLst/>
              </a:prstGeom>
              <a:solidFill>
                <a:schemeClr val="tx1">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067" dirty="0">
                  <a:solidFill>
                    <a:srgbClr val="FFFFFF"/>
                  </a:solidFill>
                </a:endParaRPr>
              </a:p>
            </p:txBody>
          </p:sp>
          <p:sp>
            <p:nvSpPr>
              <p:cNvPr id="41" name="TextBox 40"/>
              <p:cNvSpPr txBox="1"/>
              <p:nvPr/>
            </p:nvSpPr>
            <p:spPr>
              <a:xfrm>
                <a:off x="3435803" y="2184538"/>
                <a:ext cx="1428345" cy="161131"/>
              </a:xfrm>
              <a:prstGeom prst="rect">
                <a:avLst/>
              </a:prstGeom>
              <a:noFill/>
            </p:spPr>
            <p:txBody>
              <a:bodyPr wrap="square" lIns="0" tIns="0" rIns="0" bIns="0" rtlCol="0" anchor="ctr">
                <a:normAutofit/>
              </a:bodyPr>
              <a:lstStyle/>
              <a:p>
                <a:pPr algn="ctr"/>
                <a:r>
                  <a:rPr lang="es-ES_tradnl" sz="1067" dirty="0" err="1">
                    <a:solidFill>
                      <a:srgbClr val="FFFFFF">
                        <a:lumMod val="50000"/>
                      </a:srgbClr>
                    </a:solidFill>
                    <a:latin typeface="Arial"/>
                  </a:rPr>
                  <a:t>Payload</a:t>
                </a:r>
                <a:endParaRPr lang="es-ES_tradnl" sz="1067" dirty="0">
                  <a:solidFill>
                    <a:srgbClr val="FFFFFF">
                      <a:lumMod val="50000"/>
                    </a:srgbClr>
                  </a:solidFill>
                  <a:latin typeface="Arial"/>
                </a:endParaRPr>
              </a:p>
            </p:txBody>
          </p:sp>
        </p:grpSp>
      </p:grpSp>
      <p:cxnSp>
        <p:nvCxnSpPr>
          <p:cNvPr id="48" name="Conector recto de flecha 27"/>
          <p:cNvCxnSpPr/>
          <p:nvPr/>
        </p:nvCxnSpPr>
        <p:spPr>
          <a:xfrm>
            <a:off x="6463661" y="5560109"/>
            <a:ext cx="920792" cy="0"/>
          </a:xfrm>
          <a:prstGeom prst="straightConnector1">
            <a:avLst/>
          </a:prstGeom>
          <a:ln w="317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739620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p:txBody>
          <a:bodyPr/>
          <a:lstStyle/>
          <a:p>
            <a:r>
              <a:rPr lang="en-US" sz="2400" i="1" dirty="0"/>
              <a:t>Penultimate Segment Popping (PSP)</a:t>
            </a:r>
            <a:r>
              <a:rPr lang="en-US" sz="2400" dirty="0"/>
              <a:t> behavior</a:t>
            </a:r>
          </a:p>
          <a:p>
            <a:pPr lvl="1"/>
            <a:r>
              <a:rPr lang="en-US" sz="2133" dirty="0"/>
              <a:t>Decrement Segments Left, update DA</a:t>
            </a:r>
          </a:p>
          <a:p>
            <a:pPr lvl="1"/>
            <a:r>
              <a:rPr lang="en-US" sz="2133" b="1" dirty="0">
                <a:solidFill>
                  <a:schemeClr val="accent6">
                    <a:lumMod val="75000"/>
                  </a:schemeClr>
                </a:solidFill>
              </a:rPr>
              <a:t>If Segments Left = 0, remove SRH</a:t>
            </a:r>
          </a:p>
          <a:p>
            <a:pPr lvl="1"/>
            <a:r>
              <a:rPr lang="en-US" sz="2133" dirty="0"/>
              <a:t>Forward according to new DA</a:t>
            </a:r>
          </a:p>
          <a:p>
            <a:r>
              <a:rPr lang="en-US" sz="2400" dirty="0"/>
              <a:t>Node 5 advertises prefix A5::/64</a:t>
            </a:r>
          </a:p>
          <a:p>
            <a:r>
              <a:rPr lang="en-US" sz="2400" dirty="0"/>
              <a:t>On 5, the </a:t>
            </a:r>
            <a:r>
              <a:rPr lang="en-US" sz="2400" i="1" dirty="0"/>
              <a:t>Penultimate Segment Popping</a:t>
            </a:r>
            <a:r>
              <a:rPr lang="en-US" sz="2400" dirty="0"/>
              <a:t> behavior is associated with ID 1</a:t>
            </a:r>
          </a:p>
          <a:p>
            <a:r>
              <a:rPr lang="en-US" sz="2400" dirty="0"/>
              <a:t>The corresponding SID is A5::1</a:t>
            </a:r>
          </a:p>
        </p:txBody>
      </p:sp>
      <p:sp>
        <p:nvSpPr>
          <p:cNvPr id="4" name="Text Placeholder 3">
            <a:extLst>
              <a:ext uri="{FF2B5EF4-FFF2-40B4-BE49-F238E27FC236}">
                <a16:creationId xmlns:a16="http://schemas.microsoft.com/office/drawing/2014/main" id="{7F1E0122-D761-8483-E440-085693695D52}"/>
              </a:ext>
            </a:extLst>
          </p:cNvPr>
          <p:cNvSpPr>
            <a:spLocks noGrp="1"/>
          </p:cNvSpPr>
          <p:nvPr>
            <p:ph type="body" sz="quarter" idx="11"/>
          </p:nvPr>
        </p:nvSpPr>
        <p:spPr/>
        <p:txBody>
          <a:bodyPr/>
          <a:lstStyle/>
          <a:p>
            <a:r>
              <a:rPr lang="en-US" sz="3600" dirty="0"/>
              <a:t>END.PSP </a:t>
            </a:r>
            <a:r>
              <a:rPr lang="mr-IN" sz="3600" dirty="0"/>
              <a:t>–</a:t>
            </a:r>
            <a:r>
              <a:rPr lang="en-US" sz="3600" dirty="0"/>
              <a:t> Penultimate Segment Popping #2</a:t>
            </a:r>
            <a:endParaRPr lang="en-US" dirty="0"/>
          </a:p>
        </p:txBody>
      </p:sp>
      <p:grpSp>
        <p:nvGrpSpPr>
          <p:cNvPr id="65" name="Group 64"/>
          <p:cNvGrpSpPr/>
          <p:nvPr/>
        </p:nvGrpSpPr>
        <p:grpSpPr>
          <a:xfrm>
            <a:off x="7487073" y="5252547"/>
            <a:ext cx="2030071" cy="644528"/>
            <a:chOff x="3435803" y="1769864"/>
            <a:chExt cx="1428346" cy="483396"/>
          </a:xfrm>
        </p:grpSpPr>
        <p:sp>
          <p:nvSpPr>
            <p:cNvPr id="66" name="Rectángulo redondeado 65"/>
            <p:cNvSpPr/>
            <p:nvPr/>
          </p:nvSpPr>
          <p:spPr>
            <a:xfrm>
              <a:off x="3435803" y="1930995"/>
              <a:ext cx="434863" cy="161131"/>
            </a:xfrm>
            <a:prstGeom prst="rect">
              <a:avLst/>
            </a:prstGeom>
            <a:solidFill>
              <a:schemeClr val="tx2">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FFFFFF"/>
                  </a:solidFill>
                </a:rPr>
                <a:t>SR </a:t>
              </a:r>
              <a:r>
                <a:rPr lang="es-ES_tradnl" sz="1067" dirty="0" err="1">
                  <a:solidFill>
                    <a:srgbClr val="FFFFFF"/>
                  </a:solidFill>
                </a:rPr>
                <a:t>Hdr</a:t>
              </a:r>
              <a:endParaRPr lang="es-ES_tradnl" sz="1067" dirty="0">
                <a:solidFill>
                  <a:srgbClr val="FFFFFF"/>
                </a:solidFill>
              </a:endParaRPr>
            </a:p>
          </p:txBody>
        </p:sp>
        <p:sp>
          <p:nvSpPr>
            <p:cNvPr id="67" name="Rectángulo redondeado 64"/>
            <p:cNvSpPr/>
            <p:nvPr/>
          </p:nvSpPr>
          <p:spPr>
            <a:xfrm rot="16200000">
              <a:off x="3572670" y="1632999"/>
              <a:ext cx="161130" cy="434861"/>
            </a:xfrm>
            <a:prstGeom prst="round1Rect">
              <a:avLst/>
            </a:prstGeom>
            <a:solidFill>
              <a:schemeClr val="accent4">
                <a:lumMod val="75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 lIns="0" tIns="0" rIns="0" bIns="0" rtlCol="0" anchor="ctr"/>
            <a:lstStyle/>
            <a:p>
              <a:pPr algn="ctr"/>
              <a:r>
                <a:rPr lang="es-ES_tradnl" sz="1067" dirty="0">
                  <a:solidFill>
                    <a:srgbClr val="FFFFFF"/>
                  </a:solidFill>
                </a:rPr>
                <a:t>IPv6 </a:t>
              </a:r>
              <a:r>
                <a:rPr lang="es-ES_tradnl" sz="1067" dirty="0" err="1">
                  <a:solidFill>
                    <a:srgbClr val="FFFFFF"/>
                  </a:solidFill>
                </a:rPr>
                <a:t>Hdr</a:t>
              </a:r>
              <a:endParaRPr lang="es-ES_tradnl" sz="1067" b="1" dirty="0">
                <a:solidFill>
                  <a:srgbClr val="FFC000"/>
                </a:solidFill>
              </a:endParaRPr>
            </a:p>
          </p:txBody>
        </p:sp>
        <p:sp>
          <p:nvSpPr>
            <p:cNvPr id="68" name="Rectángulo redondeado 64"/>
            <p:cNvSpPr/>
            <p:nvPr/>
          </p:nvSpPr>
          <p:spPr>
            <a:xfrm>
              <a:off x="3870666" y="1769864"/>
              <a:ext cx="993482" cy="161131"/>
            </a:xfrm>
            <a:prstGeom prst="round1Rect">
              <a:avLst/>
            </a:prstGeom>
            <a:solidFill>
              <a:schemeClr val="accent4">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r>
                <a:rPr lang="es-ES_tradnl" sz="1067" dirty="0">
                  <a:solidFill>
                    <a:srgbClr val="676767"/>
                  </a:solidFill>
                </a:rPr>
                <a:t>SA = </a:t>
              </a:r>
              <a:r>
                <a:rPr lang="ru-RU" sz="1067" dirty="0">
                  <a:solidFill>
                    <a:srgbClr val="676767"/>
                  </a:solidFill>
                </a:rPr>
                <a:t>A1::</a:t>
              </a:r>
              <a:r>
                <a:rPr lang="es-ES_tradnl" sz="1067" dirty="0">
                  <a:solidFill>
                    <a:srgbClr val="676767"/>
                  </a:solidFill>
                </a:rPr>
                <a:t>, DA = </a:t>
              </a:r>
              <a:r>
                <a:rPr lang="es-ES_tradnl" sz="1067" b="1" dirty="0">
                  <a:solidFill>
                    <a:srgbClr val="676767"/>
                  </a:solidFill>
                </a:rPr>
                <a:t>A6::</a:t>
              </a:r>
            </a:p>
          </p:txBody>
        </p:sp>
        <p:sp>
          <p:nvSpPr>
            <p:cNvPr id="69" name="Rectángulo redondeado 65"/>
            <p:cNvSpPr/>
            <p:nvPr/>
          </p:nvSpPr>
          <p:spPr>
            <a:xfrm>
              <a:off x="3870667" y="1930994"/>
              <a:ext cx="993482" cy="161131"/>
            </a:xfrm>
            <a:prstGeom prst="rect">
              <a:avLst/>
            </a:prstGeom>
            <a:solidFill>
              <a:schemeClr val="tx2">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676767"/>
                  </a:solidFill>
                </a:rPr>
                <a:t>( </a:t>
              </a:r>
              <a:r>
                <a:rPr lang="mr-IN" sz="1067" dirty="0">
                  <a:solidFill>
                    <a:srgbClr val="676767"/>
                  </a:solidFill>
                </a:rPr>
                <a:t>…</a:t>
              </a:r>
              <a:r>
                <a:rPr lang="en-US" sz="1067" dirty="0">
                  <a:solidFill>
                    <a:srgbClr val="676767"/>
                  </a:solidFill>
                </a:rPr>
                <a:t>, </a:t>
              </a:r>
              <a:r>
                <a:rPr lang="en-US" sz="1067" dirty="0">
                  <a:solidFill>
                    <a:srgbClr val="FA661C"/>
                  </a:solidFill>
                </a:rPr>
                <a:t>A7::</a:t>
              </a:r>
              <a:r>
                <a:rPr lang="en-US" sz="1067" dirty="0">
                  <a:solidFill>
                    <a:srgbClr val="676767"/>
                  </a:solidFill>
                </a:rPr>
                <a:t>, </a:t>
              </a:r>
              <a:r>
                <a:rPr lang="mr-IN" sz="1067" dirty="0">
                  <a:solidFill>
                    <a:srgbClr val="676767"/>
                  </a:solidFill>
                </a:rPr>
                <a:t>…</a:t>
              </a:r>
              <a:r>
                <a:rPr lang="es-ES_tradnl" sz="1067" dirty="0">
                  <a:solidFill>
                    <a:srgbClr val="676767"/>
                  </a:solidFill>
                </a:rPr>
                <a:t> ) SL=k</a:t>
              </a:r>
            </a:p>
          </p:txBody>
        </p:sp>
        <p:grpSp>
          <p:nvGrpSpPr>
            <p:cNvPr id="70" name="Group 69"/>
            <p:cNvGrpSpPr/>
            <p:nvPr/>
          </p:nvGrpSpPr>
          <p:grpSpPr>
            <a:xfrm>
              <a:off x="3435803" y="2092129"/>
              <a:ext cx="1428345" cy="161131"/>
              <a:chOff x="3435803" y="2345673"/>
              <a:chExt cx="1428345" cy="161131"/>
            </a:xfrm>
          </p:grpSpPr>
          <p:sp>
            <p:nvSpPr>
              <p:cNvPr id="71" name="Rectángulo redondeado 66"/>
              <p:cNvSpPr/>
              <p:nvPr/>
            </p:nvSpPr>
            <p:spPr>
              <a:xfrm rot="10800000">
                <a:off x="3435804" y="2345673"/>
                <a:ext cx="1428344" cy="161131"/>
              </a:xfrm>
              <a:prstGeom prst="round2SameRect">
                <a:avLst/>
              </a:prstGeom>
              <a:solidFill>
                <a:schemeClr val="tx1">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067" dirty="0">
                  <a:solidFill>
                    <a:srgbClr val="FFFFFF"/>
                  </a:solidFill>
                </a:endParaRPr>
              </a:p>
            </p:txBody>
          </p:sp>
          <p:sp>
            <p:nvSpPr>
              <p:cNvPr id="72" name="TextBox 71"/>
              <p:cNvSpPr txBox="1"/>
              <p:nvPr/>
            </p:nvSpPr>
            <p:spPr>
              <a:xfrm>
                <a:off x="3435803" y="2345673"/>
                <a:ext cx="1428345" cy="161131"/>
              </a:xfrm>
              <a:prstGeom prst="rect">
                <a:avLst/>
              </a:prstGeom>
              <a:noFill/>
            </p:spPr>
            <p:txBody>
              <a:bodyPr wrap="square" lIns="0" tIns="0" rIns="0" bIns="0" rtlCol="0" anchor="ctr">
                <a:normAutofit/>
              </a:bodyPr>
              <a:lstStyle/>
              <a:p>
                <a:pPr algn="ctr"/>
                <a:r>
                  <a:rPr lang="es-ES_tradnl" sz="1067" dirty="0" err="1">
                    <a:solidFill>
                      <a:srgbClr val="FFFFFF">
                        <a:lumMod val="50000"/>
                      </a:srgbClr>
                    </a:solidFill>
                    <a:latin typeface="Arial"/>
                  </a:rPr>
                  <a:t>Payload</a:t>
                </a:r>
                <a:endParaRPr lang="es-ES_tradnl" sz="1067" dirty="0">
                  <a:solidFill>
                    <a:srgbClr val="FFFFFF">
                      <a:lumMod val="50000"/>
                    </a:srgbClr>
                  </a:solidFill>
                  <a:latin typeface="Arial"/>
                </a:endParaRPr>
              </a:p>
            </p:txBody>
          </p:sp>
        </p:grpSp>
      </p:grpSp>
      <p:grpSp>
        <p:nvGrpSpPr>
          <p:cNvPr id="73" name="Group 72"/>
          <p:cNvGrpSpPr/>
          <p:nvPr/>
        </p:nvGrpSpPr>
        <p:grpSpPr>
          <a:xfrm>
            <a:off x="2447360" y="5130420"/>
            <a:ext cx="2302467" cy="859389"/>
            <a:chOff x="2903692" y="1671260"/>
            <a:chExt cx="1726850" cy="644542"/>
          </a:xfrm>
        </p:grpSpPr>
        <p:grpSp>
          <p:nvGrpSpPr>
            <p:cNvPr id="74" name="Group 73"/>
            <p:cNvGrpSpPr/>
            <p:nvPr/>
          </p:nvGrpSpPr>
          <p:grpSpPr>
            <a:xfrm>
              <a:off x="2903693" y="1671260"/>
              <a:ext cx="1726846" cy="161131"/>
              <a:chOff x="2903694" y="1993537"/>
              <a:chExt cx="1726846" cy="161131"/>
            </a:xfrm>
          </p:grpSpPr>
          <p:sp>
            <p:nvSpPr>
              <p:cNvPr id="84" name="Rectángulo redondeado 64"/>
              <p:cNvSpPr/>
              <p:nvPr/>
            </p:nvSpPr>
            <p:spPr>
              <a:xfrm rot="16200000">
                <a:off x="3054900" y="1842331"/>
                <a:ext cx="161130" cy="463542"/>
              </a:xfrm>
              <a:prstGeom prst="round1Rect">
                <a:avLst/>
              </a:prstGeom>
              <a:solidFill>
                <a:schemeClr val="accent4">
                  <a:lumMod val="75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 lIns="0" tIns="0" rIns="0" bIns="0" rtlCol="0" anchor="ctr"/>
              <a:lstStyle/>
              <a:p>
                <a:pPr algn="ctr"/>
                <a:r>
                  <a:rPr lang="es-ES_tradnl" sz="1067" dirty="0">
                    <a:solidFill>
                      <a:srgbClr val="FFFFFF"/>
                    </a:solidFill>
                  </a:rPr>
                  <a:t>IPv6 </a:t>
                </a:r>
                <a:r>
                  <a:rPr lang="es-ES_tradnl" sz="1067" dirty="0" err="1">
                    <a:solidFill>
                      <a:srgbClr val="FFFFFF"/>
                    </a:solidFill>
                  </a:rPr>
                  <a:t>Hdr</a:t>
                </a:r>
                <a:endParaRPr lang="es-ES_tradnl" sz="1067" b="1" dirty="0">
                  <a:solidFill>
                    <a:srgbClr val="FFC000"/>
                  </a:solidFill>
                </a:endParaRPr>
              </a:p>
            </p:txBody>
          </p:sp>
          <p:sp>
            <p:nvSpPr>
              <p:cNvPr id="85" name="Rectángulo redondeado 64"/>
              <p:cNvSpPr/>
              <p:nvPr/>
            </p:nvSpPr>
            <p:spPr>
              <a:xfrm>
                <a:off x="3367237" y="1993537"/>
                <a:ext cx="1263303" cy="161131"/>
              </a:xfrm>
              <a:prstGeom prst="round1Rect">
                <a:avLst/>
              </a:prstGeom>
              <a:solidFill>
                <a:schemeClr val="accent4">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r>
                  <a:rPr lang="es-ES_tradnl" sz="1067" dirty="0">
                    <a:solidFill>
                      <a:srgbClr val="676767"/>
                    </a:solidFill>
                  </a:rPr>
                  <a:t>SA = </a:t>
                </a:r>
                <a:r>
                  <a:rPr lang="ru-RU" sz="1067" dirty="0">
                    <a:solidFill>
                      <a:srgbClr val="676767"/>
                    </a:solidFill>
                  </a:rPr>
                  <a:t>A1::</a:t>
                </a:r>
                <a:r>
                  <a:rPr lang="es-ES_tradnl" sz="1067" dirty="0">
                    <a:solidFill>
                      <a:srgbClr val="676767"/>
                    </a:solidFill>
                  </a:rPr>
                  <a:t>, DA = </a:t>
                </a:r>
                <a:r>
                  <a:rPr lang="es-ES_tradnl" sz="1067" b="1" dirty="0">
                    <a:solidFill>
                      <a:srgbClr val="676767"/>
                    </a:solidFill>
                  </a:rPr>
                  <a:t>A5::1</a:t>
                </a:r>
              </a:p>
            </p:txBody>
          </p:sp>
        </p:grpSp>
        <p:grpSp>
          <p:nvGrpSpPr>
            <p:cNvPr id="75" name="Group 74"/>
            <p:cNvGrpSpPr/>
            <p:nvPr/>
          </p:nvGrpSpPr>
          <p:grpSpPr>
            <a:xfrm>
              <a:off x="2903692" y="1993534"/>
              <a:ext cx="1726848" cy="161132"/>
              <a:chOff x="2903692" y="1993534"/>
              <a:chExt cx="1726848" cy="161132"/>
            </a:xfrm>
          </p:grpSpPr>
          <p:sp>
            <p:nvSpPr>
              <p:cNvPr id="82" name="Rectángulo redondeado 65"/>
              <p:cNvSpPr/>
              <p:nvPr/>
            </p:nvSpPr>
            <p:spPr>
              <a:xfrm>
                <a:off x="2903692" y="1993535"/>
                <a:ext cx="463545" cy="161131"/>
              </a:xfrm>
              <a:prstGeom prst="rect">
                <a:avLst/>
              </a:prstGeom>
              <a:solidFill>
                <a:schemeClr val="tx2">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FFFFFF"/>
                    </a:solidFill>
                  </a:rPr>
                  <a:t>SR </a:t>
                </a:r>
                <a:r>
                  <a:rPr lang="es-ES_tradnl" sz="1067" dirty="0" err="1">
                    <a:solidFill>
                      <a:srgbClr val="FFFFFF"/>
                    </a:solidFill>
                  </a:rPr>
                  <a:t>Hdr</a:t>
                </a:r>
                <a:endParaRPr lang="es-ES_tradnl" sz="1067" dirty="0">
                  <a:solidFill>
                    <a:srgbClr val="FFFFFF"/>
                  </a:solidFill>
                </a:endParaRPr>
              </a:p>
            </p:txBody>
          </p:sp>
          <p:sp>
            <p:nvSpPr>
              <p:cNvPr id="83" name="Rectángulo redondeado 65"/>
              <p:cNvSpPr/>
              <p:nvPr/>
            </p:nvSpPr>
            <p:spPr>
              <a:xfrm>
                <a:off x="3367237" y="1993534"/>
                <a:ext cx="1263303" cy="161131"/>
              </a:xfrm>
              <a:prstGeom prst="rect">
                <a:avLst/>
              </a:prstGeom>
              <a:solidFill>
                <a:schemeClr val="tx2">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676767"/>
                    </a:solidFill>
                  </a:rPr>
                  <a:t>( </a:t>
                </a:r>
                <a:r>
                  <a:rPr lang="mr-IN" sz="1067" dirty="0">
                    <a:solidFill>
                      <a:srgbClr val="676767"/>
                    </a:solidFill>
                  </a:rPr>
                  <a:t>…</a:t>
                </a:r>
                <a:r>
                  <a:rPr lang="en-US" sz="1067" dirty="0">
                    <a:solidFill>
                      <a:srgbClr val="676767"/>
                    </a:solidFill>
                  </a:rPr>
                  <a:t>, </a:t>
                </a:r>
                <a:r>
                  <a:rPr lang="en-US" sz="1067" dirty="0">
                    <a:solidFill>
                      <a:srgbClr val="FA661C"/>
                    </a:solidFill>
                  </a:rPr>
                  <a:t>A7::</a:t>
                </a:r>
                <a:r>
                  <a:rPr lang="en-US" sz="1067" dirty="0">
                    <a:solidFill>
                      <a:srgbClr val="676767"/>
                    </a:solidFill>
                  </a:rPr>
                  <a:t>, </a:t>
                </a:r>
                <a:r>
                  <a:rPr lang="mr-IN" sz="1067" dirty="0">
                    <a:solidFill>
                      <a:srgbClr val="676767"/>
                    </a:solidFill>
                  </a:rPr>
                  <a:t>…</a:t>
                </a:r>
                <a:r>
                  <a:rPr lang="en-US" sz="1067" dirty="0">
                    <a:solidFill>
                      <a:srgbClr val="676767"/>
                    </a:solidFill>
                  </a:rPr>
                  <a:t> </a:t>
                </a:r>
                <a:r>
                  <a:rPr lang="es-ES_tradnl" sz="1067" dirty="0">
                    <a:solidFill>
                      <a:srgbClr val="676767"/>
                    </a:solidFill>
                  </a:rPr>
                  <a:t>) SL=k</a:t>
                </a:r>
              </a:p>
            </p:txBody>
          </p:sp>
        </p:grpSp>
        <p:grpSp>
          <p:nvGrpSpPr>
            <p:cNvPr id="76" name="Group 75"/>
            <p:cNvGrpSpPr/>
            <p:nvPr/>
          </p:nvGrpSpPr>
          <p:grpSpPr>
            <a:xfrm>
              <a:off x="2903692" y="2154669"/>
              <a:ext cx="1726850" cy="161133"/>
              <a:chOff x="3435803" y="2345673"/>
              <a:chExt cx="1620002" cy="161133"/>
            </a:xfrm>
          </p:grpSpPr>
          <p:sp>
            <p:nvSpPr>
              <p:cNvPr id="80" name="Rectángulo redondeado 66"/>
              <p:cNvSpPr/>
              <p:nvPr/>
            </p:nvSpPr>
            <p:spPr>
              <a:xfrm rot="10800000">
                <a:off x="3435805" y="2345675"/>
                <a:ext cx="1620000" cy="161131"/>
              </a:xfrm>
              <a:prstGeom prst="round2SameRect">
                <a:avLst/>
              </a:prstGeom>
              <a:solidFill>
                <a:schemeClr val="tx1">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067" dirty="0">
                  <a:solidFill>
                    <a:srgbClr val="FFFFFF"/>
                  </a:solidFill>
                </a:endParaRPr>
              </a:p>
            </p:txBody>
          </p:sp>
          <p:sp>
            <p:nvSpPr>
              <p:cNvPr id="81" name="TextBox 80"/>
              <p:cNvSpPr txBox="1"/>
              <p:nvPr/>
            </p:nvSpPr>
            <p:spPr>
              <a:xfrm>
                <a:off x="3435803" y="2345673"/>
                <a:ext cx="1619999" cy="161131"/>
              </a:xfrm>
              <a:prstGeom prst="rect">
                <a:avLst/>
              </a:prstGeom>
              <a:noFill/>
            </p:spPr>
            <p:txBody>
              <a:bodyPr wrap="square" lIns="0" tIns="0" rIns="0" bIns="0" rtlCol="0" anchor="ctr">
                <a:normAutofit/>
              </a:bodyPr>
              <a:lstStyle/>
              <a:p>
                <a:pPr algn="ctr"/>
                <a:r>
                  <a:rPr lang="es-ES_tradnl" sz="1067" dirty="0" err="1">
                    <a:solidFill>
                      <a:srgbClr val="FFFFFF">
                        <a:lumMod val="50000"/>
                      </a:srgbClr>
                    </a:solidFill>
                    <a:latin typeface="Arial"/>
                  </a:rPr>
                  <a:t>Payload</a:t>
                </a:r>
                <a:endParaRPr lang="es-ES_tradnl" sz="1067" dirty="0">
                  <a:solidFill>
                    <a:srgbClr val="FFFFFF">
                      <a:lumMod val="50000"/>
                    </a:srgbClr>
                  </a:solidFill>
                  <a:latin typeface="Arial"/>
                </a:endParaRPr>
              </a:p>
            </p:txBody>
          </p:sp>
        </p:grpSp>
        <p:grpSp>
          <p:nvGrpSpPr>
            <p:cNvPr id="77" name="Group 76"/>
            <p:cNvGrpSpPr/>
            <p:nvPr/>
          </p:nvGrpSpPr>
          <p:grpSpPr>
            <a:xfrm>
              <a:off x="2903692" y="1832396"/>
              <a:ext cx="1726848" cy="161132"/>
              <a:chOff x="2903692" y="2154667"/>
              <a:chExt cx="1726848" cy="161132"/>
            </a:xfrm>
          </p:grpSpPr>
          <p:sp>
            <p:nvSpPr>
              <p:cNvPr id="78" name="Rectángulo redondeado 65"/>
              <p:cNvSpPr/>
              <p:nvPr/>
            </p:nvSpPr>
            <p:spPr>
              <a:xfrm>
                <a:off x="2903692" y="2154668"/>
                <a:ext cx="463545" cy="161131"/>
              </a:xfrm>
              <a:prstGeom prst="rect">
                <a:avLst/>
              </a:prstGeom>
              <a:solidFill>
                <a:srgbClr val="7030A0">
                  <a:alpha val="8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FFFFFF"/>
                    </a:solidFill>
                  </a:rPr>
                  <a:t>SR </a:t>
                </a:r>
                <a:r>
                  <a:rPr lang="es-ES_tradnl" sz="1067" dirty="0" err="1">
                    <a:solidFill>
                      <a:srgbClr val="FFFFFF"/>
                    </a:solidFill>
                  </a:rPr>
                  <a:t>Hdr</a:t>
                </a:r>
                <a:endParaRPr lang="es-ES_tradnl" sz="1067" dirty="0">
                  <a:solidFill>
                    <a:srgbClr val="FFFFFF"/>
                  </a:solidFill>
                </a:endParaRPr>
              </a:p>
            </p:txBody>
          </p:sp>
          <p:sp>
            <p:nvSpPr>
              <p:cNvPr id="79" name="Rectángulo redondeado 65"/>
              <p:cNvSpPr/>
              <p:nvPr/>
            </p:nvSpPr>
            <p:spPr>
              <a:xfrm>
                <a:off x="3367237" y="2154667"/>
                <a:ext cx="1263303" cy="161131"/>
              </a:xfrm>
              <a:prstGeom prst="rect">
                <a:avLst/>
              </a:prstGeom>
              <a:solidFill>
                <a:srgbClr val="D7ACD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676767"/>
                    </a:solidFill>
                  </a:rPr>
                  <a:t>( A6::</a:t>
                </a:r>
                <a:r>
                  <a:rPr lang="en-US" sz="1067" dirty="0">
                    <a:solidFill>
                      <a:srgbClr val="676767"/>
                    </a:solidFill>
                  </a:rPr>
                  <a:t>,</a:t>
                </a:r>
                <a:r>
                  <a:rPr lang="es-ES_tradnl" sz="1067" dirty="0">
                    <a:solidFill>
                      <a:srgbClr val="676767"/>
                    </a:solidFill>
                  </a:rPr>
                  <a:t> </a:t>
                </a:r>
                <a:r>
                  <a:rPr lang="es-ES_tradnl" sz="1067" dirty="0">
                    <a:solidFill>
                      <a:srgbClr val="FA661C"/>
                    </a:solidFill>
                  </a:rPr>
                  <a:t>A5::1</a:t>
                </a:r>
                <a:r>
                  <a:rPr lang="es-ES_tradnl" sz="1067" dirty="0">
                    <a:solidFill>
                      <a:srgbClr val="676767"/>
                    </a:solidFill>
                  </a:rPr>
                  <a:t>, </a:t>
                </a:r>
                <a:r>
                  <a:rPr lang="mr-IN" sz="1067" dirty="0">
                    <a:solidFill>
                      <a:srgbClr val="676767"/>
                    </a:solidFill>
                  </a:rPr>
                  <a:t>…</a:t>
                </a:r>
                <a:r>
                  <a:rPr lang="es-ES_tradnl" sz="1067" dirty="0">
                    <a:solidFill>
                      <a:srgbClr val="676767"/>
                    </a:solidFill>
                  </a:rPr>
                  <a:t> ) SL=1</a:t>
                </a:r>
              </a:p>
            </p:txBody>
          </p:sp>
        </p:grpSp>
      </p:grpSp>
      <p:cxnSp>
        <p:nvCxnSpPr>
          <p:cNvPr id="86" name="Conector recto de flecha 27"/>
          <p:cNvCxnSpPr>
            <a:endCxn id="85" idx="2"/>
          </p:cNvCxnSpPr>
          <p:nvPr/>
        </p:nvCxnSpPr>
        <p:spPr>
          <a:xfrm>
            <a:off x="4852445" y="5574811"/>
            <a:ext cx="920792" cy="0"/>
          </a:xfrm>
          <a:prstGeom prst="straightConnector1">
            <a:avLst/>
          </a:prstGeom>
          <a:ln w="317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87" name="Elipse 11"/>
          <p:cNvSpPr/>
          <p:nvPr/>
        </p:nvSpPr>
        <p:spPr>
          <a:xfrm>
            <a:off x="5773237" y="5229599"/>
            <a:ext cx="690424" cy="690424"/>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b="1" dirty="0">
                <a:solidFill>
                  <a:srgbClr val="676767"/>
                </a:solidFill>
              </a:rPr>
              <a:t>5</a:t>
            </a:r>
          </a:p>
          <a:p>
            <a:pPr algn="ctr"/>
            <a:r>
              <a:rPr lang="es-ES_tradnl" sz="1067" dirty="0">
                <a:solidFill>
                  <a:srgbClr val="676767"/>
                </a:solidFill>
              </a:rPr>
              <a:t>A5:: /64</a:t>
            </a:r>
            <a:endParaRPr lang="es-ES_tradnl" sz="1200" dirty="0">
              <a:solidFill>
                <a:srgbClr val="676767"/>
              </a:solidFill>
            </a:endParaRPr>
          </a:p>
        </p:txBody>
      </p:sp>
      <p:cxnSp>
        <p:nvCxnSpPr>
          <p:cNvPr id="88" name="Conector recto de flecha 27"/>
          <p:cNvCxnSpPr/>
          <p:nvPr/>
        </p:nvCxnSpPr>
        <p:spPr>
          <a:xfrm>
            <a:off x="6463661" y="5560109"/>
            <a:ext cx="920792" cy="0"/>
          </a:xfrm>
          <a:prstGeom prst="straightConnector1">
            <a:avLst/>
          </a:prstGeom>
          <a:ln w="317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322097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 name="Group 68"/>
          <p:cNvGrpSpPr/>
          <p:nvPr/>
        </p:nvGrpSpPr>
        <p:grpSpPr>
          <a:xfrm>
            <a:off x="7487071" y="5252543"/>
            <a:ext cx="2194036" cy="644528"/>
            <a:chOff x="3435803" y="1769864"/>
            <a:chExt cx="1543711" cy="483396"/>
          </a:xfrm>
        </p:grpSpPr>
        <p:sp>
          <p:nvSpPr>
            <p:cNvPr id="70" name="Rectángulo redondeado 65"/>
            <p:cNvSpPr/>
            <p:nvPr/>
          </p:nvSpPr>
          <p:spPr>
            <a:xfrm>
              <a:off x="3435803" y="1930995"/>
              <a:ext cx="434863" cy="161131"/>
            </a:xfrm>
            <a:prstGeom prst="rect">
              <a:avLst/>
            </a:prstGeom>
            <a:solidFill>
              <a:schemeClr val="tx2">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FFFFFF"/>
                  </a:solidFill>
                </a:rPr>
                <a:t>SR </a:t>
              </a:r>
              <a:r>
                <a:rPr lang="es-ES_tradnl" sz="1067" dirty="0" err="1">
                  <a:solidFill>
                    <a:srgbClr val="FFFFFF"/>
                  </a:solidFill>
                </a:rPr>
                <a:t>Hdr</a:t>
              </a:r>
              <a:endParaRPr lang="es-ES_tradnl" sz="1067" dirty="0">
                <a:solidFill>
                  <a:srgbClr val="FFFFFF"/>
                </a:solidFill>
              </a:endParaRPr>
            </a:p>
          </p:txBody>
        </p:sp>
        <p:sp>
          <p:nvSpPr>
            <p:cNvPr id="71" name="Rectángulo redondeado 64"/>
            <p:cNvSpPr/>
            <p:nvPr/>
          </p:nvSpPr>
          <p:spPr>
            <a:xfrm rot="16200000">
              <a:off x="3572670" y="1632999"/>
              <a:ext cx="161130" cy="434861"/>
            </a:xfrm>
            <a:prstGeom prst="round1Rect">
              <a:avLst/>
            </a:prstGeom>
            <a:solidFill>
              <a:schemeClr val="accent4">
                <a:lumMod val="75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 lIns="0" tIns="0" rIns="0" bIns="0" rtlCol="0" anchor="ctr"/>
            <a:lstStyle/>
            <a:p>
              <a:pPr algn="ctr"/>
              <a:r>
                <a:rPr lang="es-ES_tradnl" sz="1067" dirty="0">
                  <a:solidFill>
                    <a:srgbClr val="FFFFFF"/>
                  </a:solidFill>
                </a:rPr>
                <a:t>IPv6 </a:t>
              </a:r>
              <a:r>
                <a:rPr lang="es-ES_tradnl" sz="1067" dirty="0" err="1">
                  <a:solidFill>
                    <a:srgbClr val="FFFFFF"/>
                  </a:solidFill>
                </a:rPr>
                <a:t>Hdr</a:t>
              </a:r>
              <a:endParaRPr lang="es-ES_tradnl" sz="1067" b="1" dirty="0">
                <a:solidFill>
                  <a:srgbClr val="FFC000"/>
                </a:solidFill>
              </a:endParaRPr>
            </a:p>
          </p:txBody>
        </p:sp>
        <p:sp>
          <p:nvSpPr>
            <p:cNvPr id="72" name="Rectángulo redondeado 64"/>
            <p:cNvSpPr/>
            <p:nvPr/>
          </p:nvSpPr>
          <p:spPr>
            <a:xfrm>
              <a:off x="3870666" y="1769864"/>
              <a:ext cx="1108847" cy="161131"/>
            </a:xfrm>
            <a:prstGeom prst="round1Rect">
              <a:avLst/>
            </a:prstGeom>
            <a:solidFill>
              <a:schemeClr val="accent4">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r>
                <a:rPr lang="es-ES_tradnl" sz="1067" dirty="0">
                  <a:solidFill>
                    <a:srgbClr val="676767"/>
                  </a:solidFill>
                </a:rPr>
                <a:t>SA = </a:t>
              </a:r>
              <a:r>
                <a:rPr lang="ru-RU" sz="1067" dirty="0">
                  <a:solidFill>
                    <a:srgbClr val="676767"/>
                  </a:solidFill>
                </a:rPr>
                <a:t>A1::</a:t>
              </a:r>
              <a:r>
                <a:rPr lang="es-ES_tradnl" sz="1067" dirty="0">
                  <a:solidFill>
                    <a:srgbClr val="676767"/>
                  </a:solidFill>
                </a:rPr>
                <a:t>, DA = </a:t>
              </a:r>
              <a:r>
                <a:rPr lang="es-ES_tradnl" sz="1067" b="1" dirty="0">
                  <a:solidFill>
                    <a:srgbClr val="676767"/>
                  </a:solidFill>
                </a:rPr>
                <a:t>A8::</a:t>
              </a:r>
            </a:p>
          </p:txBody>
        </p:sp>
        <p:sp>
          <p:nvSpPr>
            <p:cNvPr id="73" name="Rectángulo redondeado 65"/>
            <p:cNvSpPr/>
            <p:nvPr/>
          </p:nvSpPr>
          <p:spPr>
            <a:xfrm>
              <a:off x="3870667" y="1930994"/>
              <a:ext cx="1108847" cy="161131"/>
            </a:xfrm>
            <a:prstGeom prst="rect">
              <a:avLst/>
            </a:prstGeom>
            <a:solidFill>
              <a:schemeClr val="tx2">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67" dirty="0">
                  <a:solidFill>
                    <a:srgbClr val="676767"/>
                  </a:solidFill>
                </a:rPr>
                <a:t>(</a:t>
              </a:r>
              <a:r>
                <a:rPr lang="mr-IN" sz="1067" dirty="0">
                  <a:solidFill>
                    <a:srgbClr val="676767"/>
                  </a:solidFill>
                </a:rPr>
                <a:t>…</a:t>
              </a:r>
              <a:r>
                <a:rPr lang="en-US" sz="1067" dirty="0">
                  <a:solidFill>
                    <a:srgbClr val="676767"/>
                  </a:solidFill>
                </a:rPr>
                <a:t>, </a:t>
              </a:r>
              <a:r>
                <a:rPr lang="en-US" sz="1067" b="1" dirty="0">
                  <a:solidFill>
                    <a:srgbClr val="FA661C"/>
                  </a:solidFill>
                </a:rPr>
                <a:t>A8::</a:t>
              </a:r>
              <a:r>
                <a:rPr lang="en-US" sz="1067" dirty="0">
                  <a:solidFill>
                    <a:srgbClr val="676767"/>
                  </a:solidFill>
                </a:rPr>
                <a:t>, A7::,</a:t>
              </a:r>
              <a:r>
                <a:rPr lang="mr-IN" sz="1067" dirty="0">
                  <a:solidFill>
                    <a:srgbClr val="676767"/>
                  </a:solidFill>
                </a:rPr>
                <a:t>…</a:t>
              </a:r>
              <a:r>
                <a:rPr lang="en-US" sz="1067" dirty="0">
                  <a:solidFill>
                    <a:srgbClr val="676767"/>
                  </a:solidFill>
                </a:rPr>
                <a:t>) SL=</a:t>
              </a:r>
              <a:r>
                <a:rPr lang="en-US" sz="1067" b="1" dirty="0">
                  <a:solidFill>
                    <a:srgbClr val="676767"/>
                  </a:solidFill>
                </a:rPr>
                <a:t>k-1</a:t>
              </a:r>
              <a:endParaRPr lang="es-ES_tradnl" sz="1067" b="1" dirty="0">
                <a:solidFill>
                  <a:srgbClr val="676767"/>
                </a:solidFill>
              </a:endParaRPr>
            </a:p>
          </p:txBody>
        </p:sp>
        <p:grpSp>
          <p:nvGrpSpPr>
            <p:cNvPr id="74" name="Group 73"/>
            <p:cNvGrpSpPr/>
            <p:nvPr/>
          </p:nvGrpSpPr>
          <p:grpSpPr>
            <a:xfrm>
              <a:off x="3435803" y="2092128"/>
              <a:ext cx="1543710" cy="161132"/>
              <a:chOff x="3435803" y="2345672"/>
              <a:chExt cx="1543710" cy="161132"/>
            </a:xfrm>
          </p:grpSpPr>
          <p:sp>
            <p:nvSpPr>
              <p:cNvPr id="75" name="Rectángulo redondeado 66"/>
              <p:cNvSpPr/>
              <p:nvPr/>
            </p:nvSpPr>
            <p:spPr>
              <a:xfrm rot="10800000">
                <a:off x="3435803" y="2345672"/>
                <a:ext cx="1543710" cy="161131"/>
              </a:xfrm>
              <a:prstGeom prst="round2SameRect">
                <a:avLst/>
              </a:prstGeom>
              <a:solidFill>
                <a:schemeClr val="tx1">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067" dirty="0">
                  <a:solidFill>
                    <a:srgbClr val="FFFFFF"/>
                  </a:solidFill>
                </a:endParaRPr>
              </a:p>
            </p:txBody>
          </p:sp>
          <p:sp>
            <p:nvSpPr>
              <p:cNvPr id="76" name="TextBox 75"/>
              <p:cNvSpPr txBox="1"/>
              <p:nvPr/>
            </p:nvSpPr>
            <p:spPr>
              <a:xfrm>
                <a:off x="3435803" y="2345673"/>
                <a:ext cx="1543710" cy="161131"/>
              </a:xfrm>
              <a:prstGeom prst="rect">
                <a:avLst/>
              </a:prstGeom>
              <a:noFill/>
            </p:spPr>
            <p:txBody>
              <a:bodyPr wrap="square" lIns="0" tIns="0" rIns="0" bIns="0" rtlCol="0" anchor="ctr">
                <a:normAutofit/>
              </a:bodyPr>
              <a:lstStyle/>
              <a:p>
                <a:pPr algn="ctr"/>
                <a:r>
                  <a:rPr lang="es-ES_tradnl" sz="1067" dirty="0" err="1">
                    <a:solidFill>
                      <a:srgbClr val="FFFFFF">
                        <a:lumMod val="50000"/>
                      </a:srgbClr>
                    </a:solidFill>
                    <a:latin typeface="Arial"/>
                  </a:rPr>
                  <a:t>Payload</a:t>
                </a:r>
                <a:endParaRPr lang="es-ES_tradnl" sz="1067" dirty="0">
                  <a:solidFill>
                    <a:srgbClr val="FFFFFF">
                      <a:lumMod val="50000"/>
                    </a:srgbClr>
                  </a:solidFill>
                  <a:latin typeface="Arial"/>
                </a:endParaRPr>
              </a:p>
            </p:txBody>
          </p:sp>
        </p:grpSp>
      </p:grpSp>
      <p:sp>
        <p:nvSpPr>
          <p:cNvPr id="3" name="Content Placeholder 2"/>
          <p:cNvSpPr>
            <a:spLocks noGrp="1"/>
          </p:cNvSpPr>
          <p:nvPr>
            <p:ph type="body" sz="quarter" idx="10"/>
          </p:nvPr>
        </p:nvSpPr>
        <p:spPr/>
        <p:txBody>
          <a:bodyPr/>
          <a:lstStyle/>
          <a:p>
            <a:r>
              <a:rPr lang="en-US" sz="2400" i="1" dirty="0"/>
              <a:t>Ultimate Segment Popping (USP)</a:t>
            </a:r>
            <a:r>
              <a:rPr lang="en-US" sz="2400" dirty="0"/>
              <a:t> behavior</a:t>
            </a:r>
            <a:endParaRPr lang="en-US" sz="2133" dirty="0"/>
          </a:p>
          <a:p>
            <a:pPr lvl="1"/>
            <a:r>
              <a:rPr lang="en-US" sz="2133" b="1" dirty="0">
                <a:solidFill>
                  <a:schemeClr val="accent6">
                    <a:lumMod val="75000"/>
                  </a:schemeClr>
                </a:solidFill>
              </a:rPr>
              <a:t>If Segments Left = 0</a:t>
            </a:r>
          </a:p>
          <a:p>
            <a:pPr lvl="2"/>
            <a:r>
              <a:rPr lang="en-US" sz="1867" dirty="0"/>
              <a:t>Pop the top SRH</a:t>
            </a:r>
          </a:p>
          <a:p>
            <a:pPr lvl="2"/>
            <a:r>
              <a:rPr lang="en-US" sz="1867" dirty="0"/>
              <a:t>Restart the END function processing on the modified packet</a:t>
            </a:r>
          </a:p>
          <a:p>
            <a:pPr lvl="3"/>
            <a:r>
              <a:rPr lang="en-US" sz="1600" dirty="0"/>
              <a:t>Decrement Segments Left, update DA</a:t>
            </a:r>
          </a:p>
          <a:p>
            <a:pPr lvl="3"/>
            <a:r>
              <a:rPr lang="en-US" sz="1600" dirty="0"/>
              <a:t>Forward according to new DA</a:t>
            </a:r>
            <a:endParaRPr lang="en-US" sz="1067" dirty="0"/>
          </a:p>
          <a:p>
            <a:r>
              <a:rPr lang="en-US" sz="2400" dirty="0"/>
              <a:t>Node 6 advertises prefix A6::/64</a:t>
            </a:r>
          </a:p>
          <a:p>
            <a:r>
              <a:rPr lang="en-US" sz="2400" dirty="0"/>
              <a:t>A6:: is the last segment in the top SRH</a:t>
            </a:r>
          </a:p>
        </p:txBody>
      </p:sp>
      <p:sp>
        <p:nvSpPr>
          <p:cNvPr id="4" name="Text Placeholder 3">
            <a:extLst>
              <a:ext uri="{FF2B5EF4-FFF2-40B4-BE49-F238E27FC236}">
                <a16:creationId xmlns:a16="http://schemas.microsoft.com/office/drawing/2014/main" id="{0608EDEF-7C58-A670-8F61-64E6E3457A53}"/>
              </a:ext>
            </a:extLst>
          </p:cNvPr>
          <p:cNvSpPr>
            <a:spLocks noGrp="1"/>
          </p:cNvSpPr>
          <p:nvPr>
            <p:ph type="body" sz="quarter" idx="11"/>
          </p:nvPr>
        </p:nvSpPr>
        <p:spPr/>
        <p:txBody>
          <a:bodyPr/>
          <a:lstStyle/>
          <a:p>
            <a:r>
              <a:rPr lang="en-US" sz="3600" dirty="0"/>
              <a:t>END.USP </a:t>
            </a:r>
            <a:r>
              <a:rPr lang="mr-IN" sz="3600" dirty="0"/>
              <a:t>–</a:t>
            </a:r>
            <a:r>
              <a:rPr lang="en-US" sz="3600" dirty="0"/>
              <a:t> Ultimate Segment Popping</a:t>
            </a:r>
            <a:endParaRPr lang="en-US" dirty="0"/>
          </a:p>
        </p:txBody>
      </p:sp>
      <p:cxnSp>
        <p:nvCxnSpPr>
          <p:cNvPr id="21" name="Conector recto de flecha 27"/>
          <p:cNvCxnSpPr>
            <a:endCxn id="22" idx="2"/>
          </p:cNvCxnSpPr>
          <p:nvPr/>
        </p:nvCxnSpPr>
        <p:spPr>
          <a:xfrm>
            <a:off x="4852445" y="5574811"/>
            <a:ext cx="920792" cy="0"/>
          </a:xfrm>
          <a:prstGeom prst="straightConnector1">
            <a:avLst/>
          </a:prstGeom>
          <a:ln w="317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2" name="Elipse 11"/>
          <p:cNvSpPr/>
          <p:nvPr/>
        </p:nvSpPr>
        <p:spPr>
          <a:xfrm>
            <a:off x="5773237" y="5229599"/>
            <a:ext cx="690424" cy="690424"/>
          </a:xfrm>
          <a:prstGeom prst="ellipse">
            <a:avLst/>
          </a:prstGeom>
          <a:noFill/>
          <a:ln w="317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s-ES_tradnl" sz="1200" b="1" dirty="0">
                <a:solidFill>
                  <a:srgbClr val="676767"/>
                </a:solidFill>
              </a:rPr>
              <a:t>6</a:t>
            </a:r>
          </a:p>
          <a:p>
            <a:pPr algn="ctr"/>
            <a:r>
              <a:rPr lang="es-ES_tradnl" sz="1067" dirty="0">
                <a:solidFill>
                  <a:srgbClr val="676767"/>
                </a:solidFill>
              </a:rPr>
              <a:t>A6:: /64</a:t>
            </a:r>
            <a:endParaRPr lang="es-ES_tradnl" sz="1200" dirty="0">
              <a:solidFill>
                <a:srgbClr val="676767"/>
              </a:solidFill>
            </a:endParaRPr>
          </a:p>
        </p:txBody>
      </p:sp>
      <p:cxnSp>
        <p:nvCxnSpPr>
          <p:cNvPr id="36" name="Conector recto de flecha 27"/>
          <p:cNvCxnSpPr/>
          <p:nvPr/>
        </p:nvCxnSpPr>
        <p:spPr>
          <a:xfrm>
            <a:off x="6463661" y="5560109"/>
            <a:ext cx="920792" cy="0"/>
          </a:xfrm>
          <a:prstGeom prst="straightConnector1">
            <a:avLst/>
          </a:prstGeom>
          <a:ln w="317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grpSp>
        <p:nvGrpSpPr>
          <p:cNvPr id="83" name="Group 82"/>
          <p:cNvGrpSpPr/>
          <p:nvPr/>
        </p:nvGrpSpPr>
        <p:grpSpPr>
          <a:xfrm>
            <a:off x="2447360" y="5130420"/>
            <a:ext cx="2302467" cy="859389"/>
            <a:chOff x="2903692" y="1671260"/>
            <a:chExt cx="1726850" cy="644542"/>
          </a:xfrm>
        </p:grpSpPr>
        <p:grpSp>
          <p:nvGrpSpPr>
            <p:cNvPr id="84" name="Group 83"/>
            <p:cNvGrpSpPr/>
            <p:nvPr/>
          </p:nvGrpSpPr>
          <p:grpSpPr>
            <a:xfrm>
              <a:off x="2903693" y="1671260"/>
              <a:ext cx="1726846" cy="161131"/>
              <a:chOff x="2903694" y="1993537"/>
              <a:chExt cx="1726846" cy="161131"/>
            </a:xfrm>
          </p:grpSpPr>
          <p:sp>
            <p:nvSpPr>
              <p:cNvPr id="94" name="Rectángulo redondeado 64"/>
              <p:cNvSpPr/>
              <p:nvPr/>
            </p:nvSpPr>
            <p:spPr>
              <a:xfrm rot="16200000">
                <a:off x="3054900" y="1842331"/>
                <a:ext cx="161130" cy="463542"/>
              </a:xfrm>
              <a:prstGeom prst="round1Rect">
                <a:avLst/>
              </a:prstGeom>
              <a:solidFill>
                <a:schemeClr val="accent4">
                  <a:lumMod val="75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 lIns="0" tIns="0" rIns="0" bIns="0" rtlCol="0" anchor="ctr"/>
              <a:lstStyle/>
              <a:p>
                <a:pPr algn="ctr"/>
                <a:r>
                  <a:rPr lang="es-ES_tradnl" sz="1067" dirty="0">
                    <a:solidFill>
                      <a:srgbClr val="FFFFFF"/>
                    </a:solidFill>
                  </a:rPr>
                  <a:t>IPv6 </a:t>
                </a:r>
                <a:r>
                  <a:rPr lang="es-ES_tradnl" sz="1067" dirty="0" err="1">
                    <a:solidFill>
                      <a:srgbClr val="FFFFFF"/>
                    </a:solidFill>
                  </a:rPr>
                  <a:t>Hdr</a:t>
                </a:r>
                <a:endParaRPr lang="es-ES_tradnl" sz="1067" b="1" dirty="0">
                  <a:solidFill>
                    <a:srgbClr val="FFC000"/>
                  </a:solidFill>
                </a:endParaRPr>
              </a:p>
            </p:txBody>
          </p:sp>
          <p:sp>
            <p:nvSpPr>
              <p:cNvPr id="95" name="Rectángulo redondeado 64"/>
              <p:cNvSpPr/>
              <p:nvPr/>
            </p:nvSpPr>
            <p:spPr>
              <a:xfrm>
                <a:off x="3367237" y="1993537"/>
                <a:ext cx="1263303" cy="161131"/>
              </a:xfrm>
              <a:prstGeom prst="round1Rect">
                <a:avLst/>
              </a:prstGeom>
              <a:solidFill>
                <a:schemeClr val="accent4">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r>
                  <a:rPr lang="es-ES_tradnl" sz="1067" dirty="0">
                    <a:solidFill>
                      <a:srgbClr val="676767"/>
                    </a:solidFill>
                  </a:rPr>
                  <a:t>SA = </a:t>
                </a:r>
                <a:r>
                  <a:rPr lang="ru-RU" sz="1067" dirty="0">
                    <a:solidFill>
                      <a:srgbClr val="676767"/>
                    </a:solidFill>
                  </a:rPr>
                  <a:t>A1::</a:t>
                </a:r>
                <a:r>
                  <a:rPr lang="es-ES_tradnl" sz="1067" dirty="0">
                    <a:solidFill>
                      <a:srgbClr val="676767"/>
                    </a:solidFill>
                  </a:rPr>
                  <a:t>, DA = </a:t>
                </a:r>
                <a:r>
                  <a:rPr lang="es-ES_tradnl" sz="1067" b="1" dirty="0">
                    <a:solidFill>
                      <a:srgbClr val="676767"/>
                    </a:solidFill>
                  </a:rPr>
                  <a:t>A6::</a:t>
                </a:r>
              </a:p>
            </p:txBody>
          </p:sp>
        </p:grpSp>
        <p:grpSp>
          <p:nvGrpSpPr>
            <p:cNvPr id="85" name="Group 84"/>
            <p:cNvGrpSpPr/>
            <p:nvPr/>
          </p:nvGrpSpPr>
          <p:grpSpPr>
            <a:xfrm>
              <a:off x="2903692" y="1993534"/>
              <a:ext cx="1726848" cy="161132"/>
              <a:chOff x="2903692" y="1993534"/>
              <a:chExt cx="1726848" cy="161132"/>
            </a:xfrm>
          </p:grpSpPr>
          <p:sp>
            <p:nvSpPr>
              <p:cNvPr id="92" name="Rectángulo redondeado 65"/>
              <p:cNvSpPr/>
              <p:nvPr/>
            </p:nvSpPr>
            <p:spPr>
              <a:xfrm>
                <a:off x="2903692" y="1993535"/>
                <a:ext cx="463545" cy="161131"/>
              </a:xfrm>
              <a:prstGeom prst="rect">
                <a:avLst/>
              </a:prstGeom>
              <a:solidFill>
                <a:schemeClr val="tx2">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FFFFFF"/>
                    </a:solidFill>
                  </a:rPr>
                  <a:t>SR </a:t>
                </a:r>
                <a:r>
                  <a:rPr lang="es-ES_tradnl" sz="1067" dirty="0" err="1">
                    <a:solidFill>
                      <a:srgbClr val="FFFFFF"/>
                    </a:solidFill>
                  </a:rPr>
                  <a:t>Hdr</a:t>
                </a:r>
                <a:endParaRPr lang="es-ES_tradnl" sz="1067" dirty="0">
                  <a:solidFill>
                    <a:srgbClr val="FFFFFF"/>
                  </a:solidFill>
                </a:endParaRPr>
              </a:p>
            </p:txBody>
          </p:sp>
          <p:sp>
            <p:nvSpPr>
              <p:cNvPr id="93" name="Rectángulo redondeado 65"/>
              <p:cNvSpPr/>
              <p:nvPr/>
            </p:nvSpPr>
            <p:spPr>
              <a:xfrm>
                <a:off x="3367237" y="1993534"/>
                <a:ext cx="1263303" cy="161131"/>
              </a:xfrm>
              <a:prstGeom prst="rect">
                <a:avLst/>
              </a:prstGeom>
              <a:solidFill>
                <a:schemeClr val="tx2">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676767"/>
                    </a:solidFill>
                  </a:rPr>
                  <a:t>( </a:t>
                </a:r>
                <a:r>
                  <a:rPr lang="mr-IN" sz="1067" dirty="0">
                    <a:solidFill>
                      <a:srgbClr val="676767"/>
                    </a:solidFill>
                  </a:rPr>
                  <a:t>…</a:t>
                </a:r>
                <a:r>
                  <a:rPr lang="en-US" sz="1067" dirty="0">
                    <a:solidFill>
                      <a:srgbClr val="676767"/>
                    </a:solidFill>
                  </a:rPr>
                  <a:t>, A8::, </a:t>
                </a:r>
                <a:r>
                  <a:rPr lang="en-US" sz="1067" dirty="0">
                    <a:solidFill>
                      <a:srgbClr val="FA661C"/>
                    </a:solidFill>
                  </a:rPr>
                  <a:t>A7::</a:t>
                </a:r>
                <a:r>
                  <a:rPr lang="en-US" sz="1067" dirty="0">
                    <a:solidFill>
                      <a:srgbClr val="676767"/>
                    </a:solidFill>
                  </a:rPr>
                  <a:t>, </a:t>
                </a:r>
                <a:r>
                  <a:rPr lang="mr-IN" sz="1067" dirty="0">
                    <a:solidFill>
                      <a:srgbClr val="676767"/>
                    </a:solidFill>
                  </a:rPr>
                  <a:t>…</a:t>
                </a:r>
                <a:r>
                  <a:rPr lang="en-US" sz="1067" dirty="0">
                    <a:solidFill>
                      <a:srgbClr val="676767"/>
                    </a:solidFill>
                  </a:rPr>
                  <a:t> </a:t>
                </a:r>
                <a:r>
                  <a:rPr lang="es-ES_tradnl" sz="1067" dirty="0">
                    <a:solidFill>
                      <a:srgbClr val="676767"/>
                    </a:solidFill>
                  </a:rPr>
                  <a:t>) SL=k</a:t>
                </a:r>
              </a:p>
            </p:txBody>
          </p:sp>
        </p:grpSp>
        <p:grpSp>
          <p:nvGrpSpPr>
            <p:cNvPr id="86" name="Group 85"/>
            <p:cNvGrpSpPr/>
            <p:nvPr/>
          </p:nvGrpSpPr>
          <p:grpSpPr>
            <a:xfrm>
              <a:off x="2903692" y="2154669"/>
              <a:ext cx="1726850" cy="161133"/>
              <a:chOff x="3435803" y="2345673"/>
              <a:chExt cx="1620002" cy="161133"/>
            </a:xfrm>
          </p:grpSpPr>
          <p:sp>
            <p:nvSpPr>
              <p:cNvPr id="90" name="Rectángulo redondeado 66"/>
              <p:cNvSpPr/>
              <p:nvPr/>
            </p:nvSpPr>
            <p:spPr>
              <a:xfrm rot="10800000">
                <a:off x="3435805" y="2345675"/>
                <a:ext cx="1620000" cy="161131"/>
              </a:xfrm>
              <a:prstGeom prst="round2SameRect">
                <a:avLst/>
              </a:prstGeom>
              <a:solidFill>
                <a:schemeClr val="tx1">
                  <a:lumMod val="40000"/>
                  <a:lumOff val="60000"/>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endParaRPr lang="es-ES_tradnl" sz="1067" dirty="0">
                  <a:solidFill>
                    <a:srgbClr val="FFFFFF"/>
                  </a:solidFill>
                </a:endParaRPr>
              </a:p>
            </p:txBody>
          </p:sp>
          <p:sp>
            <p:nvSpPr>
              <p:cNvPr id="91" name="TextBox 90"/>
              <p:cNvSpPr txBox="1"/>
              <p:nvPr/>
            </p:nvSpPr>
            <p:spPr>
              <a:xfrm>
                <a:off x="3435803" y="2345673"/>
                <a:ext cx="1619999" cy="161131"/>
              </a:xfrm>
              <a:prstGeom prst="rect">
                <a:avLst/>
              </a:prstGeom>
              <a:noFill/>
            </p:spPr>
            <p:txBody>
              <a:bodyPr wrap="square" lIns="0" tIns="0" rIns="0" bIns="0" rtlCol="0" anchor="ctr">
                <a:normAutofit/>
              </a:bodyPr>
              <a:lstStyle/>
              <a:p>
                <a:pPr algn="ctr"/>
                <a:r>
                  <a:rPr lang="es-ES_tradnl" sz="1067" dirty="0" err="1">
                    <a:solidFill>
                      <a:srgbClr val="FFFFFF">
                        <a:lumMod val="50000"/>
                      </a:srgbClr>
                    </a:solidFill>
                    <a:latin typeface="Arial"/>
                  </a:rPr>
                  <a:t>Payload</a:t>
                </a:r>
                <a:endParaRPr lang="es-ES_tradnl" sz="1067" dirty="0">
                  <a:solidFill>
                    <a:srgbClr val="FFFFFF">
                      <a:lumMod val="50000"/>
                    </a:srgbClr>
                  </a:solidFill>
                  <a:latin typeface="Arial"/>
                </a:endParaRPr>
              </a:p>
            </p:txBody>
          </p:sp>
        </p:grpSp>
        <p:grpSp>
          <p:nvGrpSpPr>
            <p:cNvPr id="87" name="Group 86"/>
            <p:cNvGrpSpPr/>
            <p:nvPr/>
          </p:nvGrpSpPr>
          <p:grpSpPr>
            <a:xfrm>
              <a:off x="2903692" y="1832396"/>
              <a:ext cx="1726848" cy="161132"/>
              <a:chOff x="2903692" y="2154667"/>
              <a:chExt cx="1726848" cy="161132"/>
            </a:xfrm>
          </p:grpSpPr>
          <p:sp>
            <p:nvSpPr>
              <p:cNvPr id="88" name="Rectángulo redondeado 65"/>
              <p:cNvSpPr/>
              <p:nvPr/>
            </p:nvSpPr>
            <p:spPr>
              <a:xfrm>
                <a:off x="2903692" y="2154668"/>
                <a:ext cx="463545" cy="161131"/>
              </a:xfrm>
              <a:prstGeom prst="rect">
                <a:avLst/>
              </a:prstGeom>
              <a:solidFill>
                <a:srgbClr val="7030A0">
                  <a:alpha val="8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FFFFFF"/>
                    </a:solidFill>
                  </a:rPr>
                  <a:t>SR </a:t>
                </a:r>
                <a:r>
                  <a:rPr lang="es-ES_tradnl" sz="1067" dirty="0" err="1">
                    <a:solidFill>
                      <a:srgbClr val="FFFFFF"/>
                    </a:solidFill>
                  </a:rPr>
                  <a:t>Hdr</a:t>
                </a:r>
                <a:endParaRPr lang="es-ES_tradnl" sz="1067" dirty="0">
                  <a:solidFill>
                    <a:srgbClr val="FFFFFF"/>
                  </a:solidFill>
                </a:endParaRPr>
              </a:p>
            </p:txBody>
          </p:sp>
          <p:sp>
            <p:nvSpPr>
              <p:cNvPr id="89" name="Rectángulo redondeado 65"/>
              <p:cNvSpPr/>
              <p:nvPr/>
            </p:nvSpPr>
            <p:spPr>
              <a:xfrm>
                <a:off x="3367237" y="2154667"/>
                <a:ext cx="1263303" cy="161131"/>
              </a:xfrm>
              <a:prstGeom prst="rect">
                <a:avLst/>
              </a:prstGeom>
              <a:solidFill>
                <a:srgbClr val="D7ACD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067" dirty="0">
                    <a:solidFill>
                      <a:srgbClr val="676767"/>
                    </a:solidFill>
                  </a:rPr>
                  <a:t>( </a:t>
                </a:r>
                <a:r>
                  <a:rPr lang="es-ES_tradnl" sz="1067" dirty="0">
                    <a:solidFill>
                      <a:srgbClr val="FA661C"/>
                    </a:solidFill>
                  </a:rPr>
                  <a:t>A6::</a:t>
                </a:r>
                <a:r>
                  <a:rPr lang="es-ES_tradnl" sz="1067" dirty="0">
                    <a:solidFill>
                      <a:srgbClr val="676767"/>
                    </a:solidFill>
                  </a:rPr>
                  <a:t>,</a:t>
                </a:r>
                <a:r>
                  <a:rPr lang="mr-IN" sz="1067" dirty="0">
                    <a:solidFill>
                      <a:srgbClr val="676767"/>
                    </a:solidFill>
                  </a:rPr>
                  <a:t>…</a:t>
                </a:r>
                <a:r>
                  <a:rPr lang="en-US" sz="1067" dirty="0">
                    <a:solidFill>
                      <a:srgbClr val="676767"/>
                    </a:solidFill>
                  </a:rPr>
                  <a:t> </a:t>
                </a:r>
                <a:r>
                  <a:rPr lang="es-ES_tradnl" sz="1067" dirty="0">
                    <a:solidFill>
                      <a:srgbClr val="676767"/>
                    </a:solidFill>
                  </a:rPr>
                  <a:t>) SL=0</a:t>
                </a:r>
              </a:p>
            </p:txBody>
          </p:sp>
        </p:grpSp>
      </p:grpSp>
    </p:spTree>
    <p:extLst>
      <p:ext uri="{BB962C8B-B14F-4D97-AF65-F5344CB8AC3E}">
        <p14:creationId xmlns:p14="http://schemas.microsoft.com/office/powerpoint/2010/main" val="101931069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p:txBody>
          <a:bodyPr/>
          <a:lstStyle/>
          <a:p>
            <a:r>
              <a:rPr lang="en-US" dirty="0"/>
              <a:t>SID functions are locally defined on their parent node</a:t>
            </a:r>
          </a:p>
          <a:p>
            <a:pPr lvl="1"/>
            <a:r>
              <a:rPr lang="en-US" dirty="0"/>
              <a:t>They can do anything</a:t>
            </a:r>
            <a:r>
              <a:rPr lang="mr-IN" dirty="0"/>
              <a:t>…</a:t>
            </a:r>
            <a:endParaRPr lang="en-US" dirty="0"/>
          </a:p>
          <a:p>
            <a:r>
              <a:rPr lang="en-US" dirty="0"/>
              <a:t>An SR header contains a network program</a:t>
            </a:r>
          </a:p>
        </p:txBody>
      </p:sp>
      <p:sp>
        <p:nvSpPr>
          <p:cNvPr id="5" name="Text Placeholder 4">
            <a:extLst>
              <a:ext uri="{FF2B5EF4-FFF2-40B4-BE49-F238E27FC236}">
                <a16:creationId xmlns:a16="http://schemas.microsoft.com/office/drawing/2014/main" id="{3A49952C-34A2-2B2C-757F-200E2000FCC6}"/>
              </a:ext>
            </a:extLst>
          </p:cNvPr>
          <p:cNvSpPr>
            <a:spLocks noGrp="1"/>
          </p:cNvSpPr>
          <p:nvPr>
            <p:ph type="body" sz="quarter" idx="11"/>
          </p:nvPr>
        </p:nvSpPr>
        <p:spPr/>
        <p:txBody>
          <a:bodyPr/>
          <a:lstStyle/>
          <a:p>
            <a:r>
              <a:rPr lang="en-US" dirty="0"/>
              <a:t>SID Function </a:t>
            </a:r>
            <a:r>
              <a:rPr lang="mr-IN" dirty="0"/>
              <a:t>–</a:t>
            </a:r>
            <a:r>
              <a:rPr lang="en-US" dirty="0"/>
              <a:t> Anything</a:t>
            </a:r>
          </a:p>
        </p:txBody>
      </p:sp>
      <p:grpSp>
        <p:nvGrpSpPr>
          <p:cNvPr id="31" name="Group 30"/>
          <p:cNvGrpSpPr/>
          <p:nvPr/>
        </p:nvGrpSpPr>
        <p:grpSpPr>
          <a:xfrm>
            <a:off x="2935757" y="3892411"/>
            <a:ext cx="5271185" cy="2053685"/>
            <a:chOff x="2323737" y="3203788"/>
            <a:chExt cx="3953389" cy="1540264"/>
          </a:xfrm>
        </p:grpSpPr>
        <p:grpSp>
          <p:nvGrpSpPr>
            <p:cNvPr id="4" name="Group 3"/>
            <p:cNvGrpSpPr/>
            <p:nvPr/>
          </p:nvGrpSpPr>
          <p:grpSpPr>
            <a:xfrm>
              <a:off x="2323737" y="3203788"/>
              <a:ext cx="3953389" cy="1540264"/>
              <a:chOff x="411988" y="3519471"/>
              <a:chExt cx="3953389" cy="1540264"/>
            </a:xfrm>
          </p:grpSpPr>
          <p:sp>
            <p:nvSpPr>
              <p:cNvPr id="23" name="Rectángulo redondeado 65"/>
              <p:cNvSpPr/>
              <p:nvPr/>
            </p:nvSpPr>
            <p:spPr>
              <a:xfrm rot="16200000">
                <a:off x="-259252" y="4190711"/>
                <a:ext cx="1540264" cy="197783"/>
              </a:xfrm>
              <a:prstGeom prst="rect">
                <a:avLst/>
              </a:prstGeom>
              <a:solidFill>
                <a:schemeClr val="tx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sz="1467" dirty="0">
                    <a:solidFill>
                      <a:srgbClr val="FFFFFF"/>
                    </a:solidFill>
                  </a:rPr>
                  <a:t>SR </a:t>
                </a:r>
                <a:r>
                  <a:rPr lang="es-ES_tradnl" sz="1467" dirty="0" err="1">
                    <a:solidFill>
                      <a:srgbClr val="FFFFFF"/>
                    </a:solidFill>
                  </a:rPr>
                  <a:t>Hdr</a:t>
                </a:r>
                <a:endParaRPr lang="es-ES_tradnl" sz="1467" dirty="0">
                  <a:solidFill>
                    <a:srgbClr val="FFFFFF"/>
                  </a:solidFill>
                </a:endParaRPr>
              </a:p>
            </p:txBody>
          </p:sp>
          <p:sp>
            <p:nvSpPr>
              <p:cNvPr id="12" name="Rectangle 11"/>
              <p:cNvSpPr/>
              <p:nvPr/>
            </p:nvSpPr>
            <p:spPr>
              <a:xfrm>
                <a:off x="609795" y="3963776"/>
                <a:ext cx="3755581" cy="221064"/>
              </a:xfrm>
              <a:prstGeom prst="rect">
                <a:avLst/>
              </a:prstGeom>
              <a:solidFill>
                <a:schemeClr val="tx2">
                  <a:lumMod val="20000"/>
                  <a:lumOff val="80000"/>
                </a:schemeClr>
              </a:solidFill>
              <a:ln w="9525">
                <a:solidFill>
                  <a:schemeClr val="tx2">
                    <a:lumMod val="40000"/>
                    <a:lumOff val="6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Segment List [ 0 ]</a:t>
                </a:r>
              </a:p>
            </p:txBody>
          </p:sp>
          <p:sp>
            <p:nvSpPr>
              <p:cNvPr id="13" name="Rectangle 12"/>
              <p:cNvSpPr/>
              <p:nvPr/>
            </p:nvSpPr>
            <p:spPr>
              <a:xfrm>
                <a:off x="609795" y="4176317"/>
                <a:ext cx="3755581" cy="221064"/>
              </a:xfrm>
              <a:prstGeom prst="rect">
                <a:avLst/>
              </a:prstGeom>
              <a:solidFill>
                <a:schemeClr val="tx2">
                  <a:lumMod val="20000"/>
                  <a:lumOff val="80000"/>
                </a:schemeClr>
              </a:solidFill>
              <a:ln w="9525">
                <a:solidFill>
                  <a:schemeClr val="tx2">
                    <a:lumMod val="40000"/>
                    <a:lumOff val="6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Segment List [ 1 ]</a:t>
                </a:r>
              </a:p>
            </p:txBody>
          </p:sp>
          <p:sp>
            <p:nvSpPr>
              <p:cNvPr id="14" name="Rectangle 13"/>
              <p:cNvSpPr/>
              <p:nvPr/>
            </p:nvSpPr>
            <p:spPr>
              <a:xfrm>
                <a:off x="609798" y="3520559"/>
                <a:ext cx="938895" cy="221064"/>
              </a:xfrm>
              <a:prstGeom prst="rect">
                <a:avLst/>
              </a:prstGeom>
              <a:solidFill>
                <a:schemeClr val="tx2">
                  <a:lumMod val="20000"/>
                  <a:lumOff val="80000"/>
                </a:schemeClr>
              </a:solidFill>
              <a:ln w="9525">
                <a:solidFill>
                  <a:schemeClr val="tx2">
                    <a:lumMod val="40000"/>
                    <a:lumOff val="6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676767">
                        <a:lumMod val="60000"/>
                        <a:lumOff val="40000"/>
                      </a:srgbClr>
                    </a:solidFill>
                  </a:rPr>
                  <a:t>Next Header</a:t>
                </a:r>
              </a:p>
            </p:txBody>
          </p:sp>
          <p:sp>
            <p:nvSpPr>
              <p:cNvPr id="15" name="Rectangle 14"/>
              <p:cNvSpPr/>
              <p:nvPr/>
            </p:nvSpPr>
            <p:spPr>
              <a:xfrm>
                <a:off x="1548693" y="3521648"/>
                <a:ext cx="938895" cy="221064"/>
              </a:xfrm>
              <a:prstGeom prst="rect">
                <a:avLst/>
              </a:prstGeom>
              <a:solidFill>
                <a:schemeClr val="tx2">
                  <a:lumMod val="20000"/>
                  <a:lumOff val="80000"/>
                </a:schemeClr>
              </a:solidFill>
              <a:ln w="9525">
                <a:solidFill>
                  <a:schemeClr val="tx2">
                    <a:lumMod val="40000"/>
                    <a:lumOff val="6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lumMod val="60000"/>
                        <a:lumOff val="40000"/>
                      </a:srgbClr>
                    </a:solidFill>
                  </a:rPr>
                  <a:t>Len= 6</a:t>
                </a:r>
              </a:p>
            </p:txBody>
          </p:sp>
          <p:sp>
            <p:nvSpPr>
              <p:cNvPr id="16" name="Rectangle 15"/>
              <p:cNvSpPr/>
              <p:nvPr/>
            </p:nvSpPr>
            <p:spPr>
              <a:xfrm>
                <a:off x="2487587" y="3521648"/>
                <a:ext cx="938895" cy="221064"/>
              </a:xfrm>
              <a:prstGeom prst="rect">
                <a:avLst/>
              </a:prstGeom>
              <a:solidFill>
                <a:schemeClr val="tx2">
                  <a:lumMod val="20000"/>
                  <a:lumOff val="80000"/>
                </a:schemeClr>
              </a:solidFill>
              <a:ln w="9525">
                <a:solidFill>
                  <a:schemeClr val="tx2">
                    <a:lumMod val="40000"/>
                    <a:lumOff val="6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lumMod val="60000"/>
                        <a:lumOff val="40000"/>
                      </a:srgbClr>
                    </a:solidFill>
                  </a:rPr>
                  <a:t>Type = 4</a:t>
                </a:r>
              </a:p>
            </p:txBody>
          </p:sp>
          <p:sp>
            <p:nvSpPr>
              <p:cNvPr id="17" name="Rectangle 16"/>
              <p:cNvSpPr/>
              <p:nvPr/>
            </p:nvSpPr>
            <p:spPr>
              <a:xfrm>
                <a:off x="3426482" y="3521648"/>
                <a:ext cx="938895" cy="221064"/>
              </a:xfrm>
              <a:prstGeom prst="rect">
                <a:avLst/>
              </a:prstGeom>
              <a:solidFill>
                <a:schemeClr val="tx2">
                  <a:lumMod val="20000"/>
                  <a:lumOff val="80000"/>
                </a:schemeClr>
              </a:solidFill>
              <a:ln w="9525">
                <a:solidFill>
                  <a:schemeClr val="tx2">
                    <a:lumMod val="40000"/>
                    <a:lumOff val="6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lumMod val="60000"/>
                        <a:lumOff val="40000"/>
                      </a:srgbClr>
                    </a:solidFill>
                  </a:rPr>
                  <a:t>SL = 2</a:t>
                </a:r>
              </a:p>
            </p:txBody>
          </p:sp>
          <p:sp>
            <p:nvSpPr>
              <p:cNvPr id="18" name="Rectangle 17"/>
              <p:cNvSpPr/>
              <p:nvPr/>
            </p:nvSpPr>
            <p:spPr>
              <a:xfrm>
                <a:off x="609795" y="3745361"/>
                <a:ext cx="938895" cy="218415"/>
              </a:xfrm>
              <a:prstGeom prst="rect">
                <a:avLst/>
              </a:prstGeom>
              <a:solidFill>
                <a:schemeClr val="tx2">
                  <a:lumMod val="20000"/>
                  <a:lumOff val="80000"/>
                </a:schemeClr>
              </a:solidFill>
              <a:ln w="9525">
                <a:solidFill>
                  <a:schemeClr val="tx2">
                    <a:lumMod val="40000"/>
                    <a:lumOff val="6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lumMod val="60000"/>
                        <a:lumOff val="40000"/>
                      </a:srgbClr>
                    </a:solidFill>
                  </a:rPr>
                  <a:t>First = 2</a:t>
                </a:r>
              </a:p>
            </p:txBody>
          </p:sp>
          <p:sp>
            <p:nvSpPr>
              <p:cNvPr id="19" name="Rectangle 18"/>
              <p:cNvSpPr/>
              <p:nvPr/>
            </p:nvSpPr>
            <p:spPr>
              <a:xfrm>
                <a:off x="1548689" y="3742712"/>
                <a:ext cx="938865" cy="221064"/>
              </a:xfrm>
              <a:prstGeom prst="rect">
                <a:avLst/>
              </a:prstGeom>
              <a:solidFill>
                <a:schemeClr val="tx2">
                  <a:lumMod val="20000"/>
                  <a:lumOff val="80000"/>
                </a:schemeClr>
              </a:solidFill>
              <a:ln w="9525">
                <a:solidFill>
                  <a:schemeClr val="tx2">
                    <a:lumMod val="40000"/>
                    <a:lumOff val="6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lumMod val="60000"/>
                        <a:lumOff val="40000"/>
                      </a:srgbClr>
                    </a:solidFill>
                  </a:rPr>
                  <a:t>Flags</a:t>
                </a:r>
              </a:p>
            </p:txBody>
          </p:sp>
          <p:sp>
            <p:nvSpPr>
              <p:cNvPr id="20" name="Rectangle 19"/>
              <p:cNvSpPr/>
              <p:nvPr/>
            </p:nvSpPr>
            <p:spPr>
              <a:xfrm>
                <a:off x="2487555" y="3742855"/>
                <a:ext cx="1877816" cy="221064"/>
              </a:xfrm>
              <a:prstGeom prst="rect">
                <a:avLst/>
              </a:prstGeom>
              <a:solidFill>
                <a:schemeClr val="tx2">
                  <a:lumMod val="20000"/>
                  <a:lumOff val="80000"/>
                </a:schemeClr>
              </a:solidFill>
              <a:ln w="9525">
                <a:solidFill>
                  <a:schemeClr val="tx2">
                    <a:lumMod val="40000"/>
                    <a:lumOff val="6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676767">
                        <a:lumMod val="60000"/>
                        <a:lumOff val="40000"/>
                      </a:srgbClr>
                    </a:solidFill>
                  </a:rPr>
                  <a:t>TAG</a:t>
                </a:r>
              </a:p>
            </p:txBody>
          </p:sp>
          <p:sp>
            <p:nvSpPr>
              <p:cNvPr id="22" name="Rectangle 21"/>
              <p:cNvSpPr/>
              <p:nvPr/>
            </p:nvSpPr>
            <p:spPr>
              <a:xfrm>
                <a:off x="609787" y="4386209"/>
                <a:ext cx="3755581" cy="221064"/>
              </a:xfrm>
              <a:prstGeom prst="rect">
                <a:avLst/>
              </a:prstGeom>
              <a:solidFill>
                <a:schemeClr val="tx2">
                  <a:lumMod val="20000"/>
                  <a:lumOff val="80000"/>
                </a:schemeClr>
              </a:solidFill>
              <a:ln w="9525">
                <a:solidFill>
                  <a:schemeClr val="tx2">
                    <a:lumMod val="40000"/>
                    <a:lumOff val="6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Segment List [ 2 ]</a:t>
                </a:r>
              </a:p>
            </p:txBody>
          </p:sp>
        </p:grpSp>
        <p:sp>
          <p:nvSpPr>
            <p:cNvPr id="30" name="Rectangle 29"/>
            <p:cNvSpPr/>
            <p:nvPr/>
          </p:nvSpPr>
          <p:spPr>
            <a:xfrm>
              <a:off x="2521521" y="4289112"/>
              <a:ext cx="3755597" cy="454940"/>
            </a:xfrm>
            <a:prstGeom prst="rect">
              <a:avLst/>
            </a:prstGeom>
            <a:solidFill>
              <a:schemeClr val="tx2">
                <a:lumMod val="20000"/>
                <a:lumOff val="80000"/>
              </a:schemeClr>
            </a:solidFill>
            <a:ln w="9525">
              <a:solidFill>
                <a:schemeClr val="tx2">
                  <a:lumMod val="40000"/>
                  <a:lumOff val="60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solidFill>
                    <a:srgbClr val="676767"/>
                  </a:solidFill>
                </a:rPr>
                <a:t>TLVs</a:t>
              </a:r>
            </a:p>
          </p:txBody>
        </p:sp>
      </p:grpSp>
      <p:sp>
        <p:nvSpPr>
          <p:cNvPr id="32" name="Rounded Rectangle 31"/>
          <p:cNvSpPr/>
          <p:nvPr/>
        </p:nvSpPr>
        <p:spPr>
          <a:xfrm>
            <a:off x="4863315" y="5066744"/>
            <a:ext cx="1679787" cy="257387"/>
          </a:xfrm>
          <a:prstGeom prst="roundRect">
            <a:avLst/>
          </a:prstGeom>
          <a:solidFill>
            <a:schemeClr val="accent4">
              <a:lumMod val="60000"/>
              <a:lumOff val="40000"/>
            </a:schemeClr>
          </a:solidFill>
          <a:ln w="9525">
            <a:no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33" dirty="0">
                <a:solidFill>
                  <a:srgbClr val="FFFFFF"/>
                </a:solidFill>
              </a:rPr>
              <a:t>Function 1</a:t>
            </a:r>
          </a:p>
        </p:txBody>
      </p:sp>
      <p:grpSp>
        <p:nvGrpSpPr>
          <p:cNvPr id="35" name="Group 34"/>
          <p:cNvGrpSpPr/>
          <p:nvPr/>
        </p:nvGrpSpPr>
        <p:grpSpPr>
          <a:xfrm>
            <a:off x="4863315" y="4775296"/>
            <a:ext cx="1679787" cy="257387"/>
            <a:chOff x="3366042" y="2333166"/>
            <a:chExt cx="1259840" cy="193040"/>
          </a:xfrm>
        </p:grpSpPr>
        <p:sp>
          <p:nvSpPr>
            <p:cNvPr id="36" name="Round Same Side Corner Rectangle 35"/>
            <p:cNvSpPr/>
            <p:nvPr/>
          </p:nvSpPr>
          <p:spPr>
            <a:xfrm rot="16200000">
              <a:off x="3632742" y="2066466"/>
              <a:ext cx="193040" cy="726440"/>
            </a:xfrm>
            <a:prstGeom prst="round2SameRect">
              <a:avLst/>
            </a:prstGeom>
            <a:solidFill>
              <a:schemeClr val="accent4">
                <a:lumMod val="60000"/>
                <a:lumOff val="40000"/>
              </a:schemeClr>
            </a:solidFill>
            <a:ln w="9525">
              <a:no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333" dirty="0">
                  <a:solidFill>
                    <a:srgbClr val="FFFFFF"/>
                  </a:solidFill>
                </a:rPr>
                <a:t>Function 2</a:t>
              </a:r>
            </a:p>
          </p:txBody>
        </p:sp>
        <p:sp>
          <p:nvSpPr>
            <p:cNvPr id="37" name="Round Same Side Corner Rectangle 36"/>
            <p:cNvSpPr/>
            <p:nvPr/>
          </p:nvSpPr>
          <p:spPr>
            <a:xfrm rot="5400000">
              <a:off x="4262662" y="2162986"/>
              <a:ext cx="193040" cy="533400"/>
            </a:xfrm>
            <a:prstGeom prst="round2SameRect">
              <a:avLst/>
            </a:prstGeom>
            <a:solidFill>
              <a:srgbClr val="FFD579"/>
            </a:solidFill>
            <a:ln w="9525">
              <a:no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333">
                  <a:solidFill>
                    <a:srgbClr val="FFFFFF"/>
                  </a:solidFill>
                </a:rPr>
                <a:t>Args</a:t>
              </a:r>
              <a:endParaRPr lang="en-US" sz="1333" dirty="0">
                <a:solidFill>
                  <a:srgbClr val="FFFFFF"/>
                </a:solidFill>
              </a:endParaRPr>
            </a:p>
          </p:txBody>
        </p:sp>
      </p:grpSp>
      <p:grpSp>
        <p:nvGrpSpPr>
          <p:cNvPr id="38" name="Group 37"/>
          <p:cNvGrpSpPr/>
          <p:nvPr/>
        </p:nvGrpSpPr>
        <p:grpSpPr>
          <a:xfrm>
            <a:off x="4863315" y="4498596"/>
            <a:ext cx="1679787" cy="257387"/>
            <a:chOff x="3366042" y="2333166"/>
            <a:chExt cx="1259840" cy="193040"/>
          </a:xfrm>
        </p:grpSpPr>
        <p:sp>
          <p:nvSpPr>
            <p:cNvPr id="39" name="Round Same Side Corner Rectangle 38"/>
            <p:cNvSpPr/>
            <p:nvPr/>
          </p:nvSpPr>
          <p:spPr>
            <a:xfrm rot="16200000">
              <a:off x="3632742" y="2066466"/>
              <a:ext cx="193040" cy="726440"/>
            </a:xfrm>
            <a:prstGeom prst="round2SameRect">
              <a:avLst/>
            </a:prstGeom>
            <a:solidFill>
              <a:schemeClr val="accent4">
                <a:lumMod val="60000"/>
                <a:lumOff val="40000"/>
              </a:schemeClr>
            </a:solidFill>
            <a:ln w="9525">
              <a:no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333" dirty="0">
                  <a:solidFill>
                    <a:srgbClr val="FFFFFF"/>
                  </a:solidFill>
                </a:rPr>
                <a:t>Function 3</a:t>
              </a:r>
            </a:p>
          </p:txBody>
        </p:sp>
        <p:sp>
          <p:nvSpPr>
            <p:cNvPr id="40" name="Round Same Side Corner Rectangle 39"/>
            <p:cNvSpPr/>
            <p:nvPr/>
          </p:nvSpPr>
          <p:spPr>
            <a:xfrm rot="5400000">
              <a:off x="4262662" y="2162986"/>
              <a:ext cx="193040" cy="533400"/>
            </a:xfrm>
            <a:prstGeom prst="round2SameRect">
              <a:avLst/>
            </a:prstGeom>
            <a:solidFill>
              <a:srgbClr val="FFD579"/>
            </a:solidFill>
            <a:ln w="9525">
              <a:no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333">
                  <a:solidFill>
                    <a:srgbClr val="FFFFFF"/>
                  </a:solidFill>
                </a:rPr>
                <a:t>Args</a:t>
              </a:r>
              <a:endParaRPr lang="en-US" sz="1333" dirty="0">
                <a:solidFill>
                  <a:srgbClr val="FFFFFF"/>
                </a:solidFill>
              </a:endParaRPr>
            </a:p>
          </p:txBody>
        </p:sp>
      </p:grpSp>
      <p:sp>
        <p:nvSpPr>
          <p:cNvPr id="42" name="Rounded Rectangle 41"/>
          <p:cNvSpPr/>
          <p:nvPr/>
        </p:nvSpPr>
        <p:spPr>
          <a:xfrm>
            <a:off x="3366733" y="5355024"/>
            <a:ext cx="4672951" cy="580816"/>
          </a:xfrm>
          <a:prstGeom prst="roundRect">
            <a:avLst/>
          </a:prstGeom>
          <a:solidFill>
            <a:srgbClr val="AB7FD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solidFill>
                <a:srgbClr val="FFFFFF"/>
              </a:solidFill>
            </a:endParaRPr>
          </a:p>
        </p:txBody>
      </p:sp>
      <p:grpSp>
        <p:nvGrpSpPr>
          <p:cNvPr id="64" name="Group 63"/>
          <p:cNvGrpSpPr/>
          <p:nvPr/>
        </p:nvGrpSpPr>
        <p:grpSpPr>
          <a:xfrm>
            <a:off x="5730484" y="5405432"/>
            <a:ext cx="1716939" cy="480000"/>
            <a:chOff x="7320280" y="3707669"/>
            <a:chExt cx="1287704" cy="360000"/>
          </a:xfrm>
        </p:grpSpPr>
        <p:grpSp>
          <p:nvGrpSpPr>
            <p:cNvPr id="61" name="Group 60"/>
            <p:cNvGrpSpPr/>
            <p:nvPr/>
          </p:nvGrpSpPr>
          <p:grpSpPr>
            <a:xfrm>
              <a:off x="8247984" y="3707669"/>
              <a:ext cx="360000" cy="360000"/>
              <a:chOff x="5334561" y="3161488"/>
              <a:chExt cx="856526" cy="899006"/>
            </a:xfrm>
          </p:grpSpPr>
          <p:sp>
            <p:nvSpPr>
              <p:cNvPr id="53" name="Rectangle 52"/>
              <p:cNvSpPr/>
              <p:nvPr/>
            </p:nvSpPr>
            <p:spPr>
              <a:xfrm>
                <a:off x="5334561" y="3161488"/>
                <a:ext cx="856526" cy="899006"/>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solidFill>
                    <a:srgbClr val="FFFFFF"/>
                  </a:solidFill>
                </a:endParaRPr>
              </a:p>
            </p:txBody>
          </p:sp>
          <p:pic>
            <p:nvPicPr>
              <p:cNvPr id="54" name="Picture 6" descr="Image result for performa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3359" y="3250649"/>
                <a:ext cx="718930" cy="72068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2" name="Group 61"/>
            <p:cNvGrpSpPr/>
            <p:nvPr/>
          </p:nvGrpSpPr>
          <p:grpSpPr>
            <a:xfrm>
              <a:off x="7320280" y="3707669"/>
              <a:ext cx="360000" cy="360000"/>
              <a:chOff x="6295260" y="3161488"/>
              <a:chExt cx="856526" cy="899006"/>
            </a:xfrm>
          </p:grpSpPr>
          <p:sp>
            <p:nvSpPr>
              <p:cNvPr id="55" name="Rectangle 54"/>
              <p:cNvSpPr/>
              <p:nvPr/>
            </p:nvSpPr>
            <p:spPr>
              <a:xfrm>
                <a:off x="6295260" y="3161488"/>
                <a:ext cx="856526" cy="899006"/>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solidFill>
                    <a:srgbClr val="FFFFFF"/>
                  </a:solidFill>
                </a:endParaRPr>
              </a:p>
            </p:txBody>
          </p:sp>
          <p:pic>
            <p:nvPicPr>
              <p:cNvPr id="56" name="Picture 4" descr="Related 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35769" y="3217863"/>
                <a:ext cx="779529" cy="77952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3" name="Group 62"/>
            <p:cNvGrpSpPr/>
            <p:nvPr/>
          </p:nvGrpSpPr>
          <p:grpSpPr>
            <a:xfrm>
              <a:off x="7784132" y="3707669"/>
              <a:ext cx="360000" cy="360000"/>
              <a:chOff x="7261746" y="3158124"/>
              <a:chExt cx="856526" cy="899006"/>
            </a:xfrm>
          </p:grpSpPr>
          <p:sp>
            <p:nvSpPr>
              <p:cNvPr id="57" name="Rectangle 56"/>
              <p:cNvSpPr/>
              <p:nvPr/>
            </p:nvSpPr>
            <p:spPr>
              <a:xfrm>
                <a:off x="7261746" y="3158124"/>
                <a:ext cx="856526" cy="899006"/>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solidFill>
                    <a:srgbClr val="FFFFFF"/>
                  </a:solidFill>
                </a:endParaRPr>
              </a:p>
            </p:txBody>
          </p:sp>
          <p:pic>
            <p:nvPicPr>
              <p:cNvPr id="58" name="Picture 2" descr="Image result for user i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35040" y="3313897"/>
                <a:ext cx="721512" cy="59418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44" name="TextBox 43"/>
          <p:cNvSpPr txBox="1"/>
          <p:nvPr/>
        </p:nvSpPr>
        <p:spPr>
          <a:xfrm>
            <a:off x="3444241" y="5460767"/>
            <a:ext cx="1882239" cy="338554"/>
          </a:xfrm>
          <a:prstGeom prst="rect">
            <a:avLst/>
          </a:prstGeom>
          <a:noFill/>
        </p:spPr>
        <p:txBody>
          <a:bodyPr wrap="square" rtlCol="0">
            <a:spAutoFit/>
          </a:bodyPr>
          <a:lstStyle/>
          <a:p>
            <a:pPr algn="ctr"/>
            <a:r>
              <a:rPr lang="en-US" sz="1600" dirty="0">
                <a:solidFill>
                  <a:srgbClr val="FFFFFF"/>
                </a:solidFill>
              </a:rPr>
              <a:t>Global arguments</a:t>
            </a:r>
            <a:endParaRPr lang="fr-FR" sz="1600" dirty="0">
              <a:solidFill>
                <a:srgbClr val="FFFFFF"/>
              </a:solidFill>
            </a:endParaRPr>
          </a:p>
        </p:txBody>
      </p:sp>
    </p:spTree>
    <p:extLst>
      <p:ext uri="{BB962C8B-B14F-4D97-AF65-F5344CB8AC3E}">
        <p14:creationId xmlns:p14="http://schemas.microsoft.com/office/powerpoint/2010/main" val="2572917745"/>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EFECCA-6455-3A36-2C61-D01EE5919086}"/>
              </a:ext>
            </a:extLst>
          </p:cNvPr>
          <p:cNvSpPr>
            <a:spLocks noGrp="1"/>
          </p:cNvSpPr>
          <p:nvPr>
            <p:ph type="body" sz="quarter" idx="10"/>
          </p:nvPr>
        </p:nvSpPr>
        <p:spPr>
          <a:xfrm>
            <a:off x="873918" y="926799"/>
            <a:ext cx="10954667" cy="5450555"/>
          </a:xfrm>
        </p:spPr>
        <p:txBody>
          <a:bodyPr/>
          <a:lstStyle/>
          <a:p>
            <a:pPr>
              <a:spcBef>
                <a:spcPts val="0"/>
              </a:spcBef>
            </a:pPr>
            <a:r>
              <a:rPr lang="en-US" sz="1600" b="1" dirty="0"/>
              <a:t>End</a:t>
            </a:r>
            <a:r>
              <a:rPr lang="en-US" sz="1600" dirty="0"/>
              <a:t> Endpoint function The SRv6 instantiation of a prefix SID</a:t>
            </a:r>
          </a:p>
          <a:p>
            <a:pPr>
              <a:spcBef>
                <a:spcPts val="0"/>
              </a:spcBef>
            </a:pPr>
            <a:r>
              <a:rPr lang="en-US" sz="1600" b="1" dirty="0" err="1"/>
              <a:t>End.X</a:t>
            </a:r>
            <a:r>
              <a:rPr lang="en-US" sz="1600" dirty="0"/>
              <a:t> Endpoint function with Layer-3 cross-connect The SRv6 instantiation of a Adj SID</a:t>
            </a:r>
          </a:p>
          <a:p>
            <a:pPr>
              <a:spcBef>
                <a:spcPts val="0"/>
              </a:spcBef>
            </a:pPr>
            <a:r>
              <a:rPr lang="en-US" sz="1600" b="1" dirty="0" err="1"/>
              <a:t>End.T</a:t>
            </a:r>
            <a:r>
              <a:rPr lang="en-US" sz="1600" dirty="0"/>
              <a:t> Endpoint function with specific IPv6 table lookup</a:t>
            </a:r>
          </a:p>
          <a:p>
            <a:pPr>
              <a:spcBef>
                <a:spcPts val="0"/>
              </a:spcBef>
            </a:pPr>
            <a:r>
              <a:rPr lang="en-US" sz="1600" b="1" dirty="0"/>
              <a:t>End.DX2 </a:t>
            </a:r>
            <a:r>
              <a:rPr lang="en-US" sz="1600" dirty="0"/>
              <a:t>Endpoint with decapsulation and Layer-2 cross-connect L2VPN use-case</a:t>
            </a:r>
          </a:p>
          <a:p>
            <a:pPr>
              <a:spcBef>
                <a:spcPts val="0"/>
              </a:spcBef>
            </a:pPr>
            <a:r>
              <a:rPr lang="en-US" sz="1600" b="1" dirty="0"/>
              <a:t>End.DX2V </a:t>
            </a:r>
            <a:r>
              <a:rPr lang="en-US" sz="1600" dirty="0"/>
              <a:t>Endpoint with decapsulation and VLAN L2 table lookup EVPN Flexible cross-connect use-cases</a:t>
            </a:r>
          </a:p>
          <a:p>
            <a:pPr>
              <a:spcBef>
                <a:spcPts val="0"/>
              </a:spcBef>
            </a:pPr>
            <a:r>
              <a:rPr lang="en-US" sz="1600" b="1" dirty="0"/>
              <a:t>End.DT2U </a:t>
            </a:r>
            <a:r>
              <a:rPr lang="en-US" sz="1600" dirty="0"/>
              <a:t>Endpoint with </a:t>
            </a:r>
            <a:r>
              <a:rPr lang="en-US" sz="1600" dirty="0" err="1"/>
              <a:t>decaps</a:t>
            </a:r>
            <a:r>
              <a:rPr lang="en-US" sz="1600" dirty="0"/>
              <a:t> and unicast MAC L2 table lookup EVPN Bridging unicast use-cases</a:t>
            </a:r>
          </a:p>
          <a:p>
            <a:pPr>
              <a:spcBef>
                <a:spcPts val="0"/>
              </a:spcBef>
            </a:pPr>
            <a:r>
              <a:rPr lang="en-US" sz="1600" b="1" dirty="0"/>
              <a:t>End.DT2M </a:t>
            </a:r>
            <a:r>
              <a:rPr lang="en-US" sz="1600" dirty="0"/>
              <a:t>Endpoint with decapsulation and L2 table flooding EVPN Bridging BUM use-cases with ESI filtering</a:t>
            </a:r>
          </a:p>
          <a:p>
            <a:pPr>
              <a:spcBef>
                <a:spcPts val="0"/>
              </a:spcBef>
            </a:pPr>
            <a:r>
              <a:rPr lang="en-US" sz="1600" b="1" dirty="0"/>
              <a:t>End.DX6 </a:t>
            </a:r>
            <a:r>
              <a:rPr lang="en-US" sz="1600" dirty="0"/>
              <a:t>Endpoint with decapsulation and IPv6 cross-connect IPv6 L3VPN use (equivalent of a per-CE VPN label)</a:t>
            </a:r>
          </a:p>
          <a:p>
            <a:pPr>
              <a:spcBef>
                <a:spcPts val="0"/>
              </a:spcBef>
            </a:pPr>
            <a:r>
              <a:rPr lang="en-US" sz="1600" b="1" dirty="0"/>
              <a:t>End.DX4 </a:t>
            </a:r>
            <a:r>
              <a:rPr lang="en-US" sz="1600" dirty="0"/>
              <a:t>Endpoint with decapsulation and IPv4 cross-connect IPv4 L3VPN use (equivalent of a per-CE VPN label)</a:t>
            </a:r>
          </a:p>
          <a:p>
            <a:pPr>
              <a:spcBef>
                <a:spcPts val="0"/>
              </a:spcBef>
            </a:pPr>
            <a:r>
              <a:rPr lang="en-US" sz="1600" b="1" dirty="0"/>
              <a:t>End.DT6 </a:t>
            </a:r>
            <a:r>
              <a:rPr lang="en-US" sz="1600" dirty="0"/>
              <a:t>Endpoint with decapsulation and IPv6 table lookup IPv6 L3VPN use (equivalent of a per-VRF VPN label)</a:t>
            </a:r>
          </a:p>
          <a:p>
            <a:pPr>
              <a:spcBef>
                <a:spcPts val="0"/>
              </a:spcBef>
            </a:pPr>
            <a:r>
              <a:rPr lang="en-US" sz="1600" b="1" dirty="0"/>
              <a:t>End.DT4 </a:t>
            </a:r>
            <a:r>
              <a:rPr lang="en-US" sz="1600" dirty="0"/>
              <a:t>Endpoint with decapsulation and IPv4 table lookup IPv4 L3VPN use (equivalent of a per-VRF VPN label)</a:t>
            </a:r>
          </a:p>
          <a:p>
            <a:pPr>
              <a:spcBef>
                <a:spcPts val="0"/>
              </a:spcBef>
            </a:pPr>
            <a:r>
              <a:rPr lang="en-US" sz="1600" b="1" dirty="0"/>
              <a:t>End.DT46 </a:t>
            </a:r>
            <a:r>
              <a:rPr lang="en-US" sz="1600" dirty="0"/>
              <a:t>Endpoint with decapsulation and IP table lookup IP L3VPN use (equivalent of a per-VRF VPN label)</a:t>
            </a:r>
          </a:p>
          <a:p>
            <a:pPr>
              <a:spcBef>
                <a:spcPts val="0"/>
              </a:spcBef>
            </a:pPr>
            <a:r>
              <a:rPr lang="en-US" sz="1600" b="1" dirty="0"/>
              <a:t>End.B6 </a:t>
            </a:r>
            <a:r>
              <a:rPr lang="en-US" sz="1600" dirty="0"/>
              <a:t>Endpoint bound to an SRv6 policy SRv6 instantiation of a Binding SID</a:t>
            </a:r>
          </a:p>
          <a:p>
            <a:pPr>
              <a:spcBef>
                <a:spcPts val="0"/>
              </a:spcBef>
            </a:pPr>
            <a:r>
              <a:rPr lang="en-US" sz="1600" b="1" dirty="0"/>
              <a:t>End.B6</a:t>
            </a:r>
            <a:r>
              <a:rPr lang="en-US" sz="1600" dirty="0"/>
              <a:t>.Encaps Endpoint bound to an SRv6 encapsulation Policy SRv6 instantiation of a Binding SID</a:t>
            </a:r>
          </a:p>
          <a:p>
            <a:pPr>
              <a:spcBef>
                <a:spcPts val="0"/>
              </a:spcBef>
            </a:pPr>
            <a:r>
              <a:rPr lang="en-US" sz="1600" b="1" dirty="0"/>
              <a:t>End.BM </a:t>
            </a:r>
            <a:r>
              <a:rPr lang="en-US" sz="1600" dirty="0"/>
              <a:t>Endpoint bound to an SR-MPLS Policy SRv6/SR-MPLS instantiation of a Binding SID</a:t>
            </a:r>
          </a:p>
          <a:p>
            <a:pPr>
              <a:spcBef>
                <a:spcPts val="0"/>
              </a:spcBef>
            </a:pPr>
            <a:r>
              <a:rPr lang="en-US" sz="1600" b="1" dirty="0" err="1"/>
              <a:t>End.S</a:t>
            </a:r>
            <a:r>
              <a:rPr lang="en-US" sz="1600" dirty="0"/>
              <a:t> Endpoint in search of a target in table T</a:t>
            </a:r>
          </a:p>
          <a:p>
            <a:pPr>
              <a:spcBef>
                <a:spcPts val="0"/>
              </a:spcBef>
            </a:pPr>
            <a:r>
              <a:rPr lang="en-US" sz="1600" b="1" dirty="0" err="1"/>
              <a:t>T.Insert</a:t>
            </a:r>
            <a:r>
              <a:rPr lang="en-US" sz="1600" b="1" dirty="0"/>
              <a:t> </a:t>
            </a:r>
            <a:r>
              <a:rPr lang="en-US" sz="1600" dirty="0"/>
              <a:t>Transit behavior with insertion of an SRv6 policy</a:t>
            </a:r>
          </a:p>
          <a:p>
            <a:pPr>
              <a:spcBef>
                <a:spcPts val="0"/>
              </a:spcBef>
            </a:pPr>
            <a:r>
              <a:rPr lang="en-US" sz="1600" b="1" dirty="0" err="1"/>
              <a:t>T.Insert.Red</a:t>
            </a:r>
            <a:r>
              <a:rPr lang="en-US" sz="1600" b="1" dirty="0"/>
              <a:t> </a:t>
            </a:r>
            <a:r>
              <a:rPr lang="en-US" sz="1600" dirty="0"/>
              <a:t>Transit behavior with reduced insert of an SRv6 policy</a:t>
            </a:r>
          </a:p>
          <a:p>
            <a:pPr>
              <a:spcBef>
                <a:spcPts val="0"/>
              </a:spcBef>
            </a:pPr>
            <a:r>
              <a:rPr lang="en-US" sz="1600" b="1" dirty="0" err="1"/>
              <a:t>T.Encaps</a:t>
            </a:r>
            <a:r>
              <a:rPr lang="en-US" sz="1600" b="1" dirty="0"/>
              <a:t> </a:t>
            </a:r>
            <a:r>
              <a:rPr lang="en-US" sz="1600" dirty="0"/>
              <a:t>Transit behavior with encapsulation in an SRv6 policy</a:t>
            </a:r>
          </a:p>
          <a:p>
            <a:pPr>
              <a:spcBef>
                <a:spcPts val="0"/>
              </a:spcBef>
            </a:pPr>
            <a:r>
              <a:rPr lang="en-US" sz="1600" b="1" dirty="0" err="1"/>
              <a:t>T.Encaps.Red</a:t>
            </a:r>
            <a:r>
              <a:rPr lang="en-US" sz="1600" b="1" dirty="0"/>
              <a:t> </a:t>
            </a:r>
            <a:r>
              <a:rPr lang="en-US" sz="1600" dirty="0"/>
              <a:t>Transit behavior with reduced </a:t>
            </a:r>
            <a:r>
              <a:rPr lang="en-US" sz="1600" dirty="0" err="1"/>
              <a:t>encaps</a:t>
            </a:r>
            <a:r>
              <a:rPr lang="en-US" sz="1600" dirty="0"/>
              <a:t> in an SRv6 policy</a:t>
            </a:r>
          </a:p>
          <a:p>
            <a:pPr>
              <a:spcBef>
                <a:spcPts val="0"/>
              </a:spcBef>
            </a:pPr>
            <a:r>
              <a:rPr lang="en-US" sz="1600" b="1" dirty="0"/>
              <a:t>T.Encaps.L2 </a:t>
            </a:r>
            <a:r>
              <a:rPr lang="en-US" sz="1600" dirty="0" err="1"/>
              <a:t>T.Encaps</a:t>
            </a:r>
            <a:r>
              <a:rPr lang="en-US" sz="1600" dirty="0"/>
              <a:t> behavior of the received L2 frame</a:t>
            </a:r>
          </a:p>
          <a:p>
            <a:pPr>
              <a:spcBef>
                <a:spcPts val="0"/>
              </a:spcBef>
            </a:pPr>
            <a:r>
              <a:rPr lang="en-US" sz="1600" b="1" dirty="0"/>
              <a:t>T.Encaps.L2.Red </a:t>
            </a:r>
            <a:r>
              <a:rPr lang="en-US" sz="1600" dirty="0"/>
              <a:t>Transit with reduce </a:t>
            </a:r>
            <a:r>
              <a:rPr lang="en-US" sz="1600" dirty="0" err="1"/>
              <a:t>encaps</a:t>
            </a:r>
            <a:r>
              <a:rPr lang="en-US" sz="1600" dirty="0"/>
              <a:t> of received L2 frame</a:t>
            </a:r>
          </a:p>
        </p:txBody>
      </p:sp>
      <p:sp>
        <p:nvSpPr>
          <p:cNvPr id="3" name="Text Placeholder 2">
            <a:extLst>
              <a:ext uri="{FF2B5EF4-FFF2-40B4-BE49-F238E27FC236}">
                <a16:creationId xmlns:a16="http://schemas.microsoft.com/office/drawing/2014/main" id="{65FBD6FC-5C20-D7F3-ACB8-3BED7540A18E}"/>
              </a:ext>
            </a:extLst>
          </p:cNvPr>
          <p:cNvSpPr>
            <a:spLocks noGrp="1"/>
          </p:cNvSpPr>
          <p:nvPr>
            <p:ph type="body" sz="quarter" idx="11"/>
          </p:nvPr>
        </p:nvSpPr>
        <p:spPr/>
        <p:txBody>
          <a:bodyPr/>
          <a:lstStyle/>
          <a:p>
            <a:r>
              <a:rPr lang="nl-NL" dirty="0"/>
              <a:t>Functoins Defined in Net Programming</a:t>
            </a:r>
            <a:endParaRPr lang="en-US" dirty="0"/>
          </a:p>
        </p:txBody>
      </p:sp>
    </p:spTree>
    <p:extLst>
      <p:ext uri="{BB962C8B-B14F-4D97-AF65-F5344CB8AC3E}">
        <p14:creationId xmlns:p14="http://schemas.microsoft.com/office/powerpoint/2010/main" val="387339126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E000D38-2BD0-3231-2A64-08BA865B7589}"/>
              </a:ext>
            </a:extLst>
          </p:cNvPr>
          <p:cNvSpPr>
            <a:spLocks noGrp="1"/>
          </p:cNvSpPr>
          <p:nvPr>
            <p:ph type="body" sz="quarter" idx="11"/>
          </p:nvPr>
        </p:nvSpPr>
        <p:spPr/>
        <p:txBody>
          <a:bodyPr/>
          <a:lstStyle/>
          <a:p>
            <a:r>
              <a:rPr lang="en-US" dirty="0"/>
              <a:t>May be more </a:t>
            </a:r>
            <a:r>
              <a:rPr lang="en-US" dirty="0" err="1"/>
              <a:t>Selfexplaining</a:t>
            </a:r>
            <a:r>
              <a:rPr lang="en-US" dirty="0"/>
              <a:t> …</a:t>
            </a:r>
          </a:p>
        </p:txBody>
      </p:sp>
      <p:pic>
        <p:nvPicPr>
          <p:cNvPr id="5" name="Picture 4" descr="A diagram of a system&#10;&#10;Description automatically generated with medium confidence">
            <a:extLst>
              <a:ext uri="{FF2B5EF4-FFF2-40B4-BE49-F238E27FC236}">
                <a16:creationId xmlns:a16="http://schemas.microsoft.com/office/drawing/2014/main" id="{073556CA-8CC9-425A-B37F-335192101C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4769" y="926799"/>
            <a:ext cx="9568737" cy="5893155"/>
          </a:xfrm>
          <a:prstGeom prst="rect">
            <a:avLst/>
          </a:prstGeom>
        </p:spPr>
      </p:pic>
    </p:spTree>
    <p:extLst>
      <p:ext uri="{BB962C8B-B14F-4D97-AF65-F5344CB8AC3E}">
        <p14:creationId xmlns:p14="http://schemas.microsoft.com/office/powerpoint/2010/main" val="307562103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C826385-A196-8ECE-55E0-E365D60148D0}"/>
              </a:ext>
            </a:extLst>
          </p:cNvPr>
          <p:cNvSpPr>
            <a:spLocks noGrp="1"/>
          </p:cNvSpPr>
          <p:nvPr>
            <p:ph type="body" sz="quarter" idx="10"/>
          </p:nvPr>
        </p:nvSpPr>
        <p:spPr/>
        <p:txBody>
          <a:bodyPr/>
          <a:lstStyle/>
          <a:p>
            <a:r>
              <a:rPr lang="da-DK" dirty="0"/>
              <a:t>u</a:t>
            </a:r>
            <a:r>
              <a:rPr lang="da-DK" b="1" dirty="0"/>
              <a:t>DT</a:t>
            </a:r>
            <a:r>
              <a:rPr lang="da-DK" dirty="0"/>
              <a:t>4=END.DT4, u</a:t>
            </a:r>
            <a:r>
              <a:rPr lang="da-DK" b="1" dirty="0"/>
              <a:t>DT</a:t>
            </a:r>
            <a:r>
              <a:rPr lang="da-DK" dirty="0"/>
              <a:t>6=END.DT6</a:t>
            </a:r>
          </a:p>
          <a:p>
            <a:pPr lvl="1"/>
            <a:r>
              <a:rPr lang="en-US" dirty="0"/>
              <a:t>Endpoint with </a:t>
            </a:r>
            <a:r>
              <a:rPr lang="en-US" b="1" dirty="0"/>
              <a:t>D</a:t>
            </a:r>
            <a:r>
              <a:rPr lang="en-US" dirty="0"/>
              <a:t>ecapsulation and </a:t>
            </a:r>
            <a:r>
              <a:rPr lang="en-US" b="1" dirty="0"/>
              <a:t>T</a:t>
            </a:r>
            <a:r>
              <a:rPr lang="en-US" dirty="0"/>
              <a:t>able Lookup</a:t>
            </a:r>
          </a:p>
          <a:p>
            <a:endParaRPr lang="en-US" dirty="0"/>
          </a:p>
          <a:p>
            <a:r>
              <a:rPr lang="en-US" dirty="0"/>
              <a:t>Decapsulate and Table Lookup (VRF)</a:t>
            </a:r>
          </a:p>
          <a:p>
            <a:r>
              <a:rPr lang="en-US" dirty="0"/>
              <a:t>Same as Per VRF Label Allocation (aggregate label)</a:t>
            </a:r>
          </a:p>
          <a:p>
            <a:r>
              <a:rPr lang="en-US" dirty="0"/>
              <a:t>Must be last function in SID list</a:t>
            </a:r>
          </a:p>
        </p:txBody>
      </p:sp>
      <p:sp>
        <p:nvSpPr>
          <p:cNvPr id="3" name="Text Placeholder 2">
            <a:extLst>
              <a:ext uri="{FF2B5EF4-FFF2-40B4-BE49-F238E27FC236}">
                <a16:creationId xmlns:a16="http://schemas.microsoft.com/office/drawing/2014/main" id="{C3773802-86C8-2878-EC3A-70E6D4239B28}"/>
              </a:ext>
            </a:extLst>
          </p:cNvPr>
          <p:cNvSpPr>
            <a:spLocks noGrp="1"/>
          </p:cNvSpPr>
          <p:nvPr>
            <p:ph type="body" sz="quarter" idx="11"/>
          </p:nvPr>
        </p:nvSpPr>
        <p:spPr/>
        <p:txBody>
          <a:bodyPr/>
          <a:lstStyle/>
          <a:p>
            <a:r>
              <a:rPr lang="en-US" dirty="0"/>
              <a:t>uSID based functions - Example</a:t>
            </a:r>
          </a:p>
        </p:txBody>
      </p:sp>
      <p:pic>
        <p:nvPicPr>
          <p:cNvPr id="5" name="Picture 4" descr="A pink circle with black text&#10;&#10;Description automatically generated">
            <a:extLst>
              <a:ext uri="{FF2B5EF4-FFF2-40B4-BE49-F238E27FC236}">
                <a16:creationId xmlns:a16="http://schemas.microsoft.com/office/drawing/2014/main" id="{6B34BE92-9C7B-7C71-97DE-7F5C835D3D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7116" y="4499681"/>
            <a:ext cx="7437765" cy="1310754"/>
          </a:xfrm>
          <a:prstGeom prst="rect">
            <a:avLst/>
          </a:prstGeom>
        </p:spPr>
      </p:pic>
    </p:spTree>
    <p:extLst>
      <p:ext uri="{BB962C8B-B14F-4D97-AF65-F5344CB8AC3E}">
        <p14:creationId xmlns:p14="http://schemas.microsoft.com/office/powerpoint/2010/main" val="319481598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75660FF-319D-C045-BA7F-CD65514D91E2}"/>
              </a:ext>
            </a:extLst>
          </p:cNvPr>
          <p:cNvSpPr>
            <a:spLocks noGrp="1"/>
          </p:cNvSpPr>
          <p:nvPr>
            <p:ph type="body" sz="quarter" idx="11"/>
          </p:nvPr>
        </p:nvSpPr>
        <p:spPr/>
        <p:txBody>
          <a:bodyPr/>
          <a:lstStyle/>
          <a:p>
            <a:r>
              <a:rPr lang="en-US" dirty="0"/>
              <a:t>SRv6 functions: Steering and Services</a:t>
            </a:r>
          </a:p>
        </p:txBody>
      </p:sp>
      <p:graphicFrame>
        <p:nvGraphicFramePr>
          <p:cNvPr id="4" name="Table 4">
            <a:extLst>
              <a:ext uri="{FF2B5EF4-FFF2-40B4-BE49-F238E27FC236}">
                <a16:creationId xmlns:a16="http://schemas.microsoft.com/office/drawing/2014/main" id="{51CDD26B-2D7F-24B3-C706-495270626082}"/>
              </a:ext>
            </a:extLst>
          </p:cNvPr>
          <p:cNvGraphicFramePr>
            <a:graphicFrameLocks noGrp="1"/>
          </p:cNvGraphicFramePr>
          <p:nvPr>
            <p:extLst>
              <p:ext uri="{D42A27DB-BD31-4B8C-83A1-F6EECF244321}">
                <p14:modId xmlns:p14="http://schemas.microsoft.com/office/powerpoint/2010/main" val="3462449050"/>
              </p:ext>
            </p:extLst>
          </p:nvPr>
        </p:nvGraphicFramePr>
        <p:xfrm>
          <a:off x="111760" y="926799"/>
          <a:ext cx="11887200" cy="555752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1326507062"/>
                    </a:ext>
                  </a:extLst>
                </a:gridCol>
                <a:gridCol w="1422400">
                  <a:extLst>
                    <a:ext uri="{9D8B030D-6E8A-4147-A177-3AD203B41FA5}">
                      <a16:colId xmlns:a16="http://schemas.microsoft.com/office/drawing/2014/main" val="4161604639"/>
                    </a:ext>
                  </a:extLst>
                </a:gridCol>
                <a:gridCol w="6664960">
                  <a:extLst>
                    <a:ext uri="{9D8B030D-6E8A-4147-A177-3AD203B41FA5}">
                      <a16:colId xmlns:a16="http://schemas.microsoft.com/office/drawing/2014/main" val="464595902"/>
                    </a:ext>
                  </a:extLst>
                </a:gridCol>
                <a:gridCol w="2153920">
                  <a:extLst>
                    <a:ext uri="{9D8B030D-6E8A-4147-A177-3AD203B41FA5}">
                      <a16:colId xmlns:a16="http://schemas.microsoft.com/office/drawing/2014/main" val="947691420"/>
                    </a:ext>
                  </a:extLst>
                </a:gridCol>
              </a:tblGrid>
              <a:tr h="370840">
                <a:tc gridSpan="2">
                  <a:txBody>
                    <a:bodyPr/>
                    <a:lstStyle/>
                    <a:p>
                      <a:pPr algn="ctr"/>
                      <a:r>
                        <a:rPr lang="en-US" dirty="0"/>
                        <a:t>Codename</a:t>
                      </a:r>
                    </a:p>
                  </a:txBody>
                  <a:tcPr/>
                </a:tc>
                <a:tc hMerge="1">
                  <a:txBody>
                    <a:bodyPr/>
                    <a:lstStyle/>
                    <a:p>
                      <a:endParaRPr lang="en-US" dirty="0"/>
                    </a:p>
                  </a:txBody>
                  <a:tcPr/>
                </a:tc>
                <a:tc>
                  <a:txBody>
                    <a:bodyPr/>
                    <a:lstStyle/>
                    <a:p>
                      <a:pPr algn="ctr"/>
                      <a:r>
                        <a:rPr lang="en-US" dirty="0"/>
                        <a:t>Behavior</a:t>
                      </a:r>
                    </a:p>
                  </a:txBody>
                  <a:tcPr/>
                </a:tc>
                <a:tc>
                  <a:txBody>
                    <a:bodyPr/>
                    <a:lstStyle/>
                    <a:p>
                      <a:pPr algn="ctr"/>
                      <a:r>
                        <a:rPr lang="en-US" dirty="0"/>
                        <a:t>Note</a:t>
                      </a:r>
                    </a:p>
                  </a:txBody>
                  <a:tcPr/>
                </a:tc>
                <a:extLst>
                  <a:ext uri="{0D108BD9-81ED-4DB2-BD59-A6C34878D82A}">
                    <a16:rowId xmlns:a16="http://schemas.microsoft.com/office/drawing/2014/main" val="1819878350"/>
                  </a:ext>
                </a:extLst>
              </a:tr>
              <a:tr h="370840">
                <a:tc>
                  <a:txBody>
                    <a:bodyPr/>
                    <a:lstStyle/>
                    <a:p>
                      <a:r>
                        <a:rPr lang="en-US" dirty="0"/>
                        <a:t>End</a:t>
                      </a:r>
                    </a:p>
                  </a:txBody>
                  <a:tcPr/>
                </a:tc>
                <a:tc>
                  <a:txBody>
                    <a:bodyPr/>
                    <a:lstStyle/>
                    <a:p>
                      <a:r>
                        <a:rPr lang="en-US" dirty="0" err="1"/>
                        <a:t>uN</a:t>
                      </a:r>
                      <a:endParaRPr lang="en-US" dirty="0"/>
                    </a:p>
                  </a:txBody>
                  <a:tcPr/>
                </a:tc>
                <a:tc>
                  <a:txBody>
                    <a:bodyPr/>
                    <a:lstStyle/>
                    <a:p>
                      <a:r>
                        <a:rPr lang="en-US" dirty="0"/>
                        <a:t>Endpoint</a:t>
                      </a:r>
                    </a:p>
                  </a:txBody>
                  <a:tcPr/>
                </a:tc>
                <a:tc>
                  <a:txBody>
                    <a:bodyPr/>
                    <a:lstStyle/>
                    <a:p>
                      <a:r>
                        <a:rPr lang="en-US" dirty="0"/>
                        <a:t>[Node SID]</a:t>
                      </a:r>
                    </a:p>
                  </a:txBody>
                  <a:tcPr/>
                </a:tc>
                <a:extLst>
                  <a:ext uri="{0D108BD9-81ED-4DB2-BD59-A6C34878D82A}">
                    <a16:rowId xmlns:a16="http://schemas.microsoft.com/office/drawing/2014/main" val="760831043"/>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End.X</a:t>
                      </a:r>
                      <a:endParaRPr lang="en-US" dirty="0"/>
                    </a:p>
                  </a:txBody>
                  <a:tcPr/>
                </a:tc>
                <a:tc>
                  <a:txBody>
                    <a:bodyPr/>
                    <a:lstStyle/>
                    <a:p>
                      <a:r>
                        <a:rPr lang="en-US" dirty="0" err="1"/>
                        <a:t>uA</a:t>
                      </a:r>
                      <a:endParaRPr lang="en-US" dirty="0"/>
                    </a:p>
                  </a:txBody>
                  <a:tcPr/>
                </a:tc>
                <a:tc>
                  <a:txBody>
                    <a:bodyPr/>
                    <a:lstStyle/>
                    <a:p>
                      <a:r>
                        <a:rPr lang="en-US" dirty="0"/>
                        <a:t>Endpoint with Layer-3 cross-connect</a:t>
                      </a:r>
                    </a:p>
                  </a:txBody>
                  <a:tcPr/>
                </a:tc>
                <a:tc>
                  <a:txBody>
                    <a:bodyPr/>
                    <a:lstStyle/>
                    <a:p>
                      <a:r>
                        <a:rPr lang="en-US" dirty="0"/>
                        <a:t>[Adj SID]</a:t>
                      </a:r>
                    </a:p>
                  </a:txBody>
                  <a:tcPr/>
                </a:tc>
                <a:extLst>
                  <a:ext uri="{0D108BD9-81ED-4DB2-BD59-A6C34878D82A}">
                    <a16:rowId xmlns:a16="http://schemas.microsoft.com/office/drawing/2014/main" val="41313955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End.B6.Insert</a:t>
                      </a:r>
                    </a:p>
                  </a:txBody>
                  <a:tcPr/>
                </a:tc>
                <a:tc>
                  <a:txBody>
                    <a:bodyPr/>
                    <a:lstStyle/>
                    <a:p>
                      <a:r>
                        <a:rPr lang="en-US" dirty="0"/>
                        <a:t>uB6.Insert</a:t>
                      </a:r>
                    </a:p>
                  </a:txBody>
                  <a:tcPr/>
                </a:tc>
                <a:tc>
                  <a:txBody>
                    <a:bodyPr/>
                    <a:lstStyle/>
                    <a:p>
                      <a:r>
                        <a:rPr lang="en-US" dirty="0"/>
                        <a:t>Endpoint bound to an SRv6 policy</a:t>
                      </a:r>
                    </a:p>
                  </a:txBody>
                  <a:tcPr/>
                </a:tc>
                <a:tc>
                  <a:txBody>
                    <a:bodyPr/>
                    <a:lstStyle/>
                    <a:p>
                      <a:r>
                        <a:rPr lang="en-US" dirty="0"/>
                        <a:t>[BSID]</a:t>
                      </a:r>
                    </a:p>
                  </a:txBody>
                  <a:tcPr/>
                </a:tc>
                <a:extLst>
                  <a:ext uri="{0D108BD9-81ED-4DB2-BD59-A6C34878D82A}">
                    <a16:rowId xmlns:a16="http://schemas.microsoft.com/office/drawing/2014/main" val="421834964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End.B6.Encap</a:t>
                      </a:r>
                    </a:p>
                  </a:txBody>
                  <a:tcPr/>
                </a:tc>
                <a:tc>
                  <a:txBody>
                    <a:bodyPr/>
                    <a:lstStyle/>
                    <a:p>
                      <a:r>
                        <a:rPr lang="en-US" dirty="0"/>
                        <a:t>uB6.Encaps</a:t>
                      </a:r>
                    </a:p>
                  </a:txBody>
                  <a:tcPr/>
                </a:tc>
                <a:tc>
                  <a:txBody>
                    <a:bodyPr/>
                    <a:lstStyle/>
                    <a:p>
                      <a:r>
                        <a:rPr lang="en-US" dirty="0"/>
                        <a:t>Endpoint bound to an SRv6 encapsulation policy</a:t>
                      </a:r>
                    </a:p>
                  </a:txBody>
                  <a:tcPr/>
                </a:tc>
                <a:tc>
                  <a:txBody>
                    <a:bodyPr/>
                    <a:lstStyle/>
                    <a:p>
                      <a:r>
                        <a:rPr lang="en-US" dirty="0"/>
                        <a:t>[BSID]</a:t>
                      </a:r>
                    </a:p>
                  </a:txBody>
                  <a:tcPr/>
                </a:tc>
                <a:extLst>
                  <a:ext uri="{0D108BD9-81ED-4DB2-BD59-A6C34878D82A}">
                    <a16:rowId xmlns:a16="http://schemas.microsoft.com/office/drawing/2014/main" val="228110771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End.DX6</a:t>
                      </a:r>
                    </a:p>
                  </a:txBody>
                  <a:tcPr/>
                </a:tc>
                <a:tc>
                  <a:txBody>
                    <a:bodyPr/>
                    <a:lstStyle/>
                    <a:p>
                      <a:r>
                        <a:rPr lang="en-US" dirty="0"/>
                        <a:t>uDX6</a:t>
                      </a:r>
                    </a:p>
                  </a:txBody>
                  <a:tcPr/>
                </a:tc>
                <a:tc>
                  <a:txBody>
                    <a:bodyPr/>
                    <a:lstStyle/>
                    <a:p>
                      <a:r>
                        <a:rPr lang="en-US" dirty="0"/>
                        <a:t>Endpoint with decapsulation and IPv6 cross-connect</a:t>
                      </a:r>
                    </a:p>
                  </a:txBody>
                  <a:tcPr/>
                </a:tc>
                <a:tc>
                  <a:txBody>
                    <a:bodyPr/>
                    <a:lstStyle/>
                    <a:p>
                      <a:r>
                        <a:rPr lang="en-US" dirty="0"/>
                        <a:t>[L3VPN Per-CE]</a:t>
                      </a:r>
                    </a:p>
                  </a:txBody>
                  <a:tcPr/>
                </a:tc>
                <a:extLst>
                  <a:ext uri="{0D108BD9-81ED-4DB2-BD59-A6C34878D82A}">
                    <a16:rowId xmlns:a16="http://schemas.microsoft.com/office/drawing/2014/main" val="123915713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End.DX4</a:t>
                      </a:r>
                    </a:p>
                  </a:txBody>
                  <a:tcPr/>
                </a:tc>
                <a:tc>
                  <a:txBody>
                    <a:bodyPr/>
                    <a:lstStyle/>
                    <a:p>
                      <a:r>
                        <a:rPr lang="en-US" dirty="0"/>
                        <a:t>uDX4</a:t>
                      </a:r>
                    </a:p>
                  </a:txBody>
                  <a:tcPr/>
                </a:tc>
                <a:tc>
                  <a:txBody>
                    <a:bodyPr/>
                    <a:lstStyle/>
                    <a:p>
                      <a:r>
                        <a:rPr lang="en-US" dirty="0"/>
                        <a:t>Endpoint with decapsulation and IPv4 cross-connect</a:t>
                      </a:r>
                    </a:p>
                  </a:txBody>
                  <a:tcPr/>
                </a:tc>
                <a:tc>
                  <a:txBody>
                    <a:bodyPr/>
                    <a:lstStyle/>
                    <a:p>
                      <a:r>
                        <a:rPr lang="en-US" dirty="0"/>
                        <a:t>[L3VPN Per-CE]</a:t>
                      </a:r>
                    </a:p>
                  </a:txBody>
                  <a:tcPr/>
                </a:tc>
                <a:extLst>
                  <a:ext uri="{0D108BD9-81ED-4DB2-BD59-A6C34878D82A}">
                    <a16:rowId xmlns:a16="http://schemas.microsoft.com/office/drawing/2014/main" val="304568283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End.DT6</a:t>
                      </a:r>
                    </a:p>
                  </a:txBody>
                  <a:tcPr/>
                </a:tc>
                <a:tc>
                  <a:txBody>
                    <a:bodyPr/>
                    <a:lstStyle/>
                    <a:p>
                      <a:r>
                        <a:rPr lang="en-US" dirty="0"/>
                        <a:t>uDT6</a:t>
                      </a:r>
                    </a:p>
                  </a:txBody>
                  <a:tcPr/>
                </a:tc>
                <a:tc>
                  <a:txBody>
                    <a:bodyPr/>
                    <a:lstStyle/>
                    <a:p>
                      <a:r>
                        <a:rPr lang="en-US" dirty="0"/>
                        <a:t>Endpoint with decapsulation and specific IPv6 table lookup</a:t>
                      </a:r>
                    </a:p>
                  </a:txBody>
                  <a:tcPr/>
                </a:tc>
                <a:tc>
                  <a:txBody>
                    <a:bodyPr/>
                    <a:lstStyle/>
                    <a:p>
                      <a:r>
                        <a:rPr lang="en-US" dirty="0"/>
                        <a:t>[L3VPN Per-VRF]</a:t>
                      </a:r>
                    </a:p>
                  </a:txBody>
                  <a:tcPr/>
                </a:tc>
                <a:extLst>
                  <a:ext uri="{0D108BD9-81ED-4DB2-BD59-A6C34878D82A}">
                    <a16:rowId xmlns:a16="http://schemas.microsoft.com/office/drawing/2014/main" val="28269807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End.DT4</a:t>
                      </a:r>
                    </a:p>
                  </a:txBody>
                  <a:tcPr/>
                </a:tc>
                <a:tc>
                  <a:txBody>
                    <a:bodyPr/>
                    <a:lstStyle/>
                    <a:p>
                      <a:r>
                        <a:rPr lang="en-US" dirty="0"/>
                        <a:t>uDT4</a:t>
                      </a:r>
                    </a:p>
                  </a:txBody>
                  <a:tcPr/>
                </a:tc>
                <a:tc>
                  <a:txBody>
                    <a:bodyPr/>
                    <a:lstStyle/>
                    <a:p>
                      <a:r>
                        <a:rPr lang="en-US" dirty="0"/>
                        <a:t>Endpoint with decapsulation and specific IPv4 table lookup</a:t>
                      </a:r>
                    </a:p>
                  </a:txBody>
                  <a:tcPr/>
                </a:tc>
                <a:tc>
                  <a:txBody>
                    <a:bodyPr/>
                    <a:lstStyle/>
                    <a:p>
                      <a:r>
                        <a:rPr lang="en-US" dirty="0"/>
                        <a:t>[L3VPN Per-VRF]</a:t>
                      </a:r>
                    </a:p>
                  </a:txBody>
                  <a:tcPr/>
                </a:tc>
                <a:extLst>
                  <a:ext uri="{0D108BD9-81ED-4DB2-BD59-A6C34878D82A}">
                    <a16:rowId xmlns:a16="http://schemas.microsoft.com/office/drawing/2014/main" val="393775195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End.DX2</a:t>
                      </a:r>
                    </a:p>
                  </a:txBody>
                  <a:tcPr/>
                </a:tc>
                <a:tc>
                  <a:txBody>
                    <a:bodyPr/>
                    <a:lstStyle/>
                    <a:p>
                      <a:r>
                        <a:rPr lang="en-US" dirty="0"/>
                        <a:t>uDX2</a:t>
                      </a:r>
                    </a:p>
                  </a:txBody>
                  <a:tcPr/>
                </a:tc>
                <a:tc>
                  <a:txBody>
                    <a:bodyPr/>
                    <a:lstStyle/>
                    <a:p>
                      <a:r>
                        <a:rPr lang="en-US" dirty="0"/>
                        <a:t>Endpoint with decapsulation and L2 cross-connect</a:t>
                      </a:r>
                    </a:p>
                  </a:txBody>
                  <a:tcPr/>
                </a:tc>
                <a:tc>
                  <a:txBody>
                    <a:bodyPr/>
                    <a:lstStyle/>
                    <a:p>
                      <a:r>
                        <a:rPr lang="en-US" dirty="0"/>
                        <a:t>[E-LINE]</a:t>
                      </a:r>
                    </a:p>
                  </a:txBody>
                  <a:tcPr/>
                </a:tc>
                <a:extLst>
                  <a:ext uri="{0D108BD9-81ED-4DB2-BD59-A6C34878D82A}">
                    <a16:rowId xmlns:a16="http://schemas.microsoft.com/office/drawing/2014/main" val="186013431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End.DT2U/M</a:t>
                      </a:r>
                    </a:p>
                  </a:txBody>
                  <a:tcPr/>
                </a:tc>
                <a:tc>
                  <a:txBody>
                    <a:bodyPr/>
                    <a:lstStyle/>
                    <a:p>
                      <a:r>
                        <a:rPr lang="en-US" dirty="0"/>
                        <a:t>uDT2U/M</a:t>
                      </a:r>
                    </a:p>
                  </a:txBody>
                  <a:tcPr/>
                </a:tc>
                <a:tc>
                  <a:txBody>
                    <a:bodyPr/>
                    <a:lstStyle/>
                    <a:p>
                      <a:r>
                        <a:rPr lang="en-US" dirty="0"/>
                        <a:t>Endpoint with decapsulation and L2 unicast lookup / flooding</a:t>
                      </a:r>
                    </a:p>
                  </a:txBody>
                  <a:tcPr/>
                </a:tc>
                <a:tc>
                  <a:txBody>
                    <a:bodyPr/>
                    <a:lstStyle/>
                    <a:p>
                      <a:r>
                        <a:rPr lang="en-US" dirty="0"/>
                        <a:t>[E-LAN]</a:t>
                      </a:r>
                    </a:p>
                  </a:txBody>
                  <a:tcPr/>
                </a:tc>
                <a:extLst>
                  <a:ext uri="{0D108BD9-81ED-4DB2-BD59-A6C34878D82A}">
                    <a16:rowId xmlns:a16="http://schemas.microsoft.com/office/drawing/2014/main" val="267424758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End.DTM</a:t>
                      </a:r>
                      <a:endParaRPr lang="en-US" dirty="0"/>
                    </a:p>
                  </a:txBody>
                  <a:tcPr/>
                </a:tc>
                <a:tc>
                  <a:txBody>
                    <a:bodyPr/>
                    <a:lstStyle/>
                    <a:p>
                      <a:r>
                        <a:rPr lang="en-US" dirty="0" err="1"/>
                        <a:t>uDTM</a:t>
                      </a:r>
                      <a:endParaRPr lang="en-US" dirty="0"/>
                    </a:p>
                  </a:txBody>
                  <a:tcPr/>
                </a:tc>
                <a:tc>
                  <a:txBody>
                    <a:bodyPr/>
                    <a:lstStyle/>
                    <a:p>
                      <a:r>
                        <a:rPr lang="en-US" dirty="0"/>
                        <a:t>Endpoint with decapsulation and MPLS table lookup</a:t>
                      </a:r>
                    </a:p>
                  </a:txBody>
                  <a:tcPr/>
                </a:tc>
                <a:tc>
                  <a:txBody>
                    <a:bodyPr/>
                    <a:lstStyle/>
                    <a:p>
                      <a:r>
                        <a:rPr lang="en-US" dirty="0"/>
                        <a:t>[Interworking]</a:t>
                      </a:r>
                    </a:p>
                  </a:txBody>
                  <a:tcPr/>
                </a:tc>
                <a:extLst>
                  <a:ext uri="{0D108BD9-81ED-4DB2-BD59-A6C34878D82A}">
                    <a16:rowId xmlns:a16="http://schemas.microsoft.com/office/drawing/2014/main" val="93344481"/>
                  </a:ext>
                </a:extLst>
              </a:tr>
              <a:tr h="3708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H.Insert</a:t>
                      </a:r>
                      <a:r>
                        <a:rPr lang="en-US" dirty="0"/>
                        <a:t> / </a:t>
                      </a:r>
                      <a:r>
                        <a:rPr lang="en-US" dirty="0" err="1"/>
                        <a:t>H.Encaps</a:t>
                      </a:r>
                      <a:endParaRPr lang="en-US" dirty="0"/>
                    </a:p>
                  </a:txBody>
                  <a:tcPr/>
                </a:tc>
                <a:tc hMerge="1">
                  <a:txBody>
                    <a:bodyPr/>
                    <a:lstStyle/>
                    <a:p>
                      <a:endParaRPr lang="en-US" dirty="0"/>
                    </a:p>
                  </a:txBody>
                  <a:tcPr/>
                </a:tc>
                <a:tc>
                  <a:txBody>
                    <a:bodyPr/>
                    <a:lstStyle/>
                    <a:p>
                      <a:r>
                        <a:rPr lang="en-US" dirty="0"/>
                        <a:t>Headend with Insertion / Encapsulation of / into an SRv6 policy</a:t>
                      </a:r>
                    </a:p>
                  </a:txBody>
                  <a:tcPr/>
                </a:tc>
                <a:tc>
                  <a:txBody>
                    <a:bodyPr/>
                    <a:lstStyle/>
                    <a:p>
                      <a:r>
                        <a:rPr lang="en-US" dirty="0"/>
                        <a:t>[</a:t>
                      </a:r>
                      <a:r>
                        <a:rPr lang="en-US" dirty="0" err="1"/>
                        <a:t>TiLFA</a:t>
                      </a:r>
                      <a:r>
                        <a:rPr lang="en-US" dirty="0"/>
                        <a:t>]</a:t>
                      </a:r>
                    </a:p>
                  </a:txBody>
                  <a:tcPr/>
                </a:tc>
                <a:extLst>
                  <a:ext uri="{0D108BD9-81ED-4DB2-BD59-A6C34878D82A}">
                    <a16:rowId xmlns:a16="http://schemas.microsoft.com/office/drawing/2014/main" val="3721178398"/>
                  </a:ext>
                </a:extLst>
              </a:tr>
              <a:tr h="3708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 Encaps.L2</a:t>
                      </a:r>
                    </a:p>
                  </a:txBody>
                  <a:tcPr/>
                </a:tc>
                <a:tc hMerge="1">
                  <a:txBody>
                    <a:bodyPr/>
                    <a:lstStyle/>
                    <a:p>
                      <a:endParaRPr lang="en-US" dirty="0"/>
                    </a:p>
                  </a:txBody>
                  <a:tcPr/>
                </a:tc>
                <a:tc>
                  <a:txBody>
                    <a:bodyPr/>
                    <a:lstStyle/>
                    <a:p>
                      <a:r>
                        <a:rPr lang="en-US" dirty="0" err="1"/>
                        <a:t>H.Encaps</a:t>
                      </a:r>
                      <a:r>
                        <a:rPr lang="en-US" dirty="0"/>
                        <a:t> Applied to Received L2 Frames</a:t>
                      </a:r>
                    </a:p>
                  </a:txBody>
                  <a:tcPr/>
                </a:tc>
                <a:tc>
                  <a:txBody>
                    <a:bodyPr/>
                    <a:lstStyle/>
                    <a:p>
                      <a:r>
                        <a:rPr lang="en-US" dirty="0"/>
                        <a:t>[L2 Port Mode]</a:t>
                      </a:r>
                    </a:p>
                  </a:txBody>
                  <a:tcPr/>
                </a:tc>
                <a:extLst>
                  <a:ext uri="{0D108BD9-81ED-4DB2-BD59-A6C34878D82A}">
                    <a16:rowId xmlns:a16="http://schemas.microsoft.com/office/drawing/2014/main" val="2549862881"/>
                  </a:ext>
                </a:extLst>
              </a:tr>
              <a:tr h="3708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H.Encaps.M</a:t>
                      </a:r>
                      <a:endParaRPr lang="en-US" dirty="0"/>
                    </a:p>
                  </a:txBody>
                  <a:tcPr/>
                </a:tc>
                <a:tc hMerge="1">
                  <a:txBody>
                    <a:bodyPr/>
                    <a:lstStyle/>
                    <a:p>
                      <a:endParaRPr lang="en-US" dirty="0"/>
                    </a:p>
                  </a:txBody>
                  <a:tcPr/>
                </a:tc>
                <a:tc>
                  <a:txBody>
                    <a:bodyPr/>
                    <a:lstStyle/>
                    <a:p>
                      <a:r>
                        <a:rPr lang="en-US" dirty="0" err="1"/>
                        <a:t>H.Encaps</a:t>
                      </a:r>
                      <a:r>
                        <a:rPr lang="en-US" dirty="0"/>
                        <a:t> Applied to MPLS Label Stack</a:t>
                      </a:r>
                    </a:p>
                  </a:txBody>
                  <a:tcPr/>
                </a:tc>
                <a:tc>
                  <a:txBody>
                    <a:bodyPr/>
                    <a:lstStyle/>
                    <a:p>
                      <a:r>
                        <a:rPr lang="en-US" dirty="0"/>
                        <a:t>[Interworking]</a:t>
                      </a:r>
                    </a:p>
                  </a:txBody>
                  <a:tcPr/>
                </a:tc>
                <a:extLst>
                  <a:ext uri="{0D108BD9-81ED-4DB2-BD59-A6C34878D82A}">
                    <a16:rowId xmlns:a16="http://schemas.microsoft.com/office/drawing/2014/main" val="533442870"/>
                  </a:ext>
                </a:extLst>
              </a:tr>
            </a:tbl>
          </a:graphicData>
        </a:graphic>
      </p:graphicFrame>
    </p:spTree>
    <p:extLst>
      <p:ext uri="{BB962C8B-B14F-4D97-AF65-F5344CB8AC3E}">
        <p14:creationId xmlns:p14="http://schemas.microsoft.com/office/powerpoint/2010/main" val="351704503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33509CE-B59F-6E7C-2204-D2AE6FD564D0}"/>
              </a:ext>
            </a:extLst>
          </p:cNvPr>
          <p:cNvSpPr>
            <a:spLocks noGrp="1"/>
          </p:cNvSpPr>
          <p:nvPr>
            <p:ph type="body" sz="quarter" idx="11"/>
          </p:nvPr>
        </p:nvSpPr>
        <p:spPr/>
        <p:txBody>
          <a:bodyPr/>
          <a:lstStyle/>
          <a:p>
            <a:r>
              <a:rPr lang="en-US" sz="3200" dirty="0"/>
              <a:t>Display SRv6 capabilities on the device – </a:t>
            </a:r>
            <a:r>
              <a:rPr lang="en-US" sz="3200" dirty="0">
                <a:solidFill>
                  <a:schemeClr val="accent5"/>
                </a:solidFill>
              </a:rPr>
              <a:t>IOS-XR</a:t>
            </a:r>
          </a:p>
        </p:txBody>
      </p:sp>
      <p:sp>
        <p:nvSpPr>
          <p:cNvPr id="4" name="Rectangle 3">
            <a:extLst>
              <a:ext uri="{FF2B5EF4-FFF2-40B4-BE49-F238E27FC236}">
                <a16:creationId xmlns:a16="http://schemas.microsoft.com/office/drawing/2014/main" id="{FB925561-E764-41EE-B4F5-C435A1AD87B2}"/>
              </a:ext>
            </a:extLst>
          </p:cNvPr>
          <p:cNvSpPr/>
          <p:nvPr/>
        </p:nvSpPr>
        <p:spPr>
          <a:xfrm>
            <a:off x="213519" y="785478"/>
            <a:ext cx="4439761" cy="6032421"/>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RP/0/RP0/CPU0:R01#</a:t>
            </a:r>
            <a:r>
              <a:rPr lang="sk-SK" sz="1200" b="1" dirty="0">
                <a:latin typeface="Consolas" panose="020B0609020204030204" pitchFamily="49" charset="0"/>
              </a:rPr>
              <a:t>sh segment-routing srv6 manager</a:t>
            </a:r>
            <a:r>
              <a:rPr lang="sk-SK" sz="1100" dirty="0">
                <a:latin typeface="Consolas" panose="020B0609020204030204" pitchFamily="49" charset="0"/>
              </a:rPr>
              <a:t> </a:t>
            </a:r>
          </a:p>
          <a:p>
            <a:r>
              <a:rPr lang="sk-SK" sz="1100" dirty="0" err="1">
                <a:latin typeface="Consolas" panose="020B0609020204030204" pitchFamily="49" charset="0"/>
              </a:rPr>
              <a:t>Tue</a:t>
            </a:r>
            <a:r>
              <a:rPr lang="sk-SK" sz="1100" dirty="0">
                <a:latin typeface="Consolas" panose="020B0609020204030204" pitchFamily="49" charset="0"/>
              </a:rPr>
              <a:t> </a:t>
            </a:r>
            <a:r>
              <a:rPr lang="sk-SK" sz="1100" dirty="0" err="1">
                <a:latin typeface="Consolas" panose="020B0609020204030204" pitchFamily="49" charset="0"/>
              </a:rPr>
              <a:t>Oct</a:t>
            </a:r>
            <a:r>
              <a:rPr lang="sk-SK" sz="1100" dirty="0">
                <a:latin typeface="Consolas" panose="020B0609020204030204" pitchFamily="49" charset="0"/>
              </a:rPr>
              <a:t> 22 08:31:34.780 UTC</a:t>
            </a:r>
          </a:p>
          <a:p>
            <a:r>
              <a:rPr lang="sk-SK" sz="1100" dirty="0" err="1">
                <a:latin typeface="Consolas" panose="020B0609020204030204" pitchFamily="49" charset="0"/>
              </a:rPr>
              <a:t>Parameters</a:t>
            </a:r>
            <a:r>
              <a:rPr lang="sk-SK" sz="1100" dirty="0">
                <a:latin typeface="Consolas" panose="020B0609020204030204" pitchFamily="49" charset="0"/>
              </a:rPr>
              <a:t>:</a:t>
            </a:r>
          </a:p>
          <a:p>
            <a:r>
              <a:rPr lang="sk-SK" sz="1100" dirty="0">
                <a:latin typeface="Consolas" panose="020B0609020204030204" pitchFamily="49" charset="0"/>
              </a:rPr>
              <a:t>  SRv6 </a:t>
            </a:r>
            <a:r>
              <a:rPr lang="sk-SK" sz="1100" dirty="0" err="1">
                <a:latin typeface="Consolas" panose="020B0609020204030204" pitchFamily="49" charset="0"/>
              </a:rPr>
              <a:t>Enabled</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  SRv6 </a:t>
            </a:r>
            <a:r>
              <a:rPr lang="sk-SK" sz="1100" dirty="0" err="1">
                <a:latin typeface="Consolas" panose="020B0609020204030204" pitchFamily="49" charset="0"/>
              </a:rPr>
              <a:t>Operational</a:t>
            </a:r>
            <a:r>
              <a:rPr lang="sk-SK" sz="1100" dirty="0">
                <a:latin typeface="Consolas" panose="020B0609020204030204" pitchFamily="49" charset="0"/>
              </a:rPr>
              <a:t> </a:t>
            </a:r>
            <a:r>
              <a:rPr lang="sk-SK" sz="1100" dirty="0" err="1">
                <a:latin typeface="Consolas" panose="020B0609020204030204" pitchFamily="49" charset="0"/>
              </a:rPr>
              <a:t>Mode</a:t>
            </a:r>
            <a:r>
              <a:rPr lang="sk-SK" sz="1100" dirty="0">
                <a:latin typeface="Consolas" panose="020B0609020204030204" pitchFamily="49" charset="0"/>
              </a:rPr>
              <a:t>: </a:t>
            </a:r>
          </a:p>
          <a:p>
            <a:r>
              <a:rPr lang="sk-SK" sz="1100" dirty="0">
                <a:latin typeface="Consolas" panose="020B0609020204030204" pitchFamily="49" charset="0"/>
              </a:rPr>
              <a:t>    </a:t>
            </a:r>
            <a:r>
              <a:rPr lang="sk-SK" sz="1100" dirty="0" err="1">
                <a:latin typeface="Consolas" panose="020B0609020204030204" pitchFamily="49" charset="0"/>
              </a:rPr>
              <a:t>Micro</a:t>
            </a:r>
            <a:r>
              <a:rPr lang="sk-SK" sz="1100" dirty="0">
                <a:latin typeface="Consolas" panose="020B0609020204030204" pitchFamily="49" charset="0"/>
              </a:rPr>
              <a:t>-segment:</a:t>
            </a:r>
          </a:p>
          <a:p>
            <a:r>
              <a:rPr lang="sk-SK" sz="1100" dirty="0">
                <a:latin typeface="Consolas" panose="020B0609020204030204" pitchFamily="49" charset="0"/>
              </a:rPr>
              <a:t>      SID Base </a:t>
            </a:r>
            <a:r>
              <a:rPr lang="sk-SK" sz="1100" dirty="0" err="1">
                <a:latin typeface="Consolas" panose="020B0609020204030204" pitchFamily="49" charset="0"/>
              </a:rPr>
              <a:t>Block</a:t>
            </a:r>
            <a:r>
              <a:rPr lang="sk-SK" sz="1100" dirty="0">
                <a:latin typeface="Consolas" panose="020B0609020204030204" pitchFamily="49" charset="0"/>
              </a:rPr>
              <a:t>: fc00:ab00::/24</a:t>
            </a:r>
          </a:p>
          <a:p>
            <a:r>
              <a:rPr lang="sk-SK" sz="1100" dirty="0">
                <a:latin typeface="Consolas" panose="020B0609020204030204" pitchFamily="49" charset="0"/>
              </a:rPr>
              <a:t>  </a:t>
            </a:r>
            <a:r>
              <a:rPr lang="sk-SK" sz="1100" dirty="0" err="1">
                <a:latin typeface="Consolas" panose="020B0609020204030204" pitchFamily="49" charset="0"/>
              </a:rPr>
              <a:t>Encapsulation</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Source</a:t>
            </a:r>
            <a:r>
              <a:rPr lang="sk-SK" sz="1100" dirty="0">
                <a:latin typeface="Consolas" panose="020B0609020204030204" pitchFamily="49" charset="0"/>
              </a:rPr>
              <a:t> </a:t>
            </a:r>
            <a:r>
              <a:rPr lang="sk-SK" sz="1100" dirty="0" err="1">
                <a:latin typeface="Consolas" panose="020B0609020204030204" pitchFamily="49" charset="0"/>
              </a:rPr>
              <a:t>Address</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Configured</a:t>
            </a:r>
            <a:r>
              <a:rPr lang="sk-SK" sz="1100" dirty="0">
                <a:latin typeface="Consolas" panose="020B0609020204030204" pitchFamily="49" charset="0"/>
              </a:rPr>
              <a:t>: ::</a:t>
            </a:r>
          </a:p>
          <a:p>
            <a:r>
              <a:rPr lang="sk-SK" sz="1100" dirty="0">
                <a:latin typeface="Consolas" panose="020B0609020204030204" pitchFamily="49" charset="0"/>
              </a:rPr>
              <a:t>      Default: 2001:9999::1</a:t>
            </a:r>
          </a:p>
          <a:p>
            <a:r>
              <a:rPr lang="sk-SK" sz="1100" dirty="0">
                <a:latin typeface="Consolas" panose="020B0609020204030204" pitchFamily="49" charset="0"/>
              </a:rPr>
              <a:t>    Hop-Limit: Default </a:t>
            </a:r>
          </a:p>
          <a:p>
            <a:r>
              <a:rPr lang="sk-SK" sz="1100" dirty="0">
                <a:latin typeface="Consolas" panose="020B0609020204030204" pitchFamily="49" charset="0"/>
              </a:rPr>
              <a:t>    </a:t>
            </a:r>
            <a:r>
              <a:rPr lang="sk-SK" sz="1100" dirty="0" err="1">
                <a:latin typeface="Consolas" panose="020B0609020204030204" pitchFamily="49" charset="0"/>
              </a:rPr>
              <a:t>Traffic-class</a:t>
            </a:r>
            <a:r>
              <a:rPr lang="sk-SK" sz="1100" dirty="0">
                <a:latin typeface="Consolas" panose="020B0609020204030204" pitchFamily="49" charset="0"/>
              </a:rPr>
              <a:t>: Default </a:t>
            </a:r>
          </a:p>
          <a:p>
            <a:r>
              <a:rPr lang="sk-SK" sz="1100" dirty="0" err="1">
                <a:latin typeface="Consolas" panose="020B0609020204030204" pitchFamily="49" charset="0"/>
              </a:rPr>
              <a:t>Summary</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Number</a:t>
            </a:r>
            <a:r>
              <a:rPr lang="sk-SK" sz="1100" dirty="0">
                <a:latin typeface="Consolas" panose="020B0609020204030204" pitchFamily="49" charset="0"/>
              </a:rPr>
              <a:t> of </a:t>
            </a:r>
            <a:r>
              <a:rPr lang="sk-SK" sz="1100" dirty="0" err="1">
                <a:latin typeface="Consolas" panose="020B0609020204030204" pitchFamily="49" charset="0"/>
              </a:rPr>
              <a:t>Locators</a:t>
            </a:r>
            <a:r>
              <a:rPr lang="sk-SK" sz="1100" dirty="0">
                <a:latin typeface="Consolas" panose="020B0609020204030204" pitchFamily="49" charset="0"/>
              </a:rPr>
              <a:t>: 1 (1 </a:t>
            </a:r>
            <a:r>
              <a:rPr lang="sk-SK" sz="1100" dirty="0" err="1">
                <a:latin typeface="Consolas" panose="020B0609020204030204" pitchFamily="49" charset="0"/>
              </a:rPr>
              <a:t>operational</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Number</a:t>
            </a:r>
            <a:r>
              <a:rPr lang="sk-SK" sz="1100" dirty="0">
                <a:latin typeface="Consolas" panose="020B0609020204030204" pitchFamily="49" charset="0"/>
              </a:rPr>
              <a:t> of </a:t>
            </a:r>
            <a:r>
              <a:rPr lang="sk-SK" sz="1100" dirty="0" err="1">
                <a:latin typeface="Consolas" panose="020B0609020204030204" pitchFamily="49" charset="0"/>
              </a:rPr>
              <a:t>SIDs</a:t>
            </a:r>
            <a:r>
              <a:rPr lang="sk-SK" sz="1100" dirty="0">
                <a:latin typeface="Consolas" panose="020B0609020204030204" pitchFamily="49" charset="0"/>
              </a:rPr>
              <a:t>: 3 (0 </a:t>
            </a:r>
            <a:r>
              <a:rPr lang="sk-SK" sz="1100" dirty="0" err="1">
                <a:latin typeface="Consolas" panose="020B0609020204030204" pitchFamily="49" charset="0"/>
              </a:rPr>
              <a:t>stale</a:t>
            </a:r>
            <a:r>
              <a:rPr lang="sk-SK" sz="1100" dirty="0">
                <a:latin typeface="Consolas" panose="020B0609020204030204" pitchFamily="49" charset="0"/>
              </a:rPr>
              <a:t>)</a:t>
            </a:r>
          </a:p>
          <a:p>
            <a:r>
              <a:rPr lang="sk-SK" sz="1100" dirty="0">
                <a:latin typeface="Consolas" panose="020B0609020204030204" pitchFamily="49" charset="0"/>
              </a:rPr>
              <a:t>  Max SID </a:t>
            </a:r>
            <a:r>
              <a:rPr lang="sk-SK" sz="1100" dirty="0" err="1">
                <a:latin typeface="Consolas" panose="020B0609020204030204" pitchFamily="49" charset="0"/>
              </a:rPr>
              <a:t>resources</a:t>
            </a:r>
            <a:r>
              <a:rPr lang="sk-SK" sz="1100" dirty="0">
                <a:latin typeface="Consolas" panose="020B0609020204030204" pitchFamily="49" charset="0"/>
              </a:rPr>
              <a:t>: 64000</a:t>
            </a:r>
          </a:p>
          <a:p>
            <a:r>
              <a:rPr lang="sk-SK" sz="1100" dirty="0">
                <a:latin typeface="Consolas" panose="020B0609020204030204" pitchFamily="49" charset="0"/>
              </a:rPr>
              <a:t>  </a:t>
            </a:r>
            <a:r>
              <a:rPr lang="sk-SK" sz="1100" dirty="0" err="1">
                <a:latin typeface="Consolas" panose="020B0609020204030204" pitchFamily="49" charset="0"/>
              </a:rPr>
              <a:t>Number</a:t>
            </a:r>
            <a:r>
              <a:rPr lang="sk-SK" sz="1100" dirty="0">
                <a:latin typeface="Consolas" panose="020B0609020204030204" pitchFamily="49" charset="0"/>
              </a:rPr>
              <a:t> of </a:t>
            </a:r>
            <a:r>
              <a:rPr lang="sk-SK" sz="1100" dirty="0" err="1">
                <a:latin typeface="Consolas" panose="020B0609020204030204" pitchFamily="49" charset="0"/>
              </a:rPr>
              <a:t>free</a:t>
            </a:r>
            <a:r>
              <a:rPr lang="sk-SK" sz="1100" dirty="0">
                <a:latin typeface="Consolas" panose="020B0609020204030204" pitchFamily="49" charset="0"/>
              </a:rPr>
              <a:t> SID </a:t>
            </a:r>
            <a:r>
              <a:rPr lang="sk-SK" sz="1100" dirty="0" err="1">
                <a:latin typeface="Consolas" panose="020B0609020204030204" pitchFamily="49" charset="0"/>
              </a:rPr>
              <a:t>resources</a:t>
            </a:r>
            <a:r>
              <a:rPr lang="sk-SK" sz="1100" dirty="0">
                <a:latin typeface="Consolas" panose="020B0609020204030204" pitchFamily="49" charset="0"/>
              </a:rPr>
              <a:t>: 63997</a:t>
            </a:r>
          </a:p>
          <a:p>
            <a:r>
              <a:rPr lang="sk-SK" sz="1100" dirty="0">
                <a:latin typeface="Consolas" panose="020B0609020204030204" pitchFamily="49" charset="0"/>
              </a:rPr>
              <a:t>  OOR:</a:t>
            </a:r>
          </a:p>
          <a:p>
            <a:r>
              <a:rPr lang="sk-SK" sz="1100" dirty="0">
                <a:latin typeface="Consolas" panose="020B0609020204030204" pitchFamily="49" charset="0"/>
              </a:rPr>
              <a:t>    </a:t>
            </a:r>
            <a:r>
              <a:rPr lang="sk-SK" sz="1100" dirty="0" err="1">
                <a:latin typeface="Consolas" panose="020B0609020204030204" pitchFamily="49" charset="0"/>
              </a:rPr>
              <a:t>Thresholds</a:t>
            </a:r>
            <a:r>
              <a:rPr lang="sk-SK" sz="1100" dirty="0">
                <a:latin typeface="Consolas" panose="020B0609020204030204" pitchFamily="49" charset="0"/>
              </a:rPr>
              <a:t> (</a:t>
            </a:r>
            <a:r>
              <a:rPr lang="sk-SK" sz="1100" dirty="0" err="1">
                <a:latin typeface="Consolas" panose="020B0609020204030204" pitchFamily="49" charset="0"/>
              </a:rPr>
              <a:t>resources</a:t>
            </a:r>
            <a:r>
              <a:rPr lang="sk-SK" sz="1100" dirty="0">
                <a:latin typeface="Consolas" panose="020B0609020204030204" pitchFamily="49" charset="0"/>
              </a:rPr>
              <a:t>): </a:t>
            </a:r>
            <a:r>
              <a:rPr lang="sk-SK" sz="1100" dirty="0" err="1">
                <a:latin typeface="Consolas" panose="020B0609020204030204" pitchFamily="49" charset="0"/>
              </a:rPr>
              <a:t>Green</a:t>
            </a:r>
            <a:r>
              <a:rPr lang="sk-SK" sz="1100" dirty="0">
                <a:latin typeface="Consolas" panose="020B0609020204030204" pitchFamily="49" charset="0"/>
              </a:rPr>
              <a:t> 3200, </a:t>
            </a:r>
            <a:r>
              <a:rPr lang="sk-SK" sz="1100" dirty="0" err="1">
                <a:latin typeface="Consolas" panose="020B0609020204030204" pitchFamily="49" charset="0"/>
              </a:rPr>
              <a:t>Warning</a:t>
            </a:r>
            <a:r>
              <a:rPr lang="sk-SK" sz="1100" dirty="0">
                <a:latin typeface="Consolas" panose="020B0609020204030204" pitchFamily="49" charset="0"/>
              </a:rPr>
              <a:t> 1920</a:t>
            </a:r>
          </a:p>
          <a:p>
            <a:r>
              <a:rPr lang="sk-SK" sz="1100" dirty="0">
                <a:latin typeface="Consolas" panose="020B0609020204030204" pitchFamily="49" charset="0"/>
              </a:rPr>
              <a:t>    Status: </a:t>
            </a:r>
            <a:r>
              <a:rPr lang="sk-SK" sz="1100" dirty="0" err="1">
                <a:latin typeface="Consolas" panose="020B0609020204030204" pitchFamily="49" charset="0"/>
              </a:rPr>
              <a:t>Resource</a:t>
            </a:r>
            <a:r>
              <a:rPr lang="sk-SK" sz="1100" dirty="0">
                <a:latin typeface="Consolas" panose="020B0609020204030204" pitchFamily="49" charset="0"/>
              </a:rPr>
              <a:t> </a:t>
            </a:r>
            <a:r>
              <a:rPr lang="sk-SK" sz="1100" dirty="0" err="1">
                <a:latin typeface="Consolas" panose="020B0609020204030204" pitchFamily="49" charset="0"/>
              </a:rPr>
              <a:t>Available</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History</a:t>
            </a:r>
            <a:r>
              <a:rPr lang="sk-SK" sz="1100" dirty="0">
                <a:latin typeface="Consolas" panose="020B0609020204030204" pitchFamily="49" charset="0"/>
              </a:rPr>
              <a:t>: (0 </a:t>
            </a:r>
            <a:r>
              <a:rPr lang="sk-SK" sz="1100" dirty="0" err="1">
                <a:latin typeface="Consolas" panose="020B0609020204030204" pitchFamily="49" charset="0"/>
              </a:rPr>
              <a:t>cleared</a:t>
            </a:r>
            <a:r>
              <a:rPr lang="sk-SK" sz="1100" dirty="0">
                <a:latin typeface="Consolas" panose="020B0609020204030204" pitchFamily="49" charset="0"/>
              </a:rPr>
              <a:t>, 0 </a:t>
            </a:r>
            <a:r>
              <a:rPr lang="sk-SK" sz="1100" dirty="0" err="1">
                <a:latin typeface="Consolas" panose="020B0609020204030204" pitchFamily="49" charset="0"/>
              </a:rPr>
              <a:t>warnings</a:t>
            </a:r>
            <a:r>
              <a:rPr lang="sk-SK" sz="1100" dirty="0">
                <a:latin typeface="Consolas" panose="020B0609020204030204" pitchFamily="49" charset="0"/>
              </a:rPr>
              <a:t>, 0 </a:t>
            </a:r>
            <a:r>
              <a:rPr lang="sk-SK" sz="1100" dirty="0" err="1">
                <a:latin typeface="Consolas" panose="020B0609020204030204" pitchFamily="49" charset="0"/>
              </a:rPr>
              <a:t>full</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Block</a:t>
            </a:r>
            <a:r>
              <a:rPr lang="sk-SK" sz="1100" dirty="0">
                <a:latin typeface="Consolas" panose="020B0609020204030204" pitchFamily="49" charset="0"/>
              </a:rPr>
              <a:t> fc00:ab00::/32:</a:t>
            </a:r>
          </a:p>
          <a:p>
            <a:r>
              <a:rPr lang="sk-SK" sz="1100" dirty="0">
                <a:latin typeface="Consolas" panose="020B0609020204030204" pitchFamily="49" charset="0"/>
              </a:rPr>
              <a:t>        </a:t>
            </a:r>
            <a:r>
              <a:rPr lang="sk-SK" sz="1100" dirty="0" err="1">
                <a:latin typeface="Consolas" panose="020B0609020204030204" pitchFamily="49" charset="0"/>
              </a:rPr>
              <a:t>Number</a:t>
            </a:r>
            <a:r>
              <a:rPr lang="sk-SK" sz="1100" dirty="0">
                <a:latin typeface="Consolas" panose="020B0609020204030204" pitchFamily="49" charset="0"/>
              </a:rPr>
              <a:t> of </a:t>
            </a:r>
            <a:r>
              <a:rPr lang="sk-SK" sz="1100" dirty="0" err="1">
                <a:latin typeface="Consolas" panose="020B0609020204030204" pitchFamily="49" charset="0"/>
              </a:rPr>
              <a:t>SIDs</a:t>
            </a:r>
            <a:r>
              <a:rPr lang="sk-SK" sz="1100" dirty="0">
                <a:latin typeface="Consolas" panose="020B0609020204030204" pitchFamily="49" charset="0"/>
              </a:rPr>
              <a:t> </a:t>
            </a:r>
            <a:r>
              <a:rPr lang="sk-SK" sz="1100" dirty="0" err="1">
                <a:latin typeface="Consolas" panose="020B0609020204030204" pitchFamily="49" charset="0"/>
              </a:rPr>
              <a:t>free</a:t>
            </a:r>
            <a:r>
              <a:rPr lang="sk-SK" sz="1100" dirty="0">
                <a:latin typeface="Consolas" panose="020B0609020204030204" pitchFamily="49" charset="0"/>
              </a:rPr>
              <a:t>: 7677</a:t>
            </a:r>
          </a:p>
          <a:p>
            <a:r>
              <a:rPr lang="sk-SK" sz="1100" dirty="0">
                <a:latin typeface="Consolas" panose="020B0609020204030204" pitchFamily="49" charset="0"/>
              </a:rPr>
              <a:t>        Max </a:t>
            </a:r>
            <a:r>
              <a:rPr lang="sk-SK" sz="1100" dirty="0" err="1">
                <a:latin typeface="Consolas" panose="020B0609020204030204" pitchFamily="49" charset="0"/>
              </a:rPr>
              <a:t>SIDs</a:t>
            </a:r>
            <a:r>
              <a:rPr lang="sk-SK" sz="1100" dirty="0">
                <a:latin typeface="Consolas" panose="020B0609020204030204" pitchFamily="49" charset="0"/>
              </a:rPr>
              <a:t>: 7680</a:t>
            </a:r>
          </a:p>
          <a:p>
            <a:r>
              <a:rPr lang="sk-SK" sz="1100" dirty="0">
                <a:latin typeface="Consolas" panose="020B0609020204030204" pitchFamily="49" charset="0"/>
              </a:rPr>
              <a:t>        </a:t>
            </a:r>
            <a:r>
              <a:rPr lang="sk-SK" sz="1100" dirty="0" err="1">
                <a:latin typeface="Consolas" panose="020B0609020204030204" pitchFamily="49" charset="0"/>
              </a:rPr>
              <a:t>Thresholds</a:t>
            </a:r>
            <a:r>
              <a:rPr lang="sk-SK" sz="1100" dirty="0">
                <a:latin typeface="Consolas" panose="020B0609020204030204" pitchFamily="49" charset="0"/>
              </a:rPr>
              <a:t>: </a:t>
            </a:r>
            <a:r>
              <a:rPr lang="sk-SK" sz="1100" dirty="0" err="1">
                <a:latin typeface="Consolas" panose="020B0609020204030204" pitchFamily="49" charset="0"/>
              </a:rPr>
              <a:t>Green</a:t>
            </a:r>
            <a:r>
              <a:rPr lang="sk-SK" sz="1100" dirty="0">
                <a:latin typeface="Consolas" panose="020B0609020204030204" pitchFamily="49" charset="0"/>
              </a:rPr>
              <a:t> 384, </a:t>
            </a:r>
            <a:r>
              <a:rPr lang="sk-SK" sz="1100" dirty="0" err="1">
                <a:latin typeface="Consolas" panose="020B0609020204030204" pitchFamily="49" charset="0"/>
              </a:rPr>
              <a:t>Warning</a:t>
            </a:r>
            <a:r>
              <a:rPr lang="sk-SK" sz="1100" dirty="0">
                <a:latin typeface="Consolas" panose="020B0609020204030204" pitchFamily="49" charset="0"/>
              </a:rPr>
              <a:t> 231</a:t>
            </a:r>
          </a:p>
          <a:p>
            <a:r>
              <a:rPr lang="sk-SK" sz="1100" dirty="0">
                <a:latin typeface="Consolas" panose="020B0609020204030204" pitchFamily="49" charset="0"/>
              </a:rPr>
              <a:t>        Status: </a:t>
            </a:r>
            <a:r>
              <a:rPr lang="sk-SK" sz="1100" dirty="0" err="1">
                <a:latin typeface="Consolas" panose="020B0609020204030204" pitchFamily="49" charset="0"/>
              </a:rPr>
              <a:t>Resource</a:t>
            </a:r>
            <a:r>
              <a:rPr lang="sk-SK" sz="1100" dirty="0">
                <a:latin typeface="Consolas" panose="020B0609020204030204" pitchFamily="49" charset="0"/>
              </a:rPr>
              <a:t> </a:t>
            </a:r>
            <a:r>
              <a:rPr lang="sk-SK" sz="1100" dirty="0" err="1">
                <a:latin typeface="Consolas" panose="020B0609020204030204" pitchFamily="49" charset="0"/>
              </a:rPr>
              <a:t>Available</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History</a:t>
            </a:r>
            <a:r>
              <a:rPr lang="sk-SK" sz="1100" dirty="0">
                <a:latin typeface="Consolas" panose="020B0609020204030204" pitchFamily="49" charset="0"/>
              </a:rPr>
              <a:t>: (0 </a:t>
            </a:r>
            <a:r>
              <a:rPr lang="sk-SK" sz="1100" dirty="0" err="1">
                <a:latin typeface="Consolas" panose="020B0609020204030204" pitchFamily="49" charset="0"/>
              </a:rPr>
              <a:t>cleared</a:t>
            </a:r>
            <a:r>
              <a:rPr lang="sk-SK" sz="1100" dirty="0">
                <a:latin typeface="Consolas" panose="020B0609020204030204" pitchFamily="49" charset="0"/>
              </a:rPr>
              <a:t>, 0 </a:t>
            </a:r>
            <a:r>
              <a:rPr lang="sk-SK" sz="1100" dirty="0" err="1">
                <a:latin typeface="Consolas" panose="020B0609020204030204" pitchFamily="49" charset="0"/>
              </a:rPr>
              <a:t>warnings</a:t>
            </a:r>
            <a:r>
              <a:rPr lang="sk-SK" sz="1100" dirty="0">
                <a:latin typeface="Consolas" panose="020B0609020204030204" pitchFamily="49" charset="0"/>
              </a:rPr>
              <a:t>, 0 </a:t>
            </a:r>
            <a:r>
              <a:rPr lang="sk-SK" sz="1100" dirty="0" err="1">
                <a:latin typeface="Consolas" panose="020B0609020204030204" pitchFamily="49" charset="0"/>
              </a:rPr>
              <a:t>full</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Block</a:t>
            </a:r>
            <a:r>
              <a:rPr lang="sk-SK" sz="1100" dirty="0">
                <a:latin typeface="Consolas" panose="020B0609020204030204" pitchFamily="49" charset="0"/>
              </a:rPr>
              <a:t> fc00:abff::/32:</a:t>
            </a:r>
          </a:p>
          <a:p>
            <a:r>
              <a:rPr lang="sk-SK" sz="1100" dirty="0">
                <a:latin typeface="Consolas" panose="020B0609020204030204" pitchFamily="49" charset="0"/>
              </a:rPr>
              <a:t>        </a:t>
            </a:r>
            <a:r>
              <a:rPr lang="sk-SK" sz="1100" dirty="0" err="1">
                <a:latin typeface="Consolas" panose="020B0609020204030204" pitchFamily="49" charset="0"/>
              </a:rPr>
              <a:t>Number</a:t>
            </a:r>
            <a:r>
              <a:rPr lang="sk-SK" sz="1100" dirty="0">
                <a:latin typeface="Consolas" panose="020B0609020204030204" pitchFamily="49" charset="0"/>
              </a:rPr>
              <a:t> of </a:t>
            </a:r>
            <a:r>
              <a:rPr lang="sk-SK" sz="1100" dirty="0" err="1">
                <a:latin typeface="Consolas" panose="020B0609020204030204" pitchFamily="49" charset="0"/>
              </a:rPr>
              <a:t>SIDs</a:t>
            </a:r>
            <a:r>
              <a:rPr lang="sk-SK" sz="1100" dirty="0">
                <a:latin typeface="Consolas" panose="020B0609020204030204" pitchFamily="49" charset="0"/>
              </a:rPr>
              <a:t> </a:t>
            </a:r>
            <a:r>
              <a:rPr lang="sk-SK" sz="1100" dirty="0" err="1">
                <a:latin typeface="Consolas" panose="020B0609020204030204" pitchFamily="49" charset="0"/>
              </a:rPr>
              <a:t>free</a:t>
            </a:r>
            <a:r>
              <a:rPr lang="sk-SK" sz="1100" dirty="0">
                <a:latin typeface="Consolas" panose="020B0609020204030204" pitchFamily="49" charset="0"/>
              </a:rPr>
              <a:t>: 7680</a:t>
            </a:r>
          </a:p>
          <a:p>
            <a:r>
              <a:rPr lang="sk-SK" sz="1100" dirty="0">
                <a:latin typeface="Consolas" panose="020B0609020204030204" pitchFamily="49" charset="0"/>
              </a:rPr>
              <a:t>        Max </a:t>
            </a:r>
            <a:r>
              <a:rPr lang="sk-SK" sz="1100" dirty="0" err="1">
                <a:latin typeface="Consolas" panose="020B0609020204030204" pitchFamily="49" charset="0"/>
              </a:rPr>
              <a:t>SIDs</a:t>
            </a:r>
            <a:r>
              <a:rPr lang="sk-SK" sz="1100" dirty="0">
                <a:latin typeface="Consolas" panose="020B0609020204030204" pitchFamily="49" charset="0"/>
              </a:rPr>
              <a:t>: 7680</a:t>
            </a:r>
          </a:p>
          <a:p>
            <a:r>
              <a:rPr lang="sk-SK" sz="1100" dirty="0">
                <a:latin typeface="Consolas" panose="020B0609020204030204" pitchFamily="49" charset="0"/>
              </a:rPr>
              <a:t>        </a:t>
            </a:r>
            <a:r>
              <a:rPr lang="sk-SK" sz="1100" dirty="0" err="1">
                <a:latin typeface="Consolas" panose="020B0609020204030204" pitchFamily="49" charset="0"/>
              </a:rPr>
              <a:t>Thresholds</a:t>
            </a:r>
            <a:r>
              <a:rPr lang="sk-SK" sz="1100" dirty="0">
                <a:latin typeface="Consolas" panose="020B0609020204030204" pitchFamily="49" charset="0"/>
              </a:rPr>
              <a:t>: </a:t>
            </a:r>
            <a:r>
              <a:rPr lang="sk-SK" sz="1100" dirty="0" err="1">
                <a:latin typeface="Consolas" panose="020B0609020204030204" pitchFamily="49" charset="0"/>
              </a:rPr>
              <a:t>Green</a:t>
            </a:r>
            <a:r>
              <a:rPr lang="sk-SK" sz="1100" dirty="0">
                <a:latin typeface="Consolas" panose="020B0609020204030204" pitchFamily="49" charset="0"/>
              </a:rPr>
              <a:t> 384, </a:t>
            </a:r>
            <a:r>
              <a:rPr lang="sk-SK" sz="1100" dirty="0" err="1">
                <a:latin typeface="Consolas" panose="020B0609020204030204" pitchFamily="49" charset="0"/>
              </a:rPr>
              <a:t>Warning</a:t>
            </a:r>
            <a:r>
              <a:rPr lang="sk-SK" sz="1100" dirty="0">
                <a:latin typeface="Consolas" panose="020B0609020204030204" pitchFamily="49" charset="0"/>
              </a:rPr>
              <a:t> 231</a:t>
            </a:r>
          </a:p>
          <a:p>
            <a:r>
              <a:rPr lang="sk-SK" sz="1100" dirty="0">
                <a:latin typeface="Consolas" panose="020B0609020204030204" pitchFamily="49" charset="0"/>
              </a:rPr>
              <a:t>        Status: </a:t>
            </a:r>
            <a:r>
              <a:rPr lang="sk-SK" sz="1100" dirty="0" err="1">
                <a:latin typeface="Consolas" panose="020B0609020204030204" pitchFamily="49" charset="0"/>
              </a:rPr>
              <a:t>Resource</a:t>
            </a:r>
            <a:r>
              <a:rPr lang="sk-SK" sz="1100" dirty="0">
                <a:latin typeface="Consolas" panose="020B0609020204030204" pitchFamily="49" charset="0"/>
              </a:rPr>
              <a:t> </a:t>
            </a:r>
            <a:r>
              <a:rPr lang="sk-SK" sz="1100" dirty="0" err="1">
                <a:latin typeface="Consolas" panose="020B0609020204030204" pitchFamily="49" charset="0"/>
              </a:rPr>
              <a:t>Available</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History</a:t>
            </a:r>
            <a:r>
              <a:rPr lang="sk-SK" sz="1100" dirty="0">
                <a:latin typeface="Consolas" panose="020B0609020204030204" pitchFamily="49" charset="0"/>
              </a:rPr>
              <a:t>: (0 </a:t>
            </a:r>
            <a:r>
              <a:rPr lang="sk-SK" sz="1100" dirty="0" err="1">
                <a:latin typeface="Consolas" panose="020B0609020204030204" pitchFamily="49" charset="0"/>
              </a:rPr>
              <a:t>cleared</a:t>
            </a:r>
            <a:r>
              <a:rPr lang="sk-SK" sz="1100" dirty="0">
                <a:latin typeface="Consolas" panose="020B0609020204030204" pitchFamily="49" charset="0"/>
              </a:rPr>
              <a:t>, 0 </a:t>
            </a:r>
            <a:r>
              <a:rPr lang="sk-SK" sz="1100" dirty="0" err="1">
                <a:latin typeface="Consolas" panose="020B0609020204030204" pitchFamily="49" charset="0"/>
              </a:rPr>
              <a:t>warnings</a:t>
            </a:r>
            <a:r>
              <a:rPr lang="sk-SK" sz="1100" dirty="0">
                <a:latin typeface="Consolas" panose="020B0609020204030204" pitchFamily="49" charset="0"/>
              </a:rPr>
              <a:t>, 0 </a:t>
            </a:r>
            <a:r>
              <a:rPr lang="sk-SK" sz="1100" dirty="0" err="1">
                <a:latin typeface="Consolas" panose="020B0609020204030204" pitchFamily="49" charset="0"/>
              </a:rPr>
              <a:t>full</a:t>
            </a:r>
            <a:r>
              <a:rPr lang="sk-SK" sz="1100" dirty="0">
                <a:latin typeface="Consolas" panose="020B0609020204030204" pitchFamily="49" charset="0"/>
              </a:rPr>
              <a:t>)</a:t>
            </a:r>
          </a:p>
          <a:p>
            <a:r>
              <a:rPr lang="en-US" sz="1100" dirty="0">
                <a:latin typeface="Consolas" panose="020B0609020204030204" pitchFamily="49" charset="0"/>
              </a:rPr>
              <a:t>-- Cut --</a:t>
            </a:r>
            <a:endParaRPr lang="sk-SK" sz="1100" dirty="0">
              <a:latin typeface="Consolas" panose="020B0609020204030204" pitchFamily="49" charset="0"/>
            </a:endParaRPr>
          </a:p>
        </p:txBody>
      </p:sp>
      <p:sp>
        <p:nvSpPr>
          <p:cNvPr id="5" name="Rectangle 4">
            <a:extLst>
              <a:ext uri="{FF2B5EF4-FFF2-40B4-BE49-F238E27FC236}">
                <a16:creationId xmlns:a16="http://schemas.microsoft.com/office/drawing/2014/main" id="{460F1448-9327-1EAF-D3A8-F418A2A34531}"/>
              </a:ext>
            </a:extLst>
          </p:cNvPr>
          <p:cNvSpPr/>
          <p:nvPr/>
        </p:nvSpPr>
        <p:spPr>
          <a:xfrm>
            <a:off x="4765199" y="785478"/>
            <a:ext cx="2489041" cy="5678478"/>
          </a:xfrm>
          <a:prstGeom prst="rect">
            <a:avLst/>
          </a:prstGeom>
          <a:solidFill>
            <a:schemeClr val="bg1">
              <a:lumMod val="95000"/>
            </a:schemeClr>
          </a:solidFill>
          <a:ln>
            <a:solidFill>
              <a:schemeClr val="tx1"/>
            </a:solidFill>
          </a:ln>
          <a:effectLst/>
        </p:spPr>
        <p:txBody>
          <a:bodyPr wrap="square">
            <a:spAutoFit/>
          </a:bodyPr>
          <a:lstStyle/>
          <a:p>
            <a:r>
              <a:rPr lang="sk-SK" sz="1100" dirty="0" err="1">
                <a:latin typeface="Consolas" panose="020B0609020204030204" pitchFamily="49" charset="0"/>
              </a:rPr>
              <a:t>Platform</a:t>
            </a:r>
            <a:r>
              <a:rPr lang="sk-SK" sz="1100" dirty="0">
                <a:latin typeface="Consolas" panose="020B0609020204030204" pitchFamily="49" charset="0"/>
              </a:rPr>
              <a:t> </a:t>
            </a:r>
            <a:r>
              <a:rPr lang="sk-SK" sz="1100" dirty="0" err="1">
                <a:latin typeface="Consolas" panose="020B0609020204030204" pitchFamily="49" charset="0"/>
              </a:rPr>
              <a:t>Capabilities</a:t>
            </a:r>
            <a:r>
              <a:rPr lang="sk-SK" sz="1100" dirty="0">
                <a:latin typeface="Consolas" panose="020B0609020204030204" pitchFamily="49" charset="0"/>
              </a:rPr>
              <a:t>:</a:t>
            </a:r>
          </a:p>
          <a:p>
            <a:r>
              <a:rPr lang="sk-SK" sz="1100" dirty="0">
                <a:latin typeface="Consolas" panose="020B0609020204030204" pitchFamily="49" charset="0"/>
              </a:rPr>
              <a:t>  SRv6: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  TILFA: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Microloop-Avoidance</a:t>
            </a:r>
            <a:r>
              <a:rPr lang="sk-SK" sz="1100" dirty="0">
                <a:latin typeface="Consolas" panose="020B0609020204030204" pitchFamily="49" charset="0"/>
              </a:rPr>
              <a:t>: </a:t>
            </a:r>
            <a:r>
              <a:rPr lang="sk-SK" sz="1100" dirty="0" err="1">
                <a:latin typeface="Consolas" panose="020B0609020204030204" pitchFamily="49" charset="0"/>
              </a:rPr>
              <a:t>Yes</a:t>
            </a:r>
            <a:endParaRPr lang="en-US" sz="1100" dirty="0">
              <a:latin typeface="Consolas" panose="020B0609020204030204" pitchFamily="49" charset="0"/>
            </a:endParaRPr>
          </a:p>
          <a:p>
            <a:r>
              <a:rPr lang="en-US" sz="1100" dirty="0">
                <a:latin typeface="Consolas" panose="020B0609020204030204" pitchFamily="49" charset="0"/>
              </a:rPr>
              <a:t>Endpoint behaviors: </a:t>
            </a:r>
          </a:p>
          <a:p>
            <a:r>
              <a:rPr lang="en-US" sz="1100" dirty="0">
                <a:latin typeface="Consolas" panose="020B0609020204030204" pitchFamily="49" charset="0"/>
              </a:rPr>
              <a:t>    End.DX6</a:t>
            </a:r>
          </a:p>
          <a:p>
            <a:r>
              <a:rPr lang="en-US" sz="1100" dirty="0">
                <a:latin typeface="Consolas" panose="020B0609020204030204" pitchFamily="49" charset="0"/>
              </a:rPr>
              <a:t>    End.DX4</a:t>
            </a:r>
          </a:p>
          <a:p>
            <a:r>
              <a:rPr lang="en-US" sz="1100" dirty="0">
                <a:latin typeface="Consolas" panose="020B0609020204030204" pitchFamily="49" charset="0"/>
              </a:rPr>
              <a:t>    End.DT6</a:t>
            </a:r>
          </a:p>
          <a:p>
            <a:r>
              <a:rPr lang="en-US" sz="1100" dirty="0">
                <a:latin typeface="Consolas" panose="020B0609020204030204" pitchFamily="49" charset="0"/>
              </a:rPr>
              <a:t>    End.DT4</a:t>
            </a:r>
          </a:p>
          <a:p>
            <a:r>
              <a:rPr lang="en-US" sz="1100" dirty="0">
                <a:latin typeface="Consolas" panose="020B0609020204030204" pitchFamily="49" charset="0"/>
              </a:rPr>
              <a:t>    End.DX2</a:t>
            </a:r>
          </a:p>
          <a:p>
            <a:r>
              <a:rPr lang="en-US" sz="1100" dirty="0">
                <a:latin typeface="Consolas" panose="020B0609020204030204" pitchFamily="49" charset="0"/>
              </a:rPr>
              <a:t>    End (PSP/USD)</a:t>
            </a:r>
          </a:p>
          <a:p>
            <a:r>
              <a:rPr lang="en-US" sz="1100" dirty="0">
                <a:latin typeface="Consolas" panose="020B0609020204030204" pitchFamily="49" charset="0"/>
              </a:rPr>
              <a:t>    </a:t>
            </a:r>
            <a:r>
              <a:rPr lang="en-US" sz="1100" dirty="0" err="1">
                <a:latin typeface="Consolas" panose="020B0609020204030204" pitchFamily="49" charset="0"/>
              </a:rPr>
              <a:t>End.X</a:t>
            </a:r>
            <a:r>
              <a:rPr lang="en-US" sz="1100" dirty="0">
                <a:latin typeface="Consolas" panose="020B0609020204030204" pitchFamily="49" charset="0"/>
              </a:rPr>
              <a:t> (PSP/USD)</a:t>
            </a:r>
          </a:p>
          <a:p>
            <a:r>
              <a:rPr lang="en-US" sz="1100" dirty="0">
                <a:latin typeface="Consolas" panose="020B0609020204030204" pitchFamily="49" charset="0"/>
              </a:rPr>
              <a:t>    </a:t>
            </a:r>
            <a:r>
              <a:rPr lang="en-US" sz="1100" dirty="0" err="1">
                <a:latin typeface="Consolas" panose="020B0609020204030204" pitchFamily="49" charset="0"/>
              </a:rPr>
              <a:t>uN</a:t>
            </a:r>
            <a:r>
              <a:rPr lang="en-US" sz="1100" dirty="0">
                <a:latin typeface="Consolas" panose="020B0609020204030204" pitchFamily="49" charset="0"/>
              </a:rPr>
              <a:t> (PSP/USD)</a:t>
            </a:r>
          </a:p>
          <a:p>
            <a:r>
              <a:rPr lang="en-US" sz="1100" dirty="0">
                <a:latin typeface="Consolas" panose="020B0609020204030204" pitchFamily="49" charset="0"/>
              </a:rPr>
              <a:t>    </a:t>
            </a:r>
            <a:r>
              <a:rPr lang="en-US" sz="1100" dirty="0" err="1">
                <a:latin typeface="Consolas" panose="020B0609020204030204" pitchFamily="49" charset="0"/>
              </a:rPr>
              <a:t>uA</a:t>
            </a:r>
            <a:r>
              <a:rPr lang="en-US" sz="1100" dirty="0">
                <a:latin typeface="Consolas" panose="020B0609020204030204" pitchFamily="49" charset="0"/>
              </a:rPr>
              <a:t> (PSP/USD)</a:t>
            </a:r>
          </a:p>
          <a:p>
            <a:r>
              <a:rPr lang="en-US" sz="1100" dirty="0">
                <a:latin typeface="Consolas" panose="020B0609020204030204" pitchFamily="49" charset="0"/>
              </a:rPr>
              <a:t>    uDT6  </a:t>
            </a:r>
          </a:p>
          <a:p>
            <a:r>
              <a:rPr lang="en-US" sz="1100" dirty="0">
                <a:latin typeface="Consolas" panose="020B0609020204030204" pitchFamily="49" charset="0"/>
              </a:rPr>
              <a:t>    uDT4</a:t>
            </a:r>
          </a:p>
          <a:p>
            <a:r>
              <a:rPr lang="en-US" sz="1100" dirty="0">
                <a:latin typeface="Consolas" panose="020B0609020204030204" pitchFamily="49" charset="0"/>
              </a:rPr>
              <a:t>    uDX2</a:t>
            </a:r>
          </a:p>
          <a:p>
            <a:r>
              <a:rPr lang="en-US" sz="1100" dirty="0">
                <a:latin typeface="Consolas" panose="020B0609020204030204" pitchFamily="49" charset="0"/>
              </a:rPr>
              <a:t>    uDT2U</a:t>
            </a:r>
          </a:p>
          <a:p>
            <a:r>
              <a:rPr lang="en-US" sz="1100" dirty="0">
                <a:latin typeface="Consolas" panose="020B0609020204030204" pitchFamily="49" charset="0"/>
              </a:rPr>
              <a:t>    uDT2M</a:t>
            </a:r>
          </a:p>
          <a:p>
            <a:r>
              <a:rPr lang="en-US" sz="1100" dirty="0">
                <a:latin typeface="Consolas" panose="020B0609020204030204" pitchFamily="49" charset="0"/>
              </a:rPr>
              <a:t>    uB6 (</a:t>
            </a:r>
            <a:r>
              <a:rPr lang="en-US" sz="1100" dirty="0" err="1">
                <a:latin typeface="Consolas" panose="020B0609020204030204" pitchFamily="49" charset="0"/>
              </a:rPr>
              <a:t>Insert.Red</a:t>
            </a:r>
            <a:r>
              <a:rPr lang="en-US" sz="1100" dirty="0">
                <a:latin typeface="Consolas" panose="020B0609020204030204" pitchFamily="49" charset="0"/>
              </a:rPr>
              <a:t>)</a:t>
            </a:r>
          </a:p>
          <a:p>
            <a:r>
              <a:rPr lang="en-US" sz="1100" dirty="0">
                <a:latin typeface="Consolas" panose="020B0609020204030204" pitchFamily="49" charset="0"/>
              </a:rPr>
              <a:t>  Headend behaviors: </a:t>
            </a:r>
          </a:p>
          <a:p>
            <a:r>
              <a:rPr lang="en-US" sz="1100" dirty="0">
                <a:latin typeface="Consolas" panose="020B0609020204030204" pitchFamily="49" charset="0"/>
              </a:rPr>
              <a:t>    T</a:t>
            </a:r>
          </a:p>
          <a:p>
            <a:r>
              <a:rPr lang="en-US" sz="1100" dirty="0">
                <a:latin typeface="Consolas" panose="020B0609020204030204" pitchFamily="49" charset="0"/>
              </a:rPr>
              <a:t>    </a:t>
            </a:r>
            <a:r>
              <a:rPr lang="en-US" sz="1100" dirty="0" err="1">
                <a:latin typeface="Consolas" panose="020B0609020204030204" pitchFamily="49" charset="0"/>
              </a:rPr>
              <a:t>H.Insert.Red</a:t>
            </a:r>
            <a:endParaRPr lang="en-US" sz="1100" dirty="0">
              <a:latin typeface="Consolas" panose="020B0609020204030204" pitchFamily="49" charset="0"/>
            </a:endParaRPr>
          </a:p>
          <a:p>
            <a:r>
              <a:rPr lang="en-US" sz="1100" dirty="0">
                <a:latin typeface="Consolas" panose="020B0609020204030204" pitchFamily="49" charset="0"/>
              </a:rPr>
              <a:t>    </a:t>
            </a:r>
            <a:r>
              <a:rPr lang="en-US" sz="1100" dirty="0" err="1">
                <a:latin typeface="Consolas" panose="020B0609020204030204" pitchFamily="49" charset="0"/>
              </a:rPr>
              <a:t>H.Encaps.Red</a:t>
            </a:r>
            <a:endParaRPr lang="en-US" sz="1100" dirty="0">
              <a:latin typeface="Consolas" panose="020B0609020204030204" pitchFamily="49" charset="0"/>
            </a:endParaRPr>
          </a:p>
          <a:p>
            <a:r>
              <a:rPr lang="en-US" sz="1100" dirty="0">
                <a:latin typeface="Consolas" panose="020B0609020204030204" pitchFamily="49" charset="0"/>
              </a:rPr>
              <a:t>    H.Encaps.L2.Red</a:t>
            </a:r>
          </a:p>
          <a:p>
            <a:r>
              <a:rPr lang="en-US" sz="1100" dirty="0">
                <a:latin typeface="Consolas" panose="020B0609020204030204" pitchFamily="49" charset="0"/>
              </a:rPr>
              <a:t>  Security rules: </a:t>
            </a:r>
          </a:p>
          <a:p>
            <a:r>
              <a:rPr lang="en-US" sz="1100" dirty="0">
                <a:latin typeface="Consolas" panose="020B0609020204030204" pitchFamily="49" charset="0"/>
              </a:rPr>
              <a:t>    SEC-1</a:t>
            </a:r>
          </a:p>
          <a:p>
            <a:r>
              <a:rPr lang="en-US" sz="1100" dirty="0">
                <a:latin typeface="Consolas" panose="020B0609020204030204" pitchFamily="49" charset="0"/>
              </a:rPr>
              <a:t>    SEC-2</a:t>
            </a:r>
          </a:p>
          <a:p>
            <a:r>
              <a:rPr lang="en-US" sz="1100" dirty="0">
                <a:latin typeface="Consolas" panose="020B0609020204030204" pitchFamily="49" charset="0"/>
              </a:rPr>
              <a:t>    SEC-3</a:t>
            </a:r>
          </a:p>
          <a:p>
            <a:r>
              <a:rPr lang="en-US" sz="1100" dirty="0">
                <a:latin typeface="Consolas" panose="020B0609020204030204" pitchFamily="49" charset="0"/>
              </a:rPr>
              <a:t>  Counters: </a:t>
            </a:r>
          </a:p>
          <a:p>
            <a:r>
              <a:rPr lang="en-US" sz="1100" dirty="0">
                <a:latin typeface="Consolas" panose="020B0609020204030204" pitchFamily="49" charset="0"/>
              </a:rPr>
              <a:t>    CNT-1</a:t>
            </a:r>
          </a:p>
          <a:p>
            <a:r>
              <a:rPr lang="en-US" sz="1100" dirty="0">
                <a:latin typeface="Consolas" panose="020B0609020204030204" pitchFamily="49" charset="0"/>
              </a:rPr>
              <a:t>    CNT-3</a:t>
            </a:r>
          </a:p>
          <a:p>
            <a:r>
              <a:rPr lang="en-US" sz="1100" dirty="0">
                <a:latin typeface="Consolas" panose="020B0609020204030204" pitchFamily="49" charset="0"/>
              </a:rPr>
              <a:t>-- Cut --    </a:t>
            </a:r>
            <a:endParaRPr lang="sk-SK" sz="1100" dirty="0">
              <a:solidFill>
                <a:srgbClr val="FF0000"/>
              </a:solidFill>
              <a:latin typeface="Consolas" panose="020B0609020204030204" pitchFamily="49" charset="0"/>
            </a:endParaRPr>
          </a:p>
        </p:txBody>
      </p:sp>
      <p:sp>
        <p:nvSpPr>
          <p:cNvPr id="6" name="Rectangle 5">
            <a:extLst>
              <a:ext uri="{FF2B5EF4-FFF2-40B4-BE49-F238E27FC236}">
                <a16:creationId xmlns:a16="http://schemas.microsoft.com/office/drawing/2014/main" id="{CC0A6276-1DBB-4DAB-083F-A0F15DC11BB0}"/>
              </a:ext>
            </a:extLst>
          </p:cNvPr>
          <p:cNvSpPr/>
          <p:nvPr/>
        </p:nvSpPr>
        <p:spPr>
          <a:xfrm>
            <a:off x="7366159" y="785478"/>
            <a:ext cx="4653120" cy="3016210"/>
          </a:xfrm>
          <a:prstGeom prst="rect">
            <a:avLst/>
          </a:prstGeom>
          <a:solidFill>
            <a:schemeClr val="bg1">
              <a:lumMod val="95000"/>
            </a:schemeClr>
          </a:solidFill>
          <a:ln>
            <a:solidFill>
              <a:schemeClr val="tx1"/>
            </a:solidFill>
          </a:ln>
          <a:effectLst/>
        </p:spPr>
        <p:txBody>
          <a:bodyPr wrap="square">
            <a:spAutoFit/>
          </a:bodyPr>
          <a:lstStyle/>
          <a:p>
            <a:r>
              <a:rPr lang="en-US" sz="1000" dirty="0">
                <a:latin typeface="Consolas" panose="020B0609020204030204" pitchFamily="49" charset="0"/>
              </a:rPr>
              <a:t>Signaled parameters: </a:t>
            </a:r>
          </a:p>
          <a:p>
            <a:r>
              <a:rPr lang="en-US" sz="1000" dirty="0">
                <a:latin typeface="Consolas" panose="020B0609020204030204" pitchFamily="49" charset="0"/>
              </a:rPr>
              <a:t>    Max-SL          : 3</a:t>
            </a:r>
          </a:p>
          <a:p>
            <a:r>
              <a:rPr lang="en-US" sz="1000" dirty="0">
                <a:latin typeface="Consolas" panose="020B0609020204030204" pitchFamily="49" charset="0"/>
              </a:rPr>
              <a:t>    Max-End-Pop-SRH : 3</a:t>
            </a:r>
          </a:p>
          <a:p>
            <a:r>
              <a:rPr lang="en-US" sz="1000" dirty="0">
                <a:latin typeface="Consolas" panose="020B0609020204030204" pitchFamily="49" charset="0"/>
              </a:rPr>
              <a:t>    Max-H-Insert    : 3 </a:t>
            </a:r>
            <a:r>
              <a:rPr lang="en-US" sz="1000" dirty="0" err="1">
                <a:latin typeface="Consolas" panose="020B0609020204030204" pitchFamily="49" charset="0"/>
              </a:rPr>
              <a:t>sids</a:t>
            </a:r>
            <a:endParaRPr lang="en-US" sz="1000" dirty="0">
              <a:latin typeface="Consolas" panose="020B0609020204030204" pitchFamily="49" charset="0"/>
            </a:endParaRPr>
          </a:p>
          <a:p>
            <a:r>
              <a:rPr lang="en-US" sz="1000" dirty="0">
                <a:latin typeface="Consolas" panose="020B0609020204030204" pitchFamily="49" charset="0"/>
              </a:rPr>
              <a:t>    Max-H-</a:t>
            </a:r>
            <a:r>
              <a:rPr lang="en-US" sz="1000" dirty="0" err="1">
                <a:latin typeface="Consolas" panose="020B0609020204030204" pitchFamily="49" charset="0"/>
              </a:rPr>
              <a:t>Encap</a:t>
            </a:r>
            <a:r>
              <a:rPr lang="en-US" sz="1000" dirty="0">
                <a:latin typeface="Consolas" panose="020B0609020204030204" pitchFamily="49" charset="0"/>
              </a:rPr>
              <a:t>     : 3 </a:t>
            </a:r>
            <a:r>
              <a:rPr lang="en-US" sz="1000" dirty="0" err="1">
                <a:latin typeface="Consolas" panose="020B0609020204030204" pitchFamily="49" charset="0"/>
              </a:rPr>
              <a:t>sids</a:t>
            </a:r>
            <a:endParaRPr lang="en-US" sz="1000" dirty="0">
              <a:latin typeface="Consolas" panose="020B0609020204030204" pitchFamily="49" charset="0"/>
            </a:endParaRPr>
          </a:p>
          <a:p>
            <a:r>
              <a:rPr lang="en-US" sz="1000" dirty="0">
                <a:latin typeface="Consolas" panose="020B0609020204030204" pitchFamily="49" charset="0"/>
              </a:rPr>
              <a:t>    Max-End-D       : 4</a:t>
            </a:r>
          </a:p>
          <a:p>
            <a:r>
              <a:rPr lang="en-US" sz="1000" dirty="0">
                <a:latin typeface="Consolas" panose="020B0609020204030204" pitchFamily="49" charset="0"/>
              </a:rPr>
              <a:t>Configurable parameters (under srv6): </a:t>
            </a:r>
          </a:p>
          <a:p>
            <a:r>
              <a:rPr lang="en-US" sz="1000" dirty="0">
                <a:latin typeface="Consolas" panose="020B0609020204030204" pitchFamily="49" charset="0"/>
              </a:rPr>
              <a:t>    Encapsulation: </a:t>
            </a:r>
          </a:p>
          <a:p>
            <a:r>
              <a:rPr lang="en-US" sz="1000" dirty="0">
                <a:latin typeface="Consolas" panose="020B0609020204030204" pitchFamily="49" charset="0"/>
              </a:rPr>
              <a:t>      Source Address: Yes</a:t>
            </a:r>
          </a:p>
          <a:p>
            <a:r>
              <a:rPr lang="en-US" sz="1000" dirty="0">
                <a:latin typeface="Consolas" panose="020B0609020204030204" pitchFamily="49" charset="0"/>
              </a:rPr>
              <a:t>      Hop-Limit     : value=Yes, propagate=No</a:t>
            </a:r>
          </a:p>
          <a:p>
            <a:r>
              <a:rPr lang="en-US" sz="1000" dirty="0">
                <a:latin typeface="Consolas" panose="020B0609020204030204" pitchFamily="49" charset="0"/>
              </a:rPr>
              <a:t>      Traffic-class : value=Yes, propagate=Yes</a:t>
            </a:r>
          </a:p>
          <a:p>
            <a:r>
              <a:rPr lang="en-US" sz="1000" dirty="0">
                <a:latin typeface="Consolas" panose="020B0609020204030204" pitchFamily="49" charset="0"/>
              </a:rPr>
              <a:t>  Default parameters (under srv6): </a:t>
            </a:r>
          </a:p>
          <a:p>
            <a:r>
              <a:rPr lang="en-US" sz="1000" dirty="0">
                <a:latin typeface="Consolas" panose="020B0609020204030204" pitchFamily="49" charset="0"/>
              </a:rPr>
              <a:t>    Encapsulation: </a:t>
            </a:r>
          </a:p>
          <a:p>
            <a:r>
              <a:rPr lang="en-US" sz="1000" dirty="0">
                <a:latin typeface="Consolas" panose="020B0609020204030204" pitchFamily="49" charset="0"/>
              </a:rPr>
              <a:t>      Hop-Limit     : value=0, propagate=No</a:t>
            </a:r>
          </a:p>
          <a:p>
            <a:r>
              <a:rPr lang="en-US" sz="1000" dirty="0">
                <a:latin typeface="Consolas" panose="020B0609020204030204" pitchFamily="49" charset="0"/>
              </a:rPr>
              <a:t>      Traffic-class : value=0, propagate=No</a:t>
            </a:r>
          </a:p>
          <a:p>
            <a:r>
              <a:rPr lang="en-US" sz="1000" dirty="0">
                <a:latin typeface="Consolas" panose="020B0609020204030204" pitchFamily="49" charset="0"/>
              </a:rPr>
              <a:t>  Max Locators: 16</a:t>
            </a:r>
          </a:p>
          <a:p>
            <a:r>
              <a:rPr lang="en-US" sz="1000" dirty="0">
                <a:latin typeface="Consolas" panose="020B0609020204030204" pitchFamily="49" charset="0"/>
              </a:rPr>
              <a:t>  Max SIDs: 64000</a:t>
            </a:r>
          </a:p>
          <a:p>
            <a:r>
              <a:rPr lang="en-US" sz="1000" dirty="0">
                <a:latin typeface="Consolas" panose="020B0609020204030204" pitchFamily="49" charset="0"/>
              </a:rPr>
              <a:t>  SID </a:t>
            </a:r>
            <a:r>
              <a:rPr lang="en-US" sz="1000" dirty="0" err="1">
                <a:latin typeface="Consolas" panose="020B0609020204030204" pitchFamily="49" charset="0"/>
              </a:rPr>
              <a:t>Holdtime</a:t>
            </a:r>
            <a:r>
              <a:rPr lang="en-US" sz="1000" dirty="0">
                <a:latin typeface="Consolas" panose="020B0609020204030204" pitchFamily="49" charset="0"/>
              </a:rPr>
              <a:t>: 3 mins</a:t>
            </a:r>
          </a:p>
          <a:p>
            <a:r>
              <a:rPr lang="en-US" sz="1000" dirty="0">
                <a:latin typeface="Consolas" panose="020B0609020204030204" pitchFamily="49" charset="0"/>
              </a:rPr>
              <a:t>RP/0/RP0/CPU0:R01# </a:t>
            </a:r>
            <a:endParaRPr lang="sk-SK" sz="1000" dirty="0">
              <a:solidFill>
                <a:srgbClr val="FF0000"/>
              </a:solidFill>
              <a:latin typeface="Consolas" panose="020B0609020204030204" pitchFamily="49" charset="0"/>
            </a:endParaRPr>
          </a:p>
        </p:txBody>
      </p:sp>
      <p:sp>
        <p:nvSpPr>
          <p:cNvPr id="7" name="Rectangle 6">
            <a:extLst>
              <a:ext uri="{FF2B5EF4-FFF2-40B4-BE49-F238E27FC236}">
                <a16:creationId xmlns:a16="http://schemas.microsoft.com/office/drawing/2014/main" id="{CE06591A-A6C7-8F19-855A-A8290D6A790B}"/>
              </a:ext>
            </a:extLst>
          </p:cNvPr>
          <p:cNvSpPr/>
          <p:nvPr/>
        </p:nvSpPr>
        <p:spPr>
          <a:xfrm>
            <a:off x="7366159" y="3888210"/>
            <a:ext cx="4653120" cy="2862322"/>
          </a:xfrm>
          <a:prstGeom prst="rect">
            <a:avLst/>
          </a:prstGeom>
          <a:solidFill>
            <a:schemeClr val="bg1">
              <a:lumMod val="95000"/>
            </a:schemeClr>
          </a:solidFill>
          <a:ln>
            <a:solidFill>
              <a:schemeClr val="tx1"/>
            </a:solidFill>
          </a:ln>
          <a:effectLst/>
        </p:spPr>
        <p:txBody>
          <a:bodyPr wrap="square">
            <a:spAutoFit/>
          </a:bodyPr>
          <a:lstStyle/>
          <a:p>
            <a:r>
              <a:rPr lang="en-US" sz="1000" dirty="0">
                <a:latin typeface="Consolas" panose="020B0609020204030204" pitchFamily="49" charset="0"/>
              </a:rPr>
              <a:t>RP/0/RP0/CPU0:R01# sh </a:t>
            </a:r>
            <a:r>
              <a:rPr lang="en-US" sz="1000" dirty="0" err="1">
                <a:latin typeface="Consolas" panose="020B0609020204030204" pitchFamily="49" charset="0"/>
              </a:rPr>
              <a:t>ver</a:t>
            </a:r>
            <a:endParaRPr lang="en-US" sz="1000" dirty="0">
              <a:latin typeface="Consolas" panose="020B0609020204030204" pitchFamily="49" charset="0"/>
            </a:endParaRPr>
          </a:p>
          <a:p>
            <a:r>
              <a:rPr lang="en-US" sz="1000" dirty="0">
                <a:latin typeface="Consolas" panose="020B0609020204030204" pitchFamily="49" charset="0"/>
              </a:rPr>
              <a:t>Tue Oct 22 11:32:37.612 UTC</a:t>
            </a:r>
          </a:p>
          <a:p>
            <a:r>
              <a:rPr lang="en-US" sz="1000" dirty="0">
                <a:latin typeface="Consolas" panose="020B0609020204030204" pitchFamily="49" charset="0"/>
              </a:rPr>
              <a:t>Cisco IOS XR Software, Version 7.7.1</a:t>
            </a:r>
          </a:p>
          <a:p>
            <a:r>
              <a:rPr lang="en-US" sz="1000" dirty="0">
                <a:latin typeface="Consolas" panose="020B0609020204030204" pitchFamily="49" charset="0"/>
              </a:rPr>
              <a:t>Copyright (c) 2013-2022 by Cisco Systems, Inc.</a:t>
            </a:r>
          </a:p>
          <a:p>
            <a:endParaRPr lang="en-US" sz="1000" dirty="0">
              <a:latin typeface="Consolas" panose="020B0609020204030204" pitchFamily="49" charset="0"/>
            </a:endParaRPr>
          </a:p>
          <a:p>
            <a:r>
              <a:rPr lang="en-US" sz="1000" dirty="0">
                <a:latin typeface="Consolas" panose="020B0609020204030204" pitchFamily="49" charset="0"/>
              </a:rPr>
              <a:t>Build Information:</a:t>
            </a:r>
          </a:p>
          <a:p>
            <a:r>
              <a:rPr lang="en-US" sz="1000" dirty="0">
                <a:latin typeface="Consolas" panose="020B0609020204030204" pitchFamily="49" charset="0"/>
              </a:rPr>
              <a:t> Built By     : </a:t>
            </a:r>
            <a:r>
              <a:rPr lang="en-US" sz="1000" dirty="0" err="1">
                <a:latin typeface="Consolas" panose="020B0609020204030204" pitchFamily="49" charset="0"/>
              </a:rPr>
              <a:t>ingunawa</a:t>
            </a:r>
            <a:endParaRPr lang="en-US" sz="1000" dirty="0">
              <a:latin typeface="Consolas" panose="020B0609020204030204" pitchFamily="49" charset="0"/>
            </a:endParaRPr>
          </a:p>
          <a:p>
            <a:r>
              <a:rPr lang="en-US" sz="1000" dirty="0">
                <a:latin typeface="Consolas" panose="020B0609020204030204" pitchFamily="49" charset="0"/>
              </a:rPr>
              <a:t> Built On     : Mon Jul 25 02:41:45 PDT 2022</a:t>
            </a:r>
          </a:p>
          <a:p>
            <a:r>
              <a:rPr lang="en-US" sz="1000" dirty="0">
                <a:latin typeface="Consolas" panose="020B0609020204030204" pitchFamily="49" charset="0"/>
              </a:rPr>
              <a:t> Built Host   : iox-ucs-067</a:t>
            </a:r>
          </a:p>
          <a:p>
            <a:r>
              <a:rPr lang="en-US" sz="1000" dirty="0">
                <a:latin typeface="Consolas" panose="020B0609020204030204" pitchFamily="49" charset="0"/>
              </a:rPr>
              <a:t> Workspace    : /auto/srcarchive12/prod/7.7.1/xrv9k/</a:t>
            </a:r>
            <a:r>
              <a:rPr lang="en-US" sz="1000" dirty="0" err="1">
                <a:latin typeface="Consolas" panose="020B0609020204030204" pitchFamily="49" charset="0"/>
              </a:rPr>
              <a:t>ws</a:t>
            </a:r>
            <a:endParaRPr lang="en-US" sz="1000" dirty="0">
              <a:latin typeface="Consolas" panose="020B0609020204030204" pitchFamily="49" charset="0"/>
            </a:endParaRPr>
          </a:p>
          <a:p>
            <a:r>
              <a:rPr lang="en-US" sz="1000" dirty="0">
                <a:latin typeface="Consolas" panose="020B0609020204030204" pitchFamily="49" charset="0"/>
              </a:rPr>
              <a:t> Version      : 7.7.1</a:t>
            </a:r>
          </a:p>
          <a:p>
            <a:r>
              <a:rPr lang="en-US" sz="1000" dirty="0">
                <a:latin typeface="Consolas" panose="020B0609020204030204" pitchFamily="49" charset="0"/>
              </a:rPr>
              <a:t> Location     : /opt/cisco/XR/packages/</a:t>
            </a:r>
          </a:p>
          <a:p>
            <a:r>
              <a:rPr lang="en-US" sz="1000" dirty="0">
                <a:latin typeface="Consolas" panose="020B0609020204030204" pitchFamily="49" charset="0"/>
              </a:rPr>
              <a:t> Label        : 7.7.1-0</a:t>
            </a:r>
          </a:p>
          <a:p>
            <a:endParaRPr lang="en-US" sz="1000" dirty="0">
              <a:latin typeface="Consolas" panose="020B0609020204030204" pitchFamily="49" charset="0"/>
            </a:endParaRPr>
          </a:p>
          <a:p>
            <a:r>
              <a:rPr lang="en-US" sz="1000" dirty="0">
                <a:latin typeface="Consolas" panose="020B0609020204030204" pitchFamily="49" charset="0"/>
              </a:rPr>
              <a:t>cisco IOS-XRv 9000 () processor</a:t>
            </a:r>
          </a:p>
          <a:p>
            <a:r>
              <a:rPr lang="en-US" sz="1000" dirty="0">
                <a:latin typeface="Consolas" panose="020B0609020204030204" pitchFamily="49" charset="0"/>
              </a:rPr>
              <a:t>System uptime is 1 day 2 hours 56 minutes</a:t>
            </a:r>
          </a:p>
          <a:p>
            <a:endParaRPr lang="en-US" sz="1000" dirty="0">
              <a:latin typeface="Consolas" panose="020B0609020204030204" pitchFamily="49" charset="0"/>
            </a:endParaRPr>
          </a:p>
          <a:p>
            <a:r>
              <a:rPr lang="en-US" sz="1000" dirty="0">
                <a:latin typeface="Consolas" panose="020B0609020204030204" pitchFamily="49" charset="0"/>
              </a:rPr>
              <a:t>RP/0/RP0/CPU0:R01#</a:t>
            </a:r>
            <a:endParaRPr lang="sk-SK" sz="10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79263049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33509CE-B59F-6E7C-2204-D2AE6FD564D0}"/>
              </a:ext>
            </a:extLst>
          </p:cNvPr>
          <p:cNvSpPr>
            <a:spLocks noGrp="1"/>
          </p:cNvSpPr>
          <p:nvPr>
            <p:ph type="body" sz="quarter" idx="11"/>
          </p:nvPr>
        </p:nvSpPr>
        <p:spPr/>
        <p:txBody>
          <a:bodyPr/>
          <a:lstStyle/>
          <a:p>
            <a:r>
              <a:rPr lang="en-US" sz="3200" dirty="0"/>
              <a:t>Display SRv6 capabilities on the device – </a:t>
            </a:r>
            <a:r>
              <a:rPr lang="en-US" sz="3200" dirty="0">
                <a:solidFill>
                  <a:schemeClr val="accent6">
                    <a:lumMod val="60000"/>
                    <a:lumOff val="40000"/>
                  </a:schemeClr>
                </a:solidFill>
              </a:rPr>
              <a:t>IOS-XE</a:t>
            </a:r>
          </a:p>
        </p:txBody>
      </p:sp>
      <p:sp>
        <p:nvSpPr>
          <p:cNvPr id="4" name="Rectangle 3">
            <a:extLst>
              <a:ext uri="{FF2B5EF4-FFF2-40B4-BE49-F238E27FC236}">
                <a16:creationId xmlns:a16="http://schemas.microsoft.com/office/drawing/2014/main" id="{FB925561-E764-41EE-B4F5-C435A1AD87B2}"/>
              </a:ext>
            </a:extLst>
          </p:cNvPr>
          <p:cNvSpPr/>
          <p:nvPr/>
        </p:nvSpPr>
        <p:spPr>
          <a:xfrm>
            <a:off x="213519" y="785478"/>
            <a:ext cx="5699602" cy="5847755"/>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R21#</a:t>
            </a:r>
            <a:r>
              <a:rPr lang="sk-SK" sz="1400" b="1" dirty="0">
                <a:latin typeface="Consolas" panose="020B0609020204030204" pitchFamily="49" charset="0"/>
              </a:rPr>
              <a:t>sh segment-routing srv6 </a:t>
            </a:r>
            <a:r>
              <a:rPr lang="sk-SK" sz="1400" b="1" dirty="0" err="1">
                <a:latin typeface="Consolas" panose="020B0609020204030204" pitchFamily="49" charset="0"/>
              </a:rPr>
              <a:t>capabilities-parameters</a:t>
            </a:r>
            <a:r>
              <a:rPr lang="sk-SK" sz="1400" b="1" dirty="0">
                <a:latin typeface="Consolas" panose="020B0609020204030204" pitchFamily="49" charset="0"/>
              </a:rPr>
              <a:t> </a:t>
            </a:r>
            <a:endParaRPr lang="sk-SK" sz="1100" b="1" dirty="0">
              <a:latin typeface="Consolas" panose="020B0609020204030204" pitchFamily="49" charset="0"/>
            </a:endParaRPr>
          </a:p>
          <a:p>
            <a:endParaRPr lang="sk-SK" sz="1100" dirty="0">
              <a:latin typeface="Consolas" panose="020B0609020204030204" pitchFamily="49" charset="0"/>
            </a:endParaRPr>
          </a:p>
          <a:p>
            <a:r>
              <a:rPr lang="sk-SK" sz="1100" dirty="0" err="1">
                <a:latin typeface="Consolas" panose="020B0609020204030204" pitchFamily="49" charset="0"/>
              </a:rPr>
              <a:t>Platform</a:t>
            </a:r>
            <a:r>
              <a:rPr lang="sk-SK" sz="1100" dirty="0">
                <a:latin typeface="Consolas" panose="020B0609020204030204" pitchFamily="49" charset="0"/>
              </a:rPr>
              <a:t> </a:t>
            </a:r>
            <a:r>
              <a:rPr lang="sk-SK" sz="1100" dirty="0" err="1">
                <a:latin typeface="Consolas" panose="020B0609020204030204" pitchFamily="49" charset="0"/>
              </a:rPr>
              <a:t>Capabilities</a:t>
            </a:r>
            <a:r>
              <a:rPr lang="sk-SK" sz="1100" dirty="0">
                <a:latin typeface="Consolas" panose="020B0609020204030204" pitchFamily="49" charset="0"/>
              </a:rPr>
              <a:t>:</a:t>
            </a:r>
          </a:p>
          <a:p>
            <a:r>
              <a:rPr lang="sk-SK" sz="1100" dirty="0">
                <a:latin typeface="Consolas" panose="020B0609020204030204" pitchFamily="49" charset="0"/>
              </a:rPr>
              <a:t> SRv6:Yes</a:t>
            </a:r>
          </a:p>
          <a:p>
            <a:r>
              <a:rPr lang="sk-SK" sz="1100" dirty="0">
                <a:latin typeface="Consolas" panose="020B0609020204030204" pitchFamily="49" charset="0"/>
              </a:rPr>
              <a:t> </a:t>
            </a:r>
            <a:r>
              <a:rPr lang="sk-SK" sz="1100" dirty="0" err="1">
                <a:latin typeface="Consolas" panose="020B0609020204030204" pitchFamily="49" charset="0"/>
              </a:rPr>
              <a:t>PFP:Yes</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TILFA:Yes</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Endpoint</a:t>
            </a:r>
            <a:r>
              <a:rPr lang="sk-SK" sz="1100" dirty="0">
                <a:latin typeface="Consolas" panose="020B0609020204030204" pitchFamily="49" charset="0"/>
              </a:rPr>
              <a:t> </a:t>
            </a:r>
            <a:r>
              <a:rPr lang="sk-SK" sz="1100" dirty="0" err="1">
                <a:latin typeface="Consolas" panose="020B0609020204030204" pitchFamily="49" charset="0"/>
              </a:rPr>
              <a:t>behaviors</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uN</a:t>
            </a:r>
            <a:r>
              <a:rPr lang="sk-SK" sz="1100" dirty="0">
                <a:latin typeface="Consolas" panose="020B0609020204030204" pitchFamily="49" charset="0"/>
              </a:rPr>
              <a:t> (PSP/USD)</a:t>
            </a:r>
          </a:p>
          <a:p>
            <a:r>
              <a:rPr lang="sk-SK" sz="1100" dirty="0">
                <a:latin typeface="Consolas" panose="020B0609020204030204" pitchFamily="49" charset="0"/>
              </a:rPr>
              <a:t>  </a:t>
            </a:r>
            <a:r>
              <a:rPr lang="sk-SK" sz="1100" dirty="0" err="1">
                <a:latin typeface="Consolas" panose="020B0609020204030204" pitchFamily="49" charset="0"/>
              </a:rPr>
              <a:t>uA</a:t>
            </a:r>
            <a:r>
              <a:rPr lang="sk-SK" sz="1100" dirty="0">
                <a:latin typeface="Consolas" panose="020B0609020204030204" pitchFamily="49" charset="0"/>
              </a:rPr>
              <a:t> (PSP/USD)</a:t>
            </a:r>
          </a:p>
          <a:p>
            <a:r>
              <a:rPr lang="sk-SK" sz="1100" dirty="0">
                <a:latin typeface="Consolas" panose="020B0609020204030204" pitchFamily="49" charset="0"/>
              </a:rPr>
              <a:t>  uDT6</a:t>
            </a:r>
          </a:p>
          <a:p>
            <a:r>
              <a:rPr lang="sk-SK" sz="1100" dirty="0">
                <a:latin typeface="Consolas" panose="020B0609020204030204" pitchFamily="49" charset="0"/>
              </a:rPr>
              <a:t>  uDT4</a:t>
            </a:r>
          </a:p>
          <a:p>
            <a:r>
              <a:rPr lang="sk-SK" sz="1100" dirty="0">
                <a:latin typeface="Consolas" panose="020B0609020204030204" pitchFamily="49" charset="0"/>
              </a:rPr>
              <a:t>  uDT46</a:t>
            </a:r>
          </a:p>
          <a:p>
            <a:r>
              <a:rPr lang="sk-SK" sz="1100" dirty="0">
                <a:latin typeface="Consolas" panose="020B0609020204030204" pitchFamily="49" charset="0"/>
              </a:rPr>
              <a:t> </a:t>
            </a:r>
            <a:r>
              <a:rPr lang="sk-SK" sz="1100" dirty="0" err="1">
                <a:latin typeface="Consolas" panose="020B0609020204030204" pitchFamily="49" charset="0"/>
              </a:rPr>
              <a:t>Headend</a:t>
            </a:r>
            <a:r>
              <a:rPr lang="sk-SK" sz="1100" dirty="0">
                <a:latin typeface="Consolas" panose="020B0609020204030204" pitchFamily="49" charset="0"/>
              </a:rPr>
              <a:t> </a:t>
            </a:r>
            <a:r>
              <a:rPr lang="sk-SK" sz="1100" dirty="0" err="1">
                <a:latin typeface="Consolas" panose="020B0609020204030204" pitchFamily="49" charset="0"/>
              </a:rPr>
              <a:t>behaviors</a:t>
            </a:r>
            <a:r>
              <a:rPr lang="sk-SK" sz="1100" dirty="0">
                <a:latin typeface="Consolas" panose="020B0609020204030204" pitchFamily="49" charset="0"/>
              </a:rPr>
              <a:t>:</a:t>
            </a:r>
          </a:p>
          <a:p>
            <a:r>
              <a:rPr lang="sk-SK" sz="1100" dirty="0">
                <a:latin typeface="Consolas" panose="020B0609020204030204" pitchFamily="49" charset="0"/>
              </a:rPr>
              <a:t>  H.ENCAP.RED</a:t>
            </a:r>
          </a:p>
          <a:p>
            <a:r>
              <a:rPr lang="sk-SK" sz="1100" dirty="0">
                <a:latin typeface="Consolas" panose="020B0609020204030204" pitchFamily="49" charset="0"/>
              </a:rPr>
              <a:t> </a:t>
            </a:r>
            <a:r>
              <a:rPr lang="sk-SK" sz="1100" dirty="0" err="1">
                <a:latin typeface="Consolas" panose="020B0609020204030204" pitchFamily="49" charset="0"/>
              </a:rPr>
              <a:t>Encap</a:t>
            </a:r>
            <a:r>
              <a:rPr lang="sk-SK" sz="1100" dirty="0">
                <a:latin typeface="Consolas" panose="020B0609020204030204" pitchFamily="49" charset="0"/>
              </a:rPr>
              <a:t> </a:t>
            </a:r>
            <a:r>
              <a:rPr lang="sk-SK" sz="1100" dirty="0" err="1">
                <a:latin typeface="Consolas" panose="020B0609020204030204" pitchFamily="49" charset="0"/>
              </a:rPr>
              <a:t>Parameters</a:t>
            </a:r>
            <a:r>
              <a:rPr lang="sk-SK" sz="1100" dirty="0">
                <a:latin typeface="Consolas" panose="020B0609020204030204" pitchFamily="49" charset="0"/>
              </a:rPr>
              <a:t>:</a:t>
            </a:r>
          </a:p>
          <a:p>
            <a:r>
              <a:rPr lang="sk-SK" sz="1100" dirty="0">
                <a:latin typeface="Consolas" panose="020B0609020204030204" pitchFamily="49" charset="0"/>
              </a:rPr>
              <a:t>  Max-SL :16 (H-ENCAP-MSD:16 SL-MSD:16, END-POP-MSD:16 END-ENCAP-MSD:16) </a:t>
            </a:r>
          </a:p>
          <a:p>
            <a:r>
              <a:rPr lang="sk-SK" sz="1100" dirty="0">
                <a:latin typeface="Consolas" panose="020B0609020204030204" pitchFamily="49" charset="0"/>
              </a:rPr>
              <a:t>  </a:t>
            </a:r>
            <a:r>
              <a:rPr lang="sk-SK" sz="1100" dirty="0" err="1">
                <a:latin typeface="Consolas" panose="020B0609020204030204" pitchFamily="49" charset="0"/>
              </a:rPr>
              <a:t>Encap</a:t>
            </a:r>
            <a:r>
              <a:rPr lang="sk-SK" sz="1100" dirty="0">
                <a:latin typeface="Consolas" panose="020B0609020204030204" pitchFamily="49" charset="0"/>
              </a:rPr>
              <a:t> :</a:t>
            </a:r>
            <a:r>
              <a:rPr lang="sk-SK" sz="1100" dirty="0" err="1">
                <a:latin typeface="Consolas" panose="020B0609020204030204" pitchFamily="49" charset="0"/>
              </a:rPr>
              <a:t>Collapsed</a:t>
            </a:r>
            <a:endParaRPr lang="sk-SK" sz="1100" dirty="0">
              <a:latin typeface="Consolas" panose="020B0609020204030204" pitchFamily="49" charset="0"/>
            </a:endParaRPr>
          </a:p>
          <a:p>
            <a:r>
              <a:rPr lang="sk-SK" sz="1100" dirty="0">
                <a:latin typeface="Consolas" panose="020B0609020204030204" pitchFamily="49" charset="0"/>
              </a:rPr>
              <a:t>  Hop-limit </a:t>
            </a:r>
            <a:r>
              <a:rPr lang="sk-SK" sz="1100" dirty="0" err="1">
                <a:latin typeface="Consolas" panose="020B0609020204030204" pitchFamily="49" charset="0"/>
              </a:rPr>
              <a:t>propagate</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Traffic-class</a:t>
            </a:r>
            <a:r>
              <a:rPr lang="sk-SK" sz="1100" dirty="0">
                <a:latin typeface="Consolas" panose="020B0609020204030204" pitchFamily="49" charset="0"/>
              </a:rPr>
              <a:t> </a:t>
            </a:r>
            <a:r>
              <a:rPr lang="sk-SK" sz="1100" dirty="0" err="1">
                <a:latin typeface="Consolas" panose="020B0609020204030204" pitchFamily="49" charset="0"/>
              </a:rPr>
              <a:t>propagate</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Path</a:t>
            </a:r>
            <a:r>
              <a:rPr lang="sk-SK" sz="1100" dirty="0">
                <a:latin typeface="Consolas" panose="020B0609020204030204" pitchFamily="49" charset="0"/>
              </a:rPr>
              <a:t>-MTU </a:t>
            </a:r>
            <a:r>
              <a:rPr lang="sk-SK" sz="1100" dirty="0" err="1">
                <a:latin typeface="Consolas" panose="020B0609020204030204" pitchFamily="49" charset="0"/>
              </a:rPr>
              <a:t>supported</a:t>
            </a:r>
            <a:r>
              <a:rPr lang="sk-SK" sz="1100" dirty="0">
                <a:latin typeface="Consolas" panose="020B0609020204030204" pitchFamily="49" charset="0"/>
              </a:rPr>
              <a:t> :</a:t>
            </a:r>
            <a:r>
              <a:rPr lang="sk-SK" sz="1100" dirty="0" err="1">
                <a:latin typeface="Consolas" panose="020B0609020204030204" pitchFamily="49" charset="0"/>
              </a:rPr>
              <a:t>static</a:t>
            </a:r>
            <a:endParaRPr lang="sk-SK" sz="1100" dirty="0">
              <a:latin typeface="Consolas" panose="020B0609020204030204" pitchFamily="49" charset="0"/>
            </a:endParaRPr>
          </a:p>
          <a:p>
            <a:r>
              <a:rPr lang="sk-SK" sz="1100" dirty="0">
                <a:latin typeface="Consolas" panose="020B0609020204030204" pitchFamily="49" charset="0"/>
              </a:rPr>
              <a:t>  SRH </a:t>
            </a:r>
            <a:r>
              <a:rPr lang="sk-SK" sz="1100" dirty="0" err="1">
                <a:latin typeface="Consolas" panose="020B0609020204030204" pitchFamily="49" charset="0"/>
              </a:rPr>
              <a:t>mode</a:t>
            </a:r>
            <a:r>
              <a:rPr lang="sk-SK" sz="1100" dirty="0">
                <a:latin typeface="Consolas" panose="020B0609020204030204" pitchFamily="49" charset="0"/>
              </a:rPr>
              <a:t> :</a:t>
            </a:r>
          </a:p>
          <a:p>
            <a:r>
              <a:rPr lang="sk-SK" sz="1100" dirty="0">
                <a:latin typeface="Consolas" panose="020B0609020204030204" pitchFamily="49" charset="0"/>
              </a:rPr>
              <a:t>   </a:t>
            </a:r>
            <a:r>
              <a:rPr lang="sk-SK" sz="1100" dirty="0" err="1">
                <a:latin typeface="Consolas" panose="020B0609020204030204" pitchFamily="49" charset="0"/>
              </a:rPr>
              <a:t>combine</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stack</a:t>
            </a:r>
            <a:r>
              <a:rPr lang="sk-SK" sz="1100" dirty="0">
                <a:latin typeface="Consolas" panose="020B0609020204030204" pitchFamily="49" charset="0"/>
              </a:rPr>
              <a:t> :No</a:t>
            </a:r>
          </a:p>
          <a:p>
            <a:r>
              <a:rPr lang="sk-SK" sz="1100" dirty="0">
                <a:latin typeface="Consolas" panose="020B0609020204030204" pitchFamily="49" charset="0"/>
              </a:rPr>
              <a:t>   </a:t>
            </a:r>
            <a:r>
              <a:rPr lang="sk-SK" sz="1100" dirty="0" err="1">
                <a:latin typeface="Consolas" panose="020B0609020204030204" pitchFamily="49" charset="0"/>
              </a:rPr>
              <a:t>insert</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          </a:t>
            </a:r>
          </a:p>
          <a:p>
            <a:r>
              <a:rPr lang="sk-SK" sz="1100" dirty="0">
                <a:latin typeface="Consolas" panose="020B0609020204030204" pitchFamily="49" charset="0"/>
              </a:rPr>
              <a:t>          </a:t>
            </a:r>
          </a:p>
          <a:p>
            <a:r>
              <a:rPr lang="sk-SK" sz="1100" dirty="0" err="1">
                <a:latin typeface="Consolas" panose="020B0609020204030204" pitchFamily="49" charset="0"/>
              </a:rPr>
              <a:t>Parameters</a:t>
            </a:r>
            <a:r>
              <a:rPr lang="sk-SK" sz="1100" dirty="0">
                <a:latin typeface="Consolas" panose="020B0609020204030204" pitchFamily="49" charset="0"/>
              </a:rPr>
              <a:t> in-</a:t>
            </a:r>
            <a:r>
              <a:rPr lang="sk-SK" sz="1100" dirty="0" err="1">
                <a:latin typeface="Consolas" panose="020B0609020204030204" pitchFamily="49" charset="0"/>
              </a:rPr>
              <a:t>use</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Encap</a:t>
            </a:r>
            <a:r>
              <a:rPr lang="sk-SK" sz="1100" dirty="0">
                <a:latin typeface="Consolas" panose="020B0609020204030204" pitchFamily="49" charset="0"/>
              </a:rPr>
              <a:t> </a:t>
            </a:r>
            <a:r>
              <a:rPr lang="sk-SK" sz="1100" dirty="0" err="1">
                <a:latin typeface="Consolas" panose="020B0609020204030204" pitchFamily="49" charset="0"/>
              </a:rPr>
              <a:t>Parameters</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Source</a:t>
            </a:r>
            <a:r>
              <a:rPr lang="sk-SK" sz="1100" dirty="0">
                <a:latin typeface="Consolas" panose="020B0609020204030204" pitchFamily="49" charset="0"/>
              </a:rPr>
              <a:t> </a:t>
            </a:r>
            <a:r>
              <a:rPr lang="sk-SK" sz="1100" dirty="0" err="1">
                <a:latin typeface="Consolas" panose="020B0609020204030204" pitchFamily="49" charset="0"/>
              </a:rPr>
              <a:t>Address</a:t>
            </a:r>
            <a:r>
              <a:rPr lang="sk-SK" sz="1100" dirty="0">
                <a:latin typeface="Consolas" panose="020B0609020204030204" pitchFamily="49" charset="0"/>
              </a:rPr>
              <a:t>: 2001:9999::21, Loopback0 (Default)</a:t>
            </a:r>
          </a:p>
          <a:p>
            <a:r>
              <a:rPr lang="sk-SK" sz="1100" dirty="0">
                <a:latin typeface="Consolas" panose="020B0609020204030204" pitchFamily="49" charset="0"/>
              </a:rPr>
              <a:t>  Hop-Limit: 64 (Default)</a:t>
            </a:r>
          </a:p>
          <a:p>
            <a:r>
              <a:rPr lang="sk-SK" sz="1100" dirty="0">
                <a:latin typeface="Consolas" panose="020B0609020204030204" pitchFamily="49" charset="0"/>
              </a:rPr>
              <a:t>  </a:t>
            </a:r>
            <a:r>
              <a:rPr lang="sk-SK" sz="1100" dirty="0" err="1">
                <a:latin typeface="Consolas" panose="020B0609020204030204" pitchFamily="49" charset="0"/>
              </a:rPr>
              <a:t>Traffic-class</a:t>
            </a:r>
            <a:r>
              <a:rPr lang="sk-SK" sz="1100" dirty="0">
                <a:latin typeface="Consolas" panose="020B0609020204030204" pitchFamily="49" charset="0"/>
              </a:rPr>
              <a:t>: 0 (Default)</a:t>
            </a:r>
          </a:p>
          <a:p>
            <a:r>
              <a:rPr lang="sk-SK" sz="1100" dirty="0">
                <a:latin typeface="Consolas" panose="020B0609020204030204" pitchFamily="49" charset="0"/>
              </a:rPr>
              <a:t>  MTU: </a:t>
            </a:r>
            <a:r>
              <a:rPr lang="sk-SK" sz="1100" dirty="0" err="1">
                <a:latin typeface="Consolas" panose="020B0609020204030204" pitchFamily="49" charset="0"/>
              </a:rPr>
              <a:t>not</a:t>
            </a:r>
            <a:r>
              <a:rPr lang="sk-SK" sz="1100" dirty="0">
                <a:latin typeface="Consolas" panose="020B0609020204030204" pitchFamily="49" charset="0"/>
              </a:rPr>
              <a:t> </a:t>
            </a:r>
            <a:r>
              <a:rPr lang="sk-SK" sz="1100" dirty="0" err="1">
                <a:latin typeface="Consolas" panose="020B0609020204030204" pitchFamily="49" charset="0"/>
              </a:rPr>
              <a:t>configured</a:t>
            </a:r>
            <a:r>
              <a:rPr lang="sk-SK" sz="1100" dirty="0">
                <a:latin typeface="Consolas" panose="020B0609020204030204" pitchFamily="49" charset="0"/>
              </a:rPr>
              <a:t> (Default)</a:t>
            </a:r>
          </a:p>
          <a:p>
            <a:r>
              <a:rPr lang="sk-SK" sz="1100" dirty="0">
                <a:latin typeface="Consolas" panose="020B0609020204030204" pitchFamily="49" charset="0"/>
              </a:rPr>
              <a:t>          </a:t>
            </a:r>
          </a:p>
          <a:p>
            <a:r>
              <a:rPr lang="sk-SK" sz="1100" dirty="0">
                <a:latin typeface="Consolas" panose="020B0609020204030204" pitchFamily="49" charset="0"/>
              </a:rPr>
              <a:t>R21#</a:t>
            </a:r>
            <a:endParaRPr lang="sk-SK" sz="1100" dirty="0">
              <a:solidFill>
                <a:srgbClr val="FF0000"/>
              </a:solidFill>
              <a:latin typeface="Consolas" panose="020B0609020204030204" pitchFamily="49" charset="0"/>
            </a:endParaRPr>
          </a:p>
        </p:txBody>
      </p:sp>
      <p:sp>
        <p:nvSpPr>
          <p:cNvPr id="5" name="Rectangle 4">
            <a:extLst>
              <a:ext uri="{FF2B5EF4-FFF2-40B4-BE49-F238E27FC236}">
                <a16:creationId xmlns:a16="http://schemas.microsoft.com/office/drawing/2014/main" id="{460F1448-9327-1EAF-D3A8-F418A2A34531}"/>
              </a:ext>
            </a:extLst>
          </p:cNvPr>
          <p:cNvSpPr/>
          <p:nvPr/>
        </p:nvSpPr>
        <p:spPr>
          <a:xfrm>
            <a:off x="5984399" y="785477"/>
            <a:ext cx="5994082" cy="6017032"/>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R21#show version</a:t>
            </a:r>
          </a:p>
          <a:p>
            <a:r>
              <a:rPr lang="en-US" sz="1100" dirty="0">
                <a:latin typeface="Consolas" panose="020B0609020204030204" pitchFamily="49" charset="0"/>
              </a:rPr>
              <a:t>Cisco IOS XE Software, Version 17.15.01a</a:t>
            </a:r>
          </a:p>
          <a:p>
            <a:r>
              <a:rPr lang="en-US" sz="1100" dirty="0">
                <a:latin typeface="Consolas" panose="020B0609020204030204" pitchFamily="49" charset="0"/>
              </a:rPr>
              <a:t>Cisco IOS Software [IOSXE], Virtual XE Software (X86_64_LINUX_IOSD-UNIVERSALK9-M), Version 17.15.1a, RELEASE SOFTWARE (fc1)</a:t>
            </a:r>
          </a:p>
          <a:p>
            <a:r>
              <a:rPr lang="en-US" sz="1100" dirty="0">
                <a:latin typeface="Consolas" panose="020B0609020204030204" pitchFamily="49" charset="0"/>
              </a:rPr>
              <a:t>Technical Support: http://www.cisco.com/techsupport</a:t>
            </a:r>
          </a:p>
          <a:p>
            <a:r>
              <a:rPr lang="en-US" sz="1100" dirty="0">
                <a:latin typeface="Consolas" panose="020B0609020204030204" pitchFamily="49" charset="0"/>
              </a:rPr>
              <a:t>Copyright (c) 1986-2024 by Cisco Systems, Inc.</a:t>
            </a:r>
          </a:p>
          <a:p>
            <a:r>
              <a:rPr lang="en-US" sz="1100" dirty="0">
                <a:latin typeface="Consolas" panose="020B0609020204030204" pitchFamily="49" charset="0"/>
              </a:rPr>
              <a:t>Compiled Wed 21-Aug-24 17:29 by </a:t>
            </a:r>
            <a:r>
              <a:rPr lang="en-US" sz="1100" dirty="0" err="1">
                <a:latin typeface="Consolas" panose="020B0609020204030204" pitchFamily="49" charset="0"/>
              </a:rPr>
              <a:t>mcpre</a:t>
            </a:r>
            <a:endParaRPr lang="en-US" sz="1100" dirty="0">
              <a:latin typeface="Consolas" panose="020B0609020204030204" pitchFamily="49" charset="0"/>
            </a:endParaRPr>
          </a:p>
          <a:p>
            <a:endParaRPr lang="en-US" sz="1100" dirty="0">
              <a:latin typeface="Consolas" panose="020B0609020204030204" pitchFamily="49" charset="0"/>
            </a:endParaRPr>
          </a:p>
          <a:p>
            <a:r>
              <a:rPr lang="en-US" sz="1100" dirty="0">
                <a:latin typeface="Consolas" panose="020B0609020204030204" pitchFamily="49" charset="0"/>
              </a:rPr>
              <a:t>-- Cut --</a:t>
            </a:r>
          </a:p>
          <a:p>
            <a:endParaRPr lang="en-US" sz="1100" dirty="0">
              <a:latin typeface="Consolas" panose="020B0609020204030204" pitchFamily="49" charset="0"/>
            </a:endParaRPr>
          </a:p>
          <a:p>
            <a:r>
              <a:rPr lang="en-US" sz="1100" dirty="0">
                <a:latin typeface="Consolas" panose="020B0609020204030204" pitchFamily="49" charset="0"/>
              </a:rPr>
              <a:t>License Level: network-advantage</a:t>
            </a:r>
          </a:p>
          <a:p>
            <a:r>
              <a:rPr lang="en-US" sz="1100" dirty="0">
                <a:latin typeface="Consolas" panose="020B0609020204030204" pitchFamily="49" charset="0"/>
              </a:rPr>
              <a:t>License Type: Perpetual</a:t>
            </a:r>
          </a:p>
          <a:p>
            <a:r>
              <a:rPr lang="en-US" sz="1100" dirty="0">
                <a:latin typeface="Consolas" panose="020B0609020204030204" pitchFamily="49" charset="0"/>
              </a:rPr>
              <a:t>Next reload license Level: network-advantage</a:t>
            </a:r>
          </a:p>
          <a:p>
            <a:endParaRPr lang="en-US" sz="1100" dirty="0">
              <a:latin typeface="Consolas" panose="020B0609020204030204" pitchFamily="49" charset="0"/>
            </a:endParaRPr>
          </a:p>
          <a:p>
            <a:r>
              <a:rPr lang="en-US" sz="1100" dirty="0">
                <a:latin typeface="Consolas" panose="020B0609020204030204" pitchFamily="49" charset="0"/>
              </a:rPr>
              <a:t>Addon License Level: </a:t>
            </a:r>
            <a:r>
              <a:rPr lang="en-US" sz="1100" dirty="0" err="1">
                <a:latin typeface="Consolas" panose="020B0609020204030204" pitchFamily="49" charset="0"/>
              </a:rPr>
              <a:t>dna</a:t>
            </a:r>
            <a:r>
              <a:rPr lang="en-US" sz="1100" dirty="0">
                <a:latin typeface="Consolas" panose="020B0609020204030204" pitchFamily="49" charset="0"/>
              </a:rPr>
              <a:t>-advantage</a:t>
            </a:r>
          </a:p>
          <a:p>
            <a:r>
              <a:rPr lang="en-US" sz="1100" dirty="0">
                <a:latin typeface="Consolas" panose="020B0609020204030204" pitchFamily="49" charset="0"/>
              </a:rPr>
              <a:t>Addon License Type: Subscription</a:t>
            </a:r>
          </a:p>
          <a:p>
            <a:r>
              <a:rPr lang="en-US" sz="1100" dirty="0">
                <a:latin typeface="Consolas" panose="020B0609020204030204" pitchFamily="49" charset="0"/>
              </a:rPr>
              <a:t>Next reload addon license Level: </a:t>
            </a:r>
            <a:r>
              <a:rPr lang="en-US" sz="1100" dirty="0" err="1">
                <a:latin typeface="Consolas" panose="020B0609020204030204" pitchFamily="49" charset="0"/>
              </a:rPr>
              <a:t>dna</a:t>
            </a:r>
            <a:r>
              <a:rPr lang="en-US" sz="1100" dirty="0">
                <a:latin typeface="Consolas" panose="020B0609020204030204" pitchFamily="49" charset="0"/>
              </a:rPr>
              <a:t>-advantage</a:t>
            </a:r>
          </a:p>
          <a:p>
            <a:endParaRPr lang="en-US" sz="1100" dirty="0">
              <a:latin typeface="Consolas" panose="020B0609020204030204" pitchFamily="49" charset="0"/>
            </a:endParaRPr>
          </a:p>
          <a:p>
            <a:r>
              <a:rPr lang="en-US" sz="1100" dirty="0">
                <a:latin typeface="Consolas" panose="020B0609020204030204" pitchFamily="49" charset="0"/>
              </a:rPr>
              <a:t>The current throughput level is 250000 kbps </a:t>
            </a:r>
          </a:p>
          <a:p>
            <a:endParaRPr lang="en-US" sz="1100" dirty="0">
              <a:latin typeface="Consolas" panose="020B0609020204030204" pitchFamily="49" charset="0"/>
            </a:endParaRPr>
          </a:p>
          <a:p>
            <a:endParaRPr lang="en-US" sz="1100" dirty="0">
              <a:latin typeface="Consolas" panose="020B0609020204030204" pitchFamily="49" charset="0"/>
            </a:endParaRPr>
          </a:p>
          <a:p>
            <a:r>
              <a:rPr lang="en-US" sz="1100" dirty="0">
                <a:latin typeface="Consolas" panose="020B0609020204030204" pitchFamily="49" charset="0"/>
              </a:rPr>
              <a:t>Smart Licensing Status: Smart Licensing Using Policy</a:t>
            </a:r>
          </a:p>
          <a:p>
            <a:endParaRPr lang="en-US" sz="1100" dirty="0">
              <a:latin typeface="Consolas" panose="020B0609020204030204" pitchFamily="49" charset="0"/>
            </a:endParaRPr>
          </a:p>
          <a:p>
            <a:r>
              <a:rPr lang="en-US" sz="1100" dirty="0">
                <a:latin typeface="Consolas" panose="020B0609020204030204" pitchFamily="49" charset="0"/>
              </a:rPr>
              <a:t>cisco C8000V (VXE) processor (revision VXE) with 1664235K/3075K bytes of memory.</a:t>
            </a:r>
          </a:p>
          <a:p>
            <a:r>
              <a:rPr lang="en-US" sz="1100" dirty="0">
                <a:latin typeface="Consolas" panose="020B0609020204030204" pitchFamily="49" charset="0"/>
              </a:rPr>
              <a:t>Processor board ID 9VPXDTAML81</a:t>
            </a:r>
          </a:p>
          <a:p>
            <a:r>
              <a:rPr lang="en-US" sz="1100" dirty="0">
                <a:latin typeface="Consolas" panose="020B0609020204030204" pitchFamily="49" charset="0"/>
              </a:rPr>
              <a:t>Router operating mode: Autonomous</a:t>
            </a:r>
          </a:p>
          <a:p>
            <a:r>
              <a:rPr lang="en-US" sz="1100" dirty="0">
                <a:latin typeface="Consolas" panose="020B0609020204030204" pitchFamily="49" charset="0"/>
              </a:rPr>
              <a:t>20 Gigabit Ethernet interfaces</a:t>
            </a:r>
          </a:p>
          <a:p>
            <a:r>
              <a:rPr lang="en-US" sz="1100" dirty="0">
                <a:latin typeface="Consolas" panose="020B0609020204030204" pitchFamily="49" charset="0"/>
              </a:rPr>
              <a:t>32768K bytes of non-volatile configuration memory.</a:t>
            </a:r>
          </a:p>
          <a:p>
            <a:r>
              <a:rPr lang="en-US" sz="1100" dirty="0">
                <a:latin typeface="Consolas" panose="020B0609020204030204" pitchFamily="49" charset="0"/>
              </a:rPr>
              <a:t>3960280K bytes of physical memory.</a:t>
            </a:r>
          </a:p>
          <a:p>
            <a:r>
              <a:rPr lang="en-US" sz="1100" dirty="0">
                <a:latin typeface="Consolas" panose="020B0609020204030204" pitchFamily="49" charset="0"/>
              </a:rPr>
              <a:t>11526144K bytes of virtual hard disk at </a:t>
            </a:r>
            <a:r>
              <a:rPr lang="en-US" sz="1100" dirty="0" err="1">
                <a:latin typeface="Consolas" panose="020B0609020204030204" pitchFamily="49" charset="0"/>
              </a:rPr>
              <a:t>bootflash</a:t>
            </a:r>
            <a:r>
              <a:rPr lang="en-US" sz="1100" dirty="0">
                <a:latin typeface="Consolas" panose="020B0609020204030204" pitchFamily="49" charset="0"/>
              </a:rPr>
              <a:t>:.</a:t>
            </a:r>
          </a:p>
          <a:p>
            <a:endParaRPr lang="en-US" sz="1100" dirty="0">
              <a:latin typeface="Consolas" panose="020B0609020204030204" pitchFamily="49" charset="0"/>
            </a:endParaRPr>
          </a:p>
          <a:p>
            <a:r>
              <a:rPr lang="en-US" sz="1100" dirty="0">
                <a:latin typeface="Consolas" panose="020B0609020204030204" pitchFamily="49" charset="0"/>
              </a:rPr>
              <a:t>Configuration register is 0x2102</a:t>
            </a:r>
          </a:p>
          <a:p>
            <a:endParaRPr lang="en-US" sz="1100" dirty="0">
              <a:latin typeface="Consolas" panose="020B0609020204030204" pitchFamily="49" charset="0"/>
            </a:endParaRPr>
          </a:p>
          <a:p>
            <a:r>
              <a:rPr lang="en-US" sz="1100" dirty="0">
                <a:latin typeface="Consolas" panose="020B0609020204030204" pitchFamily="49" charset="0"/>
              </a:rPr>
              <a:t>R21#</a:t>
            </a:r>
            <a:endParaRPr lang="sk-SK" sz="11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4239925927"/>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721DBD-20FD-469F-DC45-C9C2BDC8B199}"/>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78E53C79-C587-9DEB-BB18-FF32CF2366D9}"/>
              </a:ext>
            </a:extLst>
          </p:cNvPr>
          <p:cNvSpPr>
            <a:spLocks noGrp="1"/>
          </p:cNvSpPr>
          <p:nvPr>
            <p:ph type="body" sz="quarter" idx="11"/>
          </p:nvPr>
        </p:nvSpPr>
        <p:spPr/>
        <p:txBody>
          <a:bodyPr/>
          <a:lstStyle/>
          <a:p>
            <a:r>
              <a:rPr lang="en-US" dirty="0"/>
              <a:t>LAB 3 – Micro SID + L3VPN + L2VPN (EVPN)</a:t>
            </a:r>
          </a:p>
        </p:txBody>
      </p:sp>
    </p:spTree>
    <p:extLst>
      <p:ext uri="{BB962C8B-B14F-4D97-AF65-F5344CB8AC3E}">
        <p14:creationId xmlns:p14="http://schemas.microsoft.com/office/powerpoint/2010/main" val="434120177"/>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7DF76D3A-5E3E-4BC8-8F39-771134FF4322}"/>
              </a:ext>
            </a:extLst>
          </p:cNvPr>
          <p:cNvSpPr>
            <a:spLocks noGrp="1"/>
          </p:cNvSpPr>
          <p:nvPr>
            <p:ph type="body" idx="1"/>
          </p:nvPr>
        </p:nvSpPr>
        <p:spPr/>
        <p:txBody>
          <a:bodyPr/>
          <a:lstStyle/>
          <a:p>
            <a:r>
              <a:rPr lang="en-US" dirty="0"/>
              <a:t>MPLS and SRv6 Interworking</a:t>
            </a:r>
          </a:p>
        </p:txBody>
      </p:sp>
      <p:sp>
        <p:nvSpPr>
          <p:cNvPr id="2" name="Text Placeholder 1">
            <a:extLst>
              <a:ext uri="{FF2B5EF4-FFF2-40B4-BE49-F238E27FC236}">
                <a16:creationId xmlns:a16="http://schemas.microsoft.com/office/drawing/2014/main" id="{B367786B-A4DD-DB9E-9087-78A451525AAC}"/>
              </a:ext>
            </a:extLst>
          </p:cNvPr>
          <p:cNvSpPr>
            <a:spLocks noGrp="1"/>
          </p:cNvSpPr>
          <p:nvPr>
            <p:ph type="body" sz="quarter" idx="15"/>
          </p:nvPr>
        </p:nvSpPr>
        <p:spPr/>
        <p:txBody>
          <a:bodyPr/>
          <a:lstStyle/>
          <a:p>
            <a:r>
              <a:rPr lang="en-US" dirty="0">
                <a:cs typeface="Calibri" pitchFamily="34" charset="0"/>
              </a:rPr>
              <a:t>SRv6 and service migration</a:t>
            </a:r>
            <a:endParaRPr lang="cs-CZ" dirty="0"/>
          </a:p>
        </p:txBody>
      </p:sp>
      <p:sp>
        <p:nvSpPr>
          <p:cNvPr id="5" name="Zástupný text 4">
            <a:extLst>
              <a:ext uri="{FF2B5EF4-FFF2-40B4-BE49-F238E27FC236}">
                <a16:creationId xmlns:a16="http://schemas.microsoft.com/office/drawing/2014/main" id="{CA46CB7B-0002-4873-B253-4D2438CC3611}"/>
              </a:ext>
            </a:extLst>
          </p:cNvPr>
          <p:cNvSpPr>
            <a:spLocks noGrp="1"/>
          </p:cNvSpPr>
          <p:nvPr>
            <p:ph type="body" sz="quarter" idx="13"/>
          </p:nvPr>
        </p:nvSpPr>
        <p:spPr/>
        <p:txBody>
          <a:bodyPr/>
          <a:lstStyle/>
          <a:p>
            <a:r>
              <a:rPr lang="en-US" dirty="0"/>
              <a:t>Segment Routing MPLS and SRv6</a:t>
            </a:r>
          </a:p>
        </p:txBody>
      </p:sp>
      <p:sp>
        <p:nvSpPr>
          <p:cNvPr id="6" name="Zástupný text 5">
            <a:extLst>
              <a:ext uri="{FF2B5EF4-FFF2-40B4-BE49-F238E27FC236}">
                <a16:creationId xmlns:a16="http://schemas.microsoft.com/office/drawing/2014/main" id="{955FA430-FA92-4EB5-849C-E3D05AB9B217}"/>
              </a:ext>
            </a:extLst>
          </p:cNvPr>
          <p:cNvSpPr>
            <a:spLocks noGrp="1"/>
          </p:cNvSpPr>
          <p:nvPr>
            <p:ph type="body" sz="quarter" idx="14"/>
          </p:nvPr>
        </p:nvSpPr>
        <p:spPr/>
        <p:txBody>
          <a:bodyPr/>
          <a:lstStyle/>
          <a:p>
            <a:r>
              <a:rPr lang="en-US" dirty="0"/>
              <a:t>Dual connected PE / MPLS/SRv6 VPN Interworking Gateway</a:t>
            </a:r>
          </a:p>
        </p:txBody>
      </p:sp>
    </p:spTree>
    <p:extLst>
      <p:ext uri="{BB962C8B-B14F-4D97-AF65-F5344CB8AC3E}">
        <p14:creationId xmlns:p14="http://schemas.microsoft.com/office/powerpoint/2010/main" val="288580316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87793E1-D280-F53F-12F2-EA7E46C6F16C}"/>
              </a:ext>
            </a:extLst>
          </p:cNvPr>
          <p:cNvSpPr>
            <a:spLocks noGrp="1"/>
          </p:cNvSpPr>
          <p:nvPr>
            <p:ph type="body" sz="quarter" idx="10"/>
          </p:nvPr>
        </p:nvSpPr>
        <p:spPr/>
        <p:txBody>
          <a:bodyPr/>
          <a:lstStyle/>
          <a:p>
            <a:r>
              <a:rPr lang="en-US" dirty="0"/>
              <a:t>Two basic options</a:t>
            </a:r>
          </a:p>
          <a:p>
            <a:pPr lvl="1"/>
            <a:r>
              <a:rPr lang="en-US" b="1" dirty="0"/>
              <a:t>Dual connected PE</a:t>
            </a:r>
          </a:p>
          <a:p>
            <a:pPr lvl="2"/>
            <a:r>
              <a:rPr lang="en-US" dirty="0"/>
              <a:t>PE is in SRv6 and MPLS also</a:t>
            </a:r>
          </a:p>
          <a:p>
            <a:pPr lvl="2"/>
            <a:r>
              <a:rPr lang="en-US" dirty="0"/>
              <a:t>use SRv6 for SRv6 destination and MPLS for MPLS destination</a:t>
            </a:r>
          </a:p>
          <a:p>
            <a:pPr lvl="1"/>
            <a:r>
              <a:rPr lang="en-US" b="1" dirty="0"/>
              <a:t>MPLS/SRv6 Interworking Gateway</a:t>
            </a:r>
          </a:p>
          <a:p>
            <a:pPr lvl="2"/>
            <a:r>
              <a:rPr lang="en-US" dirty="0"/>
              <a:t>on the interconnect between SRv6 and MPLS</a:t>
            </a:r>
          </a:p>
          <a:p>
            <a:pPr lvl="2"/>
            <a:r>
              <a:rPr lang="en-US" dirty="0"/>
              <a:t>translate SRv6 &lt; -- &gt; MPLS in dataplane</a:t>
            </a:r>
          </a:p>
          <a:p>
            <a:pPr lvl="2"/>
            <a:r>
              <a:rPr lang="en-US" dirty="0"/>
              <a:t>scalability issue</a:t>
            </a:r>
          </a:p>
          <a:p>
            <a:pPr lvl="2"/>
            <a:endParaRPr lang="en-US" dirty="0"/>
          </a:p>
        </p:txBody>
      </p:sp>
      <p:sp>
        <p:nvSpPr>
          <p:cNvPr id="3" name="Text Placeholder 2">
            <a:extLst>
              <a:ext uri="{FF2B5EF4-FFF2-40B4-BE49-F238E27FC236}">
                <a16:creationId xmlns:a16="http://schemas.microsoft.com/office/drawing/2014/main" id="{49BE0A20-C7E9-9B96-6527-3916B2D92FBC}"/>
              </a:ext>
            </a:extLst>
          </p:cNvPr>
          <p:cNvSpPr>
            <a:spLocks noGrp="1"/>
          </p:cNvSpPr>
          <p:nvPr>
            <p:ph type="body" sz="quarter" idx="11"/>
          </p:nvPr>
        </p:nvSpPr>
        <p:spPr/>
        <p:txBody>
          <a:bodyPr/>
          <a:lstStyle/>
          <a:p>
            <a:r>
              <a:rPr lang="en-US" dirty="0"/>
              <a:t>MPLS and SRv6 interworking</a:t>
            </a:r>
          </a:p>
        </p:txBody>
      </p:sp>
    </p:spTree>
    <p:extLst>
      <p:ext uri="{BB962C8B-B14F-4D97-AF65-F5344CB8AC3E}">
        <p14:creationId xmlns:p14="http://schemas.microsoft.com/office/powerpoint/2010/main" val="1830097391"/>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7DF76D3A-5E3E-4BC8-8F39-771134FF4322}"/>
              </a:ext>
            </a:extLst>
          </p:cNvPr>
          <p:cNvSpPr>
            <a:spLocks noGrp="1"/>
          </p:cNvSpPr>
          <p:nvPr>
            <p:ph type="body" idx="1"/>
          </p:nvPr>
        </p:nvSpPr>
        <p:spPr/>
        <p:txBody>
          <a:bodyPr/>
          <a:lstStyle/>
          <a:p>
            <a:r>
              <a:rPr lang="en-US" noProof="0" dirty="0"/>
              <a:t>Dual connected PE</a:t>
            </a:r>
          </a:p>
        </p:txBody>
      </p:sp>
      <p:sp>
        <p:nvSpPr>
          <p:cNvPr id="2" name="Text Placeholder 1">
            <a:extLst>
              <a:ext uri="{FF2B5EF4-FFF2-40B4-BE49-F238E27FC236}">
                <a16:creationId xmlns:a16="http://schemas.microsoft.com/office/drawing/2014/main" id="{B367786B-A4DD-DB9E-9087-78A451525AAC}"/>
              </a:ext>
            </a:extLst>
          </p:cNvPr>
          <p:cNvSpPr>
            <a:spLocks noGrp="1"/>
          </p:cNvSpPr>
          <p:nvPr>
            <p:ph type="body" sz="quarter" idx="15"/>
          </p:nvPr>
        </p:nvSpPr>
        <p:spPr/>
        <p:txBody>
          <a:bodyPr/>
          <a:lstStyle/>
          <a:p>
            <a:r>
              <a:rPr lang="en-US" dirty="0">
                <a:cs typeface="Calibri" pitchFamily="34" charset="0"/>
              </a:rPr>
              <a:t>SRv6 and service migration</a:t>
            </a:r>
            <a:endParaRPr lang="cs-CZ" dirty="0"/>
          </a:p>
        </p:txBody>
      </p:sp>
      <p:sp>
        <p:nvSpPr>
          <p:cNvPr id="5" name="Zástupný text 4">
            <a:extLst>
              <a:ext uri="{FF2B5EF4-FFF2-40B4-BE49-F238E27FC236}">
                <a16:creationId xmlns:a16="http://schemas.microsoft.com/office/drawing/2014/main" id="{CA46CB7B-0002-4873-B253-4D2438CC3611}"/>
              </a:ext>
            </a:extLst>
          </p:cNvPr>
          <p:cNvSpPr>
            <a:spLocks noGrp="1"/>
          </p:cNvSpPr>
          <p:nvPr>
            <p:ph type="body" sz="quarter" idx="13"/>
          </p:nvPr>
        </p:nvSpPr>
        <p:spPr/>
        <p:txBody>
          <a:bodyPr/>
          <a:lstStyle/>
          <a:p>
            <a:r>
              <a:rPr lang="en-US" dirty="0"/>
              <a:t>Segment Routing MPLS and SRv6</a:t>
            </a:r>
          </a:p>
        </p:txBody>
      </p:sp>
      <p:sp>
        <p:nvSpPr>
          <p:cNvPr id="6" name="Zástupný text 5">
            <a:extLst>
              <a:ext uri="{FF2B5EF4-FFF2-40B4-BE49-F238E27FC236}">
                <a16:creationId xmlns:a16="http://schemas.microsoft.com/office/drawing/2014/main" id="{955FA430-FA92-4EB5-849C-E3D05AB9B217}"/>
              </a:ext>
            </a:extLst>
          </p:cNvPr>
          <p:cNvSpPr>
            <a:spLocks noGrp="1"/>
          </p:cNvSpPr>
          <p:nvPr>
            <p:ph type="body" sz="quarter" idx="14"/>
          </p:nvPr>
        </p:nvSpPr>
        <p:spPr/>
        <p:txBody>
          <a:bodyPr/>
          <a:lstStyle/>
          <a:p>
            <a:r>
              <a:rPr lang="en-US" dirty="0"/>
              <a:t>MPLS and SRv6 Interworking</a:t>
            </a:r>
          </a:p>
        </p:txBody>
      </p:sp>
    </p:spTree>
    <p:extLst>
      <p:ext uri="{BB962C8B-B14F-4D97-AF65-F5344CB8AC3E}">
        <p14:creationId xmlns:p14="http://schemas.microsoft.com/office/powerpoint/2010/main" val="615833850"/>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6BF245B-5C0D-1B4D-D793-64562F3EAA35}"/>
              </a:ext>
            </a:extLst>
          </p:cNvPr>
          <p:cNvSpPr>
            <a:spLocks noGrp="1"/>
          </p:cNvSpPr>
          <p:nvPr>
            <p:ph type="body" sz="quarter" idx="10"/>
          </p:nvPr>
        </p:nvSpPr>
        <p:spPr>
          <a:xfrm>
            <a:off x="873918" y="3612584"/>
            <a:ext cx="10444163" cy="2656331"/>
          </a:xfrm>
        </p:spPr>
        <p:txBody>
          <a:bodyPr/>
          <a:lstStyle/>
          <a:p>
            <a:r>
              <a:rPr lang="en-US" sz="1800" dirty="0"/>
              <a:t>The Dual-Connected PE enables customers to directly reach its services from both SRv6 and MPLS remote PEs without passing through a Gateway</a:t>
            </a:r>
          </a:p>
          <a:p>
            <a:r>
              <a:rPr lang="en-US" sz="1800" dirty="0"/>
              <a:t>The Dual-Connected PE advertises its service routes to both MPLS and SRv6 remote PEs</a:t>
            </a:r>
          </a:p>
          <a:p>
            <a:pPr lvl="1"/>
            <a:r>
              <a:rPr lang="en-US" sz="1800" dirty="0"/>
              <a:t>MPLS service using IPv4 BGP session</a:t>
            </a:r>
          </a:p>
          <a:p>
            <a:pPr lvl="1"/>
            <a:r>
              <a:rPr lang="en-US" sz="1800" dirty="0"/>
              <a:t>SRv6 service using IPv6 BGP session</a:t>
            </a:r>
          </a:p>
          <a:p>
            <a:r>
              <a:rPr lang="en-US" sz="1800" dirty="0"/>
              <a:t>The Dual-Connected PE directly (without GW) reaches service routes of remote SRv6 and MPLS PEs</a:t>
            </a:r>
          </a:p>
          <a:p>
            <a:pPr lvl="1"/>
            <a:r>
              <a:rPr lang="en-US" sz="1800" dirty="0"/>
              <a:t>A service route of a remote Dual-Connected PE can be reached via SRv6 XOR MPLS (apply BGP policy to select desired path)</a:t>
            </a:r>
          </a:p>
        </p:txBody>
      </p:sp>
      <p:sp>
        <p:nvSpPr>
          <p:cNvPr id="3" name="Text Placeholder 2">
            <a:extLst>
              <a:ext uri="{FF2B5EF4-FFF2-40B4-BE49-F238E27FC236}">
                <a16:creationId xmlns:a16="http://schemas.microsoft.com/office/drawing/2014/main" id="{BAC0D667-F6BB-F0EA-949C-763E1FCC7FD5}"/>
              </a:ext>
            </a:extLst>
          </p:cNvPr>
          <p:cNvSpPr>
            <a:spLocks noGrp="1"/>
          </p:cNvSpPr>
          <p:nvPr>
            <p:ph type="body" sz="quarter" idx="11"/>
          </p:nvPr>
        </p:nvSpPr>
        <p:spPr/>
        <p:txBody>
          <a:bodyPr/>
          <a:lstStyle/>
          <a:p>
            <a:r>
              <a:rPr lang="en-US" dirty="0"/>
              <a:t>SRv6/MPLS Dual-Connected PE</a:t>
            </a:r>
          </a:p>
        </p:txBody>
      </p:sp>
      <p:pic>
        <p:nvPicPr>
          <p:cNvPr id="8" name="Picture 7" descr="A diagram of a diagram&#10;&#10;Description automatically generated">
            <a:extLst>
              <a:ext uri="{FF2B5EF4-FFF2-40B4-BE49-F238E27FC236}">
                <a16:creationId xmlns:a16="http://schemas.microsoft.com/office/drawing/2014/main" id="{0F159DBA-5EF5-4DFE-7614-35E2824532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5863" y="853905"/>
            <a:ext cx="10280271" cy="2758679"/>
          </a:xfrm>
          <a:prstGeom prst="rect">
            <a:avLst/>
          </a:prstGeom>
        </p:spPr>
      </p:pic>
    </p:spTree>
    <p:extLst>
      <p:ext uri="{BB962C8B-B14F-4D97-AF65-F5344CB8AC3E}">
        <p14:creationId xmlns:p14="http://schemas.microsoft.com/office/powerpoint/2010/main" val="385643968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07E3EF0E-4852-BB08-A88E-844FFD1B23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536" y="399724"/>
            <a:ext cx="10668925" cy="4122777"/>
          </a:xfrm>
          <a:prstGeom prst="rect">
            <a:avLst/>
          </a:prstGeom>
        </p:spPr>
      </p:pic>
      <p:sp>
        <p:nvSpPr>
          <p:cNvPr id="6" name="Rectangle 5">
            <a:extLst>
              <a:ext uri="{FF2B5EF4-FFF2-40B4-BE49-F238E27FC236}">
                <a16:creationId xmlns:a16="http://schemas.microsoft.com/office/drawing/2014/main" id="{2BA8B4D9-7EA4-AB11-E800-9751C74A0DBE}"/>
              </a:ext>
            </a:extLst>
          </p:cNvPr>
          <p:cNvSpPr/>
          <p:nvPr/>
        </p:nvSpPr>
        <p:spPr>
          <a:xfrm>
            <a:off x="761536" y="381674"/>
            <a:ext cx="3121270" cy="54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C6BF245B-5C0D-1B4D-D793-64562F3EAA35}"/>
              </a:ext>
            </a:extLst>
          </p:cNvPr>
          <p:cNvSpPr>
            <a:spLocks noGrp="1"/>
          </p:cNvSpPr>
          <p:nvPr>
            <p:ph type="body" sz="quarter" idx="10"/>
          </p:nvPr>
        </p:nvSpPr>
        <p:spPr>
          <a:xfrm>
            <a:off x="873918" y="4768443"/>
            <a:ext cx="10444163" cy="1500472"/>
          </a:xfrm>
        </p:spPr>
        <p:txBody>
          <a:bodyPr/>
          <a:lstStyle/>
          <a:p>
            <a:r>
              <a:rPr lang="en-US" sz="1800" dirty="0"/>
              <a:t>Dual-Connected PE4 advertises VPN route 94.0.0.0/8 in IPv4 BGP session with VPN label 90009</a:t>
            </a:r>
          </a:p>
          <a:p>
            <a:r>
              <a:rPr lang="en-US" sz="1800" dirty="0"/>
              <a:t>Remote MPLS PE1 sends VPN packets to Site 94 using MPLS encapsulation and VPN label</a:t>
            </a:r>
          </a:p>
          <a:p>
            <a:r>
              <a:rPr lang="en-US" sz="1800" dirty="0"/>
              <a:t>PE1 can use SR MPLS or LDP transport to reach PE4</a:t>
            </a:r>
          </a:p>
        </p:txBody>
      </p:sp>
      <p:sp>
        <p:nvSpPr>
          <p:cNvPr id="3" name="Text Placeholder 2">
            <a:extLst>
              <a:ext uri="{FF2B5EF4-FFF2-40B4-BE49-F238E27FC236}">
                <a16:creationId xmlns:a16="http://schemas.microsoft.com/office/drawing/2014/main" id="{BAC0D667-F6BB-F0EA-949C-763E1FCC7FD5}"/>
              </a:ext>
            </a:extLst>
          </p:cNvPr>
          <p:cNvSpPr>
            <a:spLocks noGrp="1"/>
          </p:cNvSpPr>
          <p:nvPr>
            <p:ph type="body" sz="quarter" idx="11"/>
          </p:nvPr>
        </p:nvSpPr>
        <p:spPr/>
        <p:txBody>
          <a:bodyPr/>
          <a:lstStyle/>
          <a:p>
            <a:r>
              <a:rPr lang="en-US" dirty="0"/>
              <a:t>MPLS L3VPN</a:t>
            </a:r>
          </a:p>
        </p:txBody>
      </p:sp>
    </p:spTree>
    <p:extLst>
      <p:ext uri="{BB962C8B-B14F-4D97-AF65-F5344CB8AC3E}">
        <p14:creationId xmlns:p14="http://schemas.microsoft.com/office/powerpoint/2010/main" val="4383569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iagram of a computer&#10;&#10;Description automatically generated">
            <a:extLst>
              <a:ext uri="{FF2B5EF4-FFF2-40B4-BE49-F238E27FC236}">
                <a16:creationId xmlns:a16="http://schemas.microsoft.com/office/drawing/2014/main" id="{A3C55383-6266-7752-2B74-9D5C01AEE6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3918" y="381674"/>
            <a:ext cx="10790855" cy="4077053"/>
          </a:xfrm>
          <a:prstGeom prst="rect">
            <a:avLst/>
          </a:prstGeom>
        </p:spPr>
      </p:pic>
      <p:sp>
        <p:nvSpPr>
          <p:cNvPr id="6" name="Rectangle 5">
            <a:extLst>
              <a:ext uri="{FF2B5EF4-FFF2-40B4-BE49-F238E27FC236}">
                <a16:creationId xmlns:a16="http://schemas.microsoft.com/office/drawing/2014/main" id="{2BA8B4D9-7EA4-AB11-E800-9751C74A0DBE}"/>
              </a:ext>
            </a:extLst>
          </p:cNvPr>
          <p:cNvSpPr/>
          <p:nvPr/>
        </p:nvSpPr>
        <p:spPr>
          <a:xfrm>
            <a:off x="761536" y="381674"/>
            <a:ext cx="3121270" cy="54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C6BF245B-5C0D-1B4D-D793-64562F3EAA35}"/>
              </a:ext>
            </a:extLst>
          </p:cNvPr>
          <p:cNvSpPr>
            <a:spLocks noGrp="1"/>
          </p:cNvSpPr>
          <p:nvPr>
            <p:ph type="body" sz="quarter" idx="10"/>
          </p:nvPr>
        </p:nvSpPr>
        <p:spPr>
          <a:xfrm>
            <a:off x="873918" y="4768443"/>
            <a:ext cx="10444163" cy="1500472"/>
          </a:xfrm>
        </p:spPr>
        <p:txBody>
          <a:bodyPr/>
          <a:lstStyle/>
          <a:p>
            <a:r>
              <a:rPr lang="en-US" sz="1800" dirty="0"/>
              <a:t>Dual-Connected PE4 advertises VPN route 94.0.0.0/8 in IPv6 BGP session with End.DT4 SID B:4:T9::</a:t>
            </a:r>
          </a:p>
          <a:p>
            <a:r>
              <a:rPr lang="en-US" sz="1800" dirty="0"/>
              <a:t>Remote SRv6 PE3 sends VPN packets to Site 94 using IPv6 packets with DA = SID B:4:T9::</a:t>
            </a:r>
          </a:p>
        </p:txBody>
      </p:sp>
      <p:sp>
        <p:nvSpPr>
          <p:cNvPr id="3" name="Text Placeholder 2">
            <a:extLst>
              <a:ext uri="{FF2B5EF4-FFF2-40B4-BE49-F238E27FC236}">
                <a16:creationId xmlns:a16="http://schemas.microsoft.com/office/drawing/2014/main" id="{BAC0D667-F6BB-F0EA-949C-763E1FCC7FD5}"/>
              </a:ext>
            </a:extLst>
          </p:cNvPr>
          <p:cNvSpPr>
            <a:spLocks noGrp="1"/>
          </p:cNvSpPr>
          <p:nvPr>
            <p:ph type="body" sz="quarter" idx="11"/>
          </p:nvPr>
        </p:nvSpPr>
        <p:spPr/>
        <p:txBody>
          <a:bodyPr/>
          <a:lstStyle/>
          <a:p>
            <a:r>
              <a:rPr lang="en-US" dirty="0"/>
              <a:t>SRv6 L3VPN</a:t>
            </a:r>
          </a:p>
        </p:txBody>
      </p:sp>
    </p:spTree>
    <p:extLst>
      <p:ext uri="{BB962C8B-B14F-4D97-AF65-F5344CB8AC3E}">
        <p14:creationId xmlns:p14="http://schemas.microsoft.com/office/powerpoint/2010/main" val="98610966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9458E76-A59B-D371-F03C-B08C9428B679}"/>
              </a:ext>
            </a:extLst>
          </p:cNvPr>
          <p:cNvSpPr>
            <a:spLocks noGrp="1"/>
          </p:cNvSpPr>
          <p:nvPr>
            <p:ph type="body" sz="quarter" idx="10"/>
          </p:nvPr>
        </p:nvSpPr>
        <p:spPr/>
        <p:txBody>
          <a:bodyPr/>
          <a:lstStyle/>
          <a:p>
            <a:r>
              <a:rPr lang="en-US" sz="2000" dirty="0"/>
              <a:t>supported on </a:t>
            </a:r>
            <a:r>
              <a:rPr lang="en-US" sz="2000" dirty="0" err="1"/>
              <a:t>ASR9000</a:t>
            </a:r>
            <a:r>
              <a:rPr lang="en-US" sz="2000" dirty="0"/>
              <a:t>, </a:t>
            </a:r>
            <a:r>
              <a:rPr lang="en-US" sz="2000" dirty="0" err="1"/>
              <a:t>NCS540</a:t>
            </a:r>
            <a:r>
              <a:rPr lang="en-US" sz="2000" dirty="0"/>
              <a:t>/5500, </a:t>
            </a:r>
            <a:r>
              <a:rPr lang="en-US" sz="2000" dirty="0" err="1"/>
              <a:t>Cisco8000</a:t>
            </a:r>
            <a:endParaRPr lang="en-US" sz="2000" dirty="0"/>
          </a:p>
          <a:p>
            <a:r>
              <a:rPr lang="en-US" sz="2000" dirty="0"/>
              <a:t>without additional config VRF prefixes are advertised ONLY over SRv6 so no local MPLS label is allocated and advertised.</a:t>
            </a:r>
          </a:p>
          <a:p>
            <a:endParaRPr lang="en-US" sz="2000" dirty="0"/>
          </a:p>
          <a:p>
            <a:endParaRPr lang="en-US" sz="2000" dirty="0"/>
          </a:p>
          <a:p>
            <a:endParaRPr lang="en-US" sz="2000" dirty="0"/>
          </a:p>
          <a:p>
            <a:endParaRPr lang="en-US" sz="2000" dirty="0"/>
          </a:p>
          <a:p>
            <a:endParaRPr lang="en-US" sz="2000" dirty="0"/>
          </a:p>
          <a:p>
            <a:endParaRPr lang="en-US" sz="2000" dirty="0"/>
          </a:p>
          <a:p>
            <a:r>
              <a:rPr lang="sk-SK" sz="2000" dirty="0"/>
              <a:t>By default, </a:t>
            </a:r>
            <a:r>
              <a:rPr lang="sk-SK" sz="2000" dirty="0" err="1"/>
              <a:t>if</a:t>
            </a:r>
            <a:r>
              <a:rPr lang="sk-SK" sz="2000" dirty="0"/>
              <a:t> a VRF prefix </a:t>
            </a:r>
            <a:r>
              <a:rPr lang="sk-SK" sz="2000" b="1" dirty="0"/>
              <a:t>has </a:t>
            </a:r>
            <a:r>
              <a:rPr lang="sk-SK" sz="2000" b="1" dirty="0" err="1"/>
              <a:t>both</a:t>
            </a:r>
            <a:r>
              <a:rPr lang="sk-SK" sz="2000" b="1" dirty="0"/>
              <a:t> </a:t>
            </a:r>
            <a:r>
              <a:rPr lang="sk-SK" sz="2000" b="1" dirty="0" err="1"/>
              <a:t>an</a:t>
            </a:r>
            <a:r>
              <a:rPr lang="sk-SK" sz="2000" b="1" dirty="0"/>
              <a:t> MPLS </a:t>
            </a:r>
            <a:r>
              <a:rPr lang="sk-SK" sz="2000" b="1" dirty="0" err="1"/>
              <a:t>label</a:t>
            </a:r>
            <a:r>
              <a:rPr lang="sk-SK" sz="2000" b="1" dirty="0"/>
              <a:t> and </a:t>
            </a:r>
            <a:r>
              <a:rPr lang="sk-SK" sz="2000" b="1" dirty="0" err="1"/>
              <a:t>an</a:t>
            </a:r>
            <a:r>
              <a:rPr lang="sk-SK" sz="2000" b="1" dirty="0"/>
              <a:t> </a:t>
            </a:r>
            <a:r>
              <a:rPr lang="sk-SK" sz="2000" b="1" dirty="0" err="1"/>
              <a:t>SRv6</a:t>
            </a:r>
            <a:r>
              <a:rPr lang="sk-SK" sz="2000" b="1" dirty="0"/>
              <a:t> </a:t>
            </a:r>
            <a:r>
              <a:rPr lang="sk-SK" sz="2000" b="1" dirty="0" err="1"/>
              <a:t>SID</a:t>
            </a:r>
            <a:r>
              <a:rPr lang="sk-SK" sz="2000" dirty="0"/>
              <a:t>, </a:t>
            </a:r>
            <a:r>
              <a:rPr lang="sk-SK" sz="2000" b="1" dirty="0" err="1"/>
              <a:t>the</a:t>
            </a:r>
            <a:r>
              <a:rPr lang="sk-SK" sz="2000" b="1" dirty="0"/>
              <a:t> MPLS </a:t>
            </a:r>
            <a:r>
              <a:rPr lang="sk-SK" sz="2000" b="1" dirty="0" err="1"/>
              <a:t>label</a:t>
            </a:r>
            <a:r>
              <a:rPr lang="sk-SK" sz="2000" b="1" dirty="0"/>
              <a:t> </a:t>
            </a:r>
            <a:r>
              <a:rPr lang="sk-SK" sz="2000" b="1" dirty="0" err="1"/>
              <a:t>is</a:t>
            </a:r>
            <a:r>
              <a:rPr lang="sk-SK" sz="2000" b="1" dirty="0"/>
              <a:t> </a:t>
            </a:r>
            <a:r>
              <a:rPr lang="sk-SK" sz="2000" b="1" dirty="0" err="1"/>
              <a:t>sent</a:t>
            </a:r>
            <a:r>
              <a:rPr lang="sk-SK" sz="2000" b="1" dirty="0"/>
              <a:t> </a:t>
            </a:r>
            <a:r>
              <a:rPr lang="sk-SK" sz="2000" b="1" dirty="0" err="1"/>
              <a:t>when</a:t>
            </a:r>
            <a:r>
              <a:rPr lang="sk-SK" sz="2000" b="1" dirty="0"/>
              <a:t> </a:t>
            </a:r>
            <a:r>
              <a:rPr lang="sk-SK" sz="2000" b="1" dirty="0" err="1"/>
              <a:t>advertising</a:t>
            </a:r>
            <a:r>
              <a:rPr lang="sk-SK" sz="2000" b="1" dirty="0"/>
              <a:t> </a:t>
            </a:r>
            <a:r>
              <a:rPr lang="sk-SK" sz="2000" b="1" dirty="0" err="1"/>
              <a:t>the</a:t>
            </a:r>
            <a:r>
              <a:rPr lang="sk-SK" sz="2000" b="1" dirty="0"/>
              <a:t> prefix to </a:t>
            </a:r>
            <a:r>
              <a:rPr lang="sk-SK" sz="2000" b="1" dirty="0" err="1"/>
              <a:t>the</a:t>
            </a:r>
            <a:r>
              <a:rPr lang="sk-SK" sz="2000" b="1" dirty="0"/>
              <a:t> </a:t>
            </a:r>
            <a:r>
              <a:rPr lang="sk-SK" sz="2000" b="1" dirty="0" err="1"/>
              <a:t>PE</a:t>
            </a:r>
            <a:r>
              <a:rPr lang="sk-SK" sz="2000" dirty="0"/>
              <a:t>. To </a:t>
            </a:r>
            <a:r>
              <a:rPr lang="sk-SK" sz="2000" dirty="0" err="1"/>
              <a:t>advertise</a:t>
            </a:r>
            <a:r>
              <a:rPr lang="sk-SK" sz="2000" dirty="0"/>
              <a:t> a VRF prefix </a:t>
            </a:r>
            <a:r>
              <a:rPr lang="sk-SK" sz="2000" dirty="0" err="1"/>
              <a:t>with</a:t>
            </a:r>
            <a:r>
              <a:rPr lang="sk-SK" sz="2000" dirty="0"/>
              <a:t> </a:t>
            </a:r>
            <a:r>
              <a:rPr lang="sk-SK" sz="2000" dirty="0" err="1"/>
              <a:t>an</a:t>
            </a:r>
            <a:r>
              <a:rPr lang="sk-SK" sz="2000" dirty="0"/>
              <a:t> </a:t>
            </a:r>
            <a:r>
              <a:rPr lang="sk-SK" sz="2000" dirty="0" err="1"/>
              <a:t>SRv6</a:t>
            </a:r>
            <a:r>
              <a:rPr lang="sk-SK" sz="2000" dirty="0"/>
              <a:t> </a:t>
            </a:r>
            <a:r>
              <a:rPr lang="sk-SK" sz="2000" dirty="0" err="1"/>
              <a:t>SID</a:t>
            </a:r>
            <a:r>
              <a:rPr lang="sk-SK" sz="2000" dirty="0"/>
              <a:t> to </a:t>
            </a:r>
            <a:r>
              <a:rPr lang="sk-SK" sz="2000" dirty="0" err="1"/>
              <a:t>an</a:t>
            </a:r>
            <a:r>
              <a:rPr lang="sk-SK" sz="2000" dirty="0"/>
              <a:t> </a:t>
            </a:r>
            <a:r>
              <a:rPr lang="sk-SK" sz="2000" dirty="0" err="1"/>
              <a:t>SRv6</a:t>
            </a:r>
            <a:r>
              <a:rPr lang="sk-SK" sz="2000" dirty="0"/>
              <a:t> </a:t>
            </a:r>
            <a:r>
              <a:rPr lang="sk-SK" sz="2000" dirty="0" err="1"/>
              <a:t>session</a:t>
            </a:r>
            <a:r>
              <a:rPr lang="sk-SK" sz="2000" dirty="0"/>
              <a:t>, </a:t>
            </a:r>
            <a:r>
              <a:rPr lang="sk-SK" sz="2000" dirty="0" err="1"/>
              <a:t>use</a:t>
            </a:r>
            <a:r>
              <a:rPr lang="sk-SK" sz="2000" dirty="0"/>
              <a:t> </a:t>
            </a:r>
            <a:r>
              <a:rPr lang="sk-SK" sz="2000" dirty="0" err="1"/>
              <a:t>the</a:t>
            </a:r>
            <a:r>
              <a:rPr lang="sk-SK" sz="2000" dirty="0"/>
              <a:t> </a:t>
            </a:r>
            <a:r>
              <a:rPr lang="sk-SK" sz="2000" dirty="0" err="1"/>
              <a:t>encapsulation</a:t>
            </a:r>
            <a:r>
              <a:rPr lang="sk-SK" sz="2000" dirty="0"/>
              <a:t>-type </a:t>
            </a:r>
            <a:r>
              <a:rPr lang="sk-SK" sz="2000" dirty="0" err="1"/>
              <a:t>srv6</a:t>
            </a:r>
            <a:r>
              <a:rPr lang="sk-SK" sz="2000" dirty="0"/>
              <a:t> </a:t>
            </a:r>
            <a:r>
              <a:rPr lang="sk-SK" sz="2000" dirty="0" err="1"/>
              <a:t>command</a:t>
            </a:r>
            <a:r>
              <a:rPr lang="sk-SK" sz="2000" dirty="0"/>
              <a:t> </a:t>
            </a:r>
            <a:r>
              <a:rPr lang="sk-SK" sz="2000" dirty="0" err="1"/>
              <a:t>under</a:t>
            </a:r>
            <a:r>
              <a:rPr lang="sk-SK" sz="2000" dirty="0"/>
              <a:t> </a:t>
            </a:r>
            <a:r>
              <a:rPr lang="sk-SK" sz="2000" dirty="0" err="1"/>
              <a:t>the</a:t>
            </a:r>
            <a:r>
              <a:rPr lang="sk-SK" sz="2000" dirty="0"/>
              <a:t> </a:t>
            </a:r>
            <a:r>
              <a:rPr lang="sk-SK" sz="2000" dirty="0" err="1"/>
              <a:t>neighbor</a:t>
            </a:r>
            <a:r>
              <a:rPr lang="sk-SK" sz="2000" dirty="0"/>
              <a:t> VPN </a:t>
            </a:r>
            <a:r>
              <a:rPr lang="sk-SK" sz="2000" dirty="0" err="1"/>
              <a:t>address-family</a:t>
            </a:r>
            <a:r>
              <a:rPr lang="sk-SK" sz="2000" dirty="0"/>
              <a:t>.</a:t>
            </a:r>
          </a:p>
          <a:p>
            <a:endParaRPr lang="en-US" sz="2000" dirty="0"/>
          </a:p>
        </p:txBody>
      </p:sp>
      <p:sp>
        <p:nvSpPr>
          <p:cNvPr id="3" name="Text Placeholder 2">
            <a:extLst>
              <a:ext uri="{FF2B5EF4-FFF2-40B4-BE49-F238E27FC236}">
                <a16:creationId xmlns:a16="http://schemas.microsoft.com/office/drawing/2014/main" id="{27912DA7-80A6-6CC6-3A11-1F6B84535C3E}"/>
              </a:ext>
            </a:extLst>
          </p:cNvPr>
          <p:cNvSpPr>
            <a:spLocks noGrp="1"/>
          </p:cNvSpPr>
          <p:nvPr>
            <p:ph type="body" sz="quarter" idx="11"/>
          </p:nvPr>
        </p:nvSpPr>
        <p:spPr/>
        <p:txBody>
          <a:bodyPr/>
          <a:lstStyle/>
          <a:p>
            <a:r>
              <a:rPr lang="en-US" dirty="0"/>
              <a:t>Dual connected PE</a:t>
            </a:r>
          </a:p>
        </p:txBody>
      </p:sp>
      <p:sp>
        <p:nvSpPr>
          <p:cNvPr id="6" name="Rectangle 5">
            <a:extLst>
              <a:ext uri="{FF2B5EF4-FFF2-40B4-BE49-F238E27FC236}">
                <a16:creationId xmlns:a16="http://schemas.microsoft.com/office/drawing/2014/main" id="{CC922BAF-5E96-2911-00BB-E217C1D4C8BB}"/>
              </a:ext>
            </a:extLst>
          </p:cNvPr>
          <p:cNvSpPr/>
          <p:nvPr/>
        </p:nvSpPr>
        <p:spPr>
          <a:xfrm>
            <a:off x="4026194" y="5780959"/>
            <a:ext cx="7368363" cy="938719"/>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Router(</a:t>
            </a:r>
            <a:r>
              <a:rPr lang="sk-SK" sz="1100" dirty="0" err="1">
                <a:latin typeface="Consolas" panose="020B0609020204030204" pitchFamily="49" charset="0"/>
              </a:rPr>
              <a:t>config</a:t>
            </a:r>
            <a:r>
              <a:rPr lang="sk-SK" sz="1100" dirty="0">
                <a:latin typeface="Consolas" panose="020B0609020204030204" pitchFamily="49" charset="0"/>
              </a:rPr>
              <a:t>-bgp)# </a:t>
            </a:r>
            <a:r>
              <a:rPr lang="sk-SK" sz="1100" dirty="0" err="1">
                <a:latin typeface="Consolas" panose="020B0609020204030204" pitchFamily="49" charset="0"/>
              </a:rPr>
              <a:t>neighbor</a:t>
            </a:r>
            <a:r>
              <a:rPr lang="sk-SK" sz="1100" dirty="0">
                <a:latin typeface="Consolas" panose="020B0609020204030204" pitchFamily="49" charset="0"/>
              </a:rPr>
              <a:t> 192::6</a:t>
            </a:r>
          </a:p>
          <a:p>
            <a:r>
              <a:rPr lang="sk-SK" sz="1100" dirty="0">
                <a:latin typeface="Consolas" panose="020B0609020204030204" pitchFamily="49" charset="0"/>
              </a:rPr>
              <a:t>Router(</a:t>
            </a:r>
            <a:r>
              <a:rPr lang="sk-SK" sz="1100" dirty="0" err="1">
                <a:latin typeface="Consolas" panose="020B0609020204030204" pitchFamily="49" charset="0"/>
              </a:rPr>
              <a:t>config</a:t>
            </a:r>
            <a:r>
              <a:rPr lang="sk-SK" sz="1100" dirty="0">
                <a:latin typeface="Consolas" panose="020B0609020204030204" pitchFamily="49" charset="0"/>
              </a:rPr>
              <a:t>-bgp-</a:t>
            </a:r>
            <a:r>
              <a:rPr lang="sk-SK" sz="1100" dirty="0" err="1">
                <a:latin typeface="Consolas" panose="020B0609020204030204" pitchFamily="49" charset="0"/>
              </a:rPr>
              <a:t>nbr</a:t>
            </a:r>
            <a:r>
              <a:rPr lang="sk-SK" sz="1100" dirty="0">
                <a:latin typeface="Consolas" panose="020B0609020204030204" pitchFamily="49" charset="0"/>
              </a:rPr>
              <a:t>)# </a:t>
            </a:r>
            <a:r>
              <a:rPr lang="sk-SK" sz="1100" dirty="0" err="1">
                <a:latin typeface="Consolas" panose="020B0609020204030204" pitchFamily="49" charset="0"/>
              </a:rPr>
              <a:t>remote</a:t>
            </a:r>
            <a:r>
              <a:rPr lang="sk-SK" sz="1100" dirty="0">
                <a:latin typeface="Consolas" panose="020B0609020204030204" pitchFamily="49" charset="0"/>
              </a:rPr>
              <a:t>-as 1</a:t>
            </a:r>
          </a:p>
          <a:p>
            <a:r>
              <a:rPr lang="sk-SK" sz="1100" dirty="0">
                <a:latin typeface="Consolas" panose="020B0609020204030204" pitchFamily="49" charset="0"/>
              </a:rPr>
              <a:t>Router(</a:t>
            </a:r>
            <a:r>
              <a:rPr lang="sk-SK" sz="1100" dirty="0" err="1">
                <a:latin typeface="Consolas" panose="020B0609020204030204" pitchFamily="49" charset="0"/>
              </a:rPr>
              <a:t>config</a:t>
            </a:r>
            <a:r>
              <a:rPr lang="sk-SK" sz="1100" dirty="0">
                <a:latin typeface="Consolas" panose="020B0609020204030204" pitchFamily="49" charset="0"/>
              </a:rPr>
              <a:t>-bgp-</a:t>
            </a:r>
            <a:r>
              <a:rPr lang="sk-SK" sz="1100" dirty="0" err="1">
                <a:latin typeface="Consolas" panose="020B0609020204030204" pitchFamily="49" charset="0"/>
              </a:rPr>
              <a:t>nbr</a:t>
            </a:r>
            <a:r>
              <a:rPr lang="sk-SK" sz="1100" dirty="0">
                <a:latin typeface="Consolas" panose="020B0609020204030204" pitchFamily="49" charset="0"/>
              </a:rPr>
              <a:t>)# </a:t>
            </a:r>
            <a:r>
              <a:rPr lang="sk-SK" sz="1100" b="1" dirty="0" err="1">
                <a:latin typeface="Consolas" panose="020B0609020204030204" pitchFamily="49" charset="0"/>
              </a:rPr>
              <a:t>address-family</a:t>
            </a:r>
            <a:r>
              <a:rPr lang="sk-SK" sz="1100" b="1" dirty="0">
                <a:latin typeface="Consolas" panose="020B0609020204030204" pitchFamily="49" charset="0"/>
              </a:rPr>
              <a:t> </a:t>
            </a:r>
            <a:r>
              <a:rPr lang="sk-SK" sz="1100" b="1" dirty="0" err="1">
                <a:latin typeface="Consolas" panose="020B0609020204030204" pitchFamily="49" charset="0"/>
              </a:rPr>
              <a:t>ipv4</a:t>
            </a:r>
            <a:r>
              <a:rPr lang="sk-SK" sz="1100" b="1" dirty="0">
                <a:latin typeface="Consolas" panose="020B0609020204030204" pitchFamily="49" charset="0"/>
              </a:rPr>
              <a:t> </a:t>
            </a:r>
            <a:r>
              <a:rPr lang="sk-SK" sz="1100" b="1" dirty="0" err="1">
                <a:latin typeface="Consolas" panose="020B0609020204030204" pitchFamily="49" charset="0"/>
              </a:rPr>
              <a:t>unicast</a:t>
            </a:r>
            <a:endParaRPr lang="sk-SK" sz="1100" b="1" dirty="0">
              <a:latin typeface="Consolas" panose="020B0609020204030204" pitchFamily="49" charset="0"/>
            </a:endParaRPr>
          </a:p>
          <a:p>
            <a:r>
              <a:rPr lang="sk-SK" sz="1100" dirty="0">
                <a:latin typeface="Consolas" panose="020B0609020204030204" pitchFamily="49" charset="0"/>
              </a:rPr>
              <a:t>Router(</a:t>
            </a:r>
            <a:r>
              <a:rPr lang="sk-SK" sz="1100" dirty="0" err="1">
                <a:latin typeface="Consolas" panose="020B0609020204030204" pitchFamily="49" charset="0"/>
              </a:rPr>
              <a:t>config</a:t>
            </a:r>
            <a:r>
              <a:rPr lang="sk-SK" sz="1100" dirty="0">
                <a:latin typeface="Consolas" panose="020B0609020204030204" pitchFamily="49" charset="0"/>
              </a:rPr>
              <a:t>-bgp-</a:t>
            </a:r>
            <a:r>
              <a:rPr lang="sk-SK" sz="1100" dirty="0" err="1">
                <a:latin typeface="Consolas" panose="020B0609020204030204" pitchFamily="49" charset="0"/>
              </a:rPr>
              <a:t>nbr</a:t>
            </a:r>
            <a:r>
              <a:rPr lang="sk-SK" sz="1100" dirty="0">
                <a:latin typeface="Consolas" panose="020B0609020204030204" pitchFamily="49" charset="0"/>
              </a:rPr>
              <a:t>-</a:t>
            </a:r>
            <a:r>
              <a:rPr lang="sk-SK" sz="1100" dirty="0" err="1">
                <a:latin typeface="Consolas" panose="020B0609020204030204" pitchFamily="49" charset="0"/>
              </a:rPr>
              <a:t>af</a:t>
            </a:r>
            <a:r>
              <a:rPr lang="sk-SK" sz="1100" dirty="0">
                <a:latin typeface="Consolas" panose="020B0609020204030204" pitchFamily="49" charset="0"/>
              </a:rPr>
              <a:t>)# </a:t>
            </a:r>
            <a:r>
              <a:rPr lang="sk-SK" sz="1100" b="1" dirty="0" err="1">
                <a:latin typeface="Consolas" panose="020B0609020204030204" pitchFamily="49" charset="0"/>
              </a:rPr>
              <a:t>encapsulation</a:t>
            </a:r>
            <a:r>
              <a:rPr lang="sk-SK" sz="1100" b="1" dirty="0">
                <a:latin typeface="Consolas" panose="020B0609020204030204" pitchFamily="49" charset="0"/>
              </a:rPr>
              <a:t>-type </a:t>
            </a:r>
            <a:r>
              <a:rPr lang="sk-SK" sz="1100" b="1" dirty="0" err="1">
                <a:latin typeface="Consolas" panose="020B0609020204030204" pitchFamily="49" charset="0"/>
              </a:rPr>
              <a:t>srv6</a:t>
            </a:r>
            <a:endParaRPr lang="sk-SK" sz="1100" b="1" dirty="0">
              <a:latin typeface="Consolas" panose="020B0609020204030204" pitchFamily="49" charset="0"/>
            </a:endParaRPr>
          </a:p>
          <a:p>
            <a:r>
              <a:rPr lang="sk-SK" sz="1100" dirty="0">
                <a:latin typeface="Consolas" panose="020B0609020204030204" pitchFamily="49" charset="0"/>
              </a:rPr>
              <a:t>Router(</a:t>
            </a:r>
            <a:r>
              <a:rPr lang="sk-SK" sz="1100" dirty="0" err="1">
                <a:latin typeface="Consolas" panose="020B0609020204030204" pitchFamily="49" charset="0"/>
              </a:rPr>
              <a:t>config</a:t>
            </a:r>
            <a:r>
              <a:rPr lang="sk-SK" sz="1100" dirty="0">
                <a:latin typeface="Consolas" panose="020B0609020204030204" pitchFamily="49" charset="0"/>
              </a:rPr>
              <a:t>-bgp-</a:t>
            </a:r>
            <a:r>
              <a:rPr lang="sk-SK" sz="1100" dirty="0" err="1">
                <a:latin typeface="Consolas" panose="020B0609020204030204" pitchFamily="49" charset="0"/>
              </a:rPr>
              <a:t>nbr</a:t>
            </a:r>
            <a:r>
              <a:rPr lang="sk-SK" sz="1100" dirty="0">
                <a:latin typeface="Consolas" panose="020B0609020204030204" pitchFamily="49" charset="0"/>
              </a:rPr>
              <a:t>-</a:t>
            </a:r>
            <a:r>
              <a:rPr lang="sk-SK" sz="1100" dirty="0" err="1">
                <a:latin typeface="Consolas" panose="020B0609020204030204" pitchFamily="49" charset="0"/>
              </a:rPr>
              <a:t>af</a:t>
            </a:r>
            <a:r>
              <a:rPr lang="sk-SK" sz="1100" dirty="0">
                <a:latin typeface="Consolas" panose="020B0609020204030204" pitchFamily="49" charset="0"/>
              </a:rPr>
              <a:t>)# </a:t>
            </a:r>
            <a:r>
              <a:rPr lang="sk-SK" sz="1100" dirty="0" err="1">
                <a:latin typeface="Consolas" panose="020B0609020204030204" pitchFamily="49" charset="0"/>
              </a:rPr>
              <a:t>exit</a:t>
            </a:r>
            <a:endParaRPr lang="sk-SK" sz="1100" dirty="0">
              <a:latin typeface="Consolas" panose="020B0609020204030204" pitchFamily="49" charset="0"/>
            </a:endParaRPr>
          </a:p>
        </p:txBody>
      </p:sp>
      <p:sp>
        <p:nvSpPr>
          <p:cNvPr id="7" name="Rectangle 6">
            <a:extLst>
              <a:ext uri="{FF2B5EF4-FFF2-40B4-BE49-F238E27FC236}">
                <a16:creationId xmlns:a16="http://schemas.microsoft.com/office/drawing/2014/main" id="{5A4C7E0F-A0EA-4BA9-3445-9E3A60E89B72}"/>
              </a:ext>
            </a:extLst>
          </p:cNvPr>
          <p:cNvSpPr/>
          <p:nvPr/>
        </p:nvSpPr>
        <p:spPr>
          <a:xfrm>
            <a:off x="1280421" y="2136751"/>
            <a:ext cx="7368363" cy="2292935"/>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Router(</a:t>
            </a:r>
            <a:r>
              <a:rPr lang="sk-SK" sz="1100" dirty="0" err="1">
                <a:latin typeface="Consolas" panose="020B0609020204030204" pitchFamily="49" charset="0"/>
              </a:rPr>
              <a:t>config</a:t>
            </a:r>
            <a:r>
              <a:rPr lang="sk-SK" sz="1100" dirty="0">
                <a:latin typeface="Consolas" panose="020B0609020204030204" pitchFamily="49" charset="0"/>
              </a:rPr>
              <a:t>)# router bgp 100</a:t>
            </a:r>
          </a:p>
          <a:p>
            <a:r>
              <a:rPr lang="sk-SK" sz="1100" dirty="0">
                <a:latin typeface="Consolas" panose="020B0609020204030204" pitchFamily="49" charset="0"/>
              </a:rPr>
              <a:t>Router(</a:t>
            </a:r>
            <a:r>
              <a:rPr lang="sk-SK" sz="1100" dirty="0" err="1">
                <a:latin typeface="Consolas" panose="020B0609020204030204" pitchFamily="49" charset="0"/>
              </a:rPr>
              <a:t>config</a:t>
            </a:r>
            <a:r>
              <a:rPr lang="sk-SK" sz="1100" dirty="0">
                <a:latin typeface="Consolas" panose="020B0609020204030204" pitchFamily="49" charset="0"/>
              </a:rPr>
              <a:t>-bgp)# vrf </a:t>
            </a:r>
            <a:r>
              <a:rPr lang="sk-SK" sz="1100" dirty="0" err="1">
                <a:latin typeface="Consolas" panose="020B0609020204030204" pitchFamily="49" charset="0"/>
              </a:rPr>
              <a:t>blue</a:t>
            </a:r>
            <a:endParaRPr lang="sk-SK" sz="1100" dirty="0">
              <a:latin typeface="Consolas" panose="020B0609020204030204" pitchFamily="49" charset="0"/>
            </a:endParaRPr>
          </a:p>
          <a:p>
            <a:r>
              <a:rPr lang="sk-SK" sz="1100" dirty="0">
                <a:latin typeface="Consolas" panose="020B0609020204030204" pitchFamily="49" charset="0"/>
              </a:rPr>
              <a:t>Router(</a:t>
            </a:r>
            <a:r>
              <a:rPr lang="sk-SK" sz="1100" dirty="0" err="1">
                <a:latin typeface="Consolas" panose="020B0609020204030204" pitchFamily="49" charset="0"/>
              </a:rPr>
              <a:t>config</a:t>
            </a:r>
            <a:r>
              <a:rPr lang="sk-SK" sz="1100" dirty="0">
                <a:latin typeface="Consolas" panose="020B0609020204030204" pitchFamily="49" charset="0"/>
              </a:rPr>
              <a:t>-bgp-vrf)# rd 1:10</a:t>
            </a:r>
          </a:p>
          <a:p>
            <a:r>
              <a:rPr lang="sk-SK" sz="1100" dirty="0">
                <a:latin typeface="Consolas" panose="020B0609020204030204" pitchFamily="49" charset="0"/>
              </a:rPr>
              <a:t>Router(</a:t>
            </a:r>
            <a:r>
              <a:rPr lang="sk-SK" sz="1100" dirty="0" err="1">
                <a:latin typeface="Consolas" panose="020B0609020204030204" pitchFamily="49" charset="0"/>
              </a:rPr>
              <a:t>config</a:t>
            </a:r>
            <a:r>
              <a:rPr lang="sk-SK" sz="1100" dirty="0">
                <a:latin typeface="Consolas" panose="020B0609020204030204" pitchFamily="49" charset="0"/>
              </a:rPr>
              <a:t>-bgp-vrf)# </a:t>
            </a:r>
            <a:r>
              <a:rPr lang="sk-SK" sz="1100" dirty="0" err="1">
                <a:latin typeface="Consolas" panose="020B0609020204030204" pitchFamily="49" charset="0"/>
              </a:rPr>
              <a:t>address-family</a:t>
            </a:r>
            <a:r>
              <a:rPr lang="sk-SK" sz="1100" dirty="0">
                <a:latin typeface="Consolas" panose="020B0609020204030204" pitchFamily="49" charset="0"/>
              </a:rPr>
              <a:t> </a:t>
            </a:r>
            <a:r>
              <a:rPr lang="sk-SK" sz="1100" dirty="0" err="1">
                <a:latin typeface="Consolas" panose="020B0609020204030204" pitchFamily="49" charset="0"/>
              </a:rPr>
              <a:t>ipv4</a:t>
            </a:r>
            <a:r>
              <a:rPr lang="sk-SK" sz="1100" dirty="0">
                <a:latin typeface="Consolas" panose="020B0609020204030204" pitchFamily="49" charset="0"/>
              </a:rPr>
              <a:t> </a:t>
            </a:r>
            <a:r>
              <a:rPr lang="sk-SK" sz="1100" dirty="0" err="1">
                <a:latin typeface="Consolas" panose="020B0609020204030204" pitchFamily="49" charset="0"/>
              </a:rPr>
              <a:t>unicast</a:t>
            </a:r>
            <a:endParaRPr lang="sk-SK" sz="1100" dirty="0">
              <a:latin typeface="Consolas" panose="020B0609020204030204" pitchFamily="49" charset="0"/>
            </a:endParaRPr>
          </a:p>
          <a:p>
            <a:r>
              <a:rPr lang="sk-SK" sz="1100" dirty="0">
                <a:latin typeface="Consolas" panose="020B0609020204030204" pitchFamily="49" charset="0"/>
              </a:rPr>
              <a:t>Router(</a:t>
            </a:r>
            <a:r>
              <a:rPr lang="sk-SK" sz="1100" dirty="0" err="1">
                <a:latin typeface="Consolas" panose="020B0609020204030204" pitchFamily="49" charset="0"/>
              </a:rPr>
              <a:t>config</a:t>
            </a:r>
            <a:r>
              <a:rPr lang="sk-SK" sz="1100" dirty="0">
                <a:latin typeface="Consolas" panose="020B0609020204030204" pitchFamily="49" charset="0"/>
              </a:rPr>
              <a:t>-bgp-vrf-</a:t>
            </a:r>
            <a:r>
              <a:rPr lang="sk-SK" sz="1100" dirty="0" err="1">
                <a:latin typeface="Consolas" panose="020B0609020204030204" pitchFamily="49" charset="0"/>
              </a:rPr>
              <a:t>af</a:t>
            </a:r>
            <a:r>
              <a:rPr lang="sk-SK" sz="1100" dirty="0">
                <a:latin typeface="Consolas" panose="020B0609020204030204" pitchFamily="49" charset="0"/>
              </a:rPr>
              <a:t>)# </a:t>
            </a:r>
            <a:r>
              <a:rPr lang="sk-SK" sz="1100" b="1" dirty="0">
                <a:latin typeface="Consolas" panose="020B0609020204030204" pitchFamily="49" charset="0"/>
              </a:rPr>
              <a:t>mpls </a:t>
            </a:r>
            <a:r>
              <a:rPr lang="sk-SK" sz="1100" b="1" dirty="0" err="1">
                <a:latin typeface="Consolas" panose="020B0609020204030204" pitchFamily="49" charset="0"/>
              </a:rPr>
              <a:t>alloc</a:t>
            </a:r>
            <a:r>
              <a:rPr lang="sk-SK" sz="1100" b="1" dirty="0">
                <a:latin typeface="Consolas" panose="020B0609020204030204" pitchFamily="49" charset="0"/>
              </a:rPr>
              <a:t> </a:t>
            </a:r>
            <a:r>
              <a:rPr lang="sk-SK" sz="1100" b="1" dirty="0" err="1">
                <a:latin typeface="Consolas" panose="020B0609020204030204" pitchFamily="49" charset="0"/>
              </a:rPr>
              <a:t>enable</a:t>
            </a:r>
            <a:endParaRPr lang="sk-SK" sz="1100" b="1" dirty="0">
              <a:latin typeface="Consolas" panose="020B0609020204030204" pitchFamily="49" charset="0"/>
            </a:endParaRPr>
          </a:p>
          <a:p>
            <a:r>
              <a:rPr lang="sk-SK" sz="1100" dirty="0">
                <a:latin typeface="Consolas" panose="020B0609020204030204" pitchFamily="49" charset="0"/>
              </a:rPr>
              <a:t>Router(</a:t>
            </a:r>
            <a:r>
              <a:rPr lang="sk-SK" sz="1100" dirty="0" err="1">
                <a:latin typeface="Consolas" panose="020B0609020204030204" pitchFamily="49" charset="0"/>
              </a:rPr>
              <a:t>config</a:t>
            </a:r>
            <a:r>
              <a:rPr lang="sk-SK" sz="1100" dirty="0">
                <a:latin typeface="Consolas" panose="020B0609020204030204" pitchFamily="49" charset="0"/>
              </a:rPr>
              <a:t>-bgp-vrf-</a:t>
            </a:r>
            <a:r>
              <a:rPr lang="sk-SK" sz="1100" dirty="0" err="1">
                <a:latin typeface="Consolas" panose="020B0609020204030204" pitchFamily="49" charset="0"/>
              </a:rPr>
              <a:t>af</a:t>
            </a:r>
            <a:r>
              <a:rPr lang="sk-SK" sz="1100" dirty="0">
                <a:latin typeface="Consolas" panose="020B0609020204030204" pitchFamily="49" charset="0"/>
              </a:rPr>
              <a:t>)# </a:t>
            </a:r>
            <a:r>
              <a:rPr lang="sk-SK" sz="1100" b="1" dirty="0" err="1">
                <a:latin typeface="Consolas" panose="020B0609020204030204" pitchFamily="49" charset="0"/>
              </a:rPr>
              <a:t>label</a:t>
            </a:r>
            <a:r>
              <a:rPr lang="sk-SK" sz="1100" b="1" dirty="0">
                <a:latin typeface="Consolas" panose="020B0609020204030204" pitchFamily="49" charset="0"/>
              </a:rPr>
              <a:t> </a:t>
            </a:r>
            <a:r>
              <a:rPr lang="sk-SK" sz="1100" b="1" dirty="0" err="1">
                <a:latin typeface="Consolas" panose="020B0609020204030204" pitchFamily="49" charset="0"/>
              </a:rPr>
              <a:t>mode</a:t>
            </a:r>
            <a:r>
              <a:rPr lang="sk-SK" sz="1100" b="1" dirty="0">
                <a:latin typeface="Consolas" panose="020B0609020204030204" pitchFamily="49" charset="0"/>
              </a:rPr>
              <a:t> per-</a:t>
            </a:r>
            <a:r>
              <a:rPr lang="sk-SK" sz="1100" b="1" dirty="0" err="1">
                <a:latin typeface="Consolas" panose="020B0609020204030204" pitchFamily="49" charset="0"/>
              </a:rPr>
              <a:t>ce</a:t>
            </a:r>
            <a:r>
              <a:rPr lang="en-US" sz="1100" b="1" dirty="0">
                <a:latin typeface="Consolas" panose="020B0609020204030204" pitchFamily="49" charset="0"/>
              </a:rPr>
              <a:t>  </a:t>
            </a:r>
            <a:r>
              <a:rPr lang="en-US" sz="1100" i="1" dirty="0">
                <a:solidFill>
                  <a:srgbClr val="7030A0"/>
                </a:solidFill>
                <a:latin typeface="Consolas" panose="020B0609020204030204" pitchFamily="49" charset="0"/>
              </a:rPr>
              <a:t>&lt;&lt; --- can be per-</a:t>
            </a:r>
            <a:r>
              <a:rPr lang="en-US" sz="1100" i="1" dirty="0" err="1">
                <a:solidFill>
                  <a:srgbClr val="7030A0"/>
                </a:solidFill>
                <a:latin typeface="Consolas" panose="020B0609020204030204" pitchFamily="49" charset="0"/>
              </a:rPr>
              <a:t>ce</a:t>
            </a:r>
            <a:r>
              <a:rPr lang="en-US" sz="1100" i="1" dirty="0">
                <a:solidFill>
                  <a:srgbClr val="7030A0"/>
                </a:solidFill>
                <a:latin typeface="Consolas" panose="020B0609020204030204" pitchFamily="49" charset="0"/>
              </a:rPr>
              <a:t> or per-vrf</a:t>
            </a:r>
            <a:endParaRPr lang="sk-SK" sz="1100" i="1" dirty="0">
              <a:solidFill>
                <a:srgbClr val="7030A0"/>
              </a:solidFill>
              <a:latin typeface="Consolas" panose="020B0609020204030204" pitchFamily="49" charset="0"/>
            </a:endParaRPr>
          </a:p>
          <a:p>
            <a:r>
              <a:rPr lang="sk-SK" sz="1100" dirty="0">
                <a:latin typeface="Consolas" panose="020B0609020204030204" pitchFamily="49" charset="0"/>
              </a:rPr>
              <a:t>Router(</a:t>
            </a:r>
            <a:r>
              <a:rPr lang="sk-SK" sz="1100" dirty="0" err="1">
                <a:latin typeface="Consolas" panose="020B0609020204030204" pitchFamily="49" charset="0"/>
              </a:rPr>
              <a:t>config</a:t>
            </a:r>
            <a:r>
              <a:rPr lang="sk-SK" sz="1100" dirty="0">
                <a:latin typeface="Consolas" panose="020B0609020204030204" pitchFamily="49" charset="0"/>
              </a:rPr>
              <a:t>-bgp-vrf-</a:t>
            </a:r>
            <a:r>
              <a:rPr lang="sk-SK" sz="1100" dirty="0" err="1">
                <a:latin typeface="Consolas" panose="020B0609020204030204" pitchFamily="49" charset="0"/>
              </a:rPr>
              <a:t>af</a:t>
            </a:r>
            <a:r>
              <a:rPr lang="sk-SK" sz="1100" dirty="0">
                <a:latin typeface="Consolas" panose="020B0609020204030204" pitchFamily="49" charset="0"/>
              </a:rPr>
              <a:t>)# segment-routing </a:t>
            </a:r>
            <a:r>
              <a:rPr lang="sk-SK" sz="1100" dirty="0" err="1">
                <a:latin typeface="Consolas" panose="020B0609020204030204" pitchFamily="49" charset="0"/>
              </a:rPr>
              <a:t>srv6</a:t>
            </a:r>
            <a:endParaRPr lang="sk-SK" sz="1100" dirty="0">
              <a:latin typeface="Consolas" panose="020B0609020204030204" pitchFamily="49" charset="0"/>
            </a:endParaRPr>
          </a:p>
          <a:p>
            <a:r>
              <a:rPr lang="sk-SK" sz="1100" dirty="0">
                <a:latin typeface="Consolas" panose="020B0609020204030204" pitchFamily="49" charset="0"/>
              </a:rPr>
              <a:t>Router(</a:t>
            </a:r>
            <a:r>
              <a:rPr lang="sk-SK" sz="1100" dirty="0" err="1">
                <a:latin typeface="Consolas" panose="020B0609020204030204" pitchFamily="49" charset="0"/>
              </a:rPr>
              <a:t>config</a:t>
            </a:r>
            <a:r>
              <a:rPr lang="sk-SK" sz="1100" dirty="0">
                <a:latin typeface="Consolas" panose="020B0609020204030204" pitchFamily="49" charset="0"/>
              </a:rPr>
              <a:t>-bgp-vrf-</a:t>
            </a:r>
            <a:r>
              <a:rPr lang="sk-SK" sz="1100" dirty="0" err="1">
                <a:latin typeface="Consolas" panose="020B0609020204030204" pitchFamily="49" charset="0"/>
              </a:rPr>
              <a:t>af</a:t>
            </a:r>
            <a:r>
              <a:rPr lang="sk-SK" sz="1100" dirty="0">
                <a:latin typeface="Consolas" panose="020B0609020204030204" pitchFamily="49" charset="0"/>
              </a:rPr>
              <a:t>-</a:t>
            </a:r>
            <a:r>
              <a:rPr lang="sk-SK" sz="1100" dirty="0" err="1">
                <a:latin typeface="Consolas" panose="020B0609020204030204" pitchFamily="49" charset="0"/>
              </a:rPr>
              <a:t>srv6</a:t>
            </a:r>
            <a:r>
              <a:rPr lang="sk-SK" sz="1100" dirty="0">
                <a:latin typeface="Consolas" panose="020B0609020204030204" pitchFamily="49" charset="0"/>
              </a:rPr>
              <a:t>)# </a:t>
            </a:r>
            <a:r>
              <a:rPr lang="sk-SK" sz="1100" b="1" dirty="0">
                <a:latin typeface="Consolas" panose="020B0609020204030204" pitchFamily="49" charset="0"/>
              </a:rPr>
              <a:t>mpls </a:t>
            </a:r>
            <a:r>
              <a:rPr lang="sk-SK" sz="1100" b="1" dirty="0" err="1">
                <a:latin typeface="Consolas" panose="020B0609020204030204" pitchFamily="49" charset="0"/>
              </a:rPr>
              <a:t>alloc</a:t>
            </a:r>
            <a:r>
              <a:rPr lang="sk-SK" sz="1100" b="1" dirty="0">
                <a:latin typeface="Consolas" panose="020B0609020204030204" pitchFamily="49" charset="0"/>
              </a:rPr>
              <a:t> </a:t>
            </a:r>
            <a:r>
              <a:rPr lang="sk-SK" sz="1100" b="1" dirty="0" err="1">
                <a:latin typeface="Consolas" panose="020B0609020204030204" pitchFamily="49" charset="0"/>
              </a:rPr>
              <a:t>enable</a:t>
            </a:r>
            <a:endParaRPr lang="sk-SK" sz="1100" b="1" dirty="0">
              <a:latin typeface="Consolas" panose="020B0609020204030204" pitchFamily="49" charset="0"/>
            </a:endParaRPr>
          </a:p>
          <a:p>
            <a:r>
              <a:rPr lang="sk-SK" sz="1100" dirty="0">
                <a:latin typeface="Consolas" panose="020B0609020204030204" pitchFamily="49" charset="0"/>
              </a:rPr>
              <a:t>Router(</a:t>
            </a:r>
            <a:r>
              <a:rPr lang="sk-SK" sz="1100" dirty="0" err="1">
                <a:latin typeface="Consolas" panose="020B0609020204030204" pitchFamily="49" charset="0"/>
              </a:rPr>
              <a:t>config</a:t>
            </a:r>
            <a:r>
              <a:rPr lang="sk-SK" sz="1100" dirty="0">
                <a:latin typeface="Consolas" panose="020B0609020204030204" pitchFamily="49" charset="0"/>
              </a:rPr>
              <a:t>-bgp-vrf-</a:t>
            </a:r>
            <a:r>
              <a:rPr lang="sk-SK" sz="1100" dirty="0" err="1">
                <a:latin typeface="Consolas" panose="020B0609020204030204" pitchFamily="49" charset="0"/>
              </a:rPr>
              <a:t>af</a:t>
            </a:r>
            <a:r>
              <a:rPr lang="sk-SK" sz="1100" dirty="0">
                <a:latin typeface="Consolas" panose="020B0609020204030204" pitchFamily="49" charset="0"/>
              </a:rPr>
              <a:t>-</a:t>
            </a:r>
            <a:r>
              <a:rPr lang="sk-SK" sz="1100" dirty="0" err="1">
                <a:latin typeface="Consolas" panose="020B0609020204030204" pitchFamily="49" charset="0"/>
              </a:rPr>
              <a:t>srv6</a:t>
            </a:r>
            <a:r>
              <a:rPr lang="sk-SK" sz="1100" dirty="0">
                <a:latin typeface="Consolas" panose="020B0609020204030204" pitchFamily="49" charset="0"/>
              </a:rPr>
              <a:t>)#</a:t>
            </a:r>
            <a:r>
              <a:rPr lang="en-US" sz="1100" dirty="0">
                <a:latin typeface="Consolas" panose="020B0609020204030204" pitchFamily="49" charset="0"/>
              </a:rPr>
              <a:t> </a:t>
            </a:r>
            <a:r>
              <a:rPr lang="sk-SK" sz="1100" b="1" dirty="0" err="1">
                <a:latin typeface="Consolas" panose="020B0609020204030204" pitchFamily="49" charset="0"/>
              </a:rPr>
              <a:t>alloc</a:t>
            </a:r>
            <a:r>
              <a:rPr lang="sk-SK" sz="1100" b="1" dirty="0">
                <a:latin typeface="Consolas" panose="020B0609020204030204" pitchFamily="49" charset="0"/>
              </a:rPr>
              <a:t> </a:t>
            </a:r>
            <a:r>
              <a:rPr lang="sk-SK" sz="1100" b="1" dirty="0" err="1">
                <a:latin typeface="Consolas" panose="020B0609020204030204" pitchFamily="49" charset="0"/>
              </a:rPr>
              <a:t>mode</a:t>
            </a:r>
            <a:r>
              <a:rPr lang="sk-SK" sz="1100" b="1" dirty="0">
                <a:latin typeface="Consolas" panose="020B0609020204030204" pitchFamily="49" charset="0"/>
              </a:rPr>
              <a:t> per-</a:t>
            </a:r>
            <a:r>
              <a:rPr lang="sk-SK" sz="1100" b="1" dirty="0" err="1">
                <a:latin typeface="Consolas" panose="020B0609020204030204" pitchFamily="49" charset="0"/>
              </a:rPr>
              <a:t>ce</a:t>
            </a:r>
            <a:r>
              <a:rPr lang="en-US" sz="1100" b="1" dirty="0">
                <a:latin typeface="Consolas" panose="020B0609020204030204" pitchFamily="49" charset="0"/>
              </a:rPr>
              <a:t>  </a:t>
            </a:r>
            <a:r>
              <a:rPr lang="en-US" sz="1100" i="1" dirty="0">
                <a:solidFill>
                  <a:srgbClr val="7030A0"/>
                </a:solidFill>
                <a:latin typeface="Consolas" panose="020B0609020204030204" pitchFamily="49" charset="0"/>
              </a:rPr>
              <a:t>&lt;&lt; --- can be per-</a:t>
            </a:r>
            <a:r>
              <a:rPr lang="en-US" sz="1100" i="1" dirty="0" err="1">
                <a:solidFill>
                  <a:srgbClr val="7030A0"/>
                </a:solidFill>
                <a:latin typeface="Consolas" panose="020B0609020204030204" pitchFamily="49" charset="0"/>
              </a:rPr>
              <a:t>ce</a:t>
            </a:r>
            <a:r>
              <a:rPr lang="en-US" sz="1100" i="1" dirty="0">
                <a:solidFill>
                  <a:srgbClr val="7030A0"/>
                </a:solidFill>
                <a:latin typeface="Consolas" panose="020B0609020204030204" pitchFamily="49" charset="0"/>
              </a:rPr>
              <a:t> or per-vrf</a:t>
            </a:r>
            <a:endParaRPr lang="sk-SK" sz="1100" i="1" dirty="0">
              <a:solidFill>
                <a:srgbClr val="7030A0"/>
              </a:solidFill>
              <a:latin typeface="Consolas" panose="020B0609020204030204" pitchFamily="49" charset="0"/>
            </a:endParaRPr>
          </a:p>
          <a:p>
            <a:r>
              <a:rPr lang="sk-SK" sz="1100" dirty="0">
                <a:latin typeface="Consolas" panose="020B0609020204030204" pitchFamily="49" charset="0"/>
              </a:rPr>
              <a:t>Router(</a:t>
            </a:r>
            <a:r>
              <a:rPr lang="sk-SK" sz="1100" dirty="0" err="1">
                <a:latin typeface="Consolas" panose="020B0609020204030204" pitchFamily="49" charset="0"/>
              </a:rPr>
              <a:t>config</a:t>
            </a:r>
            <a:r>
              <a:rPr lang="sk-SK" sz="1100" dirty="0">
                <a:latin typeface="Consolas" panose="020B0609020204030204" pitchFamily="49" charset="0"/>
              </a:rPr>
              <a:t>-bgp-vrf-</a:t>
            </a:r>
            <a:r>
              <a:rPr lang="sk-SK" sz="1100" dirty="0" err="1">
                <a:latin typeface="Consolas" panose="020B0609020204030204" pitchFamily="49" charset="0"/>
              </a:rPr>
              <a:t>af</a:t>
            </a:r>
            <a:r>
              <a:rPr lang="sk-SK" sz="1100" dirty="0">
                <a:latin typeface="Consolas" panose="020B0609020204030204" pitchFamily="49" charset="0"/>
              </a:rPr>
              <a:t>-</a:t>
            </a:r>
            <a:r>
              <a:rPr lang="sk-SK" sz="1100" dirty="0" err="1">
                <a:latin typeface="Consolas" panose="020B0609020204030204" pitchFamily="49" charset="0"/>
              </a:rPr>
              <a:t>srv6</a:t>
            </a:r>
            <a:r>
              <a:rPr lang="sk-SK" sz="1100" dirty="0">
                <a:latin typeface="Consolas" panose="020B0609020204030204" pitchFamily="49" charset="0"/>
              </a:rPr>
              <a:t>)# </a:t>
            </a:r>
            <a:r>
              <a:rPr lang="sk-SK" sz="1100" dirty="0" err="1">
                <a:latin typeface="Consolas" panose="020B0609020204030204" pitchFamily="49" charset="0"/>
              </a:rPr>
              <a:t>exit</a:t>
            </a:r>
            <a:endParaRPr lang="sk-SK" sz="1100" dirty="0">
              <a:latin typeface="Consolas" panose="020B0609020204030204" pitchFamily="49" charset="0"/>
            </a:endParaRPr>
          </a:p>
          <a:p>
            <a:r>
              <a:rPr lang="sk-SK" sz="1100" dirty="0">
                <a:latin typeface="Consolas" panose="020B0609020204030204" pitchFamily="49" charset="0"/>
              </a:rPr>
              <a:t>Router(</a:t>
            </a:r>
            <a:r>
              <a:rPr lang="sk-SK" sz="1100" dirty="0" err="1">
                <a:latin typeface="Consolas" panose="020B0609020204030204" pitchFamily="49" charset="0"/>
              </a:rPr>
              <a:t>config</a:t>
            </a:r>
            <a:r>
              <a:rPr lang="sk-SK" sz="1100" dirty="0">
                <a:latin typeface="Consolas" panose="020B0609020204030204" pitchFamily="49" charset="0"/>
              </a:rPr>
              <a:t>-bgp-vrf-</a:t>
            </a:r>
            <a:r>
              <a:rPr lang="sk-SK" sz="1100" dirty="0" err="1">
                <a:latin typeface="Consolas" panose="020B0609020204030204" pitchFamily="49" charset="0"/>
              </a:rPr>
              <a:t>af</a:t>
            </a:r>
            <a:r>
              <a:rPr lang="sk-SK" sz="1100" dirty="0">
                <a:latin typeface="Consolas" panose="020B0609020204030204" pitchFamily="49" charset="0"/>
              </a:rPr>
              <a:t>)# </a:t>
            </a:r>
            <a:r>
              <a:rPr lang="sk-SK" sz="1100" dirty="0" err="1">
                <a:latin typeface="Consolas" panose="020B0609020204030204" pitchFamily="49" charset="0"/>
              </a:rPr>
              <a:t>exit</a:t>
            </a:r>
            <a:endParaRPr lang="sk-SK" sz="1100" dirty="0">
              <a:latin typeface="Consolas" panose="020B0609020204030204" pitchFamily="49" charset="0"/>
            </a:endParaRPr>
          </a:p>
          <a:p>
            <a:r>
              <a:rPr lang="sk-SK" sz="1100" dirty="0">
                <a:latin typeface="Consolas" panose="020B0609020204030204" pitchFamily="49" charset="0"/>
              </a:rPr>
              <a:t>Router(</a:t>
            </a:r>
            <a:r>
              <a:rPr lang="sk-SK" sz="1100" dirty="0" err="1">
                <a:latin typeface="Consolas" panose="020B0609020204030204" pitchFamily="49" charset="0"/>
              </a:rPr>
              <a:t>config</a:t>
            </a:r>
            <a:r>
              <a:rPr lang="sk-SK" sz="1100" dirty="0">
                <a:latin typeface="Consolas" panose="020B0609020204030204" pitchFamily="49" charset="0"/>
              </a:rPr>
              <a:t>-bgp-vrf)# </a:t>
            </a:r>
            <a:r>
              <a:rPr lang="sk-SK" sz="1100" dirty="0" err="1">
                <a:latin typeface="Consolas" panose="020B0609020204030204" pitchFamily="49" charset="0"/>
              </a:rPr>
              <a:t>exit</a:t>
            </a:r>
            <a:endParaRPr lang="sk-SK" sz="1100" dirty="0">
              <a:latin typeface="Consolas" panose="020B0609020204030204" pitchFamily="49" charset="0"/>
            </a:endParaRPr>
          </a:p>
          <a:p>
            <a:r>
              <a:rPr lang="sk-SK" sz="1100" dirty="0">
                <a:latin typeface="Consolas" panose="020B0609020204030204" pitchFamily="49" charset="0"/>
              </a:rPr>
              <a:t>Router(</a:t>
            </a:r>
            <a:r>
              <a:rPr lang="sk-SK" sz="1100" dirty="0" err="1">
                <a:latin typeface="Consolas" panose="020B0609020204030204" pitchFamily="49" charset="0"/>
              </a:rPr>
              <a:t>config</a:t>
            </a:r>
            <a:r>
              <a:rPr lang="sk-SK" sz="1100" dirty="0">
                <a:latin typeface="Consolas" panose="020B0609020204030204" pitchFamily="49" charset="0"/>
              </a:rPr>
              <a:t>-bgp)#</a:t>
            </a:r>
          </a:p>
        </p:txBody>
      </p:sp>
    </p:spTree>
    <p:extLst>
      <p:ext uri="{BB962C8B-B14F-4D97-AF65-F5344CB8AC3E}">
        <p14:creationId xmlns:p14="http://schemas.microsoft.com/office/powerpoint/2010/main" val="401130890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9458E76-A59B-D371-F03C-B08C9428B679}"/>
              </a:ext>
            </a:extLst>
          </p:cNvPr>
          <p:cNvSpPr>
            <a:spLocks noGrp="1"/>
          </p:cNvSpPr>
          <p:nvPr>
            <p:ph type="body" sz="quarter" idx="10"/>
          </p:nvPr>
        </p:nvSpPr>
        <p:spPr/>
        <p:txBody>
          <a:bodyPr/>
          <a:lstStyle/>
          <a:p>
            <a:r>
              <a:rPr lang="en-US" sz="2000" dirty="0" err="1"/>
              <a:t>R31</a:t>
            </a:r>
            <a:r>
              <a:rPr lang="en-US" sz="2000" dirty="0"/>
              <a:t> – MPLS only PE router</a:t>
            </a:r>
          </a:p>
          <a:p>
            <a:r>
              <a:rPr lang="en-US" sz="2000" dirty="0" err="1"/>
              <a:t>R01</a:t>
            </a:r>
            <a:r>
              <a:rPr lang="en-US" sz="2000" dirty="0"/>
              <a:t> – Dual connected PE (MPLS + SRv6)</a:t>
            </a:r>
          </a:p>
          <a:p>
            <a:r>
              <a:rPr lang="en-US" sz="2000" dirty="0" err="1"/>
              <a:t>R03</a:t>
            </a:r>
            <a:r>
              <a:rPr lang="en-US" sz="2000" dirty="0"/>
              <a:t> – BGP RR for IPv4 &amp;&amp; MPLS</a:t>
            </a:r>
          </a:p>
          <a:p>
            <a:r>
              <a:rPr lang="en-US" sz="2000" dirty="0" err="1"/>
              <a:t>R04</a:t>
            </a:r>
            <a:r>
              <a:rPr lang="en-US" sz="2000" dirty="0"/>
              <a:t> – SRv6(/MPLS) PE router</a:t>
            </a:r>
          </a:p>
          <a:p>
            <a:r>
              <a:rPr lang="en-US" sz="2000" dirty="0" err="1"/>
              <a:t>R13</a:t>
            </a:r>
            <a:r>
              <a:rPr lang="en-US" sz="2000" dirty="0"/>
              <a:t> – BGP RR for IPv6 &amp;&amp; SRv6</a:t>
            </a:r>
          </a:p>
          <a:p>
            <a:r>
              <a:rPr lang="en-US" sz="2000" dirty="0" err="1"/>
              <a:t>R02</a:t>
            </a:r>
            <a:r>
              <a:rPr lang="en-US" sz="2000" dirty="0"/>
              <a:t> – MPLS “P” and SRv6/pure IPv6 router</a:t>
            </a:r>
          </a:p>
        </p:txBody>
      </p:sp>
      <p:sp>
        <p:nvSpPr>
          <p:cNvPr id="3" name="Text Placeholder 2">
            <a:extLst>
              <a:ext uri="{FF2B5EF4-FFF2-40B4-BE49-F238E27FC236}">
                <a16:creationId xmlns:a16="http://schemas.microsoft.com/office/drawing/2014/main" id="{27912DA7-80A6-6CC6-3A11-1F6B84535C3E}"/>
              </a:ext>
            </a:extLst>
          </p:cNvPr>
          <p:cNvSpPr>
            <a:spLocks noGrp="1"/>
          </p:cNvSpPr>
          <p:nvPr>
            <p:ph type="body" sz="quarter" idx="11"/>
          </p:nvPr>
        </p:nvSpPr>
        <p:spPr/>
        <p:txBody>
          <a:bodyPr/>
          <a:lstStyle/>
          <a:p>
            <a:r>
              <a:rPr lang="en-US" dirty="0"/>
              <a:t>Dual connected PE – config example #1</a:t>
            </a:r>
          </a:p>
        </p:txBody>
      </p:sp>
      <p:pic>
        <p:nvPicPr>
          <p:cNvPr id="10" name="Picture 9" descr="A diagram of a network&#10;&#10;AI-generated content may be incorrect.">
            <a:extLst>
              <a:ext uri="{FF2B5EF4-FFF2-40B4-BE49-F238E27FC236}">
                <a16:creationId xmlns:a16="http://schemas.microsoft.com/office/drawing/2014/main" id="{3C8A68B5-31D7-894C-55A2-6AE44225FB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7948" y="3423862"/>
            <a:ext cx="7734970" cy="3421677"/>
          </a:xfrm>
          <a:prstGeom prst="rect">
            <a:avLst/>
          </a:prstGeom>
        </p:spPr>
      </p:pic>
    </p:spTree>
    <p:extLst>
      <p:ext uri="{BB962C8B-B14F-4D97-AF65-F5344CB8AC3E}">
        <p14:creationId xmlns:p14="http://schemas.microsoft.com/office/powerpoint/2010/main" val="221995899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9458E76-A59B-D371-F03C-B08C9428B679}"/>
              </a:ext>
            </a:extLst>
          </p:cNvPr>
          <p:cNvSpPr>
            <a:spLocks noGrp="1"/>
          </p:cNvSpPr>
          <p:nvPr>
            <p:ph type="body" sz="quarter" idx="10"/>
          </p:nvPr>
        </p:nvSpPr>
        <p:spPr/>
        <p:txBody>
          <a:bodyPr/>
          <a:lstStyle/>
          <a:p>
            <a:r>
              <a:rPr lang="en-US" sz="2000" dirty="0" err="1"/>
              <a:t>R01</a:t>
            </a:r>
            <a:r>
              <a:rPr lang="en-US" sz="2000" dirty="0"/>
              <a:t> – Dual connected PE (MPLS + SRv6)</a:t>
            </a:r>
          </a:p>
        </p:txBody>
      </p:sp>
      <p:sp>
        <p:nvSpPr>
          <p:cNvPr id="3" name="Text Placeholder 2">
            <a:extLst>
              <a:ext uri="{FF2B5EF4-FFF2-40B4-BE49-F238E27FC236}">
                <a16:creationId xmlns:a16="http://schemas.microsoft.com/office/drawing/2014/main" id="{27912DA7-80A6-6CC6-3A11-1F6B84535C3E}"/>
              </a:ext>
            </a:extLst>
          </p:cNvPr>
          <p:cNvSpPr>
            <a:spLocks noGrp="1"/>
          </p:cNvSpPr>
          <p:nvPr>
            <p:ph type="body" sz="quarter" idx="11"/>
          </p:nvPr>
        </p:nvSpPr>
        <p:spPr/>
        <p:txBody>
          <a:bodyPr/>
          <a:lstStyle/>
          <a:p>
            <a:r>
              <a:rPr lang="en-US" dirty="0"/>
              <a:t>Dual connected PE – config example #2 (</a:t>
            </a:r>
            <a:r>
              <a:rPr lang="en-US" dirty="0" err="1"/>
              <a:t>R01</a:t>
            </a:r>
            <a:r>
              <a:rPr lang="en-US" dirty="0"/>
              <a:t>)</a:t>
            </a:r>
          </a:p>
        </p:txBody>
      </p:sp>
      <p:sp>
        <p:nvSpPr>
          <p:cNvPr id="7" name="Rectangle 6">
            <a:extLst>
              <a:ext uri="{FF2B5EF4-FFF2-40B4-BE49-F238E27FC236}">
                <a16:creationId xmlns:a16="http://schemas.microsoft.com/office/drawing/2014/main" id="{5A4C7E0F-A0EA-4BA9-3445-9E3A60E89B72}"/>
              </a:ext>
            </a:extLst>
          </p:cNvPr>
          <p:cNvSpPr/>
          <p:nvPr/>
        </p:nvSpPr>
        <p:spPr>
          <a:xfrm>
            <a:off x="1500959" y="1436912"/>
            <a:ext cx="4595040" cy="5001369"/>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         </a:t>
            </a:r>
          </a:p>
          <a:p>
            <a:r>
              <a:rPr lang="sk-SK" sz="1100" dirty="0">
                <a:latin typeface="Consolas" panose="020B0609020204030204" pitchFamily="49" charset="0"/>
              </a:rPr>
              <a:t>router bgp 65000</a:t>
            </a:r>
          </a:p>
          <a:p>
            <a:r>
              <a:rPr lang="en-US" sz="1100" dirty="0">
                <a:latin typeface="Consolas" panose="020B0609020204030204" pitchFamily="49" charset="0"/>
              </a:rPr>
              <a:t>-- cut --</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neighbor</a:t>
            </a:r>
            <a:r>
              <a:rPr lang="sk-SK" sz="1100" dirty="0">
                <a:latin typeface="Consolas" panose="020B0609020204030204" pitchFamily="49" charset="0"/>
              </a:rPr>
              <a:t> 1.1.1.3</a:t>
            </a:r>
            <a:r>
              <a:rPr lang="en-US" sz="1100" dirty="0">
                <a:latin typeface="Consolas" panose="020B0609020204030204" pitchFamily="49" charset="0"/>
              </a:rPr>
              <a:t> </a:t>
            </a:r>
            <a:r>
              <a:rPr lang="en-US" sz="1100" dirty="0">
                <a:solidFill>
                  <a:srgbClr val="7030A0"/>
                </a:solidFill>
                <a:latin typeface="Consolas" panose="020B0609020204030204" pitchFamily="49" charset="0"/>
              </a:rPr>
              <a:t>&lt;&lt; -- IPv4 BGP RR for “MPLS”</a:t>
            </a:r>
            <a:endParaRPr lang="sk-SK" sz="1100" dirty="0">
              <a:solidFill>
                <a:srgbClr val="7030A0"/>
              </a:solidFill>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remote</a:t>
            </a:r>
            <a:r>
              <a:rPr lang="sk-SK" sz="1100" dirty="0">
                <a:latin typeface="Consolas" panose="020B0609020204030204" pitchFamily="49" charset="0"/>
              </a:rPr>
              <a:t>-as 65000</a:t>
            </a:r>
          </a:p>
          <a:p>
            <a:r>
              <a:rPr lang="sk-SK" sz="1100" dirty="0">
                <a:latin typeface="Consolas" panose="020B0609020204030204" pitchFamily="49" charset="0"/>
              </a:rPr>
              <a:t>  update-</a:t>
            </a:r>
            <a:r>
              <a:rPr lang="sk-SK" sz="1100" dirty="0" err="1">
                <a:latin typeface="Consolas" panose="020B0609020204030204" pitchFamily="49" charset="0"/>
              </a:rPr>
              <a:t>source</a:t>
            </a:r>
            <a:r>
              <a:rPr lang="sk-SK" sz="1100" dirty="0">
                <a:latin typeface="Consolas" panose="020B0609020204030204" pitchFamily="49" charset="0"/>
              </a:rPr>
              <a:t> </a:t>
            </a:r>
            <a:r>
              <a:rPr lang="sk-SK" sz="1100" dirty="0" err="1">
                <a:latin typeface="Consolas" panose="020B0609020204030204" pitchFamily="49" charset="0"/>
              </a:rPr>
              <a:t>Loopback0</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address-family</a:t>
            </a:r>
            <a:r>
              <a:rPr lang="sk-SK" sz="1100" dirty="0">
                <a:latin typeface="Consolas" panose="020B0609020204030204" pitchFamily="49" charset="0"/>
              </a:rPr>
              <a:t> </a:t>
            </a:r>
            <a:r>
              <a:rPr lang="sk-SK" sz="1100" dirty="0" err="1">
                <a:latin typeface="Consolas" panose="020B0609020204030204" pitchFamily="49" charset="0"/>
              </a:rPr>
              <a:t>vpnv4</a:t>
            </a:r>
            <a:r>
              <a:rPr lang="sk-SK" sz="1100" dirty="0">
                <a:latin typeface="Consolas" panose="020B0609020204030204" pitchFamily="49" charset="0"/>
              </a:rPr>
              <a:t> </a:t>
            </a:r>
            <a:r>
              <a:rPr lang="sk-SK" sz="1100" dirty="0" err="1">
                <a:latin typeface="Consolas" panose="020B0609020204030204" pitchFamily="49" charset="0"/>
              </a:rPr>
              <a:t>unicast</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route-policy</a:t>
            </a:r>
            <a:r>
              <a:rPr lang="sk-SK" sz="1100" dirty="0">
                <a:latin typeface="Consolas" panose="020B0609020204030204" pitchFamily="49" charset="0"/>
              </a:rPr>
              <a:t> </a:t>
            </a:r>
            <a:r>
              <a:rPr lang="sk-SK" sz="1100" dirty="0" err="1">
                <a:latin typeface="Consolas" panose="020B0609020204030204" pitchFamily="49" charset="0"/>
              </a:rPr>
              <a:t>PASS</a:t>
            </a:r>
            <a:r>
              <a:rPr lang="sk-SK" sz="1100" dirty="0">
                <a:latin typeface="Consolas" panose="020B0609020204030204" pitchFamily="49" charset="0"/>
              </a:rPr>
              <a:t> in</a:t>
            </a:r>
          </a:p>
          <a:p>
            <a:r>
              <a:rPr lang="sk-SK" sz="1100" dirty="0">
                <a:latin typeface="Consolas" panose="020B0609020204030204" pitchFamily="49" charset="0"/>
              </a:rPr>
              <a:t>   </a:t>
            </a:r>
            <a:r>
              <a:rPr lang="sk-SK" sz="1100" dirty="0" err="1">
                <a:latin typeface="Consolas" panose="020B0609020204030204" pitchFamily="49" charset="0"/>
              </a:rPr>
              <a:t>route-policy</a:t>
            </a:r>
            <a:r>
              <a:rPr lang="sk-SK" sz="1100" dirty="0">
                <a:latin typeface="Consolas" panose="020B0609020204030204" pitchFamily="49" charset="0"/>
              </a:rPr>
              <a:t> </a:t>
            </a:r>
            <a:r>
              <a:rPr lang="sk-SK" sz="1100" dirty="0" err="1">
                <a:latin typeface="Consolas" panose="020B0609020204030204" pitchFamily="49" charset="0"/>
              </a:rPr>
              <a:t>PASS</a:t>
            </a:r>
            <a:r>
              <a:rPr lang="sk-SK" sz="1100" dirty="0">
                <a:latin typeface="Consolas" panose="020B0609020204030204" pitchFamily="49" charset="0"/>
              </a:rPr>
              <a:t> </a:t>
            </a:r>
            <a:r>
              <a:rPr lang="sk-SK" sz="1100" dirty="0" err="1">
                <a:latin typeface="Consolas" panose="020B0609020204030204" pitchFamily="49" charset="0"/>
              </a:rPr>
              <a:t>out</a:t>
            </a:r>
            <a:endParaRPr lang="sk-SK" sz="1100" dirty="0">
              <a:latin typeface="Consolas" panose="020B0609020204030204" pitchFamily="49" charset="0"/>
            </a:endParaRPr>
          </a:p>
          <a:p>
            <a:r>
              <a:rPr lang="sk-SK" sz="1100" dirty="0">
                <a:latin typeface="Consolas" panose="020B0609020204030204" pitchFamily="49" charset="0"/>
              </a:rPr>
              <a:t>  !</a:t>
            </a:r>
          </a:p>
          <a:p>
            <a:r>
              <a:rPr lang="sk-SK" sz="1100" dirty="0">
                <a:latin typeface="Consolas" panose="020B0609020204030204" pitchFamily="49" charset="0"/>
              </a:rPr>
              <a:t>  </a:t>
            </a:r>
            <a:r>
              <a:rPr lang="sk-SK" sz="1100" dirty="0" err="1">
                <a:latin typeface="Consolas" panose="020B0609020204030204" pitchFamily="49" charset="0"/>
              </a:rPr>
              <a:t>address-family</a:t>
            </a:r>
            <a:r>
              <a:rPr lang="sk-SK" sz="1100" dirty="0">
                <a:latin typeface="Consolas" panose="020B0609020204030204" pitchFamily="49" charset="0"/>
              </a:rPr>
              <a:t> </a:t>
            </a:r>
            <a:r>
              <a:rPr lang="sk-SK" sz="1100" dirty="0" err="1">
                <a:latin typeface="Consolas" panose="020B0609020204030204" pitchFamily="49" charset="0"/>
              </a:rPr>
              <a:t>vpnv6</a:t>
            </a:r>
            <a:r>
              <a:rPr lang="sk-SK" sz="1100" dirty="0">
                <a:latin typeface="Consolas" panose="020B0609020204030204" pitchFamily="49" charset="0"/>
              </a:rPr>
              <a:t> </a:t>
            </a:r>
            <a:r>
              <a:rPr lang="sk-SK" sz="1100" dirty="0" err="1">
                <a:latin typeface="Consolas" panose="020B0609020204030204" pitchFamily="49" charset="0"/>
              </a:rPr>
              <a:t>unicast</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route-policy</a:t>
            </a:r>
            <a:r>
              <a:rPr lang="sk-SK" sz="1100" dirty="0">
                <a:latin typeface="Consolas" panose="020B0609020204030204" pitchFamily="49" charset="0"/>
              </a:rPr>
              <a:t> </a:t>
            </a:r>
            <a:r>
              <a:rPr lang="sk-SK" sz="1100" dirty="0" err="1">
                <a:latin typeface="Consolas" panose="020B0609020204030204" pitchFamily="49" charset="0"/>
              </a:rPr>
              <a:t>PASS</a:t>
            </a:r>
            <a:r>
              <a:rPr lang="sk-SK" sz="1100" dirty="0">
                <a:latin typeface="Consolas" panose="020B0609020204030204" pitchFamily="49" charset="0"/>
              </a:rPr>
              <a:t> in</a:t>
            </a:r>
          </a:p>
          <a:p>
            <a:r>
              <a:rPr lang="sk-SK" sz="1100" dirty="0">
                <a:latin typeface="Consolas" panose="020B0609020204030204" pitchFamily="49" charset="0"/>
              </a:rPr>
              <a:t>   </a:t>
            </a:r>
            <a:r>
              <a:rPr lang="sk-SK" sz="1100" dirty="0" err="1">
                <a:latin typeface="Consolas" panose="020B0609020204030204" pitchFamily="49" charset="0"/>
              </a:rPr>
              <a:t>route-policy</a:t>
            </a:r>
            <a:r>
              <a:rPr lang="sk-SK" sz="1100" dirty="0">
                <a:latin typeface="Consolas" panose="020B0609020204030204" pitchFamily="49" charset="0"/>
              </a:rPr>
              <a:t> </a:t>
            </a:r>
            <a:r>
              <a:rPr lang="sk-SK" sz="1100" dirty="0" err="1">
                <a:latin typeface="Consolas" panose="020B0609020204030204" pitchFamily="49" charset="0"/>
              </a:rPr>
              <a:t>PASS</a:t>
            </a:r>
            <a:r>
              <a:rPr lang="sk-SK" sz="1100" dirty="0">
                <a:latin typeface="Consolas" panose="020B0609020204030204" pitchFamily="49" charset="0"/>
              </a:rPr>
              <a:t> </a:t>
            </a:r>
            <a:r>
              <a:rPr lang="sk-SK" sz="1100" dirty="0" err="1">
                <a:latin typeface="Consolas" panose="020B0609020204030204" pitchFamily="49" charset="0"/>
              </a:rPr>
              <a:t>out</a:t>
            </a:r>
            <a:endParaRPr lang="sk-SK" sz="1100" dirty="0">
              <a:latin typeface="Consolas" panose="020B0609020204030204" pitchFamily="49" charset="0"/>
            </a:endParaRPr>
          </a:p>
          <a:p>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neighbor</a:t>
            </a:r>
            <a:r>
              <a:rPr lang="sk-SK" sz="1100" dirty="0">
                <a:latin typeface="Consolas" panose="020B0609020204030204" pitchFamily="49" charset="0"/>
              </a:rPr>
              <a:t> 2001:9999::13</a:t>
            </a:r>
            <a:r>
              <a:rPr lang="en-US" sz="1100" dirty="0">
                <a:latin typeface="Consolas" panose="020B0609020204030204" pitchFamily="49" charset="0"/>
              </a:rPr>
              <a:t> </a:t>
            </a:r>
            <a:r>
              <a:rPr lang="en-US" sz="1100" dirty="0">
                <a:solidFill>
                  <a:srgbClr val="7030A0"/>
                </a:solidFill>
                <a:latin typeface="Consolas" panose="020B0609020204030204" pitchFamily="49" charset="0"/>
              </a:rPr>
              <a:t>&lt;&lt; -- IPv6 BGP RR for “SRv6”</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remote</a:t>
            </a:r>
            <a:r>
              <a:rPr lang="sk-SK" sz="1100" dirty="0">
                <a:latin typeface="Consolas" panose="020B0609020204030204" pitchFamily="49" charset="0"/>
              </a:rPr>
              <a:t>-as 65000</a:t>
            </a:r>
          </a:p>
          <a:p>
            <a:r>
              <a:rPr lang="sk-SK" sz="1100" dirty="0">
                <a:latin typeface="Consolas" panose="020B0609020204030204" pitchFamily="49" charset="0"/>
              </a:rPr>
              <a:t>  update-</a:t>
            </a:r>
            <a:r>
              <a:rPr lang="sk-SK" sz="1100" dirty="0" err="1">
                <a:latin typeface="Consolas" panose="020B0609020204030204" pitchFamily="49" charset="0"/>
              </a:rPr>
              <a:t>source</a:t>
            </a:r>
            <a:r>
              <a:rPr lang="sk-SK" sz="1100" dirty="0">
                <a:latin typeface="Consolas" panose="020B0609020204030204" pitchFamily="49" charset="0"/>
              </a:rPr>
              <a:t> </a:t>
            </a:r>
            <a:r>
              <a:rPr lang="sk-SK" sz="1100" dirty="0" err="1">
                <a:latin typeface="Consolas" panose="020B0609020204030204" pitchFamily="49" charset="0"/>
              </a:rPr>
              <a:t>Loopback0</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address-family</a:t>
            </a:r>
            <a:r>
              <a:rPr lang="sk-SK" sz="1100" dirty="0">
                <a:latin typeface="Consolas" panose="020B0609020204030204" pitchFamily="49" charset="0"/>
              </a:rPr>
              <a:t> </a:t>
            </a:r>
            <a:r>
              <a:rPr lang="sk-SK" sz="1100" dirty="0" err="1">
                <a:latin typeface="Consolas" panose="020B0609020204030204" pitchFamily="49" charset="0"/>
              </a:rPr>
              <a:t>vpnv4</a:t>
            </a:r>
            <a:r>
              <a:rPr lang="sk-SK" sz="1100" dirty="0">
                <a:latin typeface="Consolas" panose="020B0609020204030204" pitchFamily="49" charset="0"/>
              </a:rPr>
              <a:t> </a:t>
            </a:r>
            <a:r>
              <a:rPr lang="sk-SK" sz="1100" dirty="0" err="1">
                <a:latin typeface="Consolas" panose="020B0609020204030204" pitchFamily="49" charset="0"/>
              </a:rPr>
              <a:t>unicast</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route-policy</a:t>
            </a:r>
            <a:r>
              <a:rPr lang="sk-SK" sz="1100" dirty="0">
                <a:latin typeface="Consolas" panose="020B0609020204030204" pitchFamily="49" charset="0"/>
              </a:rPr>
              <a:t> </a:t>
            </a:r>
            <a:r>
              <a:rPr lang="sk-SK" sz="1100" dirty="0" err="1">
                <a:latin typeface="Consolas" panose="020B0609020204030204" pitchFamily="49" charset="0"/>
              </a:rPr>
              <a:t>PASS</a:t>
            </a:r>
            <a:r>
              <a:rPr lang="sk-SK" sz="1100" dirty="0">
                <a:latin typeface="Consolas" panose="020B0609020204030204" pitchFamily="49" charset="0"/>
              </a:rPr>
              <a:t> in</a:t>
            </a:r>
          </a:p>
          <a:p>
            <a:r>
              <a:rPr lang="sk-SK" sz="1100" dirty="0">
                <a:latin typeface="Consolas" panose="020B0609020204030204" pitchFamily="49" charset="0"/>
              </a:rPr>
              <a:t>   </a:t>
            </a:r>
            <a:r>
              <a:rPr lang="sk-SK" sz="1100" b="1" dirty="0" err="1">
                <a:highlight>
                  <a:srgbClr val="FFFF00"/>
                </a:highlight>
                <a:latin typeface="Consolas" panose="020B0609020204030204" pitchFamily="49" charset="0"/>
              </a:rPr>
              <a:t>encapsulation</a:t>
            </a:r>
            <a:r>
              <a:rPr lang="sk-SK" sz="1100" b="1" dirty="0">
                <a:highlight>
                  <a:srgbClr val="FFFF00"/>
                </a:highlight>
                <a:latin typeface="Consolas" panose="020B0609020204030204" pitchFamily="49" charset="0"/>
              </a:rPr>
              <a:t>-type </a:t>
            </a:r>
            <a:r>
              <a:rPr lang="sk-SK" sz="1100" b="1" dirty="0" err="1">
                <a:highlight>
                  <a:srgbClr val="FFFF00"/>
                </a:highlight>
                <a:latin typeface="Consolas" panose="020B0609020204030204" pitchFamily="49" charset="0"/>
              </a:rPr>
              <a:t>srv6</a:t>
            </a:r>
            <a:r>
              <a:rPr lang="en-US" sz="1100" b="1" dirty="0">
                <a:highlight>
                  <a:srgbClr val="FFFF00"/>
                </a:highlight>
                <a:latin typeface="Consolas" panose="020B0609020204030204" pitchFamily="49" charset="0"/>
              </a:rPr>
              <a:t> </a:t>
            </a:r>
            <a:r>
              <a:rPr lang="en-US" sz="1100" dirty="0">
                <a:solidFill>
                  <a:srgbClr val="7030A0"/>
                </a:solidFill>
                <a:latin typeface="Consolas" panose="020B0609020204030204" pitchFamily="49" charset="0"/>
              </a:rPr>
              <a:t>&lt;&lt; -- send SRv6 SID</a:t>
            </a:r>
            <a:endParaRPr lang="sk-SK" sz="1100" b="1" dirty="0">
              <a:highlight>
                <a:srgbClr val="FFFF00"/>
              </a:highlight>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route-policy</a:t>
            </a:r>
            <a:r>
              <a:rPr lang="sk-SK" sz="1100" dirty="0">
                <a:latin typeface="Consolas" panose="020B0609020204030204" pitchFamily="49" charset="0"/>
              </a:rPr>
              <a:t> RP-</a:t>
            </a:r>
            <a:r>
              <a:rPr lang="sk-SK" sz="1100" dirty="0" err="1">
                <a:latin typeface="Consolas" panose="020B0609020204030204" pitchFamily="49" charset="0"/>
              </a:rPr>
              <a:t>SRv6</a:t>
            </a:r>
            <a:r>
              <a:rPr lang="sk-SK" sz="1100" dirty="0">
                <a:latin typeface="Consolas" panose="020B0609020204030204" pitchFamily="49" charset="0"/>
              </a:rPr>
              <a:t>-transport-</a:t>
            </a:r>
            <a:r>
              <a:rPr lang="sk-SK" sz="1100" dirty="0" err="1">
                <a:latin typeface="Consolas" panose="020B0609020204030204" pitchFamily="49" charset="0"/>
              </a:rPr>
              <a:t>LP200</a:t>
            </a:r>
            <a:r>
              <a:rPr lang="sk-SK" sz="1100" dirty="0">
                <a:latin typeface="Consolas" panose="020B0609020204030204" pitchFamily="49" charset="0"/>
              </a:rPr>
              <a:t> </a:t>
            </a:r>
            <a:r>
              <a:rPr lang="sk-SK" sz="1100" dirty="0" err="1">
                <a:latin typeface="Consolas" panose="020B0609020204030204" pitchFamily="49" charset="0"/>
              </a:rPr>
              <a:t>out</a:t>
            </a:r>
            <a:endParaRPr lang="sk-SK" sz="1100" dirty="0">
              <a:latin typeface="Consolas" panose="020B0609020204030204" pitchFamily="49" charset="0"/>
            </a:endParaRPr>
          </a:p>
          <a:p>
            <a:r>
              <a:rPr lang="sk-SK" sz="1100" dirty="0">
                <a:latin typeface="Consolas" panose="020B0609020204030204" pitchFamily="49" charset="0"/>
              </a:rPr>
              <a:t>  !</a:t>
            </a:r>
          </a:p>
          <a:p>
            <a:r>
              <a:rPr lang="sk-SK" sz="1100" dirty="0">
                <a:latin typeface="Consolas" panose="020B0609020204030204" pitchFamily="49" charset="0"/>
              </a:rPr>
              <a:t>  </a:t>
            </a:r>
            <a:r>
              <a:rPr lang="sk-SK" sz="1100" dirty="0" err="1">
                <a:latin typeface="Consolas" panose="020B0609020204030204" pitchFamily="49" charset="0"/>
              </a:rPr>
              <a:t>address-family</a:t>
            </a:r>
            <a:r>
              <a:rPr lang="sk-SK" sz="1100" dirty="0">
                <a:latin typeface="Consolas" panose="020B0609020204030204" pitchFamily="49" charset="0"/>
              </a:rPr>
              <a:t> </a:t>
            </a:r>
            <a:r>
              <a:rPr lang="sk-SK" sz="1100" dirty="0" err="1">
                <a:latin typeface="Consolas" panose="020B0609020204030204" pitchFamily="49" charset="0"/>
              </a:rPr>
              <a:t>vpnv6</a:t>
            </a:r>
            <a:r>
              <a:rPr lang="sk-SK" sz="1100" dirty="0">
                <a:latin typeface="Consolas" panose="020B0609020204030204" pitchFamily="49" charset="0"/>
              </a:rPr>
              <a:t> </a:t>
            </a:r>
            <a:r>
              <a:rPr lang="sk-SK" sz="1100" dirty="0" err="1">
                <a:latin typeface="Consolas" panose="020B0609020204030204" pitchFamily="49" charset="0"/>
              </a:rPr>
              <a:t>unicast</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route-policy</a:t>
            </a:r>
            <a:r>
              <a:rPr lang="sk-SK" sz="1100" dirty="0">
                <a:latin typeface="Consolas" panose="020B0609020204030204" pitchFamily="49" charset="0"/>
              </a:rPr>
              <a:t> </a:t>
            </a:r>
            <a:r>
              <a:rPr lang="sk-SK" sz="1100" dirty="0" err="1">
                <a:latin typeface="Consolas" panose="020B0609020204030204" pitchFamily="49" charset="0"/>
              </a:rPr>
              <a:t>PASS</a:t>
            </a:r>
            <a:r>
              <a:rPr lang="sk-SK" sz="1100" dirty="0">
                <a:latin typeface="Consolas" panose="020B0609020204030204" pitchFamily="49" charset="0"/>
              </a:rPr>
              <a:t> in</a:t>
            </a:r>
          </a:p>
          <a:p>
            <a:r>
              <a:rPr lang="sk-SK" sz="1100" dirty="0">
                <a:latin typeface="Consolas" panose="020B0609020204030204" pitchFamily="49" charset="0"/>
              </a:rPr>
              <a:t>   </a:t>
            </a:r>
            <a:r>
              <a:rPr lang="sk-SK" sz="1100" b="1" dirty="0" err="1">
                <a:highlight>
                  <a:srgbClr val="FFFF00"/>
                </a:highlight>
                <a:latin typeface="Consolas" panose="020B0609020204030204" pitchFamily="49" charset="0"/>
              </a:rPr>
              <a:t>encapsulation</a:t>
            </a:r>
            <a:r>
              <a:rPr lang="sk-SK" sz="1100" b="1" dirty="0">
                <a:highlight>
                  <a:srgbClr val="FFFF00"/>
                </a:highlight>
                <a:latin typeface="Consolas" panose="020B0609020204030204" pitchFamily="49" charset="0"/>
              </a:rPr>
              <a:t>-type </a:t>
            </a:r>
            <a:r>
              <a:rPr lang="sk-SK" sz="1100" b="1" dirty="0" err="1">
                <a:highlight>
                  <a:srgbClr val="FFFF00"/>
                </a:highlight>
                <a:latin typeface="Consolas" panose="020B0609020204030204" pitchFamily="49" charset="0"/>
              </a:rPr>
              <a:t>srv6</a:t>
            </a:r>
            <a:r>
              <a:rPr lang="en-US" sz="1100" b="1" dirty="0">
                <a:highlight>
                  <a:srgbClr val="FFFF00"/>
                </a:highlight>
                <a:latin typeface="Consolas" panose="020B0609020204030204" pitchFamily="49" charset="0"/>
              </a:rPr>
              <a:t> </a:t>
            </a:r>
            <a:r>
              <a:rPr lang="en-US" sz="1100" dirty="0">
                <a:solidFill>
                  <a:srgbClr val="7030A0"/>
                </a:solidFill>
                <a:latin typeface="Consolas" panose="020B0609020204030204" pitchFamily="49" charset="0"/>
              </a:rPr>
              <a:t>&lt;&lt; -- send SRv6 SID</a:t>
            </a:r>
            <a:endParaRPr lang="sk-SK" sz="1100" b="1" dirty="0">
              <a:highlight>
                <a:srgbClr val="FFFF00"/>
              </a:highlight>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route-policy</a:t>
            </a:r>
            <a:r>
              <a:rPr lang="sk-SK" sz="1100" dirty="0">
                <a:latin typeface="Consolas" panose="020B0609020204030204" pitchFamily="49" charset="0"/>
              </a:rPr>
              <a:t> RP-</a:t>
            </a:r>
            <a:r>
              <a:rPr lang="sk-SK" sz="1100" dirty="0" err="1">
                <a:latin typeface="Consolas" panose="020B0609020204030204" pitchFamily="49" charset="0"/>
              </a:rPr>
              <a:t>SRv6</a:t>
            </a:r>
            <a:r>
              <a:rPr lang="sk-SK" sz="1100" dirty="0">
                <a:latin typeface="Consolas" panose="020B0609020204030204" pitchFamily="49" charset="0"/>
              </a:rPr>
              <a:t>-transport-</a:t>
            </a:r>
            <a:r>
              <a:rPr lang="sk-SK" sz="1100" dirty="0" err="1">
                <a:latin typeface="Consolas" panose="020B0609020204030204" pitchFamily="49" charset="0"/>
              </a:rPr>
              <a:t>LP200</a:t>
            </a:r>
            <a:r>
              <a:rPr lang="sk-SK" sz="1100" dirty="0">
                <a:latin typeface="Consolas" panose="020B0609020204030204" pitchFamily="49" charset="0"/>
              </a:rPr>
              <a:t> </a:t>
            </a:r>
            <a:r>
              <a:rPr lang="sk-SK" sz="1100" dirty="0" err="1">
                <a:latin typeface="Consolas" panose="020B0609020204030204" pitchFamily="49" charset="0"/>
              </a:rPr>
              <a:t>out</a:t>
            </a:r>
            <a:endParaRPr lang="sk-SK" sz="1100" dirty="0">
              <a:latin typeface="Consolas" panose="020B0609020204030204" pitchFamily="49" charset="0"/>
            </a:endParaRPr>
          </a:p>
          <a:p>
            <a:r>
              <a:rPr lang="sk-SK" sz="1100" dirty="0">
                <a:latin typeface="Consolas" panose="020B0609020204030204" pitchFamily="49" charset="0"/>
              </a:rPr>
              <a:t>  !</a:t>
            </a:r>
          </a:p>
          <a:p>
            <a:r>
              <a:rPr lang="sk-SK" sz="1100" dirty="0">
                <a:latin typeface="Consolas" panose="020B0609020204030204" pitchFamily="49" charset="0"/>
              </a:rPr>
              <a:t>!</a:t>
            </a:r>
          </a:p>
          <a:p>
            <a:r>
              <a:rPr lang="sk-SK" sz="1100" dirty="0">
                <a:latin typeface="Consolas" panose="020B0609020204030204" pitchFamily="49" charset="0"/>
              </a:rPr>
              <a:t> </a:t>
            </a:r>
          </a:p>
        </p:txBody>
      </p:sp>
      <p:sp>
        <p:nvSpPr>
          <p:cNvPr id="6" name="Rectangle 5">
            <a:extLst>
              <a:ext uri="{FF2B5EF4-FFF2-40B4-BE49-F238E27FC236}">
                <a16:creationId xmlns:a16="http://schemas.microsoft.com/office/drawing/2014/main" id="{2E87CC64-5DAF-5A26-468E-5CD04EFC2CC9}"/>
              </a:ext>
            </a:extLst>
          </p:cNvPr>
          <p:cNvSpPr/>
          <p:nvPr/>
        </p:nvSpPr>
        <p:spPr>
          <a:xfrm>
            <a:off x="6212958" y="897528"/>
            <a:ext cx="4595040" cy="5847755"/>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vrf A</a:t>
            </a:r>
          </a:p>
          <a:p>
            <a:r>
              <a:rPr lang="sk-SK" sz="1100" dirty="0">
                <a:latin typeface="Consolas" panose="020B0609020204030204" pitchFamily="49" charset="0"/>
              </a:rPr>
              <a:t>  bgp router-id 10.64.1.1</a:t>
            </a:r>
          </a:p>
          <a:p>
            <a:r>
              <a:rPr lang="sk-SK" sz="1100" dirty="0">
                <a:latin typeface="Consolas" panose="020B0609020204030204" pitchFamily="49" charset="0"/>
              </a:rPr>
              <a:t>  </a:t>
            </a:r>
            <a:r>
              <a:rPr lang="sk-SK" sz="1100" dirty="0" err="1">
                <a:latin typeface="Consolas" panose="020B0609020204030204" pitchFamily="49" charset="0"/>
              </a:rPr>
              <a:t>address-family</a:t>
            </a:r>
            <a:r>
              <a:rPr lang="sk-SK" sz="1100" dirty="0">
                <a:latin typeface="Consolas" panose="020B0609020204030204" pitchFamily="49" charset="0"/>
              </a:rPr>
              <a:t> </a:t>
            </a:r>
            <a:r>
              <a:rPr lang="sk-SK" sz="1100" dirty="0" err="1">
                <a:latin typeface="Consolas" panose="020B0609020204030204" pitchFamily="49" charset="0"/>
              </a:rPr>
              <a:t>ipv4</a:t>
            </a:r>
            <a:r>
              <a:rPr lang="sk-SK" sz="1100" dirty="0">
                <a:latin typeface="Consolas" panose="020B0609020204030204" pitchFamily="49" charset="0"/>
              </a:rPr>
              <a:t> </a:t>
            </a:r>
            <a:r>
              <a:rPr lang="sk-SK" sz="1100" dirty="0" err="1">
                <a:latin typeface="Consolas" panose="020B0609020204030204" pitchFamily="49" charset="0"/>
              </a:rPr>
              <a:t>unicast</a:t>
            </a:r>
            <a:endParaRPr lang="sk-SK" sz="1100" dirty="0">
              <a:latin typeface="Consolas" panose="020B0609020204030204" pitchFamily="49" charset="0"/>
            </a:endParaRPr>
          </a:p>
          <a:p>
            <a:r>
              <a:rPr lang="sk-SK" sz="1100" dirty="0">
                <a:latin typeface="Consolas" panose="020B0609020204030204" pitchFamily="49" charset="0"/>
              </a:rPr>
              <a:t>   </a:t>
            </a:r>
            <a:r>
              <a:rPr lang="sk-SK" sz="1100" b="1" dirty="0">
                <a:highlight>
                  <a:srgbClr val="FFFF00"/>
                </a:highlight>
                <a:latin typeface="Consolas" panose="020B0609020204030204" pitchFamily="49" charset="0"/>
              </a:rPr>
              <a:t>mpls </a:t>
            </a:r>
            <a:r>
              <a:rPr lang="sk-SK" sz="1100" b="1" dirty="0" err="1">
                <a:highlight>
                  <a:srgbClr val="FFFF00"/>
                </a:highlight>
                <a:latin typeface="Consolas" panose="020B0609020204030204" pitchFamily="49" charset="0"/>
              </a:rPr>
              <a:t>alloc</a:t>
            </a:r>
            <a:r>
              <a:rPr lang="sk-SK" sz="1100" b="1" dirty="0">
                <a:highlight>
                  <a:srgbClr val="FFFF00"/>
                </a:highlight>
                <a:latin typeface="Consolas" panose="020B0609020204030204" pitchFamily="49" charset="0"/>
              </a:rPr>
              <a:t> </a:t>
            </a:r>
            <a:r>
              <a:rPr lang="sk-SK" sz="1100" b="1" dirty="0" err="1">
                <a:highlight>
                  <a:srgbClr val="FFFF00"/>
                </a:highlight>
                <a:latin typeface="Consolas" panose="020B0609020204030204" pitchFamily="49" charset="0"/>
              </a:rPr>
              <a:t>enable</a:t>
            </a:r>
            <a:r>
              <a:rPr lang="en-US" sz="1100" b="1" dirty="0">
                <a:highlight>
                  <a:srgbClr val="FFFF00"/>
                </a:highlight>
                <a:latin typeface="Consolas" panose="020B0609020204030204" pitchFamily="49" charset="0"/>
              </a:rPr>
              <a:t> </a:t>
            </a:r>
            <a:r>
              <a:rPr lang="en-US" sz="1100" dirty="0">
                <a:solidFill>
                  <a:srgbClr val="7030A0"/>
                </a:solidFill>
                <a:latin typeface="Consolas" panose="020B0609020204030204" pitchFamily="49" charset="0"/>
              </a:rPr>
              <a:t>&lt;&lt;- allocate and send both MPLS VPN label and SRv6 SID</a:t>
            </a:r>
            <a:endParaRPr lang="sk-SK" sz="1100" dirty="0">
              <a:solidFill>
                <a:srgbClr val="7030A0"/>
              </a:solidFill>
              <a:latin typeface="Consolas" panose="020B0609020204030204" pitchFamily="49" charset="0"/>
            </a:endParaRPr>
          </a:p>
          <a:p>
            <a:r>
              <a:rPr lang="sk-SK" sz="1100" dirty="0">
                <a:latin typeface="Consolas" panose="020B0609020204030204" pitchFamily="49" charset="0"/>
              </a:rPr>
              <a:t>   segment-routing </a:t>
            </a:r>
            <a:r>
              <a:rPr lang="sk-SK" sz="1100" dirty="0" err="1">
                <a:latin typeface="Consolas" panose="020B0609020204030204" pitchFamily="49" charset="0"/>
              </a:rPr>
              <a:t>srv6</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locator</a:t>
            </a:r>
            <a:r>
              <a:rPr lang="sk-SK" sz="1100" dirty="0">
                <a:latin typeface="Consolas" panose="020B0609020204030204" pitchFamily="49" charset="0"/>
              </a:rPr>
              <a:t> </a:t>
            </a:r>
            <a:r>
              <a:rPr lang="sk-SK" sz="1100" dirty="0" err="1">
                <a:latin typeface="Consolas" panose="020B0609020204030204" pitchFamily="49" charset="0"/>
              </a:rPr>
              <a:t>Loc_uSID_Algo_0</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alloc</a:t>
            </a:r>
            <a:r>
              <a:rPr lang="sk-SK" sz="1100" dirty="0">
                <a:latin typeface="Consolas" panose="020B0609020204030204" pitchFamily="49" charset="0"/>
              </a:rPr>
              <a:t> </a:t>
            </a:r>
            <a:r>
              <a:rPr lang="sk-SK" sz="1100" dirty="0" err="1">
                <a:latin typeface="Consolas" panose="020B0609020204030204" pitchFamily="49" charset="0"/>
              </a:rPr>
              <a:t>mode</a:t>
            </a:r>
            <a:r>
              <a:rPr lang="sk-SK" sz="1100" dirty="0">
                <a:latin typeface="Consolas" panose="020B0609020204030204" pitchFamily="49" charset="0"/>
              </a:rPr>
              <a:t> per-vrf</a:t>
            </a:r>
          </a:p>
          <a:p>
            <a:r>
              <a:rPr lang="sk-SK" sz="1100" dirty="0">
                <a:latin typeface="Consolas" panose="020B0609020204030204" pitchFamily="49" charset="0"/>
              </a:rPr>
              <a:t>   !</a:t>
            </a:r>
          </a:p>
          <a:p>
            <a:r>
              <a:rPr lang="sk-SK" sz="1100" dirty="0">
                <a:latin typeface="Consolas" panose="020B0609020204030204" pitchFamily="49" charset="0"/>
              </a:rPr>
              <a:t>   </a:t>
            </a:r>
            <a:r>
              <a:rPr lang="sk-SK" sz="1100" dirty="0" err="1">
                <a:latin typeface="Consolas" panose="020B0609020204030204" pitchFamily="49" charset="0"/>
              </a:rPr>
              <a:t>redistribute</a:t>
            </a:r>
            <a:r>
              <a:rPr lang="sk-SK" sz="1100" dirty="0">
                <a:latin typeface="Consolas" panose="020B0609020204030204" pitchFamily="49" charset="0"/>
              </a:rPr>
              <a:t> </a:t>
            </a:r>
            <a:r>
              <a:rPr lang="sk-SK" sz="1100" dirty="0" err="1">
                <a:latin typeface="Consolas" panose="020B0609020204030204" pitchFamily="49" charset="0"/>
              </a:rPr>
              <a:t>connected</a:t>
            </a:r>
            <a:endParaRPr lang="sk-SK" sz="1100" dirty="0">
              <a:latin typeface="Consolas" panose="020B0609020204030204" pitchFamily="49" charset="0"/>
            </a:endParaRPr>
          </a:p>
          <a:p>
            <a:r>
              <a:rPr lang="sk-SK" sz="1100" dirty="0">
                <a:latin typeface="Consolas" panose="020B0609020204030204" pitchFamily="49" charset="0"/>
              </a:rPr>
              <a:t>  !</a:t>
            </a:r>
          </a:p>
          <a:p>
            <a:r>
              <a:rPr lang="sk-SK" sz="1100" dirty="0">
                <a:latin typeface="Consolas" panose="020B0609020204030204" pitchFamily="49" charset="0"/>
              </a:rPr>
              <a:t>  </a:t>
            </a:r>
            <a:r>
              <a:rPr lang="sk-SK" sz="1100" dirty="0" err="1">
                <a:latin typeface="Consolas" panose="020B0609020204030204" pitchFamily="49" charset="0"/>
              </a:rPr>
              <a:t>address-family</a:t>
            </a:r>
            <a:r>
              <a:rPr lang="sk-SK" sz="1100" dirty="0">
                <a:latin typeface="Consolas" panose="020B0609020204030204" pitchFamily="49" charset="0"/>
              </a:rPr>
              <a:t> </a:t>
            </a:r>
            <a:r>
              <a:rPr lang="sk-SK" sz="1100" dirty="0" err="1">
                <a:latin typeface="Consolas" panose="020B0609020204030204" pitchFamily="49" charset="0"/>
              </a:rPr>
              <a:t>ipv6</a:t>
            </a:r>
            <a:r>
              <a:rPr lang="sk-SK" sz="1100" dirty="0">
                <a:latin typeface="Consolas" panose="020B0609020204030204" pitchFamily="49" charset="0"/>
              </a:rPr>
              <a:t> </a:t>
            </a:r>
            <a:r>
              <a:rPr lang="sk-SK" sz="1100" dirty="0" err="1">
                <a:latin typeface="Consolas" panose="020B0609020204030204" pitchFamily="49" charset="0"/>
              </a:rPr>
              <a:t>unicast</a:t>
            </a:r>
            <a:endParaRPr lang="sk-SK" sz="1100" dirty="0">
              <a:latin typeface="Consolas" panose="020B0609020204030204" pitchFamily="49" charset="0"/>
            </a:endParaRPr>
          </a:p>
          <a:p>
            <a:r>
              <a:rPr lang="sk-SK" sz="1100" dirty="0">
                <a:latin typeface="Consolas" panose="020B0609020204030204" pitchFamily="49" charset="0"/>
              </a:rPr>
              <a:t> </a:t>
            </a:r>
            <a:r>
              <a:rPr lang="en-US" sz="1100" dirty="0">
                <a:latin typeface="Consolas" panose="020B0609020204030204" pitchFamily="49" charset="0"/>
              </a:rPr>
              <a:t> </a:t>
            </a:r>
            <a:r>
              <a:rPr lang="sk-SK" sz="1100" b="1" dirty="0">
                <a:highlight>
                  <a:srgbClr val="FFFF00"/>
                </a:highlight>
                <a:latin typeface="Consolas" panose="020B0609020204030204" pitchFamily="49" charset="0"/>
              </a:rPr>
              <a:t>mpls </a:t>
            </a:r>
            <a:r>
              <a:rPr lang="sk-SK" sz="1100" b="1" dirty="0" err="1">
                <a:highlight>
                  <a:srgbClr val="FFFF00"/>
                </a:highlight>
                <a:latin typeface="Consolas" panose="020B0609020204030204" pitchFamily="49" charset="0"/>
              </a:rPr>
              <a:t>alloc</a:t>
            </a:r>
            <a:r>
              <a:rPr lang="sk-SK" sz="1100" b="1" dirty="0">
                <a:highlight>
                  <a:srgbClr val="FFFF00"/>
                </a:highlight>
                <a:latin typeface="Consolas" panose="020B0609020204030204" pitchFamily="49" charset="0"/>
              </a:rPr>
              <a:t> </a:t>
            </a:r>
            <a:r>
              <a:rPr lang="sk-SK" sz="1100" b="1" dirty="0" err="1">
                <a:highlight>
                  <a:srgbClr val="FFFF00"/>
                </a:highlight>
                <a:latin typeface="Consolas" panose="020B0609020204030204" pitchFamily="49" charset="0"/>
              </a:rPr>
              <a:t>enable</a:t>
            </a:r>
            <a:r>
              <a:rPr lang="en-US" sz="1100" b="1" dirty="0">
                <a:highlight>
                  <a:srgbClr val="FFFF00"/>
                </a:highlight>
                <a:latin typeface="Consolas" panose="020B0609020204030204" pitchFamily="49" charset="0"/>
              </a:rPr>
              <a:t> </a:t>
            </a:r>
            <a:r>
              <a:rPr lang="en-US" sz="1100" dirty="0">
                <a:solidFill>
                  <a:srgbClr val="7030A0"/>
                </a:solidFill>
                <a:latin typeface="Consolas" panose="020B0609020204030204" pitchFamily="49" charset="0"/>
              </a:rPr>
              <a:t>&lt;&lt;- allocate and send both MPLS VPN label and SRv6 SID</a:t>
            </a:r>
            <a:endParaRPr lang="sk-SK" sz="1100" dirty="0">
              <a:latin typeface="Consolas" panose="020B0609020204030204" pitchFamily="49" charset="0"/>
            </a:endParaRPr>
          </a:p>
          <a:p>
            <a:r>
              <a:rPr lang="sk-SK" sz="1100" dirty="0">
                <a:latin typeface="Consolas" panose="020B0609020204030204" pitchFamily="49" charset="0"/>
              </a:rPr>
              <a:t>   segment-routing </a:t>
            </a:r>
            <a:r>
              <a:rPr lang="sk-SK" sz="1100" dirty="0" err="1">
                <a:latin typeface="Consolas" panose="020B0609020204030204" pitchFamily="49" charset="0"/>
              </a:rPr>
              <a:t>srv6</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locator</a:t>
            </a:r>
            <a:r>
              <a:rPr lang="sk-SK" sz="1100" dirty="0">
                <a:latin typeface="Consolas" panose="020B0609020204030204" pitchFamily="49" charset="0"/>
              </a:rPr>
              <a:t> </a:t>
            </a:r>
            <a:r>
              <a:rPr lang="sk-SK" sz="1100" dirty="0" err="1">
                <a:latin typeface="Consolas" panose="020B0609020204030204" pitchFamily="49" charset="0"/>
              </a:rPr>
              <a:t>Loc_uSID_Algo_0</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alloc</a:t>
            </a:r>
            <a:r>
              <a:rPr lang="sk-SK" sz="1100" dirty="0">
                <a:latin typeface="Consolas" panose="020B0609020204030204" pitchFamily="49" charset="0"/>
              </a:rPr>
              <a:t> </a:t>
            </a:r>
            <a:r>
              <a:rPr lang="sk-SK" sz="1100" dirty="0" err="1">
                <a:latin typeface="Consolas" panose="020B0609020204030204" pitchFamily="49" charset="0"/>
              </a:rPr>
              <a:t>mode</a:t>
            </a:r>
            <a:r>
              <a:rPr lang="sk-SK" sz="1100" dirty="0">
                <a:latin typeface="Consolas" panose="020B0609020204030204" pitchFamily="49" charset="0"/>
              </a:rPr>
              <a:t> per-vrf</a:t>
            </a:r>
          </a:p>
          <a:p>
            <a:r>
              <a:rPr lang="sk-SK" sz="1100" dirty="0">
                <a:latin typeface="Consolas" panose="020B0609020204030204" pitchFamily="49" charset="0"/>
              </a:rPr>
              <a:t>   !</a:t>
            </a:r>
          </a:p>
          <a:p>
            <a:r>
              <a:rPr lang="sk-SK" sz="1100" dirty="0">
                <a:latin typeface="Consolas" panose="020B0609020204030204" pitchFamily="49" charset="0"/>
              </a:rPr>
              <a:t>   </a:t>
            </a:r>
            <a:r>
              <a:rPr lang="sk-SK" sz="1100" dirty="0" err="1">
                <a:latin typeface="Consolas" panose="020B0609020204030204" pitchFamily="49" charset="0"/>
              </a:rPr>
              <a:t>redistribute</a:t>
            </a:r>
            <a:r>
              <a:rPr lang="sk-SK" sz="1100" dirty="0">
                <a:latin typeface="Consolas" panose="020B0609020204030204" pitchFamily="49" charset="0"/>
              </a:rPr>
              <a:t> </a:t>
            </a:r>
            <a:r>
              <a:rPr lang="sk-SK" sz="1100" dirty="0" err="1">
                <a:latin typeface="Consolas" panose="020B0609020204030204" pitchFamily="49" charset="0"/>
              </a:rPr>
              <a:t>connected</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a:solidFill>
                  <a:srgbClr val="7030A0"/>
                </a:solidFill>
                <a:latin typeface="Consolas" panose="020B0609020204030204" pitchFamily="49" charset="0"/>
              </a:rPr>
              <a:t>!</a:t>
            </a:r>
            <a:r>
              <a:rPr lang="en-US" sz="1100" dirty="0">
                <a:solidFill>
                  <a:srgbClr val="7030A0"/>
                </a:solidFill>
                <a:latin typeface="Consolas" panose="020B0609020204030204" pitchFamily="49" charset="0"/>
              </a:rPr>
              <a:t>! PE-CE routing</a:t>
            </a:r>
            <a:endParaRPr lang="sk-SK" sz="1100" dirty="0">
              <a:solidFill>
                <a:srgbClr val="7030A0"/>
              </a:solidFill>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neighbor</a:t>
            </a:r>
            <a:r>
              <a:rPr lang="sk-SK" sz="1100" dirty="0">
                <a:latin typeface="Consolas" panose="020B0609020204030204" pitchFamily="49" charset="0"/>
              </a:rPr>
              <a:t> 10.64.1.2</a:t>
            </a:r>
          </a:p>
          <a:p>
            <a:r>
              <a:rPr lang="sk-SK" sz="1100" dirty="0">
                <a:latin typeface="Consolas" panose="020B0609020204030204" pitchFamily="49" charset="0"/>
              </a:rPr>
              <a:t>   </a:t>
            </a:r>
            <a:r>
              <a:rPr lang="sk-SK" sz="1100" dirty="0" err="1">
                <a:latin typeface="Consolas" panose="020B0609020204030204" pitchFamily="49" charset="0"/>
              </a:rPr>
              <a:t>remote</a:t>
            </a:r>
            <a:r>
              <a:rPr lang="sk-SK" sz="1100" dirty="0">
                <a:latin typeface="Consolas" panose="020B0609020204030204" pitchFamily="49" charset="0"/>
              </a:rPr>
              <a:t>-as 65001</a:t>
            </a:r>
          </a:p>
          <a:p>
            <a:r>
              <a:rPr lang="sk-SK" sz="1100" dirty="0">
                <a:latin typeface="Consolas" panose="020B0609020204030204" pitchFamily="49" charset="0"/>
              </a:rPr>
              <a:t>   </a:t>
            </a:r>
            <a:r>
              <a:rPr lang="sk-SK" sz="1100" dirty="0" err="1">
                <a:latin typeface="Consolas" panose="020B0609020204030204" pitchFamily="49" charset="0"/>
              </a:rPr>
              <a:t>address-family</a:t>
            </a:r>
            <a:r>
              <a:rPr lang="sk-SK" sz="1100" dirty="0">
                <a:latin typeface="Consolas" panose="020B0609020204030204" pitchFamily="49" charset="0"/>
              </a:rPr>
              <a:t> </a:t>
            </a:r>
            <a:r>
              <a:rPr lang="sk-SK" sz="1100" dirty="0" err="1">
                <a:latin typeface="Consolas" panose="020B0609020204030204" pitchFamily="49" charset="0"/>
              </a:rPr>
              <a:t>ipv4</a:t>
            </a:r>
            <a:r>
              <a:rPr lang="sk-SK" sz="1100" dirty="0">
                <a:latin typeface="Consolas" panose="020B0609020204030204" pitchFamily="49" charset="0"/>
              </a:rPr>
              <a:t> </a:t>
            </a:r>
            <a:r>
              <a:rPr lang="sk-SK" sz="1100" dirty="0" err="1">
                <a:latin typeface="Consolas" panose="020B0609020204030204" pitchFamily="49" charset="0"/>
              </a:rPr>
              <a:t>unicast</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route-policy</a:t>
            </a:r>
            <a:r>
              <a:rPr lang="sk-SK" sz="1100" dirty="0">
                <a:latin typeface="Consolas" panose="020B0609020204030204" pitchFamily="49" charset="0"/>
              </a:rPr>
              <a:t> </a:t>
            </a:r>
            <a:r>
              <a:rPr lang="sk-SK" sz="1100" dirty="0" err="1">
                <a:latin typeface="Consolas" panose="020B0609020204030204" pitchFamily="49" charset="0"/>
              </a:rPr>
              <a:t>PASS</a:t>
            </a:r>
            <a:r>
              <a:rPr lang="sk-SK" sz="1100" dirty="0">
                <a:latin typeface="Consolas" panose="020B0609020204030204" pitchFamily="49" charset="0"/>
              </a:rPr>
              <a:t> in</a:t>
            </a:r>
          </a:p>
          <a:p>
            <a:r>
              <a:rPr lang="sk-SK" sz="1100" dirty="0">
                <a:latin typeface="Consolas" panose="020B0609020204030204" pitchFamily="49" charset="0"/>
              </a:rPr>
              <a:t>    </a:t>
            </a:r>
            <a:r>
              <a:rPr lang="sk-SK" sz="1100" dirty="0" err="1">
                <a:latin typeface="Consolas" panose="020B0609020204030204" pitchFamily="49" charset="0"/>
              </a:rPr>
              <a:t>route-policy</a:t>
            </a:r>
            <a:r>
              <a:rPr lang="sk-SK" sz="1100" dirty="0">
                <a:latin typeface="Consolas" panose="020B0609020204030204" pitchFamily="49" charset="0"/>
              </a:rPr>
              <a:t> </a:t>
            </a:r>
            <a:r>
              <a:rPr lang="sk-SK" sz="1100" dirty="0" err="1">
                <a:latin typeface="Consolas" panose="020B0609020204030204" pitchFamily="49" charset="0"/>
              </a:rPr>
              <a:t>PASS</a:t>
            </a:r>
            <a:r>
              <a:rPr lang="sk-SK" sz="1100" dirty="0">
                <a:latin typeface="Consolas" panose="020B0609020204030204" pitchFamily="49" charset="0"/>
              </a:rPr>
              <a:t> </a:t>
            </a:r>
            <a:r>
              <a:rPr lang="sk-SK" sz="1100" dirty="0" err="1">
                <a:latin typeface="Consolas" panose="020B0609020204030204" pitchFamily="49" charset="0"/>
              </a:rPr>
              <a:t>out</a:t>
            </a:r>
            <a:endParaRPr lang="sk-SK" sz="1100" dirty="0">
              <a:latin typeface="Consolas" panose="020B0609020204030204" pitchFamily="49" charset="0"/>
            </a:endParaRPr>
          </a:p>
          <a:p>
            <a:r>
              <a:rPr lang="sk-SK" sz="1100" dirty="0">
                <a:latin typeface="Consolas" panose="020B0609020204030204" pitchFamily="49" charset="0"/>
              </a:rPr>
              <a:t>   !</a:t>
            </a:r>
          </a:p>
          <a:p>
            <a:r>
              <a:rPr lang="sk-SK" sz="1100" dirty="0">
                <a:latin typeface="Consolas" panose="020B0609020204030204" pitchFamily="49" charset="0"/>
              </a:rPr>
              <a:t>  !       </a:t>
            </a:r>
          </a:p>
          <a:p>
            <a:r>
              <a:rPr lang="sk-SK" sz="1100" dirty="0">
                <a:latin typeface="Consolas" panose="020B0609020204030204" pitchFamily="49" charset="0"/>
              </a:rPr>
              <a:t>  </a:t>
            </a:r>
            <a:r>
              <a:rPr lang="sk-SK" sz="1100" dirty="0" err="1">
                <a:latin typeface="Consolas" panose="020B0609020204030204" pitchFamily="49" charset="0"/>
              </a:rPr>
              <a:t>neighbor</a:t>
            </a:r>
            <a:r>
              <a:rPr lang="sk-SK" sz="1100" dirty="0">
                <a:latin typeface="Consolas" panose="020B0609020204030204" pitchFamily="49" charset="0"/>
              </a:rPr>
              <a:t> </a:t>
            </a:r>
            <a:r>
              <a:rPr lang="sk-SK" sz="1100" dirty="0" err="1">
                <a:latin typeface="Consolas" panose="020B0609020204030204" pitchFamily="49" charset="0"/>
              </a:rPr>
              <a:t>fc64</a:t>
            </a:r>
            <a:r>
              <a:rPr lang="sk-SK" sz="1100" dirty="0">
                <a:latin typeface="Consolas" panose="020B0609020204030204" pitchFamily="49" charset="0"/>
              </a:rPr>
              <a:t>::1:2</a:t>
            </a:r>
          </a:p>
          <a:p>
            <a:r>
              <a:rPr lang="sk-SK" sz="1100" dirty="0">
                <a:latin typeface="Consolas" panose="020B0609020204030204" pitchFamily="49" charset="0"/>
              </a:rPr>
              <a:t>   </a:t>
            </a:r>
            <a:r>
              <a:rPr lang="sk-SK" sz="1100" dirty="0" err="1">
                <a:latin typeface="Consolas" panose="020B0609020204030204" pitchFamily="49" charset="0"/>
              </a:rPr>
              <a:t>remote</a:t>
            </a:r>
            <a:r>
              <a:rPr lang="sk-SK" sz="1100" dirty="0">
                <a:latin typeface="Consolas" panose="020B0609020204030204" pitchFamily="49" charset="0"/>
              </a:rPr>
              <a:t>-as 65001</a:t>
            </a:r>
          </a:p>
          <a:p>
            <a:r>
              <a:rPr lang="sk-SK" sz="1100" dirty="0">
                <a:latin typeface="Consolas" panose="020B0609020204030204" pitchFamily="49" charset="0"/>
              </a:rPr>
              <a:t>   </a:t>
            </a:r>
            <a:r>
              <a:rPr lang="sk-SK" sz="1100" dirty="0" err="1">
                <a:latin typeface="Consolas" panose="020B0609020204030204" pitchFamily="49" charset="0"/>
              </a:rPr>
              <a:t>address-family</a:t>
            </a:r>
            <a:r>
              <a:rPr lang="sk-SK" sz="1100" dirty="0">
                <a:latin typeface="Consolas" panose="020B0609020204030204" pitchFamily="49" charset="0"/>
              </a:rPr>
              <a:t> </a:t>
            </a:r>
            <a:r>
              <a:rPr lang="sk-SK" sz="1100" dirty="0" err="1">
                <a:latin typeface="Consolas" panose="020B0609020204030204" pitchFamily="49" charset="0"/>
              </a:rPr>
              <a:t>ipv6</a:t>
            </a:r>
            <a:r>
              <a:rPr lang="sk-SK" sz="1100" dirty="0">
                <a:latin typeface="Consolas" panose="020B0609020204030204" pitchFamily="49" charset="0"/>
              </a:rPr>
              <a:t> </a:t>
            </a:r>
            <a:r>
              <a:rPr lang="sk-SK" sz="1100" dirty="0" err="1">
                <a:latin typeface="Consolas" panose="020B0609020204030204" pitchFamily="49" charset="0"/>
              </a:rPr>
              <a:t>unicast</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route-policy</a:t>
            </a:r>
            <a:r>
              <a:rPr lang="sk-SK" sz="1100" dirty="0">
                <a:latin typeface="Consolas" panose="020B0609020204030204" pitchFamily="49" charset="0"/>
              </a:rPr>
              <a:t> </a:t>
            </a:r>
            <a:r>
              <a:rPr lang="sk-SK" sz="1100" dirty="0" err="1">
                <a:latin typeface="Consolas" panose="020B0609020204030204" pitchFamily="49" charset="0"/>
              </a:rPr>
              <a:t>PASS</a:t>
            </a:r>
            <a:r>
              <a:rPr lang="sk-SK" sz="1100" dirty="0">
                <a:latin typeface="Consolas" panose="020B0609020204030204" pitchFamily="49" charset="0"/>
              </a:rPr>
              <a:t> in</a:t>
            </a:r>
          </a:p>
          <a:p>
            <a:r>
              <a:rPr lang="sk-SK" sz="1100" dirty="0">
                <a:latin typeface="Consolas" panose="020B0609020204030204" pitchFamily="49" charset="0"/>
              </a:rPr>
              <a:t>    </a:t>
            </a:r>
            <a:r>
              <a:rPr lang="sk-SK" sz="1100" dirty="0" err="1">
                <a:latin typeface="Consolas" panose="020B0609020204030204" pitchFamily="49" charset="0"/>
              </a:rPr>
              <a:t>route-policy</a:t>
            </a:r>
            <a:r>
              <a:rPr lang="sk-SK" sz="1100" dirty="0">
                <a:latin typeface="Consolas" panose="020B0609020204030204" pitchFamily="49" charset="0"/>
              </a:rPr>
              <a:t> </a:t>
            </a:r>
            <a:r>
              <a:rPr lang="sk-SK" sz="1100" dirty="0" err="1">
                <a:latin typeface="Consolas" panose="020B0609020204030204" pitchFamily="49" charset="0"/>
              </a:rPr>
              <a:t>PASS</a:t>
            </a:r>
            <a:r>
              <a:rPr lang="sk-SK" sz="1100" dirty="0">
                <a:latin typeface="Consolas" panose="020B0609020204030204" pitchFamily="49" charset="0"/>
              </a:rPr>
              <a:t> </a:t>
            </a:r>
            <a:r>
              <a:rPr lang="sk-SK" sz="1100" dirty="0" err="1">
                <a:latin typeface="Consolas" panose="020B0609020204030204" pitchFamily="49" charset="0"/>
              </a:rPr>
              <a:t>out</a:t>
            </a:r>
            <a:endParaRPr lang="sk-SK" sz="1100" dirty="0">
              <a:latin typeface="Consolas" panose="020B0609020204030204" pitchFamily="49" charset="0"/>
            </a:endParaRPr>
          </a:p>
          <a:p>
            <a:r>
              <a:rPr lang="sk-SK" sz="1100" dirty="0">
                <a:latin typeface="Consolas" panose="020B0609020204030204" pitchFamily="49" charset="0"/>
              </a:rPr>
              <a:t>   !</a:t>
            </a:r>
          </a:p>
          <a:p>
            <a:endParaRPr lang="sk-SK" sz="1100" dirty="0">
              <a:latin typeface="Consolas" panose="020B0609020204030204" pitchFamily="49" charset="0"/>
            </a:endParaRPr>
          </a:p>
        </p:txBody>
      </p:sp>
    </p:spTree>
    <p:extLst>
      <p:ext uri="{BB962C8B-B14F-4D97-AF65-F5344CB8AC3E}">
        <p14:creationId xmlns:p14="http://schemas.microsoft.com/office/powerpoint/2010/main" val="1791514838"/>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9458E76-A59B-D371-F03C-B08C9428B679}"/>
              </a:ext>
            </a:extLst>
          </p:cNvPr>
          <p:cNvSpPr>
            <a:spLocks noGrp="1"/>
          </p:cNvSpPr>
          <p:nvPr>
            <p:ph type="body" sz="quarter" idx="10"/>
          </p:nvPr>
        </p:nvSpPr>
        <p:spPr>
          <a:xfrm>
            <a:off x="873918" y="939338"/>
            <a:ext cx="10444163" cy="1070215"/>
          </a:xfrm>
        </p:spPr>
        <p:txBody>
          <a:bodyPr/>
          <a:lstStyle/>
          <a:p>
            <a:r>
              <a:rPr lang="en-US" sz="2000" dirty="0"/>
              <a:t>L3VPN BGP advertisement from </a:t>
            </a:r>
            <a:r>
              <a:rPr lang="en-US" sz="2000" dirty="0" err="1"/>
              <a:t>R01</a:t>
            </a:r>
            <a:r>
              <a:rPr lang="en-US" sz="2000" dirty="0"/>
              <a:t> (</a:t>
            </a:r>
            <a:r>
              <a:rPr lang="en-US" sz="2000" dirty="0" err="1"/>
              <a:t>CE01</a:t>
            </a:r>
            <a:r>
              <a:rPr lang="en-US" sz="2000" dirty="0"/>
              <a:t> subnet)</a:t>
            </a:r>
          </a:p>
        </p:txBody>
      </p:sp>
      <p:sp>
        <p:nvSpPr>
          <p:cNvPr id="3" name="Text Placeholder 2">
            <a:extLst>
              <a:ext uri="{FF2B5EF4-FFF2-40B4-BE49-F238E27FC236}">
                <a16:creationId xmlns:a16="http://schemas.microsoft.com/office/drawing/2014/main" id="{27912DA7-80A6-6CC6-3A11-1F6B84535C3E}"/>
              </a:ext>
            </a:extLst>
          </p:cNvPr>
          <p:cNvSpPr>
            <a:spLocks noGrp="1"/>
          </p:cNvSpPr>
          <p:nvPr>
            <p:ph type="body" sz="quarter" idx="11"/>
          </p:nvPr>
        </p:nvSpPr>
        <p:spPr/>
        <p:txBody>
          <a:bodyPr/>
          <a:lstStyle/>
          <a:p>
            <a:r>
              <a:rPr lang="en-US" dirty="0"/>
              <a:t>Dual connected PE – config example #3 (</a:t>
            </a:r>
            <a:r>
              <a:rPr lang="en-US" dirty="0" err="1"/>
              <a:t>R01</a:t>
            </a:r>
            <a:r>
              <a:rPr lang="en-US" dirty="0"/>
              <a:t>)</a:t>
            </a:r>
          </a:p>
        </p:txBody>
      </p:sp>
      <p:sp>
        <p:nvSpPr>
          <p:cNvPr id="4" name="Rectangle 3">
            <a:extLst>
              <a:ext uri="{FF2B5EF4-FFF2-40B4-BE49-F238E27FC236}">
                <a16:creationId xmlns:a16="http://schemas.microsoft.com/office/drawing/2014/main" id="{5F84F5C3-689F-B9D9-EF3B-154545F5E80D}"/>
              </a:ext>
            </a:extLst>
          </p:cNvPr>
          <p:cNvSpPr/>
          <p:nvPr/>
        </p:nvSpPr>
        <p:spPr>
          <a:xfrm>
            <a:off x="158726" y="1327290"/>
            <a:ext cx="6383588" cy="3985706"/>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RP/0/RP0/</a:t>
            </a:r>
            <a:r>
              <a:rPr lang="sk-SK" sz="1100" dirty="0" err="1">
                <a:latin typeface="Consolas" panose="020B0609020204030204" pitchFamily="49" charset="0"/>
              </a:rPr>
              <a:t>CPU0:R01#sh</a:t>
            </a:r>
            <a:r>
              <a:rPr lang="sk-SK" sz="1100" dirty="0">
                <a:latin typeface="Consolas" panose="020B0609020204030204" pitchFamily="49" charset="0"/>
              </a:rPr>
              <a:t> bgp </a:t>
            </a:r>
            <a:r>
              <a:rPr lang="sk-SK" sz="1100" dirty="0" err="1">
                <a:latin typeface="Consolas" panose="020B0609020204030204" pitchFamily="49" charset="0"/>
              </a:rPr>
              <a:t>vpnv4</a:t>
            </a:r>
            <a:r>
              <a:rPr lang="sk-SK" sz="1100" dirty="0">
                <a:latin typeface="Consolas" panose="020B0609020204030204" pitchFamily="49" charset="0"/>
              </a:rPr>
              <a:t> </a:t>
            </a:r>
            <a:r>
              <a:rPr lang="sk-SK" sz="1100" dirty="0" err="1">
                <a:latin typeface="Consolas" panose="020B0609020204030204" pitchFamily="49" charset="0"/>
              </a:rPr>
              <a:t>uni</a:t>
            </a:r>
            <a:r>
              <a:rPr lang="sk-SK" sz="1100" dirty="0">
                <a:latin typeface="Consolas" panose="020B0609020204030204" pitchFamily="49" charset="0"/>
              </a:rPr>
              <a:t> vrf A 10.0.1.0</a:t>
            </a:r>
          </a:p>
          <a:p>
            <a:r>
              <a:rPr lang="sk-SK" sz="1100" dirty="0" err="1">
                <a:latin typeface="Consolas" panose="020B0609020204030204" pitchFamily="49" charset="0"/>
              </a:rPr>
              <a:t>Mon</a:t>
            </a:r>
            <a:r>
              <a:rPr lang="sk-SK" sz="1100" dirty="0">
                <a:latin typeface="Consolas" panose="020B0609020204030204" pitchFamily="49" charset="0"/>
              </a:rPr>
              <a:t> May 12 14:30:14.470 </a:t>
            </a:r>
            <a:r>
              <a:rPr lang="sk-SK" sz="1100" dirty="0" err="1">
                <a:latin typeface="Consolas" panose="020B0609020204030204" pitchFamily="49" charset="0"/>
              </a:rPr>
              <a:t>UTC</a:t>
            </a:r>
            <a:endParaRPr lang="sk-SK" sz="1100" dirty="0">
              <a:latin typeface="Consolas" panose="020B0609020204030204" pitchFamily="49" charset="0"/>
            </a:endParaRPr>
          </a:p>
          <a:p>
            <a:r>
              <a:rPr lang="sk-SK" sz="1100" dirty="0">
                <a:latin typeface="Consolas" panose="020B0609020204030204" pitchFamily="49" charset="0"/>
              </a:rPr>
              <a:t>BGP routing table </a:t>
            </a:r>
            <a:r>
              <a:rPr lang="sk-SK" sz="1100" dirty="0" err="1">
                <a:latin typeface="Consolas" panose="020B0609020204030204" pitchFamily="49" charset="0"/>
              </a:rPr>
              <a:t>entry</a:t>
            </a:r>
            <a:r>
              <a:rPr lang="sk-SK" sz="1100" dirty="0">
                <a:latin typeface="Consolas" panose="020B0609020204030204" pitchFamily="49" charset="0"/>
              </a:rPr>
              <a:t> </a:t>
            </a:r>
            <a:r>
              <a:rPr lang="sk-SK" sz="1100" dirty="0" err="1">
                <a:latin typeface="Consolas" panose="020B0609020204030204" pitchFamily="49" charset="0"/>
              </a:rPr>
              <a:t>for</a:t>
            </a:r>
            <a:r>
              <a:rPr lang="sk-SK" sz="1100" dirty="0">
                <a:latin typeface="Consolas" panose="020B0609020204030204" pitchFamily="49" charset="0"/>
              </a:rPr>
              <a:t> 10.0.1.0/24, </a:t>
            </a:r>
            <a:r>
              <a:rPr lang="sk-SK" sz="1100" dirty="0" err="1">
                <a:latin typeface="Consolas" panose="020B0609020204030204" pitchFamily="49" charset="0"/>
              </a:rPr>
              <a:t>Route</a:t>
            </a:r>
            <a:r>
              <a:rPr lang="sk-SK" sz="1100" dirty="0">
                <a:latin typeface="Consolas" panose="020B0609020204030204" pitchFamily="49" charset="0"/>
              </a:rPr>
              <a:t> </a:t>
            </a:r>
            <a:r>
              <a:rPr lang="sk-SK" sz="1100" dirty="0" err="1">
                <a:latin typeface="Consolas" panose="020B0609020204030204" pitchFamily="49" charset="0"/>
              </a:rPr>
              <a:t>Distinguisher</a:t>
            </a:r>
            <a:r>
              <a:rPr lang="sk-SK" sz="1100" dirty="0">
                <a:latin typeface="Consolas" panose="020B0609020204030204" pitchFamily="49" charset="0"/>
              </a:rPr>
              <a:t>: 65000:1</a:t>
            </a:r>
          </a:p>
          <a:p>
            <a:r>
              <a:rPr lang="sk-SK" sz="1100" dirty="0" err="1">
                <a:latin typeface="Consolas" panose="020B0609020204030204" pitchFamily="49" charset="0"/>
              </a:rPr>
              <a:t>Versions</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Process</a:t>
            </a:r>
            <a:r>
              <a:rPr lang="sk-SK" sz="1100" dirty="0">
                <a:latin typeface="Consolas" panose="020B0609020204030204" pitchFamily="49" charset="0"/>
              </a:rPr>
              <a:t>           </a:t>
            </a:r>
            <a:r>
              <a:rPr lang="sk-SK" sz="1100" dirty="0" err="1">
                <a:latin typeface="Consolas" panose="020B0609020204030204" pitchFamily="49" charset="0"/>
              </a:rPr>
              <a:t>bRIB</a:t>
            </a:r>
            <a:r>
              <a:rPr lang="sk-SK" sz="1100" dirty="0">
                <a:latin typeface="Consolas" panose="020B0609020204030204" pitchFamily="49" charset="0"/>
              </a:rPr>
              <a:t>/</a:t>
            </a:r>
            <a:r>
              <a:rPr lang="sk-SK" sz="1100" dirty="0" err="1">
                <a:latin typeface="Consolas" panose="020B0609020204030204" pitchFamily="49" charset="0"/>
              </a:rPr>
              <a:t>RIB</a:t>
            </a:r>
            <a:r>
              <a:rPr lang="sk-SK" sz="1100" dirty="0">
                <a:latin typeface="Consolas" panose="020B0609020204030204" pitchFamily="49" charset="0"/>
              </a:rPr>
              <a:t>   </a:t>
            </a:r>
            <a:r>
              <a:rPr lang="sk-SK" sz="1100" dirty="0" err="1">
                <a:latin typeface="Consolas" panose="020B0609020204030204" pitchFamily="49" charset="0"/>
              </a:rPr>
              <a:t>SendTblVer</a:t>
            </a:r>
            <a:endParaRPr lang="sk-SK" sz="1100" dirty="0">
              <a:latin typeface="Consolas" panose="020B0609020204030204" pitchFamily="49" charset="0"/>
            </a:endParaRPr>
          </a:p>
          <a:p>
            <a:r>
              <a:rPr lang="sk-SK" sz="1100" dirty="0">
                <a:latin typeface="Consolas" panose="020B0609020204030204" pitchFamily="49" charset="0"/>
              </a:rPr>
              <a:t>  Speaker                624          624</a:t>
            </a:r>
          </a:p>
          <a:p>
            <a:r>
              <a:rPr lang="sk-SK" sz="1100" dirty="0">
                <a:latin typeface="Consolas" panose="020B0609020204030204" pitchFamily="49" charset="0"/>
              </a:rPr>
              <a:t>    </a:t>
            </a:r>
            <a:r>
              <a:rPr lang="sk-SK" sz="1100" dirty="0" err="1">
                <a:highlight>
                  <a:srgbClr val="00FFFF"/>
                </a:highlight>
                <a:latin typeface="Consolas" panose="020B0609020204030204" pitchFamily="49" charset="0"/>
              </a:rPr>
              <a:t>Local</a:t>
            </a:r>
            <a:r>
              <a:rPr lang="sk-SK" sz="1100" dirty="0">
                <a:highlight>
                  <a:srgbClr val="00FFFF"/>
                </a:highlight>
                <a:latin typeface="Consolas" panose="020B0609020204030204" pitchFamily="49" charset="0"/>
              </a:rPr>
              <a:t> </a:t>
            </a:r>
            <a:r>
              <a:rPr lang="sk-SK" sz="1100" dirty="0" err="1">
                <a:highlight>
                  <a:srgbClr val="00FFFF"/>
                </a:highlight>
                <a:latin typeface="Consolas" panose="020B0609020204030204" pitchFamily="49" charset="0"/>
              </a:rPr>
              <a:t>Label</a:t>
            </a:r>
            <a:r>
              <a:rPr lang="sk-SK" sz="1100" dirty="0">
                <a:highlight>
                  <a:srgbClr val="00FFFF"/>
                </a:highlight>
                <a:latin typeface="Consolas" panose="020B0609020204030204" pitchFamily="49" charset="0"/>
              </a:rPr>
              <a:t>: 24011</a:t>
            </a:r>
          </a:p>
          <a:p>
            <a:r>
              <a:rPr lang="sk-SK" sz="1100" dirty="0">
                <a:latin typeface="Consolas" panose="020B0609020204030204" pitchFamily="49" charset="0"/>
              </a:rPr>
              <a:t>    </a:t>
            </a:r>
            <a:r>
              <a:rPr lang="sk-SK" sz="1100" dirty="0" err="1">
                <a:highlight>
                  <a:srgbClr val="FF00FF"/>
                </a:highlight>
                <a:latin typeface="Consolas" panose="020B0609020204030204" pitchFamily="49" charset="0"/>
              </a:rPr>
              <a:t>SRv6</a:t>
            </a:r>
            <a:r>
              <a:rPr lang="sk-SK" sz="1100" dirty="0">
                <a:highlight>
                  <a:srgbClr val="FF00FF"/>
                </a:highlight>
                <a:latin typeface="Consolas" panose="020B0609020204030204" pitchFamily="49" charset="0"/>
              </a:rPr>
              <a:t>-VPN </a:t>
            </a:r>
            <a:r>
              <a:rPr lang="sk-SK" sz="1100" dirty="0" err="1">
                <a:highlight>
                  <a:srgbClr val="FF00FF"/>
                </a:highlight>
                <a:latin typeface="Consolas" panose="020B0609020204030204" pitchFamily="49" charset="0"/>
              </a:rPr>
              <a:t>SID</a:t>
            </a:r>
            <a:r>
              <a:rPr lang="sk-SK" sz="1100" dirty="0">
                <a:highlight>
                  <a:srgbClr val="FF00FF"/>
                </a:highlight>
                <a:latin typeface="Consolas" panose="020B0609020204030204" pitchFamily="49" charset="0"/>
              </a:rPr>
              <a:t>: </a:t>
            </a:r>
            <a:r>
              <a:rPr lang="sk-SK" sz="1100" dirty="0" err="1">
                <a:highlight>
                  <a:srgbClr val="FF00FF"/>
                </a:highlight>
                <a:latin typeface="Consolas" panose="020B0609020204030204" pitchFamily="49" charset="0"/>
              </a:rPr>
              <a:t>fc00:ab00:1:e001</a:t>
            </a:r>
            <a:r>
              <a:rPr lang="sk-SK" sz="1100" dirty="0">
                <a:highlight>
                  <a:srgbClr val="FF00FF"/>
                </a:highlight>
                <a:latin typeface="Consolas" panose="020B0609020204030204" pitchFamily="49" charset="0"/>
              </a:rPr>
              <a:t>::/64</a:t>
            </a:r>
          </a:p>
          <a:p>
            <a:r>
              <a:rPr lang="sk-SK" sz="1100" dirty="0">
                <a:latin typeface="Consolas" panose="020B0609020204030204" pitchFamily="49" charset="0"/>
              </a:rPr>
              <a:t>    </a:t>
            </a:r>
            <a:r>
              <a:rPr lang="sk-SK" sz="1100" dirty="0" err="1">
                <a:latin typeface="Consolas" panose="020B0609020204030204" pitchFamily="49" charset="0"/>
              </a:rPr>
              <a:t>Format</a:t>
            </a:r>
            <a:r>
              <a:rPr lang="sk-SK" sz="1100" dirty="0">
                <a:latin typeface="Consolas" panose="020B0609020204030204" pitchFamily="49" charset="0"/>
              </a:rPr>
              <a:t>: </a:t>
            </a:r>
            <a:r>
              <a:rPr lang="sk-SK" sz="1100" dirty="0" err="1">
                <a:latin typeface="Consolas" panose="020B0609020204030204" pitchFamily="49" charset="0"/>
              </a:rPr>
              <a:t>f3216</a:t>
            </a:r>
            <a:endParaRPr lang="sk-SK" sz="1100" dirty="0">
              <a:latin typeface="Consolas" panose="020B0609020204030204" pitchFamily="49" charset="0"/>
            </a:endParaRPr>
          </a:p>
          <a:p>
            <a:r>
              <a:rPr lang="sk-SK" sz="1100" dirty="0" err="1">
                <a:latin typeface="Consolas" panose="020B0609020204030204" pitchFamily="49" charset="0"/>
              </a:rPr>
              <a:t>Last</a:t>
            </a:r>
            <a:r>
              <a:rPr lang="sk-SK" sz="1100" dirty="0">
                <a:latin typeface="Consolas" panose="020B0609020204030204" pitchFamily="49" charset="0"/>
              </a:rPr>
              <a:t> </a:t>
            </a:r>
            <a:r>
              <a:rPr lang="sk-SK" sz="1100" dirty="0" err="1">
                <a:latin typeface="Consolas" panose="020B0609020204030204" pitchFamily="49" charset="0"/>
              </a:rPr>
              <a:t>Modified</a:t>
            </a:r>
            <a:r>
              <a:rPr lang="sk-SK" sz="1100" dirty="0">
                <a:latin typeface="Consolas" panose="020B0609020204030204" pitchFamily="49" charset="0"/>
              </a:rPr>
              <a:t>: May 12 13:45:16.371 </a:t>
            </a:r>
            <a:r>
              <a:rPr lang="sk-SK" sz="1100" dirty="0" err="1">
                <a:latin typeface="Consolas" panose="020B0609020204030204" pitchFamily="49" charset="0"/>
              </a:rPr>
              <a:t>for</a:t>
            </a:r>
            <a:r>
              <a:rPr lang="sk-SK" sz="1100" dirty="0">
                <a:latin typeface="Consolas" panose="020B0609020204030204" pitchFamily="49" charset="0"/>
              </a:rPr>
              <a:t> 00:44:58</a:t>
            </a:r>
          </a:p>
          <a:p>
            <a:r>
              <a:rPr lang="sk-SK" sz="1100" dirty="0" err="1">
                <a:latin typeface="Consolas" panose="020B0609020204030204" pitchFamily="49" charset="0"/>
              </a:rPr>
              <a:t>Paths</a:t>
            </a:r>
            <a:r>
              <a:rPr lang="sk-SK" sz="1100" dirty="0">
                <a:latin typeface="Consolas" panose="020B0609020204030204" pitchFamily="49" charset="0"/>
              </a:rPr>
              <a:t>: (1 </a:t>
            </a:r>
            <a:r>
              <a:rPr lang="sk-SK" sz="1100" dirty="0" err="1">
                <a:latin typeface="Consolas" panose="020B0609020204030204" pitchFamily="49" charset="0"/>
              </a:rPr>
              <a:t>available</a:t>
            </a:r>
            <a:r>
              <a:rPr lang="sk-SK" sz="1100" dirty="0">
                <a:latin typeface="Consolas" panose="020B0609020204030204" pitchFamily="49" charset="0"/>
              </a:rPr>
              <a:t>, </a:t>
            </a:r>
            <a:r>
              <a:rPr lang="sk-SK" sz="1100" dirty="0" err="1">
                <a:latin typeface="Consolas" panose="020B0609020204030204" pitchFamily="49" charset="0"/>
              </a:rPr>
              <a:t>best</a:t>
            </a:r>
            <a:r>
              <a:rPr lang="sk-SK" sz="1100" dirty="0">
                <a:latin typeface="Consolas" panose="020B0609020204030204" pitchFamily="49" charset="0"/>
              </a:rPr>
              <a:t> #1)</a:t>
            </a:r>
          </a:p>
          <a:p>
            <a:r>
              <a:rPr lang="sk-SK" sz="1100" dirty="0">
                <a:latin typeface="Consolas" panose="020B0609020204030204" pitchFamily="49" charset="0"/>
              </a:rPr>
              <a:t>  </a:t>
            </a:r>
            <a:r>
              <a:rPr lang="sk-SK" sz="1100" dirty="0" err="1">
                <a:latin typeface="Consolas" panose="020B0609020204030204" pitchFamily="49" charset="0"/>
              </a:rPr>
              <a:t>Advertised</a:t>
            </a:r>
            <a:r>
              <a:rPr lang="sk-SK" sz="1100" dirty="0">
                <a:latin typeface="Consolas" panose="020B0609020204030204" pitchFamily="49" charset="0"/>
              </a:rPr>
              <a:t> to </a:t>
            </a:r>
            <a:r>
              <a:rPr lang="sk-SK" sz="1100" dirty="0" err="1">
                <a:latin typeface="Consolas" panose="020B0609020204030204" pitchFamily="49" charset="0"/>
              </a:rPr>
              <a:t>peers</a:t>
            </a:r>
            <a:r>
              <a:rPr lang="sk-SK" sz="1100" dirty="0">
                <a:latin typeface="Consolas" panose="020B0609020204030204" pitchFamily="49" charset="0"/>
              </a:rPr>
              <a:t> (in </a:t>
            </a:r>
            <a:r>
              <a:rPr lang="sk-SK" sz="1100" dirty="0" err="1">
                <a:latin typeface="Consolas" panose="020B0609020204030204" pitchFamily="49" charset="0"/>
              </a:rPr>
              <a:t>unique</a:t>
            </a:r>
            <a:r>
              <a:rPr lang="sk-SK" sz="1100" dirty="0">
                <a:latin typeface="Consolas" panose="020B0609020204030204" pitchFamily="49" charset="0"/>
              </a:rPr>
              <a:t> update </a:t>
            </a:r>
            <a:r>
              <a:rPr lang="sk-SK" sz="1100" dirty="0" err="1">
                <a:latin typeface="Consolas" panose="020B0609020204030204" pitchFamily="49" charset="0"/>
              </a:rPr>
              <a:t>groups</a:t>
            </a:r>
            <a:r>
              <a:rPr lang="sk-SK" sz="1100" dirty="0">
                <a:latin typeface="Consolas" panose="020B0609020204030204" pitchFamily="49" charset="0"/>
              </a:rPr>
              <a:t>):</a:t>
            </a:r>
          </a:p>
          <a:p>
            <a:r>
              <a:rPr lang="sk-SK" sz="1100" dirty="0">
                <a:latin typeface="Consolas" panose="020B0609020204030204" pitchFamily="49" charset="0"/>
              </a:rPr>
              <a:t>    1.1.1.3         2001:9999::13                           </a:t>
            </a:r>
          </a:p>
          <a:p>
            <a:r>
              <a:rPr lang="sk-SK" sz="1100" dirty="0">
                <a:latin typeface="Consolas" panose="020B0609020204030204" pitchFamily="49" charset="0"/>
              </a:rPr>
              <a:t>  </a:t>
            </a:r>
            <a:r>
              <a:rPr lang="sk-SK" sz="1100" dirty="0" err="1">
                <a:latin typeface="Consolas" panose="020B0609020204030204" pitchFamily="49" charset="0"/>
              </a:rPr>
              <a:t>Path</a:t>
            </a:r>
            <a:r>
              <a:rPr lang="sk-SK" sz="1100" dirty="0">
                <a:latin typeface="Consolas" panose="020B0609020204030204" pitchFamily="49" charset="0"/>
              </a:rPr>
              <a:t> #1: </a:t>
            </a:r>
            <a:r>
              <a:rPr lang="sk-SK" sz="1100" dirty="0" err="1">
                <a:latin typeface="Consolas" panose="020B0609020204030204" pitchFamily="49" charset="0"/>
              </a:rPr>
              <a:t>Received</a:t>
            </a:r>
            <a:r>
              <a:rPr lang="sk-SK" sz="1100" dirty="0">
                <a:latin typeface="Consolas" panose="020B0609020204030204" pitchFamily="49" charset="0"/>
              </a:rPr>
              <a:t> by speaker 0</a:t>
            </a:r>
          </a:p>
          <a:p>
            <a:r>
              <a:rPr lang="sk-SK" sz="1100" dirty="0">
                <a:latin typeface="Consolas" panose="020B0609020204030204" pitchFamily="49" charset="0"/>
              </a:rPr>
              <a:t>  </a:t>
            </a:r>
            <a:r>
              <a:rPr lang="sk-SK" sz="1100" dirty="0" err="1">
                <a:latin typeface="Consolas" panose="020B0609020204030204" pitchFamily="49" charset="0"/>
              </a:rPr>
              <a:t>Advertised</a:t>
            </a:r>
            <a:r>
              <a:rPr lang="sk-SK" sz="1100" dirty="0">
                <a:latin typeface="Consolas" panose="020B0609020204030204" pitchFamily="49" charset="0"/>
              </a:rPr>
              <a:t> to </a:t>
            </a:r>
            <a:r>
              <a:rPr lang="sk-SK" sz="1100" dirty="0" err="1">
                <a:latin typeface="Consolas" panose="020B0609020204030204" pitchFamily="49" charset="0"/>
              </a:rPr>
              <a:t>peers</a:t>
            </a:r>
            <a:r>
              <a:rPr lang="sk-SK" sz="1100" dirty="0">
                <a:latin typeface="Consolas" panose="020B0609020204030204" pitchFamily="49" charset="0"/>
              </a:rPr>
              <a:t> (in </a:t>
            </a:r>
            <a:r>
              <a:rPr lang="sk-SK" sz="1100" dirty="0" err="1">
                <a:latin typeface="Consolas" panose="020B0609020204030204" pitchFamily="49" charset="0"/>
              </a:rPr>
              <a:t>unique</a:t>
            </a:r>
            <a:r>
              <a:rPr lang="sk-SK" sz="1100" dirty="0">
                <a:latin typeface="Consolas" panose="020B0609020204030204" pitchFamily="49" charset="0"/>
              </a:rPr>
              <a:t> update </a:t>
            </a:r>
            <a:r>
              <a:rPr lang="sk-SK" sz="1100" dirty="0" err="1">
                <a:latin typeface="Consolas" panose="020B0609020204030204" pitchFamily="49" charset="0"/>
              </a:rPr>
              <a:t>groups</a:t>
            </a:r>
            <a:r>
              <a:rPr lang="sk-SK" sz="1100" dirty="0">
                <a:latin typeface="Consolas" panose="020B0609020204030204" pitchFamily="49" charset="0"/>
              </a:rPr>
              <a:t>):</a:t>
            </a:r>
          </a:p>
          <a:p>
            <a:r>
              <a:rPr lang="sk-SK" sz="1100" dirty="0">
                <a:latin typeface="Consolas" panose="020B0609020204030204" pitchFamily="49" charset="0"/>
              </a:rPr>
              <a:t>    1.1.1.3         2001:9999::13                           </a:t>
            </a:r>
          </a:p>
          <a:p>
            <a:r>
              <a:rPr lang="sk-SK" sz="1100" dirty="0">
                <a:latin typeface="Consolas" panose="020B0609020204030204" pitchFamily="49" charset="0"/>
              </a:rPr>
              <a:t>  65001</a:t>
            </a:r>
          </a:p>
          <a:p>
            <a:r>
              <a:rPr lang="sk-SK" sz="1100" dirty="0">
                <a:latin typeface="Consolas" panose="020B0609020204030204" pitchFamily="49" charset="0"/>
              </a:rPr>
              <a:t>    10.64.1.2 </a:t>
            </a:r>
            <a:r>
              <a:rPr lang="sk-SK" sz="1100" dirty="0" err="1">
                <a:latin typeface="Consolas" panose="020B0609020204030204" pitchFamily="49" charset="0"/>
              </a:rPr>
              <a:t>from</a:t>
            </a:r>
            <a:r>
              <a:rPr lang="sk-SK" sz="1100" dirty="0">
                <a:latin typeface="Consolas" panose="020B0609020204030204" pitchFamily="49" charset="0"/>
              </a:rPr>
              <a:t> 10.64.1.2 (10.2.1.1)</a:t>
            </a:r>
          </a:p>
          <a:p>
            <a:r>
              <a:rPr lang="sk-SK" sz="1100" dirty="0">
                <a:latin typeface="Consolas" panose="020B0609020204030204" pitchFamily="49" charset="0"/>
              </a:rPr>
              <a:t>      </a:t>
            </a:r>
            <a:r>
              <a:rPr lang="sk-SK" sz="1100" dirty="0" err="1">
                <a:latin typeface="Consolas" panose="020B0609020204030204" pitchFamily="49" charset="0"/>
              </a:rPr>
              <a:t>Origin</a:t>
            </a:r>
            <a:r>
              <a:rPr lang="sk-SK" sz="1100" dirty="0">
                <a:latin typeface="Consolas" panose="020B0609020204030204" pitchFamily="49" charset="0"/>
              </a:rPr>
              <a:t> </a:t>
            </a:r>
            <a:r>
              <a:rPr lang="sk-SK" sz="1100" dirty="0" err="1">
                <a:latin typeface="Consolas" panose="020B0609020204030204" pitchFamily="49" charset="0"/>
              </a:rPr>
              <a:t>IGP</a:t>
            </a:r>
            <a:r>
              <a:rPr lang="sk-SK" sz="1100" dirty="0">
                <a:latin typeface="Consolas" panose="020B0609020204030204" pitchFamily="49" charset="0"/>
              </a:rPr>
              <a:t>, </a:t>
            </a:r>
            <a:r>
              <a:rPr lang="sk-SK" sz="1100" dirty="0" err="1">
                <a:latin typeface="Consolas" panose="020B0609020204030204" pitchFamily="49" charset="0"/>
              </a:rPr>
              <a:t>metric</a:t>
            </a:r>
            <a:r>
              <a:rPr lang="sk-SK" sz="1100" dirty="0">
                <a:latin typeface="Consolas" panose="020B0609020204030204" pitchFamily="49" charset="0"/>
              </a:rPr>
              <a:t> 0, localpref 100, </a:t>
            </a:r>
            <a:r>
              <a:rPr lang="sk-SK" sz="1100" dirty="0" err="1">
                <a:latin typeface="Consolas" panose="020B0609020204030204" pitchFamily="49" charset="0"/>
              </a:rPr>
              <a:t>valid</a:t>
            </a:r>
            <a:r>
              <a:rPr lang="sk-SK" sz="1100" dirty="0">
                <a:latin typeface="Consolas" panose="020B0609020204030204" pitchFamily="49" charset="0"/>
              </a:rPr>
              <a:t>, </a:t>
            </a:r>
            <a:r>
              <a:rPr lang="sk-SK" sz="1100" dirty="0" err="1">
                <a:latin typeface="Consolas" panose="020B0609020204030204" pitchFamily="49" charset="0"/>
              </a:rPr>
              <a:t>external</a:t>
            </a:r>
            <a:r>
              <a:rPr lang="sk-SK" sz="1100" dirty="0">
                <a:latin typeface="Consolas" panose="020B0609020204030204" pitchFamily="49" charset="0"/>
              </a:rPr>
              <a:t>, </a:t>
            </a:r>
            <a:r>
              <a:rPr lang="sk-SK" sz="1100" dirty="0" err="1">
                <a:latin typeface="Consolas" panose="020B0609020204030204" pitchFamily="49" charset="0"/>
              </a:rPr>
              <a:t>best</a:t>
            </a:r>
            <a:r>
              <a:rPr lang="sk-SK" sz="1100" dirty="0">
                <a:latin typeface="Consolas" panose="020B0609020204030204" pitchFamily="49" charset="0"/>
              </a:rPr>
              <a:t>, </a:t>
            </a:r>
            <a:r>
              <a:rPr lang="sk-SK" sz="1100" dirty="0" err="1">
                <a:latin typeface="Consolas" panose="020B0609020204030204" pitchFamily="49" charset="0"/>
              </a:rPr>
              <a:t>group-best</a:t>
            </a:r>
            <a:r>
              <a:rPr lang="sk-SK" sz="1100" dirty="0">
                <a:latin typeface="Consolas" panose="020B0609020204030204" pitchFamily="49" charset="0"/>
              </a:rPr>
              <a:t>, import-</a:t>
            </a:r>
            <a:r>
              <a:rPr lang="sk-SK" sz="1100" dirty="0" err="1">
                <a:latin typeface="Consolas" panose="020B0609020204030204" pitchFamily="49" charset="0"/>
              </a:rPr>
              <a:t>candidate</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Received</a:t>
            </a:r>
            <a:r>
              <a:rPr lang="sk-SK" sz="1100" dirty="0">
                <a:latin typeface="Consolas" panose="020B0609020204030204" pitchFamily="49" charset="0"/>
              </a:rPr>
              <a:t> </a:t>
            </a:r>
            <a:r>
              <a:rPr lang="sk-SK" sz="1100" dirty="0" err="1">
                <a:latin typeface="Consolas" panose="020B0609020204030204" pitchFamily="49" charset="0"/>
              </a:rPr>
              <a:t>Path</a:t>
            </a:r>
            <a:r>
              <a:rPr lang="sk-SK" sz="1100" dirty="0">
                <a:latin typeface="Consolas" panose="020B0609020204030204" pitchFamily="49" charset="0"/>
              </a:rPr>
              <a:t> ID 0, </a:t>
            </a:r>
            <a:r>
              <a:rPr lang="sk-SK" sz="1100" dirty="0" err="1">
                <a:latin typeface="Consolas" panose="020B0609020204030204" pitchFamily="49" charset="0"/>
              </a:rPr>
              <a:t>Local</a:t>
            </a:r>
            <a:r>
              <a:rPr lang="sk-SK" sz="1100" dirty="0">
                <a:latin typeface="Consolas" panose="020B0609020204030204" pitchFamily="49" charset="0"/>
              </a:rPr>
              <a:t> </a:t>
            </a:r>
            <a:r>
              <a:rPr lang="sk-SK" sz="1100" dirty="0" err="1">
                <a:latin typeface="Consolas" panose="020B0609020204030204" pitchFamily="49" charset="0"/>
              </a:rPr>
              <a:t>Path</a:t>
            </a:r>
            <a:r>
              <a:rPr lang="sk-SK" sz="1100" dirty="0">
                <a:latin typeface="Consolas" panose="020B0609020204030204" pitchFamily="49" charset="0"/>
              </a:rPr>
              <a:t> ID 1, </a:t>
            </a:r>
            <a:r>
              <a:rPr lang="sk-SK" sz="1100" dirty="0" err="1">
                <a:latin typeface="Consolas" panose="020B0609020204030204" pitchFamily="49" charset="0"/>
              </a:rPr>
              <a:t>version</a:t>
            </a:r>
            <a:r>
              <a:rPr lang="sk-SK" sz="1100" dirty="0">
                <a:latin typeface="Consolas" panose="020B0609020204030204" pitchFamily="49" charset="0"/>
              </a:rPr>
              <a:t> 624</a:t>
            </a:r>
          </a:p>
          <a:p>
            <a:r>
              <a:rPr lang="sk-SK" sz="1100" dirty="0">
                <a:latin typeface="Consolas" panose="020B0609020204030204" pitchFamily="49" charset="0"/>
              </a:rPr>
              <a:t>      </a:t>
            </a:r>
            <a:r>
              <a:rPr lang="sk-SK" sz="1100" dirty="0" err="1">
                <a:latin typeface="Consolas" panose="020B0609020204030204" pitchFamily="49" charset="0"/>
              </a:rPr>
              <a:t>Extended</a:t>
            </a:r>
            <a:r>
              <a:rPr lang="sk-SK" sz="1100" dirty="0">
                <a:latin typeface="Consolas" panose="020B0609020204030204" pitchFamily="49" charset="0"/>
              </a:rPr>
              <a:t> </a:t>
            </a:r>
            <a:r>
              <a:rPr lang="sk-SK" sz="1100" dirty="0" err="1">
                <a:latin typeface="Consolas" panose="020B0609020204030204" pitchFamily="49" charset="0"/>
              </a:rPr>
              <a:t>community</a:t>
            </a:r>
            <a:r>
              <a:rPr lang="sk-SK" sz="1100" dirty="0">
                <a:latin typeface="Consolas" panose="020B0609020204030204" pitchFamily="49" charset="0"/>
              </a:rPr>
              <a:t>: </a:t>
            </a:r>
            <a:r>
              <a:rPr lang="sk-SK" sz="1100" dirty="0" err="1">
                <a:latin typeface="Consolas" panose="020B0609020204030204" pitchFamily="49" charset="0"/>
              </a:rPr>
              <a:t>RT:65000:1</a:t>
            </a:r>
            <a:r>
              <a:rPr lang="sk-SK" sz="1100" dirty="0">
                <a:latin typeface="Consolas" panose="020B0609020204030204" pitchFamily="49" charset="0"/>
              </a:rPr>
              <a:t> </a:t>
            </a:r>
          </a:p>
          <a:p>
            <a:r>
              <a:rPr lang="sk-SK" sz="1100" dirty="0">
                <a:latin typeface="Consolas" panose="020B0609020204030204" pitchFamily="49" charset="0"/>
              </a:rPr>
              <a:t>RP/0/RP0/</a:t>
            </a:r>
            <a:r>
              <a:rPr lang="sk-SK" sz="1100" dirty="0" err="1">
                <a:latin typeface="Consolas" panose="020B0609020204030204" pitchFamily="49" charset="0"/>
              </a:rPr>
              <a:t>CPU0:R01</a:t>
            </a:r>
            <a:r>
              <a:rPr lang="sk-SK" sz="1100" dirty="0">
                <a:latin typeface="Consolas" panose="020B0609020204030204" pitchFamily="49" charset="0"/>
              </a:rPr>
              <a:t>#</a:t>
            </a:r>
          </a:p>
        </p:txBody>
      </p:sp>
      <p:sp>
        <p:nvSpPr>
          <p:cNvPr id="6" name="Text Placeholder 1">
            <a:extLst>
              <a:ext uri="{FF2B5EF4-FFF2-40B4-BE49-F238E27FC236}">
                <a16:creationId xmlns:a16="http://schemas.microsoft.com/office/drawing/2014/main" id="{C5B93DA3-610E-6BBF-37FF-0F2254E66D66}"/>
              </a:ext>
            </a:extLst>
          </p:cNvPr>
          <p:cNvSpPr txBox="1">
            <a:spLocks/>
          </p:cNvSpPr>
          <p:nvPr/>
        </p:nvSpPr>
        <p:spPr>
          <a:xfrm>
            <a:off x="6632426" y="3429000"/>
            <a:ext cx="5307905" cy="1070215"/>
          </a:xfrm>
          <a:prstGeom prst="rect">
            <a:avLst/>
          </a:prstGeom>
        </p:spPr>
        <p:txBody>
          <a:bodyPr/>
          <a:lstStyle>
            <a:lvl1pPr marL="285750" indent="-285750" algn="l" defTabSz="914400" rtl="0" eaLnBrk="1" latinLnBrk="0" hangingPunct="1">
              <a:lnSpc>
                <a:spcPct val="100000"/>
              </a:lnSpc>
              <a:spcBef>
                <a:spcPts val="1000"/>
              </a:spcBef>
              <a:buClr>
                <a:schemeClr val="tx2"/>
              </a:buClr>
              <a:buFont typeface="Arial" panose="020B0604020202020204" pitchFamily="34" charset="0"/>
              <a:buChar char="•"/>
              <a:defRPr sz="2400" b="0" kern="1200">
                <a:solidFill>
                  <a:schemeClr val="tx1"/>
                </a:solidFill>
                <a:latin typeface="+mn-lt"/>
                <a:ea typeface="+mn-ea"/>
                <a:cs typeface="+mn-cs"/>
              </a:defRPr>
            </a:lvl1pPr>
            <a:lvl2pPr marL="800100" indent="-342900" algn="l" defTabSz="914400" rtl="0" eaLnBrk="1" latinLnBrk="0" hangingPunct="1">
              <a:lnSpc>
                <a:spcPct val="100000"/>
              </a:lnSpc>
              <a:spcBef>
                <a:spcPts val="500"/>
              </a:spcBef>
              <a:buClr>
                <a:schemeClr val="tx2"/>
              </a:buClr>
              <a:buFont typeface="Arial" panose="020B0604020202020204" pitchFamily="34" charset="0"/>
              <a:buChar char="–"/>
              <a:defRPr sz="2400" b="0" kern="1200">
                <a:solidFill>
                  <a:schemeClr val="tx1"/>
                </a:solidFill>
                <a:latin typeface="+mn-lt"/>
                <a:ea typeface="+mn-ea"/>
                <a:cs typeface="+mn-cs"/>
              </a:defRPr>
            </a:lvl2pPr>
            <a:lvl3pPr marL="1200150" indent="-285750" algn="l" defTabSz="914400" rtl="0" eaLnBrk="1" latinLnBrk="0" hangingPunct="1">
              <a:lnSpc>
                <a:spcPct val="100000"/>
              </a:lnSpc>
              <a:spcBef>
                <a:spcPts val="500"/>
              </a:spcBef>
              <a:buClr>
                <a:schemeClr val="tx2"/>
              </a:buClr>
              <a:buFont typeface="Wingdings" panose="05000000000000000000" pitchFamily="2" charset="2"/>
              <a:buChar char="§"/>
              <a:defRPr sz="2400" b="0" kern="1200">
                <a:solidFill>
                  <a:schemeClr val="tx1"/>
                </a:solidFill>
                <a:latin typeface="+mn-lt"/>
                <a:ea typeface="+mn-ea"/>
                <a:cs typeface="+mn-cs"/>
              </a:defRPr>
            </a:lvl3pPr>
            <a:lvl4pPr marL="1657350" indent="-285750" algn="l" defTabSz="914400" rtl="0" eaLnBrk="1" latinLnBrk="0" hangingPunct="1">
              <a:lnSpc>
                <a:spcPct val="100000"/>
              </a:lnSpc>
              <a:spcBef>
                <a:spcPts val="500"/>
              </a:spcBef>
              <a:buClr>
                <a:schemeClr val="tx2"/>
              </a:buClr>
              <a:buFont typeface="Courier New" panose="02070309020205020404" pitchFamily="49" charset="0"/>
              <a:buChar char="o"/>
              <a:defRPr sz="2400" b="0" kern="1200">
                <a:solidFill>
                  <a:schemeClr val="tx1"/>
                </a:solidFill>
                <a:latin typeface="+mn-lt"/>
                <a:ea typeface="+mn-ea"/>
                <a:cs typeface="+mn-cs"/>
              </a:defRPr>
            </a:lvl4pPr>
            <a:lvl5pPr marL="2114550" indent="-285750" algn="l" defTabSz="914400" rtl="0" eaLnBrk="1" latinLnBrk="0" hangingPunct="1">
              <a:lnSpc>
                <a:spcPct val="100000"/>
              </a:lnSpc>
              <a:spcBef>
                <a:spcPts val="500"/>
              </a:spcBef>
              <a:buClr>
                <a:schemeClr val="tx2"/>
              </a:buClr>
              <a:buFont typeface="Arial" panose="020B0604020202020204" pitchFamily="34" charset="0"/>
              <a:buChar char="•"/>
              <a:defRPr sz="2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L3VPN BGP advertisement from </a:t>
            </a:r>
            <a:r>
              <a:rPr lang="en-US" sz="2000" dirty="0" err="1"/>
              <a:t>R31</a:t>
            </a:r>
            <a:r>
              <a:rPr lang="en-US" sz="2000" dirty="0"/>
              <a:t> (</a:t>
            </a:r>
            <a:r>
              <a:rPr lang="en-US" sz="2000" dirty="0" err="1"/>
              <a:t>CE31</a:t>
            </a:r>
            <a:r>
              <a:rPr lang="en-US" sz="2000" dirty="0"/>
              <a:t> subnet)</a:t>
            </a:r>
          </a:p>
        </p:txBody>
      </p:sp>
      <p:sp>
        <p:nvSpPr>
          <p:cNvPr id="8" name="Rectangle 7">
            <a:extLst>
              <a:ext uri="{FF2B5EF4-FFF2-40B4-BE49-F238E27FC236}">
                <a16:creationId xmlns:a16="http://schemas.microsoft.com/office/drawing/2014/main" id="{E7F2E43D-DF92-61C1-F78A-6D12C59A44B1}"/>
              </a:ext>
            </a:extLst>
          </p:cNvPr>
          <p:cNvSpPr/>
          <p:nvPr/>
        </p:nvSpPr>
        <p:spPr>
          <a:xfrm>
            <a:off x="6632426" y="4205196"/>
            <a:ext cx="5559574" cy="2631490"/>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RP/0/RP0/</a:t>
            </a:r>
            <a:r>
              <a:rPr lang="sk-SK" sz="1100" dirty="0" err="1">
                <a:latin typeface="Consolas" panose="020B0609020204030204" pitchFamily="49" charset="0"/>
              </a:rPr>
              <a:t>CPU0:R01#sh</a:t>
            </a:r>
            <a:r>
              <a:rPr lang="sk-SK" sz="1100" dirty="0">
                <a:latin typeface="Consolas" panose="020B0609020204030204" pitchFamily="49" charset="0"/>
              </a:rPr>
              <a:t> cef vrf A 10.0.31.1                      </a:t>
            </a:r>
          </a:p>
          <a:p>
            <a:r>
              <a:rPr lang="sk-SK" sz="1100" dirty="0">
                <a:latin typeface="Consolas" panose="020B0609020204030204" pitchFamily="49" charset="0"/>
              </a:rPr>
              <a:t>10.0.31.0/24, </a:t>
            </a:r>
            <a:r>
              <a:rPr lang="sk-SK" sz="1100" dirty="0" err="1">
                <a:latin typeface="Consolas" panose="020B0609020204030204" pitchFamily="49" charset="0"/>
              </a:rPr>
              <a:t>version</a:t>
            </a:r>
            <a:r>
              <a:rPr lang="sk-SK" sz="1100" dirty="0">
                <a:latin typeface="Consolas" panose="020B0609020204030204" pitchFamily="49" charset="0"/>
              </a:rPr>
              <a:t> 421, </a:t>
            </a:r>
            <a:endParaRPr lang="en-US" sz="1100" dirty="0">
              <a:latin typeface="Consolas" panose="020B0609020204030204" pitchFamily="49" charset="0"/>
            </a:endParaRPr>
          </a:p>
          <a:p>
            <a:r>
              <a:rPr lang="en-US" sz="1100" dirty="0">
                <a:latin typeface="Consolas" panose="020B0609020204030204" pitchFamily="49" charset="0"/>
              </a:rPr>
              <a:t>-- cut --</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via</a:t>
            </a:r>
            <a:r>
              <a:rPr lang="sk-SK" sz="1100" dirty="0">
                <a:latin typeface="Consolas" panose="020B0609020204030204" pitchFamily="49" charset="0"/>
              </a:rPr>
              <a:t> 1.1.1.31/32, 5 </a:t>
            </a:r>
            <a:r>
              <a:rPr lang="sk-SK" sz="1100" dirty="0" err="1">
                <a:latin typeface="Consolas" panose="020B0609020204030204" pitchFamily="49" charset="0"/>
              </a:rPr>
              <a:t>dependencies</a:t>
            </a:r>
            <a:r>
              <a:rPr lang="sk-SK" sz="1100" dirty="0">
                <a:latin typeface="Consolas" panose="020B0609020204030204" pitchFamily="49" charset="0"/>
              </a:rPr>
              <a:t>, </a:t>
            </a:r>
            <a:r>
              <a:rPr lang="sk-SK" sz="1100" dirty="0" err="1">
                <a:latin typeface="Consolas" panose="020B0609020204030204" pitchFamily="49" charset="0"/>
              </a:rPr>
              <a:t>recursive</a:t>
            </a:r>
            <a:r>
              <a:rPr lang="sk-SK" sz="1100" dirty="0">
                <a:latin typeface="Consolas" panose="020B0609020204030204" pitchFamily="49" charset="0"/>
              </a:rPr>
              <a:t> [</a:t>
            </a:r>
            <a:r>
              <a:rPr lang="sk-SK" sz="1100" dirty="0" err="1">
                <a:latin typeface="Consolas" panose="020B0609020204030204" pitchFamily="49" charset="0"/>
              </a:rPr>
              <a:t>flags</a:t>
            </a:r>
            <a:r>
              <a:rPr lang="sk-SK" sz="1100" dirty="0">
                <a:latin typeface="Consolas" panose="020B0609020204030204" pitchFamily="49" charset="0"/>
              </a:rPr>
              <a:t> </a:t>
            </a:r>
            <a:r>
              <a:rPr lang="sk-SK" sz="1100" dirty="0" err="1">
                <a:latin typeface="Consolas" panose="020B0609020204030204" pitchFamily="49" charset="0"/>
              </a:rPr>
              <a:t>0x6000</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path-idx</a:t>
            </a:r>
            <a:r>
              <a:rPr lang="sk-SK" sz="1100" dirty="0">
                <a:latin typeface="Consolas" panose="020B0609020204030204" pitchFamily="49" charset="0"/>
              </a:rPr>
              <a:t> 0 </a:t>
            </a:r>
            <a:r>
              <a:rPr lang="sk-SK" sz="1100" dirty="0" err="1">
                <a:latin typeface="Consolas" panose="020B0609020204030204" pitchFamily="49" charset="0"/>
              </a:rPr>
              <a:t>NHID</a:t>
            </a:r>
            <a:r>
              <a:rPr lang="sk-SK" sz="1100" dirty="0">
                <a:latin typeface="Consolas" panose="020B0609020204030204" pitchFamily="49" charset="0"/>
              </a:rPr>
              <a:t> </a:t>
            </a:r>
            <a:r>
              <a:rPr lang="sk-SK" sz="1100" dirty="0" err="1">
                <a:latin typeface="Consolas" panose="020B0609020204030204" pitchFamily="49" charset="0"/>
              </a:rPr>
              <a:t>0x0</a:t>
            </a:r>
            <a:r>
              <a:rPr lang="sk-SK" sz="1100" dirty="0">
                <a:latin typeface="Consolas" panose="020B0609020204030204" pitchFamily="49" charset="0"/>
              </a:rPr>
              <a:t> [</a:t>
            </a:r>
            <a:r>
              <a:rPr lang="sk-SK" sz="1100" dirty="0" err="1">
                <a:latin typeface="Consolas" panose="020B0609020204030204" pitchFamily="49" charset="0"/>
              </a:rPr>
              <a:t>0xdb862b8</a:t>
            </a:r>
            <a:r>
              <a:rPr lang="sk-SK" sz="1100" dirty="0">
                <a:latin typeface="Consolas" panose="020B0609020204030204" pitchFamily="49" charset="0"/>
              </a:rPr>
              <a:t> </a:t>
            </a:r>
            <a:r>
              <a:rPr lang="sk-SK" sz="1100" dirty="0" err="1">
                <a:latin typeface="Consolas" panose="020B0609020204030204" pitchFamily="49" charset="0"/>
              </a:rPr>
              <a:t>0x0</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recursion-via</a:t>
            </a:r>
            <a:r>
              <a:rPr lang="sk-SK" sz="1100" dirty="0">
                <a:latin typeface="Consolas" panose="020B0609020204030204" pitchFamily="49" charset="0"/>
              </a:rPr>
              <a:t>-/32</a:t>
            </a:r>
          </a:p>
          <a:p>
            <a:r>
              <a:rPr lang="sk-SK" sz="1100" dirty="0">
                <a:latin typeface="Consolas" panose="020B0609020204030204" pitchFamily="49" charset="0"/>
              </a:rPr>
              <a:t>    </a:t>
            </a:r>
            <a:r>
              <a:rPr lang="sk-SK" sz="1100" dirty="0" err="1">
                <a:latin typeface="Consolas" panose="020B0609020204030204" pitchFamily="49" charset="0"/>
              </a:rPr>
              <a:t>next</a:t>
            </a:r>
            <a:r>
              <a:rPr lang="sk-SK" sz="1100" dirty="0">
                <a:latin typeface="Consolas" panose="020B0609020204030204" pitchFamily="49" charset="0"/>
              </a:rPr>
              <a:t> hop VRF - 'default', table - </a:t>
            </a:r>
            <a:r>
              <a:rPr lang="sk-SK" sz="1100" dirty="0" err="1">
                <a:latin typeface="Consolas" panose="020B0609020204030204" pitchFamily="49" charset="0"/>
              </a:rPr>
              <a:t>0xe0000000</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next</a:t>
            </a:r>
            <a:r>
              <a:rPr lang="sk-SK" sz="1100" dirty="0">
                <a:latin typeface="Consolas" panose="020B0609020204030204" pitchFamily="49" charset="0"/>
              </a:rPr>
              <a:t> hop 1.1.1.31/32 </a:t>
            </a:r>
            <a:r>
              <a:rPr lang="sk-SK" sz="1100" dirty="0" err="1">
                <a:latin typeface="Consolas" panose="020B0609020204030204" pitchFamily="49" charset="0"/>
              </a:rPr>
              <a:t>via</a:t>
            </a:r>
            <a:r>
              <a:rPr lang="sk-SK" sz="1100" dirty="0">
                <a:latin typeface="Consolas" panose="020B0609020204030204" pitchFamily="49" charset="0"/>
              </a:rPr>
              <a:t> 24006/0/21</a:t>
            </a:r>
          </a:p>
          <a:p>
            <a:r>
              <a:rPr lang="sk-SK" sz="1100" dirty="0">
                <a:latin typeface="Consolas" panose="020B0609020204030204" pitchFamily="49" charset="0"/>
              </a:rPr>
              <a:t>     </a:t>
            </a:r>
            <a:r>
              <a:rPr lang="sk-SK" sz="1100" dirty="0" err="1">
                <a:latin typeface="Consolas" panose="020B0609020204030204" pitchFamily="49" charset="0"/>
              </a:rPr>
              <a:t>next</a:t>
            </a:r>
            <a:r>
              <a:rPr lang="sk-SK" sz="1100" dirty="0">
                <a:latin typeface="Consolas" panose="020B0609020204030204" pitchFamily="49" charset="0"/>
              </a:rPr>
              <a:t> hop 64.1.2.2/32 Gi0/0/0/0    </a:t>
            </a:r>
            <a:r>
              <a:rPr lang="sk-SK" sz="1100" dirty="0" err="1">
                <a:latin typeface="Consolas" panose="020B0609020204030204" pitchFamily="49" charset="0"/>
              </a:rPr>
              <a:t>labels</a:t>
            </a:r>
            <a:r>
              <a:rPr lang="sk-SK" sz="1100" dirty="0">
                <a:latin typeface="Consolas" panose="020B0609020204030204" pitchFamily="49" charset="0"/>
              </a:rPr>
              <a:t> </a:t>
            </a:r>
            <a:r>
              <a:rPr lang="sk-SK" sz="1100" dirty="0" err="1">
                <a:latin typeface="Consolas" panose="020B0609020204030204" pitchFamily="49" charset="0"/>
              </a:rPr>
              <a:t>imposed</a:t>
            </a:r>
            <a:r>
              <a:rPr lang="sk-SK" sz="1100" dirty="0">
                <a:latin typeface="Consolas" panose="020B0609020204030204" pitchFamily="49" charset="0"/>
              </a:rPr>
              <a:t> {</a:t>
            </a:r>
            <a:r>
              <a:rPr lang="sk-SK" sz="1100" dirty="0">
                <a:solidFill>
                  <a:schemeClr val="bg1"/>
                </a:solidFill>
                <a:highlight>
                  <a:srgbClr val="800000"/>
                </a:highlight>
                <a:latin typeface="Consolas" panose="020B0609020204030204" pitchFamily="49" charset="0"/>
              </a:rPr>
              <a:t>24014</a:t>
            </a:r>
            <a:r>
              <a:rPr lang="sk-SK" sz="1100" dirty="0">
                <a:latin typeface="Consolas" panose="020B0609020204030204" pitchFamily="49" charset="0"/>
              </a:rPr>
              <a:t> </a:t>
            </a:r>
            <a:r>
              <a:rPr lang="sk-SK" sz="1100" dirty="0">
                <a:highlight>
                  <a:srgbClr val="808000"/>
                </a:highlight>
                <a:latin typeface="Consolas" panose="020B0609020204030204" pitchFamily="49" charset="0"/>
              </a:rPr>
              <a:t>22</a:t>
            </a:r>
            <a:r>
              <a:rPr lang="sk-SK" sz="1100" dirty="0">
                <a:latin typeface="Consolas" panose="020B0609020204030204" pitchFamily="49" charset="0"/>
              </a:rPr>
              <a:t>}</a:t>
            </a:r>
          </a:p>
          <a:p>
            <a:r>
              <a:rPr lang="en-US" sz="1100" dirty="0">
                <a:latin typeface="Consolas" panose="020B0609020204030204" pitchFamily="49" charset="0"/>
              </a:rPr>
              <a:t>-- cut --</a:t>
            </a:r>
            <a:endParaRPr lang="sk-SK" sz="1100" dirty="0">
              <a:latin typeface="Consolas" panose="020B0609020204030204" pitchFamily="49" charset="0"/>
            </a:endParaRPr>
          </a:p>
          <a:p>
            <a:r>
              <a:rPr lang="sk-SK" sz="1100" dirty="0">
                <a:latin typeface="Consolas" panose="020B0609020204030204" pitchFamily="49" charset="0"/>
              </a:rPr>
              <a:t>RP/0/RP0/</a:t>
            </a:r>
            <a:r>
              <a:rPr lang="sk-SK" sz="1100" dirty="0" err="1">
                <a:latin typeface="Consolas" panose="020B0609020204030204" pitchFamily="49" charset="0"/>
              </a:rPr>
              <a:t>CPU0:R01#sh</a:t>
            </a:r>
            <a:r>
              <a:rPr lang="sk-SK" sz="1100" dirty="0">
                <a:latin typeface="Consolas" panose="020B0609020204030204" pitchFamily="49" charset="0"/>
              </a:rPr>
              <a:t> cef 1.1.1.31                 </a:t>
            </a:r>
          </a:p>
          <a:p>
            <a:r>
              <a:rPr lang="sk-SK" sz="1100" dirty="0">
                <a:latin typeface="Consolas" panose="020B0609020204030204" pitchFamily="49" charset="0"/>
              </a:rPr>
              <a:t>1.1.1.31/32, </a:t>
            </a:r>
            <a:r>
              <a:rPr lang="sk-SK" sz="1100" dirty="0" err="1">
                <a:latin typeface="Consolas" panose="020B0609020204030204" pitchFamily="49" charset="0"/>
              </a:rPr>
              <a:t>version</a:t>
            </a:r>
            <a:r>
              <a:rPr lang="sk-SK" sz="1100" dirty="0">
                <a:latin typeface="Consolas" panose="020B0609020204030204" pitchFamily="49" charset="0"/>
              </a:rPr>
              <a:t> 511, </a:t>
            </a:r>
            <a:endParaRPr lang="en-US" sz="1100" dirty="0">
              <a:latin typeface="Consolas" panose="020B0609020204030204" pitchFamily="49" charset="0"/>
            </a:endParaRPr>
          </a:p>
          <a:p>
            <a:r>
              <a:rPr lang="en-US" sz="1100" dirty="0">
                <a:latin typeface="Consolas" panose="020B0609020204030204" pitchFamily="49" charset="0"/>
              </a:rPr>
              <a:t>-- cut --</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local</a:t>
            </a:r>
            <a:r>
              <a:rPr lang="sk-SK" sz="1100" dirty="0">
                <a:latin typeface="Consolas" panose="020B0609020204030204" pitchFamily="49" charset="0"/>
              </a:rPr>
              <a:t> </a:t>
            </a:r>
            <a:r>
              <a:rPr lang="sk-SK" sz="1100" dirty="0" err="1">
                <a:latin typeface="Consolas" panose="020B0609020204030204" pitchFamily="49" charset="0"/>
              </a:rPr>
              <a:t>label</a:t>
            </a:r>
            <a:r>
              <a:rPr lang="sk-SK" sz="1100" dirty="0">
                <a:latin typeface="Consolas" panose="020B0609020204030204" pitchFamily="49" charset="0"/>
              </a:rPr>
              <a:t> 24006      </a:t>
            </a:r>
            <a:r>
              <a:rPr lang="sk-SK" sz="1100" dirty="0" err="1">
                <a:latin typeface="Consolas" panose="020B0609020204030204" pitchFamily="49" charset="0"/>
              </a:rPr>
              <a:t>labels</a:t>
            </a:r>
            <a:r>
              <a:rPr lang="sk-SK" sz="1100" dirty="0">
                <a:latin typeface="Consolas" panose="020B0609020204030204" pitchFamily="49" charset="0"/>
              </a:rPr>
              <a:t> </a:t>
            </a:r>
            <a:r>
              <a:rPr lang="sk-SK" sz="1100" dirty="0" err="1">
                <a:latin typeface="Consolas" panose="020B0609020204030204" pitchFamily="49" charset="0"/>
              </a:rPr>
              <a:t>imposed</a:t>
            </a:r>
            <a:r>
              <a:rPr lang="sk-SK" sz="1100" dirty="0">
                <a:latin typeface="Consolas" panose="020B0609020204030204" pitchFamily="49" charset="0"/>
              </a:rPr>
              <a:t> {</a:t>
            </a:r>
            <a:r>
              <a:rPr lang="sk-SK" sz="1100" dirty="0">
                <a:solidFill>
                  <a:schemeClr val="bg1"/>
                </a:solidFill>
                <a:highlight>
                  <a:srgbClr val="800000"/>
                </a:highlight>
                <a:latin typeface="Consolas" panose="020B0609020204030204" pitchFamily="49" charset="0"/>
              </a:rPr>
              <a:t>24014</a:t>
            </a:r>
            <a:r>
              <a:rPr lang="sk-SK" sz="1100" dirty="0">
                <a:latin typeface="Consolas" panose="020B0609020204030204" pitchFamily="49" charset="0"/>
              </a:rPr>
              <a:t>}</a:t>
            </a:r>
          </a:p>
          <a:p>
            <a:r>
              <a:rPr lang="sk-SK" sz="1100" dirty="0">
                <a:latin typeface="Consolas" panose="020B0609020204030204" pitchFamily="49" charset="0"/>
              </a:rPr>
              <a:t>   </a:t>
            </a:r>
            <a:r>
              <a:rPr lang="en-US" sz="1100" dirty="0">
                <a:latin typeface="Consolas" panose="020B0609020204030204" pitchFamily="49" charset="0"/>
              </a:rPr>
              <a:t>-- cut --</a:t>
            </a:r>
            <a:endParaRPr lang="sk-SK" sz="1100" dirty="0">
              <a:latin typeface="Consolas" panose="020B0609020204030204" pitchFamily="49" charset="0"/>
            </a:endParaRPr>
          </a:p>
        </p:txBody>
      </p:sp>
    </p:spTree>
    <p:extLst>
      <p:ext uri="{BB962C8B-B14F-4D97-AF65-F5344CB8AC3E}">
        <p14:creationId xmlns:p14="http://schemas.microsoft.com/office/powerpoint/2010/main" val="354053085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9458E76-A59B-D371-F03C-B08C9428B679}"/>
              </a:ext>
            </a:extLst>
          </p:cNvPr>
          <p:cNvSpPr>
            <a:spLocks noGrp="1"/>
          </p:cNvSpPr>
          <p:nvPr>
            <p:ph type="body" sz="quarter" idx="10"/>
          </p:nvPr>
        </p:nvSpPr>
        <p:spPr/>
        <p:txBody>
          <a:bodyPr/>
          <a:lstStyle/>
          <a:p>
            <a:r>
              <a:rPr lang="en-US" sz="2000" dirty="0"/>
              <a:t>L3VPN BGP advertisement from </a:t>
            </a:r>
            <a:r>
              <a:rPr lang="en-US" sz="2000" dirty="0" err="1"/>
              <a:t>R01</a:t>
            </a:r>
            <a:r>
              <a:rPr lang="en-US" sz="2000" dirty="0"/>
              <a:t> (</a:t>
            </a:r>
            <a:r>
              <a:rPr lang="en-US" sz="2000" dirty="0" err="1"/>
              <a:t>CE01</a:t>
            </a:r>
            <a:r>
              <a:rPr lang="en-US" sz="2000" dirty="0"/>
              <a:t> subnet) visible on </a:t>
            </a:r>
            <a:r>
              <a:rPr lang="en-US" sz="2000" dirty="0" err="1"/>
              <a:t>R31</a:t>
            </a:r>
            <a:r>
              <a:rPr lang="en-US" sz="2000" dirty="0"/>
              <a:t> (MPLS only)</a:t>
            </a:r>
          </a:p>
        </p:txBody>
      </p:sp>
      <p:sp>
        <p:nvSpPr>
          <p:cNvPr id="3" name="Text Placeholder 2">
            <a:extLst>
              <a:ext uri="{FF2B5EF4-FFF2-40B4-BE49-F238E27FC236}">
                <a16:creationId xmlns:a16="http://schemas.microsoft.com/office/drawing/2014/main" id="{27912DA7-80A6-6CC6-3A11-1F6B84535C3E}"/>
              </a:ext>
            </a:extLst>
          </p:cNvPr>
          <p:cNvSpPr>
            <a:spLocks noGrp="1"/>
          </p:cNvSpPr>
          <p:nvPr>
            <p:ph type="body" sz="quarter" idx="11"/>
          </p:nvPr>
        </p:nvSpPr>
        <p:spPr/>
        <p:txBody>
          <a:bodyPr/>
          <a:lstStyle/>
          <a:p>
            <a:r>
              <a:rPr lang="en-US" dirty="0"/>
              <a:t>Dual connected PE – config example #4 (</a:t>
            </a:r>
            <a:r>
              <a:rPr lang="en-US" dirty="0" err="1"/>
              <a:t>R31</a:t>
            </a:r>
            <a:r>
              <a:rPr lang="en-US" dirty="0"/>
              <a:t>)</a:t>
            </a:r>
          </a:p>
        </p:txBody>
      </p:sp>
      <p:sp>
        <p:nvSpPr>
          <p:cNvPr id="4" name="Rectangle 3">
            <a:extLst>
              <a:ext uri="{FF2B5EF4-FFF2-40B4-BE49-F238E27FC236}">
                <a16:creationId xmlns:a16="http://schemas.microsoft.com/office/drawing/2014/main" id="{5F84F5C3-689F-B9D9-EF3B-154545F5E80D}"/>
              </a:ext>
            </a:extLst>
          </p:cNvPr>
          <p:cNvSpPr/>
          <p:nvPr/>
        </p:nvSpPr>
        <p:spPr>
          <a:xfrm>
            <a:off x="234926" y="1414375"/>
            <a:ext cx="7377226" cy="5339923"/>
          </a:xfrm>
          <a:prstGeom prst="rect">
            <a:avLst/>
          </a:prstGeom>
          <a:solidFill>
            <a:schemeClr val="bg1">
              <a:lumMod val="95000"/>
            </a:schemeClr>
          </a:solidFill>
          <a:ln>
            <a:solidFill>
              <a:schemeClr val="tx1"/>
            </a:solidFill>
          </a:ln>
          <a:effectLst/>
        </p:spPr>
        <p:txBody>
          <a:bodyPr wrap="square">
            <a:spAutoFit/>
          </a:bodyPr>
          <a:lstStyle/>
          <a:p>
            <a:r>
              <a:rPr lang="sk-SK" sz="1100" dirty="0" err="1">
                <a:latin typeface="Consolas" panose="020B0609020204030204" pitchFamily="49" charset="0"/>
              </a:rPr>
              <a:t>R31#</a:t>
            </a:r>
            <a:r>
              <a:rPr lang="sk-SK" sz="1100" b="1" dirty="0" err="1">
                <a:latin typeface="Consolas" panose="020B0609020204030204" pitchFamily="49" charset="0"/>
              </a:rPr>
              <a:t>sh</a:t>
            </a:r>
            <a:r>
              <a:rPr lang="sk-SK" sz="1100" b="1" dirty="0">
                <a:latin typeface="Consolas" panose="020B0609020204030204" pitchFamily="49" charset="0"/>
              </a:rPr>
              <a:t> ip bgp </a:t>
            </a:r>
            <a:r>
              <a:rPr lang="sk-SK" sz="1100" b="1" dirty="0" err="1">
                <a:latin typeface="Consolas" panose="020B0609020204030204" pitchFamily="49" charset="0"/>
              </a:rPr>
              <a:t>vpnv4</a:t>
            </a:r>
            <a:r>
              <a:rPr lang="sk-SK" sz="1100" b="1" dirty="0">
                <a:latin typeface="Consolas" panose="020B0609020204030204" pitchFamily="49" charset="0"/>
              </a:rPr>
              <a:t> vrf A 10.0.1.0</a:t>
            </a:r>
          </a:p>
          <a:p>
            <a:r>
              <a:rPr lang="sk-SK" sz="1100" dirty="0">
                <a:latin typeface="Consolas" panose="020B0609020204030204" pitchFamily="49" charset="0"/>
              </a:rPr>
              <a:t>BGP routing table </a:t>
            </a:r>
            <a:r>
              <a:rPr lang="sk-SK" sz="1100" dirty="0" err="1">
                <a:latin typeface="Consolas" panose="020B0609020204030204" pitchFamily="49" charset="0"/>
              </a:rPr>
              <a:t>entry</a:t>
            </a:r>
            <a:r>
              <a:rPr lang="sk-SK" sz="1100" dirty="0">
                <a:latin typeface="Consolas" panose="020B0609020204030204" pitchFamily="49" charset="0"/>
              </a:rPr>
              <a:t> </a:t>
            </a:r>
            <a:r>
              <a:rPr lang="sk-SK" sz="1100" dirty="0" err="1">
                <a:latin typeface="Consolas" panose="020B0609020204030204" pitchFamily="49" charset="0"/>
              </a:rPr>
              <a:t>for</a:t>
            </a:r>
            <a:r>
              <a:rPr lang="sk-SK" sz="1100" dirty="0">
                <a:latin typeface="Consolas" panose="020B0609020204030204" pitchFamily="49" charset="0"/>
              </a:rPr>
              <a:t> 65000:1:10.0.1.0/24, </a:t>
            </a:r>
            <a:r>
              <a:rPr lang="sk-SK" sz="1100" dirty="0" err="1">
                <a:latin typeface="Consolas" panose="020B0609020204030204" pitchFamily="49" charset="0"/>
              </a:rPr>
              <a:t>version</a:t>
            </a:r>
            <a:r>
              <a:rPr lang="sk-SK" sz="1100" dirty="0">
                <a:latin typeface="Consolas" panose="020B0609020204030204" pitchFamily="49" charset="0"/>
              </a:rPr>
              <a:t> 282</a:t>
            </a:r>
          </a:p>
          <a:p>
            <a:r>
              <a:rPr lang="sk-SK" sz="1100" dirty="0" err="1">
                <a:latin typeface="Consolas" panose="020B0609020204030204" pitchFamily="49" charset="0"/>
              </a:rPr>
              <a:t>Paths</a:t>
            </a:r>
            <a:r>
              <a:rPr lang="sk-SK" sz="1100" dirty="0">
                <a:latin typeface="Consolas" panose="020B0609020204030204" pitchFamily="49" charset="0"/>
              </a:rPr>
              <a:t>: (1 </a:t>
            </a:r>
            <a:r>
              <a:rPr lang="sk-SK" sz="1100" dirty="0" err="1">
                <a:latin typeface="Consolas" panose="020B0609020204030204" pitchFamily="49" charset="0"/>
              </a:rPr>
              <a:t>available</a:t>
            </a:r>
            <a:r>
              <a:rPr lang="sk-SK" sz="1100" dirty="0">
                <a:latin typeface="Consolas" panose="020B0609020204030204" pitchFamily="49" charset="0"/>
              </a:rPr>
              <a:t>, </a:t>
            </a:r>
            <a:r>
              <a:rPr lang="sk-SK" sz="1100" dirty="0" err="1">
                <a:latin typeface="Consolas" panose="020B0609020204030204" pitchFamily="49" charset="0"/>
              </a:rPr>
              <a:t>best</a:t>
            </a:r>
            <a:r>
              <a:rPr lang="sk-SK" sz="1100" dirty="0">
                <a:latin typeface="Consolas" panose="020B0609020204030204" pitchFamily="49" charset="0"/>
              </a:rPr>
              <a:t> #1, table A)</a:t>
            </a:r>
          </a:p>
          <a:p>
            <a:r>
              <a:rPr lang="sk-SK" sz="1100" dirty="0">
                <a:latin typeface="Consolas" panose="020B0609020204030204" pitchFamily="49" charset="0"/>
              </a:rPr>
              <a:t>  </a:t>
            </a:r>
            <a:r>
              <a:rPr lang="sk-SK" sz="1100" dirty="0" err="1">
                <a:latin typeface="Consolas" panose="020B0609020204030204" pitchFamily="49" charset="0"/>
              </a:rPr>
              <a:t>Flag</a:t>
            </a:r>
            <a:r>
              <a:rPr lang="sk-SK" sz="1100" dirty="0">
                <a:latin typeface="Consolas" panose="020B0609020204030204" pitchFamily="49" charset="0"/>
              </a:rPr>
              <a:t>: </a:t>
            </a:r>
            <a:r>
              <a:rPr lang="sk-SK" sz="1100" dirty="0" err="1">
                <a:latin typeface="Consolas" panose="020B0609020204030204" pitchFamily="49" charset="0"/>
              </a:rPr>
              <a:t>0x100</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Advertised</a:t>
            </a:r>
            <a:r>
              <a:rPr lang="sk-SK" sz="1100" dirty="0">
                <a:latin typeface="Consolas" panose="020B0609020204030204" pitchFamily="49" charset="0"/>
              </a:rPr>
              <a:t> to update-</a:t>
            </a:r>
            <a:r>
              <a:rPr lang="sk-SK" sz="1100" dirty="0" err="1">
                <a:latin typeface="Consolas" panose="020B0609020204030204" pitchFamily="49" charset="0"/>
              </a:rPr>
              <a:t>groups</a:t>
            </a:r>
            <a:r>
              <a:rPr lang="sk-SK" sz="1100" dirty="0">
                <a:latin typeface="Consolas" panose="020B0609020204030204" pitchFamily="49" charset="0"/>
              </a:rPr>
              <a:t>:</a:t>
            </a:r>
          </a:p>
          <a:p>
            <a:r>
              <a:rPr lang="sk-SK" sz="1100" dirty="0">
                <a:latin typeface="Consolas" panose="020B0609020204030204" pitchFamily="49" charset="0"/>
              </a:rPr>
              <a:t>     1         </a:t>
            </a:r>
          </a:p>
          <a:p>
            <a:r>
              <a:rPr lang="sk-SK" sz="1100" dirty="0">
                <a:latin typeface="Consolas" panose="020B0609020204030204" pitchFamily="49" charset="0"/>
              </a:rPr>
              <a:t>  </a:t>
            </a:r>
            <a:r>
              <a:rPr lang="sk-SK" sz="1100" dirty="0" err="1">
                <a:latin typeface="Consolas" panose="020B0609020204030204" pitchFamily="49" charset="0"/>
              </a:rPr>
              <a:t>Refresh</a:t>
            </a:r>
            <a:r>
              <a:rPr lang="sk-SK" sz="1100" dirty="0">
                <a:latin typeface="Consolas" panose="020B0609020204030204" pitchFamily="49" charset="0"/>
              </a:rPr>
              <a:t> Epoch 1</a:t>
            </a:r>
          </a:p>
          <a:p>
            <a:r>
              <a:rPr lang="sk-SK" sz="1100" dirty="0">
                <a:latin typeface="Consolas" panose="020B0609020204030204" pitchFamily="49" charset="0"/>
              </a:rPr>
              <a:t>  65001</a:t>
            </a:r>
          </a:p>
          <a:p>
            <a:r>
              <a:rPr lang="sk-SK" sz="1100" dirty="0">
                <a:latin typeface="Consolas" panose="020B0609020204030204" pitchFamily="49" charset="0"/>
              </a:rPr>
              <a:t>    </a:t>
            </a:r>
            <a:r>
              <a:rPr lang="sk-SK" sz="1100" dirty="0">
                <a:highlight>
                  <a:srgbClr val="FF0000"/>
                </a:highlight>
                <a:latin typeface="Consolas" panose="020B0609020204030204" pitchFamily="49" charset="0"/>
              </a:rPr>
              <a:t>1.1.1.1</a:t>
            </a:r>
            <a:r>
              <a:rPr lang="sk-SK" sz="1100" dirty="0">
                <a:latin typeface="Consolas" panose="020B0609020204030204" pitchFamily="49" charset="0"/>
              </a:rPr>
              <a:t> (</a:t>
            </a:r>
            <a:r>
              <a:rPr lang="sk-SK" sz="1100" dirty="0" err="1">
                <a:latin typeface="Consolas" panose="020B0609020204030204" pitchFamily="49" charset="0"/>
              </a:rPr>
              <a:t>metric</a:t>
            </a:r>
            <a:r>
              <a:rPr lang="sk-SK" sz="1100" dirty="0">
                <a:latin typeface="Consolas" panose="020B0609020204030204" pitchFamily="49" charset="0"/>
              </a:rPr>
              <a:t> 30) (</a:t>
            </a:r>
            <a:r>
              <a:rPr lang="sk-SK" sz="1100" dirty="0" err="1">
                <a:latin typeface="Consolas" panose="020B0609020204030204" pitchFamily="49" charset="0"/>
              </a:rPr>
              <a:t>via</a:t>
            </a:r>
            <a:r>
              <a:rPr lang="sk-SK" sz="1100" dirty="0">
                <a:latin typeface="Consolas" panose="020B0609020204030204" pitchFamily="49" charset="0"/>
              </a:rPr>
              <a:t> default) </a:t>
            </a:r>
            <a:r>
              <a:rPr lang="sk-SK" sz="1100" dirty="0" err="1">
                <a:latin typeface="Consolas" panose="020B0609020204030204" pitchFamily="49" charset="0"/>
              </a:rPr>
              <a:t>from</a:t>
            </a:r>
            <a:r>
              <a:rPr lang="sk-SK" sz="1100" dirty="0">
                <a:latin typeface="Consolas" panose="020B0609020204030204" pitchFamily="49" charset="0"/>
              </a:rPr>
              <a:t> 1.1.1.3 (1.1.1.3)</a:t>
            </a:r>
          </a:p>
          <a:p>
            <a:r>
              <a:rPr lang="sk-SK" sz="1100" dirty="0">
                <a:latin typeface="Consolas" panose="020B0609020204030204" pitchFamily="49" charset="0"/>
              </a:rPr>
              <a:t>      </a:t>
            </a:r>
            <a:r>
              <a:rPr lang="sk-SK" sz="1100" dirty="0" err="1">
                <a:latin typeface="Consolas" panose="020B0609020204030204" pitchFamily="49" charset="0"/>
              </a:rPr>
              <a:t>Origin</a:t>
            </a:r>
            <a:r>
              <a:rPr lang="sk-SK" sz="1100" dirty="0">
                <a:latin typeface="Consolas" panose="020B0609020204030204" pitchFamily="49" charset="0"/>
              </a:rPr>
              <a:t> </a:t>
            </a:r>
            <a:r>
              <a:rPr lang="sk-SK" sz="1100" dirty="0" err="1">
                <a:latin typeface="Consolas" panose="020B0609020204030204" pitchFamily="49" charset="0"/>
              </a:rPr>
              <a:t>IGP</a:t>
            </a:r>
            <a:r>
              <a:rPr lang="sk-SK" sz="1100" dirty="0">
                <a:latin typeface="Consolas" panose="020B0609020204030204" pitchFamily="49" charset="0"/>
              </a:rPr>
              <a:t>, </a:t>
            </a:r>
            <a:r>
              <a:rPr lang="sk-SK" sz="1100" dirty="0" err="1">
                <a:latin typeface="Consolas" panose="020B0609020204030204" pitchFamily="49" charset="0"/>
              </a:rPr>
              <a:t>metric</a:t>
            </a:r>
            <a:r>
              <a:rPr lang="sk-SK" sz="1100" dirty="0">
                <a:latin typeface="Consolas" panose="020B0609020204030204" pitchFamily="49" charset="0"/>
              </a:rPr>
              <a:t> 0, localpref 100, </a:t>
            </a:r>
            <a:r>
              <a:rPr lang="sk-SK" sz="1100" dirty="0" err="1">
                <a:latin typeface="Consolas" panose="020B0609020204030204" pitchFamily="49" charset="0"/>
              </a:rPr>
              <a:t>valid</a:t>
            </a:r>
            <a:r>
              <a:rPr lang="sk-SK" sz="1100" dirty="0">
                <a:latin typeface="Consolas" panose="020B0609020204030204" pitchFamily="49" charset="0"/>
              </a:rPr>
              <a:t>, </a:t>
            </a:r>
            <a:r>
              <a:rPr lang="sk-SK" sz="1100" dirty="0" err="1">
                <a:latin typeface="Consolas" panose="020B0609020204030204" pitchFamily="49" charset="0"/>
              </a:rPr>
              <a:t>internal</a:t>
            </a:r>
            <a:r>
              <a:rPr lang="sk-SK" sz="1100" dirty="0">
                <a:latin typeface="Consolas" panose="020B0609020204030204" pitchFamily="49" charset="0"/>
              </a:rPr>
              <a:t>, </a:t>
            </a:r>
            <a:r>
              <a:rPr lang="sk-SK" sz="1100" dirty="0" err="1">
                <a:latin typeface="Consolas" panose="020B0609020204030204" pitchFamily="49" charset="0"/>
              </a:rPr>
              <a:t>best</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Extended</a:t>
            </a:r>
            <a:r>
              <a:rPr lang="sk-SK" sz="1100" dirty="0">
                <a:latin typeface="Consolas" panose="020B0609020204030204" pitchFamily="49" charset="0"/>
              </a:rPr>
              <a:t> </a:t>
            </a:r>
            <a:r>
              <a:rPr lang="sk-SK" sz="1100" dirty="0" err="1">
                <a:latin typeface="Consolas" panose="020B0609020204030204" pitchFamily="49" charset="0"/>
              </a:rPr>
              <a:t>Community</a:t>
            </a:r>
            <a:r>
              <a:rPr lang="sk-SK" sz="1100" dirty="0">
                <a:latin typeface="Consolas" panose="020B0609020204030204" pitchFamily="49" charset="0"/>
              </a:rPr>
              <a:t>: </a:t>
            </a:r>
            <a:r>
              <a:rPr lang="sk-SK" sz="1100" dirty="0" err="1">
                <a:latin typeface="Consolas" panose="020B0609020204030204" pitchFamily="49" charset="0"/>
              </a:rPr>
              <a:t>RT:65000:1</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Originator</a:t>
            </a:r>
            <a:r>
              <a:rPr lang="sk-SK" sz="1100" dirty="0">
                <a:latin typeface="Consolas" panose="020B0609020204030204" pitchFamily="49" charset="0"/>
              </a:rPr>
              <a:t>: 1.1.1.1, </a:t>
            </a:r>
            <a:r>
              <a:rPr lang="sk-SK" sz="1100" dirty="0" err="1">
                <a:latin typeface="Consolas" panose="020B0609020204030204" pitchFamily="49" charset="0"/>
              </a:rPr>
              <a:t>Cluster</a:t>
            </a:r>
            <a:r>
              <a:rPr lang="sk-SK" sz="1100" dirty="0">
                <a:latin typeface="Consolas" panose="020B0609020204030204" pitchFamily="49" charset="0"/>
              </a:rPr>
              <a:t> list: 0.0.0.100</a:t>
            </a:r>
          </a:p>
          <a:p>
            <a:r>
              <a:rPr lang="sk-SK" sz="1100" dirty="0">
                <a:latin typeface="Consolas" panose="020B0609020204030204" pitchFamily="49" charset="0"/>
              </a:rPr>
              <a:t>      mpls </a:t>
            </a:r>
            <a:r>
              <a:rPr lang="sk-SK" sz="1100" dirty="0" err="1">
                <a:latin typeface="Consolas" panose="020B0609020204030204" pitchFamily="49" charset="0"/>
              </a:rPr>
              <a:t>labels</a:t>
            </a:r>
            <a:r>
              <a:rPr lang="sk-SK" sz="1100" dirty="0">
                <a:latin typeface="Consolas" panose="020B0609020204030204" pitchFamily="49" charset="0"/>
              </a:rPr>
              <a:t> in/</a:t>
            </a:r>
            <a:r>
              <a:rPr lang="sk-SK" sz="1100" dirty="0" err="1">
                <a:latin typeface="Consolas" panose="020B0609020204030204" pitchFamily="49" charset="0"/>
              </a:rPr>
              <a:t>out</a:t>
            </a:r>
            <a:r>
              <a:rPr lang="sk-SK" sz="1100" dirty="0">
                <a:latin typeface="Consolas" panose="020B0609020204030204" pitchFamily="49" charset="0"/>
              </a:rPr>
              <a:t> nolabel/</a:t>
            </a:r>
            <a:r>
              <a:rPr lang="sk-SK" sz="1100" dirty="0">
                <a:highlight>
                  <a:srgbClr val="00FFFF"/>
                </a:highlight>
                <a:latin typeface="Consolas" panose="020B0609020204030204" pitchFamily="49" charset="0"/>
              </a:rPr>
              <a:t>24011</a:t>
            </a:r>
          </a:p>
          <a:p>
            <a:r>
              <a:rPr lang="sk-SK" sz="1100" dirty="0">
                <a:latin typeface="Consolas" panose="020B0609020204030204" pitchFamily="49" charset="0"/>
              </a:rPr>
              <a:t>      </a:t>
            </a:r>
            <a:r>
              <a:rPr lang="sk-SK" sz="1100" dirty="0" err="1">
                <a:latin typeface="Consolas" panose="020B0609020204030204" pitchFamily="49" charset="0"/>
              </a:rPr>
              <a:t>rx</a:t>
            </a:r>
            <a:r>
              <a:rPr lang="sk-SK" sz="1100" dirty="0">
                <a:latin typeface="Consolas" panose="020B0609020204030204" pitchFamily="49" charset="0"/>
              </a:rPr>
              <a:t> </a:t>
            </a:r>
            <a:r>
              <a:rPr lang="sk-SK" sz="1100" dirty="0" err="1">
                <a:latin typeface="Consolas" panose="020B0609020204030204" pitchFamily="49" charset="0"/>
              </a:rPr>
              <a:t>pathid</a:t>
            </a:r>
            <a:r>
              <a:rPr lang="sk-SK" sz="1100" dirty="0">
                <a:latin typeface="Consolas" panose="020B0609020204030204" pitchFamily="49" charset="0"/>
              </a:rPr>
              <a:t>: 0, </a:t>
            </a:r>
            <a:r>
              <a:rPr lang="sk-SK" sz="1100" dirty="0" err="1">
                <a:latin typeface="Consolas" panose="020B0609020204030204" pitchFamily="49" charset="0"/>
              </a:rPr>
              <a:t>tx</a:t>
            </a:r>
            <a:r>
              <a:rPr lang="sk-SK" sz="1100" dirty="0">
                <a:latin typeface="Consolas" panose="020B0609020204030204" pitchFamily="49" charset="0"/>
              </a:rPr>
              <a:t> </a:t>
            </a:r>
            <a:r>
              <a:rPr lang="sk-SK" sz="1100" dirty="0" err="1">
                <a:latin typeface="Consolas" panose="020B0609020204030204" pitchFamily="49" charset="0"/>
              </a:rPr>
              <a:t>pathid</a:t>
            </a:r>
            <a:r>
              <a:rPr lang="sk-SK" sz="1100" dirty="0">
                <a:latin typeface="Consolas" panose="020B0609020204030204" pitchFamily="49" charset="0"/>
              </a:rPr>
              <a:t>: </a:t>
            </a:r>
            <a:r>
              <a:rPr lang="sk-SK" sz="1100" dirty="0" err="1">
                <a:latin typeface="Consolas" panose="020B0609020204030204" pitchFamily="49" charset="0"/>
              </a:rPr>
              <a:t>0x0</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Updated</a:t>
            </a:r>
            <a:r>
              <a:rPr lang="sk-SK" sz="1100" dirty="0">
                <a:latin typeface="Consolas" panose="020B0609020204030204" pitchFamily="49" charset="0"/>
              </a:rPr>
              <a:t> on May 12 2025 13:45:20 </a:t>
            </a:r>
            <a:r>
              <a:rPr lang="sk-SK" sz="1100" dirty="0" err="1">
                <a:latin typeface="Consolas" panose="020B0609020204030204" pitchFamily="49" charset="0"/>
              </a:rPr>
              <a:t>UTC</a:t>
            </a:r>
            <a:endParaRPr lang="sk-SK" sz="1100" dirty="0">
              <a:latin typeface="Consolas" panose="020B0609020204030204" pitchFamily="49" charset="0"/>
            </a:endParaRPr>
          </a:p>
          <a:p>
            <a:r>
              <a:rPr lang="sk-SK" sz="1100" dirty="0" err="1">
                <a:latin typeface="Consolas" panose="020B0609020204030204" pitchFamily="49" charset="0"/>
              </a:rPr>
              <a:t>R31#sh</a:t>
            </a:r>
            <a:r>
              <a:rPr lang="sk-SK" sz="1100" dirty="0">
                <a:latin typeface="Consolas" panose="020B0609020204030204" pitchFamily="49" charset="0"/>
              </a:rPr>
              <a:t> ip cef vrf A 10.0.1.0</a:t>
            </a:r>
          </a:p>
          <a:p>
            <a:r>
              <a:rPr lang="sk-SK" sz="1100" dirty="0">
                <a:latin typeface="Consolas" panose="020B0609020204030204" pitchFamily="49" charset="0"/>
              </a:rPr>
              <a:t>10.0.1.0/24</a:t>
            </a:r>
          </a:p>
          <a:p>
            <a:r>
              <a:rPr lang="sk-SK" sz="1100" dirty="0">
                <a:latin typeface="Consolas" panose="020B0609020204030204" pitchFamily="49" charset="0"/>
              </a:rPr>
              <a:t>  </a:t>
            </a:r>
            <a:r>
              <a:rPr lang="sk-SK" sz="1100" dirty="0" err="1">
                <a:latin typeface="Consolas" panose="020B0609020204030204" pitchFamily="49" charset="0"/>
              </a:rPr>
              <a:t>nexthop</a:t>
            </a:r>
            <a:r>
              <a:rPr lang="sk-SK" sz="1100" dirty="0">
                <a:latin typeface="Consolas" panose="020B0609020204030204" pitchFamily="49" charset="0"/>
              </a:rPr>
              <a:t> 64.31.32.32 </a:t>
            </a:r>
            <a:r>
              <a:rPr lang="sk-SK" sz="1100" dirty="0" err="1">
                <a:latin typeface="Consolas" panose="020B0609020204030204" pitchFamily="49" charset="0"/>
              </a:rPr>
              <a:t>GigabitEthernet1</a:t>
            </a:r>
            <a:r>
              <a:rPr lang="sk-SK" sz="1100" dirty="0">
                <a:latin typeface="Consolas" panose="020B0609020204030204" pitchFamily="49" charset="0"/>
              </a:rPr>
              <a:t> </a:t>
            </a:r>
            <a:r>
              <a:rPr lang="sk-SK" sz="1100" dirty="0" err="1">
                <a:latin typeface="Consolas" panose="020B0609020204030204" pitchFamily="49" charset="0"/>
              </a:rPr>
              <a:t>label</a:t>
            </a:r>
            <a:r>
              <a:rPr lang="sk-SK" sz="1100" dirty="0">
                <a:latin typeface="Consolas" panose="020B0609020204030204" pitchFamily="49" charset="0"/>
              </a:rPr>
              <a:t> [23|</a:t>
            </a:r>
            <a:r>
              <a:rPr lang="sk-SK" sz="1100" dirty="0">
                <a:highlight>
                  <a:srgbClr val="FF0000"/>
                </a:highlight>
                <a:latin typeface="Consolas" panose="020B0609020204030204" pitchFamily="49" charset="0"/>
              </a:rPr>
              <a:t>24017</a:t>
            </a:r>
            <a:r>
              <a:rPr lang="sk-SK" sz="1100" dirty="0">
                <a:latin typeface="Consolas" panose="020B0609020204030204" pitchFamily="49" charset="0"/>
              </a:rPr>
              <a:t>](</a:t>
            </a:r>
            <a:r>
              <a:rPr lang="sk-SK" sz="1100" dirty="0" err="1">
                <a:latin typeface="Consolas" panose="020B0609020204030204" pitchFamily="49" charset="0"/>
              </a:rPr>
              <a:t>ptr:0x7251E0EEC408</a:t>
            </a:r>
            <a:r>
              <a:rPr lang="sk-SK" sz="1100" dirty="0">
                <a:latin typeface="Consolas" panose="020B0609020204030204" pitchFamily="49" charset="0"/>
              </a:rPr>
              <a:t>)-(</a:t>
            </a:r>
            <a:r>
              <a:rPr lang="sk-SK" sz="1100" dirty="0" err="1">
                <a:latin typeface="Consolas" panose="020B0609020204030204" pitchFamily="49" charset="0"/>
              </a:rPr>
              <a:t>local:32</a:t>
            </a:r>
            <a:r>
              <a:rPr lang="sk-SK" sz="1100" dirty="0">
                <a:latin typeface="Consolas" panose="020B0609020204030204" pitchFamily="49" charset="0"/>
              </a:rPr>
              <a:t>) </a:t>
            </a:r>
            <a:r>
              <a:rPr lang="sk-SK" sz="1100" dirty="0">
                <a:highlight>
                  <a:srgbClr val="00FFFF"/>
                </a:highlight>
                <a:latin typeface="Consolas" panose="020B0609020204030204" pitchFamily="49" charset="0"/>
              </a:rPr>
              <a:t>24011</a:t>
            </a:r>
          </a:p>
          <a:p>
            <a:r>
              <a:rPr lang="sk-SK" sz="1100" dirty="0">
                <a:latin typeface="Consolas" panose="020B0609020204030204" pitchFamily="49" charset="0"/>
              </a:rPr>
              <a:t>    </a:t>
            </a:r>
            <a:r>
              <a:rPr lang="sk-SK" sz="1100" dirty="0" err="1">
                <a:latin typeface="Consolas" panose="020B0609020204030204" pitchFamily="49" charset="0"/>
              </a:rPr>
              <a:t>repair</a:t>
            </a:r>
            <a:r>
              <a:rPr lang="sk-SK" sz="1100" dirty="0">
                <a:latin typeface="Consolas" panose="020B0609020204030204" pitchFamily="49" charset="0"/>
              </a:rPr>
              <a:t>: </a:t>
            </a:r>
            <a:r>
              <a:rPr lang="sk-SK" sz="1100" dirty="0" err="1">
                <a:latin typeface="Consolas" panose="020B0609020204030204" pitchFamily="49" charset="0"/>
              </a:rPr>
              <a:t>attached-nexthop</a:t>
            </a:r>
            <a:r>
              <a:rPr lang="sk-SK" sz="1100" dirty="0">
                <a:latin typeface="Consolas" panose="020B0609020204030204" pitchFamily="49" charset="0"/>
              </a:rPr>
              <a:t> 64.2.31.2 </a:t>
            </a:r>
            <a:r>
              <a:rPr lang="sk-SK" sz="1100" dirty="0" err="1">
                <a:latin typeface="Consolas" panose="020B0609020204030204" pitchFamily="49" charset="0"/>
              </a:rPr>
              <a:t>GigabitEthernet6</a:t>
            </a:r>
            <a:endParaRPr lang="sk-SK" sz="1100" dirty="0">
              <a:latin typeface="Consolas" panose="020B0609020204030204" pitchFamily="49" charset="0"/>
            </a:endParaRPr>
          </a:p>
          <a:p>
            <a:r>
              <a:rPr lang="sk-SK" sz="1100" dirty="0" err="1">
                <a:latin typeface="Consolas" panose="020B0609020204030204" pitchFamily="49" charset="0"/>
              </a:rPr>
              <a:t>R31</a:t>
            </a:r>
            <a:r>
              <a:rPr lang="sk-SK" sz="1100" dirty="0">
                <a:latin typeface="Consolas" panose="020B0609020204030204" pitchFamily="49" charset="0"/>
              </a:rPr>
              <a:t>#</a:t>
            </a:r>
            <a:endParaRPr lang="en-US" sz="1100" dirty="0">
              <a:latin typeface="Consolas" panose="020B0609020204030204" pitchFamily="49" charset="0"/>
            </a:endParaRPr>
          </a:p>
          <a:p>
            <a:r>
              <a:rPr lang="sk-SK" sz="1100" dirty="0" err="1">
                <a:latin typeface="Consolas" panose="020B0609020204030204" pitchFamily="49" charset="0"/>
              </a:rPr>
              <a:t>R31#</a:t>
            </a:r>
            <a:r>
              <a:rPr lang="sk-SK" sz="1100" b="1" dirty="0" err="1">
                <a:latin typeface="Consolas" panose="020B0609020204030204" pitchFamily="49" charset="0"/>
              </a:rPr>
              <a:t>sh</a:t>
            </a:r>
            <a:r>
              <a:rPr lang="sk-SK" sz="1100" b="1" dirty="0">
                <a:latin typeface="Consolas" panose="020B0609020204030204" pitchFamily="49" charset="0"/>
              </a:rPr>
              <a:t> ip cef </a:t>
            </a:r>
            <a:r>
              <a:rPr lang="sk-SK" sz="1100" b="1" dirty="0">
                <a:highlight>
                  <a:srgbClr val="FF0000"/>
                </a:highlight>
                <a:latin typeface="Consolas" panose="020B0609020204030204" pitchFamily="49" charset="0"/>
              </a:rPr>
              <a:t>1.1.1.1</a:t>
            </a:r>
            <a:r>
              <a:rPr lang="sk-SK" sz="1100" b="1" dirty="0">
                <a:latin typeface="Consolas" panose="020B0609020204030204" pitchFamily="49" charset="0"/>
              </a:rPr>
              <a:t>       </a:t>
            </a:r>
          </a:p>
          <a:p>
            <a:r>
              <a:rPr lang="sk-SK" sz="1100" dirty="0">
                <a:latin typeface="Consolas" panose="020B0609020204030204" pitchFamily="49" charset="0"/>
              </a:rPr>
              <a:t>1.1.1.1/32</a:t>
            </a:r>
          </a:p>
          <a:p>
            <a:r>
              <a:rPr lang="sk-SK" sz="1100" dirty="0">
                <a:latin typeface="Consolas" panose="020B0609020204030204" pitchFamily="49" charset="0"/>
              </a:rPr>
              <a:t>  </a:t>
            </a:r>
            <a:r>
              <a:rPr lang="sk-SK" sz="1100" dirty="0" err="1">
                <a:latin typeface="Consolas" panose="020B0609020204030204" pitchFamily="49" charset="0"/>
              </a:rPr>
              <a:t>nexthop</a:t>
            </a:r>
            <a:r>
              <a:rPr lang="sk-SK" sz="1100" dirty="0">
                <a:latin typeface="Consolas" panose="020B0609020204030204" pitchFamily="49" charset="0"/>
              </a:rPr>
              <a:t> 64.31.32.32 </a:t>
            </a:r>
            <a:r>
              <a:rPr lang="sk-SK" sz="1100" dirty="0" err="1">
                <a:latin typeface="Consolas" panose="020B0609020204030204" pitchFamily="49" charset="0"/>
              </a:rPr>
              <a:t>GigabitEthernet1</a:t>
            </a:r>
            <a:r>
              <a:rPr lang="sk-SK" sz="1100" dirty="0">
                <a:latin typeface="Consolas" panose="020B0609020204030204" pitchFamily="49" charset="0"/>
              </a:rPr>
              <a:t> </a:t>
            </a:r>
            <a:r>
              <a:rPr lang="sk-SK" sz="1100" dirty="0" err="1">
                <a:latin typeface="Consolas" panose="020B0609020204030204" pitchFamily="49" charset="0"/>
              </a:rPr>
              <a:t>label</a:t>
            </a:r>
            <a:r>
              <a:rPr lang="sk-SK" sz="1100" dirty="0">
                <a:latin typeface="Consolas" panose="020B0609020204030204" pitchFamily="49" charset="0"/>
              </a:rPr>
              <a:t> [23|</a:t>
            </a:r>
            <a:r>
              <a:rPr lang="sk-SK" sz="1100" dirty="0">
                <a:highlight>
                  <a:srgbClr val="FF0000"/>
                </a:highlight>
                <a:latin typeface="Consolas" panose="020B0609020204030204" pitchFamily="49" charset="0"/>
              </a:rPr>
              <a:t>24017</a:t>
            </a:r>
            <a:r>
              <a:rPr lang="sk-SK" sz="1100" dirty="0">
                <a:latin typeface="Consolas" panose="020B0609020204030204" pitchFamily="49" charset="0"/>
              </a:rPr>
              <a:t>](</a:t>
            </a:r>
            <a:r>
              <a:rPr lang="sk-SK" sz="1100" dirty="0" err="1">
                <a:latin typeface="Consolas" panose="020B0609020204030204" pitchFamily="49" charset="0"/>
              </a:rPr>
              <a:t>ptr:0x7251E0EEC408</a:t>
            </a:r>
            <a:r>
              <a:rPr lang="sk-SK" sz="1100" dirty="0">
                <a:latin typeface="Consolas" panose="020B0609020204030204" pitchFamily="49" charset="0"/>
              </a:rPr>
              <a:t>)-(</a:t>
            </a:r>
            <a:r>
              <a:rPr lang="sk-SK" sz="1100" dirty="0" err="1">
                <a:latin typeface="Consolas" panose="020B0609020204030204" pitchFamily="49" charset="0"/>
              </a:rPr>
              <a:t>local:32</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repair</a:t>
            </a:r>
            <a:r>
              <a:rPr lang="sk-SK" sz="1100" dirty="0">
                <a:latin typeface="Consolas" panose="020B0609020204030204" pitchFamily="49" charset="0"/>
              </a:rPr>
              <a:t>: </a:t>
            </a:r>
            <a:r>
              <a:rPr lang="sk-SK" sz="1100" dirty="0" err="1">
                <a:latin typeface="Consolas" panose="020B0609020204030204" pitchFamily="49" charset="0"/>
              </a:rPr>
              <a:t>attached-nexthop</a:t>
            </a:r>
            <a:r>
              <a:rPr lang="sk-SK" sz="1100" dirty="0">
                <a:latin typeface="Consolas" panose="020B0609020204030204" pitchFamily="49" charset="0"/>
              </a:rPr>
              <a:t> 64.2.31.2 </a:t>
            </a:r>
            <a:r>
              <a:rPr lang="sk-SK" sz="1100" dirty="0" err="1">
                <a:latin typeface="Consolas" panose="020B0609020204030204" pitchFamily="49" charset="0"/>
              </a:rPr>
              <a:t>GigabitEthernet6</a:t>
            </a:r>
            <a:endParaRPr lang="sk-SK" sz="1100" dirty="0">
              <a:latin typeface="Consolas" panose="020B0609020204030204" pitchFamily="49" charset="0"/>
            </a:endParaRPr>
          </a:p>
          <a:p>
            <a:r>
              <a:rPr lang="sk-SK" sz="1100" dirty="0" err="1">
                <a:latin typeface="Consolas" panose="020B0609020204030204" pitchFamily="49" charset="0"/>
              </a:rPr>
              <a:t>R31</a:t>
            </a:r>
            <a:r>
              <a:rPr lang="sk-SK" sz="1100" dirty="0">
                <a:latin typeface="Consolas" panose="020B0609020204030204" pitchFamily="49" charset="0"/>
              </a:rPr>
              <a:t>#</a:t>
            </a:r>
            <a:endParaRPr lang="en-US" sz="1100" dirty="0">
              <a:latin typeface="Consolas" panose="020B0609020204030204" pitchFamily="49" charset="0"/>
            </a:endParaRPr>
          </a:p>
          <a:p>
            <a:r>
              <a:rPr lang="en-US" sz="1100" dirty="0" err="1">
                <a:latin typeface="Consolas" panose="020B0609020204030204" pitchFamily="49" charset="0"/>
              </a:rPr>
              <a:t>R31#</a:t>
            </a:r>
            <a:r>
              <a:rPr lang="en-US" sz="1100" b="1" dirty="0" err="1">
                <a:latin typeface="Consolas" panose="020B0609020204030204" pitchFamily="49" charset="0"/>
              </a:rPr>
              <a:t>sh</a:t>
            </a:r>
            <a:r>
              <a:rPr lang="en-US" sz="1100" b="1" dirty="0">
                <a:latin typeface="Consolas" panose="020B0609020204030204" pitchFamily="49" charset="0"/>
              </a:rPr>
              <a:t> mpls forwarding-table </a:t>
            </a:r>
          </a:p>
          <a:p>
            <a:r>
              <a:rPr lang="en-US" sz="1100" dirty="0">
                <a:latin typeface="Consolas" panose="020B0609020204030204" pitchFamily="49" charset="0"/>
              </a:rPr>
              <a:t>Local      Outgoing   Prefix           Bytes Label   Outgoing   Next Hop    </a:t>
            </a:r>
          </a:p>
          <a:p>
            <a:r>
              <a:rPr lang="en-US" sz="1100" dirty="0">
                <a:latin typeface="Consolas" panose="020B0609020204030204" pitchFamily="49" charset="0"/>
              </a:rPr>
              <a:t>Label      Label      or Tunnel Id     Switched      interface              </a:t>
            </a:r>
          </a:p>
          <a:p>
            <a:r>
              <a:rPr lang="en-US" sz="1100" dirty="0">
                <a:latin typeface="Consolas" panose="020B0609020204030204" pitchFamily="49" charset="0"/>
              </a:rPr>
              <a:t>-- cut --</a:t>
            </a:r>
          </a:p>
          <a:p>
            <a:r>
              <a:rPr lang="en-US" sz="1100" dirty="0">
                <a:highlight>
                  <a:srgbClr val="808000"/>
                </a:highlight>
                <a:latin typeface="Consolas" panose="020B0609020204030204" pitchFamily="49" charset="0"/>
              </a:rPr>
              <a:t>22</a:t>
            </a:r>
            <a:r>
              <a:rPr lang="en-US" sz="1100" dirty="0">
                <a:latin typeface="Consolas" panose="020B0609020204030204" pitchFamily="49" charset="0"/>
              </a:rPr>
              <a:t>         No Label   10.0.31.0/24[V]  1710          </a:t>
            </a:r>
            <a:r>
              <a:rPr lang="en-US" sz="1100" dirty="0" err="1">
                <a:latin typeface="Consolas" panose="020B0609020204030204" pitchFamily="49" charset="0"/>
              </a:rPr>
              <a:t>BD1</a:t>
            </a:r>
            <a:r>
              <a:rPr lang="en-US" sz="1100" dirty="0">
                <a:latin typeface="Consolas" panose="020B0609020204030204" pitchFamily="49" charset="0"/>
              </a:rPr>
              <a:t>        10.64.31.2  </a:t>
            </a:r>
          </a:p>
          <a:p>
            <a:r>
              <a:rPr lang="en-US" sz="1100" dirty="0">
                <a:latin typeface="Consolas" panose="020B0609020204030204" pitchFamily="49" charset="0"/>
              </a:rPr>
              <a:t>-- cut --</a:t>
            </a:r>
          </a:p>
        </p:txBody>
      </p:sp>
    </p:spTree>
    <p:extLst>
      <p:ext uri="{BB962C8B-B14F-4D97-AF65-F5344CB8AC3E}">
        <p14:creationId xmlns:p14="http://schemas.microsoft.com/office/powerpoint/2010/main" val="419980893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9458E76-A59B-D371-F03C-B08C9428B679}"/>
              </a:ext>
            </a:extLst>
          </p:cNvPr>
          <p:cNvSpPr>
            <a:spLocks noGrp="1"/>
          </p:cNvSpPr>
          <p:nvPr>
            <p:ph type="body" sz="quarter" idx="10"/>
          </p:nvPr>
        </p:nvSpPr>
        <p:spPr/>
        <p:txBody>
          <a:bodyPr/>
          <a:lstStyle/>
          <a:p>
            <a:r>
              <a:rPr lang="en-US" sz="2000" dirty="0"/>
              <a:t>L3VPN BGP advertisement from </a:t>
            </a:r>
            <a:r>
              <a:rPr lang="en-US" sz="2000" dirty="0" err="1"/>
              <a:t>R01</a:t>
            </a:r>
            <a:r>
              <a:rPr lang="en-US" sz="2000" dirty="0"/>
              <a:t> (CE01 subnet) visible on </a:t>
            </a:r>
            <a:r>
              <a:rPr lang="en-US" sz="2000" dirty="0" err="1"/>
              <a:t>R04</a:t>
            </a:r>
            <a:r>
              <a:rPr lang="en-US" sz="2000" dirty="0"/>
              <a:t> SRv6(/MPLS)</a:t>
            </a:r>
          </a:p>
        </p:txBody>
      </p:sp>
      <p:sp>
        <p:nvSpPr>
          <p:cNvPr id="3" name="Text Placeholder 2">
            <a:extLst>
              <a:ext uri="{FF2B5EF4-FFF2-40B4-BE49-F238E27FC236}">
                <a16:creationId xmlns:a16="http://schemas.microsoft.com/office/drawing/2014/main" id="{27912DA7-80A6-6CC6-3A11-1F6B84535C3E}"/>
              </a:ext>
            </a:extLst>
          </p:cNvPr>
          <p:cNvSpPr>
            <a:spLocks noGrp="1"/>
          </p:cNvSpPr>
          <p:nvPr>
            <p:ph type="body" sz="quarter" idx="11"/>
          </p:nvPr>
        </p:nvSpPr>
        <p:spPr/>
        <p:txBody>
          <a:bodyPr/>
          <a:lstStyle/>
          <a:p>
            <a:r>
              <a:rPr lang="en-US" dirty="0"/>
              <a:t>Dual connected PE – config example #5 (</a:t>
            </a:r>
            <a:r>
              <a:rPr lang="en-US" dirty="0" err="1"/>
              <a:t>R04</a:t>
            </a:r>
            <a:r>
              <a:rPr lang="en-US" dirty="0"/>
              <a:t>)</a:t>
            </a:r>
          </a:p>
        </p:txBody>
      </p:sp>
      <p:sp>
        <p:nvSpPr>
          <p:cNvPr id="4" name="Rectangle 3">
            <a:extLst>
              <a:ext uri="{FF2B5EF4-FFF2-40B4-BE49-F238E27FC236}">
                <a16:creationId xmlns:a16="http://schemas.microsoft.com/office/drawing/2014/main" id="{5F84F5C3-689F-B9D9-EF3B-154545F5E80D}"/>
              </a:ext>
            </a:extLst>
          </p:cNvPr>
          <p:cNvSpPr/>
          <p:nvPr/>
        </p:nvSpPr>
        <p:spPr>
          <a:xfrm>
            <a:off x="0" y="1338175"/>
            <a:ext cx="6814457" cy="5001369"/>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RP/0/RP0/</a:t>
            </a:r>
            <a:r>
              <a:rPr lang="sk-SK" sz="1100" dirty="0" err="1">
                <a:latin typeface="Consolas" panose="020B0609020204030204" pitchFamily="49" charset="0"/>
              </a:rPr>
              <a:t>CPU0:R04#</a:t>
            </a:r>
            <a:r>
              <a:rPr lang="sk-SK" sz="1100" b="1" dirty="0" err="1">
                <a:latin typeface="Consolas" panose="020B0609020204030204" pitchFamily="49" charset="0"/>
              </a:rPr>
              <a:t>sh</a:t>
            </a:r>
            <a:r>
              <a:rPr lang="sk-SK" sz="1100" b="1" dirty="0">
                <a:latin typeface="Consolas" panose="020B0609020204030204" pitchFamily="49" charset="0"/>
              </a:rPr>
              <a:t> bgp </a:t>
            </a:r>
            <a:r>
              <a:rPr lang="sk-SK" sz="1100" b="1" dirty="0" err="1">
                <a:latin typeface="Consolas" panose="020B0609020204030204" pitchFamily="49" charset="0"/>
              </a:rPr>
              <a:t>vpnv4</a:t>
            </a:r>
            <a:r>
              <a:rPr lang="sk-SK" sz="1100" b="1" dirty="0">
                <a:latin typeface="Consolas" panose="020B0609020204030204" pitchFamily="49" charset="0"/>
              </a:rPr>
              <a:t> </a:t>
            </a:r>
            <a:r>
              <a:rPr lang="sk-SK" sz="1100" b="1" dirty="0" err="1">
                <a:latin typeface="Consolas" panose="020B0609020204030204" pitchFamily="49" charset="0"/>
              </a:rPr>
              <a:t>unicast</a:t>
            </a:r>
            <a:r>
              <a:rPr lang="sk-SK" sz="1100" b="1" dirty="0">
                <a:latin typeface="Consolas" panose="020B0609020204030204" pitchFamily="49" charset="0"/>
              </a:rPr>
              <a:t> vrf A 10.0.1.0/24    </a:t>
            </a:r>
            <a:r>
              <a:rPr lang="en-US" sz="1100" dirty="0">
                <a:highlight>
                  <a:srgbClr val="00FF00"/>
                </a:highlight>
                <a:latin typeface="Consolas" panose="020B0609020204030204" pitchFamily="49" charset="0"/>
              </a:rPr>
              <a:t>RECEIVED on remote router</a:t>
            </a:r>
            <a:endParaRPr lang="sk-SK" sz="1100" dirty="0">
              <a:latin typeface="Consolas" panose="020B0609020204030204" pitchFamily="49" charset="0"/>
            </a:endParaRPr>
          </a:p>
          <a:p>
            <a:r>
              <a:rPr lang="sk-SK" sz="1100" dirty="0">
                <a:latin typeface="Consolas" panose="020B0609020204030204" pitchFamily="49" charset="0"/>
              </a:rPr>
              <a:t>BGP routing table </a:t>
            </a:r>
            <a:r>
              <a:rPr lang="sk-SK" sz="1100" dirty="0" err="1">
                <a:latin typeface="Consolas" panose="020B0609020204030204" pitchFamily="49" charset="0"/>
              </a:rPr>
              <a:t>entry</a:t>
            </a:r>
            <a:r>
              <a:rPr lang="sk-SK" sz="1100" dirty="0">
                <a:latin typeface="Consolas" panose="020B0609020204030204" pitchFamily="49" charset="0"/>
              </a:rPr>
              <a:t> </a:t>
            </a:r>
            <a:r>
              <a:rPr lang="sk-SK" sz="1100" dirty="0" err="1">
                <a:latin typeface="Consolas" panose="020B0609020204030204" pitchFamily="49" charset="0"/>
              </a:rPr>
              <a:t>for</a:t>
            </a:r>
            <a:r>
              <a:rPr lang="sk-SK" sz="1100" dirty="0">
                <a:latin typeface="Consolas" panose="020B0609020204030204" pitchFamily="49" charset="0"/>
              </a:rPr>
              <a:t> 10.0.1.0/24, </a:t>
            </a:r>
            <a:r>
              <a:rPr lang="sk-SK" sz="1100" dirty="0" err="1">
                <a:latin typeface="Consolas" panose="020B0609020204030204" pitchFamily="49" charset="0"/>
              </a:rPr>
              <a:t>Route</a:t>
            </a:r>
            <a:r>
              <a:rPr lang="sk-SK" sz="1100" dirty="0">
                <a:latin typeface="Consolas" panose="020B0609020204030204" pitchFamily="49" charset="0"/>
              </a:rPr>
              <a:t> </a:t>
            </a:r>
            <a:r>
              <a:rPr lang="sk-SK" sz="1100" dirty="0" err="1">
                <a:latin typeface="Consolas" panose="020B0609020204030204" pitchFamily="49" charset="0"/>
              </a:rPr>
              <a:t>Distinguisher</a:t>
            </a:r>
            <a:r>
              <a:rPr lang="sk-SK" sz="1100" dirty="0">
                <a:latin typeface="Consolas" panose="020B0609020204030204" pitchFamily="49" charset="0"/>
              </a:rPr>
              <a:t>: 65000:1</a:t>
            </a:r>
          </a:p>
          <a:p>
            <a:r>
              <a:rPr lang="en-US" sz="1100" dirty="0">
                <a:latin typeface="Consolas" panose="020B0609020204030204" pitchFamily="49" charset="0"/>
              </a:rPr>
              <a:t>-- cut --</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a:highlight>
                  <a:srgbClr val="00FFFF"/>
                </a:highlight>
                <a:latin typeface="Consolas" panose="020B0609020204030204" pitchFamily="49" charset="0"/>
              </a:rPr>
              <a:t>65001</a:t>
            </a:r>
          </a:p>
          <a:p>
            <a:r>
              <a:rPr lang="sk-SK" sz="1100" dirty="0">
                <a:latin typeface="Consolas" panose="020B0609020204030204" pitchFamily="49" charset="0"/>
              </a:rPr>
              <a:t>    </a:t>
            </a:r>
            <a:r>
              <a:rPr lang="sk-SK" sz="1100" dirty="0">
                <a:highlight>
                  <a:srgbClr val="00FFFF"/>
                </a:highlight>
                <a:latin typeface="Consolas" panose="020B0609020204030204" pitchFamily="49" charset="0"/>
              </a:rPr>
              <a:t>1.1.1.1 (</a:t>
            </a:r>
            <a:r>
              <a:rPr lang="sk-SK" sz="1100" dirty="0" err="1">
                <a:highlight>
                  <a:srgbClr val="00FFFF"/>
                </a:highlight>
                <a:latin typeface="Consolas" panose="020B0609020204030204" pitchFamily="49" charset="0"/>
              </a:rPr>
              <a:t>metric</a:t>
            </a:r>
            <a:r>
              <a:rPr lang="sk-SK" sz="1100" dirty="0">
                <a:highlight>
                  <a:srgbClr val="00FFFF"/>
                </a:highlight>
                <a:latin typeface="Consolas" panose="020B0609020204030204" pitchFamily="49" charset="0"/>
              </a:rPr>
              <a:t> 30) </a:t>
            </a:r>
            <a:r>
              <a:rPr lang="sk-SK" sz="1100" dirty="0" err="1">
                <a:highlight>
                  <a:srgbClr val="00FFFF"/>
                </a:highlight>
                <a:latin typeface="Consolas" panose="020B0609020204030204" pitchFamily="49" charset="0"/>
              </a:rPr>
              <a:t>from</a:t>
            </a:r>
            <a:r>
              <a:rPr lang="sk-SK" sz="1100" dirty="0">
                <a:highlight>
                  <a:srgbClr val="00FFFF"/>
                </a:highlight>
                <a:latin typeface="Consolas" panose="020B0609020204030204" pitchFamily="49" charset="0"/>
              </a:rPr>
              <a:t> 1.1.1.3 (1.1.1.1)</a:t>
            </a:r>
          </a:p>
          <a:p>
            <a:r>
              <a:rPr lang="sk-SK" sz="1100" dirty="0">
                <a:highlight>
                  <a:srgbClr val="00FFFF"/>
                </a:highlight>
                <a:latin typeface="Consolas" panose="020B0609020204030204" pitchFamily="49" charset="0"/>
              </a:rPr>
              <a:t>      </a:t>
            </a:r>
            <a:r>
              <a:rPr lang="sk-SK" sz="1100" dirty="0" err="1">
                <a:highlight>
                  <a:srgbClr val="00FFFF"/>
                </a:highlight>
                <a:latin typeface="Consolas" panose="020B0609020204030204" pitchFamily="49" charset="0"/>
              </a:rPr>
              <a:t>Received</a:t>
            </a:r>
            <a:r>
              <a:rPr lang="sk-SK" sz="1100" dirty="0">
                <a:highlight>
                  <a:srgbClr val="00FFFF"/>
                </a:highlight>
                <a:latin typeface="Consolas" panose="020B0609020204030204" pitchFamily="49" charset="0"/>
              </a:rPr>
              <a:t> </a:t>
            </a:r>
            <a:r>
              <a:rPr lang="sk-SK" sz="1100" dirty="0" err="1">
                <a:highlight>
                  <a:srgbClr val="00FFFF"/>
                </a:highlight>
                <a:latin typeface="Consolas" panose="020B0609020204030204" pitchFamily="49" charset="0"/>
              </a:rPr>
              <a:t>Label</a:t>
            </a:r>
            <a:r>
              <a:rPr lang="sk-SK" sz="1100" dirty="0">
                <a:highlight>
                  <a:srgbClr val="00FFFF"/>
                </a:highlight>
                <a:latin typeface="Consolas" panose="020B0609020204030204" pitchFamily="49" charset="0"/>
              </a:rPr>
              <a:t> 24011 </a:t>
            </a:r>
          </a:p>
          <a:p>
            <a:r>
              <a:rPr lang="sk-SK" sz="1100" dirty="0">
                <a:latin typeface="Consolas" panose="020B0609020204030204" pitchFamily="49" charset="0"/>
              </a:rPr>
              <a:t>      </a:t>
            </a:r>
            <a:r>
              <a:rPr lang="sk-SK" sz="1100" dirty="0" err="1">
                <a:latin typeface="Consolas" panose="020B0609020204030204" pitchFamily="49" charset="0"/>
              </a:rPr>
              <a:t>Origin</a:t>
            </a:r>
            <a:r>
              <a:rPr lang="sk-SK" sz="1100" dirty="0">
                <a:latin typeface="Consolas" panose="020B0609020204030204" pitchFamily="49" charset="0"/>
              </a:rPr>
              <a:t> </a:t>
            </a:r>
            <a:r>
              <a:rPr lang="sk-SK" sz="1100" dirty="0" err="1">
                <a:latin typeface="Consolas" panose="020B0609020204030204" pitchFamily="49" charset="0"/>
              </a:rPr>
              <a:t>IGP</a:t>
            </a:r>
            <a:r>
              <a:rPr lang="sk-SK" sz="1100" dirty="0">
                <a:latin typeface="Consolas" panose="020B0609020204030204" pitchFamily="49" charset="0"/>
              </a:rPr>
              <a:t>, </a:t>
            </a:r>
            <a:r>
              <a:rPr lang="sk-SK" sz="1100" dirty="0" err="1">
                <a:latin typeface="Consolas" panose="020B0609020204030204" pitchFamily="49" charset="0"/>
              </a:rPr>
              <a:t>metric</a:t>
            </a:r>
            <a:r>
              <a:rPr lang="sk-SK" sz="1100" dirty="0">
                <a:latin typeface="Consolas" panose="020B0609020204030204" pitchFamily="49" charset="0"/>
              </a:rPr>
              <a:t> 0, localpref 100, </a:t>
            </a:r>
            <a:r>
              <a:rPr lang="sk-SK" sz="1100" dirty="0" err="1">
                <a:latin typeface="Consolas" panose="020B0609020204030204" pitchFamily="49" charset="0"/>
              </a:rPr>
              <a:t>valid</a:t>
            </a:r>
            <a:r>
              <a:rPr lang="sk-SK" sz="1100" dirty="0">
                <a:latin typeface="Consolas" panose="020B0609020204030204" pitchFamily="49" charset="0"/>
              </a:rPr>
              <a:t>, </a:t>
            </a:r>
            <a:r>
              <a:rPr lang="sk-SK" sz="1100" dirty="0" err="1">
                <a:latin typeface="Consolas" panose="020B0609020204030204" pitchFamily="49" charset="0"/>
              </a:rPr>
              <a:t>internal</a:t>
            </a:r>
            <a:r>
              <a:rPr lang="sk-SK" sz="1100" dirty="0">
                <a:latin typeface="Consolas" panose="020B0609020204030204" pitchFamily="49" charset="0"/>
              </a:rPr>
              <a:t>, import-</a:t>
            </a:r>
            <a:r>
              <a:rPr lang="sk-SK" sz="1100" dirty="0" err="1">
                <a:latin typeface="Consolas" panose="020B0609020204030204" pitchFamily="49" charset="0"/>
              </a:rPr>
              <a:t>candidate</a:t>
            </a:r>
            <a:r>
              <a:rPr lang="sk-SK" sz="1100" dirty="0">
                <a:latin typeface="Consolas" panose="020B0609020204030204" pitchFamily="49" charset="0"/>
              </a:rPr>
              <a:t>, </a:t>
            </a:r>
            <a:r>
              <a:rPr lang="sk-SK" sz="1100" dirty="0" err="1">
                <a:latin typeface="Consolas" panose="020B0609020204030204" pitchFamily="49" charset="0"/>
              </a:rPr>
              <a:t>imported</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Received</a:t>
            </a:r>
            <a:r>
              <a:rPr lang="sk-SK" sz="1100" dirty="0">
                <a:latin typeface="Consolas" panose="020B0609020204030204" pitchFamily="49" charset="0"/>
              </a:rPr>
              <a:t> </a:t>
            </a:r>
            <a:r>
              <a:rPr lang="sk-SK" sz="1100" dirty="0" err="1">
                <a:latin typeface="Consolas" panose="020B0609020204030204" pitchFamily="49" charset="0"/>
              </a:rPr>
              <a:t>Path</a:t>
            </a:r>
            <a:r>
              <a:rPr lang="sk-SK" sz="1100" dirty="0">
                <a:latin typeface="Consolas" panose="020B0609020204030204" pitchFamily="49" charset="0"/>
              </a:rPr>
              <a:t> ID 0, </a:t>
            </a:r>
            <a:r>
              <a:rPr lang="sk-SK" sz="1100" dirty="0" err="1">
                <a:latin typeface="Consolas" panose="020B0609020204030204" pitchFamily="49" charset="0"/>
              </a:rPr>
              <a:t>Local</a:t>
            </a:r>
            <a:r>
              <a:rPr lang="sk-SK" sz="1100" dirty="0">
                <a:latin typeface="Consolas" panose="020B0609020204030204" pitchFamily="49" charset="0"/>
              </a:rPr>
              <a:t> </a:t>
            </a:r>
            <a:r>
              <a:rPr lang="sk-SK" sz="1100" dirty="0" err="1">
                <a:latin typeface="Consolas" panose="020B0609020204030204" pitchFamily="49" charset="0"/>
              </a:rPr>
              <a:t>Path</a:t>
            </a:r>
            <a:r>
              <a:rPr lang="sk-SK" sz="1100" dirty="0">
                <a:latin typeface="Consolas" panose="020B0609020204030204" pitchFamily="49" charset="0"/>
              </a:rPr>
              <a:t> ID 0, </a:t>
            </a:r>
            <a:r>
              <a:rPr lang="sk-SK" sz="1100" dirty="0" err="1">
                <a:latin typeface="Consolas" panose="020B0609020204030204" pitchFamily="49" charset="0"/>
              </a:rPr>
              <a:t>version</a:t>
            </a:r>
            <a:r>
              <a:rPr lang="sk-SK" sz="1100" dirty="0">
                <a:latin typeface="Consolas" panose="020B0609020204030204" pitchFamily="49" charset="0"/>
              </a:rPr>
              <a:t> 0</a:t>
            </a:r>
          </a:p>
          <a:p>
            <a:r>
              <a:rPr lang="sk-SK" sz="1100" dirty="0">
                <a:latin typeface="Consolas" panose="020B0609020204030204" pitchFamily="49" charset="0"/>
              </a:rPr>
              <a:t>      </a:t>
            </a:r>
            <a:r>
              <a:rPr lang="sk-SK" sz="1100" dirty="0" err="1">
                <a:latin typeface="Consolas" panose="020B0609020204030204" pitchFamily="49" charset="0"/>
              </a:rPr>
              <a:t>Extended</a:t>
            </a:r>
            <a:r>
              <a:rPr lang="sk-SK" sz="1100" dirty="0">
                <a:latin typeface="Consolas" panose="020B0609020204030204" pitchFamily="49" charset="0"/>
              </a:rPr>
              <a:t> </a:t>
            </a:r>
            <a:r>
              <a:rPr lang="sk-SK" sz="1100" dirty="0" err="1">
                <a:latin typeface="Consolas" panose="020B0609020204030204" pitchFamily="49" charset="0"/>
              </a:rPr>
              <a:t>community</a:t>
            </a:r>
            <a:r>
              <a:rPr lang="sk-SK" sz="1100" dirty="0">
                <a:latin typeface="Consolas" panose="020B0609020204030204" pitchFamily="49" charset="0"/>
              </a:rPr>
              <a:t>: </a:t>
            </a:r>
            <a:r>
              <a:rPr lang="sk-SK" sz="1100" dirty="0" err="1">
                <a:latin typeface="Consolas" panose="020B0609020204030204" pitchFamily="49" charset="0"/>
              </a:rPr>
              <a:t>RT:65000:1</a:t>
            </a:r>
            <a:r>
              <a:rPr lang="sk-SK" sz="1100" dirty="0">
                <a:latin typeface="Consolas" panose="020B0609020204030204" pitchFamily="49" charset="0"/>
              </a:rPr>
              <a:t> </a:t>
            </a:r>
          </a:p>
          <a:p>
            <a:r>
              <a:rPr lang="sk-SK" sz="1100" dirty="0">
                <a:latin typeface="Consolas" panose="020B0609020204030204" pitchFamily="49" charset="0"/>
              </a:rPr>
              <a:t>      </a:t>
            </a:r>
            <a:r>
              <a:rPr lang="sk-SK" sz="1100" dirty="0" err="1">
                <a:latin typeface="Consolas" panose="020B0609020204030204" pitchFamily="49" charset="0"/>
              </a:rPr>
              <a:t>Originator</a:t>
            </a:r>
            <a:r>
              <a:rPr lang="sk-SK" sz="1100" dirty="0">
                <a:latin typeface="Consolas" panose="020B0609020204030204" pitchFamily="49" charset="0"/>
              </a:rPr>
              <a:t>: 1.1.1.1, </a:t>
            </a:r>
            <a:r>
              <a:rPr lang="sk-SK" sz="1100" dirty="0" err="1">
                <a:latin typeface="Consolas" panose="020B0609020204030204" pitchFamily="49" charset="0"/>
              </a:rPr>
              <a:t>Cluster</a:t>
            </a:r>
            <a:r>
              <a:rPr lang="sk-SK" sz="1100" dirty="0">
                <a:latin typeface="Consolas" panose="020B0609020204030204" pitchFamily="49" charset="0"/>
              </a:rPr>
              <a:t> list: 0.0.0.100</a:t>
            </a:r>
          </a:p>
          <a:p>
            <a:r>
              <a:rPr lang="sk-SK" sz="1100" dirty="0">
                <a:latin typeface="Consolas" panose="020B0609020204030204" pitchFamily="49" charset="0"/>
              </a:rPr>
              <a:t>      </a:t>
            </a:r>
            <a:r>
              <a:rPr lang="sk-SK" sz="1100" dirty="0" err="1">
                <a:latin typeface="Consolas" panose="020B0609020204030204" pitchFamily="49" charset="0"/>
              </a:rPr>
              <a:t>Source</a:t>
            </a:r>
            <a:r>
              <a:rPr lang="sk-SK" sz="1100" dirty="0">
                <a:latin typeface="Consolas" panose="020B0609020204030204" pitchFamily="49" charset="0"/>
              </a:rPr>
              <a:t> </a:t>
            </a:r>
            <a:r>
              <a:rPr lang="sk-SK" sz="1100" dirty="0" err="1">
                <a:latin typeface="Consolas" panose="020B0609020204030204" pitchFamily="49" charset="0"/>
              </a:rPr>
              <a:t>AFI</a:t>
            </a:r>
            <a:r>
              <a:rPr lang="sk-SK" sz="1100" dirty="0">
                <a:latin typeface="Consolas" panose="020B0609020204030204" pitchFamily="49" charset="0"/>
              </a:rPr>
              <a:t>: </a:t>
            </a:r>
            <a:r>
              <a:rPr lang="sk-SK" sz="1100" dirty="0" err="1">
                <a:latin typeface="Consolas" panose="020B0609020204030204" pitchFamily="49" charset="0"/>
              </a:rPr>
              <a:t>VPNv4</a:t>
            </a:r>
            <a:r>
              <a:rPr lang="sk-SK" sz="1100" dirty="0">
                <a:latin typeface="Consolas" panose="020B0609020204030204" pitchFamily="49" charset="0"/>
              </a:rPr>
              <a:t> </a:t>
            </a:r>
            <a:r>
              <a:rPr lang="sk-SK" sz="1100" dirty="0" err="1">
                <a:latin typeface="Consolas" panose="020B0609020204030204" pitchFamily="49" charset="0"/>
              </a:rPr>
              <a:t>Unicast</a:t>
            </a:r>
            <a:r>
              <a:rPr lang="sk-SK" sz="1100" dirty="0">
                <a:latin typeface="Consolas" panose="020B0609020204030204" pitchFamily="49" charset="0"/>
              </a:rPr>
              <a:t>, </a:t>
            </a:r>
            <a:r>
              <a:rPr lang="sk-SK" sz="1100" dirty="0" err="1">
                <a:latin typeface="Consolas" panose="020B0609020204030204" pitchFamily="49" charset="0"/>
              </a:rPr>
              <a:t>Source</a:t>
            </a:r>
            <a:r>
              <a:rPr lang="sk-SK" sz="1100" dirty="0">
                <a:latin typeface="Consolas" panose="020B0609020204030204" pitchFamily="49" charset="0"/>
              </a:rPr>
              <a:t> VRF: A, </a:t>
            </a:r>
            <a:r>
              <a:rPr lang="sk-SK" sz="1100" dirty="0" err="1">
                <a:latin typeface="Consolas" panose="020B0609020204030204" pitchFamily="49" charset="0"/>
              </a:rPr>
              <a:t>Source</a:t>
            </a:r>
            <a:r>
              <a:rPr lang="sk-SK" sz="1100" dirty="0">
                <a:latin typeface="Consolas" panose="020B0609020204030204" pitchFamily="49" charset="0"/>
              </a:rPr>
              <a:t> </a:t>
            </a:r>
            <a:r>
              <a:rPr lang="sk-SK" sz="1100" dirty="0" err="1">
                <a:latin typeface="Consolas" panose="020B0609020204030204" pitchFamily="49" charset="0"/>
              </a:rPr>
              <a:t>Route</a:t>
            </a:r>
            <a:r>
              <a:rPr lang="sk-SK" sz="1100" dirty="0">
                <a:latin typeface="Consolas" panose="020B0609020204030204" pitchFamily="49" charset="0"/>
              </a:rPr>
              <a:t> </a:t>
            </a:r>
            <a:r>
              <a:rPr lang="sk-SK" sz="1100" dirty="0" err="1">
                <a:latin typeface="Consolas" panose="020B0609020204030204" pitchFamily="49" charset="0"/>
              </a:rPr>
              <a:t>Distinguisher</a:t>
            </a:r>
            <a:r>
              <a:rPr lang="sk-SK" sz="1100" dirty="0">
                <a:latin typeface="Consolas" panose="020B0609020204030204" pitchFamily="49" charset="0"/>
              </a:rPr>
              <a:t>: 65000:1</a:t>
            </a:r>
          </a:p>
          <a:p>
            <a:r>
              <a:rPr lang="sk-SK" sz="1100" dirty="0">
                <a:latin typeface="Consolas" panose="020B0609020204030204" pitchFamily="49" charset="0"/>
              </a:rPr>
              <a:t>  </a:t>
            </a:r>
            <a:r>
              <a:rPr lang="sk-SK" sz="1100" dirty="0" err="1">
                <a:latin typeface="Consolas" panose="020B0609020204030204" pitchFamily="49" charset="0"/>
              </a:rPr>
              <a:t>Path</a:t>
            </a:r>
            <a:r>
              <a:rPr lang="sk-SK" sz="1100" dirty="0">
                <a:latin typeface="Consolas" panose="020B0609020204030204" pitchFamily="49" charset="0"/>
              </a:rPr>
              <a:t> #2: </a:t>
            </a:r>
            <a:r>
              <a:rPr lang="sk-SK" sz="1100" dirty="0" err="1">
                <a:latin typeface="Consolas" panose="020B0609020204030204" pitchFamily="49" charset="0"/>
              </a:rPr>
              <a:t>Received</a:t>
            </a:r>
            <a:r>
              <a:rPr lang="sk-SK" sz="1100" dirty="0">
                <a:latin typeface="Consolas" panose="020B0609020204030204" pitchFamily="49" charset="0"/>
              </a:rPr>
              <a:t> by speaker 0</a:t>
            </a:r>
          </a:p>
          <a:p>
            <a:r>
              <a:rPr lang="sk-SK" sz="1100" dirty="0">
                <a:latin typeface="Consolas" panose="020B0609020204030204" pitchFamily="49" charset="0"/>
              </a:rPr>
              <a:t>  </a:t>
            </a:r>
            <a:r>
              <a:rPr lang="sk-SK" sz="1100" dirty="0" err="1">
                <a:latin typeface="Consolas" panose="020B0609020204030204" pitchFamily="49" charset="0"/>
              </a:rPr>
              <a:t>Not</a:t>
            </a:r>
            <a:r>
              <a:rPr lang="sk-SK" sz="1100" dirty="0">
                <a:latin typeface="Consolas" panose="020B0609020204030204" pitchFamily="49" charset="0"/>
              </a:rPr>
              <a:t> </a:t>
            </a:r>
            <a:r>
              <a:rPr lang="sk-SK" sz="1100" dirty="0" err="1">
                <a:latin typeface="Consolas" panose="020B0609020204030204" pitchFamily="49" charset="0"/>
              </a:rPr>
              <a:t>advertised</a:t>
            </a:r>
            <a:r>
              <a:rPr lang="sk-SK" sz="1100" dirty="0">
                <a:latin typeface="Consolas" panose="020B0609020204030204" pitchFamily="49" charset="0"/>
              </a:rPr>
              <a:t> to </a:t>
            </a:r>
            <a:r>
              <a:rPr lang="sk-SK" sz="1100" dirty="0" err="1">
                <a:latin typeface="Consolas" panose="020B0609020204030204" pitchFamily="49" charset="0"/>
              </a:rPr>
              <a:t>any</a:t>
            </a:r>
            <a:r>
              <a:rPr lang="sk-SK" sz="1100" dirty="0">
                <a:latin typeface="Consolas" panose="020B0609020204030204" pitchFamily="49" charset="0"/>
              </a:rPr>
              <a:t> </a:t>
            </a:r>
            <a:r>
              <a:rPr lang="sk-SK" sz="1100" dirty="0" err="1">
                <a:latin typeface="Consolas" panose="020B0609020204030204" pitchFamily="49" charset="0"/>
              </a:rPr>
              <a:t>peer</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a:highlight>
                  <a:srgbClr val="00FF00"/>
                </a:highlight>
                <a:latin typeface="Consolas" panose="020B0609020204030204" pitchFamily="49" charset="0"/>
              </a:rPr>
              <a:t>65001</a:t>
            </a:r>
          </a:p>
          <a:p>
            <a:r>
              <a:rPr lang="sk-SK" sz="1100" dirty="0">
                <a:highlight>
                  <a:srgbClr val="00FF00"/>
                </a:highlight>
                <a:latin typeface="Consolas" panose="020B0609020204030204" pitchFamily="49" charset="0"/>
              </a:rPr>
              <a:t>    2001:9999::1 (</a:t>
            </a:r>
            <a:r>
              <a:rPr lang="sk-SK" sz="1100" dirty="0" err="1">
                <a:highlight>
                  <a:srgbClr val="00FF00"/>
                </a:highlight>
                <a:latin typeface="Consolas" panose="020B0609020204030204" pitchFamily="49" charset="0"/>
              </a:rPr>
              <a:t>metric</a:t>
            </a:r>
            <a:r>
              <a:rPr lang="sk-SK" sz="1100" dirty="0">
                <a:highlight>
                  <a:srgbClr val="00FF00"/>
                </a:highlight>
                <a:latin typeface="Consolas" panose="020B0609020204030204" pitchFamily="49" charset="0"/>
              </a:rPr>
              <a:t> 20) </a:t>
            </a:r>
            <a:r>
              <a:rPr lang="sk-SK" sz="1100" dirty="0" err="1">
                <a:highlight>
                  <a:srgbClr val="00FF00"/>
                </a:highlight>
                <a:latin typeface="Consolas" panose="020B0609020204030204" pitchFamily="49" charset="0"/>
              </a:rPr>
              <a:t>from</a:t>
            </a:r>
            <a:r>
              <a:rPr lang="sk-SK" sz="1100" dirty="0">
                <a:highlight>
                  <a:srgbClr val="00FF00"/>
                </a:highlight>
                <a:latin typeface="Consolas" panose="020B0609020204030204" pitchFamily="49" charset="0"/>
              </a:rPr>
              <a:t> 2001:9999::13 (1.1.1.1)</a:t>
            </a:r>
          </a:p>
          <a:p>
            <a:r>
              <a:rPr lang="sk-SK" sz="1100" dirty="0">
                <a:highlight>
                  <a:srgbClr val="00FF00"/>
                </a:highlight>
                <a:latin typeface="Consolas" panose="020B0609020204030204" pitchFamily="49" charset="0"/>
              </a:rPr>
              <a:t>      </a:t>
            </a:r>
            <a:r>
              <a:rPr lang="sk-SK" sz="1100" dirty="0" err="1">
                <a:highlight>
                  <a:srgbClr val="00FF00"/>
                </a:highlight>
                <a:latin typeface="Consolas" panose="020B0609020204030204" pitchFamily="49" charset="0"/>
              </a:rPr>
              <a:t>Received</a:t>
            </a:r>
            <a:r>
              <a:rPr lang="sk-SK" sz="1100" dirty="0">
                <a:highlight>
                  <a:srgbClr val="00FF00"/>
                </a:highlight>
                <a:latin typeface="Consolas" panose="020B0609020204030204" pitchFamily="49" charset="0"/>
              </a:rPr>
              <a:t> </a:t>
            </a:r>
            <a:r>
              <a:rPr lang="sk-SK" sz="1100" dirty="0" err="1">
                <a:highlight>
                  <a:srgbClr val="00FF00"/>
                </a:highlight>
                <a:latin typeface="Consolas" panose="020B0609020204030204" pitchFamily="49" charset="0"/>
              </a:rPr>
              <a:t>Label</a:t>
            </a:r>
            <a:r>
              <a:rPr lang="sk-SK" sz="1100" dirty="0">
                <a:highlight>
                  <a:srgbClr val="00FF00"/>
                </a:highlight>
                <a:latin typeface="Consolas" panose="020B0609020204030204" pitchFamily="49" charset="0"/>
              </a:rPr>
              <a:t> </a:t>
            </a:r>
            <a:r>
              <a:rPr lang="sk-SK" sz="1100" dirty="0" err="1">
                <a:highlight>
                  <a:srgbClr val="00FF00"/>
                </a:highlight>
                <a:latin typeface="Consolas" panose="020B0609020204030204" pitchFamily="49" charset="0"/>
              </a:rPr>
              <a:t>0xe0010</a:t>
            </a:r>
            <a:endParaRPr lang="sk-SK" sz="1100" dirty="0">
              <a:highlight>
                <a:srgbClr val="00FF00"/>
              </a:highlight>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Origin</a:t>
            </a:r>
            <a:r>
              <a:rPr lang="sk-SK" sz="1100" dirty="0">
                <a:latin typeface="Consolas" panose="020B0609020204030204" pitchFamily="49" charset="0"/>
              </a:rPr>
              <a:t> </a:t>
            </a:r>
            <a:r>
              <a:rPr lang="sk-SK" sz="1100" dirty="0" err="1">
                <a:latin typeface="Consolas" panose="020B0609020204030204" pitchFamily="49" charset="0"/>
              </a:rPr>
              <a:t>IGP</a:t>
            </a:r>
            <a:r>
              <a:rPr lang="sk-SK" sz="1100" dirty="0">
                <a:latin typeface="Consolas" panose="020B0609020204030204" pitchFamily="49" charset="0"/>
              </a:rPr>
              <a:t>, </a:t>
            </a:r>
            <a:r>
              <a:rPr lang="sk-SK" sz="1100" dirty="0" err="1">
                <a:latin typeface="Consolas" panose="020B0609020204030204" pitchFamily="49" charset="0"/>
              </a:rPr>
              <a:t>metric</a:t>
            </a:r>
            <a:r>
              <a:rPr lang="sk-SK" sz="1100" dirty="0">
                <a:latin typeface="Consolas" panose="020B0609020204030204" pitchFamily="49" charset="0"/>
              </a:rPr>
              <a:t> 0, localpref 200, </a:t>
            </a:r>
            <a:r>
              <a:rPr lang="sk-SK" sz="1100" dirty="0" err="1">
                <a:latin typeface="Consolas" panose="020B0609020204030204" pitchFamily="49" charset="0"/>
              </a:rPr>
              <a:t>valid</a:t>
            </a:r>
            <a:r>
              <a:rPr lang="sk-SK" sz="1100" dirty="0">
                <a:latin typeface="Consolas" panose="020B0609020204030204" pitchFamily="49" charset="0"/>
              </a:rPr>
              <a:t>, </a:t>
            </a:r>
            <a:r>
              <a:rPr lang="sk-SK" sz="1100" dirty="0" err="1">
                <a:latin typeface="Consolas" panose="020B0609020204030204" pitchFamily="49" charset="0"/>
              </a:rPr>
              <a:t>internal</a:t>
            </a:r>
            <a:r>
              <a:rPr lang="sk-SK" sz="1100" dirty="0">
                <a:latin typeface="Consolas" panose="020B0609020204030204" pitchFamily="49" charset="0"/>
              </a:rPr>
              <a:t>, </a:t>
            </a:r>
            <a:r>
              <a:rPr lang="sk-SK" sz="1100" dirty="0" err="1">
                <a:highlight>
                  <a:srgbClr val="00FF00"/>
                </a:highlight>
                <a:latin typeface="Consolas" panose="020B0609020204030204" pitchFamily="49" charset="0"/>
              </a:rPr>
              <a:t>best</a:t>
            </a:r>
            <a:r>
              <a:rPr lang="sk-SK" sz="1100" dirty="0">
                <a:latin typeface="Consolas" panose="020B0609020204030204" pitchFamily="49" charset="0"/>
              </a:rPr>
              <a:t>, </a:t>
            </a:r>
            <a:r>
              <a:rPr lang="sk-SK" sz="1100" dirty="0" err="1">
                <a:latin typeface="Consolas" panose="020B0609020204030204" pitchFamily="49" charset="0"/>
              </a:rPr>
              <a:t>group-best</a:t>
            </a:r>
            <a:r>
              <a:rPr lang="sk-SK" sz="1100" dirty="0">
                <a:latin typeface="Consolas" panose="020B0609020204030204" pitchFamily="49" charset="0"/>
              </a:rPr>
              <a:t>, import-</a:t>
            </a:r>
            <a:r>
              <a:rPr lang="sk-SK" sz="1100" dirty="0" err="1">
                <a:latin typeface="Consolas" panose="020B0609020204030204" pitchFamily="49" charset="0"/>
              </a:rPr>
              <a:t>candidate</a:t>
            </a:r>
            <a:r>
              <a:rPr lang="sk-SK" sz="1100" dirty="0">
                <a:latin typeface="Consolas" panose="020B0609020204030204" pitchFamily="49" charset="0"/>
              </a:rPr>
              <a:t>, </a:t>
            </a:r>
            <a:r>
              <a:rPr lang="sk-SK" sz="1100" dirty="0" err="1">
                <a:latin typeface="Consolas" panose="020B0609020204030204" pitchFamily="49" charset="0"/>
              </a:rPr>
              <a:t>imported</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Received</a:t>
            </a:r>
            <a:r>
              <a:rPr lang="sk-SK" sz="1100" dirty="0">
                <a:latin typeface="Consolas" panose="020B0609020204030204" pitchFamily="49" charset="0"/>
              </a:rPr>
              <a:t> </a:t>
            </a:r>
            <a:r>
              <a:rPr lang="sk-SK" sz="1100" dirty="0" err="1">
                <a:latin typeface="Consolas" panose="020B0609020204030204" pitchFamily="49" charset="0"/>
              </a:rPr>
              <a:t>Path</a:t>
            </a:r>
            <a:r>
              <a:rPr lang="sk-SK" sz="1100" dirty="0">
                <a:latin typeface="Consolas" panose="020B0609020204030204" pitchFamily="49" charset="0"/>
              </a:rPr>
              <a:t> ID 0, </a:t>
            </a:r>
            <a:r>
              <a:rPr lang="sk-SK" sz="1100" dirty="0" err="1">
                <a:latin typeface="Consolas" panose="020B0609020204030204" pitchFamily="49" charset="0"/>
              </a:rPr>
              <a:t>Local</a:t>
            </a:r>
            <a:r>
              <a:rPr lang="sk-SK" sz="1100" dirty="0">
                <a:latin typeface="Consolas" panose="020B0609020204030204" pitchFamily="49" charset="0"/>
              </a:rPr>
              <a:t> </a:t>
            </a:r>
            <a:r>
              <a:rPr lang="sk-SK" sz="1100" dirty="0" err="1">
                <a:latin typeface="Consolas" panose="020B0609020204030204" pitchFamily="49" charset="0"/>
              </a:rPr>
              <a:t>Path</a:t>
            </a:r>
            <a:r>
              <a:rPr lang="sk-SK" sz="1100" dirty="0">
                <a:latin typeface="Consolas" panose="020B0609020204030204" pitchFamily="49" charset="0"/>
              </a:rPr>
              <a:t> ID 1, </a:t>
            </a:r>
            <a:r>
              <a:rPr lang="sk-SK" sz="1100" dirty="0" err="1">
                <a:latin typeface="Consolas" panose="020B0609020204030204" pitchFamily="49" charset="0"/>
              </a:rPr>
              <a:t>version</a:t>
            </a:r>
            <a:r>
              <a:rPr lang="sk-SK" sz="1100" dirty="0">
                <a:latin typeface="Consolas" panose="020B0609020204030204" pitchFamily="49" charset="0"/>
              </a:rPr>
              <a:t> 519</a:t>
            </a:r>
          </a:p>
          <a:p>
            <a:r>
              <a:rPr lang="sk-SK" sz="1100" dirty="0">
                <a:latin typeface="Consolas" panose="020B0609020204030204" pitchFamily="49" charset="0"/>
              </a:rPr>
              <a:t>      </a:t>
            </a:r>
            <a:r>
              <a:rPr lang="sk-SK" sz="1100" dirty="0" err="1">
                <a:latin typeface="Consolas" panose="020B0609020204030204" pitchFamily="49" charset="0"/>
              </a:rPr>
              <a:t>Extended</a:t>
            </a:r>
            <a:r>
              <a:rPr lang="sk-SK" sz="1100" dirty="0">
                <a:latin typeface="Consolas" panose="020B0609020204030204" pitchFamily="49" charset="0"/>
              </a:rPr>
              <a:t> </a:t>
            </a:r>
            <a:r>
              <a:rPr lang="sk-SK" sz="1100" dirty="0" err="1">
                <a:latin typeface="Consolas" panose="020B0609020204030204" pitchFamily="49" charset="0"/>
              </a:rPr>
              <a:t>community</a:t>
            </a:r>
            <a:r>
              <a:rPr lang="sk-SK" sz="1100" dirty="0">
                <a:latin typeface="Consolas" panose="020B0609020204030204" pitchFamily="49" charset="0"/>
              </a:rPr>
              <a:t>: </a:t>
            </a:r>
            <a:r>
              <a:rPr lang="sk-SK" sz="1100" dirty="0" err="1">
                <a:latin typeface="Consolas" panose="020B0609020204030204" pitchFamily="49" charset="0"/>
              </a:rPr>
              <a:t>RT:65000:1</a:t>
            </a:r>
            <a:r>
              <a:rPr lang="sk-SK" sz="1100" dirty="0">
                <a:latin typeface="Consolas" panose="020B0609020204030204" pitchFamily="49" charset="0"/>
              </a:rPr>
              <a:t> </a:t>
            </a:r>
          </a:p>
          <a:p>
            <a:r>
              <a:rPr lang="sk-SK" sz="1100" dirty="0">
                <a:latin typeface="Consolas" panose="020B0609020204030204" pitchFamily="49" charset="0"/>
              </a:rPr>
              <a:t>      </a:t>
            </a:r>
            <a:r>
              <a:rPr lang="sk-SK" sz="1100" dirty="0" err="1">
                <a:latin typeface="Consolas" panose="020B0609020204030204" pitchFamily="49" charset="0"/>
              </a:rPr>
              <a:t>Originator</a:t>
            </a:r>
            <a:r>
              <a:rPr lang="sk-SK" sz="1100" dirty="0">
                <a:latin typeface="Consolas" panose="020B0609020204030204" pitchFamily="49" charset="0"/>
              </a:rPr>
              <a:t>: 1.1.1.1, </a:t>
            </a:r>
            <a:r>
              <a:rPr lang="sk-SK" sz="1100" dirty="0" err="1">
                <a:latin typeface="Consolas" panose="020B0609020204030204" pitchFamily="49" charset="0"/>
              </a:rPr>
              <a:t>Cluster</a:t>
            </a:r>
            <a:r>
              <a:rPr lang="sk-SK" sz="1100" dirty="0">
                <a:latin typeface="Consolas" panose="020B0609020204030204" pitchFamily="49" charset="0"/>
              </a:rPr>
              <a:t> list: 0.0.0.101</a:t>
            </a:r>
          </a:p>
          <a:p>
            <a:r>
              <a:rPr lang="sk-SK" sz="1100" dirty="0">
                <a:latin typeface="Consolas" panose="020B0609020204030204" pitchFamily="49" charset="0"/>
              </a:rPr>
              <a:t>      </a:t>
            </a:r>
            <a:r>
              <a:rPr lang="sk-SK" sz="1100" dirty="0" err="1">
                <a:latin typeface="Consolas" panose="020B0609020204030204" pitchFamily="49" charset="0"/>
              </a:rPr>
              <a:t>PSID-Type:L3</a:t>
            </a:r>
            <a:r>
              <a:rPr lang="sk-SK" sz="1100" dirty="0">
                <a:latin typeface="Consolas" panose="020B0609020204030204" pitchFamily="49" charset="0"/>
              </a:rPr>
              <a:t>, </a:t>
            </a:r>
            <a:r>
              <a:rPr lang="sk-SK" sz="1100" dirty="0" err="1">
                <a:latin typeface="Consolas" panose="020B0609020204030204" pitchFamily="49" charset="0"/>
              </a:rPr>
              <a:t>SubTLV</a:t>
            </a:r>
            <a:r>
              <a:rPr lang="sk-SK" sz="1100" dirty="0">
                <a:latin typeface="Consolas" panose="020B0609020204030204" pitchFamily="49" charset="0"/>
              </a:rPr>
              <a:t> </a:t>
            </a:r>
            <a:r>
              <a:rPr lang="sk-SK" sz="1100" dirty="0" err="1">
                <a:latin typeface="Consolas" panose="020B0609020204030204" pitchFamily="49" charset="0"/>
              </a:rPr>
              <a:t>Count:1</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SubTLV</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highlight>
                  <a:srgbClr val="00FF00"/>
                </a:highlight>
                <a:latin typeface="Consolas" panose="020B0609020204030204" pitchFamily="49" charset="0"/>
              </a:rPr>
              <a:t>T:1</a:t>
            </a:r>
            <a:r>
              <a:rPr lang="sk-SK" sz="1100" dirty="0">
                <a:highlight>
                  <a:srgbClr val="00FF00"/>
                </a:highlight>
                <a:latin typeface="Consolas" panose="020B0609020204030204" pitchFamily="49" charset="0"/>
              </a:rPr>
              <a:t>(</a:t>
            </a:r>
            <a:r>
              <a:rPr lang="sk-SK" sz="1100" dirty="0" err="1">
                <a:highlight>
                  <a:srgbClr val="00FF00"/>
                </a:highlight>
                <a:latin typeface="Consolas" panose="020B0609020204030204" pitchFamily="49" charset="0"/>
              </a:rPr>
              <a:t>Sid</a:t>
            </a:r>
            <a:r>
              <a:rPr lang="sk-SK" sz="1100" dirty="0">
                <a:highlight>
                  <a:srgbClr val="00FF00"/>
                </a:highlight>
                <a:latin typeface="Consolas" panose="020B0609020204030204" pitchFamily="49" charset="0"/>
              </a:rPr>
              <a:t> </a:t>
            </a:r>
            <a:r>
              <a:rPr lang="sk-SK" sz="1100" dirty="0" err="1">
                <a:highlight>
                  <a:srgbClr val="00FF00"/>
                </a:highlight>
                <a:latin typeface="Consolas" panose="020B0609020204030204" pitchFamily="49" charset="0"/>
              </a:rPr>
              <a:t>information</a:t>
            </a:r>
            <a:r>
              <a:rPr lang="sk-SK" sz="1100" dirty="0">
                <a:highlight>
                  <a:srgbClr val="00FF00"/>
                </a:highlight>
                <a:latin typeface="Consolas" panose="020B0609020204030204" pitchFamily="49" charset="0"/>
              </a:rPr>
              <a:t>), </a:t>
            </a:r>
            <a:r>
              <a:rPr lang="sk-SK" sz="1100" dirty="0" err="1">
                <a:highlight>
                  <a:srgbClr val="00FF00"/>
                </a:highlight>
                <a:latin typeface="Consolas" panose="020B0609020204030204" pitchFamily="49" charset="0"/>
              </a:rPr>
              <a:t>Sid:fc00:ab00:1</a:t>
            </a:r>
            <a:r>
              <a:rPr lang="sk-SK" sz="1100" dirty="0">
                <a:highlight>
                  <a:srgbClr val="00FF00"/>
                </a:highlight>
                <a:latin typeface="Consolas" panose="020B0609020204030204" pitchFamily="49" charset="0"/>
              </a:rPr>
              <a:t>::(</a:t>
            </a:r>
            <a:r>
              <a:rPr lang="sk-SK" sz="1100" dirty="0" err="1">
                <a:highlight>
                  <a:srgbClr val="00FF00"/>
                </a:highlight>
                <a:latin typeface="Consolas" panose="020B0609020204030204" pitchFamily="49" charset="0"/>
              </a:rPr>
              <a:t>Transposed</a:t>
            </a:r>
            <a:r>
              <a:rPr lang="sk-SK" sz="1100" dirty="0">
                <a:highlight>
                  <a:srgbClr val="00FF00"/>
                </a:highlight>
                <a:latin typeface="Consolas" panose="020B0609020204030204" pitchFamily="49" charset="0"/>
              </a:rPr>
              <a:t>), </a:t>
            </a:r>
            <a:r>
              <a:rPr lang="sk-SK" sz="1100" dirty="0" err="1">
                <a:highlight>
                  <a:srgbClr val="00FF00"/>
                </a:highlight>
                <a:latin typeface="Consolas" panose="020B0609020204030204" pitchFamily="49" charset="0"/>
              </a:rPr>
              <a:t>Behavior:63</a:t>
            </a:r>
            <a:r>
              <a:rPr lang="sk-SK" sz="1100" dirty="0">
                <a:highlight>
                  <a:srgbClr val="00FF00"/>
                </a:highlight>
                <a:latin typeface="Consolas" panose="020B0609020204030204" pitchFamily="49" charset="0"/>
              </a:rPr>
              <a:t>, </a:t>
            </a:r>
            <a:r>
              <a:rPr lang="sk-SK" sz="1100" dirty="0" err="1">
                <a:highlight>
                  <a:srgbClr val="00FF00"/>
                </a:highlight>
                <a:latin typeface="Consolas" panose="020B0609020204030204" pitchFamily="49" charset="0"/>
              </a:rPr>
              <a:t>SS-TLV</a:t>
            </a:r>
            <a:r>
              <a:rPr lang="sk-SK" sz="1100" dirty="0">
                <a:highlight>
                  <a:srgbClr val="00FF00"/>
                </a:highlight>
                <a:latin typeface="Consolas" panose="020B0609020204030204" pitchFamily="49" charset="0"/>
              </a:rPr>
              <a:t> </a:t>
            </a:r>
            <a:r>
              <a:rPr lang="sk-SK" sz="1100" dirty="0" err="1">
                <a:highlight>
                  <a:srgbClr val="00FF00"/>
                </a:highlight>
                <a:latin typeface="Consolas" panose="020B0609020204030204" pitchFamily="49" charset="0"/>
              </a:rPr>
              <a:t>Count:1</a:t>
            </a:r>
            <a:endParaRPr lang="sk-SK" sz="1100" dirty="0">
              <a:highlight>
                <a:srgbClr val="00FF00"/>
              </a:highlight>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SubSubTLV</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T:1</a:t>
            </a:r>
            <a:r>
              <a:rPr lang="sk-SK" sz="1100" dirty="0">
                <a:latin typeface="Consolas" panose="020B0609020204030204" pitchFamily="49" charset="0"/>
              </a:rPr>
              <a:t>(</a:t>
            </a:r>
            <a:r>
              <a:rPr lang="sk-SK" sz="1100" dirty="0" err="1">
                <a:latin typeface="Consolas" panose="020B0609020204030204" pitchFamily="49" charset="0"/>
              </a:rPr>
              <a:t>Sid</a:t>
            </a:r>
            <a:r>
              <a:rPr lang="sk-SK" sz="1100" dirty="0">
                <a:latin typeface="Consolas" panose="020B0609020204030204" pitchFamily="49" charset="0"/>
              </a:rPr>
              <a:t> </a:t>
            </a:r>
            <a:r>
              <a:rPr lang="sk-SK" sz="1100" dirty="0" err="1">
                <a:latin typeface="Consolas" panose="020B0609020204030204" pitchFamily="49" charset="0"/>
              </a:rPr>
              <a:t>structure</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Source</a:t>
            </a:r>
            <a:r>
              <a:rPr lang="sk-SK" sz="1100" dirty="0">
                <a:latin typeface="Consolas" panose="020B0609020204030204" pitchFamily="49" charset="0"/>
              </a:rPr>
              <a:t> </a:t>
            </a:r>
            <a:r>
              <a:rPr lang="sk-SK" sz="1100" dirty="0" err="1">
                <a:latin typeface="Consolas" panose="020B0609020204030204" pitchFamily="49" charset="0"/>
              </a:rPr>
              <a:t>AFI</a:t>
            </a:r>
            <a:r>
              <a:rPr lang="sk-SK" sz="1100" dirty="0">
                <a:latin typeface="Consolas" panose="020B0609020204030204" pitchFamily="49" charset="0"/>
              </a:rPr>
              <a:t>: </a:t>
            </a:r>
            <a:r>
              <a:rPr lang="sk-SK" sz="1100" dirty="0" err="1">
                <a:latin typeface="Consolas" panose="020B0609020204030204" pitchFamily="49" charset="0"/>
              </a:rPr>
              <a:t>VPNv4</a:t>
            </a:r>
            <a:r>
              <a:rPr lang="sk-SK" sz="1100" dirty="0">
                <a:latin typeface="Consolas" panose="020B0609020204030204" pitchFamily="49" charset="0"/>
              </a:rPr>
              <a:t> </a:t>
            </a:r>
            <a:r>
              <a:rPr lang="sk-SK" sz="1100" dirty="0" err="1">
                <a:latin typeface="Consolas" panose="020B0609020204030204" pitchFamily="49" charset="0"/>
              </a:rPr>
              <a:t>Unicast</a:t>
            </a:r>
            <a:r>
              <a:rPr lang="sk-SK" sz="1100" dirty="0">
                <a:latin typeface="Consolas" panose="020B0609020204030204" pitchFamily="49" charset="0"/>
              </a:rPr>
              <a:t>, </a:t>
            </a:r>
            <a:r>
              <a:rPr lang="sk-SK" sz="1100" dirty="0" err="1">
                <a:latin typeface="Consolas" panose="020B0609020204030204" pitchFamily="49" charset="0"/>
              </a:rPr>
              <a:t>Source</a:t>
            </a:r>
            <a:r>
              <a:rPr lang="sk-SK" sz="1100" dirty="0">
                <a:latin typeface="Consolas" panose="020B0609020204030204" pitchFamily="49" charset="0"/>
              </a:rPr>
              <a:t> VRF: A, </a:t>
            </a:r>
            <a:r>
              <a:rPr lang="sk-SK" sz="1100" dirty="0" err="1">
                <a:latin typeface="Consolas" panose="020B0609020204030204" pitchFamily="49" charset="0"/>
              </a:rPr>
              <a:t>Source</a:t>
            </a:r>
            <a:r>
              <a:rPr lang="sk-SK" sz="1100" dirty="0">
                <a:latin typeface="Consolas" panose="020B0609020204030204" pitchFamily="49" charset="0"/>
              </a:rPr>
              <a:t> </a:t>
            </a:r>
            <a:r>
              <a:rPr lang="sk-SK" sz="1100" dirty="0" err="1">
                <a:latin typeface="Consolas" panose="020B0609020204030204" pitchFamily="49" charset="0"/>
              </a:rPr>
              <a:t>Route</a:t>
            </a:r>
            <a:r>
              <a:rPr lang="sk-SK" sz="1100" dirty="0">
                <a:latin typeface="Consolas" panose="020B0609020204030204" pitchFamily="49" charset="0"/>
              </a:rPr>
              <a:t> </a:t>
            </a:r>
            <a:r>
              <a:rPr lang="sk-SK" sz="1100" dirty="0" err="1">
                <a:latin typeface="Consolas" panose="020B0609020204030204" pitchFamily="49" charset="0"/>
              </a:rPr>
              <a:t>Distinguisher</a:t>
            </a:r>
            <a:r>
              <a:rPr lang="sk-SK" sz="1100" dirty="0">
                <a:latin typeface="Consolas" panose="020B0609020204030204" pitchFamily="49" charset="0"/>
              </a:rPr>
              <a:t>: 65000:1</a:t>
            </a:r>
          </a:p>
          <a:p>
            <a:r>
              <a:rPr lang="sk-SK" sz="1100" dirty="0">
                <a:latin typeface="Consolas" panose="020B0609020204030204" pitchFamily="49" charset="0"/>
              </a:rPr>
              <a:t>RP/0/RP0/</a:t>
            </a:r>
            <a:r>
              <a:rPr lang="sk-SK" sz="1100" dirty="0" err="1">
                <a:latin typeface="Consolas" panose="020B0609020204030204" pitchFamily="49" charset="0"/>
              </a:rPr>
              <a:t>CPU0:R04</a:t>
            </a:r>
            <a:r>
              <a:rPr lang="sk-SK" sz="1100" dirty="0">
                <a:latin typeface="Consolas" panose="020B0609020204030204" pitchFamily="49" charset="0"/>
              </a:rPr>
              <a:t>#</a:t>
            </a:r>
            <a:endParaRPr lang="en-US" sz="1100" dirty="0">
              <a:latin typeface="Consolas" panose="020B0609020204030204" pitchFamily="49" charset="0"/>
            </a:endParaRPr>
          </a:p>
        </p:txBody>
      </p:sp>
      <p:sp>
        <p:nvSpPr>
          <p:cNvPr id="6" name="Rectangle 5">
            <a:extLst>
              <a:ext uri="{FF2B5EF4-FFF2-40B4-BE49-F238E27FC236}">
                <a16:creationId xmlns:a16="http://schemas.microsoft.com/office/drawing/2014/main" id="{5DE9612E-008E-6328-2AC6-FBEB2ED05281}"/>
              </a:ext>
            </a:extLst>
          </p:cNvPr>
          <p:cNvSpPr/>
          <p:nvPr/>
        </p:nvSpPr>
        <p:spPr>
          <a:xfrm>
            <a:off x="6987210" y="1338175"/>
            <a:ext cx="5085047" cy="3308598"/>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RP/0/RP0/</a:t>
            </a:r>
            <a:r>
              <a:rPr lang="sk-SK" sz="1100" dirty="0" err="1">
                <a:latin typeface="Consolas" panose="020B0609020204030204" pitchFamily="49" charset="0"/>
              </a:rPr>
              <a:t>CPU0:R04</a:t>
            </a:r>
            <a:r>
              <a:rPr lang="sk-SK" sz="1100" dirty="0">
                <a:latin typeface="Consolas" panose="020B0609020204030204" pitchFamily="49" charset="0"/>
              </a:rPr>
              <a:t># </a:t>
            </a:r>
            <a:r>
              <a:rPr lang="sk-SK" sz="1100" b="1" dirty="0">
                <a:latin typeface="Consolas" panose="020B0609020204030204" pitchFamily="49" charset="0"/>
              </a:rPr>
              <a:t>sh cef vrf A 10.0.1.1</a:t>
            </a:r>
          </a:p>
          <a:p>
            <a:r>
              <a:rPr lang="sk-SK" sz="1100" dirty="0">
                <a:latin typeface="Consolas" panose="020B0609020204030204" pitchFamily="49" charset="0"/>
              </a:rPr>
              <a:t>10.0.1.0/24, </a:t>
            </a:r>
            <a:r>
              <a:rPr lang="sk-SK" sz="1100" dirty="0" err="1">
                <a:latin typeface="Consolas" panose="020B0609020204030204" pitchFamily="49" charset="0"/>
              </a:rPr>
              <a:t>version</a:t>
            </a:r>
            <a:r>
              <a:rPr lang="sk-SK" sz="1100" dirty="0">
                <a:latin typeface="Consolas" panose="020B0609020204030204" pitchFamily="49" charset="0"/>
              </a:rPr>
              <a:t> 340, </a:t>
            </a:r>
            <a:r>
              <a:rPr lang="sk-SK" sz="1100" dirty="0" err="1">
                <a:latin typeface="Consolas" panose="020B0609020204030204" pitchFamily="49" charset="0"/>
              </a:rPr>
              <a:t>SRv6</a:t>
            </a:r>
            <a:r>
              <a:rPr lang="sk-SK" sz="1100" dirty="0">
                <a:latin typeface="Consolas" panose="020B0609020204030204" pitchFamily="49" charset="0"/>
              </a:rPr>
              <a:t> </a:t>
            </a:r>
            <a:r>
              <a:rPr lang="sk-SK" sz="1100" dirty="0" err="1">
                <a:latin typeface="Consolas" panose="020B0609020204030204" pitchFamily="49" charset="0"/>
              </a:rPr>
              <a:t>Headend</a:t>
            </a:r>
            <a:r>
              <a:rPr lang="sk-SK" sz="1100" dirty="0">
                <a:latin typeface="Consolas" panose="020B0609020204030204" pitchFamily="49" charset="0"/>
              </a:rPr>
              <a:t>, </a:t>
            </a:r>
            <a:endParaRPr lang="en-US" sz="1100" dirty="0">
              <a:latin typeface="Consolas" panose="020B0609020204030204" pitchFamily="49" charset="0"/>
            </a:endParaRPr>
          </a:p>
          <a:p>
            <a:r>
              <a:rPr lang="en-US" sz="1100" dirty="0">
                <a:latin typeface="Consolas" panose="020B0609020204030204" pitchFamily="49" charset="0"/>
              </a:rPr>
              <a:t>-- cut --</a:t>
            </a:r>
            <a:endParaRPr lang="sk-SK" sz="1100" dirty="0">
              <a:latin typeface="Consolas" panose="020B0609020204030204" pitchFamily="49" charset="0"/>
            </a:endParaRPr>
          </a:p>
          <a:p>
            <a:r>
              <a:rPr lang="sk-SK" sz="1100" dirty="0">
                <a:latin typeface="Consolas" panose="020B0609020204030204" pitchFamily="49" charset="0"/>
              </a:rPr>
              <a:t>  Level 1 - </a:t>
            </a:r>
            <a:r>
              <a:rPr lang="sk-SK" sz="1100" dirty="0" err="1">
                <a:latin typeface="Consolas" panose="020B0609020204030204" pitchFamily="49" charset="0"/>
              </a:rPr>
              <a:t>Load</a:t>
            </a:r>
            <a:r>
              <a:rPr lang="sk-SK" sz="1100" dirty="0">
                <a:latin typeface="Consolas" panose="020B0609020204030204" pitchFamily="49" charset="0"/>
              </a:rPr>
              <a:t> </a:t>
            </a:r>
            <a:r>
              <a:rPr lang="sk-SK" sz="1100" dirty="0" err="1">
                <a:latin typeface="Consolas" panose="020B0609020204030204" pitchFamily="49" charset="0"/>
              </a:rPr>
              <a:t>distribution</a:t>
            </a:r>
            <a:r>
              <a:rPr lang="sk-SK" sz="1100" dirty="0">
                <a:latin typeface="Consolas" panose="020B0609020204030204" pitchFamily="49" charset="0"/>
              </a:rPr>
              <a:t>: 0</a:t>
            </a:r>
          </a:p>
          <a:p>
            <a:r>
              <a:rPr lang="sk-SK" sz="1100" dirty="0">
                <a:latin typeface="Consolas" panose="020B0609020204030204" pitchFamily="49" charset="0"/>
              </a:rPr>
              <a:t>  [0] </a:t>
            </a:r>
            <a:r>
              <a:rPr lang="sk-SK" sz="1100" dirty="0" err="1">
                <a:latin typeface="Consolas" panose="020B0609020204030204" pitchFamily="49" charset="0"/>
              </a:rPr>
              <a:t>via</a:t>
            </a:r>
            <a:r>
              <a:rPr lang="sk-SK" sz="1100" dirty="0">
                <a:latin typeface="Consolas" panose="020B0609020204030204" pitchFamily="49" charset="0"/>
              </a:rPr>
              <a:t> </a:t>
            </a:r>
            <a:r>
              <a:rPr lang="sk-SK" sz="1100" dirty="0" err="1">
                <a:latin typeface="Consolas" panose="020B0609020204030204" pitchFamily="49" charset="0"/>
              </a:rPr>
              <a:t>fc00:ab00:1</a:t>
            </a:r>
            <a:r>
              <a:rPr lang="sk-SK" sz="1100" dirty="0">
                <a:latin typeface="Consolas" panose="020B0609020204030204" pitchFamily="49" charset="0"/>
              </a:rPr>
              <a:t>::/128, </a:t>
            </a:r>
            <a:r>
              <a:rPr lang="sk-SK" sz="1100" dirty="0" err="1">
                <a:latin typeface="Consolas" panose="020B0609020204030204" pitchFamily="49" charset="0"/>
              </a:rPr>
              <a:t>recursive</a:t>
            </a:r>
            <a:endParaRPr lang="sk-SK" sz="1100" dirty="0">
              <a:latin typeface="Consolas" panose="020B0609020204030204" pitchFamily="49" charset="0"/>
            </a:endParaRPr>
          </a:p>
          <a:p>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via</a:t>
            </a:r>
            <a:r>
              <a:rPr lang="sk-SK" sz="1100" dirty="0">
                <a:latin typeface="Consolas" panose="020B0609020204030204" pitchFamily="49" charset="0"/>
              </a:rPr>
              <a:t> </a:t>
            </a:r>
            <a:r>
              <a:rPr lang="sk-SK" sz="1100" dirty="0" err="1">
                <a:latin typeface="Consolas" panose="020B0609020204030204" pitchFamily="49" charset="0"/>
              </a:rPr>
              <a:t>fc00:ab00:1</a:t>
            </a:r>
            <a:r>
              <a:rPr lang="sk-SK" sz="1100" dirty="0">
                <a:latin typeface="Consolas" panose="020B0609020204030204" pitchFamily="49" charset="0"/>
              </a:rPr>
              <a:t>::/128, 5 </a:t>
            </a:r>
            <a:r>
              <a:rPr lang="sk-SK" sz="1100" dirty="0" err="1">
                <a:latin typeface="Consolas" panose="020B0609020204030204" pitchFamily="49" charset="0"/>
              </a:rPr>
              <a:t>dependencies</a:t>
            </a:r>
            <a:r>
              <a:rPr lang="sk-SK" sz="1100" dirty="0">
                <a:latin typeface="Consolas" panose="020B0609020204030204" pitchFamily="49" charset="0"/>
              </a:rPr>
              <a:t>, </a:t>
            </a:r>
            <a:r>
              <a:rPr lang="sk-SK" sz="1100" dirty="0" err="1">
                <a:latin typeface="Consolas" panose="020B0609020204030204" pitchFamily="49" charset="0"/>
              </a:rPr>
              <a:t>recursive</a:t>
            </a:r>
            <a:r>
              <a:rPr lang="sk-SK" sz="1100" dirty="0">
                <a:latin typeface="Consolas" panose="020B0609020204030204" pitchFamily="49" charset="0"/>
              </a:rPr>
              <a:t> [</a:t>
            </a:r>
            <a:r>
              <a:rPr lang="sk-SK" sz="1100" dirty="0" err="1">
                <a:latin typeface="Consolas" panose="020B0609020204030204" pitchFamily="49" charset="0"/>
              </a:rPr>
              <a:t>flags</a:t>
            </a:r>
            <a:r>
              <a:rPr lang="sk-SK" sz="1100" dirty="0">
                <a:latin typeface="Consolas" panose="020B0609020204030204" pitchFamily="49" charset="0"/>
              </a:rPr>
              <a:t> </a:t>
            </a:r>
            <a:r>
              <a:rPr lang="sk-SK" sz="1100" dirty="0" err="1">
                <a:latin typeface="Consolas" panose="020B0609020204030204" pitchFamily="49" charset="0"/>
              </a:rPr>
              <a:t>0x6000</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path-idx</a:t>
            </a:r>
            <a:r>
              <a:rPr lang="sk-SK" sz="1100" dirty="0">
                <a:latin typeface="Consolas" panose="020B0609020204030204" pitchFamily="49" charset="0"/>
              </a:rPr>
              <a:t> 0 </a:t>
            </a:r>
            <a:r>
              <a:rPr lang="sk-SK" sz="1100" dirty="0" err="1">
                <a:latin typeface="Consolas" panose="020B0609020204030204" pitchFamily="49" charset="0"/>
              </a:rPr>
              <a:t>NHID</a:t>
            </a:r>
            <a:r>
              <a:rPr lang="sk-SK" sz="1100" dirty="0">
                <a:latin typeface="Consolas" panose="020B0609020204030204" pitchFamily="49" charset="0"/>
              </a:rPr>
              <a:t> </a:t>
            </a:r>
            <a:r>
              <a:rPr lang="sk-SK" sz="1100" dirty="0" err="1">
                <a:latin typeface="Consolas" panose="020B0609020204030204" pitchFamily="49" charset="0"/>
              </a:rPr>
              <a:t>0x0</a:t>
            </a:r>
            <a:r>
              <a:rPr lang="sk-SK" sz="1100" dirty="0">
                <a:latin typeface="Consolas" panose="020B0609020204030204" pitchFamily="49" charset="0"/>
              </a:rPr>
              <a:t> [</a:t>
            </a:r>
            <a:r>
              <a:rPr lang="sk-SK" sz="1100" dirty="0" err="1">
                <a:latin typeface="Consolas" panose="020B0609020204030204" pitchFamily="49" charset="0"/>
              </a:rPr>
              <a:t>0xe37a8b0</a:t>
            </a:r>
            <a:r>
              <a:rPr lang="sk-SK" sz="1100" dirty="0">
                <a:latin typeface="Consolas" panose="020B0609020204030204" pitchFamily="49" charset="0"/>
              </a:rPr>
              <a:t> </a:t>
            </a:r>
            <a:r>
              <a:rPr lang="sk-SK" sz="1100" dirty="0" err="1">
                <a:latin typeface="Consolas" panose="020B0609020204030204" pitchFamily="49" charset="0"/>
              </a:rPr>
              <a:t>0x0</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next</a:t>
            </a:r>
            <a:r>
              <a:rPr lang="sk-SK" sz="1100" dirty="0">
                <a:latin typeface="Consolas" panose="020B0609020204030204" pitchFamily="49" charset="0"/>
              </a:rPr>
              <a:t> hop VRF - 'default', table - </a:t>
            </a:r>
            <a:r>
              <a:rPr lang="sk-SK" sz="1100" dirty="0" err="1">
                <a:latin typeface="Consolas" panose="020B0609020204030204" pitchFamily="49" charset="0"/>
              </a:rPr>
              <a:t>0xe0800000</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next</a:t>
            </a:r>
            <a:r>
              <a:rPr lang="sk-SK" sz="1100" dirty="0">
                <a:latin typeface="Consolas" panose="020B0609020204030204" pitchFamily="49" charset="0"/>
              </a:rPr>
              <a:t> hop </a:t>
            </a:r>
            <a:r>
              <a:rPr lang="sk-SK" sz="1100" dirty="0" err="1">
                <a:latin typeface="Consolas" panose="020B0609020204030204" pitchFamily="49" charset="0"/>
              </a:rPr>
              <a:t>fc00:ab00:1</a:t>
            </a:r>
            <a:r>
              <a:rPr lang="sk-SK" sz="1100" dirty="0">
                <a:latin typeface="Consolas" panose="020B0609020204030204" pitchFamily="49" charset="0"/>
              </a:rPr>
              <a:t>::/128 </a:t>
            </a:r>
            <a:r>
              <a:rPr lang="sk-SK" sz="1100" dirty="0" err="1">
                <a:latin typeface="Consolas" panose="020B0609020204030204" pitchFamily="49" charset="0"/>
              </a:rPr>
              <a:t>via</a:t>
            </a:r>
            <a:r>
              <a:rPr lang="sk-SK" sz="1100" dirty="0">
                <a:latin typeface="Consolas" panose="020B0609020204030204" pitchFamily="49" charset="0"/>
              </a:rPr>
              <a:t> </a:t>
            </a:r>
            <a:r>
              <a:rPr lang="sk-SK" sz="1100" dirty="0" err="1">
                <a:latin typeface="Consolas" panose="020B0609020204030204" pitchFamily="49" charset="0"/>
              </a:rPr>
              <a:t>fc00:ab00:1</a:t>
            </a:r>
            <a:r>
              <a:rPr lang="sk-SK" sz="1100" dirty="0">
                <a:latin typeface="Consolas" panose="020B0609020204030204" pitchFamily="49" charset="0"/>
              </a:rPr>
              <a:t>::/48</a:t>
            </a:r>
          </a:p>
          <a:p>
            <a:r>
              <a:rPr lang="sk-SK" sz="1100" dirty="0">
                <a:latin typeface="Consolas" panose="020B0609020204030204" pitchFamily="49" charset="0"/>
              </a:rPr>
              <a:t>    </a:t>
            </a:r>
            <a:r>
              <a:rPr lang="sk-SK" sz="1100" dirty="0" err="1">
                <a:latin typeface="Consolas" panose="020B0609020204030204" pitchFamily="49" charset="0"/>
              </a:rPr>
              <a:t>SRv6</a:t>
            </a:r>
            <a:r>
              <a:rPr lang="sk-SK" sz="1100" dirty="0">
                <a:latin typeface="Consolas" panose="020B0609020204030204" pitchFamily="49" charset="0"/>
              </a:rPr>
              <a:t> </a:t>
            </a:r>
            <a:r>
              <a:rPr lang="sk-SK" sz="1100" dirty="0" err="1">
                <a:latin typeface="Consolas" panose="020B0609020204030204" pitchFamily="49" charset="0"/>
              </a:rPr>
              <a:t>H.Encaps.Red</a:t>
            </a:r>
            <a:r>
              <a:rPr lang="sk-SK" sz="1100" dirty="0">
                <a:latin typeface="Consolas" panose="020B0609020204030204" pitchFamily="49" charset="0"/>
              </a:rPr>
              <a:t> </a:t>
            </a:r>
            <a:r>
              <a:rPr lang="sk-SK" sz="1100" dirty="0" err="1">
                <a:latin typeface="Consolas" panose="020B0609020204030204" pitchFamily="49" charset="0"/>
              </a:rPr>
              <a:t>SID</a:t>
            </a:r>
            <a:r>
              <a:rPr lang="sk-SK" sz="1100" dirty="0">
                <a:latin typeface="Consolas" panose="020B0609020204030204" pitchFamily="49" charset="0"/>
              </a:rPr>
              <a:t>-list {</a:t>
            </a:r>
            <a:r>
              <a:rPr lang="sk-SK" sz="1100" dirty="0" err="1">
                <a:highlight>
                  <a:srgbClr val="FF00FF"/>
                </a:highlight>
                <a:latin typeface="Consolas" panose="020B0609020204030204" pitchFamily="49" charset="0"/>
              </a:rPr>
              <a:t>fc00:ab00:1:e001</a:t>
            </a:r>
            <a:r>
              <a:rPr lang="sk-SK" sz="1100" dirty="0">
                <a:highlight>
                  <a:srgbClr val="FF00FF"/>
                </a:highlight>
                <a:latin typeface="Consolas" panose="020B0609020204030204" pitchFamily="49" charset="0"/>
              </a:rPr>
              <a:t>::</a:t>
            </a:r>
            <a:r>
              <a:rPr lang="sk-SK" sz="1100" dirty="0">
                <a:latin typeface="Consolas" panose="020B0609020204030204" pitchFamily="49" charset="0"/>
              </a:rPr>
              <a:t>}</a:t>
            </a:r>
          </a:p>
          <a:p>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Load</a:t>
            </a:r>
            <a:r>
              <a:rPr lang="sk-SK" sz="1100" dirty="0">
                <a:latin typeface="Consolas" panose="020B0609020204030204" pitchFamily="49" charset="0"/>
              </a:rPr>
              <a:t> </a:t>
            </a:r>
            <a:r>
              <a:rPr lang="sk-SK" sz="1100" dirty="0" err="1">
                <a:latin typeface="Consolas" panose="020B0609020204030204" pitchFamily="49" charset="0"/>
              </a:rPr>
              <a:t>distribution</a:t>
            </a:r>
            <a:r>
              <a:rPr lang="sk-SK" sz="1100" dirty="0">
                <a:latin typeface="Consolas" panose="020B0609020204030204" pitchFamily="49" charset="0"/>
              </a:rPr>
              <a:t>: 0 (refcount 5)</a:t>
            </a:r>
          </a:p>
          <a:p>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Hash</a:t>
            </a:r>
            <a:r>
              <a:rPr lang="sk-SK" sz="1100" dirty="0">
                <a:latin typeface="Consolas" panose="020B0609020204030204" pitchFamily="49" charset="0"/>
              </a:rPr>
              <a:t>  OK  Interface                 </a:t>
            </a:r>
            <a:r>
              <a:rPr lang="sk-SK" sz="1100" dirty="0" err="1">
                <a:latin typeface="Consolas" panose="020B0609020204030204" pitchFamily="49" charset="0"/>
              </a:rPr>
              <a:t>Address</a:t>
            </a:r>
            <a:endParaRPr lang="sk-SK" sz="1100" dirty="0">
              <a:latin typeface="Consolas" panose="020B0609020204030204" pitchFamily="49" charset="0"/>
            </a:endParaRPr>
          </a:p>
          <a:p>
            <a:r>
              <a:rPr lang="sk-SK" sz="1100" dirty="0">
                <a:latin typeface="Consolas" panose="020B0609020204030204" pitchFamily="49" charset="0"/>
              </a:rPr>
              <a:t>    0     Y   </a:t>
            </a:r>
            <a:r>
              <a:rPr lang="sk-SK" sz="1100" dirty="0" err="1">
                <a:latin typeface="Consolas" panose="020B0609020204030204" pitchFamily="49" charset="0"/>
              </a:rPr>
              <a:t>GigabitEthernet0</a:t>
            </a:r>
            <a:r>
              <a:rPr lang="sk-SK" sz="1100" dirty="0">
                <a:latin typeface="Consolas" panose="020B0609020204030204" pitchFamily="49" charset="0"/>
              </a:rPr>
              <a:t>/0/0/4    </a:t>
            </a:r>
            <a:r>
              <a:rPr lang="sk-SK" sz="1100" dirty="0" err="1">
                <a:latin typeface="Consolas" panose="020B0609020204030204" pitchFamily="49" charset="0"/>
              </a:rPr>
              <a:t>remote</a:t>
            </a:r>
            <a:r>
              <a:rPr lang="sk-SK" sz="1100" dirty="0">
                <a:latin typeface="Consolas" panose="020B0609020204030204" pitchFamily="49" charset="0"/>
              </a:rPr>
              <a:t>         </a:t>
            </a:r>
          </a:p>
          <a:p>
            <a:r>
              <a:rPr lang="sk-SK" sz="1100" dirty="0">
                <a:latin typeface="Consolas" panose="020B0609020204030204" pitchFamily="49" charset="0"/>
              </a:rPr>
              <a:t>          </a:t>
            </a:r>
          </a:p>
          <a:p>
            <a:r>
              <a:rPr lang="sk-SK" sz="1100" dirty="0">
                <a:latin typeface="Consolas" panose="020B0609020204030204" pitchFamily="49" charset="0"/>
              </a:rPr>
              <a:t>RP/0/RP0/</a:t>
            </a:r>
            <a:r>
              <a:rPr lang="sk-SK" sz="1100" dirty="0" err="1">
                <a:latin typeface="Consolas" panose="020B0609020204030204" pitchFamily="49" charset="0"/>
              </a:rPr>
              <a:t>CPU0:R04</a:t>
            </a:r>
            <a:r>
              <a:rPr lang="sk-SK" sz="1100" dirty="0">
                <a:latin typeface="Consolas" panose="020B0609020204030204" pitchFamily="49" charset="0"/>
              </a:rPr>
              <a:t>#</a:t>
            </a:r>
            <a:endParaRPr lang="en-US" sz="1100" dirty="0">
              <a:latin typeface="Consolas" panose="020B0609020204030204" pitchFamily="49" charset="0"/>
            </a:endParaRPr>
          </a:p>
        </p:txBody>
      </p:sp>
      <p:cxnSp>
        <p:nvCxnSpPr>
          <p:cNvPr id="8" name="Straight Arrow Connector 7">
            <a:extLst>
              <a:ext uri="{FF2B5EF4-FFF2-40B4-BE49-F238E27FC236}">
                <a16:creationId xmlns:a16="http://schemas.microsoft.com/office/drawing/2014/main" id="{C546E064-D9D0-8C45-22FA-9FA040356DAF}"/>
              </a:ext>
            </a:extLst>
          </p:cNvPr>
          <p:cNvCxnSpPr/>
          <p:nvPr/>
        </p:nvCxnSpPr>
        <p:spPr>
          <a:xfrm flipV="1">
            <a:off x="3232298" y="3429000"/>
            <a:ext cx="6613451" cy="17703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2D9C3D3-A853-50D9-F060-ACF30D8D0409}"/>
              </a:ext>
            </a:extLst>
          </p:cNvPr>
          <p:cNvCxnSpPr/>
          <p:nvPr/>
        </p:nvCxnSpPr>
        <p:spPr>
          <a:xfrm flipV="1">
            <a:off x="2264735" y="3429000"/>
            <a:ext cx="8261498" cy="5582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418689"/>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721DBD-20FD-469F-DC45-C9C2BDC8B199}"/>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78E53C79-C587-9DEB-BB18-FF32CF2366D9}"/>
              </a:ext>
            </a:extLst>
          </p:cNvPr>
          <p:cNvSpPr>
            <a:spLocks noGrp="1"/>
          </p:cNvSpPr>
          <p:nvPr>
            <p:ph type="body" sz="quarter" idx="11"/>
          </p:nvPr>
        </p:nvSpPr>
        <p:spPr/>
        <p:txBody>
          <a:bodyPr/>
          <a:lstStyle/>
          <a:p>
            <a:r>
              <a:rPr lang="en-US" dirty="0"/>
              <a:t>LAB </a:t>
            </a:r>
            <a:r>
              <a:rPr lang="en-US" dirty="0" err="1"/>
              <a:t>4a</a:t>
            </a:r>
            <a:r>
              <a:rPr lang="en-US" dirty="0"/>
              <a:t> – </a:t>
            </a:r>
            <a:r>
              <a:rPr lang="en-US" dirty="0" err="1"/>
              <a:t>uSID</a:t>
            </a:r>
            <a:r>
              <a:rPr lang="en-US" dirty="0"/>
              <a:t> + Dual connected PE</a:t>
            </a:r>
          </a:p>
        </p:txBody>
      </p:sp>
    </p:spTree>
    <p:extLst>
      <p:ext uri="{BB962C8B-B14F-4D97-AF65-F5344CB8AC3E}">
        <p14:creationId xmlns:p14="http://schemas.microsoft.com/office/powerpoint/2010/main" val="2554958161"/>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7DF76D3A-5E3E-4BC8-8F39-771134FF4322}"/>
              </a:ext>
            </a:extLst>
          </p:cNvPr>
          <p:cNvSpPr>
            <a:spLocks noGrp="1"/>
          </p:cNvSpPr>
          <p:nvPr>
            <p:ph type="body" idx="1"/>
          </p:nvPr>
        </p:nvSpPr>
        <p:spPr/>
        <p:txBody>
          <a:bodyPr/>
          <a:lstStyle/>
          <a:p>
            <a:r>
              <a:rPr lang="en-US" dirty="0"/>
              <a:t>MPLS/SRv6 VPN Interworking Gateway</a:t>
            </a:r>
            <a:endParaRPr lang="en-US" noProof="0" dirty="0"/>
          </a:p>
        </p:txBody>
      </p:sp>
      <p:sp>
        <p:nvSpPr>
          <p:cNvPr id="2" name="Text Placeholder 1">
            <a:extLst>
              <a:ext uri="{FF2B5EF4-FFF2-40B4-BE49-F238E27FC236}">
                <a16:creationId xmlns:a16="http://schemas.microsoft.com/office/drawing/2014/main" id="{B367786B-A4DD-DB9E-9087-78A451525AAC}"/>
              </a:ext>
            </a:extLst>
          </p:cNvPr>
          <p:cNvSpPr>
            <a:spLocks noGrp="1"/>
          </p:cNvSpPr>
          <p:nvPr>
            <p:ph type="body" sz="quarter" idx="15"/>
          </p:nvPr>
        </p:nvSpPr>
        <p:spPr/>
        <p:txBody>
          <a:bodyPr/>
          <a:lstStyle/>
          <a:p>
            <a:r>
              <a:rPr lang="en-US" dirty="0">
                <a:cs typeface="Calibri" pitchFamily="34" charset="0"/>
              </a:rPr>
              <a:t>SRv6 and service migration</a:t>
            </a:r>
            <a:endParaRPr lang="cs-CZ" dirty="0"/>
          </a:p>
        </p:txBody>
      </p:sp>
      <p:sp>
        <p:nvSpPr>
          <p:cNvPr id="5" name="Zástupný text 4">
            <a:extLst>
              <a:ext uri="{FF2B5EF4-FFF2-40B4-BE49-F238E27FC236}">
                <a16:creationId xmlns:a16="http://schemas.microsoft.com/office/drawing/2014/main" id="{CA46CB7B-0002-4873-B253-4D2438CC3611}"/>
              </a:ext>
            </a:extLst>
          </p:cNvPr>
          <p:cNvSpPr>
            <a:spLocks noGrp="1"/>
          </p:cNvSpPr>
          <p:nvPr>
            <p:ph type="body" sz="quarter" idx="13"/>
          </p:nvPr>
        </p:nvSpPr>
        <p:spPr/>
        <p:txBody>
          <a:bodyPr/>
          <a:lstStyle/>
          <a:p>
            <a:r>
              <a:rPr lang="en-US" dirty="0"/>
              <a:t>Segment Routing MPLS and SRv6</a:t>
            </a:r>
          </a:p>
        </p:txBody>
      </p:sp>
      <p:sp>
        <p:nvSpPr>
          <p:cNvPr id="6" name="Zástupný text 5">
            <a:extLst>
              <a:ext uri="{FF2B5EF4-FFF2-40B4-BE49-F238E27FC236}">
                <a16:creationId xmlns:a16="http://schemas.microsoft.com/office/drawing/2014/main" id="{955FA430-FA92-4EB5-849C-E3D05AB9B217}"/>
              </a:ext>
            </a:extLst>
          </p:cNvPr>
          <p:cNvSpPr>
            <a:spLocks noGrp="1"/>
          </p:cNvSpPr>
          <p:nvPr>
            <p:ph type="body" sz="quarter" idx="14"/>
          </p:nvPr>
        </p:nvSpPr>
        <p:spPr/>
        <p:txBody>
          <a:bodyPr/>
          <a:lstStyle/>
          <a:p>
            <a:r>
              <a:rPr lang="en-US" dirty="0"/>
              <a:t>MPLS and SRv6 Interworking</a:t>
            </a:r>
          </a:p>
        </p:txBody>
      </p:sp>
    </p:spTree>
    <p:extLst>
      <p:ext uri="{BB962C8B-B14F-4D97-AF65-F5344CB8AC3E}">
        <p14:creationId xmlns:p14="http://schemas.microsoft.com/office/powerpoint/2010/main" val="482333279"/>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873918" y="1047565"/>
            <a:ext cx="10444163" cy="4835519"/>
          </a:xfrm>
        </p:spPr>
        <p:txBody>
          <a:bodyPr/>
          <a:lstStyle/>
          <a:p>
            <a:r>
              <a:rPr lang="cs-CZ" dirty="0"/>
              <a:t>L3VPN </a:t>
            </a:r>
            <a:r>
              <a:rPr lang="cs-CZ" dirty="0" err="1"/>
              <a:t>services</a:t>
            </a:r>
            <a:endParaRPr lang="cs-CZ" dirty="0"/>
          </a:p>
          <a:p>
            <a:pPr lvl="1"/>
            <a:r>
              <a:rPr lang="cs-CZ" dirty="0"/>
              <a:t>SRv6 VPNv4 </a:t>
            </a:r>
            <a:r>
              <a:rPr lang="cs-CZ" dirty="0" err="1"/>
              <a:t>unicast</a:t>
            </a:r>
            <a:r>
              <a:rPr lang="cs-CZ" dirty="0"/>
              <a:t> ↔ MPLS (SR </a:t>
            </a:r>
            <a:r>
              <a:rPr lang="cs-CZ" dirty="0" err="1"/>
              <a:t>or</a:t>
            </a:r>
            <a:r>
              <a:rPr lang="cs-CZ" dirty="0"/>
              <a:t> LDP) VPNv4 </a:t>
            </a:r>
            <a:r>
              <a:rPr lang="cs-CZ" dirty="0" err="1"/>
              <a:t>unicast</a:t>
            </a:r>
            <a:endParaRPr lang="en-US" dirty="0"/>
          </a:p>
          <a:p>
            <a:pPr lvl="1"/>
            <a:r>
              <a:rPr lang="cs-CZ" dirty="0"/>
              <a:t>SRv6 VPNv6 </a:t>
            </a:r>
            <a:r>
              <a:rPr lang="cs-CZ" dirty="0" err="1"/>
              <a:t>unicast</a:t>
            </a:r>
            <a:r>
              <a:rPr lang="cs-CZ" dirty="0"/>
              <a:t> ↔ MPLS (SR </a:t>
            </a:r>
            <a:r>
              <a:rPr lang="cs-CZ" dirty="0" err="1"/>
              <a:t>or</a:t>
            </a:r>
            <a:r>
              <a:rPr lang="cs-CZ" dirty="0"/>
              <a:t> LDP) 6vPE (VPNv6 </a:t>
            </a:r>
            <a:r>
              <a:rPr lang="cs-CZ" dirty="0" err="1"/>
              <a:t>unicast</a:t>
            </a:r>
            <a:r>
              <a:rPr lang="cs-CZ" dirty="0"/>
              <a:t> </a:t>
            </a:r>
            <a:r>
              <a:rPr lang="cs-CZ" dirty="0" err="1"/>
              <a:t>over</a:t>
            </a:r>
            <a:r>
              <a:rPr lang="cs-CZ" dirty="0"/>
              <a:t> IPv4)</a:t>
            </a:r>
            <a:endParaRPr lang="en-US" dirty="0"/>
          </a:p>
          <a:p>
            <a:pPr lvl="1"/>
            <a:endParaRPr lang="cs-CZ" dirty="0"/>
          </a:p>
          <a:p>
            <a:r>
              <a:rPr lang="cs-CZ" dirty="0"/>
              <a:t>L3 </a:t>
            </a:r>
            <a:r>
              <a:rPr lang="cs-CZ" dirty="0" err="1"/>
              <a:t>Global</a:t>
            </a:r>
            <a:r>
              <a:rPr lang="cs-CZ" dirty="0"/>
              <a:t> Routing Table (GRT) </a:t>
            </a:r>
            <a:r>
              <a:rPr lang="cs-CZ" dirty="0" err="1"/>
              <a:t>services</a:t>
            </a:r>
            <a:endParaRPr lang="cs-CZ" dirty="0"/>
          </a:p>
          <a:p>
            <a:pPr lvl="1"/>
            <a:r>
              <a:rPr lang="cs-CZ" dirty="0"/>
              <a:t>SRv6 4PE (</a:t>
            </a:r>
            <a:r>
              <a:rPr lang="cs-CZ" dirty="0" err="1"/>
              <a:t>global</a:t>
            </a:r>
            <a:r>
              <a:rPr lang="cs-CZ" dirty="0"/>
              <a:t> IPv4 </a:t>
            </a:r>
            <a:r>
              <a:rPr lang="cs-CZ" dirty="0" err="1"/>
              <a:t>unicast</a:t>
            </a:r>
            <a:r>
              <a:rPr lang="cs-CZ" dirty="0"/>
              <a:t> </a:t>
            </a:r>
            <a:r>
              <a:rPr lang="cs-CZ" dirty="0" err="1"/>
              <a:t>over</a:t>
            </a:r>
            <a:r>
              <a:rPr lang="cs-CZ" dirty="0"/>
              <a:t> IPv6) ↔ MPLS (SR </a:t>
            </a:r>
            <a:r>
              <a:rPr lang="cs-CZ" dirty="0" err="1"/>
              <a:t>or</a:t>
            </a:r>
            <a:r>
              <a:rPr lang="cs-CZ" dirty="0"/>
              <a:t> LDP) </a:t>
            </a:r>
            <a:r>
              <a:rPr lang="cs-CZ" dirty="0" err="1"/>
              <a:t>global</a:t>
            </a:r>
            <a:r>
              <a:rPr lang="cs-CZ" dirty="0"/>
              <a:t> IPv4 </a:t>
            </a:r>
            <a:r>
              <a:rPr lang="cs-CZ" dirty="0" err="1"/>
              <a:t>unicast</a:t>
            </a:r>
            <a:endParaRPr lang="cs-CZ" dirty="0"/>
          </a:p>
          <a:p>
            <a:pPr lvl="1"/>
            <a:r>
              <a:rPr lang="cs-CZ" dirty="0"/>
              <a:t>SRv6 </a:t>
            </a:r>
            <a:r>
              <a:rPr lang="cs-CZ" dirty="0" err="1"/>
              <a:t>global</a:t>
            </a:r>
            <a:r>
              <a:rPr lang="cs-CZ" dirty="0"/>
              <a:t> IPv6 </a:t>
            </a:r>
            <a:r>
              <a:rPr lang="cs-CZ" dirty="0" err="1"/>
              <a:t>unicast</a:t>
            </a:r>
            <a:r>
              <a:rPr lang="cs-CZ" dirty="0"/>
              <a:t> ↔ MPLS (SR </a:t>
            </a:r>
            <a:r>
              <a:rPr lang="cs-CZ" dirty="0" err="1"/>
              <a:t>or</a:t>
            </a:r>
            <a:r>
              <a:rPr lang="cs-CZ" dirty="0"/>
              <a:t> LDP) 6PE (</a:t>
            </a:r>
            <a:r>
              <a:rPr lang="cs-CZ" dirty="0" err="1"/>
              <a:t>global</a:t>
            </a:r>
            <a:r>
              <a:rPr lang="cs-CZ" dirty="0"/>
              <a:t> IPv6 </a:t>
            </a:r>
            <a:r>
              <a:rPr lang="cs-CZ" dirty="0" err="1"/>
              <a:t>labeled</a:t>
            </a:r>
            <a:r>
              <a:rPr lang="cs-CZ" dirty="0"/>
              <a:t> </a:t>
            </a:r>
            <a:r>
              <a:rPr lang="cs-CZ" dirty="0" err="1"/>
              <a:t>unicast</a:t>
            </a:r>
            <a:r>
              <a:rPr lang="cs-CZ" dirty="0"/>
              <a:t> </a:t>
            </a:r>
            <a:r>
              <a:rPr lang="cs-CZ" dirty="0" err="1"/>
              <a:t>over</a:t>
            </a:r>
            <a:r>
              <a:rPr lang="cs-CZ" dirty="0"/>
              <a:t> IPv4)</a:t>
            </a:r>
          </a:p>
        </p:txBody>
      </p:sp>
      <p:sp>
        <p:nvSpPr>
          <p:cNvPr id="3" name="Text Placeholder 2"/>
          <p:cNvSpPr>
            <a:spLocks noGrp="1"/>
          </p:cNvSpPr>
          <p:nvPr>
            <p:ph type="body" sz="quarter" idx="11"/>
          </p:nvPr>
        </p:nvSpPr>
        <p:spPr>
          <a:xfrm>
            <a:off x="873918" y="153782"/>
            <a:ext cx="10444163" cy="773017"/>
          </a:xfrm>
        </p:spPr>
        <p:txBody>
          <a:bodyPr/>
          <a:lstStyle/>
          <a:p>
            <a:r>
              <a:rPr lang="en-US" sz="3200" dirty="0"/>
              <a:t>Services – MPLS/SRv6 VPN Interworking Gateway</a:t>
            </a:r>
            <a:endParaRPr lang="cs-CZ" sz="3200" dirty="0"/>
          </a:p>
        </p:txBody>
      </p:sp>
    </p:spTree>
    <p:extLst>
      <p:ext uri="{BB962C8B-B14F-4D97-AF65-F5344CB8AC3E}">
        <p14:creationId xmlns:p14="http://schemas.microsoft.com/office/powerpoint/2010/main" val="268382724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873918" y="1047565"/>
            <a:ext cx="10444163" cy="4835519"/>
          </a:xfrm>
        </p:spPr>
        <p:txBody>
          <a:bodyPr/>
          <a:lstStyle/>
          <a:p>
            <a:r>
              <a:rPr lang="en-US" sz="2000" dirty="0"/>
              <a:t>The SRv6/MPLS L3 Service Interworking Gateway provides </a:t>
            </a:r>
            <a:r>
              <a:rPr lang="en-US" sz="2000" b="1" dirty="0"/>
              <a:t>both transport and service termination</a:t>
            </a:r>
          </a:p>
          <a:p>
            <a:r>
              <a:rPr lang="en-US" sz="2000" dirty="0"/>
              <a:t>Two sets of Route Targets</a:t>
            </a:r>
          </a:p>
          <a:p>
            <a:pPr lvl="1"/>
            <a:r>
              <a:rPr lang="en-US" sz="2000" dirty="0"/>
              <a:t>MPLS L3VPN RTs</a:t>
            </a:r>
          </a:p>
          <a:p>
            <a:pPr lvl="1"/>
            <a:r>
              <a:rPr lang="en-US" sz="2000" dirty="0"/>
              <a:t>SRv6 L3VPN RTs (</a:t>
            </a:r>
            <a:r>
              <a:rPr lang="en-US" sz="2000" i="1" dirty="0"/>
              <a:t>stitching RTs</a:t>
            </a:r>
            <a:r>
              <a:rPr lang="en-US" sz="2000" dirty="0"/>
              <a:t>)</a:t>
            </a:r>
          </a:p>
          <a:p>
            <a:r>
              <a:rPr lang="en-US" sz="2000" dirty="0"/>
              <a:t>Gateway Functions</a:t>
            </a:r>
          </a:p>
          <a:p>
            <a:pPr lvl="1"/>
            <a:r>
              <a:rPr lang="en-US" sz="2000" dirty="0"/>
              <a:t>Gateway Imports service routes received from one domain (MPLS or SRv6)</a:t>
            </a:r>
          </a:p>
          <a:p>
            <a:pPr lvl="1"/>
            <a:r>
              <a:rPr lang="en-US" sz="2000" dirty="0"/>
              <a:t>Gateway re-advertise exported service routes to the other domain (</a:t>
            </a:r>
            <a:r>
              <a:rPr lang="en-US" sz="2000" dirty="0" err="1"/>
              <a:t>nexthop</a:t>
            </a:r>
            <a:r>
              <a:rPr lang="en-US" sz="2000" dirty="0"/>
              <a:t>-self)</a:t>
            </a:r>
          </a:p>
          <a:p>
            <a:pPr lvl="1"/>
            <a:r>
              <a:rPr lang="en-US" sz="2000" dirty="0"/>
              <a:t>Gateway stitches the service on the dataplane (uDT4/</a:t>
            </a:r>
            <a:r>
              <a:rPr lang="en-US" sz="2000" dirty="0" err="1"/>
              <a:t>H.Encap.Red</a:t>
            </a:r>
            <a:r>
              <a:rPr lang="en-US" sz="2000" dirty="0"/>
              <a:t> </a:t>
            </a:r>
            <a:r>
              <a:rPr lang="en-US" sz="2000" dirty="0">
                <a:sym typeface="Wingdings" panose="05000000000000000000" pitchFamily="2" charset="2"/>
              </a:rPr>
              <a:t>&lt;-&gt; service label)</a:t>
            </a:r>
          </a:p>
          <a:p>
            <a:pPr lvl="1"/>
            <a:endParaRPr lang="en-US" sz="2000" dirty="0">
              <a:sym typeface="Wingdings" panose="05000000000000000000" pitchFamily="2" charset="2"/>
            </a:endParaRPr>
          </a:p>
          <a:p>
            <a:pPr lvl="1"/>
            <a:r>
              <a:rPr lang="en-US" sz="2000" dirty="0">
                <a:sym typeface="Wingdings" panose="05000000000000000000" pitchFamily="2" charset="2"/>
              </a:rPr>
              <a:t>For </a:t>
            </a:r>
            <a:r>
              <a:rPr lang="en-US" sz="2000" dirty="0" err="1">
                <a:sym typeface="Wingdings" panose="05000000000000000000" pitchFamily="2" charset="2"/>
              </a:rPr>
              <a:t>VPNv4</a:t>
            </a:r>
            <a:r>
              <a:rPr lang="en-US" sz="2000" dirty="0">
                <a:sym typeface="Wingdings" panose="05000000000000000000" pitchFamily="2" charset="2"/>
              </a:rPr>
              <a:t> and </a:t>
            </a:r>
            <a:r>
              <a:rPr lang="en-US" sz="2000" dirty="0" err="1">
                <a:sym typeface="Wingdings" panose="05000000000000000000" pitchFamily="2" charset="2"/>
              </a:rPr>
              <a:t>VPNv6</a:t>
            </a:r>
            <a:r>
              <a:rPr lang="en-US" sz="2000" dirty="0">
                <a:sym typeface="Wingdings" panose="05000000000000000000" pitchFamily="2" charset="2"/>
              </a:rPr>
              <a:t> also</a:t>
            </a:r>
            <a:endParaRPr lang="cs-CZ" sz="2000" dirty="0"/>
          </a:p>
        </p:txBody>
      </p:sp>
      <p:sp>
        <p:nvSpPr>
          <p:cNvPr id="3" name="Text Placeholder 2"/>
          <p:cNvSpPr>
            <a:spLocks noGrp="1"/>
          </p:cNvSpPr>
          <p:nvPr>
            <p:ph type="body" sz="quarter" idx="11"/>
          </p:nvPr>
        </p:nvSpPr>
        <p:spPr>
          <a:xfrm>
            <a:off x="873918" y="153782"/>
            <a:ext cx="10444163" cy="773017"/>
          </a:xfrm>
        </p:spPr>
        <p:txBody>
          <a:bodyPr/>
          <a:lstStyle/>
          <a:p>
            <a:r>
              <a:rPr lang="en-US" sz="3200" dirty="0"/>
              <a:t>Services – MPLS/SRv6 VPN Interworking Gateway</a:t>
            </a:r>
            <a:endParaRPr lang="cs-CZ" sz="3200" dirty="0"/>
          </a:p>
        </p:txBody>
      </p:sp>
    </p:spTree>
    <p:extLst>
      <p:ext uri="{BB962C8B-B14F-4D97-AF65-F5344CB8AC3E}">
        <p14:creationId xmlns:p14="http://schemas.microsoft.com/office/powerpoint/2010/main" val="2377044372"/>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6BF245B-5C0D-1B4D-D793-64562F3EAA35}"/>
              </a:ext>
            </a:extLst>
          </p:cNvPr>
          <p:cNvSpPr>
            <a:spLocks noGrp="1"/>
          </p:cNvSpPr>
          <p:nvPr>
            <p:ph type="body" sz="quarter" idx="10"/>
          </p:nvPr>
        </p:nvSpPr>
        <p:spPr>
          <a:xfrm>
            <a:off x="873918" y="4485646"/>
            <a:ext cx="10444163" cy="1783269"/>
          </a:xfrm>
        </p:spPr>
        <p:txBody>
          <a:bodyPr/>
          <a:lstStyle/>
          <a:p>
            <a:r>
              <a:rPr lang="en-US" sz="2000" dirty="0"/>
              <a:t>Control plane: </a:t>
            </a:r>
          </a:p>
          <a:p>
            <a:pPr lvl="1"/>
            <a:r>
              <a:rPr lang="en-US" sz="2000" dirty="0"/>
              <a:t>Gateway imports SRv6 service route 93.0.0.0/8 and re-advertises in the MPLS domain with VPN label 90009</a:t>
            </a:r>
          </a:p>
          <a:p>
            <a:r>
              <a:rPr lang="en-US" sz="2000" dirty="0"/>
              <a:t>Data plane: </a:t>
            </a:r>
          </a:p>
          <a:p>
            <a:pPr lvl="1"/>
            <a:r>
              <a:rPr lang="en-US" sz="2000" dirty="0"/>
              <a:t>Gateway POPs the VPN label 90009, looks up the destination in VRF 9 and pushes the appropriate SRv6 encapsulation</a:t>
            </a:r>
          </a:p>
        </p:txBody>
      </p:sp>
      <p:sp>
        <p:nvSpPr>
          <p:cNvPr id="3" name="Text Placeholder 2">
            <a:extLst>
              <a:ext uri="{FF2B5EF4-FFF2-40B4-BE49-F238E27FC236}">
                <a16:creationId xmlns:a16="http://schemas.microsoft.com/office/drawing/2014/main" id="{BAC0D667-F6BB-F0EA-949C-763E1FCC7FD5}"/>
              </a:ext>
            </a:extLst>
          </p:cNvPr>
          <p:cNvSpPr>
            <a:spLocks noGrp="1"/>
          </p:cNvSpPr>
          <p:nvPr>
            <p:ph type="body" sz="quarter" idx="11"/>
          </p:nvPr>
        </p:nvSpPr>
        <p:spPr/>
        <p:txBody>
          <a:bodyPr/>
          <a:lstStyle/>
          <a:p>
            <a:r>
              <a:rPr lang="en-US" dirty="0"/>
              <a:t>L3VPN – MPLS to SRv6</a:t>
            </a:r>
          </a:p>
        </p:txBody>
      </p:sp>
      <p:pic>
        <p:nvPicPr>
          <p:cNvPr id="5" name="Picture 4" descr="A diagram of a diagram&#10;&#10;Description automatically generated">
            <a:extLst>
              <a:ext uri="{FF2B5EF4-FFF2-40B4-BE49-F238E27FC236}">
                <a16:creationId xmlns:a16="http://schemas.microsoft.com/office/drawing/2014/main" id="{DD25E3F3-4ED6-6ED1-8653-183C757834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158" y="926799"/>
            <a:ext cx="10653683" cy="3558848"/>
          </a:xfrm>
          <a:prstGeom prst="rect">
            <a:avLst/>
          </a:prstGeom>
        </p:spPr>
      </p:pic>
    </p:spTree>
    <p:extLst>
      <p:ext uri="{BB962C8B-B14F-4D97-AF65-F5344CB8AC3E}">
        <p14:creationId xmlns:p14="http://schemas.microsoft.com/office/powerpoint/2010/main" val="141522168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6BF245B-5C0D-1B4D-D793-64562F3EAA35}"/>
              </a:ext>
            </a:extLst>
          </p:cNvPr>
          <p:cNvSpPr>
            <a:spLocks noGrp="1"/>
          </p:cNvSpPr>
          <p:nvPr>
            <p:ph type="body" sz="quarter" idx="10"/>
          </p:nvPr>
        </p:nvSpPr>
        <p:spPr>
          <a:xfrm>
            <a:off x="873918" y="4485646"/>
            <a:ext cx="10444163" cy="1783269"/>
          </a:xfrm>
        </p:spPr>
        <p:txBody>
          <a:bodyPr/>
          <a:lstStyle/>
          <a:p>
            <a:r>
              <a:rPr lang="en-US" sz="2000" dirty="0"/>
              <a:t>Control plane: </a:t>
            </a:r>
          </a:p>
          <a:p>
            <a:pPr lvl="1"/>
            <a:r>
              <a:rPr lang="en-US" sz="2000" dirty="0"/>
              <a:t>Gateway imports MPLS service route 91.0.0.0/8 and re-advertises in the SRv6 domain with End.DT4 SID B:2:T9::</a:t>
            </a:r>
          </a:p>
          <a:p>
            <a:r>
              <a:rPr lang="en-US" sz="2000" dirty="0"/>
              <a:t>Data plane: </a:t>
            </a:r>
          </a:p>
          <a:p>
            <a:pPr lvl="1"/>
            <a:r>
              <a:rPr lang="en-US" sz="2000" dirty="0"/>
              <a:t>Gateway removes the outer IPv6 header, looks up the destination in VRF 9 and pushes the service and </a:t>
            </a:r>
            <a:r>
              <a:rPr lang="en-US" sz="2000" dirty="0" err="1"/>
              <a:t>nexthop</a:t>
            </a:r>
            <a:r>
              <a:rPr lang="en-US" sz="2000" dirty="0"/>
              <a:t> labels</a:t>
            </a:r>
          </a:p>
        </p:txBody>
      </p:sp>
      <p:sp>
        <p:nvSpPr>
          <p:cNvPr id="3" name="Text Placeholder 2">
            <a:extLst>
              <a:ext uri="{FF2B5EF4-FFF2-40B4-BE49-F238E27FC236}">
                <a16:creationId xmlns:a16="http://schemas.microsoft.com/office/drawing/2014/main" id="{BAC0D667-F6BB-F0EA-949C-763E1FCC7FD5}"/>
              </a:ext>
            </a:extLst>
          </p:cNvPr>
          <p:cNvSpPr>
            <a:spLocks noGrp="1"/>
          </p:cNvSpPr>
          <p:nvPr>
            <p:ph type="body" sz="quarter" idx="11"/>
          </p:nvPr>
        </p:nvSpPr>
        <p:spPr/>
        <p:txBody>
          <a:bodyPr/>
          <a:lstStyle/>
          <a:p>
            <a:r>
              <a:rPr lang="en-US" dirty="0"/>
              <a:t>L3VPN – SRv6 to MPLS</a:t>
            </a:r>
          </a:p>
        </p:txBody>
      </p:sp>
      <p:pic>
        <p:nvPicPr>
          <p:cNvPr id="6" name="Picture 5" descr="A diagram of a diagram&#10;&#10;Description automatically generated">
            <a:extLst>
              <a:ext uri="{FF2B5EF4-FFF2-40B4-BE49-F238E27FC236}">
                <a16:creationId xmlns:a16="http://schemas.microsoft.com/office/drawing/2014/main" id="{55999348-2E9A-9080-82DC-B0A56DEF04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3918" y="966072"/>
            <a:ext cx="10486029" cy="3528366"/>
          </a:xfrm>
          <a:prstGeom prst="rect">
            <a:avLst/>
          </a:prstGeom>
        </p:spPr>
      </p:pic>
    </p:spTree>
    <p:extLst>
      <p:ext uri="{BB962C8B-B14F-4D97-AF65-F5344CB8AC3E}">
        <p14:creationId xmlns:p14="http://schemas.microsoft.com/office/powerpoint/2010/main" val="3857777112"/>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80BBF9C-209C-2FD7-8942-FCD259EA5AB2}"/>
              </a:ext>
            </a:extLst>
          </p:cNvPr>
          <p:cNvSpPr>
            <a:spLocks noGrp="1"/>
          </p:cNvSpPr>
          <p:nvPr>
            <p:ph type="body" sz="quarter" idx="11"/>
          </p:nvPr>
        </p:nvSpPr>
        <p:spPr/>
        <p:txBody>
          <a:bodyPr/>
          <a:lstStyle/>
          <a:p>
            <a:r>
              <a:rPr lang="en-US" sz="3200" dirty="0"/>
              <a:t>SRv6/MPLS L3 Service Interworking Gateway</a:t>
            </a:r>
          </a:p>
        </p:txBody>
      </p:sp>
      <p:pic>
        <p:nvPicPr>
          <p:cNvPr id="5" name="Picture 4" descr="A screenshot of a computer screen&#10;&#10;AI-generated content may be incorrect.">
            <a:extLst>
              <a:ext uri="{FF2B5EF4-FFF2-40B4-BE49-F238E27FC236}">
                <a16:creationId xmlns:a16="http://schemas.microsoft.com/office/drawing/2014/main" id="{7CE9D4D0-519A-6522-8C6D-6CD330F84A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8267" y="2250281"/>
            <a:ext cx="10486029" cy="4595258"/>
          </a:xfrm>
          <a:prstGeom prst="rect">
            <a:avLst/>
          </a:prstGeom>
        </p:spPr>
      </p:pic>
      <p:pic>
        <p:nvPicPr>
          <p:cNvPr id="7" name="Picture 6" descr="A diagram with a number and a circle&#10;&#10;AI-generated content may be incorrect.">
            <a:extLst>
              <a:ext uri="{FF2B5EF4-FFF2-40B4-BE49-F238E27FC236}">
                <a16:creationId xmlns:a16="http://schemas.microsoft.com/office/drawing/2014/main" id="{9FFACD2A-B78C-F286-32B6-4E1654A982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65908" y="885254"/>
            <a:ext cx="4419599" cy="1363054"/>
          </a:xfrm>
          <a:prstGeom prst="rect">
            <a:avLst/>
          </a:prstGeom>
        </p:spPr>
      </p:pic>
    </p:spTree>
    <p:extLst>
      <p:ext uri="{BB962C8B-B14F-4D97-AF65-F5344CB8AC3E}">
        <p14:creationId xmlns:p14="http://schemas.microsoft.com/office/powerpoint/2010/main" val="2680766243"/>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F9A05E0-6D3B-F10A-81CE-4F8630F42CF7}"/>
              </a:ext>
            </a:extLst>
          </p:cNvPr>
          <p:cNvSpPr>
            <a:spLocks noGrp="1"/>
          </p:cNvSpPr>
          <p:nvPr>
            <p:ph type="body" sz="quarter" idx="10"/>
          </p:nvPr>
        </p:nvSpPr>
        <p:spPr/>
        <p:txBody>
          <a:bodyPr/>
          <a:lstStyle/>
          <a:p>
            <a:r>
              <a:rPr lang="en-US" dirty="0"/>
              <a:t>There is L3 VPN configured as </a:t>
            </a:r>
            <a:r>
              <a:rPr lang="en-US" b="1" dirty="0"/>
              <a:t>vrf A</a:t>
            </a:r>
            <a:r>
              <a:rPr lang="en-US" dirty="0"/>
              <a:t> with  </a:t>
            </a:r>
            <a:r>
              <a:rPr lang="en-US" b="1" dirty="0"/>
              <a:t>RD = 65000:1 </a:t>
            </a:r>
            <a:r>
              <a:rPr lang="en-US" dirty="0"/>
              <a:t>(could be the same for SRv6 and MPLS since IOS-XR 24.1.1)</a:t>
            </a:r>
          </a:p>
          <a:p>
            <a:r>
              <a:rPr lang="en-US" dirty="0"/>
              <a:t>SRv6 L3VPN vrf A use RT= 65000:1(import + export)</a:t>
            </a:r>
          </a:p>
          <a:p>
            <a:r>
              <a:rPr lang="en-US" dirty="0"/>
              <a:t>MPLS L3VPN vrf A use RT=65000:1001 (import + export)</a:t>
            </a:r>
          </a:p>
          <a:p>
            <a:r>
              <a:rPr lang="en-US" dirty="0"/>
              <a:t>we use vrf A-GW on </a:t>
            </a:r>
            <a:r>
              <a:rPr lang="en-US" dirty="0" err="1"/>
              <a:t>R02</a:t>
            </a:r>
            <a:r>
              <a:rPr lang="en-US" dirty="0"/>
              <a:t> (MPLS/SRv6 VPN Interworking GW) with RD=65000:2 (must be different than vrf A – still IOS-XR limitation)</a:t>
            </a:r>
          </a:p>
          <a:p>
            <a:endParaRPr lang="en-US" dirty="0"/>
          </a:p>
        </p:txBody>
      </p:sp>
      <p:sp>
        <p:nvSpPr>
          <p:cNvPr id="3" name="Text Placeholder 2">
            <a:extLst>
              <a:ext uri="{FF2B5EF4-FFF2-40B4-BE49-F238E27FC236}">
                <a16:creationId xmlns:a16="http://schemas.microsoft.com/office/drawing/2014/main" id="{BA0E7D03-5965-F818-082E-2FBCD2DF6425}"/>
              </a:ext>
            </a:extLst>
          </p:cNvPr>
          <p:cNvSpPr>
            <a:spLocks noGrp="1"/>
          </p:cNvSpPr>
          <p:nvPr>
            <p:ph type="body" sz="quarter" idx="11"/>
          </p:nvPr>
        </p:nvSpPr>
        <p:spPr/>
        <p:txBody>
          <a:bodyPr/>
          <a:lstStyle/>
          <a:p>
            <a:r>
              <a:rPr lang="en-US" dirty="0"/>
              <a:t>Configuration example - LAB</a:t>
            </a:r>
          </a:p>
        </p:txBody>
      </p:sp>
    </p:spTree>
    <p:extLst>
      <p:ext uri="{BB962C8B-B14F-4D97-AF65-F5344CB8AC3E}">
        <p14:creationId xmlns:p14="http://schemas.microsoft.com/office/powerpoint/2010/main" val="1610511917"/>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C5E2CDC-9367-D667-3F8A-8A3F2D03B139}"/>
              </a:ext>
            </a:extLst>
          </p:cNvPr>
          <p:cNvSpPr>
            <a:spLocks noGrp="1"/>
          </p:cNvSpPr>
          <p:nvPr>
            <p:ph type="body" sz="quarter" idx="10"/>
          </p:nvPr>
        </p:nvSpPr>
        <p:spPr/>
        <p:txBody>
          <a:bodyPr/>
          <a:lstStyle/>
          <a:p>
            <a:r>
              <a:rPr lang="en-US" sz="1800" b="1" dirty="0" err="1"/>
              <a:t>R02</a:t>
            </a:r>
            <a:r>
              <a:rPr lang="en-US" sz="1800" b="1" dirty="0"/>
              <a:t> is MPLS/SRv6 interworking GW – vrf A-GW “translation” </a:t>
            </a:r>
            <a:r>
              <a:rPr lang="en-US" sz="1800" b="1" dirty="0" err="1"/>
              <a:t>RT65000:1001</a:t>
            </a:r>
            <a:r>
              <a:rPr lang="en-US" sz="1800" b="1" dirty="0"/>
              <a:t> &lt;-&gt; </a:t>
            </a:r>
            <a:r>
              <a:rPr lang="en-US" sz="1800" b="1" dirty="0" err="1"/>
              <a:t>RT65000:1</a:t>
            </a:r>
            <a:endParaRPr lang="en-US" sz="1800" b="1" dirty="0"/>
          </a:p>
          <a:p>
            <a:r>
              <a:rPr lang="en-US" sz="1800" dirty="0" err="1"/>
              <a:t>R31</a:t>
            </a:r>
            <a:r>
              <a:rPr lang="en-US" sz="1800" dirty="0"/>
              <a:t> is MPLS only – no special config , vrf A use RT 65000:1001</a:t>
            </a:r>
          </a:p>
          <a:p>
            <a:r>
              <a:rPr lang="en-US" sz="1800" dirty="0" err="1"/>
              <a:t>R01</a:t>
            </a:r>
            <a:r>
              <a:rPr lang="en-US" sz="1800" dirty="0"/>
              <a:t> (IOS-XR), R21(IOS-XE) are SRv6 – no special config, vrf A use RT 65000:1</a:t>
            </a:r>
          </a:p>
        </p:txBody>
      </p:sp>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a:xfrm>
            <a:off x="873918" y="12461"/>
            <a:ext cx="10444163" cy="773017"/>
          </a:xfrm>
        </p:spPr>
        <p:txBody>
          <a:bodyPr/>
          <a:lstStyle/>
          <a:p>
            <a:r>
              <a:rPr lang="en-US" dirty="0"/>
              <a:t>MPLS / SRv6 VPN Interworking Gateway #1/2</a:t>
            </a:r>
          </a:p>
        </p:txBody>
      </p:sp>
      <p:sp>
        <p:nvSpPr>
          <p:cNvPr id="4" name="Rectangle 3">
            <a:extLst>
              <a:ext uri="{FF2B5EF4-FFF2-40B4-BE49-F238E27FC236}">
                <a16:creationId xmlns:a16="http://schemas.microsoft.com/office/drawing/2014/main" id="{87D7CB37-5BEE-FF8F-7602-60627856E0E8}"/>
              </a:ext>
            </a:extLst>
          </p:cNvPr>
          <p:cNvSpPr/>
          <p:nvPr/>
        </p:nvSpPr>
        <p:spPr>
          <a:xfrm>
            <a:off x="85061" y="2230989"/>
            <a:ext cx="5699602" cy="3108543"/>
          </a:xfrm>
          <a:prstGeom prst="rect">
            <a:avLst/>
          </a:prstGeom>
          <a:solidFill>
            <a:schemeClr val="bg1">
              <a:lumMod val="95000"/>
            </a:schemeClr>
          </a:solidFill>
          <a:ln>
            <a:solidFill>
              <a:schemeClr val="tx1"/>
            </a:solidFill>
          </a:ln>
          <a:effectLst/>
        </p:spPr>
        <p:txBody>
          <a:bodyPr wrap="square">
            <a:spAutoFit/>
          </a:bodyPr>
          <a:lstStyle/>
          <a:p>
            <a:r>
              <a:rPr lang="en-US" sz="1400" i="1" dirty="0">
                <a:solidFill>
                  <a:srgbClr val="7030A0"/>
                </a:solidFill>
                <a:latin typeface="Consolas" panose="020B0609020204030204" pitchFamily="49" charset="0"/>
              </a:rPr>
              <a:t>!! core part of the config</a:t>
            </a:r>
          </a:p>
          <a:p>
            <a:r>
              <a:rPr lang="en-US" sz="1400" dirty="0">
                <a:latin typeface="Consolas" panose="020B0609020204030204" pitchFamily="49" charset="0"/>
              </a:rPr>
              <a:t>interface </a:t>
            </a:r>
            <a:r>
              <a:rPr lang="en-US" sz="1400" dirty="0" err="1">
                <a:latin typeface="Consolas" panose="020B0609020204030204" pitchFamily="49" charset="0"/>
              </a:rPr>
              <a:t>Loopback0</a:t>
            </a:r>
            <a:endParaRPr lang="en-US" sz="1400" dirty="0">
              <a:latin typeface="Consolas" panose="020B0609020204030204" pitchFamily="49" charset="0"/>
            </a:endParaRPr>
          </a:p>
          <a:p>
            <a:r>
              <a:rPr lang="en-US" sz="1400" dirty="0">
                <a:latin typeface="Consolas" panose="020B0609020204030204" pitchFamily="49" charset="0"/>
              </a:rPr>
              <a:t> </a:t>
            </a:r>
            <a:r>
              <a:rPr lang="en-US" sz="1400" dirty="0" err="1">
                <a:latin typeface="Consolas" panose="020B0609020204030204" pitchFamily="49" charset="0"/>
              </a:rPr>
              <a:t>ipv4</a:t>
            </a:r>
            <a:r>
              <a:rPr lang="en-US" sz="1400" dirty="0">
                <a:latin typeface="Consolas" panose="020B0609020204030204" pitchFamily="49" charset="0"/>
              </a:rPr>
              <a:t> address 1.1.1.2 255.255.255.255 </a:t>
            </a:r>
            <a:r>
              <a:rPr lang="en-US" sz="1400" i="1" dirty="0">
                <a:solidFill>
                  <a:srgbClr val="7030A0"/>
                </a:solidFill>
                <a:latin typeface="Consolas" panose="020B0609020204030204" pitchFamily="49" charset="0"/>
              </a:rPr>
              <a:t>!! MPLS identity</a:t>
            </a:r>
          </a:p>
          <a:p>
            <a:r>
              <a:rPr lang="en-US" sz="1400" dirty="0">
                <a:latin typeface="Consolas" panose="020B0609020204030204" pitchFamily="49" charset="0"/>
              </a:rPr>
              <a:t> </a:t>
            </a:r>
            <a:r>
              <a:rPr lang="en-US" sz="1400" dirty="0" err="1">
                <a:latin typeface="Consolas" panose="020B0609020204030204" pitchFamily="49" charset="0"/>
              </a:rPr>
              <a:t>ipv6</a:t>
            </a:r>
            <a:r>
              <a:rPr lang="en-US" sz="1400" dirty="0">
                <a:latin typeface="Consolas" panose="020B0609020204030204" pitchFamily="49" charset="0"/>
              </a:rPr>
              <a:t> address 2001:9999::2/128        </a:t>
            </a:r>
            <a:r>
              <a:rPr lang="en-US" sz="1400" i="1" dirty="0">
                <a:solidFill>
                  <a:srgbClr val="7030A0"/>
                </a:solidFill>
                <a:latin typeface="Consolas" panose="020B0609020204030204" pitchFamily="49" charset="0"/>
              </a:rPr>
              <a:t>!! SRv6</a:t>
            </a:r>
          </a:p>
          <a:p>
            <a:r>
              <a:rPr lang="en-US" sz="1400" dirty="0">
                <a:latin typeface="Consolas" panose="020B0609020204030204" pitchFamily="49" charset="0"/>
              </a:rPr>
              <a:t>!</a:t>
            </a:r>
          </a:p>
          <a:p>
            <a:r>
              <a:rPr lang="en-US" sz="1400" dirty="0">
                <a:latin typeface="Consolas" panose="020B0609020204030204" pitchFamily="49" charset="0"/>
              </a:rPr>
              <a:t>segment-routing</a:t>
            </a:r>
          </a:p>
          <a:p>
            <a:r>
              <a:rPr lang="en-US" sz="1400" dirty="0">
                <a:latin typeface="Consolas" panose="020B0609020204030204" pitchFamily="49" charset="0"/>
              </a:rPr>
              <a:t> srv6</a:t>
            </a:r>
          </a:p>
          <a:p>
            <a:r>
              <a:rPr lang="en-US" sz="1400" dirty="0">
                <a:latin typeface="Consolas" panose="020B0609020204030204" pitchFamily="49" charset="0"/>
              </a:rPr>
              <a:t>  logging locator status</a:t>
            </a:r>
          </a:p>
          <a:p>
            <a:r>
              <a:rPr lang="en-US" sz="1400" dirty="0">
                <a:latin typeface="Consolas" panose="020B0609020204030204" pitchFamily="49" charset="0"/>
              </a:rPr>
              <a:t>  locators</a:t>
            </a:r>
          </a:p>
          <a:p>
            <a:r>
              <a:rPr lang="en-US" sz="1400" dirty="0">
                <a:latin typeface="Consolas" panose="020B0609020204030204" pitchFamily="49" charset="0"/>
              </a:rPr>
              <a:t>   locator </a:t>
            </a:r>
            <a:r>
              <a:rPr lang="en-US" sz="1400" dirty="0" err="1">
                <a:latin typeface="Consolas" panose="020B0609020204030204" pitchFamily="49" charset="0"/>
              </a:rPr>
              <a:t>Loc_uSID_Algo_0</a:t>
            </a:r>
            <a:endParaRPr lang="en-US" sz="1400" dirty="0">
              <a:latin typeface="Consolas" panose="020B0609020204030204" pitchFamily="49" charset="0"/>
            </a:endParaRPr>
          </a:p>
          <a:p>
            <a:r>
              <a:rPr lang="en-US" sz="1400" dirty="0">
                <a:latin typeface="Consolas" panose="020B0609020204030204" pitchFamily="49" charset="0"/>
              </a:rPr>
              <a:t>    micro-segment behavior </a:t>
            </a:r>
            <a:r>
              <a:rPr lang="en-US" sz="1400" dirty="0" err="1">
                <a:latin typeface="Consolas" panose="020B0609020204030204" pitchFamily="49" charset="0"/>
              </a:rPr>
              <a:t>unode</a:t>
            </a:r>
            <a:r>
              <a:rPr lang="en-US" sz="1400" dirty="0">
                <a:latin typeface="Consolas" panose="020B0609020204030204" pitchFamily="49" charset="0"/>
              </a:rPr>
              <a:t> </a:t>
            </a:r>
            <a:r>
              <a:rPr lang="en-US" sz="1400" dirty="0" err="1">
                <a:latin typeface="Consolas" panose="020B0609020204030204" pitchFamily="49" charset="0"/>
              </a:rPr>
              <a:t>psp-usd</a:t>
            </a:r>
            <a:endParaRPr lang="en-US" sz="1400" dirty="0">
              <a:latin typeface="Consolas" panose="020B0609020204030204" pitchFamily="49" charset="0"/>
            </a:endParaRPr>
          </a:p>
          <a:p>
            <a:r>
              <a:rPr lang="en-US" sz="1400" dirty="0">
                <a:latin typeface="Consolas" panose="020B0609020204030204" pitchFamily="49" charset="0"/>
              </a:rPr>
              <a:t>    prefix </a:t>
            </a:r>
            <a:r>
              <a:rPr lang="en-US" sz="1400" dirty="0" err="1">
                <a:latin typeface="Consolas" panose="020B0609020204030204" pitchFamily="49" charset="0"/>
              </a:rPr>
              <a:t>fc00:ab00:2</a:t>
            </a:r>
            <a:r>
              <a:rPr lang="en-US" sz="1400" dirty="0">
                <a:latin typeface="Consolas" panose="020B0609020204030204" pitchFamily="49" charset="0"/>
              </a:rPr>
              <a:t>::/48	</a:t>
            </a:r>
            <a:r>
              <a:rPr lang="en-US" sz="1400" i="1" dirty="0">
                <a:solidFill>
                  <a:srgbClr val="7030A0"/>
                </a:solidFill>
                <a:latin typeface="Consolas" panose="020B0609020204030204" pitchFamily="49" charset="0"/>
              </a:rPr>
              <a:t>!! SRv6 </a:t>
            </a:r>
            <a:r>
              <a:rPr lang="en-US" sz="1400" i="1" dirty="0" err="1">
                <a:solidFill>
                  <a:srgbClr val="7030A0"/>
                </a:solidFill>
                <a:latin typeface="Consolas" panose="020B0609020204030204" pitchFamily="49" charset="0"/>
              </a:rPr>
              <a:t>uSID</a:t>
            </a:r>
            <a:endParaRPr lang="en-US" sz="1400" dirty="0">
              <a:latin typeface="Consolas" panose="020B0609020204030204" pitchFamily="49" charset="0"/>
            </a:endParaRPr>
          </a:p>
          <a:p>
            <a:r>
              <a:rPr lang="en-US" sz="1400" dirty="0">
                <a:latin typeface="Consolas" panose="020B0609020204030204" pitchFamily="49" charset="0"/>
              </a:rPr>
              <a:t>   !</a:t>
            </a:r>
          </a:p>
          <a:p>
            <a:endParaRPr lang="sk-SK" sz="1400" dirty="0">
              <a:solidFill>
                <a:srgbClr val="FF0000"/>
              </a:solidFill>
              <a:latin typeface="Consolas" panose="020B0609020204030204" pitchFamily="49" charset="0"/>
            </a:endParaRPr>
          </a:p>
        </p:txBody>
      </p:sp>
      <p:sp>
        <p:nvSpPr>
          <p:cNvPr id="2" name="Rectangle 1">
            <a:extLst>
              <a:ext uri="{FF2B5EF4-FFF2-40B4-BE49-F238E27FC236}">
                <a16:creationId xmlns:a16="http://schemas.microsoft.com/office/drawing/2014/main" id="{52EACD3F-DF5C-B0B1-AAFE-7D882A80E55E}"/>
              </a:ext>
            </a:extLst>
          </p:cNvPr>
          <p:cNvSpPr/>
          <p:nvPr/>
        </p:nvSpPr>
        <p:spPr>
          <a:xfrm>
            <a:off x="5904614" y="2230989"/>
            <a:ext cx="5699602" cy="4401205"/>
          </a:xfrm>
          <a:prstGeom prst="rect">
            <a:avLst/>
          </a:prstGeom>
          <a:solidFill>
            <a:schemeClr val="bg1">
              <a:lumMod val="95000"/>
            </a:schemeClr>
          </a:solidFill>
          <a:ln>
            <a:solidFill>
              <a:schemeClr val="tx1"/>
            </a:solidFill>
          </a:ln>
          <a:effectLst/>
        </p:spPr>
        <p:txBody>
          <a:bodyPr wrap="square">
            <a:spAutoFit/>
          </a:bodyPr>
          <a:lstStyle/>
          <a:p>
            <a:r>
              <a:rPr lang="en-US" sz="1400" i="1" dirty="0">
                <a:solidFill>
                  <a:srgbClr val="7030A0"/>
                </a:solidFill>
                <a:latin typeface="Consolas" panose="020B0609020204030204" pitchFamily="49" charset="0"/>
              </a:rPr>
              <a:t>!! vrf A-GW</a:t>
            </a:r>
          </a:p>
          <a:p>
            <a:r>
              <a:rPr lang="en-US" sz="1400" dirty="0">
                <a:latin typeface="Consolas" panose="020B0609020204030204" pitchFamily="49" charset="0"/>
              </a:rPr>
              <a:t>vrf A-GW</a:t>
            </a:r>
          </a:p>
          <a:p>
            <a:r>
              <a:rPr lang="en-US" sz="1400" dirty="0">
                <a:latin typeface="Consolas" panose="020B0609020204030204" pitchFamily="49" charset="0"/>
              </a:rPr>
              <a:t> address-family </a:t>
            </a:r>
            <a:r>
              <a:rPr lang="en-US" sz="1400" dirty="0" err="1">
                <a:latin typeface="Consolas" panose="020B0609020204030204" pitchFamily="49" charset="0"/>
              </a:rPr>
              <a:t>ipv4</a:t>
            </a:r>
            <a:r>
              <a:rPr lang="en-US" sz="1400" dirty="0">
                <a:latin typeface="Consolas" panose="020B0609020204030204" pitchFamily="49" charset="0"/>
              </a:rPr>
              <a:t> unicast</a:t>
            </a:r>
          </a:p>
          <a:p>
            <a:r>
              <a:rPr lang="en-US" sz="1400" dirty="0">
                <a:latin typeface="Consolas" panose="020B0609020204030204" pitchFamily="49" charset="0"/>
              </a:rPr>
              <a:t>  import route-target</a:t>
            </a:r>
          </a:p>
          <a:p>
            <a:r>
              <a:rPr lang="en-US" sz="1400" dirty="0">
                <a:latin typeface="Consolas" panose="020B0609020204030204" pitchFamily="49" charset="0"/>
              </a:rPr>
              <a:t>   65000:1 stitching	</a:t>
            </a:r>
            <a:r>
              <a:rPr lang="en-US" sz="1400" i="1" dirty="0">
                <a:solidFill>
                  <a:srgbClr val="7030A0"/>
                </a:solidFill>
                <a:latin typeface="Consolas" panose="020B0609020204030204" pitchFamily="49" charset="0"/>
              </a:rPr>
              <a:t>!! SRv6</a:t>
            </a:r>
            <a:endParaRPr lang="en-US" sz="1400" dirty="0">
              <a:latin typeface="Consolas" panose="020B0609020204030204" pitchFamily="49" charset="0"/>
            </a:endParaRPr>
          </a:p>
          <a:p>
            <a:r>
              <a:rPr lang="en-US" sz="1400" dirty="0">
                <a:latin typeface="Consolas" panose="020B0609020204030204" pitchFamily="49" charset="0"/>
              </a:rPr>
              <a:t>   65000:1001		</a:t>
            </a:r>
            <a:r>
              <a:rPr lang="en-US" sz="1400" i="1" dirty="0">
                <a:solidFill>
                  <a:srgbClr val="7030A0"/>
                </a:solidFill>
                <a:latin typeface="Consolas" panose="020B0609020204030204" pitchFamily="49" charset="0"/>
              </a:rPr>
              <a:t>!! MPLS </a:t>
            </a:r>
            <a:endParaRPr lang="en-US" sz="1400" dirty="0">
              <a:latin typeface="Consolas" panose="020B0609020204030204" pitchFamily="49" charset="0"/>
            </a:endParaRPr>
          </a:p>
          <a:p>
            <a:r>
              <a:rPr lang="en-US" sz="1400" dirty="0">
                <a:latin typeface="Consolas" panose="020B0609020204030204" pitchFamily="49" charset="0"/>
              </a:rPr>
              <a:t>  !</a:t>
            </a:r>
          </a:p>
          <a:p>
            <a:r>
              <a:rPr lang="en-US" sz="1400" dirty="0">
                <a:latin typeface="Consolas" panose="020B0609020204030204" pitchFamily="49" charset="0"/>
              </a:rPr>
              <a:t>  export route-target</a:t>
            </a:r>
          </a:p>
          <a:p>
            <a:r>
              <a:rPr lang="en-US" sz="1400" dirty="0">
                <a:latin typeface="Consolas" panose="020B0609020204030204" pitchFamily="49" charset="0"/>
              </a:rPr>
              <a:t>   65000:1 stitching	</a:t>
            </a:r>
            <a:r>
              <a:rPr lang="en-US" sz="1400" i="1" dirty="0">
                <a:solidFill>
                  <a:srgbClr val="7030A0"/>
                </a:solidFill>
                <a:latin typeface="Consolas" panose="020B0609020204030204" pitchFamily="49" charset="0"/>
              </a:rPr>
              <a:t>!! SRv6</a:t>
            </a:r>
            <a:endParaRPr lang="en-US" sz="1400" dirty="0">
              <a:latin typeface="Consolas" panose="020B0609020204030204" pitchFamily="49" charset="0"/>
            </a:endParaRPr>
          </a:p>
          <a:p>
            <a:r>
              <a:rPr lang="en-US" sz="1400" dirty="0">
                <a:latin typeface="Consolas" panose="020B0609020204030204" pitchFamily="49" charset="0"/>
              </a:rPr>
              <a:t>   65000:1001		</a:t>
            </a:r>
            <a:r>
              <a:rPr lang="en-US" sz="1400" i="1" dirty="0">
                <a:solidFill>
                  <a:srgbClr val="7030A0"/>
                </a:solidFill>
                <a:latin typeface="Consolas" panose="020B0609020204030204" pitchFamily="49" charset="0"/>
              </a:rPr>
              <a:t>!! MPLS </a:t>
            </a:r>
            <a:endParaRPr lang="en-US" sz="1400" dirty="0">
              <a:latin typeface="Consolas" panose="020B0609020204030204" pitchFamily="49" charset="0"/>
            </a:endParaRPr>
          </a:p>
          <a:p>
            <a:r>
              <a:rPr lang="en-US" sz="1400" dirty="0">
                <a:latin typeface="Consolas" panose="020B0609020204030204" pitchFamily="49" charset="0"/>
              </a:rPr>
              <a:t>  !</a:t>
            </a:r>
          </a:p>
          <a:p>
            <a:r>
              <a:rPr lang="en-US" sz="1400" dirty="0">
                <a:latin typeface="Consolas" panose="020B0609020204030204" pitchFamily="49" charset="0"/>
              </a:rPr>
              <a:t> !</a:t>
            </a:r>
          </a:p>
          <a:p>
            <a:r>
              <a:rPr lang="en-US" sz="1400" dirty="0">
                <a:latin typeface="Consolas" panose="020B0609020204030204" pitchFamily="49" charset="0"/>
              </a:rPr>
              <a:t> address-family </a:t>
            </a:r>
            <a:r>
              <a:rPr lang="en-US" sz="1400" dirty="0" err="1">
                <a:latin typeface="Consolas" panose="020B0609020204030204" pitchFamily="49" charset="0"/>
              </a:rPr>
              <a:t>ipv6</a:t>
            </a:r>
            <a:r>
              <a:rPr lang="en-US" sz="1400" dirty="0">
                <a:latin typeface="Consolas" panose="020B0609020204030204" pitchFamily="49" charset="0"/>
              </a:rPr>
              <a:t> unicast</a:t>
            </a:r>
          </a:p>
          <a:p>
            <a:r>
              <a:rPr lang="en-US" sz="1400" dirty="0">
                <a:latin typeface="Consolas" panose="020B0609020204030204" pitchFamily="49" charset="0"/>
              </a:rPr>
              <a:t>  import route-target</a:t>
            </a:r>
          </a:p>
          <a:p>
            <a:r>
              <a:rPr lang="en-US" sz="1400" dirty="0">
                <a:latin typeface="Consolas" panose="020B0609020204030204" pitchFamily="49" charset="0"/>
              </a:rPr>
              <a:t>   65000:1 stitching</a:t>
            </a:r>
          </a:p>
          <a:p>
            <a:r>
              <a:rPr lang="en-US" sz="1400" dirty="0">
                <a:latin typeface="Consolas" panose="020B0609020204030204" pitchFamily="49" charset="0"/>
              </a:rPr>
              <a:t>   65000:1001</a:t>
            </a:r>
          </a:p>
          <a:p>
            <a:r>
              <a:rPr lang="en-US" sz="1400" dirty="0">
                <a:latin typeface="Consolas" panose="020B0609020204030204" pitchFamily="49" charset="0"/>
              </a:rPr>
              <a:t>  !</a:t>
            </a:r>
          </a:p>
          <a:p>
            <a:r>
              <a:rPr lang="en-US" sz="1400" dirty="0">
                <a:latin typeface="Consolas" panose="020B0609020204030204" pitchFamily="49" charset="0"/>
              </a:rPr>
              <a:t>  export route-target</a:t>
            </a:r>
          </a:p>
          <a:p>
            <a:r>
              <a:rPr lang="en-US" sz="1400" dirty="0">
                <a:latin typeface="Consolas" panose="020B0609020204030204" pitchFamily="49" charset="0"/>
              </a:rPr>
              <a:t>   65000:1 stitching</a:t>
            </a:r>
          </a:p>
          <a:p>
            <a:r>
              <a:rPr lang="en-US" sz="1400" dirty="0">
                <a:latin typeface="Consolas" panose="020B0609020204030204" pitchFamily="49" charset="0"/>
              </a:rPr>
              <a:t>   65000:1001</a:t>
            </a:r>
          </a:p>
        </p:txBody>
      </p:sp>
    </p:spTree>
    <p:extLst>
      <p:ext uri="{BB962C8B-B14F-4D97-AF65-F5344CB8AC3E}">
        <p14:creationId xmlns:p14="http://schemas.microsoft.com/office/powerpoint/2010/main" val="3432216615"/>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a:xfrm>
            <a:off x="873918" y="12461"/>
            <a:ext cx="10444163" cy="773017"/>
          </a:xfrm>
        </p:spPr>
        <p:txBody>
          <a:bodyPr/>
          <a:lstStyle/>
          <a:p>
            <a:r>
              <a:rPr lang="en-US" dirty="0"/>
              <a:t>MPLS / SRv6 VPN Interworking Gateway #2/2</a:t>
            </a:r>
          </a:p>
        </p:txBody>
      </p:sp>
      <p:sp>
        <p:nvSpPr>
          <p:cNvPr id="5" name="Rectangle 4">
            <a:extLst>
              <a:ext uri="{FF2B5EF4-FFF2-40B4-BE49-F238E27FC236}">
                <a16:creationId xmlns:a16="http://schemas.microsoft.com/office/drawing/2014/main" id="{A04F5EE3-4DD0-66D0-1E01-24F6F1F561C3}"/>
              </a:ext>
            </a:extLst>
          </p:cNvPr>
          <p:cNvSpPr/>
          <p:nvPr/>
        </p:nvSpPr>
        <p:spPr>
          <a:xfrm>
            <a:off x="272111" y="785813"/>
            <a:ext cx="5699602" cy="5447645"/>
          </a:xfrm>
          <a:prstGeom prst="rect">
            <a:avLst/>
          </a:prstGeom>
          <a:solidFill>
            <a:schemeClr val="bg1">
              <a:lumMod val="95000"/>
            </a:schemeClr>
          </a:solidFill>
          <a:ln>
            <a:solidFill>
              <a:schemeClr val="tx1"/>
            </a:solidFill>
          </a:ln>
          <a:effectLst/>
        </p:spPr>
        <p:txBody>
          <a:bodyPr wrap="square">
            <a:spAutoFit/>
          </a:bodyPr>
          <a:lstStyle/>
          <a:p>
            <a:r>
              <a:rPr lang="sk-SK" sz="1200" dirty="0">
                <a:latin typeface="Consolas" panose="020B0609020204030204" pitchFamily="49" charset="0"/>
              </a:rPr>
              <a:t>!</a:t>
            </a:r>
          </a:p>
          <a:p>
            <a:r>
              <a:rPr lang="sk-SK" sz="1200" dirty="0">
                <a:latin typeface="Consolas" panose="020B0609020204030204" pitchFamily="49" charset="0"/>
              </a:rPr>
              <a:t>router bgp 65000</a:t>
            </a:r>
          </a:p>
          <a:p>
            <a:r>
              <a:rPr lang="sk-SK" sz="1200" dirty="0">
                <a:latin typeface="Consolas" panose="020B0609020204030204" pitchFamily="49" charset="0"/>
              </a:rPr>
              <a:t> bgp router-id 1.1.1.2</a:t>
            </a:r>
          </a:p>
          <a:p>
            <a:r>
              <a:rPr lang="sk-SK" sz="1200" dirty="0">
                <a:latin typeface="Consolas" panose="020B0609020204030204" pitchFamily="49" charset="0"/>
              </a:rPr>
              <a:t> segment-routing </a:t>
            </a:r>
            <a:r>
              <a:rPr lang="sk-SK" sz="1200" dirty="0" err="1">
                <a:latin typeface="Consolas" panose="020B0609020204030204" pitchFamily="49" charset="0"/>
              </a:rPr>
              <a:t>srv6</a:t>
            </a:r>
            <a:endParaRPr lang="sk-SK" sz="1200" dirty="0">
              <a:latin typeface="Consolas" panose="020B0609020204030204" pitchFamily="49" charset="0"/>
            </a:endParaRPr>
          </a:p>
          <a:p>
            <a:r>
              <a:rPr lang="sk-SK" sz="1200" dirty="0">
                <a:latin typeface="Consolas" panose="020B0609020204030204" pitchFamily="49" charset="0"/>
              </a:rPr>
              <a:t>  </a:t>
            </a:r>
            <a:r>
              <a:rPr lang="sk-SK" sz="1200" dirty="0" err="1">
                <a:latin typeface="Consolas" panose="020B0609020204030204" pitchFamily="49" charset="0"/>
              </a:rPr>
              <a:t>locator</a:t>
            </a:r>
            <a:r>
              <a:rPr lang="sk-SK" sz="1200" dirty="0">
                <a:latin typeface="Consolas" panose="020B0609020204030204" pitchFamily="49" charset="0"/>
              </a:rPr>
              <a:t> </a:t>
            </a:r>
            <a:r>
              <a:rPr lang="sk-SK" sz="1200" dirty="0" err="1">
                <a:latin typeface="Consolas" panose="020B0609020204030204" pitchFamily="49" charset="0"/>
              </a:rPr>
              <a:t>Loc_uSID_Algo_0</a:t>
            </a:r>
            <a:endParaRPr lang="sk-SK" sz="1200" dirty="0">
              <a:latin typeface="Consolas" panose="020B0609020204030204" pitchFamily="49" charset="0"/>
            </a:endParaRPr>
          </a:p>
          <a:p>
            <a:r>
              <a:rPr lang="sk-SK" sz="1200" dirty="0">
                <a:latin typeface="Consolas" panose="020B0609020204030204" pitchFamily="49" charset="0"/>
              </a:rPr>
              <a:t> </a:t>
            </a:r>
            <a:r>
              <a:rPr lang="sk-SK" sz="1200" i="1" dirty="0">
                <a:solidFill>
                  <a:srgbClr val="7030A0"/>
                </a:solidFill>
                <a:latin typeface="Consolas" panose="020B0609020204030204" pitchFamily="49" charset="0"/>
              </a:rPr>
              <a:t>!</a:t>
            </a:r>
            <a:r>
              <a:rPr lang="en-US" sz="1200" i="1" dirty="0">
                <a:solidFill>
                  <a:srgbClr val="7030A0"/>
                </a:solidFill>
                <a:latin typeface="Consolas" panose="020B0609020204030204" pitchFamily="49" charset="0"/>
              </a:rPr>
              <a:t>! Activate AF</a:t>
            </a:r>
            <a:endParaRPr lang="sk-SK" sz="1200" i="1" dirty="0">
              <a:solidFill>
                <a:srgbClr val="7030A0"/>
              </a:solidFill>
              <a:latin typeface="Consolas" panose="020B0609020204030204" pitchFamily="49" charset="0"/>
            </a:endParaRPr>
          </a:p>
          <a:p>
            <a:r>
              <a:rPr lang="sk-SK" sz="1200" dirty="0">
                <a:latin typeface="Consolas" panose="020B0609020204030204" pitchFamily="49" charset="0"/>
              </a:rPr>
              <a:t> </a:t>
            </a:r>
            <a:r>
              <a:rPr lang="sk-SK" sz="1200" dirty="0" err="1">
                <a:latin typeface="Consolas" panose="020B0609020204030204" pitchFamily="49" charset="0"/>
              </a:rPr>
              <a:t>address-family</a:t>
            </a:r>
            <a:r>
              <a:rPr lang="sk-SK" sz="1200" dirty="0">
                <a:latin typeface="Consolas" panose="020B0609020204030204" pitchFamily="49" charset="0"/>
              </a:rPr>
              <a:t> </a:t>
            </a:r>
            <a:r>
              <a:rPr lang="sk-SK" sz="1200" dirty="0" err="1">
                <a:latin typeface="Consolas" panose="020B0609020204030204" pitchFamily="49" charset="0"/>
              </a:rPr>
              <a:t>ipv4</a:t>
            </a:r>
            <a:r>
              <a:rPr lang="sk-SK" sz="1200" dirty="0">
                <a:latin typeface="Consolas" panose="020B0609020204030204" pitchFamily="49" charset="0"/>
              </a:rPr>
              <a:t> </a:t>
            </a:r>
            <a:r>
              <a:rPr lang="sk-SK" sz="1200" dirty="0" err="1">
                <a:latin typeface="Consolas" panose="020B0609020204030204" pitchFamily="49" charset="0"/>
              </a:rPr>
              <a:t>unicast</a:t>
            </a:r>
            <a:endParaRPr lang="sk-SK" sz="1200" dirty="0">
              <a:latin typeface="Consolas" panose="020B0609020204030204" pitchFamily="49" charset="0"/>
            </a:endParaRPr>
          </a:p>
          <a:p>
            <a:r>
              <a:rPr lang="sk-SK" sz="1200" dirty="0">
                <a:latin typeface="Consolas" panose="020B0609020204030204" pitchFamily="49" charset="0"/>
              </a:rPr>
              <a:t> </a:t>
            </a:r>
            <a:r>
              <a:rPr lang="sk-SK" sz="1200" dirty="0" err="1">
                <a:latin typeface="Consolas" panose="020B0609020204030204" pitchFamily="49" charset="0"/>
              </a:rPr>
              <a:t>address-family</a:t>
            </a:r>
            <a:r>
              <a:rPr lang="sk-SK" sz="1200" dirty="0">
                <a:latin typeface="Consolas" panose="020B0609020204030204" pitchFamily="49" charset="0"/>
              </a:rPr>
              <a:t> </a:t>
            </a:r>
            <a:r>
              <a:rPr lang="sk-SK" sz="1200" dirty="0" err="1">
                <a:latin typeface="Consolas" panose="020B0609020204030204" pitchFamily="49" charset="0"/>
              </a:rPr>
              <a:t>vpnv4</a:t>
            </a:r>
            <a:r>
              <a:rPr lang="sk-SK" sz="1200" dirty="0">
                <a:latin typeface="Consolas" panose="020B0609020204030204" pitchFamily="49" charset="0"/>
              </a:rPr>
              <a:t> </a:t>
            </a:r>
            <a:r>
              <a:rPr lang="sk-SK" sz="1200" dirty="0" err="1">
                <a:latin typeface="Consolas" panose="020B0609020204030204" pitchFamily="49" charset="0"/>
              </a:rPr>
              <a:t>unicast</a:t>
            </a:r>
            <a:endParaRPr lang="sk-SK" sz="1200" dirty="0">
              <a:latin typeface="Consolas" panose="020B0609020204030204" pitchFamily="49" charset="0"/>
            </a:endParaRPr>
          </a:p>
          <a:p>
            <a:r>
              <a:rPr lang="en-US" sz="1200" dirty="0">
                <a:latin typeface="Consolas" panose="020B0609020204030204" pitchFamily="49" charset="0"/>
              </a:rPr>
              <a:t> </a:t>
            </a:r>
            <a:r>
              <a:rPr lang="sk-SK" sz="1200" dirty="0" err="1">
                <a:latin typeface="Consolas" panose="020B0609020204030204" pitchFamily="49" charset="0"/>
              </a:rPr>
              <a:t>address-family</a:t>
            </a:r>
            <a:r>
              <a:rPr lang="sk-SK" sz="1200" dirty="0">
                <a:latin typeface="Consolas" panose="020B0609020204030204" pitchFamily="49" charset="0"/>
              </a:rPr>
              <a:t> </a:t>
            </a:r>
            <a:r>
              <a:rPr lang="sk-SK" sz="1200" dirty="0" err="1">
                <a:latin typeface="Consolas" panose="020B0609020204030204" pitchFamily="49" charset="0"/>
              </a:rPr>
              <a:t>vpnv6</a:t>
            </a:r>
            <a:r>
              <a:rPr lang="sk-SK" sz="1200" dirty="0">
                <a:latin typeface="Consolas" panose="020B0609020204030204" pitchFamily="49" charset="0"/>
              </a:rPr>
              <a:t> </a:t>
            </a:r>
            <a:r>
              <a:rPr lang="sk-SK" sz="1200" dirty="0" err="1">
                <a:latin typeface="Consolas" panose="020B0609020204030204" pitchFamily="49" charset="0"/>
              </a:rPr>
              <a:t>unicast</a:t>
            </a:r>
            <a:endParaRPr lang="sk-SK" sz="1200" dirty="0">
              <a:latin typeface="Consolas" panose="020B0609020204030204" pitchFamily="49" charset="0"/>
            </a:endParaRPr>
          </a:p>
          <a:p>
            <a:r>
              <a:rPr lang="sk-SK" sz="1200" dirty="0">
                <a:latin typeface="Consolas" panose="020B0609020204030204" pitchFamily="49" charset="0"/>
              </a:rPr>
              <a:t> </a:t>
            </a:r>
            <a:r>
              <a:rPr lang="sk-SK" sz="1200" dirty="0" err="1">
                <a:latin typeface="Consolas" panose="020B0609020204030204" pitchFamily="49" charset="0"/>
              </a:rPr>
              <a:t>address-family</a:t>
            </a:r>
            <a:r>
              <a:rPr lang="sk-SK" sz="1200" dirty="0">
                <a:latin typeface="Consolas" panose="020B0609020204030204" pitchFamily="49" charset="0"/>
              </a:rPr>
              <a:t> </a:t>
            </a:r>
            <a:r>
              <a:rPr lang="sk-SK" sz="1200" dirty="0" err="1">
                <a:latin typeface="Consolas" panose="020B0609020204030204" pitchFamily="49" charset="0"/>
              </a:rPr>
              <a:t>l2vpn</a:t>
            </a:r>
            <a:r>
              <a:rPr lang="sk-SK" sz="1200" dirty="0">
                <a:latin typeface="Consolas" panose="020B0609020204030204" pitchFamily="49" charset="0"/>
              </a:rPr>
              <a:t> </a:t>
            </a:r>
            <a:r>
              <a:rPr lang="sk-SK" sz="1200" dirty="0" err="1">
                <a:latin typeface="Consolas" panose="020B0609020204030204" pitchFamily="49" charset="0"/>
              </a:rPr>
              <a:t>evpn</a:t>
            </a:r>
            <a:endParaRPr lang="sk-SK" sz="1200" dirty="0">
              <a:latin typeface="Consolas" panose="020B0609020204030204" pitchFamily="49" charset="0"/>
            </a:endParaRPr>
          </a:p>
          <a:p>
            <a:r>
              <a:rPr lang="sk-SK" sz="1200" dirty="0">
                <a:latin typeface="Consolas" panose="020B0609020204030204" pitchFamily="49" charset="0"/>
              </a:rPr>
              <a:t> </a:t>
            </a:r>
            <a:r>
              <a:rPr lang="sk-SK" sz="1200" i="1" dirty="0">
                <a:solidFill>
                  <a:srgbClr val="7030A0"/>
                </a:solidFill>
                <a:latin typeface="Consolas" panose="020B0609020204030204" pitchFamily="49" charset="0"/>
              </a:rPr>
              <a:t>!</a:t>
            </a:r>
            <a:r>
              <a:rPr lang="en-US" sz="1200" i="1" dirty="0">
                <a:solidFill>
                  <a:srgbClr val="7030A0"/>
                </a:solidFill>
                <a:latin typeface="Consolas" panose="020B0609020204030204" pitchFamily="49" charset="0"/>
              </a:rPr>
              <a:t>! MPLS side</a:t>
            </a:r>
            <a:endParaRPr lang="sk-SK" sz="1200" i="1" dirty="0">
              <a:solidFill>
                <a:srgbClr val="7030A0"/>
              </a:solidFill>
              <a:latin typeface="Consolas" panose="020B0609020204030204" pitchFamily="49" charset="0"/>
            </a:endParaRPr>
          </a:p>
          <a:p>
            <a:r>
              <a:rPr lang="sk-SK" sz="1200" dirty="0">
                <a:latin typeface="Consolas" panose="020B0609020204030204" pitchFamily="49" charset="0"/>
              </a:rPr>
              <a:t> </a:t>
            </a:r>
            <a:r>
              <a:rPr lang="sk-SK" sz="1200" dirty="0" err="1">
                <a:latin typeface="Consolas" panose="020B0609020204030204" pitchFamily="49" charset="0"/>
              </a:rPr>
              <a:t>neighbor-group</a:t>
            </a:r>
            <a:r>
              <a:rPr lang="sk-SK" sz="1200" dirty="0">
                <a:latin typeface="Consolas" panose="020B0609020204030204" pitchFamily="49" charset="0"/>
              </a:rPr>
              <a:t> </a:t>
            </a:r>
            <a:r>
              <a:rPr lang="sk-SK" sz="1200" dirty="0" err="1">
                <a:latin typeface="Consolas" panose="020B0609020204030204" pitchFamily="49" charset="0"/>
              </a:rPr>
              <a:t>RRv4</a:t>
            </a:r>
            <a:endParaRPr lang="sk-SK" sz="1200" dirty="0">
              <a:latin typeface="Consolas" panose="020B0609020204030204" pitchFamily="49" charset="0"/>
            </a:endParaRPr>
          </a:p>
          <a:p>
            <a:r>
              <a:rPr lang="sk-SK" sz="1200" dirty="0">
                <a:latin typeface="Consolas" panose="020B0609020204030204" pitchFamily="49" charset="0"/>
              </a:rPr>
              <a:t>  </a:t>
            </a:r>
            <a:r>
              <a:rPr lang="sk-SK" sz="1200" dirty="0" err="1">
                <a:latin typeface="Consolas" panose="020B0609020204030204" pitchFamily="49" charset="0"/>
              </a:rPr>
              <a:t>remote</a:t>
            </a:r>
            <a:r>
              <a:rPr lang="sk-SK" sz="1200" dirty="0">
                <a:latin typeface="Consolas" panose="020B0609020204030204" pitchFamily="49" charset="0"/>
              </a:rPr>
              <a:t>-as 65000</a:t>
            </a:r>
          </a:p>
          <a:p>
            <a:r>
              <a:rPr lang="sk-SK" sz="1200" dirty="0">
                <a:latin typeface="Consolas" panose="020B0609020204030204" pitchFamily="49" charset="0"/>
              </a:rPr>
              <a:t>  update-</a:t>
            </a:r>
            <a:r>
              <a:rPr lang="sk-SK" sz="1200" dirty="0" err="1">
                <a:latin typeface="Consolas" panose="020B0609020204030204" pitchFamily="49" charset="0"/>
              </a:rPr>
              <a:t>source</a:t>
            </a:r>
            <a:r>
              <a:rPr lang="sk-SK" sz="1200" dirty="0">
                <a:latin typeface="Consolas" panose="020B0609020204030204" pitchFamily="49" charset="0"/>
              </a:rPr>
              <a:t> </a:t>
            </a:r>
            <a:r>
              <a:rPr lang="sk-SK" sz="1200" dirty="0" err="1">
                <a:latin typeface="Consolas" panose="020B0609020204030204" pitchFamily="49" charset="0"/>
              </a:rPr>
              <a:t>Loopback0</a:t>
            </a:r>
            <a:endParaRPr lang="sk-SK" sz="1200" dirty="0">
              <a:latin typeface="Consolas" panose="020B0609020204030204" pitchFamily="49" charset="0"/>
            </a:endParaRPr>
          </a:p>
          <a:p>
            <a:r>
              <a:rPr lang="sk-SK" sz="1200" dirty="0">
                <a:latin typeface="Consolas" panose="020B0609020204030204" pitchFamily="49" charset="0"/>
              </a:rPr>
              <a:t>  </a:t>
            </a:r>
            <a:r>
              <a:rPr lang="sk-SK" sz="1200" dirty="0" err="1">
                <a:latin typeface="Consolas" panose="020B0609020204030204" pitchFamily="49" charset="0"/>
              </a:rPr>
              <a:t>address-family</a:t>
            </a:r>
            <a:r>
              <a:rPr lang="sk-SK" sz="1200" dirty="0">
                <a:latin typeface="Consolas" panose="020B0609020204030204" pitchFamily="49" charset="0"/>
              </a:rPr>
              <a:t> </a:t>
            </a:r>
            <a:r>
              <a:rPr lang="sk-SK" sz="1200" dirty="0" err="1">
                <a:latin typeface="Consolas" panose="020B0609020204030204" pitchFamily="49" charset="0"/>
              </a:rPr>
              <a:t>vpnv4</a:t>
            </a:r>
            <a:r>
              <a:rPr lang="sk-SK" sz="1200" dirty="0">
                <a:latin typeface="Consolas" panose="020B0609020204030204" pitchFamily="49" charset="0"/>
              </a:rPr>
              <a:t> </a:t>
            </a:r>
            <a:r>
              <a:rPr lang="sk-SK" sz="1200" dirty="0" err="1">
                <a:latin typeface="Consolas" panose="020B0609020204030204" pitchFamily="49" charset="0"/>
              </a:rPr>
              <a:t>unicast</a:t>
            </a:r>
            <a:endParaRPr lang="sk-SK" sz="1200" dirty="0">
              <a:latin typeface="Consolas" panose="020B0609020204030204" pitchFamily="49" charset="0"/>
            </a:endParaRPr>
          </a:p>
          <a:p>
            <a:r>
              <a:rPr lang="sk-SK" sz="1200" dirty="0">
                <a:latin typeface="Consolas" panose="020B0609020204030204" pitchFamily="49" charset="0"/>
              </a:rPr>
              <a:t>   import </a:t>
            </a:r>
            <a:r>
              <a:rPr lang="sk-SK" sz="1200" dirty="0" err="1">
                <a:latin typeface="Consolas" panose="020B0609020204030204" pitchFamily="49" charset="0"/>
              </a:rPr>
              <a:t>reoriginate</a:t>
            </a:r>
            <a:r>
              <a:rPr lang="sk-SK" sz="1200" dirty="0">
                <a:latin typeface="Consolas" panose="020B0609020204030204" pitchFamily="49" charset="0"/>
              </a:rPr>
              <a:t> </a:t>
            </a:r>
            <a:r>
              <a:rPr lang="sk-SK" sz="1200" dirty="0" err="1">
                <a:latin typeface="Consolas" panose="020B0609020204030204" pitchFamily="49" charset="0"/>
              </a:rPr>
              <a:t>stitching-rt</a:t>
            </a:r>
            <a:endParaRPr lang="sk-SK" sz="1200" dirty="0">
              <a:latin typeface="Consolas" panose="020B0609020204030204" pitchFamily="49" charset="0"/>
            </a:endParaRPr>
          </a:p>
          <a:p>
            <a:r>
              <a:rPr lang="en-US" sz="1200" dirty="0">
                <a:latin typeface="Consolas" panose="020B0609020204030204" pitchFamily="49" charset="0"/>
              </a:rPr>
              <a:t>   </a:t>
            </a:r>
            <a:r>
              <a:rPr lang="sk-SK" sz="1200" dirty="0" err="1">
                <a:latin typeface="Consolas" panose="020B0609020204030204" pitchFamily="49" charset="0"/>
              </a:rPr>
              <a:t>route-reflector-client</a:t>
            </a:r>
            <a:endParaRPr lang="sk-SK" sz="1200" dirty="0">
              <a:latin typeface="Consolas" panose="020B0609020204030204" pitchFamily="49" charset="0"/>
            </a:endParaRPr>
          </a:p>
          <a:p>
            <a:r>
              <a:rPr lang="en-US" sz="1200" dirty="0">
                <a:latin typeface="Consolas" panose="020B0609020204030204" pitchFamily="49" charset="0"/>
              </a:rPr>
              <a:t>   </a:t>
            </a:r>
            <a:r>
              <a:rPr lang="sk-SK" sz="1200" dirty="0" err="1">
                <a:latin typeface="Consolas" panose="020B0609020204030204" pitchFamily="49" charset="0"/>
              </a:rPr>
              <a:t>advertise</a:t>
            </a:r>
            <a:r>
              <a:rPr lang="sk-SK" sz="1200" dirty="0">
                <a:latin typeface="Consolas" panose="020B0609020204030204" pitchFamily="49" charset="0"/>
              </a:rPr>
              <a:t> </a:t>
            </a:r>
            <a:r>
              <a:rPr lang="sk-SK" sz="1200" dirty="0" err="1">
                <a:latin typeface="Consolas" panose="020B0609020204030204" pitchFamily="49" charset="0"/>
              </a:rPr>
              <a:t>vpnv4</a:t>
            </a:r>
            <a:r>
              <a:rPr lang="sk-SK" sz="1200" dirty="0">
                <a:latin typeface="Consolas" panose="020B0609020204030204" pitchFamily="49" charset="0"/>
              </a:rPr>
              <a:t> </a:t>
            </a:r>
            <a:r>
              <a:rPr lang="sk-SK" sz="1200" dirty="0" err="1">
                <a:latin typeface="Consolas" panose="020B0609020204030204" pitchFamily="49" charset="0"/>
              </a:rPr>
              <a:t>unicast</a:t>
            </a:r>
            <a:r>
              <a:rPr lang="sk-SK" sz="1200" dirty="0">
                <a:latin typeface="Consolas" panose="020B0609020204030204" pitchFamily="49" charset="0"/>
              </a:rPr>
              <a:t> re-</a:t>
            </a:r>
            <a:r>
              <a:rPr lang="sk-SK" sz="1200" dirty="0" err="1">
                <a:latin typeface="Consolas" panose="020B0609020204030204" pitchFamily="49" charset="0"/>
              </a:rPr>
              <a:t>originated</a:t>
            </a:r>
            <a:endParaRPr lang="sk-SK" sz="1200" dirty="0">
              <a:latin typeface="Consolas" panose="020B0609020204030204" pitchFamily="49" charset="0"/>
            </a:endParaRPr>
          </a:p>
          <a:p>
            <a:r>
              <a:rPr lang="sk-SK" sz="1200" dirty="0">
                <a:latin typeface="Consolas" panose="020B0609020204030204" pitchFamily="49" charset="0"/>
              </a:rPr>
              <a:t>  !</a:t>
            </a:r>
          </a:p>
          <a:p>
            <a:r>
              <a:rPr lang="sk-SK" sz="1200" dirty="0">
                <a:latin typeface="Consolas" panose="020B0609020204030204" pitchFamily="49" charset="0"/>
              </a:rPr>
              <a:t>  </a:t>
            </a:r>
            <a:r>
              <a:rPr lang="sk-SK" sz="1200" dirty="0" err="1">
                <a:latin typeface="Consolas" panose="020B0609020204030204" pitchFamily="49" charset="0"/>
              </a:rPr>
              <a:t>address-family</a:t>
            </a:r>
            <a:r>
              <a:rPr lang="sk-SK" sz="1200" dirty="0">
                <a:latin typeface="Consolas" panose="020B0609020204030204" pitchFamily="49" charset="0"/>
              </a:rPr>
              <a:t> </a:t>
            </a:r>
            <a:r>
              <a:rPr lang="sk-SK" sz="1200" dirty="0" err="1">
                <a:latin typeface="Consolas" panose="020B0609020204030204" pitchFamily="49" charset="0"/>
              </a:rPr>
              <a:t>vpnv6</a:t>
            </a:r>
            <a:r>
              <a:rPr lang="sk-SK" sz="1200" dirty="0">
                <a:latin typeface="Consolas" panose="020B0609020204030204" pitchFamily="49" charset="0"/>
              </a:rPr>
              <a:t> </a:t>
            </a:r>
            <a:r>
              <a:rPr lang="sk-SK" sz="1200" dirty="0" err="1">
                <a:latin typeface="Consolas" panose="020B0609020204030204" pitchFamily="49" charset="0"/>
              </a:rPr>
              <a:t>unicast</a:t>
            </a:r>
            <a:endParaRPr lang="sk-SK" sz="1200" dirty="0">
              <a:latin typeface="Consolas" panose="020B0609020204030204" pitchFamily="49" charset="0"/>
            </a:endParaRPr>
          </a:p>
          <a:p>
            <a:r>
              <a:rPr lang="sk-SK" sz="1200" dirty="0">
                <a:latin typeface="Consolas" panose="020B0609020204030204" pitchFamily="49" charset="0"/>
              </a:rPr>
              <a:t>   import </a:t>
            </a:r>
            <a:r>
              <a:rPr lang="sk-SK" sz="1200" dirty="0" err="1">
                <a:latin typeface="Consolas" panose="020B0609020204030204" pitchFamily="49" charset="0"/>
              </a:rPr>
              <a:t>reoriginate</a:t>
            </a:r>
            <a:r>
              <a:rPr lang="sk-SK" sz="1200" dirty="0">
                <a:latin typeface="Consolas" panose="020B0609020204030204" pitchFamily="49" charset="0"/>
              </a:rPr>
              <a:t> </a:t>
            </a:r>
            <a:r>
              <a:rPr lang="sk-SK" sz="1200" dirty="0" err="1">
                <a:latin typeface="Consolas" panose="020B0609020204030204" pitchFamily="49" charset="0"/>
              </a:rPr>
              <a:t>stitching-rt</a:t>
            </a:r>
            <a:endParaRPr lang="sk-SK" sz="1200" dirty="0">
              <a:latin typeface="Consolas" panose="020B0609020204030204" pitchFamily="49" charset="0"/>
            </a:endParaRPr>
          </a:p>
          <a:p>
            <a:r>
              <a:rPr lang="en-US" sz="1200" dirty="0">
                <a:latin typeface="Consolas" panose="020B0609020204030204" pitchFamily="49" charset="0"/>
              </a:rPr>
              <a:t>   </a:t>
            </a:r>
            <a:r>
              <a:rPr lang="sk-SK" sz="1200" dirty="0" err="1">
                <a:latin typeface="Consolas" panose="020B0609020204030204" pitchFamily="49" charset="0"/>
              </a:rPr>
              <a:t>route-reflector-client</a:t>
            </a:r>
            <a:endParaRPr lang="sk-SK" sz="1200" dirty="0">
              <a:latin typeface="Consolas" panose="020B0609020204030204" pitchFamily="49" charset="0"/>
            </a:endParaRPr>
          </a:p>
          <a:p>
            <a:r>
              <a:rPr lang="en-US" sz="1200" dirty="0">
                <a:latin typeface="Consolas" panose="020B0609020204030204" pitchFamily="49" charset="0"/>
              </a:rPr>
              <a:t>   </a:t>
            </a:r>
            <a:r>
              <a:rPr lang="sk-SK" sz="1200" dirty="0" err="1">
                <a:latin typeface="Consolas" panose="020B0609020204030204" pitchFamily="49" charset="0"/>
              </a:rPr>
              <a:t>advertise</a:t>
            </a:r>
            <a:r>
              <a:rPr lang="sk-SK" sz="1200" dirty="0">
                <a:latin typeface="Consolas" panose="020B0609020204030204" pitchFamily="49" charset="0"/>
              </a:rPr>
              <a:t> </a:t>
            </a:r>
            <a:r>
              <a:rPr lang="sk-SK" sz="1200" dirty="0" err="1">
                <a:latin typeface="Consolas" panose="020B0609020204030204" pitchFamily="49" charset="0"/>
              </a:rPr>
              <a:t>vpnv6</a:t>
            </a:r>
            <a:r>
              <a:rPr lang="sk-SK" sz="1200" dirty="0">
                <a:latin typeface="Consolas" panose="020B0609020204030204" pitchFamily="49" charset="0"/>
              </a:rPr>
              <a:t> </a:t>
            </a:r>
            <a:r>
              <a:rPr lang="sk-SK" sz="1200" dirty="0" err="1">
                <a:latin typeface="Consolas" panose="020B0609020204030204" pitchFamily="49" charset="0"/>
              </a:rPr>
              <a:t>unicast</a:t>
            </a:r>
            <a:r>
              <a:rPr lang="sk-SK" sz="1200" dirty="0">
                <a:latin typeface="Consolas" panose="020B0609020204030204" pitchFamily="49" charset="0"/>
              </a:rPr>
              <a:t> re-</a:t>
            </a:r>
            <a:r>
              <a:rPr lang="sk-SK" sz="1200" dirty="0" err="1">
                <a:latin typeface="Consolas" panose="020B0609020204030204" pitchFamily="49" charset="0"/>
              </a:rPr>
              <a:t>originated</a:t>
            </a:r>
            <a:endParaRPr lang="sk-SK" sz="1200" dirty="0">
              <a:latin typeface="Consolas" panose="020B0609020204030204" pitchFamily="49" charset="0"/>
            </a:endParaRPr>
          </a:p>
          <a:p>
            <a:r>
              <a:rPr lang="sk-SK" sz="1200" dirty="0">
                <a:latin typeface="Consolas" panose="020B0609020204030204" pitchFamily="49" charset="0"/>
              </a:rPr>
              <a:t>  !</a:t>
            </a:r>
          </a:p>
          <a:p>
            <a:r>
              <a:rPr lang="sk-SK" sz="1200" i="1" dirty="0">
                <a:solidFill>
                  <a:srgbClr val="7030A0"/>
                </a:solidFill>
                <a:latin typeface="Consolas" panose="020B0609020204030204" pitchFamily="49" charset="0"/>
              </a:rPr>
              <a:t> !</a:t>
            </a:r>
            <a:r>
              <a:rPr lang="en-US" sz="1200" i="1" dirty="0">
                <a:solidFill>
                  <a:srgbClr val="7030A0"/>
                </a:solidFill>
                <a:latin typeface="Consolas" panose="020B0609020204030204" pitchFamily="49" charset="0"/>
              </a:rPr>
              <a:t>! MPLS side PE router</a:t>
            </a:r>
            <a:endParaRPr lang="sk-SK" sz="1200" i="1" dirty="0">
              <a:solidFill>
                <a:srgbClr val="7030A0"/>
              </a:solidFill>
              <a:latin typeface="Consolas" panose="020B0609020204030204" pitchFamily="49" charset="0"/>
            </a:endParaRPr>
          </a:p>
          <a:p>
            <a:r>
              <a:rPr lang="sk-SK" sz="1200" dirty="0">
                <a:latin typeface="Consolas" panose="020B0609020204030204" pitchFamily="49" charset="0"/>
              </a:rPr>
              <a:t> </a:t>
            </a:r>
            <a:r>
              <a:rPr lang="sk-SK" sz="1200" dirty="0" err="1">
                <a:latin typeface="Consolas" panose="020B0609020204030204" pitchFamily="49" charset="0"/>
              </a:rPr>
              <a:t>neighbor</a:t>
            </a:r>
            <a:r>
              <a:rPr lang="sk-SK" sz="1200" dirty="0">
                <a:latin typeface="Consolas" panose="020B0609020204030204" pitchFamily="49" charset="0"/>
              </a:rPr>
              <a:t> 1.1.1.31</a:t>
            </a:r>
          </a:p>
          <a:p>
            <a:r>
              <a:rPr lang="sk-SK" sz="1200" dirty="0">
                <a:latin typeface="Consolas" panose="020B0609020204030204" pitchFamily="49" charset="0"/>
              </a:rPr>
              <a:t>  </a:t>
            </a:r>
            <a:r>
              <a:rPr lang="sk-SK" sz="1200" dirty="0" err="1">
                <a:latin typeface="Consolas" panose="020B0609020204030204" pitchFamily="49" charset="0"/>
              </a:rPr>
              <a:t>use</a:t>
            </a:r>
            <a:r>
              <a:rPr lang="sk-SK" sz="1200" dirty="0">
                <a:latin typeface="Consolas" panose="020B0609020204030204" pitchFamily="49" charset="0"/>
              </a:rPr>
              <a:t> </a:t>
            </a:r>
            <a:r>
              <a:rPr lang="sk-SK" sz="1200" dirty="0" err="1">
                <a:latin typeface="Consolas" panose="020B0609020204030204" pitchFamily="49" charset="0"/>
              </a:rPr>
              <a:t>neighbor-group</a:t>
            </a:r>
            <a:r>
              <a:rPr lang="sk-SK" sz="1200" dirty="0">
                <a:latin typeface="Consolas" panose="020B0609020204030204" pitchFamily="49" charset="0"/>
              </a:rPr>
              <a:t> </a:t>
            </a:r>
            <a:r>
              <a:rPr lang="sk-SK" sz="1200" dirty="0" err="1">
                <a:latin typeface="Consolas" panose="020B0609020204030204" pitchFamily="49" charset="0"/>
              </a:rPr>
              <a:t>RRv4</a:t>
            </a:r>
            <a:endParaRPr lang="sk-SK" sz="1200" dirty="0">
              <a:latin typeface="Consolas" panose="020B0609020204030204" pitchFamily="49" charset="0"/>
            </a:endParaRPr>
          </a:p>
          <a:p>
            <a:r>
              <a:rPr lang="sk-SK" sz="1200" dirty="0">
                <a:latin typeface="Consolas" panose="020B0609020204030204" pitchFamily="49" charset="0"/>
              </a:rPr>
              <a:t> !</a:t>
            </a:r>
          </a:p>
          <a:p>
            <a:r>
              <a:rPr lang="sk-SK" sz="1200" dirty="0">
                <a:latin typeface="Consolas" panose="020B0609020204030204" pitchFamily="49" charset="0"/>
              </a:rPr>
              <a:t> </a:t>
            </a:r>
            <a:endParaRPr lang="sk-SK" sz="1200" dirty="0">
              <a:solidFill>
                <a:srgbClr val="FF0000"/>
              </a:solidFill>
              <a:latin typeface="Consolas" panose="020B0609020204030204" pitchFamily="49" charset="0"/>
            </a:endParaRPr>
          </a:p>
        </p:txBody>
      </p:sp>
      <p:sp>
        <p:nvSpPr>
          <p:cNvPr id="9" name="Rectangle 8">
            <a:extLst>
              <a:ext uri="{FF2B5EF4-FFF2-40B4-BE49-F238E27FC236}">
                <a16:creationId xmlns:a16="http://schemas.microsoft.com/office/drawing/2014/main" id="{CB78875C-9A20-8DEF-A3F5-A5C60CF252FE}"/>
              </a:ext>
            </a:extLst>
          </p:cNvPr>
          <p:cNvSpPr/>
          <p:nvPr/>
        </p:nvSpPr>
        <p:spPr>
          <a:xfrm>
            <a:off x="6220289" y="785813"/>
            <a:ext cx="5699602" cy="5447645"/>
          </a:xfrm>
          <a:prstGeom prst="rect">
            <a:avLst/>
          </a:prstGeom>
          <a:solidFill>
            <a:schemeClr val="bg1">
              <a:lumMod val="95000"/>
            </a:schemeClr>
          </a:solidFill>
          <a:ln>
            <a:solidFill>
              <a:schemeClr val="tx1"/>
            </a:solidFill>
          </a:ln>
          <a:effectLst/>
        </p:spPr>
        <p:txBody>
          <a:bodyPr wrap="square">
            <a:spAutoFit/>
          </a:bodyPr>
          <a:lstStyle/>
          <a:p>
            <a:r>
              <a:rPr lang="sk-SK" sz="1200" i="1" dirty="0">
                <a:solidFill>
                  <a:srgbClr val="7030A0"/>
                </a:solidFill>
                <a:latin typeface="Consolas" panose="020B0609020204030204" pitchFamily="49" charset="0"/>
              </a:rPr>
              <a:t>!</a:t>
            </a:r>
            <a:r>
              <a:rPr lang="en-US" sz="1200" i="1" dirty="0">
                <a:solidFill>
                  <a:srgbClr val="7030A0"/>
                </a:solidFill>
                <a:latin typeface="Consolas" panose="020B0609020204030204" pitchFamily="49" charset="0"/>
              </a:rPr>
              <a:t>! SRv6 side (BGP RR)</a:t>
            </a:r>
            <a:endParaRPr lang="sk-SK" sz="1200" i="1" dirty="0">
              <a:solidFill>
                <a:srgbClr val="7030A0"/>
              </a:solidFill>
              <a:latin typeface="Consolas" panose="020B0609020204030204" pitchFamily="49" charset="0"/>
            </a:endParaRPr>
          </a:p>
          <a:p>
            <a:r>
              <a:rPr lang="sk-SK" sz="1200" dirty="0">
                <a:latin typeface="Consolas" panose="020B0609020204030204" pitchFamily="49" charset="0"/>
              </a:rPr>
              <a:t> </a:t>
            </a:r>
            <a:r>
              <a:rPr lang="sk-SK" sz="1200" dirty="0" err="1">
                <a:latin typeface="Consolas" panose="020B0609020204030204" pitchFamily="49" charset="0"/>
              </a:rPr>
              <a:t>neighbor</a:t>
            </a:r>
            <a:r>
              <a:rPr lang="sk-SK" sz="1200" dirty="0">
                <a:latin typeface="Consolas" panose="020B0609020204030204" pitchFamily="49" charset="0"/>
              </a:rPr>
              <a:t> 2001:9999::13</a:t>
            </a:r>
          </a:p>
          <a:p>
            <a:r>
              <a:rPr lang="sk-SK" sz="1200" dirty="0">
                <a:latin typeface="Consolas" panose="020B0609020204030204" pitchFamily="49" charset="0"/>
              </a:rPr>
              <a:t>  </a:t>
            </a:r>
            <a:r>
              <a:rPr lang="sk-SK" sz="1200" dirty="0" err="1">
                <a:latin typeface="Consolas" panose="020B0609020204030204" pitchFamily="49" charset="0"/>
              </a:rPr>
              <a:t>remote</a:t>
            </a:r>
            <a:r>
              <a:rPr lang="sk-SK" sz="1200" dirty="0">
                <a:latin typeface="Consolas" panose="020B0609020204030204" pitchFamily="49" charset="0"/>
              </a:rPr>
              <a:t>-as 65000</a:t>
            </a:r>
          </a:p>
          <a:p>
            <a:r>
              <a:rPr lang="sk-SK" sz="1200" dirty="0">
                <a:latin typeface="Consolas" panose="020B0609020204030204" pitchFamily="49" charset="0"/>
              </a:rPr>
              <a:t>  update-</a:t>
            </a:r>
            <a:r>
              <a:rPr lang="sk-SK" sz="1200" dirty="0" err="1">
                <a:latin typeface="Consolas" panose="020B0609020204030204" pitchFamily="49" charset="0"/>
              </a:rPr>
              <a:t>source</a:t>
            </a:r>
            <a:r>
              <a:rPr lang="sk-SK" sz="1200" dirty="0">
                <a:latin typeface="Consolas" panose="020B0609020204030204" pitchFamily="49" charset="0"/>
              </a:rPr>
              <a:t> </a:t>
            </a:r>
            <a:r>
              <a:rPr lang="sk-SK" sz="1200" dirty="0" err="1">
                <a:latin typeface="Consolas" panose="020B0609020204030204" pitchFamily="49" charset="0"/>
              </a:rPr>
              <a:t>Loopback0</a:t>
            </a:r>
            <a:endParaRPr lang="sk-SK" sz="1200" dirty="0">
              <a:latin typeface="Consolas" panose="020B0609020204030204" pitchFamily="49" charset="0"/>
            </a:endParaRPr>
          </a:p>
          <a:p>
            <a:r>
              <a:rPr lang="sk-SK" sz="1200" dirty="0">
                <a:latin typeface="Consolas" panose="020B0609020204030204" pitchFamily="49" charset="0"/>
              </a:rPr>
              <a:t>  </a:t>
            </a:r>
            <a:r>
              <a:rPr lang="sk-SK" sz="1200" dirty="0" err="1">
                <a:latin typeface="Consolas" panose="020B0609020204030204" pitchFamily="49" charset="0"/>
              </a:rPr>
              <a:t>address-family</a:t>
            </a:r>
            <a:r>
              <a:rPr lang="sk-SK" sz="1200" dirty="0">
                <a:latin typeface="Consolas" panose="020B0609020204030204" pitchFamily="49" charset="0"/>
              </a:rPr>
              <a:t> </a:t>
            </a:r>
            <a:r>
              <a:rPr lang="sk-SK" sz="1200" dirty="0" err="1">
                <a:latin typeface="Consolas" panose="020B0609020204030204" pitchFamily="49" charset="0"/>
              </a:rPr>
              <a:t>vpnv4</a:t>
            </a:r>
            <a:r>
              <a:rPr lang="sk-SK" sz="1200" dirty="0">
                <a:latin typeface="Consolas" panose="020B0609020204030204" pitchFamily="49" charset="0"/>
              </a:rPr>
              <a:t> </a:t>
            </a:r>
            <a:r>
              <a:rPr lang="sk-SK" sz="1200" dirty="0" err="1">
                <a:latin typeface="Consolas" panose="020B0609020204030204" pitchFamily="49" charset="0"/>
              </a:rPr>
              <a:t>unicast</a:t>
            </a:r>
            <a:endParaRPr lang="sk-SK" sz="1200" dirty="0">
              <a:latin typeface="Consolas" panose="020B0609020204030204" pitchFamily="49" charset="0"/>
            </a:endParaRPr>
          </a:p>
          <a:p>
            <a:r>
              <a:rPr lang="sk-SK" sz="1200" dirty="0">
                <a:latin typeface="Consolas" panose="020B0609020204030204" pitchFamily="49" charset="0"/>
              </a:rPr>
              <a:t>   import </a:t>
            </a:r>
            <a:r>
              <a:rPr lang="sk-SK" sz="1200" dirty="0" err="1">
                <a:latin typeface="Consolas" panose="020B0609020204030204" pitchFamily="49" charset="0"/>
              </a:rPr>
              <a:t>stitching-rt</a:t>
            </a:r>
            <a:r>
              <a:rPr lang="sk-SK" sz="1200" dirty="0">
                <a:latin typeface="Consolas" panose="020B0609020204030204" pitchFamily="49" charset="0"/>
              </a:rPr>
              <a:t> </a:t>
            </a:r>
            <a:r>
              <a:rPr lang="sk-SK" sz="1200" dirty="0" err="1">
                <a:latin typeface="Consolas" panose="020B0609020204030204" pitchFamily="49" charset="0"/>
              </a:rPr>
              <a:t>reoriginate</a:t>
            </a:r>
            <a:endParaRPr lang="sk-SK" sz="1200" dirty="0">
              <a:latin typeface="Consolas" panose="020B0609020204030204" pitchFamily="49" charset="0"/>
            </a:endParaRPr>
          </a:p>
          <a:p>
            <a:r>
              <a:rPr lang="en-US" sz="1200" dirty="0">
                <a:latin typeface="Consolas" panose="020B0609020204030204" pitchFamily="49" charset="0"/>
              </a:rPr>
              <a:t>   </a:t>
            </a:r>
            <a:r>
              <a:rPr lang="sk-SK" sz="1200" dirty="0" err="1">
                <a:latin typeface="Consolas" panose="020B0609020204030204" pitchFamily="49" charset="0"/>
              </a:rPr>
              <a:t>route-reflector-client</a:t>
            </a:r>
            <a:endParaRPr lang="sk-SK" sz="1200" dirty="0">
              <a:latin typeface="Consolas" panose="020B0609020204030204" pitchFamily="49" charset="0"/>
            </a:endParaRPr>
          </a:p>
          <a:p>
            <a:r>
              <a:rPr lang="sk-SK" sz="1200" dirty="0">
                <a:latin typeface="Consolas" panose="020B0609020204030204" pitchFamily="49" charset="0"/>
              </a:rPr>
              <a:t>   </a:t>
            </a:r>
            <a:r>
              <a:rPr lang="sk-SK" sz="1200" dirty="0" err="1">
                <a:latin typeface="Consolas" panose="020B0609020204030204" pitchFamily="49" charset="0"/>
              </a:rPr>
              <a:t>encapsulation</a:t>
            </a:r>
            <a:r>
              <a:rPr lang="sk-SK" sz="1200" dirty="0">
                <a:latin typeface="Consolas" panose="020B0609020204030204" pitchFamily="49" charset="0"/>
              </a:rPr>
              <a:t>-type </a:t>
            </a:r>
            <a:r>
              <a:rPr lang="sk-SK" sz="1200" dirty="0" err="1">
                <a:latin typeface="Consolas" panose="020B0609020204030204" pitchFamily="49" charset="0"/>
              </a:rPr>
              <a:t>srv6</a:t>
            </a:r>
            <a:r>
              <a:rPr lang="en-US" sz="1200" dirty="0">
                <a:latin typeface="Consolas" panose="020B0609020204030204" pitchFamily="49" charset="0"/>
              </a:rPr>
              <a:t> 	</a:t>
            </a:r>
            <a:r>
              <a:rPr lang="en-US" sz="1200" i="1" dirty="0">
                <a:solidFill>
                  <a:srgbClr val="7030A0"/>
                </a:solidFill>
                <a:latin typeface="Consolas" panose="020B0609020204030204" pitchFamily="49" charset="0"/>
              </a:rPr>
              <a:t>!! send SRv6 SID not MPLS label </a:t>
            </a:r>
            <a:endParaRPr lang="sk-SK" sz="1200" dirty="0">
              <a:latin typeface="Consolas" panose="020B0609020204030204" pitchFamily="49" charset="0"/>
            </a:endParaRPr>
          </a:p>
          <a:p>
            <a:r>
              <a:rPr lang="en-US" sz="1200" dirty="0">
                <a:latin typeface="Consolas" panose="020B0609020204030204" pitchFamily="49" charset="0"/>
              </a:rPr>
              <a:t>   </a:t>
            </a:r>
            <a:r>
              <a:rPr lang="sk-SK" sz="1200" dirty="0" err="1">
                <a:latin typeface="Consolas" panose="020B0609020204030204" pitchFamily="49" charset="0"/>
              </a:rPr>
              <a:t>advertise</a:t>
            </a:r>
            <a:r>
              <a:rPr lang="sk-SK" sz="1200" dirty="0">
                <a:latin typeface="Consolas" panose="020B0609020204030204" pitchFamily="49" charset="0"/>
              </a:rPr>
              <a:t> </a:t>
            </a:r>
            <a:r>
              <a:rPr lang="sk-SK" sz="1200" dirty="0" err="1">
                <a:latin typeface="Consolas" panose="020B0609020204030204" pitchFamily="49" charset="0"/>
              </a:rPr>
              <a:t>vpnv4</a:t>
            </a:r>
            <a:r>
              <a:rPr lang="sk-SK" sz="1200" dirty="0">
                <a:latin typeface="Consolas" panose="020B0609020204030204" pitchFamily="49" charset="0"/>
              </a:rPr>
              <a:t> </a:t>
            </a:r>
            <a:r>
              <a:rPr lang="sk-SK" sz="1200" dirty="0" err="1">
                <a:latin typeface="Consolas" panose="020B0609020204030204" pitchFamily="49" charset="0"/>
              </a:rPr>
              <a:t>unicast</a:t>
            </a:r>
            <a:r>
              <a:rPr lang="sk-SK" sz="1200" dirty="0">
                <a:latin typeface="Consolas" panose="020B0609020204030204" pitchFamily="49" charset="0"/>
              </a:rPr>
              <a:t> re-</a:t>
            </a:r>
            <a:r>
              <a:rPr lang="sk-SK" sz="1200" dirty="0" err="1">
                <a:latin typeface="Consolas" panose="020B0609020204030204" pitchFamily="49" charset="0"/>
              </a:rPr>
              <a:t>originated</a:t>
            </a:r>
            <a:r>
              <a:rPr lang="sk-SK" sz="1200" dirty="0">
                <a:latin typeface="Consolas" panose="020B0609020204030204" pitchFamily="49" charset="0"/>
              </a:rPr>
              <a:t> </a:t>
            </a:r>
            <a:r>
              <a:rPr lang="sk-SK" sz="1200" dirty="0" err="1">
                <a:latin typeface="Consolas" panose="020B0609020204030204" pitchFamily="49" charset="0"/>
              </a:rPr>
              <a:t>stitching-rt</a:t>
            </a:r>
            <a:endParaRPr lang="sk-SK" sz="1200" dirty="0">
              <a:latin typeface="Consolas" panose="020B0609020204030204" pitchFamily="49" charset="0"/>
            </a:endParaRPr>
          </a:p>
          <a:p>
            <a:r>
              <a:rPr lang="sk-SK" sz="1200" dirty="0">
                <a:latin typeface="Consolas" panose="020B0609020204030204" pitchFamily="49" charset="0"/>
              </a:rPr>
              <a:t>  !</a:t>
            </a:r>
          </a:p>
          <a:p>
            <a:r>
              <a:rPr lang="sk-SK" sz="1200" dirty="0">
                <a:latin typeface="Consolas" panose="020B0609020204030204" pitchFamily="49" charset="0"/>
              </a:rPr>
              <a:t>  </a:t>
            </a:r>
            <a:r>
              <a:rPr lang="sk-SK" sz="1200" dirty="0" err="1">
                <a:latin typeface="Consolas" panose="020B0609020204030204" pitchFamily="49" charset="0"/>
              </a:rPr>
              <a:t>address-family</a:t>
            </a:r>
            <a:r>
              <a:rPr lang="sk-SK" sz="1200" dirty="0">
                <a:latin typeface="Consolas" panose="020B0609020204030204" pitchFamily="49" charset="0"/>
              </a:rPr>
              <a:t> </a:t>
            </a:r>
            <a:r>
              <a:rPr lang="sk-SK" sz="1200" dirty="0" err="1">
                <a:latin typeface="Consolas" panose="020B0609020204030204" pitchFamily="49" charset="0"/>
              </a:rPr>
              <a:t>vpnv6</a:t>
            </a:r>
            <a:r>
              <a:rPr lang="sk-SK" sz="1200" dirty="0">
                <a:latin typeface="Consolas" panose="020B0609020204030204" pitchFamily="49" charset="0"/>
              </a:rPr>
              <a:t> </a:t>
            </a:r>
            <a:r>
              <a:rPr lang="sk-SK" sz="1200" dirty="0" err="1">
                <a:latin typeface="Consolas" panose="020B0609020204030204" pitchFamily="49" charset="0"/>
              </a:rPr>
              <a:t>unicast</a:t>
            </a:r>
            <a:endParaRPr lang="sk-SK" sz="1200" dirty="0">
              <a:latin typeface="Consolas" panose="020B0609020204030204" pitchFamily="49" charset="0"/>
            </a:endParaRPr>
          </a:p>
          <a:p>
            <a:r>
              <a:rPr lang="sk-SK" sz="1200" dirty="0">
                <a:latin typeface="Consolas" panose="020B0609020204030204" pitchFamily="49" charset="0"/>
              </a:rPr>
              <a:t>   import </a:t>
            </a:r>
            <a:r>
              <a:rPr lang="sk-SK" sz="1200" dirty="0" err="1">
                <a:latin typeface="Consolas" panose="020B0609020204030204" pitchFamily="49" charset="0"/>
              </a:rPr>
              <a:t>stitching-rt</a:t>
            </a:r>
            <a:r>
              <a:rPr lang="sk-SK" sz="1200" dirty="0">
                <a:latin typeface="Consolas" panose="020B0609020204030204" pitchFamily="49" charset="0"/>
              </a:rPr>
              <a:t> </a:t>
            </a:r>
            <a:r>
              <a:rPr lang="sk-SK" sz="1200" dirty="0" err="1">
                <a:latin typeface="Consolas" panose="020B0609020204030204" pitchFamily="49" charset="0"/>
              </a:rPr>
              <a:t>reoriginate</a:t>
            </a:r>
            <a:endParaRPr lang="sk-SK" sz="1200" dirty="0">
              <a:latin typeface="Consolas" panose="020B0609020204030204" pitchFamily="49" charset="0"/>
            </a:endParaRPr>
          </a:p>
          <a:p>
            <a:r>
              <a:rPr lang="en-US" sz="1200" dirty="0">
                <a:latin typeface="Consolas" panose="020B0609020204030204" pitchFamily="49" charset="0"/>
              </a:rPr>
              <a:t>   </a:t>
            </a:r>
            <a:r>
              <a:rPr lang="sk-SK" sz="1200" dirty="0" err="1">
                <a:latin typeface="Consolas" panose="020B0609020204030204" pitchFamily="49" charset="0"/>
              </a:rPr>
              <a:t>route-reflector-client</a:t>
            </a:r>
            <a:endParaRPr lang="sk-SK" sz="1200" dirty="0">
              <a:latin typeface="Consolas" panose="020B0609020204030204" pitchFamily="49" charset="0"/>
            </a:endParaRPr>
          </a:p>
          <a:p>
            <a:r>
              <a:rPr lang="sk-SK" sz="1200" dirty="0">
                <a:latin typeface="Consolas" panose="020B0609020204030204" pitchFamily="49" charset="0"/>
              </a:rPr>
              <a:t>   </a:t>
            </a:r>
            <a:r>
              <a:rPr lang="sk-SK" sz="1200" dirty="0" err="1">
                <a:latin typeface="Consolas" panose="020B0609020204030204" pitchFamily="49" charset="0"/>
              </a:rPr>
              <a:t>encapsulation</a:t>
            </a:r>
            <a:r>
              <a:rPr lang="sk-SK" sz="1200" dirty="0">
                <a:latin typeface="Consolas" panose="020B0609020204030204" pitchFamily="49" charset="0"/>
              </a:rPr>
              <a:t>-type </a:t>
            </a:r>
            <a:r>
              <a:rPr lang="sk-SK" sz="1200" dirty="0" err="1">
                <a:latin typeface="Consolas" panose="020B0609020204030204" pitchFamily="49" charset="0"/>
              </a:rPr>
              <a:t>srv6</a:t>
            </a:r>
            <a:r>
              <a:rPr lang="en-US" sz="1200" dirty="0">
                <a:latin typeface="Consolas" panose="020B0609020204030204" pitchFamily="49" charset="0"/>
              </a:rPr>
              <a:t>	</a:t>
            </a:r>
            <a:r>
              <a:rPr lang="en-US" sz="1200" i="1" dirty="0">
                <a:solidFill>
                  <a:srgbClr val="7030A0"/>
                </a:solidFill>
                <a:latin typeface="Consolas" panose="020B0609020204030204" pitchFamily="49" charset="0"/>
              </a:rPr>
              <a:t> !! send SRv6 SID not MPLS label </a:t>
            </a:r>
            <a:endParaRPr lang="sk-SK" sz="1200" dirty="0">
              <a:latin typeface="Consolas" panose="020B0609020204030204" pitchFamily="49" charset="0"/>
            </a:endParaRPr>
          </a:p>
          <a:p>
            <a:r>
              <a:rPr lang="en-US" sz="1200" dirty="0">
                <a:latin typeface="Consolas" panose="020B0609020204030204" pitchFamily="49" charset="0"/>
              </a:rPr>
              <a:t>   </a:t>
            </a:r>
            <a:r>
              <a:rPr lang="sk-SK" sz="1200" dirty="0" err="1">
                <a:latin typeface="Consolas" panose="020B0609020204030204" pitchFamily="49" charset="0"/>
              </a:rPr>
              <a:t>advertise</a:t>
            </a:r>
            <a:r>
              <a:rPr lang="sk-SK" sz="1200" dirty="0">
                <a:latin typeface="Consolas" panose="020B0609020204030204" pitchFamily="49" charset="0"/>
              </a:rPr>
              <a:t> </a:t>
            </a:r>
            <a:r>
              <a:rPr lang="sk-SK" sz="1200" dirty="0" err="1">
                <a:latin typeface="Consolas" panose="020B0609020204030204" pitchFamily="49" charset="0"/>
              </a:rPr>
              <a:t>vpnv6</a:t>
            </a:r>
            <a:r>
              <a:rPr lang="sk-SK" sz="1200" dirty="0">
                <a:latin typeface="Consolas" panose="020B0609020204030204" pitchFamily="49" charset="0"/>
              </a:rPr>
              <a:t> </a:t>
            </a:r>
            <a:r>
              <a:rPr lang="sk-SK" sz="1200" dirty="0" err="1">
                <a:latin typeface="Consolas" panose="020B0609020204030204" pitchFamily="49" charset="0"/>
              </a:rPr>
              <a:t>unicast</a:t>
            </a:r>
            <a:r>
              <a:rPr lang="sk-SK" sz="1200" dirty="0">
                <a:latin typeface="Consolas" panose="020B0609020204030204" pitchFamily="49" charset="0"/>
              </a:rPr>
              <a:t> re-</a:t>
            </a:r>
            <a:r>
              <a:rPr lang="sk-SK" sz="1200" dirty="0" err="1">
                <a:latin typeface="Consolas" panose="020B0609020204030204" pitchFamily="49" charset="0"/>
              </a:rPr>
              <a:t>originated</a:t>
            </a:r>
            <a:r>
              <a:rPr lang="sk-SK" sz="1200" dirty="0">
                <a:latin typeface="Consolas" panose="020B0609020204030204" pitchFamily="49" charset="0"/>
              </a:rPr>
              <a:t> </a:t>
            </a:r>
            <a:r>
              <a:rPr lang="sk-SK" sz="1200" dirty="0" err="1">
                <a:latin typeface="Consolas" panose="020B0609020204030204" pitchFamily="49" charset="0"/>
              </a:rPr>
              <a:t>stitching-rt</a:t>
            </a:r>
            <a:endParaRPr lang="sk-SK" sz="1200" dirty="0">
              <a:latin typeface="Consolas" panose="020B0609020204030204" pitchFamily="49" charset="0"/>
            </a:endParaRPr>
          </a:p>
          <a:p>
            <a:r>
              <a:rPr lang="sk-SK" sz="1200" dirty="0">
                <a:latin typeface="Consolas" panose="020B0609020204030204" pitchFamily="49" charset="0"/>
              </a:rPr>
              <a:t>  !</a:t>
            </a:r>
          </a:p>
          <a:p>
            <a:r>
              <a:rPr lang="sk-SK" sz="1200" dirty="0">
                <a:latin typeface="Consolas" panose="020B0609020204030204" pitchFamily="49" charset="0"/>
              </a:rPr>
              <a:t> vrf A-</a:t>
            </a:r>
            <a:r>
              <a:rPr lang="sk-SK" sz="1200" dirty="0" err="1">
                <a:latin typeface="Consolas" panose="020B0609020204030204" pitchFamily="49" charset="0"/>
              </a:rPr>
              <a:t>GW</a:t>
            </a:r>
            <a:endParaRPr lang="en-US" sz="1200" dirty="0">
              <a:latin typeface="Consolas" panose="020B0609020204030204" pitchFamily="49" charset="0"/>
            </a:endParaRPr>
          </a:p>
          <a:p>
            <a:r>
              <a:rPr lang="en-US" sz="1200" b="1" i="1" dirty="0">
                <a:solidFill>
                  <a:srgbClr val="FF0000"/>
                </a:solidFill>
                <a:latin typeface="Consolas" panose="020B0609020204030204" pitchFamily="49" charset="0"/>
              </a:rPr>
              <a:t>  !! must use different RD than used in MPLS/SRv6</a:t>
            </a:r>
            <a:endParaRPr lang="sk-SK" sz="1200" b="1" i="1" dirty="0">
              <a:solidFill>
                <a:srgbClr val="FF0000"/>
              </a:solidFill>
              <a:latin typeface="Consolas" panose="020B0609020204030204" pitchFamily="49" charset="0"/>
            </a:endParaRPr>
          </a:p>
          <a:p>
            <a:r>
              <a:rPr lang="sk-SK" sz="1200" dirty="0">
                <a:latin typeface="Consolas" panose="020B0609020204030204" pitchFamily="49" charset="0"/>
              </a:rPr>
              <a:t>  </a:t>
            </a:r>
            <a:r>
              <a:rPr lang="sk-SK" sz="1200" b="1" dirty="0">
                <a:latin typeface="Consolas" panose="020B0609020204030204" pitchFamily="49" charset="0"/>
              </a:rPr>
              <a:t>rd 65000:2</a:t>
            </a:r>
          </a:p>
          <a:p>
            <a:r>
              <a:rPr lang="sk-SK" sz="1200" dirty="0">
                <a:latin typeface="Consolas" panose="020B0609020204030204" pitchFamily="49" charset="0"/>
              </a:rPr>
              <a:t>  </a:t>
            </a:r>
            <a:r>
              <a:rPr lang="sk-SK" sz="1200" dirty="0" err="1">
                <a:latin typeface="Consolas" panose="020B0609020204030204" pitchFamily="49" charset="0"/>
              </a:rPr>
              <a:t>address-family</a:t>
            </a:r>
            <a:r>
              <a:rPr lang="sk-SK" sz="1200" dirty="0">
                <a:latin typeface="Consolas" panose="020B0609020204030204" pitchFamily="49" charset="0"/>
              </a:rPr>
              <a:t> </a:t>
            </a:r>
            <a:r>
              <a:rPr lang="sk-SK" sz="1200" dirty="0" err="1">
                <a:latin typeface="Consolas" panose="020B0609020204030204" pitchFamily="49" charset="0"/>
              </a:rPr>
              <a:t>ipv4</a:t>
            </a:r>
            <a:r>
              <a:rPr lang="sk-SK" sz="1200" dirty="0">
                <a:latin typeface="Consolas" panose="020B0609020204030204" pitchFamily="49" charset="0"/>
              </a:rPr>
              <a:t> </a:t>
            </a:r>
            <a:r>
              <a:rPr lang="sk-SK" sz="1200" dirty="0" err="1">
                <a:latin typeface="Consolas" panose="020B0609020204030204" pitchFamily="49" charset="0"/>
              </a:rPr>
              <a:t>unicast</a:t>
            </a:r>
            <a:endParaRPr lang="sk-SK" sz="1200" dirty="0">
              <a:latin typeface="Consolas" panose="020B0609020204030204" pitchFamily="49" charset="0"/>
            </a:endParaRPr>
          </a:p>
          <a:p>
            <a:r>
              <a:rPr lang="sk-SK" sz="1200" dirty="0">
                <a:latin typeface="Consolas" panose="020B0609020204030204" pitchFamily="49" charset="0"/>
              </a:rPr>
              <a:t>   mpls </a:t>
            </a:r>
            <a:r>
              <a:rPr lang="sk-SK" sz="1200" dirty="0" err="1">
                <a:latin typeface="Consolas" panose="020B0609020204030204" pitchFamily="49" charset="0"/>
              </a:rPr>
              <a:t>alloc</a:t>
            </a:r>
            <a:r>
              <a:rPr lang="sk-SK" sz="1200" dirty="0">
                <a:latin typeface="Consolas" panose="020B0609020204030204" pitchFamily="49" charset="0"/>
              </a:rPr>
              <a:t> </a:t>
            </a:r>
            <a:r>
              <a:rPr lang="sk-SK" sz="1200" dirty="0" err="1">
                <a:latin typeface="Consolas" panose="020B0609020204030204" pitchFamily="49" charset="0"/>
              </a:rPr>
              <a:t>enable</a:t>
            </a:r>
            <a:r>
              <a:rPr lang="en-US" sz="1200" dirty="0">
                <a:latin typeface="Consolas" panose="020B0609020204030204" pitchFamily="49" charset="0"/>
              </a:rPr>
              <a:t>    	</a:t>
            </a:r>
            <a:r>
              <a:rPr lang="en-US" sz="1200" i="1" dirty="0">
                <a:solidFill>
                  <a:srgbClr val="7030A0"/>
                </a:solidFill>
                <a:latin typeface="Consolas" panose="020B0609020204030204" pitchFamily="49" charset="0"/>
              </a:rPr>
              <a:t>!! allocate MPLS label also</a:t>
            </a:r>
            <a:endParaRPr lang="sk-SK" sz="1200" i="1" dirty="0">
              <a:solidFill>
                <a:srgbClr val="7030A0"/>
              </a:solidFill>
              <a:latin typeface="Consolas" panose="020B0609020204030204" pitchFamily="49" charset="0"/>
            </a:endParaRPr>
          </a:p>
          <a:p>
            <a:r>
              <a:rPr lang="sk-SK" sz="1200" dirty="0">
                <a:latin typeface="Consolas" panose="020B0609020204030204" pitchFamily="49" charset="0"/>
              </a:rPr>
              <a:t>   segment-routing </a:t>
            </a:r>
            <a:r>
              <a:rPr lang="sk-SK" sz="1200" dirty="0" err="1">
                <a:latin typeface="Consolas" panose="020B0609020204030204" pitchFamily="49" charset="0"/>
              </a:rPr>
              <a:t>srv6</a:t>
            </a:r>
            <a:r>
              <a:rPr lang="en-US" sz="1200" dirty="0">
                <a:latin typeface="Consolas" panose="020B0609020204030204" pitchFamily="49" charset="0"/>
              </a:rPr>
              <a:t> 	</a:t>
            </a:r>
            <a:r>
              <a:rPr lang="en-US" sz="1200" i="1" dirty="0">
                <a:solidFill>
                  <a:srgbClr val="7030A0"/>
                </a:solidFill>
                <a:latin typeface="Consolas" panose="020B0609020204030204" pitchFamily="49" charset="0"/>
              </a:rPr>
              <a:t>!! allocate SRv6 SID </a:t>
            </a:r>
            <a:endParaRPr lang="sk-SK" sz="1200" i="1" dirty="0">
              <a:solidFill>
                <a:srgbClr val="7030A0"/>
              </a:solidFill>
              <a:latin typeface="Consolas" panose="020B0609020204030204" pitchFamily="49" charset="0"/>
            </a:endParaRPr>
          </a:p>
          <a:p>
            <a:r>
              <a:rPr lang="sk-SK" sz="1200" dirty="0">
                <a:latin typeface="Consolas" panose="020B0609020204030204" pitchFamily="49" charset="0"/>
              </a:rPr>
              <a:t>   !</a:t>
            </a:r>
          </a:p>
          <a:p>
            <a:r>
              <a:rPr lang="sk-SK" sz="1200" dirty="0">
                <a:latin typeface="Consolas" panose="020B0609020204030204" pitchFamily="49" charset="0"/>
              </a:rPr>
              <a:t>  !</a:t>
            </a:r>
          </a:p>
          <a:p>
            <a:r>
              <a:rPr lang="sk-SK" sz="1200" dirty="0">
                <a:latin typeface="Consolas" panose="020B0609020204030204" pitchFamily="49" charset="0"/>
              </a:rPr>
              <a:t>  </a:t>
            </a:r>
            <a:r>
              <a:rPr lang="sk-SK" sz="1200" dirty="0" err="1">
                <a:latin typeface="Consolas" panose="020B0609020204030204" pitchFamily="49" charset="0"/>
              </a:rPr>
              <a:t>address-family</a:t>
            </a:r>
            <a:r>
              <a:rPr lang="sk-SK" sz="1200" dirty="0">
                <a:latin typeface="Consolas" panose="020B0609020204030204" pitchFamily="49" charset="0"/>
              </a:rPr>
              <a:t> </a:t>
            </a:r>
            <a:r>
              <a:rPr lang="sk-SK" sz="1200" dirty="0" err="1">
                <a:latin typeface="Consolas" panose="020B0609020204030204" pitchFamily="49" charset="0"/>
              </a:rPr>
              <a:t>ipv6</a:t>
            </a:r>
            <a:r>
              <a:rPr lang="sk-SK" sz="1200" dirty="0">
                <a:latin typeface="Consolas" panose="020B0609020204030204" pitchFamily="49" charset="0"/>
              </a:rPr>
              <a:t> </a:t>
            </a:r>
            <a:r>
              <a:rPr lang="sk-SK" sz="1200" dirty="0" err="1">
                <a:latin typeface="Consolas" panose="020B0609020204030204" pitchFamily="49" charset="0"/>
              </a:rPr>
              <a:t>unicast</a:t>
            </a:r>
            <a:endParaRPr lang="sk-SK" sz="1200" dirty="0">
              <a:latin typeface="Consolas" panose="020B0609020204030204" pitchFamily="49" charset="0"/>
            </a:endParaRPr>
          </a:p>
          <a:p>
            <a:r>
              <a:rPr lang="sk-SK" sz="1200" dirty="0">
                <a:latin typeface="Consolas" panose="020B0609020204030204" pitchFamily="49" charset="0"/>
              </a:rPr>
              <a:t>   mpls </a:t>
            </a:r>
            <a:r>
              <a:rPr lang="sk-SK" sz="1200" dirty="0" err="1">
                <a:latin typeface="Consolas" panose="020B0609020204030204" pitchFamily="49" charset="0"/>
              </a:rPr>
              <a:t>alloc</a:t>
            </a:r>
            <a:r>
              <a:rPr lang="sk-SK" sz="1200" dirty="0">
                <a:latin typeface="Consolas" panose="020B0609020204030204" pitchFamily="49" charset="0"/>
              </a:rPr>
              <a:t> </a:t>
            </a:r>
            <a:r>
              <a:rPr lang="sk-SK" sz="1200" dirty="0" err="1">
                <a:latin typeface="Consolas" panose="020B0609020204030204" pitchFamily="49" charset="0"/>
              </a:rPr>
              <a:t>enable</a:t>
            </a:r>
            <a:r>
              <a:rPr lang="en-US" sz="1200" dirty="0">
                <a:latin typeface="Consolas" panose="020B0609020204030204" pitchFamily="49" charset="0"/>
              </a:rPr>
              <a:t>	</a:t>
            </a:r>
            <a:r>
              <a:rPr lang="en-US" sz="1200" i="1" dirty="0">
                <a:solidFill>
                  <a:srgbClr val="7030A0"/>
                </a:solidFill>
                <a:latin typeface="Consolas" panose="020B0609020204030204" pitchFamily="49" charset="0"/>
              </a:rPr>
              <a:t> 	!! allocate MPLS label also</a:t>
            </a:r>
            <a:endParaRPr lang="sk-SK" sz="1200" dirty="0">
              <a:latin typeface="Consolas" panose="020B0609020204030204" pitchFamily="49" charset="0"/>
            </a:endParaRPr>
          </a:p>
          <a:p>
            <a:r>
              <a:rPr lang="sk-SK" sz="1200" dirty="0">
                <a:latin typeface="Consolas" panose="020B0609020204030204" pitchFamily="49" charset="0"/>
              </a:rPr>
              <a:t>   segment-routing </a:t>
            </a:r>
            <a:r>
              <a:rPr lang="sk-SK" sz="1200" dirty="0" err="1">
                <a:latin typeface="Consolas" panose="020B0609020204030204" pitchFamily="49" charset="0"/>
              </a:rPr>
              <a:t>srv6</a:t>
            </a:r>
            <a:r>
              <a:rPr lang="en-US" sz="1200" dirty="0">
                <a:latin typeface="Consolas" panose="020B0609020204030204" pitchFamily="49" charset="0"/>
              </a:rPr>
              <a:t>	</a:t>
            </a:r>
            <a:r>
              <a:rPr lang="en-US" sz="1200" i="1" dirty="0">
                <a:solidFill>
                  <a:srgbClr val="7030A0"/>
                </a:solidFill>
                <a:latin typeface="Consolas" panose="020B0609020204030204" pitchFamily="49" charset="0"/>
              </a:rPr>
              <a:t>!! allocate SRv6 SID </a:t>
            </a:r>
            <a:endParaRPr lang="sk-SK" sz="1200" dirty="0">
              <a:latin typeface="Consolas" panose="020B0609020204030204" pitchFamily="49" charset="0"/>
            </a:endParaRPr>
          </a:p>
          <a:p>
            <a:r>
              <a:rPr lang="sk-SK" sz="1200" dirty="0">
                <a:latin typeface="Consolas" panose="020B0609020204030204" pitchFamily="49" charset="0"/>
              </a:rPr>
              <a:t>   !</a:t>
            </a:r>
          </a:p>
          <a:p>
            <a:endParaRPr lang="sk-SK" sz="1200" dirty="0">
              <a:latin typeface="Consolas" panose="020B0609020204030204" pitchFamily="49" charset="0"/>
            </a:endParaRPr>
          </a:p>
        </p:txBody>
      </p:sp>
    </p:spTree>
    <p:extLst>
      <p:ext uri="{BB962C8B-B14F-4D97-AF65-F5344CB8AC3E}">
        <p14:creationId xmlns:p14="http://schemas.microsoft.com/office/powerpoint/2010/main" val="3419685823"/>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1950574-7994-6101-BD98-4C1B808EC106}"/>
              </a:ext>
            </a:extLst>
          </p:cNvPr>
          <p:cNvSpPr>
            <a:spLocks noGrp="1"/>
          </p:cNvSpPr>
          <p:nvPr>
            <p:ph type="body" sz="quarter" idx="10"/>
          </p:nvPr>
        </p:nvSpPr>
        <p:spPr/>
        <p:txBody>
          <a:bodyPr/>
          <a:lstStyle/>
          <a:p>
            <a:r>
              <a:rPr lang="en-US" dirty="0"/>
              <a:t>CE31</a:t>
            </a:r>
          </a:p>
          <a:p>
            <a:r>
              <a:rPr lang="en-US" dirty="0"/>
              <a:t>R31</a:t>
            </a:r>
          </a:p>
          <a:p>
            <a:r>
              <a:rPr lang="en-US" dirty="0"/>
              <a:t>R32</a:t>
            </a:r>
          </a:p>
          <a:p>
            <a:r>
              <a:rPr lang="en-US" dirty="0"/>
              <a:t>R02</a:t>
            </a:r>
          </a:p>
          <a:p>
            <a:r>
              <a:rPr lang="en-US" dirty="0"/>
              <a:t>R01</a:t>
            </a:r>
          </a:p>
          <a:p>
            <a:r>
              <a:rPr lang="en-US" dirty="0"/>
              <a:t>CE01 </a:t>
            </a:r>
          </a:p>
        </p:txBody>
      </p:sp>
      <p:sp>
        <p:nvSpPr>
          <p:cNvPr id="3" name="Text Placeholder 2">
            <a:extLst>
              <a:ext uri="{FF2B5EF4-FFF2-40B4-BE49-F238E27FC236}">
                <a16:creationId xmlns:a16="http://schemas.microsoft.com/office/drawing/2014/main" id="{B6FB7BA3-4001-15C7-07DC-9CB0D94433A6}"/>
              </a:ext>
            </a:extLst>
          </p:cNvPr>
          <p:cNvSpPr>
            <a:spLocks noGrp="1"/>
          </p:cNvSpPr>
          <p:nvPr>
            <p:ph type="body" sz="quarter" idx="11"/>
          </p:nvPr>
        </p:nvSpPr>
        <p:spPr/>
        <p:txBody>
          <a:bodyPr/>
          <a:lstStyle/>
          <a:p>
            <a:r>
              <a:rPr lang="en-US" dirty="0"/>
              <a:t>MPLS to SRv6 (CE31 -&gt; CE01)</a:t>
            </a:r>
          </a:p>
        </p:txBody>
      </p:sp>
      <p:pic>
        <p:nvPicPr>
          <p:cNvPr id="6" name="Picture 5">
            <a:extLst>
              <a:ext uri="{FF2B5EF4-FFF2-40B4-BE49-F238E27FC236}">
                <a16:creationId xmlns:a16="http://schemas.microsoft.com/office/drawing/2014/main" id="{3F8863BF-2738-8CAC-4B97-91893F63E15D}"/>
              </a:ext>
            </a:extLst>
          </p:cNvPr>
          <p:cNvPicPr>
            <a:picLocks noChangeAspect="1"/>
          </p:cNvPicPr>
          <p:nvPr/>
        </p:nvPicPr>
        <p:blipFill>
          <a:blip r:embed="rId2"/>
          <a:stretch>
            <a:fillRect/>
          </a:stretch>
        </p:blipFill>
        <p:spPr>
          <a:xfrm>
            <a:off x="2762205" y="764213"/>
            <a:ext cx="9198137" cy="5791702"/>
          </a:xfrm>
          <a:prstGeom prst="rect">
            <a:avLst/>
          </a:prstGeom>
        </p:spPr>
      </p:pic>
      <p:sp>
        <p:nvSpPr>
          <p:cNvPr id="7" name="TextBox 6">
            <a:extLst>
              <a:ext uri="{FF2B5EF4-FFF2-40B4-BE49-F238E27FC236}">
                <a16:creationId xmlns:a16="http://schemas.microsoft.com/office/drawing/2014/main" id="{D903CECA-B943-653D-91FB-C17089D6DDB5}"/>
              </a:ext>
            </a:extLst>
          </p:cNvPr>
          <p:cNvSpPr txBox="1"/>
          <p:nvPr/>
        </p:nvSpPr>
        <p:spPr>
          <a:xfrm>
            <a:off x="5191850" y="1850065"/>
            <a:ext cx="563526" cy="59542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4400" b="1" i="0" u="none" strike="noStrike" kern="1200" cap="none" spc="0" normalizeH="0" baseline="0" noProof="0" dirty="0">
                <a:ln>
                  <a:noFill/>
                </a:ln>
                <a:solidFill>
                  <a:srgbClr val="FF0000"/>
                </a:solidFill>
                <a:effectLst/>
                <a:uLnTx/>
                <a:uFillTx/>
                <a:latin typeface="Arial" panose="020B0604020202020204"/>
                <a:ea typeface="+mn-ea"/>
                <a:cs typeface="+mn-cs"/>
              </a:rPr>
              <a:t>X</a:t>
            </a:r>
          </a:p>
        </p:txBody>
      </p:sp>
      <p:sp>
        <p:nvSpPr>
          <p:cNvPr id="8" name="TextBox 7">
            <a:extLst>
              <a:ext uri="{FF2B5EF4-FFF2-40B4-BE49-F238E27FC236}">
                <a16:creationId xmlns:a16="http://schemas.microsoft.com/office/drawing/2014/main" id="{4F22AAD6-0EC7-E5FC-E55A-EA716DA964B6}"/>
              </a:ext>
            </a:extLst>
          </p:cNvPr>
          <p:cNvSpPr txBox="1"/>
          <p:nvPr/>
        </p:nvSpPr>
        <p:spPr>
          <a:xfrm>
            <a:off x="7236464" y="1850064"/>
            <a:ext cx="563526" cy="59542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4400" b="1" i="0" u="none" strike="noStrike" kern="1200" cap="none" spc="0" normalizeH="0" baseline="0" noProof="0" dirty="0">
                <a:ln>
                  <a:noFill/>
                </a:ln>
                <a:solidFill>
                  <a:srgbClr val="FF0000"/>
                </a:solidFill>
                <a:effectLst/>
                <a:uLnTx/>
                <a:uFillTx/>
                <a:latin typeface="Arial" panose="020B0604020202020204"/>
                <a:ea typeface="+mn-ea"/>
                <a:cs typeface="+mn-cs"/>
              </a:rPr>
              <a:t>X</a:t>
            </a:r>
          </a:p>
        </p:txBody>
      </p:sp>
      <p:sp>
        <p:nvSpPr>
          <p:cNvPr id="9" name="Rectangle 8">
            <a:extLst>
              <a:ext uri="{FF2B5EF4-FFF2-40B4-BE49-F238E27FC236}">
                <a16:creationId xmlns:a16="http://schemas.microsoft.com/office/drawing/2014/main" id="{FE60F913-FBFC-C3F4-2E0B-3E10032FA546}"/>
              </a:ext>
            </a:extLst>
          </p:cNvPr>
          <p:cNvSpPr/>
          <p:nvPr/>
        </p:nvSpPr>
        <p:spPr>
          <a:xfrm>
            <a:off x="5755375" y="2495491"/>
            <a:ext cx="1049461" cy="701749"/>
          </a:xfrm>
          <a:prstGeom prst="rect">
            <a:avLst/>
          </a:prstGeom>
          <a:noFill/>
          <a:ln w="60325">
            <a:solidFill>
              <a:srgbClr val="FDC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21EC79A3-F297-FFCC-8128-53CE4CD51982}"/>
              </a:ext>
            </a:extLst>
          </p:cNvPr>
          <p:cNvSpPr/>
          <p:nvPr/>
        </p:nvSpPr>
        <p:spPr>
          <a:xfrm>
            <a:off x="4593265" y="1389095"/>
            <a:ext cx="1845479" cy="1641184"/>
          </a:xfrm>
          <a:custGeom>
            <a:avLst/>
            <a:gdLst>
              <a:gd name="connsiteX0" fmla="*/ 0 w 1845479"/>
              <a:gd name="connsiteY0" fmla="*/ 120728 h 1641184"/>
              <a:gd name="connsiteX1" fmla="*/ 1594884 w 1845479"/>
              <a:gd name="connsiteY1" fmla="*/ 120728 h 1641184"/>
              <a:gd name="connsiteX2" fmla="*/ 1679944 w 1845479"/>
              <a:gd name="connsiteY2" fmla="*/ 1375370 h 1641184"/>
              <a:gd name="connsiteX3" fmla="*/ 10633 w 1845479"/>
              <a:gd name="connsiteY3" fmla="*/ 1641184 h 1641184"/>
            </a:gdLst>
            <a:ahLst/>
            <a:cxnLst>
              <a:cxn ang="0">
                <a:pos x="connsiteX0" y="connsiteY0"/>
              </a:cxn>
              <a:cxn ang="0">
                <a:pos x="connsiteX1" y="connsiteY1"/>
              </a:cxn>
              <a:cxn ang="0">
                <a:pos x="connsiteX2" y="connsiteY2"/>
              </a:cxn>
              <a:cxn ang="0">
                <a:pos x="connsiteX3" y="connsiteY3"/>
              </a:cxn>
            </a:cxnLst>
            <a:rect l="l" t="t" r="r" b="b"/>
            <a:pathLst>
              <a:path w="1845479" h="1641184">
                <a:moveTo>
                  <a:pt x="0" y="120728"/>
                </a:moveTo>
                <a:cubicBezTo>
                  <a:pt x="657446" y="16174"/>
                  <a:pt x="1314893" y="-88379"/>
                  <a:pt x="1594884" y="120728"/>
                </a:cubicBezTo>
                <a:cubicBezTo>
                  <a:pt x="1874875" y="329835"/>
                  <a:pt x="1943986" y="1121961"/>
                  <a:pt x="1679944" y="1375370"/>
                </a:cubicBezTo>
                <a:cubicBezTo>
                  <a:pt x="1415902" y="1628779"/>
                  <a:pt x="713267" y="1634981"/>
                  <a:pt x="10633" y="1641184"/>
                </a:cubicBezTo>
              </a:path>
            </a:pathLst>
          </a:custGeom>
          <a:noFill/>
          <a:ln w="57150">
            <a:solidFill>
              <a:schemeClr val="accent6">
                <a:lumMod val="60000"/>
                <a:lumOff val="40000"/>
              </a:schemeClr>
            </a:solidFill>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65716400"/>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MPLS to SRv6 (CE31 -&gt; CE01)  #CE31</a:t>
            </a:r>
          </a:p>
        </p:txBody>
      </p:sp>
      <p:sp>
        <p:nvSpPr>
          <p:cNvPr id="4" name="Rectangle 3">
            <a:extLst>
              <a:ext uri="{FF2B5EF4-FFF2-40B4-BE49-F238E27FC236}">
                <a16:creationId xmlns:a16="http://schemas.microsoft.com/office/drawing/2014/main" id="{87D7CB37-5BEE-FF8F-7602-60627856E0E8}"/>
              </a:ext>
            </a:extLst>
          </p:cNvPr>
          <p:cNvSpPr/>
          <p:nvPr/>
        </p:nvSpPr>
        <p:spPr>
          <a:xfrm>
            <a:off x="155153" y="785478"/>
            <a:ext cx="5699602" cy="2800767"/>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CE31#</a:t>
            </a:r>
            <a:r>
              <a:rPr lang="sk-SK" sz="1100" b="1" dirty="0">
                <a:latin typeface="Consolas" panose="020B0609020204030204" pitchFamily="49" charset="0"/>
              </a:rPr>
              <a:t>ping 10.0.1.1 </a:t>
            </a:r>
            <a:r>
              <a:rPr lang="sk-SK" sz="1100" b="1" dirty="0" err="1">
                <a:latin typeface="Consolas" panose="020B0609020204030204" pitchFamily="49" charset="0"/>
              </a:rPr>
              <a:t>source</a:t>
            </a:r>
            <a:r>
              <a:rPr lang="sk-SK" sz="1100" b="1" dirty="0">
                <a:latin typeface="Consolas" panose="020B0609020204030204" pitchFamily="49" charset="0"/>
              </a:rPr>
              <a:t> </a:t>
            </a:r>
            <a:r>
              <a:rPr lang="sk-SK" sz="1100" b="1" dirty="0" err="1">
                <a:latin typeface="Consolas" panose="020B0609020204030204" pitchFamily="49" charset="0"/>
              </a:rPr>
              <a:t>loopback</a:t>
            </a:r>
            <a:r>
              <a:rPr lang="sk-SK" sz="1100" b="1" dirty="0">
                <a:latin typeface="Consolas" panose="020B0609020204030204" pitchFamily="49" charset="0"/>
              </a:rPr>
              <a:t> 1000</a:t>
            </a:r>
          </a:p>
          <a:p>
            <a:r>
              <a:rPr lang="sk-SK" sz="1100" dirty="0">
                <a:latin typeface="Consolas" panose="020B0609020204030204" pitchFamily="49" charset="0"/>
              </a:rPr>
              <a:t>Type </a:t>
            </a:r>
            <a:r>
              <a:rPr lang="sk-SK" sz="1100" dirty="0" err="1">
                <a:latin typeface="Consolas" panose="020B0609020204030204" pitchFamily="49" charset="0"/>
              </a:rPr>
              <a:t>escape</a:t>
            </a:r>
            <a:r>
              <a:rPr lang="sk-SK" sz="1100" dirty="0">
                <a:latin typeface="Consolas" panose="020B0609020204030204" pitchFamily="49" charset="0"/>
              </a:rPr>
              <a:t> </a:t>
            </a:r>
            <a:r>
              <a:rPr lang="sk-SK" sz="1100" dirty="0" err="1">
                <a:latin typeface="Consolas" panose="020B0609020204030204" pitchFamily="49" charset="0"/>
              </a:rPr>
              <a:t>sequence</a:t>
            </a:r>
            <a:r>
              <a:rPr lang="sk-SK" sz="1100" dirty="0">
                <a:latin typeface="Consolas" panose="020B0609020204030204" pitchFamily="49" charset="0"/>
              </a:rPr>
              <a:t> to </a:t>
            </a:r>
            <a:r>
              <a:rPr lang="sk-SK" sz="1100" dirty="0" err="1">
                <a:latin typeface="Consolas" panose="020B0609020204030204" pitchFamily="49" charset="0"/>
              </a:rPr>
              <a:t>abort</a:t>
            </a:r>
            <a:r>
              <a:rPr lang="sk-SK" sz="1100" dirty="0">
                <a:latin typeface="Consolas" panose="020B0609020204030204" pitchFamily="49" charset="0"/>
              </a:rPr>
              <a:t>.</a:t>
            </a:r>
          </a:p>
          <a:p>
            <a:r>
              <a:rPr lang="sk-SK" sz="1100" dirty="0" err="1">
                <a:latin typeface="Consolas" panose="020B0609020204030204" pitchFamily="49" charset="0"/>
              </a:rPr>
              <a:t>Sending</a:t>
            </a:r>
            <a:r>
              <a:rPr lang="sk-SK" sz="1100" dirty="0">
                <a:latin typeface="Consolas" panose="020B0609020204030204" pitchFamily="49" charset="0"/>
              </a:rPr>
              <a:t> 5, 100-byte ICMP Echos to 10.0.1.1, </a:t>
            </a:r>
            <a:r>
              <a:rPr lang="sk-SK" sz="1100" dirty="0" err="1">
                <a:latin typeface="Consolas" panose="020B0609020204030204" pitchFamily="49" charset="0"/>
              </a:rPr>
              <a:t>timeout</a:t>
            </a:r>
            <a:r>
              <a:rPr lang="sk-SK" sz="1100" dirty="0">
                <a:latin typeface="Consolas" panose="020B0609020204030204" pitchFamily="49" charset="0"/>
              </a:rPr>
              <a:t> </a:t>
            </a:r>
            <a:r>
              <a:rPr lang="sk-SK" sz="1100" dirty="0" err="1">
                <a:latin typeface="Consolas" panose="020B0609020204030204" pitchFamily="49" charset="0"/>
              </a:rPr>
              <a:t>is</a:t>
            </a:r>
            <a:r>
              <a:rPr lang="sk-SK" sz="1100" dirty="0">
                <a:latin typeface="Consolas" panose="020B0609020204030204" pitchFamily="49" charset="0"/>
              </a:rPr>
              <a:t> 2 </a:t>
            </a:r>
            <a:r>
              <a:rPr lang="sk-SK" sz="1100" dirty="0" err="1">
                <a:latin typeface="Consolas" panose="020B0609020204030204" pitchFamily="49" charset="0"/>
              </a:rPr>
              <a:t>seconds</a:t>
            </a:r>
            <a:r>
              <a:rPr lang="sk-SK" sz="1100" dirty="0">
                <a:latin typeface="Consolas" panose="020B0609020204030204" pitchFamily="49" charset="0"/>
              </a:rPr>
              <a:t>:</a:t>
            </a:r>
          </a:p>
          <a:p>
            <a:r>
              <a:rPr lang="sk-SK" sz="1100" dirty="0" err="1">
                <a:latin typeface="Consolas" panose="020B0609020204030204" pitchFamily="49" charset="0"/>
              </a:rPr>
              <a:t>Packet</a:t>
            </a:r>
            <a:r>
              <a:rPr lang="sk-SK" sz="1100" dirty="0">
                <a:latin typeface="Consolas" panose="020B0609020204030204" pitchFamily="49" charset="0"/>
              </a:rPr>
              <a:t> </a:t>
            </a:r>
            <a:r>
              <a:rPr lang="sk-SK" sz="1100" dirty="0" err="1">
                <a:latin typeface="Consolas" panose="020B0609020204030204" pitchFamily="49" charset="0"/>
              </a:rPr>
              <a:t>sent</a:t>
            </a:r>
            <a:r>
              <a:rPr lang="sk-SK" sz="1100" dirty="0">
                <a:latin typeface="Consolas" panose="020B0609020204030204" pitchFamily="49" charset="0"/>
              </a:rPr>
              <a:t> </a:t>
            </a:r>
            <a:r>
              <a:rPr lang="sk-SK" sz="1100" dirty="0" err="1">
                <a:latin typeface="Consolas" panose="020B0609020204030204" pitchFamily="49" charset="0"/>
              </a:rPr>
              <a:t>with</a:t>
            </a:r>
            <a:r>
              <a:rPr lang="sk-SK" sz="1100" dirty="0">
                <a:latin typeface="Consolas" panose="020B0609020204030204" pitchFamily="49" charset="0"/>
              </a:rPr>
              <a:t> a </a:t>
            </a:r>
            <a:r>
              <a:rPr lang="sk-SK" sz="1100" dirty="0" err="1">
                <a:latin typeface="Consolas" panose="020B0609020204030204" pitchFamily="49" charset="0"/>
              </a:rPr>
              <a:t>source</a:t>
            </a:r>
            <a:r>
              <a:rPr lang="sk-SK" sz="1100" dirty="0">
                <a:latin typeface="Consolas" panose="020B0609020204030204" pitchFamily="49" charset="0"/>
              </a:rPr>
              <a:t> </a:t>
            </a:r>
            <a:r>
              <a:rPr lang="sk-SK" sz="1100" dirty="0" err="1">
                <a:latin typeface="Consolas" panose="020B0609020204030204" pitchFamily="49" charset="0"/>
              </a:rPr>
              <a:t>address</a:t>
            </a:r>
            <a:r>
              <a:rPr lang="sk-SK" sz="1100" dirty="0">
                <a:latin typeface="Consolas" panose="020B0609020204030204" pitchFamily="49" charset="0"/>
              </a:rPr>
              <a:t> of 10.0.31.1 </a:t>
            </a:r>
          </a:p>
          <a:p>
            <a:r>
              <a:rPr lang="sk-SK" sz="1100" dirty="0">
                <a:latin typeface="Consolas" panose="020B0609020204030204" pitchFamily="49" charset="0"/>
              </a:rPr>
              <a:t>!!!!!</a:t>
            </a:r>
          </a:p>
          <a:p>
            <a:r>
              <a:rPr lang="sk-SK" sz="1100" dirty="0" err="1">
                <a:latin typeface="Consolas" panose="020B0609020204030204" pitchFamily="49" charset="0"/>
              </a:rPr>
              <a:t>Success</a:t>
            </a:r>
            <a:r>
              <a:rPr lang="sk-SK" sz="1100" dirty="0">
                <a:latin typeface="Consolas" panose="020B0609020204030204" pitchFamily="49" charset="0"/>
              </a:rPr>
              <a:t> rate </a:t>
            </a:r>
            <a:r>
              <a:rPr lang="sk-SK" sz="1100" dirty="0" err="1">
                <a:latin typeface="Consolas" panose="020B0609020204030204" pitchFamily="49" charset="0"/>
              </a:rPr>
              <a:t>is</a:t>
            </a:r>
            <a:r>
              <a:rPr lang="sk-SK" sz="1100" dirty="0">
                <a:latin typeface="Consolas" panose="020B0609020204030204" pitchFamily="49" charset="0"/>
              </a:rPr>
              <a:t> 100 percent (5/5), </a:t>
            </a:r>
            <a:r>
              <a:rPr lang="sk-SK" sz="1100" dirty="0" err="1">
                <a:latin typeface="Consolas" panose="020B0609020204030204" pitchFamily="49" charset="0"/>
              </a:rPr>
              <a:t>round</a:t>
            </a:r>
            <a:r>
              <a:rPr lang="sk-SK" sz="1100" dirty="0">
                <a:latin typeface="Consolas" panose="020B0609020204030204" pitchFamily="49" charset="0"/>
              </a:rPr>
              <a:t>-trip min/</a:t>
            </a:r>
            <a:r>
              <a:rPr lang="sk-SK" sz="1100" dirty="0" err="1">
                <a:latin typeface="Consolas" panose="020B0609020204030204" pitchFamily="49" charset="0"/>
              </a:rPr>
              <a:t>avg</a:t>
            </a:r>
            <a:r>
              <a:rPr lang="sk-SK" sz="1100" dirty="0">
                <a:latin typeface="Consolas" panose="020B0609020204030204" pitchFamily="49" charset="0"/>
              </a:rPr>
              <a:t>/max = 7/8/12 ms</a:t>
            </a:r>
          </a:p>
          <a:p>
            <a:r>
              <a:rPr lang="sk-SK" sz="1100" dirty="0">
                <a:latin typeface="Consolas" panose="020B0609020204030204" pitchFamily="49" charset="0"/>
              </a:rPr>
              <a:t>CE31#</a:t>
            </a:r>
            <a:r>
              <a:rPr lang="sk-SK" sz="1100" b="1" dirty="0">
                <a:latin typeface="Consolas" panose="020B0609020204030204" pitchFamily="49" charset="0"/>
              </a:rPr>
              <a:t>traceroute 10.0.1.1 </a:t>
            </a:r>
            <a:r>
              <a:rPr lang="sk-SK" sz="1100" b="1" dirty="0" err="1">
                <a:latin typeface="Consolas" panose="020B0609020204030204" pitchFamily="49" charset="0"/>
              </a:rPr>
              <a:t>source</a:t>
            </a:r>
            <a:r>
              <a:rPr lang="sk-SK" sz="1100" b="1" dirty="0">
                <a:latin typeface="Consolas" panose="020B0609020204030204" pitchFamily="49" charset="0"/>
              </a:rPr>
              <a:t> </a:t>
            </a:r>
            <a:r>
              <a:rPr lang="sk-SK" sz="1100" b="1" dirty="0" err="1">
                <a:latin typeface="Consolas" panose="020B0609020204030204" pitchFamily="49" charset="0"/>
              </a:rPr>
              <a:t>loopback</a:t>
            </a:r>
            <a:r>
              <a:rPr lang="sk-SK" sz="1100" b="1" dirty="0">
                <a:latin typeface="Consolas" panose="020B0609020204030204" pitchFamily="49" charset="0"/>
              </a:rPr>
              <a:t> 1000 </a:t>
            </a:r>
            <a:r>
              <a:rPr lang="sk-SK" sz="1100" b="1" dirty="0" err="1">
                <a:latin typeface="Consolas" panose="020B0609020204030204" pitchFamily="49" charset="0"/>
              </a:rPr>
              <a:t>numeric</a:t>
            </a:r>
            <a:endParaRPr lang="sk-SK" sz="1100" b="1" dirty="0">
              <a:latin typeface="Consolas" panose="020B0609020204030204" pitchFamily="49" charset="0"/>
            </a:endParaRPr>
          </a:p>
          <a:p>
            <a:r>
              <a:rPr lang="sk-SK" sz="1100" dirty="0">
                <a:latin typeface="Consolas" panose="020B0609020204030204" pitchFamily="49" charset="0"/>
              </a:rPr>
              <a:t>Type </a:t>
            </a:r>
            <a:r>
              <a:rPr lang="sk-SK" sz="1100" dirty="0" err="1">
                <a:latin typeface="Consolas" panose="020B0609020204030204" pitchFamily="49" charset="0"/>
              </a:rPr>
              <a:t>escape</a:t>
            </a:r>
            <a:r>
              <a:rPr lang="sk-SK" sz="1100" dirty="0">
                <a:latin typeface="Consolas" panose="020B0609020204030204" pitchFamily="49" charset="0"/>
              </a:rPr>
              <a:t> </a:t>
            </a:r>
            <a:r>
              <a:rPr lang="sk-SK" sz="1100" dirty="0" err="1">
                <a:latin typeface="Consolas" panose="020B0609020204030204" pitchFamily="49" charset="0"/>
              </a:rPr>
              <a:t>sequence</a:t>
            </a:r>
            <a:r>
              <a:rPr lang="sk-SK" sz="1100" dirty="0">
                <a:latin typeface="Consolas" panose="020B0609020204030204" pitchFamily="49" charset="0"/>
              </a:rPr>
              <a:t> to </a:t>
            </a:r>
            <a:r>
              <a:rPr lang="sk-SK" sz="1100" dirty="0" err="1">
                <a:latin typeface="Consolas" panose="020B0609020204030204" pitchFamily="49" charset="0"/>
              </a:rPr>
              <a:t>abort</a:t>
            </a:r>
            <a:r>
              <a:rPr lang="sk-SK" sz="1100" dirty="0">
                <a:latin typeface="Consolas" panose="020B0609020204030204" pitchFamily="49" charset="0"/>
              </a:rPr>
              <a:t>.</a:t>
            </a:r>
          </a:p>
          <a:p>
            <a:r>
              <a:rPr lang="sk-SK" sz="1100" dirty="0" err="1">
                <a:latin typeface="Consolas" panose="020B0609020204030204" pitchFamily="49" charset="0"/>
              </a:rPr>
              <a:t>Tracing</a:t>
            </a:r>
            <a:r>
              <a:rPr lang="sk-SK" sz="1100" dirty="0">
                <a:latin typeface="Consolas" panose="020B0609020204030204" pitchFamily="49" charset="0"/>
              </a:rPr>
              <a:t> </a:t>
            </a:r>
            <a:r>
              <a:rPr lang="sk-SK" sz="1100" dirty="0" err="1">
                <a:latin typeface="Consolas" panose="020B0609020204030204" pitchFamily="49" charset="0"/>
              </a:rPr>
              <a:t>the</a:t>
            </a:r>
            <a:r>
              <a:rPr lang="sk-SK" sz="1100" dirty="0">
                <a:latin typeface="Consolas" panose="020B0609020204030204" pitchFamily="49" charset="0"/>
              </a:rPr>
              <a:t> </a:t>
            </a:r>
            <a:r>
              <a:rPr lang="sk-SK" sz="1100" dirty="0" err="1">
                <a:latin typeface="Consolas" panose="020B0609020204030204" pitchFamily="49" charset="0"/>
              </a:rPr>
              <a:t>route</a:t>
            </a:r>
            <a:r>
              <a:rPr lang="sk-SK" sz="1100" dirty="0">
                <a:latin typeface="Consolas" panose="020B0609020204030204" pitchFamily="49" charset="0"/>
              </a:rPr>
              <a:t> to 10.0.1.1</a:t>
            </a:r>
          </a:p>
          <a:p>
            <a:r>
              <a:rPr lang="sk-SK" sz="1100" dirty="0">
                <a:latin typeface="Consolas" panose="020B0609020204030204" pitchFamily="49" charset="0"/>
              </a:rPr>
              <a:t>VRF </a:t>
            </a:r>
            <a:r>
              <a:rPr lang="sk-SK" sz="1100" dirty="0" err="1">
                <a:latin typeface="Consolas" panose="020B0609020204030204" pitchFamily="49" charset="0"/>
              </a:rPr>
              <a:t>info</a:t>
            </a:r>
            <a:r>
              <a:rPr lang="sk-SK" sz="1100" dirty="0">
                <a:latin typeface="Consolas" panose="020B0609020204030204" pitchFamily="49" charset="0"/>
              </a:rPr>
              <a:t>: (vrf in </a:t>
            </a:r>
            <a:r>
              <a:rPr lang="sk-SK" sz="1100" dirty="0" err="1">
                <a:latin typeface="Consolas" panose="020B0609020204030204" pitchFamily="49" charset="0"/>
              </a:rPr>
              <a:t>name</a:t>
            </a:r>
            <a:r>
              <a:rPr lang="sk-SK" sz="1100" dirty="0">
                <a:latin typeface="Consolas" panose="020B0609020204030204" pitchFamily="49" charset="0"/>
              </a:rPr>
              <a:t>/id, vrf </a:t>
            </a:r>
            <a:r>
              <a:rPr lang="sk-SK" sz="1100" dirty="0" err="1">
                <a:latin typeface="Consolas" panose="020B0609020204030204" pitchFamily="49" charset="0"/>
              </a:rPr>
              <a:t>out</a:t>
            </a:r>
            <a:r>
              <a:rPr lang="sk-SK" sz="1100" dirty="0">
                <a:latin typeface="Consolas" panose="020B0609020204030204" pitchFamily="49" charset="0"/>
              </a:rPr>
              <a:t> </a:t>
            </a:r>
            <a:r>
              <a:rPr lang="sk-SK" sz="1100" dirty="0" err="1">
                <a:latin typeface="Consolas" panose="020B0609020204030204" pitchFamily="49" charset="0"/>
              </a:rPr>
              <a:t>name</a:t>
            </a:r>
            <a:r>
              <a:rPr lang="sk-SK" sz="1100" dirty="0">
                <a:latin typeface="Consolas" panose="020B0609020204030204" pitchFamily="49" charset="0"/>
              </a:rPr>
              <a:t>/id)</a:t>
            </a:r>
          </a:p>
          <a:p>
            <a:r>
              <a:rPr lang="sk-SK" sz="1100" dirty="0">
                <a:latin typeface="Consolas" panose="020B0609020204030204" pitchFamily="49" charset="0"/>
              </a:rPr>
              <a:t>  1 10.64.31.1 [AS 65000] 33 </a:t>
            </a:r>
            <a:r>
              <a:rPr lang="sk-SK" sz="1100" dirty="0" err="1">
                <a:latin typeface="Consolas" panose="020B0609020204030204" pitchFamily="49" charset="0"/>
              </a:rPr>
              <a:t>msec</a:t>
            </a:r>
            <a:r>
              <a:rPr lang="sk-SK" sz="1100" dirty="0">
                <a:latin typeface="Consolas" panose="020B0609020204030204" pitchFamily="49" charset="0"/>
              </a:rPr>
              <a:t> 2 </a:t>
            </a:r>
            <a:r>
              <a:rPr lang="sk-SK" sz="1100" dirty="0" err="1">
                <a:latin typeface="Consolas" panose="020B0609020204030204" pitchFamily="49" charset="0"/>
              </a:rPr>
              <a:t>msec</a:t>
            </a:r>
            <a:r>
              <a:rPr lang="sk-SK" sz="1100" dirty="0">
                <a:latin typeface="Consolas" panose="020B0609020204030204" pitchFamily="49" charset="0"/>
              </a:rPr>
              <a:t> 2 </a:t>
            </a:r>
            <a:r>
              <a:rPr lang="sk-SK" sz="1100" dirty="0" err="1">
                <a:latin typeface="Consolas" panose="020B0609020204030204" pitchFamily="49" charset="0"/>
              </a:rPr>
              <a:t>msec</a:t>
            </a:r>
            <a:endParaRPr lang="sk-SK" sz="1100" dirty="0">
              <a:latin typeface="Consolas" panose="020B0609020204030204" pitchFamily="49" charset="0"/>
            </a:endParaRPr>
          </a:p>
          <a:p>
            <a:r>
              <a:rPr lang="sk-SK" sz="1100" dirty="0">
                <a:latin typeface="Consolas" panose="020B0609020204030204" pitchFamily="49" charset="0"/>
              </a:rPr>
              <a:t>  2 64.31.32.32 [MPLS: </a:t>
            </a:r>
            <a:r>
              <a:rPr lang="sk-SK" sz="1100" dirty="0" err="1">
                <a:latin typeface="Consolas" panose="020B0609020204030204" pitchFamily="49" charset="0"/>
              </a:rPr>
              <a:t>Labels</a:t>
            </a:r>
            <a:r>
              <a:rPr lang="sk-SK" sz="1100" dirty="0">
                <a:latin typeface="Consolas" panose="020B0609020204030204" pitchFamily="49" charset="0"/>
              </a:rPr>
              <a:t> 17/24010 </a:t>
            </a:r>
            <a:r>
              <a:rPr lang="sk-SK" sz="1100" dirty="0" err="1">
                <a:latin typeface="Consolas" panose="020B0609020204030204" pitchFamily="49" charset="0"/>
              </a:rPr>
              <a:t>Exp</a:t>
            </a:r>
            <a:r>
              <a:rPr lang="sk-SK" sz="1100" dirty="0">
                <a:latin typeface="Consolas" panose="020B0609020204030204" pitchFamily="49" charset="0"/>
              </a:rPr>
              <a:t> 0] 18 </a:t>
            </a:r>
            <a:r>
              <a:rPr lang="sk-SK" sz="1100" dirty="0" err="1">
                <a:latin typeface="Consolas" panose="020B0609020204030204" pitchFamily="49" charset="0"/>
              </a:rPr>
              <a:t>msec</a:t>
            </a:r>
            <a:r>
              <a:rPr lang="sk-SK" sz="1100" dirty="0">
                <a:latin typeface="Consolas" panose="020B0609020204030204" pitchFamily="49" charset="0"/>
              </a:rPr>
              <a:t> 18 </a:t>
            </a:r>
            <a:r>
              <a:rPr lang="sk-SK" sz="1100" dirty="0" err="1">
                <a:latin typeface="Consolas" panose="020B0609020204030204" pitchFamily="49" charset="0"/>
              </a:rPr>
              <a:t>msec</a:t>
            </a:r>
            <a:r>
              <a:rPr lang="sk-SK" sz="1100" dirty="0">
                <a:latin typeface="Consolas" panose="020B0609020204030204" pitchFamily="49" charset="0"/>
              </a:rPr>
              <a:t> 12 </a:t>
            </a:r>
            <a:r>
              <a:rPr lang="sk-SK" sz="1100" dirty="0" err="1">
                <a:latin typeface="Consolas" panose="020B0609020204030204" pitchFamily="49" charset="0"/>
              </a:rPr>
              <a:t>msec</a:t>
            </a:r>
            <a:endParaRPr lang="sk-SK" sz="1100" dirty="0">
              <a:latin typeface="Consolas" panose="020B0609020204030204" pitchFamily="49" charset="0"/>
            </a:endParaRPr>
          </a:p>
          <a:p>
            <a:r>
              <a:rPr lang="sk-SK" sz="1100" dirty="0">
                <a:latin typeface="Consolas" panose="020B0609020204030204" pitchFamily="49" charset="0"/>
              </a:rPr>
              <a:t>  3 64.2.32.2 10 </a:t>
            </a:r>
            <a:r>
              <a:rPr lang="sk-SK" sz="1100" dirty="0" err="1">
                <a:latin typeface="Consolas" panose="020B0609020204030204" pitchFamily="49" charset="0"/>
              </a:rPr>
              <a:t>msec</a:t>
            </a:r>
            <a:r>
              <a:rPr lang="sk-SK" sz="1100" dirty="0">
                <a:latin typeface="Consolas" panose="020B0609020204030204" pitchFamily="49" charset="0"/>
              </a:rPr>
              <a:t> 7 </a:t>
            </a:r>
            <a:r>
              <a:rPr lang="sk-SK" sz="1100" dirty="0" err="1">
                <a:latin typeface="Consolas" panose="020B0609020204030204" pitchFamily="49" charset="0"/>
              </a:rPr>
              <a:t>msec</a:t>
            </a:r>
            <a:r>
              <a:rPr lang="sk-SK" sz="1100" dirty="0">
                <a:latin typeface="Consolas" panose="020B0609020204030204" pitchFamily="49" charset="0"/>
              </a:rPr>
              <a:t> 4 </a:t>
            </a:r>
            <a:r>
              <a:rPr lang="sk-SK" sz="1100" dirty="0" err="1">
                <a:latin typeface="Consolas" panose="020B0609020204030204" pitchFamily="49" charset="0"/>
              </a:rPr>
              <a:t>msec</a:t>
            </a:r>
            <a:endParaRPr lang="sk-SK" sz="1100" dirty="0">
              <a:latin typeface="Consolas" panose="020B0609020204030204" pitchFamily="49" charset="0"/>
            </a:endParaRPr>
          </a:p>
          <a:p>
            <a:r>
              <a:rPr lang="sk-SK" sz="1100" dirty="0">
                <a:latin typeface="Consolas" panose="020B0609020204030204" pitchFamily="49" charset="0"/>
              </a:rPr>
              <a:t>  4 64.1.2.1 6 </a:t>
            </a:r>
            <a:r>
              <a:rPr lang="sk-SK" sz="1100" dirty="0" err="1">
                <a:latin typeface="Consolas" panose="020B0609020204030204" pitchFamily="49" charset="0"/>
              </a:rPr>
              <a:t>msec</a:t>
            </a:r>
            <a:r>
              <a:rPr lang="sk-SK" sz="1100" dirty="0">
                <a:latin typeface="Consolas" panose="020B0609020204030204" pitchFamily="49" charset="0"/>
              </a:rPr>
              <a:t> 35 </a:t>
            </a:r>
            <a:r>
              <a:rPr lang="sk-SK" sz="1100" dirty="0" err="1">
                <a:latin typeface="Consolas" panose="020B0609020204030204" pitchFamily="49" charset="0"/>
              </a:rPr>
              <a:t>msec</a:t>
            </a:r>
            <a:r>
              <a:rPr lang="sk-SK" sz="1100" dirty="0">
                <a:latin typeface="Consolas" panose="020B0609020204030204" pitchFamily="49" charset="0"/>
              </a:rPr>
              <a:t> 22 </a:t>
            </a:r>
            <a:r>
              <a:rPr lang="sk-SK" sz="1100" dirty="0" err="1">
                <a:latin typeface="Consolas" panose="020B0609020204030204" pitchFamily="49" charset="0"/>
              </a:rPr>
              <a:t>msec</a:t>
            </a:r>
            <a:endParaRPr lang="sk-SK" sz="1100" dirty="0">
              <a:latin typeface="Consolas" panose="020B0609020204030204" pitchFamily="49" charset="0"/>
            </a:endParaRPr>
          </a:p>
          <a:p>
            <a:r>
              <a:rPr lang="sk-SK" sz="1100" dirty="0">
                <a:latin typeface="Consolas" panose="020B0609020204030204" pitchFamily="49" charset="0"/>
              </a:rPr>
              <a:t>  5 10.64.1.2 [AS 65000] 21 </a:t>
            </a:r>
            <a:r>
              <a:rPr lang="sk-SK" sz="1100" dirty="0" err="1">
                <a:latin typeface="Consolas" panose="020B0609020204030204" pitchFamily="49" charset="0"/>
              </a:rPr>
              <a:t>msec</a:t>
            </a:r>
            <a:r>
              <a:rPr lang="sk-SK" sz="1100" dirty="0">
                <a:latin typeface="Consolas" panose="020B0609020204030204" pitchFamily="49" charset="0"/>
              </a:rPr>
              <a:t> *  6 </a:t>
            </a:r>
            <a:r>
              <a:rPr lang="sk-SK" sz="1100" dirty="0" err="1">
                <a:latin typeface="Consolas" panose="020B0609020204030204" pitchFamily="49" charset="0"/>
              </a:rPr>
              <a:t>msec</a:t>
            </a:r>
            <a:endParaRPr lang="sk-SK" sz="1100" dirty="0">
              <a:latin typeface="Consolas" panose="020B0609020204030204" pitchFamily="49" charset="0"/>
            </a:endParaRPr>
          </a:p>
          <a:p>
            <a:r>
              <a:rPr lang="sk-SK" sz="1100" dirty="0">
                <a:latin typeface="Consolas" panose="020B0609020204030204" pitchFamily="49" charset="0"/>
              </a:rPr>
              <a:t>CE31#</a:t>
            </a:r>
            <a:endParaRPr lang="sk-SK" sz="1100" dirty="0">
              <a:solidFill>
                <a:srgbClr val="FF0000"/>
              </a:solidFill>
              <a:latin typeface="Consolas" panose="020B0609020204030204" pitchFamily="49" charset="0"/>
            </a:endParaRPr>
          </a:p>
        </p:txBody>
      </p:sp>
      <p:sp>
        <p:nvSpPr>
          <p:cNvPr id="5" name="Rectangle 4">
            <a:extLst>
              <a:ext uri="{FF2B5EF4-FFF2-40B4-BE49-F238E27FC236}">
                <a16:creationId xmlns:a16="http://schemas.microsoft.com/office/drawing/2014/main" id="{A04F5EE3-4DD0-66D0-1E01-24F6F1F561C3}"/>
              </a:ext>
            </a:extLst>
          </p:cNvPr>
          <p:cNvSpPr/>
          <p:nvPr/>
        </p:nvSpPr>
        <p:spPr>
          <a:xfrm>
            <a:off x="155153" y="3779587"/>
            <a:ext cx="5699602" cy="2292935"/>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CE31#</a:t>
            </a:r>
            <a:r>
              <a:rPr lang="sk-SK" sz="1100" b="1" dirty="0">
                <a:latin typeface="Consolas" panose="020B0609020204030204" pitchFamily="49" charset="0"/>
              </a:rPr>
              <a:t>sh ip bgp 10.0.1.1</a:t>
            </a:r>
          </a:p>
          <a:p>
            <a:r>
              <a:rPr lang="sk-SK" sz="1100" dirty="0">
                <a:latin typeface="Consolas" panose="020B0609020204030204" pitchFamily="49" charset="0"/>
              </a:rPr>
              <a:t>BGP routing table </a:t>
            </a:r>
            <a:r>
              <a:rPr lang="sk-SK" sz="1100" dirty="0" err="1">
                <a:latin typeface="Consolas" panose="020B0609020204030204" pitchFamily="49" charset="0"/>
              </a:rPr>
              <a:t>entry</a:t>
            </a:r>
            <a:r>
              <a:rPr lang="sk-SK" sz="1100" dirty="0">
                <a:latin typeface="Consolas" panose="020B0609020204030204" pitchFamily="49" charset="0"/>
              </a:rPr>
              <a:t> </a:t>
            </a:r>
            <a:r>
              <a:rPr lang="sk-SK" sz="1100" dirty="0" err="1">
                <a:latin typeface="Consolas" panose="020B0609020204030204" pitchFamily="49" charset="0"/>
              </a:rPr>
              <a:t>for</a:t>
            </a:r>
            <a:r>
              <a:rPr lang="sk-SK" sz="1100" dirty="0">
                <a:latin typeface="Consolas" panose="020B0609020204030204" pitchFamily="49" charset="0"/>
              </a:rPr>
              <a:t> 10.0.1.0/24, </a:t>
            </a:r>
            <a:r>
              <a:rPr lang="sk-SK" sz="1100" dirty="0" err="1">
                <a:latin typeface="Consolas" panose="020B0609020204030204" pitchFamily="49" charset="0"/>
              </a:rPr>
              <a:t>version</a:t>
            </a:r>
            <a:r>
              <a:rPr lang="sk-SK" sz="1100" dirty="0">
                <a:latin typeface="Consolas" panose="020B0609020204030204" pitchFamily="49" charset="0"/>
              </a:rPr>
              <a:t> 15</a:t>
            </a:r>
          </a:p>
          <a:p>
            <a:r>
              <a:rPr lang="sk-SK" sz="1100" dirty="0" err="1">
                <a:latin typeface="Consolas" panose="020B0609020204030204" pitchFamily="49" charset="0"/>
              </a:rPr>
              <a:t>Paths</a:t>
            </a:r>
            <a:r>
              <a:rPr lang="sk-SK" sz="1100" dirty="0">
                <a:latin typeface="Consolas" panose="020B0609020204030204" pitchFamily="49" charset="0"/>
              </a:rPr>
              <a:t>: (1 </a:t>
            </a:r>
            <a:r>
              <a:rPr lang="sk-SK" sz="1100" dirty="0" err="1">
                <a:latin typeface="Consolas" panose="020B0609020204030204" pitchFamily="49" charset="0"/>
              </a:rPr>
              <a:t>available</a:t>
            </a:r>
            <a:r>
              <a:rPr lang="sk-SK" sz="1100" dirty="0">
                <a:latin typeface="Consolas" panose="020B0609020204030204" pitchFamily="49" charset="0"/>
              </a:rPr>
              <a:t>, </a:t>
            </a:r>
            <a:r>
              <a:rPr lang="sk-SK" sz="1100" dirty="0" err="1">
                <a:latin typeface="Consolas" panose="020B0609020204030204" pitchFamily="49" charset="0"/>
              </a:rPr>
              <a:t>best</a:t>
            </a:r>
            <a:r>
              <a:rPr lang="sk-SK" sz="1100" dirty="0">
                <a:latin typeface="Consolas" panose="020B0609020204030204" pitchFamily="49" charset="0"/>
              </a:rPr>
              <a:t> #1, table default)</a:t>
            </a:r>
          </a:p>
          <a:p>
            <a:r>
              <a:rPr lang="sk-SK" sz="1100" dirty="0">
                <a:latin typeface="Consolas" panose="020B0609020204030204" pitchFamily="49" charset="0"/>
              </a:rPr>
              <a:t>  </a:t>
            </a:r>
            <a:r>
              <a:rPr lang="sk-SK" sz="1100" dirty="0" err="1">
                <a:latin typeface="Consolas" panose="020B0609020204030204" pitchFamily="49" charset="0"/>
              </a:rPr>
              <a:t>Not</a:t>
            </a:r>
            <a:r>
              <a:rPr lang="sk-SK" sz="1100" dirty="0">
                <a:latin typeface="Consolas" panose="020B0609020204030204" pitchFamily="49" charset="0"/>
              </a:rPr>
              <a:t> </a:t>
            </a:r>
            <a:r>
              <a:rPr lang="sk-SK" sz="1100" dirty="0" err="1">
                <a:latin typeface="Consolas" panose="020B0609020204030204" pitchFamily="49" charset="0"/>
              </a:rPr>
              <a:t>advertised</a:t>
            </a:r>
            <a:r>
              <a:rPr lang="sk-SK" sz="1100" dirty="0">
                <a:latin typeface="Consolas" panose="020B0609020204030204" pitchFamily="49" charset="0"/>
              </a:rPr>
              <a:t> to </a:t>
            </a:r>
            <a:r>
              <a:rPr lang="sk-SK" sz="1100" dirty="0" err="1">
                <a:latin typeface="Consolas" panose="020B0609020204030204" pitchFamily="49" charset="0"/>
              </a:rPr>
              <a:t>any</a:t>
            </a:r>
            <a:r>
              <a:rPr lang="sk-SK" sz="1100" dirty="0">
                <a:latin typeface="Consolas" panose="020B0609020204030204" pitchFamily="49" charset="0"/>
              </a:rPr>
              <a:t> </a:t>
            </a:r>
            <a:r>
              <a:rPr lang="sk-SK" sz="1100" dirty="0" err="1">
                <a:latin typeface="Consolas" panose="020B0609020204030204" pitchFamily="49" charset="0"/>
              </a:rPr>
              <a:t>peer</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Refresh</a:t>
            </a:r>
            <a:r>
              <a:rPr lang="sk-SK" sz="1100" dirty="0">
                <a:latin typeface="Consolas" panose="020B0609020204030204" pitchFamily="49" charset="0"/>
              </a:rPr>
              <a:t> Epoch 1</a:t>
            </a:r>
          </a:p>
          <a:p>
            <a:r>
              <a:rPr lang="sk-SK" sz="1100" dirty="0">
                <a:latin typeface="Consolas" panose="020B0609020204030204" pitchFamily="49" charset="0"/>
              </a:rPr>
              <a:t>  65000 65001</a:t>
            </a:r>
          </a:p>
          <a:p>
            <a:r>
              <a:rPr lang="sk-SK" sz="1100" dirty="0">
                <a:latin typeface="Consolas" panose="020B0609020204030204" pitchFamily="49" charset="0"/>
              </a:rPr>
              <a:t>    10.64.31.1 </a:t>
            </a:r>
            <a:r>
              <a:rPr lang="sk-SK" sz="1100" dirty="0" err="1">
                <a:latin typeface="Consolas" panose="020B0609020204030204" pitchFamily="49" charset="0"/>
              </a:rPr>
              <a:t>from</a:t>
            </a:r>
            <a:r>
              <a:rPr lang="sk-SK" sz="1100" dirty="0">
                <a:latin typeface="Consolas" panose="020B0609020204030204" pitchFamily="49" charset="0"/>
              </a:rPr>
              <a:t> 10.64.31.1 (10.64.31.1)</a:t>
            </a:r>
          </a:p>
          <a:p>
            <a:r>
              <a:rPr lang="sk-SK" sz="1100" dirty="0">
                <a:latin typeface="Consolas" panose="020B0609020204030204" pitchFamily="49" charset="0"/>
              </a:rPr>
              <a:t>      </a:t>
            </a:r>
            <a:r>
              <a:rPr lang="sk-SK" sz="1100" dirty="0" err="1">
                <a:latin typeface="Consolas" panose="020B0609020204030204" pitchFamily="49" charset="0"/>
              </a:rPr>
              <a:t>Origin</a:t>
            </a:r>
            <a:r>
              <a:rPr lang="sk-SK" sz="1100" dirty="0">
                <a:latin typeface="Consolas" panose="020B0609020204030204" pitchFamily="49" charset="0"/>
              </a:rPr>
              <a:t> IGP, localpref 100, </a:t>
            </a:r>
            <a:r>
              <a:rPr lang="sk-SK" sz="1100" dirty="0" err="1">
                <a:latin typeface="Consolas" panose="020B0609020204030204" pitchFamily="49" charset="0"/>
              </a:rPr>
              <a:t>valid</a:t>
            </a:r>
            <a:r>
              <a:rPr lang="sk-SK" sz="1100" dirty="0">
                <a:latin typeface="Consolas" panose="020B0609020204030204" pitchFamily="49" charset="0"/>
              </a:rPr>
              <a:t>, </a:t>
            </a:r>
            <a:r>
              <a:rPr lang="sk-SK" sz="1100" dirty="0" err="1">
                <a:latin typeface="Consolas" panose="020B0609020204030204" pitchFamily="49" charset="0"/>
              </a:rPr>
              <a:t>external</a:t>
            </a:r>
            <a:r>
              <a:rPr lang="sk-SK" sz="1100" dirty="0">
                <a:latin typeface="Consolas" panose="020B0609020204030204" pitchFamily="49" charset="0"/>
              </a:rPr>
              <a:t>, </a:t>
            </a:r>
            <a:r>
              <a:rPr lang="sk-SK" sz="1100" dirty="0" err="1">
                <a:latin typeface="Consolas" panose="020B0609020204030204" pitchFamily="49" charset="0"/>
              </a:rPr>
              <a:t>best</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rx</a:t>
            </a:r>
            <a:r>
              <a:rPr lang="sk-SK" sz="1100" dirty="0">
                <a:latin typeface="Consolas" panose="020B0609020204030204" pitchFamily="49" charset="0"/>
              </a:rPr>
              <a:t> </a:t>
            </a:r>
            <a:r>
              <a:rPr lang="sk-SK" sz="1100" dirty="0" err="1">
                <a:latin typeface="Consolas" panose="020B0609020204030204" pitchFamily="49" charset="0"/>
              </a:rPr>
              <a:t>pathid</a:t>
            </a:r>
            <a:r>
              <a:rPr lang="sk-SK" sz="1100" dirty="0">
                <a:latin typeface="Consolas" panose="020B0609020204030204" pitchFamily="49" charset="0"/>
              </a:rPr>
              <a:t>: 0, </a:t>
            </a:r>
            <a:r>
              <a:rPr lang="sk-SK" sz="1100" dirty="0" err="1">
                <a:latin typeface="Consolas" panose="020B0609020204030204" pitchFamily="49" charset="0"/>
              </a:rPr>
              <a:t>tx</a:t>
            </a:r>
            <a:r>
              <a:rPr lang="sk-SK" sz="1100" dirty="0">
                <a:latin typeface="Consolas" panose="020B0609020204030204" pitchFamily="49" charset="0"/>
              </a:rPr>
              <a:t> </a:t>
            </a:r>
            <a:r>
              <a:rPr lang="sk-SK" sz="1100" dirty="0" err="1">
                <a:latin typeface="Consolas" panose="020B0609020204030204" pitchFamily="49" charset="0"/>
              </a:rPr>
              <a:t>pathid</a:t>
            </a:r>
            <a:r>
              <a:rPr lang="sk-SK" sz="1100" dirty="0">
                <a:latin typeface="Consolas" panose="020B0609020204030204" pitchFamily="49" charset="0"/>
              </a:rPr>
              <a:t>: 0x0</a:t>
            </a:r>
          </a:p>
          <a:p>
            <a:r>
              <a:rPr lang="sk-SK" sz="1100" dirty="0">
                <a:latin typeface="Consolas" panose="020B0609020204030204" pitchFamily="49" charset="0"/>
              </a:rPr>
              <a:t>CE31#</a:t>
            </a:r>
            <a:r>
              <a:rPr lang="sk-SK" sz="1100" b="1" dirty="0">
                <a:latin typeface="Consolas" panose="020B0609020204030204" pitchFamily="49" charset="0"/>
              </a:rPr>
              <a:t>sh ip cef 10.0.1.1</a:t>
            </a:r>
          </a:p>
          <a:p>
            <a:r>
              <a:rPr lang="sk-SK" sz="1100" dirty="0">
                <a:latin typeface="Consolas" panose="020B0609020204030204" pitchFamily="49" charset="0"/>
              </a:rPr>
              <a:t>10.0.1.0/24</a:t>
            </a:r>
          </a:p>
          <a:p>
            <a:r>
              <a:rPr lang="sk-SK" sz="1100" dirty="0">
                <a:latin typeface="Consolas" panose="020B0609020204030204" pitchFamily="49" charset="0"/>
              </a:rPr>
              <a:t>  </a:t>
            </a:r>
            <a:r>
              <a:rPr lang="sk-SK" sz="1100" dirty="0" err="1">
                <a:latin typeface="Consolas" panose="020B0609020204030204" pitchFamily="49" charset="0"/>
              </a:rPr>
              <a:t>nexthop</a:t>
            </a:r>
            <a:r>
              <a:rPr lang="sk-SK" sz="1100" dirty="0">
                <a:latin typeface="Consolas" panose="020B0609020204030204" pitchFamily="49" charset="0"/>
              </a:rPr>
              <a:t> 10.64.31.1 GigabitEthernet0/0</a:t>
            </a:r>
          </a:p>
          <a:p>
            <a:r>
              <a:rPr lang="sk-SK" sz="1100" dirty="0">
                <a:latin typeface="Consolas" panose="020B0609020204030204" pitchFamily="49" charset="0"/>
              </a:rPr>
              <a:t>CE31#</a:t>
            </a:r>
            <a:endParaRPr lang="sk-SK" sz="11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84851127"/>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MPLS to SRv6 (CE31 -&gt; CE01)  #R31</a:t>
            </a:r>
          </a:p>
        </p:txBody>
      </p:sp>
      <p:sp>
        <p:nvSpPr>
          <p:cNvPr id="4" name="Rectangle 3">
            <a:extLst>
              <a:ext uri="{FF2B5EF4-FFF2-40B4-BE49-F238E27FC236}">
                <a16:creationId xmlns:a16="http://schemas.microsoft.com/office/drawing/2014/main" id="{87D7CB37-5BEE-FF8F-7602-60627856E0E8}"/>
              </a:ext>
            </a:extLst>
          </p:cNvPr>
          <p:cNvSpPr/>
          <p:nvPr/>
        </p:nvSpPr>
        <p:spPr>
          <a:xfrm>
            <a:off x="155153" y="785478"/>
            <a:ext cx="5699602" cy="2800767"/>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R31#sh ip bgp vpnv4 vrf A 10.0.1.1</a:t>
            </a:r>
          </a:p>
          <a:p>
            <a:r>
              <a:rPr lang="sk-SK" sz="1100" dirty="0">
                <a:latin typeface="Consolas" panose="020B0609020204030204" pitchFamily="49" charset="0"/>
              </a:rPr>
              <a:t>BGP routing table </a:t>
            </a:r>
            <a:r>
              <a:rPr lang="sk-SK" sz="1100" dirty="0" err="1">
                <a:latin typeface="Consolas" panose="020B0609020204030204" pitchFamily="49" charset="0"/>
              </a:rPr>
              <a:t>entry</a:t>
            </a:r>
            <a:r>
              <a:rPr lang="sk-SK" sz="1100" dirty="0">
                <a:latin typeface="Consolas" panose="020B0609020204030204" pitchFamily="49" charset="0"/>
              </a:rPr>
              <a:t> </a:t>
            </a:r>
            <a:r>
              <a:rPr lang="sk-SK" sz="1100" dirty="0" err="1">
                <a:latin typeface="Consolas" panose="020B0609020204030204" pitchFamily="49" charset="0"/>
              </a:rPr>
              <a:t>for</a:t>
            </a:r>
            <a:r>
              <a:rPr lang="sk-SK" sz="1100" dirty="0">
                <a:latin typeface="Consolas" panose="020B0609020204030204" pitchFamily="49" charset="0"/>
              </a:rPr>
              <a:t> 65000:1:10.0.1.0/24, </a:t>
            </a:r>
            <a:r>
              <a:rPr lang="sk-SK" sz="1100" dirty="0" err="1">
                <a:latin typeface="Consolas" panose="020B0609020204030204" pitchFamily="49" charset="0"/>
              </a:rPr>
              <a:t>version</a:t>
            </a:r>
            <a:r>
              <a:rPr lang="sk-SK" sz="1100" dirty="0">
                <a:latin typeface="Consolas" panose="020B0609020204030204" pitchFamily="49" charset="0"/>
              </a:rPr>
              <a:t> 34</a:t>
            </a:r>
          </a:p>
          <a:p>
            <a:r>
              <a:rPr lang="sk-SK" sz="1100" dirty="0" err="1">
                <a:latin typeface="Consolas" panose="020B0609020204030204" pitchFamily="49" charset="0"/>
              </a:rPr>
              <a:t>Paths</a:t>
            </a:r>
            <a:r>
              <a:rPr lang="sk-SK" sz="1100" dirty="0">
                <a:latin typeface="Consolas" panose="020B0609020204030204" pitchFamily="49" charset="0"/>
              </a:rPr>
              <a:t>: (1 </a:t>
            </a:r>
            <a:r>
              <a:rPr lang="sk-SK" sz="1100" dirty="0" err="1">
                <a:latin typeface="Consolas" panose="020B0609020204030204" pitchFamily="49" charset="0"/>
              </a:rPr>
              <a:t>available</a:t>
            </a:r>
            <a:r>
              <a:rPr lang="sk-SK" sz="1100" dirty="0">
                <a:latin typeface="Consolas" panose="020B0609020204030204" pitchFamily="49" charset="0"/>
              </a:rPr>
              <a:t>, </a:t>
            </a:r>
            <a:r>
              <a:rPr lang="sk-SK" sz="1100" dirty="0" err="1">
                <a:latin typeface="Consolas" panose="020B0609020204030204" pitchFamily="49" charset="0"/>
              </a:rPr>
              <a:t>best</a:t>
            </a:r>
            <a:r>
              <a:rPr lang="sk-SK" sz="1100" dirty="0">
                <a:latin typeface="Consolas" panose="020B0609020204030204" pitchFamily="49" charset="0"/>
              </a:rPr>
              <a:t> #1, table A)</a:t>
            </a:r>
          </a:p>
          <a:p>
            <a:r>
              <a:rPr lang="sk-SK" sz="1100" dirty="0">
                <a:latin typeface="Consolas" panose="020B0609020204030204" pitchFamily="49" charset="0"/>
              </a:rPr>
              <a:t>  </a:t>
            </a:r>
            <a:r>
              <a:rPr lang="sk-SK" sz="1100" dirty="0" err="1">
                <a:latin typeface="Consolas" panose="020B0609020204030204" pitchFamily="49" charset="0"/>
              </a:rPr>
              <a:t>Flag</a:t>
            </a:r>
            <a:r>
              <a:rPr lang="sk-SK" sz="1100" dirty="0">
                <a:latin typeface="Consolas" panose="020B0609020204030204" pitchFamily="49" charset="0"/>
              </a:rPr>
              <a:t>: 0x100</a:t>
            </a:r>
          </a:p>
          <a:p>
            <a:r>
              <a:rPr lang="sk-SK" sz="1100" dirty="0">
                <a:latin typeface="Consolas" panose="020B0609020204030204" pitchFamily="49" charset="0"/>
              </a:rPr>
              <a:t>  </a:t>
            </a:r>
            <a:r>
              <a:rPr lang="sk-SK" sz="1100" dirty="0" err="1">
                <a:latin typeface="Consolas" panose="020B0609020204030204" pitchFamily="49" charset="0"/>
              </a:rPr>
              <a:t>Advertised</a:t>
            </a:r>
            <a:r>
              <a:rPr lang="sk-SK" sz="1100" dirty="0">
                <a:latin typeface="Consolas" panose="020B0609020204030204" pitchFamily="49" charset="0"/>
              </a:rPr>
              <a:t> to update-</a:t>
            </a:r>
            <a:r>
              <a:rPr lang="sk-SK" sz="1100" dirty="0" err="1">
                <a:latin typeface="Consolas" panose="020B0609020204030204" pitchFamily="49" charset="0"/>
              </a:rPr>
              <a:t>groups</a:t>
            </a:r>
            <a:r>
              <a:rPr lang="sk-SK" sz="1100" dirty="0">
                <a:latin typeface="Consolas" panose="020B0609020204030204" pitchFamily="49" charset="0"/>
              </a:rPr>
              <a:t>:</a:t>
            </a:r>
          </a:p>
          <a:p>
            <a:r>
              <a:rPr lang="sk-SK" sz="1100" dirty="0">
                <a:latin typeface="Consolas" panose="020B0609020204030204" pitchFamily="49" charset="0"/>
              </a:rPr>
              <a:t>     2         </a:t>
            </a:r>
          </a:p>
          <a:p>
            <a:r>
              <a:rPr lang="sk-SK" sz="1100" dirty="0">
                <a:latin typeface="Consolas" panose="020B0609020204030204" pitchFamily="49" charset="0"/>
              </a:rPr>
              <a:t>  </a:t>
            </a:r>
            <a:r>
              <a:rPr lang="sk-SK" sz="1100" dirty="0" err="1">
                <a:latin typeface="Consolas" panose="020B0609020204030204" pitchFamily="49" charset="0"/>
              </a:rPr>
              <a:t>Refresh</a:t>
            </a:r>
            <a:r>
              <a:rPr lang="sk-SK" sz="1100" dirty="0">
                <a:latin typeface="Consolas" panose="020B0609020204030204" pitchFamily="49" charset="0"/>
              </a:rPr>
              <a:t> Epoch 1</a:t>
            </a:r>
          </a:p>
          <a:p>
            <a:r>
              <a:rPr lang="sk-SK" sz="1100" dirty="0">
                <a:latin typeface="Consolas" panose="020B0609020204030204" pitchFamily="49" charset="0"/>
              </a:rPr>
              <a:t>  65001, </a:t>
            </a:r>
            <a:r>
              <a:rPr lang="sk-SK" sz="1100" dirty="0" err="1">
                <a:latin typeface="Consolas" panose="020B0609020204030204" pitchFamily="49" charset="0"/>
              </a:rPr>
              <a:t>imported</a:t>
            </a:r>
            <a:r>
              <a:rPr lang="sk-SK" sz="1100" dirty="0">
                <a:latin typeface="Consolas" panose="020B0609020204030204" pitchFamily="49" charset="0"/>
              </a:rPr>
              <a:t> </a:t>
            </a:r>
            <a:r>
              <a:rPr lang="sk-SK" sz="1100" dirty="0" err="1">
                <a:latin typeface="Consolas" panose="020B0609020204030204" pitchFamily="49" charset="0"/>
              </a:rPr>
              <a:t>path</a:t>
            </a:r>
            <a:r>
              <a:rPr lang="sk-SK" sz="1100" dirty="0">
                <a:latin typeface="Consolas" panose="020B0609020204030204" pitchFamily="49" charset="0"/>
              </a:rPr>
              <a:t> </a:t>
            </a:r>
            <a:r>
              <a:rPr lang="sk-SK" sz="1100" dirty="0" err="1">
                <a:latin typeface="Consolas" panose="020B0609020204030204" pitchFamily="49" charset="0"/>
              </a:rPr>
              <a:t>from</a:t>
            </a:r>
            <a:r>
              <a:rPr lang="sk-SK" sz="1100" dirty="0">
                <a:latin typeface="Consolas" panose="020B0609020204030204" pitchFamily="49" charset="0"/>
              </a:rPr>
              <a:t> 65000:2000:10.0.1.0/24 (</a:t>
            </a:r>
            <a:r>
              <a:rPr lang="sk-SK" sz="1100" dirty="0" err="1">
                <a:latin typeface="Consolas" panose="020B0609020204030204" pitchFamily="49" charset="0"/>
              </a:rPr>
              <a:t>global</a:t>
            </a:r>
            <a:r>
              <a:rPr lang="sk-SK" sz="1100" dirty="0">
                <a:latin typeface="Consolas" panose="020B0609020204030204" pitchFamily="49" charset="0"/>
              </a:rPr>
              <a:t>)</a:t>
            </a:r>
          </a:p>
          <a:p>
            <a:r>
              <a:rPr lang="sk-SK" sz="1100" dirty="0">
                <a:latin typeface="Consolas" panose="020B0609020204030204" pitchFamily="49" charset="0"/>
              </a:rPr>
              <a:t>    1.1.1.2 (</a:t>
            </a:r>
            <a:r>
              <a:rPr lang="sk-SK" sz="1100" dirty="0" err="1">
                <a:latin typeface="Consolas" panose="020B0609020204030204" pitchFamily="49" charset="0"/>
              </a:rPr>
              <a:t>metric</a:t>
            </a:r>
            <a:r>
              <a:rPr lang="sk-SK" sz="1100" dirty="0">
                <a:latin typeface="Consolas" panose="020B0609020204030204" pitchFamily="49" charset="0"/>
              </a:rPr>
              <a:t> 20) (</a:t>
            </a:r>
            <a:r>
              <a:rPr lang="sk-SK" sz="1100" dirty="0" err="1">
                <a:latin typeface="Consolas" panose="020B0609020204030204" pitchFamily="49" charset="0"/>
              </a:rPr>
              <a:t>via</a:t>
            </a:r>
            <a:r>
              <a:rPr lang="sk-SK" sz="1100" dirty="0">
                <a:latin typeface="Consolas" panose="020B0609020204030204" pitchFamily="49" charset="0"/>
              </a:rPr>
              <a:t> default) </a:t>
            </a:r>
            <a:r>
              <a:rPr lang="sk-SK" sz="1100" dirty="0" err="1">
                <a:latin typeface="Consolas" panose="020B0609020204030204" pitchFamily="49" charset="0"/>
              </a:rPr>
              <a:t>from</a:t>
            </a:r>
            <a:r>
              <a:rPr lang="sk-SK" sz="1100" dirty="0">
                <a:latin typeface="Consolas" panose="020B0609020204030204" pitchFamily="49" charset="0"/>
              </a:rPr>
              <a:t> 1.1.1.2 (1.1.1.2)</a:t>
            </a:r>
          </a:p>
          <a:p>
            <a:r>
              <a:rPr lang="sk-SK" sz="1100" dirty="0">
                <a:latin typeface="Consolas" panose="020B0609020204030204" pitchFamily="49" charset="0"/>
              </a:rPr>
              <a:t>      </a:t>
            </a:r>
            <a:r>
              <a:rPr lang="sk-SK" sz="1100" dirty="0" err="1">
                <a:latin typeface="Consolas" panose="020B0609020204030204" pitchFamily="49" charset="0"/>
              </a:rPr>
              <a:t>Origin</a:t>
            </a:r>
            <a:r>
              <a:rPr lang="sk-SK" sz="1100" dirty="0">
                <a:latin typeface="Consolas" panose="020B0609020204030204" pitchFamily="49" charset="0"/>
              </a:rPr>
              <a:t> IGP, </a:t>
            </a:r>
            <a:r>
              <a:rPr lang="sk-SK" sz="1100" dirty="0" err="1">
                <a:latin typeface="Consolas" panose="020B0609020204030204" pitchFamily="49" charset="0"/>
              </a:rPr>
              <a:t>metric</a:t>
            </a:r>
            <a:r>
              <a:rPr lang="sk-SK" sz="1100" dirty="0">
                <a:latin typeface="Consolas" panose="020B0609020204030204" pitchFamily="49" charset="0"/>
              </a:rPr>
              <a:t> 0, localpref 100, </a:t>
            </a:r>
            <a:r>
              <a:rPr lang="sk-SK" sz="1100" dirty="0" err="1">
                <a:latin typeface="Consolas" panose="020B0609020204030204" pitchFamily="49" charset="0"/>
              </a:rPr>
              <a:t>valid</a:t>
            </a:r>
            <a:r>
              <a:rPr lang="sk-SK" sz="1100" dirty="0">
                <a:latin typeface="Consolas" panose="020B0609020204030204" pitchFamily="49" charset="0"/>
              </a:rPr>
              <a:t>, </a:t>
            </a:r>
            <a:r>
              <a:rPr lang="sk-SK" sz="1100" dirty="0" err="1">
                <a:latin typeface="Consolas" panose="020B0609020204030204" pitchFamily="49" charset="0"/>
              </a:rPr>
              <a:t>internal</a:t>
            </a:r>
            <a:r>
              <a:rPr lang="sk-SK" sz="1100" dirty="0">
                <a:latin typeface="Consolas" panose="020B0609020204030204" pitchFamily="49" charset="0"/>
              </a:rPr>
              <a:t>, </a:t>
            </a:r>
            <a:r>
              <a:rPr lang="sk-SK" sz="1100" dirty="0" err="1">
                <a:latin typeface="Consolas" panose="020B0609020204030204" pitchFamily="49" charset="0"/>
              </a:rPr>
              <a:t>best</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Extended</a:t>
            </a:r>
            <a:r>
              <a:rPr lang="sk-SK" sz="1100" dirty="0">
                <a:latin typeface="Consolas" panose="020B0609020204030204" pitchFamily="49" charset="0"/>
              </a:rPr>
              <a:t> </a:t>
            </a:r>
            <a:r>
              <a:rPr lang="sk-SK" sz="1100" dirty="0" err="1">
                <a:latin typeface="Consolas" panose="020B0609020204030204" pitchFamily="49" charset="0"/>
              </a:rPr>
              <a:t>Community</a:t>
            </a:r>
            <a:r>
              <a:rPr lang="sk-SK" sz="1100" dirty="0">
                <a:latin typeface="Consolas" panose="020B0609020204030204" pitchFamily="49" charset="0"/>
              </a:rPr>
              <a:t>: RT:65000:1 RT:65000:1001</a:t>
            </a:r>
          </a:p>
          <a:p>
            <a:r>
              <a:rPr lang="sk-SK" sz="1100" dirty="0">
                <a:latin typeface="Consolas" panose="020B0609020204030204" pitchFamily="49" charset="0"/>
              </a:rPr>
              <a:t>      </a:t>
            </a:r>
            <a:r>
              <a:rPr lang="sk-SK" sz="1100" dirty="0" err="1">
                <a:latin typeface="Consolas" panose="020B0609020204030204" pitchFamily="49" charset="0"/>
              </a:rPr>
              <a:t>Originator</a:t>
            </a:r>
            <a:r>
              <a:rPr lang="sk-SK" sz="1100" dirty="0">
                <a:latin typeface="Consolas" panose="020B0609020204030204" pitchFamily="49" charset="0"/>
              </a:rPr>
              <a:t>: 1.1.1.1, </a:t>
            </a:r>
            <a:r>
              <a:rPr lang="sk-SK" sz="1100" dirty="0" err="1">
                <a:latin typeface="Consolas" panose="020B0609020204030204" pitchFamily="49" charset="0"/>
              </a:rPr>
              <a:t>Cluster</a:t>
            </a:r>
            <a:r>
              <a:rPr lang="sk-SK" sz="1100" dirty="0">
                <a:latin typeface="Consolas" panose="020B0609020204030204" pitchFamily="49" charset="0"/>
              </a:rPr>
              <a:t> list: 1.1.1.2, 0.0.0.100</a:t>
            </a:r>
          </a:p>
          <a:p>
            <a:r>
              <a:rPr lang="sk-SK" sz="1100" dirty="0">
                <a:latin typeface="Consolas" panose="020B0609020204030204" pitchFamily="49" charset="0"/>
              </a:rPr>
              <a:t>      mpls </a:t>
            </a:r>
            <a:r>
              <a:rPr lang="sk-SK" sz="1100" dirty="0" err="1">
                <a:latin typeface="Consolas" panose="020B0609020204030204" pitchFamily="49" charset="0"/>
              </a:rPr>
              <a:t>labels</a:t>
            </a:r>
            <a:r>
              <a:rPr lang="sk-SK" sz="1100" dirty="0">
                <a:latin typeface="Consolas" panose="020B0609020204030204" pitchFamily="49" charset="0"/>
              </a:rPr>
              <a:t> in/</a:t>
            </a:r>
            <a:r>
              <a:rPr lang="sk-SK" sz="1100" dirty="0" err="1">
                <a:latin typeface="Consolas" panose="020B0609020204030204" pitchFamily="49" charset="0"/>
              </a:rPr>
              <a:t>out</a:t>
            </a:r>
            <a:r>
              <a:rPr lang="sk-SK" sz="1100" dirty="0">
                <a:latin typeface="Consolas" panose="020B0609020204030204" pitchFamily="49" charset="0"/>
              </a:rPr>
              <a:t> nolabel/</a:t>
            </a:r>
            <a:r>
              <a:rPr lang="sk-SK" sz="1100" dirty="0">
                <a:highlight>
                  <a:srgbClr val="00FFFF"/>
                </a:highlight>
                <a:latin typeface="Consolas" panose="020B0609020204030204" pitchFamily="49" charset="0"/>
              </a:rPr>
              <a:t>24010</a:t>
            </a:r>
          </a:p>
          <a:p>
            <a:r>
              <a:rPr lang="sk-SK" sz="1100" dirty="0">
                <a:latin typeface="Consolas" panose="020B0609020204030204" pitchFamily="49" charset="0"/>
              </a:rPr>
              <a:t>      </a:t>
            </a:r>
            <a:r>
              <a:rPr lang="sk-SK" sz="1100" dirty="0" err="1">
                <a:latin typeface="Consolas" panose="020B0609020204030204" pitchFamily="49" charset="0"/>
              </a:rPr>
              <a:t>rx</a:t>
            </a:r>
            <a:r>
              <a:rPr lang="sk-SK" sz="1100" dirty="0">
                <a:latin typeface="Consolas" panose="020B0609020204030204" pitchFamily="49" charset="0"/>
              </a:rPr>
              <a:t> </a:t>
            </a:r>
            <a:r>
              <a:rPr lang="sk-SK" sz="1100" dirty="0" err="1">
                <a:latin typeface="Consolas" panose="020B0609020204030204" pitchFamily="49" charset="0"/>
              </a:rPr>
              <a:t>pathid</a:t>
            </a:r>
            <a:r>
              <a:rPr lang="sk-SK" sz="1100" dirty="0">
                <a:latin typeface="Consolas" panose="020B0609020204030204" pitchFamily="49" charset="0"/>
              </a:rPr>
              <a:t>: 0, </a:t>
            </a:r>
            <a:r>
              <a:rPr lang="sk-SK" sz="1100" dirty="0" err="1">
                <a:latin typeface="Consolas" panose="020B0609020204030204" pitchFamily="49" charset="0"/>
              </a:rPr>
              <a:t>tx</a:t>
            </a:r>
            <a:r>
              <a:rPr lang="sk-SK" sz="1100" dirty="0">
                <a:latin typeface="Consolas" panose="020B0609020204030204" pitchFamily="49" charset="0"/>
              </a:rPr>
              <a:t> </a:t>
            </a:r>
            <a:r>
              <a:rPr lang="sk-SK" sz="1100" dirty="0" err="1">
                <a:latin typeface="Consolas" panose="020B0609020204030204" pitchFamily="49" charset="0"/>
              </a:rPr>
              <a:t>pathid</a:t>
            </a:r>
            <a:r>
              <a:rPr lang="sk-SK" sz="1100" dirty="0">
                <a:latin typeface="Consolas" panose="020B0609020204030204" pitchFamily="49" charset="0"/>
              </a:rPr>
              <a:t>: 0x0</a:t>
            </a:r>
          </a:p>
          <a:p>
            <a:r>
              <a:rPr lang="sk-SK" sz="1100" dirty="0">
                <a:latin typeface="Consolas" panose="020B0609020204030204" pitchFamily="49" charset="0"/>
              </a:rPr>
              <a:t>      </a:t>
            </a:r>
            <a:r>
              <a:rPr lang="sk-SK" sz="1100" dirty="0" err="1">
                <a:latin typeface="Consolas" panose="020B0609020204030204" pitchFamily="49" charset="0"/>
              </a:rPr>
              <a:t>Updated</a:t>
            </a:r>
            <a:r>
              <a:rPr lang="sk-SK" sz="1100" dirty="0">
                <a:latin typeface="Consolas" panose="020B0609020204030204" pitchFamily="49" charset="0"/>
              </a:rPr>
              <a:t> on Nov 1 2024 15:31:07 UTC</a:t>
            </a:r>
          </a:p>
          <a:p>
            <a:r>
              <a:rPr lang="sk-SK" sz="1100" dirty="0">
                <a:latin typeface="Consolas" panose="020B0609020204030204" pitchFamily="49" charset="0"/>
              </a:rPr>
              <a:t>R31#</a:t>
            </a:r>
            <a:endParaRPr lang="sk-SK" sz="1100" dirty="0">
              <a:solidFill>
                <a:srgbClr val="FF0000"/>
              </a:solidFill>
              <a:latin typeface="Consolas" panose="020B0609020204030204" pitchFamily="49" charset="0"/>
            </a:endParaRPr>
          </a:p>
        </p:txBody>
      </p:sp>
      <p:sp>
        <p:nvSpPr>
          <p:cNvPr id="5" name="Rectangle 4">
            <a:extLst>
              <a:ext uri="{FF2B5EF4-FFF2-40B4-BE49-F238E27FC236}">
                <a16:creationId xmlns:a16="http://schemas.microsoft.com/office/drawing/2014/main" id="{A04F5EE3-4DD0-66D0-1E01-24F6F1F561C3}"/>
              </a:ext>
            </a:extLst>
          </p:cNvPr>
          <p:cNvSpPr/>
          <p:nvPr/>
        </p:nvSpPr>
        <p:spPr>
          <a:xfrm>
            <a:off x="155153" y="3779587"/>
            <a:ext cx="5699602" cy="1615827"/>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R31#sh ip cef vrf A 10.0.1.1 detail </a:t>
            </a:r>
          </a:p>
          <a:p>
            <a:r>
              <a:rPr lang="sk-SK" sz="1100" dirty="0">
                <a:latin typeface="Consolas" panose="020B0609020204030204" pitchFamily="49" charset="0"/>
              </a:rPr>
              <a:t>10.0.1.0/24, epoch 2, </a:t>
            </a:r>
            <a:r>
              <a:rPr lang="sk-SK" sz="1100" dirty="0" err="1">
                <a:latin typeface="Consolas" panose="020B0609020204030204" pitchFamily="49" charset="0"/>
              </a:rPr>
              <a:t>flags</a:t>
            </a:r>
            <a:r>
              <a:rPr lang="sk-SK" sz="1100" dirty="0">
                <a:latin typeface="Consolas" panose="020B0609020204030204" pitchFamily="49" charset="0"/>
              </a:rPr>
              <a:t> [</a:t>
            </a:r>
            <a:r>
              <a:rPr lang="sk-SK" sz="1100" dirty="0" err="1">
                <a:latin typeface="Consolas" panose="020B0609020204030204" pitchFamily="49" charset="0"/>
              </a:rPr>
              <a:t>rib</a:t>
            </a:r>
            <a:r>
              <a:rPr lang="sk-SK" sz="1100" dirty="0">
                <a:latin typeface="Consolas" panose="020B0609020204030204" pitchFamily="49" charset="0"/>
              </a:rPr>
              <a:t> </a:t>
            </a:r>
            <a:r>
              <a:rPr lang="sk-SK" sz="1100" dirty="0" err="1">
                <a:latin typeface="Consolas" panose="020B0609020204030204" pitchFamily="49" charset="0"/>
              </a:rPr>
              <a:t>defined</a:t>
            </a:r>
            <a:r>
              <a:rPr lang="sk-SK" sz="1100" dirty="0">
                <a:latin typeface="Consolas" panose="020B0609020204030204" pitchFamily="49" charset="0"/>
              </a:rPr>
              <a:t> </a:t>
            </a:r>
            <a:r>
              <a:rPr lang="sk-SK" sz="1100" dirty="0" err="1">
                <a:latin typeface="Consolas" panose="020B0609020204030204" pitchFamily="49" charset="0"/>
              </a:rPr>
              <a:t>all</a:t>
            </a:r>
            <a:r>
              <a:rPr lang="sk-SK" sz="1100" dirty="0">
                <a:latin typeface="Consolas" panose="020B0609020204030204" pitchFamily="49" charset="0"/>
              </a:rPr>
              <a:t> </a:t>
            </a:r>
            <a:r>
              <a:rPr lang="sk-SK" sz="1100" dirty="0" err="1">
                <a:latin typeface="Consolas" panose="020B0609020204030204" pitchFamily="49" charset="0"/>
              </a:rPr>
              <a:t>labels</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recursive</a:t>
            </a:r>
            <a:r>
              <a:rPr lang="sk-SK" sz="1100" dirty="0">
                <a:latin typeface="Consolas" panose="020B0609020204030204" pitchFamily="49" charset="0"/>
              </a:rPr>
              <a:t> </a:t>
            </a:r>
            <a:r>
              <a:rPr lang="sk-SK" sz="1100" dirty="0" err="1">
                <a:latin typeface="Consolas" panose="020B0609020204030204" pitchFamily="49" charset="0"/>
              </a:rPr>
              <a:t>via</a:t>
            </a:r>
            <a:r>
              <a:rPr lang="sk-SK" sz="1100" dirty="0">
                <a:latin typeface="Consolas" panose="020B0609020204030204" pitchFamily="49" charset="0"/>
              </a:rPr>
              <a:t> 1.1.1.2 </a:t>
            </a:r>
            <a:r>
              <a:rPr lang="sk-SK" sz="1100" dirty="0" err="1">
                <a:latin typeface="Consolas" panose="020B0609020204030204" pitchFamily="49" charset="0"/>
              </a:rPr>
              <a:t>label</a:t>
            </a:r>
            <a:r>
              <a:rPr lang="sk-SK" sz="1100" dirty="0">
                <a:latin typeface="Consolas" panose="020B0609020204030204" pitchFamily="49" charset="0"/>
              </a:rPr>
              <a:t> </a:t>
            </a:r>
            <a:r>
              <a:rPr lang="sk-SK" sz="1100" dirty="0">
                <a:highlight>
                  <a:srgbClr val="00FFFF"/>
                </a:highlight>
                <a:latin typeface="Consolas" panose="020B0609020204030204" pitchFamily="49" charset="0"/>
              </a:rPr>
              <a:t>24010</a:t>
            </a:r>
          </a:p>
          <a:p>
            <a:r>
              <a:rPr lang="sk-SK" sz="1100" dirty="0">
                <a:latin typeface="Consolas" panose="020B0609020204030204" pitchFamily="49" charset="0"/>
              </a:rPr>
              <a:t>    </a:t>
            </a:r>
            <a:r>
              <a:rPr lang="sk-SK" sz="1100" dirty="0" err="1">
                <a:latin typeface="Consolas" panose="020B0609020204030204" pitchFamily="49" charset="0"/>
              </a:rPr>
              <a:t>nexthop</a:t>
            </a:r>
            <a:r>
              <a:rPr lang="sk-SK" sz="1100" dirty="0">
                <a:latin typeface="Consolas" panose="020B0609020204030204" pitchFamily="49" charset="0"/>
              </a:rPr>
              <a:t> 64.31.32.32 GigabitEthernet1 </a:t>
            </a:r>
            <a:r>
              <a:rPr lang="sk-SK" sz="1100" dirty="0" err="1">
                <a:latin typeface="Consolas" panose="020B0609020204030204" pitchFamily="49" charset="0"/>
              </a:rPr>
              <a:t>label</a:t>
            </a:r>
            <a:r>
              <a:rPr lang="sk-SK" sz="1100" dirty="0">
                <a:latin typeface="Consolas" panose="020B0609020204030204" pitchFamily="49" charset="0"/>
              </a:rPr>
              <a:t> </a:t>
            </a:r>
            <a:r>
              <a:rPr lang="sk-SK" sz="1100" dirty="0">
                <a:highlight>
                  <a:srgbClr val="FFFF00"/>
                </a:highlight>
                <a:latin typeface="Consolas" panose="020B0609020204030204" pitchFamily="49" charset="0"/>
              </a:rPr>
              <a:t>17</a:t>
            </a:r>
            <a:r>
              <a:rPr lang="sk-SK" sz="1100" dirty="0">
                <a:latin typeface="Consolas" panose="020B0609020204030204" pitchFamily="49" charset="0"/>
              </a:rPr>
              <a:t>-(local:17)</a:t>
            </a:r>
          </a:p>
          <a:p>
            <a:r>
              <a:rPr lang="sk-SK" sz="1100" dirty="0">
                <a:latin typeface="Consolas" panose="020B0609020204030204" pitchFamily="49" charset="0"/>
              </a:rPr>
              <a:t>R31#</a:t>
            </a:r>
            <a:endParaRPr lang="en-US" sz="1100" dirty="0">
              <a:latin typeface="Consolas" panose="020B0609020204030204" pitchFamily="49" charset="0"/>
            </a:endParaRPr>
          </a:p>
          <a:p>
            <a:r>
              <a:rPr lang="en-US" sz="1100" dirty="0">
                <a:latin typeface="Consolas" panose="020B0609020204030204" pitchFamily="49" charset="0"/>
              </a:rPr>
              <a:t>R31# sh ip cef 1.1.1.2</a:t>
            </a:r>
          </a:p>
          <a:p>
            <a:r>
              <a:rPr lang="en-US" sz="1100" dirty="0">
                <a:latin typeface="Consolas" panose="020B0609020204030204" pitchFamily="49" charset="0"/>
              </a:rPr>
              <a:t>1.1.1.2/32</a:t>
            </a:r>
          </a:p>
          <a:p>
            <a:r>
              <a:rPr lang="en-US" sz="1100" dirty="0">
                <a:latin typeface="Consolas" panose="020B0609020204030204" pitchFamily="49" charset="0"/>
              </a:rPr>
              <a:t>  </a:t>
            </a:r>
            <a:r>
              <a:rPr lang="en-US" sz="1100" dirty="0" err="1">
                <a:latin typeface="Consolas" panose="020B0609020204030204" pitchFamily="49" charset="0"/>
              </a:rPr>
              <a:t>nexthop</a:t>
            </a:r>
            <a:r>
              <a:rPr lang="en-US" sz="1100" dirty="0">
                <a:latin typeface="Consolas" panose="020B0609020204030204" pitchFamily="49" charset="0"/>
              </a:rPr>
              <a:t> 64.31.32.32 GigabitEthernet1 label </a:t>
            </a:r>
            <a:r>
              <a:rPr lang="en-US" sz="1100" dirty="0">
                <a:highlight>
                  <a:srgbClr val="FFFF00"/>
                </a:highlight>
                <a:latin typeface="Consolas" panose="020B0609020204030204" pitchFamily="49" charset="0"/>
              </a:rPr>
              <a:t>17</a:t>
            </a:r>
            <a:r>
              <a:rPr lang="en-US" sz="1100" dirty="0">
                <a:latin typeface="Consolas" panose="020B0609020204030204" pitchFamily="49" charset="0"/>
              </a:rPr>
              <a:t>-(local:17)</a:t>
            </a:r>
          </a:p>
          <a:p>
            <a:r>
              <a:rPr lang="en-US" sz="1100" dirty="0">
                <a:latin typeface="Consolas" panose="020B0609020204030204" pitchFamily="49" charset="0"/>
              </a:rPr>
              <a:t>R31#</a:t>
            </a:r>
            <a:endParaRPr lang="sk-SK" sz="1100" dirty="0">
              <a:latin typeface="Consolas" panose="020B0609020204030204" pitchFamily="49" charset="0"/>
            </a:endParaRPr>
          </a:p>
        </p:txBody>
      </p:sp>
    </p:spTree>
    <p:extLst>
      <p:ext uri="{BB962C8B-B14F-4D97-AF65-F5344CB8AC3E}">
        <p14:creationId xmlns:p14="http://schemas.microsoft.com/office/powerpoint/2010/main" val="1623786020"/>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MPLS to SRv6 (CE31 -&gt; CE01)  #R32</a:t>
            </a:r>
          </a:p>
        </p:txBody>
      </p:sp>
      <p:sp>
        <p:nvSpPr>
          <p:cNvPr id="4" name="Rectangle 3">
            <a:extLst>
              <a:ext uri="{FF2B5EF4-FFF2-40B4-BE49-F238E27FC236}">
                <a16:creationId xmlns:a16="http://schemas.microsoft.com/office/drawing/2014/main" id="{87D7CB37-5BEE-FF8F-7602-60627856E0E8}"/>
              </a:ext>
            </a:extLst>
          </p:cNvPr>
          <p:cNvSpPr/>
          <p:nvPr/>
        </p:nvSpPr>
        <p:spPr>
          <a:xfrm>
            <a:off x="155152" y="785478"/>
            <a:ext cx="6829307" cy="2800767"/>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R32#sh </a:t>
            </a:r>
            <a:r>
              <a:rPr lang="sk-SK" sz="1100" dirty="0" err="1">
                <a:latin typeface="Consolas" panose="020B0609020204030204" pitchFamily="49" charset="0"/>
              </a:rPr>
              <a:t>mpl</a:t>
            </a:r>
            <a:r>
              <a:rPr lang="sk-SK" sz="1100" dirty="0">
                <a:latin typeface="Consolas" panose="020B0609020204030204" pitchFamily="49" charset="0"/>
              </a:rPr>
              <a:t> </a:t>
            </a:r>
            <a:r>
              <a:rPr lang="sk-SK" sz="1100" dirty="0" err="1">
                <a:latin typeface="Consolas" panose="020B0609020204030204" pitchFamily="49" charset="0"/>
              </a:rPr>
              <a:t>forwarding</a:t>
            </a:r>
            <a:r>
              <a:rPr lang="sk-SK" sz="1100" dirty="0">
                <a:latin typeface="Consolas" panose="020B0609020204030204" pitchFamily="49" charset="0"/>
              </a:rPr>
              <a:t>-table </a:t>
            </a:r>
          </a:p>
          <a:p>
            <a:r>
              <a:rPr lang="sk-SK" sz="1100" dirty="0" err="1">
                <a:latin typeface="Consolas" panose="020B0609020204030204" pitchFamily="49" charset="0"/>
              </a:rPr>
              <a:t>Local</a:t>
            </a:r>
            <a:r>
              <a:rPr lang="sk-SK" sz="1100" dirty="0">
                <a:latin typeface="Consolas" panose="020B0609020204030204" pitchFamily="49" charset="0"/>
              </a:rPr>
              <a:t>      </a:t>
            </a:r>
            <a:r>
              <a:rPr lang="sk-SK" sz="1100" dirty="0" err="1">
                <a:latin typeface="Consolas" panose="020B0609020204030204" pitchFamily="49" charset="0"/>
              </a:rPr>
              <a:t>Outgoing</a:t>
            </a:r>
            <a:r>
              <a:rPr lang="sk-SK" sz="1100" dirty="0">
                <a:latin typeface="Consolas" panose="020B0609020204030204" pitchFamily="49" charset="0"/>
              </a:rPr>
              <a:t>   Prefix           </a:t>
            </a:r>
            <a:r>
              <a:rPr lang="sk-SK" sz="1100" dirty="0" err="1">
                <a:latin typeface="Consolas" panose="020B0609020204030204" pitchFamily="49" charset="0"/>
              </a:rPr>
              <a:t>Bytes</a:t>
            </a:r>
            <a:r>
              <a:rPr lang="sk-SK" sz="1100" dirty="0">
                <a:latin typeface="Consolas" panose="020B0609020204030204" pitchFamily="49" charset="0"/>
              </a:rPr>
              <a:t> </a:t>
            </a:r>
            <a:r>
              <a:rPr lang="sk-SK" sz="1100" dirty="0" err="1">
                <a:latin typeface="Consolas" panose="020B0609020204030204" pitchFamily="49" charset="0"/>
              </a:rPr>
              <a:t>Label</a:t>
            </a:r>
            <a:r>
              <a:rPr lang="sk-SK" sz="1100" dirty="0">
                <a:latin typeface="Consolas" panose="020B0609020204030204" pitchFamily="49" charset="0"/>
              </a:rPr>
              <a:t>   </a:t>
            </a:r>
            <a:r>
              <a:rPr lang="sk-SK" sz="1100" dirty="0" err="1">
                <a:latin typeface="Consolas" panose="020B0609020204030204" pitchFamily="49" charset="0"/>
              </a:rPr>
              <a:t>Outgoing</a:t>
            </a:r>
            <a:r>
              <a:rPr lang="sk-SK" sz="1100" dirty="0">
                <a:latin typeface="Consolas" panose="020B0609020204030204" pitchFamily="49" charset="0"/>
              </a:rPr>
              <a:t>   </a:t>
            </a:r>
            <a:r>
              <a:rPr lang="sk-SK" sz="1100" dirty="0" err="1">
                <a:latin typeface="Consolas" panose="020B0609020204030204" pitchFamily="49" charset="0"/>
              </a:rPr>
              <a:t>Next</a:t>
            </a:r>
            <a:r>
              <a:rPr lang="sk-SK" sz="1100" dirty="0">
                <a:latin typeface="Consolas" panose="020B0609020204030204" pitchFamily="49" charset="0"/>
              </a:rPr>
              <a:t> Hop    </a:t>
            </a:r>
          </a:p>
          <a:p>
            <a:r>
              <a:rPr lang="sk-SK" sz="1100" dirty="0" err="1">
                <a:latin typeface="Consolas" panose="020B0609020204030204" pitchFamily="49" charset="0"/>
              </a:rPr>
              <a:t>Label</a:t>
            </a:r>
            <a:r>
              <a:rPr lang="sk-SK" sz="1100" dirty="0">
                <a:latin typeface="Consolas" panose="020B0609020204030204" pitchFamily="49" charset="0"/>
              </a:rPr>
              <a:t>      </a:t>
            </a:r>
            <a:r>
              <a:rPr lang="sk-SK" sz="1100" dirty="0" err="1">
                <a:latin typeface="Consolas" panose="020B0609020204030204" pitchFamily="49" charset="0"/>
              </a:rPr>
              <a:t>Label</a:t>
            </a:r>
            <a:r>
              <a:rPr lang="sk-SK" sz="1100" dirty="0">
                <a:latin typeface="Consolas" panose="020B0609020204030204" pitchFamily="49" charset="0"/>
              </a:rPr>
              <a:t>      or </a:t>
            </a:r>
            <a:r>
              <a:rPr lang="sk-SK" sz="1100" dirty="0" err="1">
                <a:latin typeface="Consolas" panose="020B0609020204030204" pitchFamily="49" charset="0"/>
              </a:rPr>
              <a:t>Tunnel</a:t>
            </a:r>
            <a:r>
              <a:rPr lang="sk-SK" sz="1100" dirty="0">
                <a:latin typeface="Consolas" panose="020B0609020204030204" pitchFamily="49" charset="0"/>
              </a:rPr>
              <a:t> Id     </a:t>
            </a:r>
            <a:r>
              <a:rPr lang="sk-SK" sz="1100" dirty="0" err="1">
                <a:latin typeface="Consolas" panose="020B0609020204030204" pitchFamily="49" charset="0"/>
              </a:rPr>
              <a:t>Switched</a:t>
            </a:r>
            <a:r>
              <a:rPr lang="sk-SK" sz="1100" dirty="0">
                <a:latin typeface="Consolas" panose="020B0609020204030204" pitchFamily="49" charset="0"/>
              </a:rPr>
              <a:t>      interface              </a:t>
            </a:r>
          </a:p>
          <a:p>
            <a:r>
              <a:rPr lang="sk-SK" sz="1100" dirty="0">
                <a:latin typeface="Consolas" panose="020B0609020204030204" pitchFamily="49" charset="0"/>
              </a:rPr>
              <a:t>16         Pop </a:t>
            </a:r>
            <a:r>
              <a:rPr lang="sk-SK" sz="1100" dirty="0" err="1">
                <a:latin typeface="Consolas" panose="020B0609020204030204" pitchFamily="49" charset="0"/>
              </a:rPr>
              <a:t>Label</a:t>
            </a:r>
            <a:r>
              <a:rPr lang="sk-SK" sz="1100" dirty="0">
                <a:latin typeface="Consolas" panose="020B0609020204030204" pitchFamily="49" charset="0"/>
              </a:rPr>
              <a:t>  1.1.1.4/32       0             Gi5        64.4.32.4   </a:t>
            </a:r>
          </a:p>
          <a:p>
            <a:r>
              <a:rPr lang="sk-SK" sz="1100" dirty="0">
                <a:highlight>
                  <a:srgbClr val="FFFF00"/>
                </a:highlight>
                <a:latin typeface="Consolas" panose="020B0609020204030204" pitchFamily="49" charset="0"/>
              </a:rPr>
              <a:t>17         Pop </a:t>
            </a:r>
            <a:r>
              <a:rPr lang="sk-SK" sz="1100" dirty="0" err="1">
                <a:highlight>
                  <a:srgbClr val="FFFF00"/>
                </a:highlight>
                <a:latin typeface="Consolas" panose="020B0609020204030204" pitchFamily="49" charset="0"/>
              </a:rPr>
              <a:t>Label</a:t>
            </a:r>
            <a:r>
              <a:rPr lang="sk-SK" sz="1100" dirty="0">
                <a:highlight>
                  <a:srgbClr val="FFFF00"/>
                </a:highlight>
                <a:latin typeface="Consolas" panose="020B0609020204030204" pitchFamily="49" charset="0"/>
              </a:rPr>
              <a:t>  1.1.1.2/32       19987         Gi3        64.2.32.2   </a:t>
            </a:r>
          </a:p>
          <a:p>
            <a:r>
              <a:rPr lang="sk-SK" sz="1100" dirty="0">
                <a:latin typeface="Consolas" panose="020B0609020204030204" pitchFamily="49" charset="0"/>
              </a:rPr>
              <a:t>18         24007      1.1.1.12/32      0             Gi3        64.2.32.2   </a:t>
            </a:r>
          </a:p>
          <a:p>
            <a:r>
              <a:rPr lang="sk-SK" sz="1100" dirty="0">
                <a:latin typeface="Consolas" panose="020B0609020204030204" pitchFamily="49" charset="0"/>
              </a:rPr>
              <a:t>19         24000      1.1.1.3/32       0             Gi3        64.2.32.2   </a:t>
            </a:r>
          </a:p>
          <a:p>
            <a:r>
              <a:rPr lang="sk-SK" sz="1100" dirty="0">
                <a:latin typeface="Consolas" panose="020B0609020204030204" pitchFamily="49" charset="0"/>
              </a:rPr>
              <a:t>           24000      1.1.1.3/32       30701         Gi5        64.4.32.4   </a:t>
            </a:r>
          </a:p>
          <a:p>
            <a:r>
              <a:rPr lang="sk-SK" sz="1100" dirty="0">
                <a:latin typeface="Consolas" panose="020B0609020204030204" pitchFamily="49" charset="0"/>
              </a:rPr>
              <a:t>20         24013      1.1.1.23/32      0             Gi5        64.4.32.4   </a:t>
            </a:r>
          </a:p>
          <a:p>
            <a:r>
              <a:rPr lang="sk-SK" sz="1100" dirty="0">
                <a:latin typeface="Consolas" panose="020B0609020204030204" pitchFamily="49" charset="0"/>
              </a:rPr>
              <a:t>21         24002      1.1.1.1/32       0             Gi3        64.2.32.2   </a:t>
            </a:r>
          </a:p>
          <a:p>
            <a:r>
              <a:rPr lang="sk-SK" sz="1100" dirty="0">
                <a:latin typeface="Consolas" panose="020B0609020204030204" pitchFamily="49" charset="0"/>
              </a:rPr>
              <a:t>22         24003      1.1.1.13/32      0             Gi3        64.2.32.2   </a:t>
            </a:r>
          </a:p>
          <a:p>
            <a:r>
              <a:rPr lang="sk-SK" sz="1100" dirty="0">
                <a:latin typeface="Consolas" panose="020B0609020204030204" pitchFamily="49" charset="0"/>
              </a:rPr>
              <a:t>           24010      1.1.1.13/32      0             Gi5        64.4.32.4   </a:t>
            </a:r>
          </a:p>
          <a:p>
            <a:r>
              <a:rPr lang="sk-SK" sz="1100" dirty="0">
                <a:latin typeface="Consolas" panose="020B0609020204030204" pitchFamily="49" charset="0"/>
              </a:rPr>
              <a:t>23         24004      1.1.1.22/32      0             Gi3        64.2.32.2   </a:t>
            </a:r>
          </a:p>
          <a:p>
            <a:r>
              <a:rPr lang="sk-SK" sz="1100" dirty="0">
                <a:latin typeface="Consolas" panose="020B0609020204030204" pitchFamily="49" charset="0"/>
              </a:rPr>
              <a:t>24         24005      1.1.1.21/32      0             Gi3        64.2.32.2   </a:t>
            </a:r>
          </a:p>
          <a:p>
            <a:r>
              <a:rPr lang="sk-SK" sz="1100" dirty="0">
                <a:latin typeface="Consolas" panose="020B0609020204030204" pitchFamily="49" charset="0"/>
              </a:rPr>
              <a:t>25         Pop </a:t>
            </a:r>
            <a:r>
              <a:rPr lang="sk-SK" sz="1100" dirty="0" err="1">
                <a:latin typeface="Consolas" panose="020B0609020204030204" pitchFamily="49" charset="0"/>
              </a:rPr>
              <a:t>Label</a:t>
            </a:r>
            <a:r>
              <a:rPr lang="sk-SK" sz="1100" dirty="0">
                <a:latin typeface="Consolas" panose="020B0609020204030204" pitchFamily="49" charset="0"/>
              </a:rPr>
              <a:t>  1.1.1.31/32      50621         Gi1        64.31.32.31 </a:t>
            </a:r>
          </a:p>
          <a:p>
            <a:r>
              <a:rPr lang="sk-SK" sz="1100" dirty="0">
                <a:latin typeface="Consolas" panose="020B0609020204030204" pitchFamily="49" charset="0"/>
              </a:rPr>
              <a:t>R32#</a:t>
            </a:r>
            <a:endParaRPr lang="sk-SK" sz="11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1810177673"/>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MPLS to SRv6 (CE31 -&gt; CE01)  #R02</a:t>
            </a:r>
          </a:p>
        </p:txBody>
      </p:sp>
      <p:sp>
        <p:nvSpPr>
          <p:cNvPr id="4" name="Rectangle 3">
            <a:extLst>
              <a:ext uri="{FF2B5EF4-FFF2-40B4-BE49-F238E27FC236}">
                <a16:creationId xmlns:a16="http://schemas.microsoft.com/office/drawing/2014/main" id="{87D7CB37-5BEE-FF8F-7602-60627856E0E8}"/>
              </a:ext>
            </a:extLst>
          </p:cNvPr>
          <p:cNvSpPr/>
          <p:nvPr/>
        </p:nvSpPr>
        <p:spPr>
          <a:xfrm>
            <a:off x="-1" y="827967"/>
            <a:ext cx="5690681" cy="6186309"/>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RP/0/RP0/CPU0:R02#sh bgp vrf A-GW 10.0.1.0/24 detail </a:t>
            </a:r>
          </a:p>
          <a:p>
            <a:r>
              <a:rPr lang="sk-SK" sz="1100" dirty="0">
                <a:latin typeface="Consolas" panose="020B0609020204030204" pitchFamily="49" charset="0"/>
              </a:rPr>
              <a:t>BGP routing table </a:t>
            </a:r>
            <a:r>
              <a:rPr lang="sk-SK" sz="1100" dirty="0" err="1">
                <a:latin typeface="Consolas" panose="020B0609020204030204" pitchFamily="49" charset="0"/>
              </a:rPr>
              <a:t>entry</a:t>
            </a:r>
            <a:r>
              <a:rPr lang="sk-SK" sz="1100" dirty="0">
                <a:latin typeface="Consolas" panose="020B0609020204030204" pitchFamily="49" charset="0"/>
              </a:rPr>
              <a:t> </a:t>
            </a:r>
            <a:r>
              <a:rPr lang="sk-SK" sz="1100" dirty="0" err="1">
                <a:latin typeface="Consolas" panose="020B0609020204030204" pitchFamily="49" charset="0"/>
              </a:rPr>
              <a:t>for</a:t>
            </a:r>
            <a:r>
              <a:rPr lang="sk-SK" sz="1100" dirty="0">
                <a:latin typeface="Consolas" panose="020B0609020204030204" pitchFamily="49" charset="0"/>
              </a:rPr>
              <a:t> 10.0.1.0/24, </a:t>
            </a:r>
            <a:r>
              <a:rPr lang="sk-SK" sz="1100" dirty="0" err="1">
                <a:latin typeface="Consolas" panose="020B0609020204030204" pitchFamily="49" charset="0"/>
              </a:rPr>
              <a:t>Route</a:t>
            </a:r>
            <a:r>
              <a:rPr lang="sk-SK" sz="1100" dirty="0">
                <a:latin typeface="Consolas" panose="020B0609020204030204" pitchFamily="49" charset="0"/>
              </a:rPr>
              <a:t> </a:t>
            </a:r>
            <a:r>
              <a:rPr lang="sk-SK" sz="1100" dirty="0" err="1">
                <a:latin typeface="Consolas" panose="020B0609020204030204" pitchFamily="49" charset="0"/>
              </a:rPr>
              <a:t>Distinguisher</a:t>
            </a:r>
            <a:r>
              <a:rPr lang="sk-SK" sz="1100" dirty="0">
                <a:latin typeface="Consolas" panose="020B0609020204030204" pitchFamily="49" charset="0"/>
              </a:rPr>
              <a:t>: 65000:2000</a:t>
            </a:r>
          </a:p>
          <a:p>
            <a:r>
              <a:rPr lang="sk-SK" sz="1100" dirty="0" err="1">
                <a:latin typeface="Consolas" panose="020B0609020204030204" pitchFamily="49" charset="0"/>
              </a:rPr>
              <a:t>Versions</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Process</a:t>
            </a:r>
            <a:r>
              <a:rPr lang="sk-SK" sz="1100" dirty="0">
                <a:latin typeface="Consolas" panose="020B0609020204030204" pitchFamily="49" charset="0"/>
              </a:rPr>
              <a:t>           </a:t>
            </a:r>
            <a:r>
              <a:rPr lang="sk-SK" sz="1100" dirty="0" err="1">
                <a:latin typeface="Consolas" panose="020B0609020204030204" pitchFamily="49" charset="0"/>
              </a:rPr>
              <a:t>bRIB</a:t>
            </a:r>
            <a:r>
              <a:rPr lang="sk-SK" sz="1100" dirty="0">
                <a:latin typeface="Consolas" panose="020B0609020204030204" pitchFamily="49" charset="0"/>
              </a:rPr>
              <a:t>/RIB  </a:t>
            </a:r>
            <a:r>
              <a:rPr lang="sk-SK" sz="1100" dirty="0" err="1">
                <a:latin typeface="Consolas" panose="020B0609020204030204" pitchFamily="49" charset="0"/>
              </a:rPr>
              <a:t>SendTblVer</a:t>
            </a:r>
            <a:endParaRPr lang="sk-SK" sz="1100" dirty="0">
              <a:latin typeface="Consolas" panose="020B0609020204030204" pitchFamily="49" charset="0"/>
            </a:endParaRPr>
          </a:p>
          <a:p>
            <a:r>
              <a:rPr lang="sk-SK" sz="1100" dirty="0">
                <a:latin typeface="Consolas" panose="020B0609020204030204" pitchFamily="49" charset="0"/>
              </a:rPr>
              <a:t>  Speaker                  96           96</a:t>
            </a:r>
          </a:p>
          <a:p>
            <a:r>
              <a:rPr lang="sk-SK" sz="1100" dirty="0">
                <a:latin typeface="Consolas" panose="020B0609020204030204" pitchFamily="49" charset="0"/>
              </a:rPr>
              <a:t>    </a:t>
            </a:r>
            <a:r>
              <a:rPr lang="sk-SK" sz="1100" dirty="0" err="1">
                <a:highlight>
                  <a:srgbClr val="00FFFF"/>
                </a:highlight>
                <a:latin typeface="Consolas" panose="020B0609020204030204" pitchFamily="49" charset="0"/>
              </a:rPr>
              <a:t>Local</a:t>
            </a:r>
            <a:r>
              <a:rPr lang="sk-SK" sz="1100" dirty="0">
                <a:highlight>
                  <a:srgbClr val="00FFFF"/>
                </a:highlight>
                <a:latin typeface="Consolas" panose="020B0609020204030204" pitchFamily="49" charset="0"/>
              </a:rPr>
              <a:t> </a:t>
            </a:r>
            <a:r>
              <a:rPr lang="sk-SK" sz="1100" dirty="0" err="1">
                <a:highlight>
                  <a:srgbClr val="00FFFF"/>
                </a:highlight>
                <a:latin typeface="Consolas" panose="020B0609020204030204" pitchFamily="49" charset="0"/>
              </a:rPr>
              <a:t>Label</a:t>
            </a:r>
            <a:r>
              <a:rPr lang="sk-SK" sz="1100" dirty="0">
                <a:highlight>
                  <a:srgbClr val="00FFFF"/>
                </a:highlight>
                <a:latin typeface="Consolas" panose="020B0609020204030204" pitchFamily="49" charset="0"/>
              </a:rPr>
              <a:t>: 24010 (</a:t>
            </a:r>
            <a:r>
              <a:rPr lang="sk-SK" sz="1100" dirty="0" err="1">
                <a:highlight>
                  <a:srgbClr val="00FFFF"/>
                </a:highlight>
                <a:latin typeface="Consolas" panose="020B0609020204030204" pitchFamily="49" charset="0"/>
              </a:rPr>
              <a:t>with</a:t>
            </a:r>
            <a:r>
              <a:rPr lang="sk-SK" sz="1100" dirty="0">
                <a:highlight>
                  <a:srgbClr val="00FFFF"/>
                </a:highlight>
                <a:latin typeface="Consolas" panose="020B0609020204030204" pitchFamily="49" charset="0"/>
              </a:rPr>
              <a:t> </a:t>
            </a:r>
            <a:r>
              <a:rPr lang="sk-SK" sz="1100" dirty="0" err="1">
                <a:highlight>
                  <a:srgbClr val="00FFFF"/>
                </a:highlight>
                <a:latin typeface="Consolas" panose="020B0609020204030204" pitchFamily="49" charset="0"/>
              </a:rPr>
              <a:t>rewrite</a:t>
            </a:r>
            <a:r>
              <a:rPr lang="sk-SK" sz="1100" dirty="0">
                <a:highlight>
                  <a:srgbClr val="00FFFF"/>
                </a:highlight>
                <a:latin typeface="Consolas" panose="020B0609020204030204" pitchFamily="49" charset="0"/>
              </a:rPr>
              <a:t>); </a:t>
            </a:r>
          </a:p>
          <a:p>
            <a:r>
              <a:rPr lang="sk-SK" sz="1100" dirty="0">
                <a:latin typeface="Consolas" panose="020B0609020204030204" pitchFamily="49" charset="0"/>
              </a:rPr>
              <a:t>    SRv6-VPN SID: fc00:ab00:2:e008::/64</a:t>
            </a:r>
          </a:p>
          <a:p>
            <a:r>
              <a:rPr lang="sk-SK" sz="1100" dirty="0">
                <a:latin typeface="Consolas" panose="020B0609020204030204" pitchFamily="49" charset="0"/>
              </a:rPr>
              <a:t>    </a:t>
            </a:r>
            <a:r>
              <a:rPr lang="sk-SK" sz="1100" dirty="0" err="1">
                <a:latin typeface="Consolas" panose="020B0609020204030204" pitchFamily="49" charset="0"/>
              </a:rPr>
              <a:t>Flags</a:t>
            </a:r>
            <a:r>
              <a:rPr lang="sk-SK" sz="1100" dirty="0">
                <a:latin typeface="Consolas" panose="020B0609020204030204" pitchFamily="49" charset="0"/>
              </a:rPr>
              <a:t>: 0x01001001+0x01000000; </a:t>
            </a:r>
          </a:p>
          <a:p>
            <a:r>
              <a:rPr lang="sk-SK" sz="1100" dirty="0" err="1">
                <a:latin typeface="Consolas" panose="020B0609020204030204" pitchFamily="49" charset="0"/>
              </a:rPr>
              <a:t>Last</a:t>
            </a:r>
            <a:r>
              <a:rPr lang="sk-SK" sz="1100" dirty="0">
                <a:latin typeface="Consolas" panose="020B0609020204030204" pitchFamily="49" charset="0"/>
              </a:rPr>
              <a:t> </a:t>
            </a:r>
            <a:r>
              <a:rPr lang="sk-SK" sz="1100" dirty="0" err="1">
                <a:latin typeface="Consolas" panose="020B0609020204030204" pitchFamily="49" charset="0"/>
              </a:rPr>
              <a:t>Modified</a:t>
            </a:r>
            <a:r>
              <a:rPr lang="sk-SK" sz="1100" dirty="0">
                <a:latin typeface="Consolas" panose="020B0609020204030204" pitchFamily="49" charset="0"/>
              </a:rPr>
              <a:t>: Nov  1 15:30:55.875 </a:t>
            </a:r>
            <a:r>
              <a:rPr lang="sk-SK" sz="1100" dirty="0" err="1">
                <a:latin typeface="Consolas" panose="020B0609020204030204" pitchFamily="49" charset="0"/>
              </a:rPr>
              <a:t>for</a:t>
            </a:r>
            <a:r>
              <a:rPr lang="sk-SK" sz="1100" dirty="0">
                <a:latin typeface="Consolas" panose="020B0609020204030204" pitchFamily="49" charset="0"/>
              </a:rPr>
              <a:t> 02:48:32</a:t>
            </a:r>
          </a:p>
          <a:p>
            <a:r>
              <a:rPr lang="sk-SK" sz="1100" dirty="0" err="1">
                <a:latin typeface="Consolas" panose="020B0609020204030204" pitchFamily="49" charset="0"/>
              </a:rPr>
              <a:t>Paths</a:t>
            </a:r>
            <a:r>
              <a:rPr lang="sk-SK" sz="1100" dirty="0">
                <a:latin typeface="Consolas" panose="020B0609020204030204" pitchFamily="49" charset="0"/>
              </a:rPr>
              <a:t>: (1 </a:t>
            </a:r>
            <a:r>
              <a:rPr lang="sk-SK" sz="1100" dirty="0" err="1">
                <a:latin typeface="Consolas" panose="020B0609020204030204" pitchFamily="49" charset="0"/>
              </a:rPr>
              <a:t>available</a:t>
            </a:r>
            <a:r>
              <a:rPr lang="sk-SK" sz="1100" dirty="0">
                <a:latin typeface="Consolas" panose="020B0609020204030204" pitchFamily="49" charset="0"/>
              </a:rPr>
              <a:t>, </a:t>
            </a:r>
            <a:r>
              <a:rPr lang="sk-SK" sz="1100" dirty="0" err="1">
                <a:latin typeface="Consolas" panose="020B0609020204030204" pitchFamily="49" charset="0"/>
              </a:rPr>
              <a:t>best</a:t>
            </a:r>
            <a:r>
              <a:rPr lang="sk-SK" sz="1100" dirty="0">
                <a:latin typeface="Consolas" panose="020B0609020204030204" pitchFamily="49" charset="0"/>
              </a:rPr>
              <a:t> #1)</a:t>
            </a:r>
          </a:p>
          <a:p>
            <a:r>
              <a:rPr lang="sk-SK" sz="1100" dirty="0">
                <a:latin typeface="Consolas" panose="020B0609020204030204" pitchFamily="49" charset="0"/>
              </a:rPr>
              <a:t>  </a:t>
            </a:r>
            <a:r>
              <a:rPr lang="sk-SK" sz="1100" dirty="0" err="1">
                <a:latin typeface="Consolas" panose="020B0609020204030204" pitchFamily="49" charset="0"/>
              </a:rPr>
              <a:t>Advertised</a:t>
            </a:r>
            <a:r>
              <a:rPr lang="sk-SK" sz="1100" dirty="0">
                <a:latin typeface="Consolas" panose="020B0609020204030204" pitchFamily="49" charset="0"/>
              </a:rPr>
              <a:t> to PE </a:t>
            </a:r>
            <a:r>
              <a:rPr lang="sk-SK" sz="1100" dirty="0" err="1">
                <a:latin typeface="Consolas" panose="020B0609020204030204" pitchFamily="49" charset="0"/>
              </a:rPr>
              <a:t>peers</a:t>
            </a:r>
            <a:r>
              <a:rPr lang="sk-SK" sz="1100" dirty="0">
                <a:latin typeface="Consolas" panose="020B0609020204030204" pitchFamily="49" charset="0"/>
              </a:rPr>
              <a:t> (in </a:t>
            </a:r>
            <a:r>
              <a:rPr lang="sk-SK" sz="1100" dirty="0" err="1">
                <a:latin typeface="Consolas" panose="020B0609020204030204" pitchFamily="49" charset="0"/>
              </a:rPr>
              <a:t>unique</a:t>
            </a:r>
            <a:r>
              <a:rPr lang="sk-SK" sz="1100" dirty="0">
                <a:latin typeface="Consolas" panose="020B0609020204030204" pitchFamily="49" charset="0"/>
              </a:rPr>
              <a:t> update </a:t>
            </a:r>
            <a:r>
              <a:rPr lang="sk-SK" sz="1100" dirty="0" err="1">
                <a:latin typeface="Consolas" panose="020B0609020204030204" pitchFamily="49" charset="0"/>
              </a:rPr>
              <a:t>groups</a:t>
            </a:r>
            <a:r>
              <a:rPr lang="sk-SK" sz="1100" dirty="0">
                <a:latin typeface="Consolas" panose="020B0609020204030204" pitchFamily="49" charset="0"/>
              </a:rPr>
              <a:t>):</a:t>
            </a:r>
          </a:p>
          <a:p>
            <a:r>
              <a:rPr lang="sk-SK" sz="1100" dirty="0">
                <a:latin typeface="Consolas" panose="020B0609020204030204" pitchFamily="49" charset="0"/>
              </a:rPr>
              <a:t>    1.1.1.31        </a:t>
            </a:r>
          </a:p>
          <a:p>
            <a:r>
              <a:rPr lang="sk-SK" sz="1100" dirty="0">
                <a:latin typeface="Consolas" panose="020B0609020204030204" pitchFamily="49" charset="0"/>
              </a:rPr>
              <a:t>  </a:t>
            </a:r>
            <a:r>
              <a:rPr lang="sk-SK" sz="1100" dirty="0" err="1">
                <a:latin typeface="Consolas" panose="020B0609020204030204" pitchFamily="49" charset="0"/>
              </a:rPr>
              <a:t>Path</a:t>
            </a:r>
            <a:r>
              <a:rPr lang="sk-SK" sz="1100" dirty="0">
                <a:latin typeface="Consolas" panose="020B0609020204030204" pitchFamily="49" charset="0"/>
              </a:rPr>
              <a:t> #1: </a:t>
            </a:r>
            <a:r>
              <a:rPr lang="sk-SK" sz="1100" dirty="0" err="1">
                <a:latin typeface="Consolas" panose="020B0609020204030204" pitchFamily="49" charset="0"/>
              </a:rPr>
              <a:t>Received</a:t>
            </a:r>
            <a:r>
              <a:rPr lang="sk-SK" sz="1100" dirty="0">
                <a:latin typeface="Consolas" panose="020B0609020204030204" pitchFamily="49" charset="0"/>
              </a:rPr>
              <a:t> by speaker 0</a:t>
            </a:r>
          </a:p>
          <a:p>
            <a:r>
              <a:rPr lang="sk-SK" sz="1100" dirty="0">
                <a:latin typeface="Consolas" panose="020B0609020204030204" pitchFamily="49" charset="0"/>
              </a:rPr>
              <a:t>  </a:t>
            </a:r>
            <a:r>
              <a:rPr lang="sk-SK" sz="1100" dirty="0" err="1">
                <a:latin typeface="Consolas" panose="020B0609020204030204" pitchFamily="49" charset="0"/>
              </a:rPr>
              <a:t>Flags</a:t>
            </a:r>
            <a:r>
              <a:rPr lang="sk-SK" sz="1100" dirty="0">
                <a:latin typeface="Consolas" panose="020B0609020204030204" pitchFamily="49" charset="0"/>
              </a:rPr>
              <a:t>: 0x200060000d060205+0x00, import: 0x080</a:t>
            </a:r>
          </a:p>
          <a:p>
            <a:r>
              <a:rPr lang="sk-SK" sz="1100" dirty="0">
                <a:latin typeface="Consolas" panose="020B0609020204030204" pitchFamily="49" charset="0"/>
              </a:rPr>
              <a:t>  </a:t>
            </a:r>
            <a:r>
              <a:rPr lang="sk-SK" sz="1100" dirty="0" err="1">
                <a:latin typeface="Consolas" panose="020B0609020204030204" pitchFamily="49" charset="0"/>
              </a:rPr>
              <a:t>Advertised</a:t>
            </a:r>
            <a:r>
              <a:rPr lang="sk-SK" sz="1100" dirty="0">
                <a:latin typeface="Consolas" panose="020B0609020204030204" pitchFamily="49" charset="0"/>
              </a:rPr>
              <a:t> to PE </a:t>
            </a:r>
            <a:r>
              <a:rPr lang="sk-SK" sz="1100" dirty="0" err="1">
                <a:latin typeface="Consolas" panose="020B0609020204030204" pitchFamily="49" charset="0"/>
              </a:rPr>
              <a:t>peers</a:t>
            </a:r>
            <a:r>
              <a:rPr lang="sk-SK" sz="1100" dirty="0">
                <a:latin typeface="Consolas" panose="020B0609020204030204" pitchFamily="49" charset="0"/>
              </a:rPr>
              <a:t> (in </a:t>
            </a:r>
            <a:r>
              <a:rPr lang="sk-SK" sz="1100" dirty="0" err="1">
                <a:latin typeface="Consolas" panose="020B0609020204030204" pitchFamily="49" charset="0"/>
              </a:rPr>
              <a:t>unique</a:t>
            </a:r>
            <a:r>
              <a:rPr lang="sk-SK" sz="1100" dirty="0">
                <a:latin typeface="Consolas" panose="020B0609020204030204" pitchFamily="49" charset="0"/>
              </a:rPr>
              <a:t> update </a:t>
            </a:r>
            <a:r>
              <a:rPr lang="sk-SK" sz="1100" dirty="0" err="1">
                <a:latin typeface="Consolas" panose="020B0609020204030204" pitchFamily="49" charset="0"/>
              </a:rPr>
              <a:t>groups</a:t>
            </a:r>
            <a:r>
              <a:rPr lang="sk-SK" sz="1100" dirty="0">
                <a:latin typeface="Consolas" panose="020B0609020204030204" pitchFamily="49" charset="0"/>
              </a:rPr>
              <a:t>):</a:t>
            </a:r>
          </a:p>
          <a:p>
            <a:r>
              <a:rPr lang="sk-SK" sz="1100" dirty="0">
                <a:latin typeface="Consolas" panose="020B0609020204030204" pitchFamily="49" charset="0"/>
              </a:rPr>
              <a:t>    1.1.1.31        </a:t>
            </a:r>
          </a:p>
          <a:p>
            <a:r>
              <a:rPr lang="sk-SK" sz="1100" dirty="0">
                <a:latin typeface="Consolas" panose="020B0609020204030204" pitchFamily="49" charset="0"/>
              </a:rPr>
              <a:t>  65001, (</a:t>
            </a:r>
            <a:r>
              <a:rPr lang="sk-SK" sz="1100" dirty="0" err="1">
                <a:latin typeface="Consolas" panose="020B0609020204030204" pitchFamily="49" charset="0"/>
              </a:rPr>
              <a:t>Received</a:t>
            </a:r>
            <a:r>
              <a:rPr lang="sk-SK" sz="1100" dirty="0">
                <a:latin typeface="Consolas" panose="020B0609020204030204" pitchFamily="49" charset="0"/>
              </a:rPr>
              <a:t> </a:t>
            </a:r>
            <a:r>
              <a:rPr lang="sk-SK" sz="1100" dirty="0" err="1">
                <a:latin typeface="Consolas" panose="020B0609020204030204" pitchFamily="49" charset="0"/>
              </a:rPr>
              <a:t>from</a:t>
            </a:r>
            <a:r>
              <a:rPr lang="sk-SK" sz="1100" dirty="0">
                <a:latin typeface="Consolas" panose="020B0609020204030204" pitchFamily="49" charset="0"/>
              </a:rPr>
              <a:t> a RR-</a:t>
            </a:r>
            <a:r>
              <a:rPr lang="sk-SK" sz="1100" dirty="0" err="1">
                <a:latin typeface="Consolas" panose="020B0609020204030204" pitchFamily="49" charset="0"/>
              </a:rPr>
              <a:t>client</a:t>
            </a:r>
            <a:r>
              <a:rPr lang="sk-SK" sz="1100" dirty="0">
                <a:latin typeface="Consolas" panose="020B0609020204030204" pitchFamily="49" charset="0"/>
              </a:rPr>
              <a:t>)</a:t>
            </a:r>
          </a:p>
          <a:p>
            <a:r>
              <a:rPr lang="sk-SK" sz="1100" dirty="0">
                <a:latin typeface="Consolas" panose="020B0609020204030204" pitchFamily="49" charset="0"/>
              </a:rPr>
              <a:t>    2001:9999::1 (</a:t>
            </a:r>
            <a:r>
              <a:rPr lang="sk-SK" sz="1100" dirty="0" err="1">
                <a:latin typeface="Consolas" panose="020B0609020204030204" pitchFamily="49" charset="0"/>
              </a:rPr>
              <a:t>metric</a:t>
            </a:r>
            <a:r>
              <a:rPr lang="sk-SK" sz="1100" dirty="0">
                <a:latin typeface="Consolas" panose="020B0609020204030204" pitchFamily="49" charset="0"/>
              </a:rPr>
              <a:t> 10) </a:t>
            </a:r>
            <a:r>
              <a:rPr lang="sk-SK" sz="1100" dirty="0" err="1">
                <a:latin typeface="Consolas" panose="020B0609020204030204" pitchFamily="49" charset="0"/>
              </a:rPr>
              <a:t>from</a:t>
            </a:r>
            <a:r>
              <a:rPr lang="sk-SK" sz="1100" dirty="0">
                <a:latin typeface="Consolas" panose="020B0609020204030204" pitchFamily="49" charset="0"/>
              </a:rPr>
              <a:t> 2001:9999::3 (1.1.1.1), </a:t>
            </a:r>
            <a:r>
              <a:rPr lang="sk-SK" sz="1100" dirty="0" err="1">
                <a:latin typeface="Consolas" panose="020B0609020204030204" pitchFamily="49" charset="0"/>
              </a:rPr>
              <a:t>if-handle</a:t>
            </a:r>
            <a:r>
              <a:rPr lang="sk-SK" sz="1100" dirty="0">
                <a:latin typeface="Consolas" panose="020B0609020204030204" pitchFamily="49" charset="0"/>
              </a:rPr>
              <a:t> 0x00000000</a:t>
            </a:r>
          </a:p>
          <a:p>
            <a:r>
              <a:rPr lang="sk-SK" sz="1100" dirty="0">
                <a:latin typeface="Consolas" panose="020B0609020204030204" pitchFamily="49" charset="0"/>
              </a:rPr>
              <a:t>      </a:t>
            </a:r>
            <a:r>
              <a:rPr lang="sk-SK" sz="1100" dirty="0" err="1">
                <a:latin typeface="Consolas" panose="020B0609020204030204" pitchFamily="49" charset="0"/>
              </a:rPr>
              <a:t>Received</a:t>
            </a:r>
            <a:r>
              <a:rPr lang="sk-SK" sz="1100" dirty="0">
                <a:latin typeface="Consolas" panose="020B0609020204030204" pitchFamily="49" charset="0"/>
              </a:rPr>
              <a:t> </a:t>
            </a:r>
            <a:r>
              <a:rPr lang="sk-SK" sz="1100" dirty="0" err="1">
                <a:latin typeface="Consolas" panose="020B0609020204030204" pitchFamily="49" charset="0"/>
              </a:rPr>
              <a:t>Label</a:t>
            </a:r>
            <a:r>
              <a:rPr lang="sk-SK" sz="1100" dirty="0">
                <a:latin typeface="Consolas" panose="020B0609020204030204" pitchFamily="49" charset="0"/>
              </a:rPr>
              <a:t> </a:t>
            </a:r>
            <a:r>
              <a:rPr lang="sk-SK" sz="1100" dirty="0">
                <a:solidFill>
                  <a:schemeClr val="bg1"/>
                </a:solidFill>
                <a:highlight>
                  <a:srgbClr val="0000FF"/>
                </a:highlight>
                <a:latin typeface="Consolas" panose="020B0609020204030204" pitchFamily="49" charset="0"/>
              </a:rPr>
              <a:t>0xe0010</a:t>
            </a:r>
          </a:p>
          <a:p>
            <a:r>
              <a:rPr lang="sk-SK" sz="1100" dirty="0">
                <a:latin typeface="Consolas" panose="020B0609020204030204" pitchFamily="49" charset="0"/>
              </a:rPr>
              <a:t>      </a:t>
            </a:r>
            <a:r>
              <a:rPr lang="sk-SK" sz="1100" dirty="0" err="1">
                <a:latin typeface="Consolas" panose="020B0609020204030204" pitchFamily="49" charset="0"/>
              </a:rPr>
              <a:t>Origin</a:t>
            </a:r>
            <a:r>
              <a:rPr lang="sk-SK" sz="1100" dirty="0">
                <a:latin typeface="Consolas" panose="020B0609020204030204" pitchFamily="49" charset="0"/>
              </a:rPr>
              <a:t> IGP, </a:t>
            </a:r>
            <a:r>
              <a:rPr lang="sk-SK" sz="1100" dirty="0" err="1">
                <a:latin typeface="Consolas" panose="020B0609020204030204" pitchFamily="49" charset="0"/>
              </a:rPr>
              <a:t>metric</a:t>
            </a:r>
            <a:r>
              <a:rPr lang="sk-SK" sz="1100" dirty="0">
                <a:latin typeface="Consolas" panose="020B0609020204030204" pitchFamily="49" charset="0"/>
              </a:rPr>
              <a:t> 0, localpref 100, </a:t>
            </a:r>
            <a:r>
              <a:rPr lang="sk-SK" sz="1100" dirty="0" err="1">
                <a:latin typeface="Consolas" panose="020B0609020204030204" pitchFamily="49" charset="0"/>
              </a:rPr>
              <a:t>valid</a:t>
            </a:r>
            <a:r>
              <a:rPr lang="sk-SK" sz="1100" dirty="0">
                <a:latin typeface="Consolas" panose="020B0609020204030204" pitchFamily="49" charset="0"/>
              </a:rPr>
              <a:t>, </a:t>
            </a:r>
            <a:r>
              <a:rPr lang="sk-SK" sz="1100" dirty="0" err="1">
                <a:latin typeface="Consolas" panose="020B0609020204030204" pitchFamily="49" charset="0"/>
              </a:rPr>
              <a:t>internal</a:t>
            </a:r>
            <a:r>
              <a:rPr lang="sk-SK" sz="1100" dirty="0">
                <a:latin typeface="Consolas" panose="020B0609020204030204" pitchFamily="49" charset="0"/>
              </a:rPr>
              <a:t>, </a:t>
            </a:r>
            <a:r>
              <a:rPr lang="sk-SK" sz="1100" dirty="0" err="1">
                <a:solidFill>
                  <a:schemeClr val="bg1"/>
                </a:solidFill>
                <a:highlight>
                  <a:srgbClr val="0000FF"/>
                </a:highlight>
                <a:latin typeface="Consolas" panose="020B0609020204030204" pitchFamily="49" charset="0"/>
              </a:rPr>
              <a:t>best</a:t>
            </a:r>
            <a:r>
              <a:rPr lang="sk-SK" sz="1100" dirty="0">
                <a:latin typeface="Consolas" panose="020B0609020204030204" pitchFamily="49" charset="0"/>
              </a:rPr>
              <a:t>, </a:t>
            </a:r>
            <a:r>
              <a:rPr lang="sk-SK" sz="1100" dirty="0" err="1">
                <a:latin typeface="Consolas" panose="020B0609020204030204" pitchFamily="49" charset="0"/>
              </a:rPr>
              <a:t>group-best</a:t>
            </a:r>
            <a:r>
              <a:rPr lang="sk-SK" sz="1100" dirty="0">
                <a:latin typeface="Consolas" panose="020B0609020204030204" pitchFamily="49" charset="0"/>
              </a:rPr>
              <a:t>, import-</a:t>
            </a:r>
            <a:r>
              <a:rPr lang="sk-SK" sz="1100" dirty="0" err="1">
                <a:latin typeface="Consolas" panose="020B0609020204030204" pitchFamily="49" charset="0"/>
              </a:rPr>
              <a:t>candidate</a:t>
            </a:r>
            <a:r>
              <a:rPr lang="sk-SK" sz="1100" dirty="0">
                <a:latin typeface="Consolas" panose="020B0609020204030204" pitchFamily="49" charset="0"/>
              </a:rPr>
              <a:t>, </a:t>
            </a:r>
            <a:r>
              <a:rPr lang="sk-SK" sz="1100" dirty="0" err="1">
                <a:latin typeface="Consolas" panose="020B0609020204030204" pitchFamily="49" charset="0"/>
              </a:rPr>
              <a:t>imported</a:t>
            </a:r>
            <a:r>
              <a:rPr lang="sk-SK" sz="1100" dirty="0">
                <a:latin typeface="Consolas" panose="020B0609020204030204" pitchFamily="49" charset="0"/>
              </a:rPr>
              <a:t>, </a:t>
            </a:r>
            <a:r>
              <a:rPr lang="sk-SK" sz="1100" dirty="0" err="1">
                <a:latin typeface="Consolas" panose="020B0609020204030204" pitchFamily="49" charset="0"/>
              </a:rPr>
              <a:t>reoriginated</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Received</a:t>
            </a:r>
            <a:r>
              <a:rPr lang="sk-SK" sz="1100" dirty="0">
                <a:latin typeface="Consolas" panose="020B0609020204030204" pitchFamily="49" charset="0"/>
              </a:rPr>
              <a:t> </a:t>
            </a:r>
            <a:r>
              <a:rPr lang="sk-SK" sz="1100" dirty="0" err="1">
                <a:latin typeface="Consolas" panose="020B0609020204030204" pitchFamily="49" charset="0"/>
              </a:rPr>
              <a:t>Path</a:t>
            </a:r>
            <a:r>
              <a:rPr lang="sk-SK" sz="1100" dirty="0">
                <a:latin typeface="Consolas" panose="020B0609020204030204" pitchFamily="49" charset="0"/>
              </a:rPr>
              <a:t> ID 0, </a:t>
            </a:r>
            <a:r>
              <a:rPr lang="sk-SK" sz="1100" dirty="0" err="1">
                <a:latin typeface="Consolas" panose="020B0609020204030204" pitchFamily="49" charset="0"/>
              </a:rPr>
              <a:t>Local</a:t>
            </a:r>
            <a:r>
              <a:rPr lang="sk-SK" sz="1100" dirty="0">
                <a:latin typeface="Consolas" panose="020B0609020204030204" pitchFamily="49" charset="0"/>
              </a:rPr>
              <a:t> </a:t>
            </a:r>
            <a:r>
              <a:rPr lang="sk-SK" sz="1100" dirty="0" err="1">
                <a:latin typeface="Consolas" panose="020B0609020204030204" pitchFamily="49" charset="0"/>
              </a:rPr>
              <a:t>Path</a:t>
            </a:r>
            <a:r>
              <a:rPr lang="sk-SK" sz="1100" dirty="0">
                <a:latin typeface="Consolas" panose="020B0609020204030204" pitchFamily="49" charset="0"/>
              </a:rPr>
              <a:t> ID 1, </a:t>
            </a:r>
            <a:r>
              <a:rPr lang="sk-SK" sz="1100" dirty="0" err="1">
                <a:latin typeface="Consolas" panose="020B0609020204030204" pitchFamily="49" charset="0"/>
              </a:rPr>
              <a:t>version</a:t>
            </a:r>
            <a:r>
              <a:rPr lang="sk-SK" sz="1100" dirty="0">
                <a:latin typeface="Consolas" panose="020B0609020204030204" pitchFamily="49" charset="0"/>
              </a:rPr>
              <a:t> 96</a:t>
            </a:r>
          </a:p>
          <a:p>
            <a:r>
              <a:rPr lang="sk-SK" sz="1100" dirty="0">
                <a:latin typeface="Consolas" panose="020B0609020204030204" pitchFamily="49" charset="0"/>
              </a:rPr>
              <a:t>      </a:t>
            </a:r>
            <a:r>
              <a:rPr lang="sk-SK" sz="1100" dirty="0" err="1">
                <a:latin typeface="Consolas" panose="020B0609020204030204" pitchFamily="49" charset="0"/>
              </a:rPr>
              <a:t>Extended</a:t>
            </a:r>
            <a:r>
              <a:rPr lang="sk-SK" sz="1100" dirty="0">
                <a:latin typeface="Consolas" panose="020B0609020204030204" pitchFamily="49" charset="0"/>
              </a:rPr>
              <a:t> </a:t>
            </a:r>
            <a:r>
              <a:rPr lang="sk-SK" sz="1100" dirty="0" err="1">
                <a:latin typeface="Consolas" panose="020B0609020204030204" pitchFamily="49" charset="0"/>
              </a:rPr>
              <a:t>community</a:t>
            </a:r>
            <a:r>
              <a:rPr lang="sk-SK" sz="1100" dirty="0">
                <a:latin typeface="Consolas" panose="020B0609020204030204" pitchFamily="49" charset="0"/>
              </a:rPr>
              <a:t>: RT:65000:1 RT:65000:1001 </a:t>
            </a:r>
          </a:p>
          <a:p>
            <a:r>
              <a:rPr lang="sk-SK" sz="1100" dirty="0">
                <a:latin typeface="Consolas" panose="020B0609020204030204" pitchFamily="49" charset="0"/>
              </a:rPr>
              <a:t>      </a:t>
            </a:r>
            <a:r>
              <a:rPr lang="sk-SK" sz="1100" dirty="0" err="1">
                <a:latin typeface="Consolas" panose="020B0609020204030204" pitchFamily="49" charset="0"/>
              </a:rPr>
              <a:t>Originator</a:t>
            </a:r>
            <a:r>
              <a:rPr lang="sk-SK" sz="1100" dirty="0">
                <a:latin typeface="Consolas" panose="020B0609020204030204" pitchFamily="49" charset="0"/>
              </a:rPr>
              <a:t>: 1.1.1.1, </a:t>
            </a:r>
            <a:r>
              <a:rPr lang="sk-SK" sz="1100" dirty="0" err="1">
                <a:latin typeface="Consolas" panose="020B0609020204030204" pitchFamily="49" charset="0"/>
              </a:rPr>
              <a:t>Cluster</a:t>
            </a:r>
            <a:r>
              <a:rPr lang="sk-SK" sz="1100" dirty="0">
                <a:latin typeface="Consolas" panose="020B0609020204030204" pitchFamily="49" charset="0"/>
              </a:rPr>
              <a:t> list: 0.0.0.100</a:t>
            </a:r>
          </a:p>
          <a:p>
            <a:r>
              <a:rPr lang="sk-SK" sz="1100" dirty="0">
                <a:latin typeface="Consolas" panose="020B0609020204030204" pitchFamily="49" charset="0"/>
              </a:rPr>
              <a:t>      PSID-Type:L3, </a:t>
            </a:r>
            <a:r>
              <a:rPr lang="sk-SK" sz="1100" dirty="0" err="1">
                <a:latin typeface="Consolas" panose="020B0609020204030204" pitchFamily="49" charset="0"/>
              </a:rPr>
              <a:t>SubTLV</a:t>
            </a:r>
            <a:r>
              <a:rPr lang="sk-SK" sz="1100" dirty="0">
                <a:latin typeface="Consolas" panose="020B0609020204030204" pitchFamily="49" charset="0"/>
              </a:rPr>
              <a:t> Count:1, R:0x00,</a:t>
            </a:r>
          </a:p>
          <a:p>
            <a:r>
              <a:rPr lang="sk-SK" sz="1100" dirty="0">
                <a:latin typeface="Consolas" panose="020B0609020204030204" pitchFamily="49" charset="0"/>
              </a:rPr>
              <a:t>       </a:t>
            </a:r>
            <a:r>
              <a:rPr lang="sk-SK" sz="1100" dirty="0" err="1">
                <a:latin typeface="Consolas" panose="020B0609020204030204" pitchFamily="49" charset="0"/>
              </a:rPr>
              <a:t>SubTLV</a:t>
            </a:r>
            <a:r>
              <a:rPr lang="sk-SK" sz="1100" dirty="0">
                <a:latin typeface="Consolas" panose="020B0609020204030204" pitchFamily="49" charset="0"/>
              </a:rPr>
              <a:t>:</a:t>
            </a:r>
          </a:p>
          <a:p>
            <a:r>
              <a:rPr lang="sk-SK" sz="1100" dirty="0">
                <a:latin typeface="Consolas" panose="020B0609020204030204" pitchFamily="49" charset="0"/>
              </a:rPr>
              <a:t>        T:1(Sid </a:t>
            </a:r>
            <a:r>
              <a:rPr lang="sk-SK" sz="1100" dirty="0" err="1">
                <a:latin typeface="Consolas" panose="020B0609020204030204" pitchFamily="49" charset="0"/>
              </a:rPr>
              <a:t>information</a:t>
            </a:r>
            <a:r>
              <a:rPr lang="sk-SK" sz="1100" dirty="0">
                <a:latin typeface="Consolas" panose="020B0609020204030204" pitchFamily="49" charset="0"/>
              </a:rPr>
              <a:t>), </a:t>
            </a:r>
            <a:r>
              <a:rPr lang="sk-SK" sz="1100" dirty="0" err="1">
                <a:latin typeface="Consolas" panose="020B0609020204030204" pitchFamily="49" charset="0"/>
              </a:rPr>
              <a:t>Sid:</a:t>
            </a:r>
            <a:r>
              <a:rPr lang="sk-SK" sz="1100" dirty="0" err="1">
                <a:solidFill>
                  <a:schemeClr val="bg1"/>
                </a:solidFill>
                <a:highlight>
                  <a:srgbClr val="0000FF"/>
                </a:highlight>
                <a:latin typeface="Consolas" panose="020B0609020204030204" pitchFamily="49" charset="0"/>
              </a:rPr>
              <a:t>fc00:ab00:1</a:t>
            </a:r>
            <a:r>
              <a:rPr lang="sk-SK" sz="1100" dirty="0">
                <a:solidFill>
                  <a:schemeClr val="bg1"/>
                </a:solidFill>
                <a:highlight>
                  <a:srgbClr val="0000FF"/>
                </a:highlight>
                <a:latin typeface="Consolas" panose="020B0609020204030204" pitchFamily="49" charset="0"/>
              </a:rPr>
              <a:t>::</a:t>
            </a:r>
            <a:r>
              <a:rPr lang="sk-SK" sz="1100" dirty="0">
                <a:latin typeface="Consolas" panose="020B0609020204030204" pitchFamily="49" charset="0"/>
              </a:rPr>
              <a:t>, F:0x00, R2:0x00, Behavior:63, R3:0x00, SS-TLV Count:1</a:t>
            </a:r>
          </a:p>
          <a:p>
            <a:r>
              <a:rPr lang="sk-SK" sz="1100" dirty="0">
                <a:latin typeface="Consolas" panose="020B0609020204030204" pitchFamily="49" charset="0"/>
              </a:rPr>
              <a:t>         </a:t>
            </a:r>
            <a:r>
              <a:rPr lang="sk-SK" sz="1100" dirty="0" err="1">
                <a:latin typeface="Consolas" panose="020B0609020204030204" pitchFamily="49" charset="0"/>
              </a:rPr>
              <a:t>SubSubTLV</a:t>
            </a:r>
            <a:r>
              <a:rPr lang="sk-SK" sz="1100" dirty="0">
                <a:latin typeface="Consolas" panose="020B0609020204030204" pitchFamily="49" charset="0"/>
              </a:rPr>
              <a:t>:</a:t>
            </a:r>
          </a:p>
          <a:p>
            <a:r>
              <a:rPr lang="sk-SK" sz="1100" dirty="0">
                <a:latin typeface="Consolas" panose="020B0609020204030204" pitchFamily="49" charset="0"/>
              </a:rPr>
              <a:t>          T:1(Sid </a:t>
            </a:r>
            <a:r>
              <a:rPr lang="sk-SK" sz="1100" dirty="0" err="1">
                <a:latin typeface="Consolas" panose="020B0609020204030204" pitchFamily="49" charset="0"/>
              </a:rPr>
              <a:t>structure</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Length</a:t>
            </a:r>
            <a:r>
              <a:rPr lang="sk-SK" sz="1100" dirty="0">
                <a:latin typeface="Consolas" panose="020B0609020204030204" pitchFamily="49" charset="0"/>
              </a:rPr>
              <a:t> [</a:t>
            </a:r>
            <a:r>
              <a:rPr lang="sk-SK" sz="1100" dirty="0" err="1">
                <a:latin typeface="Consolas" panose="020B0609020204030204" pitchFamily="49" charset="0"/>
              </a:rPr>
              <a:t>Loc-blk,Loc-node,Func,Arg</a:t>
            </a:r>
            <a:r>
              <a:rPr lang="sk-SK" sz="1100" dirty="0">
                <a:latin typeface="Consolas" panose="020B0609020204030204" pitchFamily="49" charset="0"/>
              </a:rPr>
              <a:t>]:[32,16,16,0], Tpose-len:16, Tpose-offset:48</a:t>
            </a:r>
          </a:p>
          <a:p>
            <a:r>
              <a:rPr lang="sk-SK" sz="1100" dirty="0">
                <a:latin typeface="Consolas" panose="020B0609020204030204" pitchFamily="49" charset="0"/>
              </a:rPr>
              <a:t>      </a:t>
            </a:r>
            <a:r>
              <a:rPr lang="sk-SK" sz="1100" dirty="0" err="1">
                <a:latin typeface="Consolas" panose="020B0609020204030204" pitchFamily="49" charset="0"/>
              </a:rPr>
              <a:t>Source</a:t>
            </a:r>
            <a:r>
              <a:rPr lang="sk-SK" sz="1100" dirty="0">
                <a:latin typeface="Consolas" panose="020B0609020204030204" pitchFamily="49" charset="0"/>
              </a:rPr>
              <a:t> AFI: VPNv4 </a:t>
            </a:r>
            <a:r>
              <a:rPr lang="sk-SK" sz="1100" dirty="0" err="1">
                <a:latin typeface="Consolas" panose="020B0609020204030204" pitchFamily="49" charset="0"/>
              </a:rPr>
              <a:t>Unicast</a:t>
            </a:r>
            <a:r>
              <a:rPr lang="sk-SK" sz="1100" dirty="0">
                <a:latin typeface="Consolas" panose="020B0609020204030204" pitchFamily="49" charset="0"/>
              </a:rPr>
              <a:t>, </a:t>
            </a:r>
            <a:r>
              <a:rPr lang="sk-SK" sz="1100" dirty="0" err="1">
                <a:latin typeface="Consolas" panose="020B0609020204030204" pitchFamily="49" charset="0"/>
              </a:rPr>
              <a:t>Source</a:t>
            </a:r>
            <a:r>
              <a:rPr lang="sk-SK" sz="1100" dirty="0">
                <a:latin typeface="Consolas" panose="020B0609020204030204" pitchFamily="49" charset="0"/>
              </a:rPr>
              <a:t> VRF: default, </a:t>
            </a:r>
            <a:r>
              <a:rPr lang="sk-SK" sz="1100" dirty="0" err="1">
                <a:latin typeface="Consolas" panose="020B0609020204030204" pitchFamily="49" charset="0"/>
              </a:rPr>
              <a:t>Source</a:t>
            </a:r>
            <a:r>
              <a:rPr lang="sk-SK" sz="1100" dirty="0">
                <a:latin typeface="Consolas" panose="020B0609020204030204" pitchFamily="49" charset="0"/>
              </a:rPr>
              <a:t> </a:t>
            </a:r>
            <a:r>
              <a:rPr lang="sk-SK" sz="1100" dirty="0" err="1">
                <a:latin typeface="Consolas" panose="020B0609020204030204" pitchFamily="49" charset="0"/>
              </a:rPr>
              <a:t>Route</a:t>
            </a:r>
            <a:r>
              <a:rPr lang="sk-SK" sz="1100" dirty="0">
                <a:latin typeface="Consolas" panose="020B0609020204030204" pitchFamily="49" charset="0"/>
              </a:rPr>
              <a:t> </a:t>
            </a:r>
            <a:r>
              <a:rPr lang="sk-SK" sz="1100" dirty="0" err="1">
                <a:latin typeface="Consolas" panose="020B0609020204030204" pitchFamily="49" charset="0"/>
              </a:rPr>
              <a:t>Distinguisher</a:t>
            </a:r>
            <a:r>
              <a:rPr lang="sk-SK" sz="1100" dirty="0">
                <a:latin typeface="Consolas" panose="020B0609020204030204" pitchFamily="49" charset="0"/>
              </a:rPr>
              <a:t>: 65000:1</a:t>
            </a:r>
          </a:p>
          <a:p>
            <a:r>
              <a:rPr lang="sk-SK" sz="1100" dirty="0">
                <a:latin typeface="Consolas" panose="020B0609020204030204" pitchFamily="49" charset="0"/>
              </a:rPr>
              <a:t>RP/0/RP0/CPU0:R02#</a:t>
            </a:r>
            <a:endParaRPr lang="en-US" sz="1100" dirty="0">
              <a:solidFill>
                <a:srgbClr val="FF0000"/>
              </a:solidFill>
              <a:latin typeface="Consolas" panose="020B0609020204030204" pitchFamily="49" charset="0"/>
            </a:endParaRPr>
          </a:p>
        </p:txBody>
      </p:sp>
      <p:sp>
        <p:nvSpPr>
          <p:cNvPr id="2" name="Rectangle 1">
            <a:extLst>
              <a:ext uri="{FF2B5EF4-FFF2-40B4-BE49-F238E27FC236}">
                <a16:creationId xmlns:a16="http://schemas.microsoft.com/office/drawing/2014/main" id="{DFAA9F38-5D85-A11C-5990-66F981A3EFA7}"/>
              </a:ext>
            </a:extLst>
          </p:cNvPr>
          <p:cNvSpPr/>
          <p:nvPr/>
        </p:nvSpPr>
        <p:spPr>
          <a:xfrm>
            <a:off x="5809152" y="827967"/>
            <a:ext cx="6308036" cy="5847755"/>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RP/0/RP0/CPU0:R02#sh mpls </a:t>
            </a:r>
            <a:r>
              <a:rPr lang="sk-SK" sz="1100" dirty="0" err="1">
                <a:latin typeface="Consolas" panose="020B0609020204030204" pitchFamily="49" charset="0"/>
              </a:rPr>
              <a:t>forwarding</a:t>
            </a:r>
            <a:r>
              <a:rPr lang="sk-SK" sz="1100" dirty="0">
                <a:latin typeface="Consolas" panose="020B0609020204030204" pitchFamily="49" charset="0"/>
              </a:rPr>
              <a:t> </a:t>
            </a:r>
          </a:p>
          <a:p>
            <a:r>
              <a:rPr lang="sk-SK" sz="1100" dirty="0" err="1">
                <a:latin typeface="Consolas" panose="020B0609020204030204" pitchFamily="49" charset="0"/>
              </a:rPr>
              <a:t>Local</a:t>
            </a:r>
            <a:r>
              <a:rPr lang="sk-SK" sz="1100" dirty="0">
                <a:latin typeface="Consolas" panose="020B0609020204030204" pitchFamily="49" charset="0"/>
              </a:rPr>
              <a:t>  </a:t>
            </a:r>
            <a:r>
              <a:rPr lang="sk-SK" sz="1100" dirty="0" err="1">
                <a:latin typeface="Consolas" panose="020B0609020204030204" pitchFamily="49" charset="0"/>
              </a:rPr>
              <a:t>Outgoing</a:t>
            </a:r>
            <a:r>
              <a:rPr lang="sk-SK" sz="1100" dirty="0">
                <a:latin typeface="Consolas" panose="020B0609020204030204" pitchFamily="49" charset="0"/>
              </a:rPr>
              <a:t>    Prefix             </a:t>
            </a:r>
            <a:r>
              <a:rPr lang="sk-SK" sz="1100" dirty="0" err="1">
                <a:latin typeface="Consolas" panose="020B0609020204030204" pitchFamily="49" charset="0"/>
              </a:rPr>
              <a:t>Outgoing</a:t>
            </a:r>
            <a:r>
              <a:rPr lang="sk-SK" sz="1100" dirty="0">
                <a:latin typeface="Consolas" panose="020B0609020204030204" pitchFamily="49" charset="0"/>
              </a:rPr>
              <a:t>     </a:t>
            </a:r>
            <a:r>
              <a:rPr lang="sk-SK" sz="1100" dirty="0" err="1">
                <a:latin typeface="Consolas" panose="020B0609020204030204" pitchFamily="49" charset="0"/>
              </a:rPr>
              <a:t>Next</a:t>
            </a:r>
            <a:r>
              <a:rPr lang="sk-SK" sz="1100" dirty="0">
                <a:latin typeface="Consolas" panose="020B0609020204030204" pitchFamily="49" charset="0"/>
              </a:rPr>
              <a:t> Hop        </a:t>
            </a:r>
            <a:r>
              <a:rPr lang="sk-SK" sz="1100" dirty="0" err="1">
                <a:latin typeface="Consolas" panose="020B0609020204030204" pitchFamily="49" charset="0"/>
              </a:rPr>
              <a:t>Bytes</a:t>
            </a:r>
            <a:r>
              <a:rPr lang="sk-SK" sz="1100" dirty="0">
                <a:latin typeface="Consolas" panose="020B0609020204030204" pitchFamily="49" charset="0"/>
              </a:rPr>
              <a:t>       </a:t>
            </a:r>
          </a:p>
          <a:p>
            <a:r>
              <a:rPr lang="sk-SK" sz="1100" dirty="0" err="1">
                <a:latin typeface="Consolas" panose="020B0609020204030204" pitchFamily="49" charset="0"/>
              </a:rPr>
              <a:t>Label</a:t>
            </a:r>
            <a:r>
              <a:rPr lang="sk-SK" sz="1100" dirty="0">
                <a:latin typeface="Consolas" panose="020B0609020204030204" pitchFamily="49" charset="0"/>
              </a:rPr>
              <a:t>  </a:t>
            </a:r>
            <a:r>
              <a:rPr lang="sk-SK" sz="1100" dirty="0" err="1">
                <a:latin typeface="Consolas" panose="020B0609020204030204" pitchFamily="49" charset="0"/>
              </a:rPr>
              <a:t>Label</a:t>
            </a:r>
            <a:r>
              <a:rPr lang="sk-SK" sz="1100" dirty="0">
                <a:latin typeface="Consolas" panose="020B0609020204030204" pitchFamily="49" charset="0"/>
              </a:rPr>
              <a:t>       or ID              Interface                    </a:t>
            </a:r>
            <a:r>
              <a:rPr lang="sk-SK" sz="1100" dirty="0" err="1">
                <a:latin typeface="Consolas" panose="020B0609020204030204" pitchFamily="49" charset="0"/>
              </a:rPr>
              <a:t>Switched</a:t>
            </a:r>
            <a:r>
              <a:rPr lang="sk-SK" sz="1100" dirty="0">
                <a:latin typeface="Consolas" panose="020B0609020204030204" pitchFamily="49" charset="0"/>
              </a:rPr>
              <a:t>    </a:t>
            </a:r>
          </a:p>
          <a:p>
            <a:r>
              <a:rPr lang="sk-SK" sz="1100" dirty="0">
                <a:latin typeface="Consolas" panose="020B0609020204030204" pitchFamily="49" charset="0"/>
              </a:rPr>
              <a:t>------ ----------- ------------------ ------------ --------------- ------------</a:t>
            </a:r>
          </a:p>
          <a:p>
            <a:r>
              <a:rPr lang="sk-SK" sz="1100" dirty="0">
                <a:latin typeface="Consolas" panose="020B0609020204030204" pitchFamily="49" charset="0"/>
              </a:rPr>
              <a:t>24000  Pop         1.1.1.3/32         Gi0/0/0/2    64.2.3.3        6998465     </a:t>
            </a:r>
          </a:p>
          <a:p>
            <a:r>
              <a:rPr lang="sk-SK" sz="1100" dirty="0">
                <a:latin typeface="Consolas" panose="020B0609020204030204" pitchFamily="49" charset="0"/>
              </a:rPr>
              <a:t>24001  Pop         1.1.1.4/32         Gi0/0/0/4    64.2.4.4        1830684     </a:t>
            </a:r>
          </a:p>
          <a:p>
            <a:r>
              <a:rPr lang="sk-SK" sz="1100" dirty="0">
                <a:latin typeface="Consolas" panose="020B0609020204030204" pitchFamily="49" charset="0"/>
              </a:rPr>
              <a:t>24002  Pop         1.1.1.1/32         Gi0/0/0/0    64.1.2.1        4781829     </a:t>
            </a:r>
          </a:p>
          <a:p>
            <a:r>
              <a:rPr lang="sk-SK" sz="1100" dirty="0">
                <a:latin typeface="Consolas" panose="020B0609020204030204" pitchFamily="49" charset="0"/>
              </a:rPr>
              <a:t>24003  24003       1.1.1.13/32        Gi0/0/0/2    64.2.3.3        553         </a:t>
            </a:r>
          </a:p>
          <a:p>
            <a:r>
              <a:rPr lang="sk-SK" sz="1100" dirty="0">
                <a:latin typeface="Consolas" panose="020B0609020204030204" pitchFamily="49" charset="0"/>
              </a:rPr>
              <a:t>       24004       1.1.1.13/32        Gi0/0/0/1    64.2.12.12      517         </a:t>
            </a:r>
          </a:p>
          <a:p>
            <a:r>
              <a:rPr lang="sk-SK" sz="1100" dirty="0">
                <a:latin typeface="Consolas" panose="020B0609020204030204" pitchFamily="49" charset="0"/>
              </a:rPr>
              <a:t>24004  24006       1.1.1.22/32        Gi0/0/0/1    64.2.12.12      561         </a:t>
            </a:r>
          </a:p>
          <a:p>
            <a:r>
              <a:rPr lang="sk-SK" sz="1100" dirty="0">
                <a:latin typeface="Consolas" panose="020B0609020204030204" pitchFamily="49" charset="0"/>
              </a:rPr>
              <a:t>24005  24007       1.1.1.21/32        Gi0/0/0/1    64.2.12.12      1928832     </a:t>
            </a:r>
          </a:p>
          <a:p>
            <a:r>
              <a:rPr lang="sk-SK" sz="1100" dirty="0">
                <a:latin typeface="Consolas" panose="020B0609020204030204" pitchFamily="49" charset="0"/>
              </a:rPr>
              <a:t>24006  24013       1.1.1.23/32        Gi0/0/0/4    64.2.4.4        0           </a:t>
            </a:r>
          </a:p>
          <a:p>
            <a:r>
              <a:rPr lang="sk-SK" sz="1100" dirty="0">
                <a:latin typeface="Consolas" panose="020B0609020204030204" pitchFamily="49" charset="0"/>
              </a:rPr>
              <a:t>24007  Pop         1.1.1.12/32        Gi0/0/0/1    64.2.12.12      2192862     </a:t>
            </a:r>
          </a:p>
          <a:p>
            <a:r>
              <a:rPr lang="sk-SK" sz="1100" dirty="0">
                <a:latin typeface="Consolas" panose="020B0609020204030204" pitchFamily="49" charset="0"/>
              </a:rPr>
              <a:t>24008  Pop         1.1.1.32/32        Gi0/0/0/3    64.2.32.32      17032       </a:t>
            </a:r>
          </a:p>
          <a:p>
            <a:r>
              <a:rPr lang="sk-SK" sz="1100" dirty="0">
                <a:latin typeface="Consolas" panose="020B0609020204030204" pitchFamily="49" charset="0"/>
              </a:rPr>
              <a:t>24009  25          1.1.1.31/32        Gi0/0/0/3    64.2.32.32      16052       </a:t>
            </a:r>
          </a:p>
          <a:p>
            <a:r>
              <a:rPr lang="sk-SK" sz="1100" dirty="0">
                <a:highlight>
                  <a:srgbClr val="00FFFF"/>
                </a:highlight>
                <a:latin typeface="Consolas" panose="020B0609020204030204" pitchFamily="49" charset="0"/>
              </a:rPr>
              <a:t>24010  </a:t>
            </a:r>
            <a:r>
              <a:rPr lang="sk-SK" sz="1100" dirty="0" err="1">
                <a:highlight>
                  <a:srgbClr val="00FFFF"/>
                </a:highlight>
                <a:latin typeface="Consolas" panose="020B0609020204030204" pitchFamily="49" charset="0"/>
              </a:rPr>
              <a:t>Aggregate</a:t>
            </a:r>
            <a:r>
              <a:rPr lang="sk-SK" sz="1100" dirty="0">
                <a:highlight>
                  <a:srgbClr val="00FFFF"/>
                </a:highlight>
                <a:latin typeface="Consolas" panose="020B0609020204030204" pitchFamily="49" charset="0"/>
              </a:rPr>
              <a:t>   A-GW: Per-VRF </a:t>
            </a:r>
            <a:r>
              <a:rPr lang="sk-SK" sz="1100" dirty="0" err="1">
                <a:highlight>
                  <a:srgbClr val="00FFFF"/>
                </a:highlight>
                <a:latin typeface="Consolas" panose="020B0609020204030204" pitchFamily="49" charset="0"/>
              </a:rPr>
              <a:t>Aggr</a:t>
            </a:r>
            <a:r>
              <a:rPr lang="sk-SK" sz="1100" dirty="0">
                <a:highlight>
                  <a:srgbClr val="00FFFF"/>
                </a:highlight>
                <a:latin typeface="Consolas" panose="020B0609020204030204" pitchFamily="49" charset="0"/>
              </a:rPr>
              <a:t>[V]   \</a:t>
            </a:r>
          </a:p>
          <a:p>
            <a:r>
              <a:rPr lang="sk-SK" sz="1100" dirty="0">
                <a:highlight>
                  <a:srgbClr val="00FFFF"/>
                </a:highlight>
                <a:latin typeface="Consolas" panose="020B0609020204030204" pitchFamily="49" charset="0"/>
              </a:rPr>
              <a:t>                                      A-GW                         3634</a:t>
            </a:r>
            <a:r>
              <a:rPr lang="sk-SK" sz="1100" dirty="0">
                <a:highlight>
                  <a:srgbClr val="FFFF00"/>
                </a:highlight>
                <a:latin typeface="Consolas" panose="020B0609020204030204" pitchFamily="49" charset="0"/>
              </a:rPr>
              <a:t>        </a:t>
            </a:r>
            <a:endParaRPr lang="en-US" sz="1100" dirty="0">
              <a:latin typeface="Consolas" panose="020B0609020204030204" pitchFamily="49" charset="0"/>
            </a:endParaRPr>
          </a:p>
          <a:p>
            <a:r>
              <a:rPr lang="sk-SK" sz="1100" dirty="0">
                <a:latin typeface="Consolas" panose="020B0609020204030204" pitchFamily="49" charset="0"/>
              </a:rPr>
              <a:t>RP/0/RP0/CPU0:R02#show mpls </a:t>
            </a:r>
            <a:r>
              <a:rPr lang="sk-SK" sz="1100" dirty="0" err="1">
                <a:latin typeface="Consolas" panose="020B0609020204030204" pitchFamily="49" charset="0"/>
              </a:rPr>
              <a:t>label</a:t>
            </a:r>
            <a:r>
              <a:rPr lang="sk-SK" sz="1100" dirty="0">
                <a:latin typeface="Consolas" panose="020B0609020204030204" pitchFamily="49" charset="0"/>
              </a:rPr>
              <a:t> table vrf A</a:t>
            </a:r>
          </a:p>
          <a:p>
            <a:r>
              <a:rPr lang="sk-SK" sz="1100" dirty="0">
                <a:latin typeface="Consolas" panose="020B0609020204030204" pitchFamily="49" charset="0"/>
              </a:rPr>
              <a:t>RSI </a:t>
            </a:r>
            <a:r>
              <a:rPr lang="sk-SK" sz="1100" dirty="0" err="1">
                <a:latin typeface="Consolas" panose="020B0609020204030204" pitchFamily="49" charset="0"/>
              </a:rPr>
              <a:t>connected</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Vrf </a:t>
            </a:r>
            <a:r>
              <a:rPr lang="sk-SK" sz="1100" dirty="0" err="1">
                <a:latin typeface="Consolas" panose="020B0609020204030204" pitchFamily="49" charset="0"/>
              </a:rPr>
              <a:t>Name</a:t>
            </a:r>
            <a:r>
              <a:rPr lang="sk-SK" sz="1100" dirty="0">
                <a:latin typeface="Consolas" panose="020B0609020204030204" pitchFamily="49" charset="0"/>
              </a:rPr>
              <a:t>: </a:t>
            </a:r>
            <a:r>
              <a:rPr lang="sk-SK" sz="1100" dirty="0" err="1">
                <a:latin typeface="Consolas" panose="020B0609020204030204" pitchFamily="49" charset="0"/>
              </a:rPr>
              <a:t>Multiple</a:t>
            </a:r>
            <a:r>
              <a:rPr lang="sk-SK" sz="1100" dirty="0">
                <a:latin typeface="Consolas" panose="020B0609020204030204" pitchFamily="49" charset="0"/>
              </a:rPr>
              <a:t> </a:t>
            </a:r>
            <a:r>
              <a:rPr lang="sk-SK" sz="1100" dirty="0" err="1">
                <a:latin typeface="Consolas" panose="020B0609020204030204" pitchFamily="49" charset="0"/>
              </a:rPr>
              <a:t>VRFs</a:t>
            </a:r>
            <a:r>
              <a:rPr lang="sk-SK" sz="1100" dirty="0">
                <a:latin typeface="Consolas" panose="020B0609020204030204" pitchFamily="49" charset="0"/>
              </a:rPr>
              <a:t> </a:t>
            </a:r>
            <a:r>
              <a:rPr lang="sk-SK" sz="1100" dirty="0" err="1">
                <a:latin typeface="Consolas" panose="020B0609020204030204" pitchFamily="49" charset="0"/>
              </a:rPr>
              <a:t>Shown</a:t>
            </a:r>
            <a:endParaRPr lang="sk-SK" sz="1100" dirty="0">
              <a:latin typeface="Consolas" panose="020B0609020204030204" pitchFamily="49" charset="0"/>
            </a:endParaRPr>
          </a:p>
          <a:p>
            <a:r>
              <a:rPr lang="sk-SK" sz="1100" dirty="0">
                <a:latin typeface="Consolas" panose="020B0609020204030204" pitchFamily="49" charset="0"/>
              </a:rPr>
              <a:t>Table </a:t>
            </a:r>
            <a:r>
              <a:rPr lang="sk-SK" sz="1100" dirty="0" err="1">
                <a:latin typeface="Consolas" panose="020B0609020204030204" pitchFamily="49" charset="0"/>
              </a:rPr>
              <a:t>Label</a:t>
            </a:r>
            <a:r>
              <a:rPr lang="sk-SK" sz="1100" dirty="0">
                <a:latin typeface="Consolas" panose="020B0609020204030204" pitchFamily="49" charset="0"/>
              </a:rPr>
              <a:t>   </a:t>
            </a:r>
            <a:r>
              <a:rPr lang="sk-SK" sz="1100" dirty="0" err="1">
                <a:latin typeface="Consolas" panose="020B0609020204030204" pitchFamily="49" charset="0"/>
              </a:rPr>
              <a:t>Owner</a:t>
            </a:r>
            <a:r>
              <a:rPr lang="sk-SK" sz="1100" dirty="0">
                <a:latin typeface="Consolas" panose="020B0609020204030204" pitchFamily="49" charset="0"/>
              </a:rPr>
              <a:t>                           State  </a:t>
            </a:r>
            <a:r>
              <a:rPr lang="sk-SK" sz="1100" dirty="0" err="1">
                <a:latin typeface="Consolas" panose="020B0609020204030204" pitchFamily="49" charset="0"/>
              </a:rPr>
              <a:t>Rewrite</a:t>
            </a:r>
            <a:endParaRPr lang="sk-SK" sz="1100" dirty="0">
              <a:latin typeface="Consolas" panose="020B0609020204030204" pitchFamily="49" charset="0"/>
            </a:endParaRPr>
          </a:p>
          <a:p>
            <a:r>
              <a:rPr lang="sk-SK" sz="1100" dirty="0">
                <a:latin typeface="Consolas" panose="020B0609020204030204" pitchFamily="49" charset="0"/>
              </a:rPr>
              <a:t>----- ------- ------------------------------- ------ -------</a:t>
            </a:r>
          </a:p>
          <a:p>
            <a:r>
              <a:rPr lang="sk-SK" sz="1100" dirty="0">
                <a:latin typeface="Consolas" panose="020B0609020204030204" pitchFamily="49" charset="0"/>
              </a:rPr>
              <a:t>0     24000   LDP(A)                          </a:t>
            </a:r>
            <a:r>
              <a:rPr lang="sk-SK" sz="1100" dirty="0" err="1">
                <a:latin typeface="Consolas" panose="020B0609020204030204" pitchFamily="49" charset="0"/>
              </a:rPr>
              <a:t>InUse</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0     24001   LDP(A)                          </a:t>
            </a:r>
            <a:r>
              <a:rPr lang="sk-SK" sz="1100" dirty="0" err="1">
                <a:latin typeface="Consolas" panose="020B0609020204030204" pitchFamily="49" charset="0"/>
              </a:rPr>
              <a:t>InUse</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0     24002   LDP(A)                          </a:t>
            </a:r>
            <a:r>
              <a:rPr lang="sk-SK" sz="1100" dirty="0" err="1">
                <a:latin typeface="Consolas" panose="020B0609020204030204" pitchFamily="49" charset="0"/>
              </a:rPr>
              <a:t>InUse</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0     24003   LDP(A)                          </a:t>
            </a:r>
            <a:r>
              <a:rPr lang="sk-SK" sz="1100" dirty="0" err="1">
                <a:latin typeface="Consolas" panose="020B0609020204030204" pitchFamily="49" charset="0"/>
              </a:rPr>
              <a:t>InUse</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0     24004   LDP(A)                          </a:t>
            </a:r>
            <a:r>
              <a:rPr lang="sk-SK" sz="1100" dirty="0" err="1">
                <a:latin typeface="Consolas" panose="020B0609020204030204" pitchFamily="49" charset="0"/>
              </a:rPr>
              <a:t>InUse</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0     24005   LDP(A)                          </a:t>
            </a:r>
            <a:r>
              <a:rPr lang="sk-SK" sz="1100" dirty="0" err="1">
                <a:latin typeface="Consolas" panose="020B0609020204030204" pitchFamily="49" charset="0"/>
              </a:rPr>
              <a:t>InUse</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0     24006   LDP(A)                          </a:t>
            </a:r>
            <a:r>
              <a:rPr lang="sk-SK" sz="1100" dirty="0" err="1">
                <a:latin typeface="Consolas" panose="020B0609020204030204" pitchFamily="49" charset="0"/>
              </a:rPr>
              <a:t>InUse</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0     24007   LDP(A)                          </a:t>
            </a:r>
            <a:r>
              <a:rPr lang="sk-SK" sz="1100" dirty="0" err="1">
                <a:latin typeface="Consolas" panose="020B0609020204030204" pitchFamily="49" charset="0"/>
              </a:rPr>
              <a:t>InUse</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0     24008   LDP(A)                          </a:t>
            </a:r>
            <a:r>
              <a:rPr lang="sk-SK" sz="1100" dirty="0" err="1">
                <a:latin typeface="Consolas" panose="020B0609020204030204" pitchFamily="49" charset="0"/>
              </a:rPr>
              <a:t>InUse</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0     24009   LDP(A)                          </a:t>
            </a:r>
            <a:r>
              <a:rPr lang="sk-SK" sz="1100" dirty="0" err="1">
                <a:latin typeface="Consolas" panose="020B0609020204030204" pitchFamily="49" charset="0"/>
              </a:rPr>
              <a:t>InUse</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0     24010   BGP-VPNv4(A):bgp-default        </a:t>
            </a:r>
            <a:r>
              <a:rPr lang="sk-SK" sz="1100" dirty="0" err="1">
                <a:latin typeface="Consolas" panose="020B0609020204030204" pitchFamily="49" charset="0"/>
              </a:rPr>
              <a:t>InUse</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RP/0/RP0/CPU0:R02#</a:t>
            </a:r>
          </a:p>
        </p:txBody>
      </p:sp>
    </p:spTree>
    <p:extLst>
      <p:ext uri="{BB962C8B-B14F-4D97-AF65-F5344CB8AC3E}">
        <p14:creationId xmlns:p14="http://schemas.microsoft.com/office/powerpoint/2010/main" val="1250190845"/>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MPLS to SRv6 (CE31 -&gt; CE01)  #R02</a:t>
            </a:r>
          </a:p>
        </p:txBody>
      </p:sp>
      <p:sp>
        <p:nvSpPr>
          <p:cNvPr id="4" name="Rectangle 3">
            <a:extLst>
              <a:ext uri="{FF2B5EF4-FFF2-40B4-BE49-F238E27FC236}">
                <a16:creationId xmlns:a16="http://schemas.microsoft.com/office/drawing/2014/main" id="{87D7CB37-5BEE-FF8F-7602-60627856E0E8}"/>
              </a:ext>
            </a:extLst>
          </p:cNvPr>
          <p:cNvSpPr/>
          <p:nvPr/>
        </p:nvSpPr>
        <p:spPr>
          <a:xfrm>
            <a:off x="0" y="827967"/>
            <a:ext cx="5555974" cy="5001369"/>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RP/0/RP0/CPU0:R02#</a:t>
            </a:r>
            <a:r>
              <a:rPr lang="sk-SK" sz="1100" b="1" dirty="0">
                <a:latin typeface="Consolas" panose="020B0609020204030204" pitchFamily="49" charset="0"/>
              </a:rPr>
              <a:t>sh cef vrf A-GW 10.0.1.1</a:t>
            </a:r>
          </a:p>
          <a:p>
            <a:r>
              <a:rPr lang="sk-SK" sz="1100" dirty="0" err="1">
                <a:latin typeface="Consolas" panose="020B0609020204030204" pitchFamily="49" charset="0"/>
              </a:rPr>
              <a:t>Fri</a:t>
            </a:r>
            <a:r>
              <a:rPr lang="sk-SK" sz="1100" dirty="0">
                <a:latin typeface="Consolas" panose="020B0609020204030204" pitchFamily="49" charset="0"/>
              </a:rPr>
              <a:t> Nov  1 17:41:43.198 UTC</a:t>
            </a:r>
          </a:p>
          <a:p>
            <a:r>
              <a:rPr lang="sk-SK" sz="1100" dirty="0">
                <a:latin typeface="Consolas" panose="020B0609020204030204" pitchFamily="49" charset="0"/>
              </a:rPr>
              <a:t>10.0.1.0/24, </a:t>
            </a:r>
            <a:r>
              <a:rPr lang="sk-SK" sz="1100" dirty="0" err="1">
                <a:latin typeface="Consolas" panose="020B0609020204030204" pitchFamily="49" charset="0"/>
              </a:rPr>
              <a:t>version</a:t>
            </a:r>
            <a:r>
              <a:rPr lang="sk-SK" sz="1100" dirty="0">
                <a:latin typeface="Consolas" panose="020B0609020204030204" pitchFamily="49" charset="0"/>
              </a:rPr>
              <a:t> 14, SRv6 </a:t>
            </a:r>
            <a:r>
              <a:rPr lang="sk-SK" sz="1100" dirty="0" err="1">
                <a:latin typeface="Consolas" panose="020B0609020204030204" pitchFamily="49" charset="0"/>
              </a:rPr>
              <a:t>Headend</a:t>
            </a:r>
            <a:r>
              <a:rPr lang="sk-SK" sz="1100" dirty="0">
                <a:latin typeface="Consolas" panose="020B0609020204030204" pitchFamily="49" charset="0"/>
              </a:rPr>
              <a:t>, </a:t>
            </a:r>
            <a:r>
              <a:rPr lang="sk-SK" sz="1100" dirty="0" err="1">
                <a:latin typeface="Consolas" panose="020B0609020204030204" pitchFamily="49" charset="0"/>
              </a:rPr>
              <a:t>internal</a:t>
            </a:r>
            <a:r>
              <a:rPr lang="sk-SK" sz="1100" dirty="0">
                <a:latin typeface="Consolas" panose="020B0609020204030204" pitchFamily="49" charset="0"/>
              </a:rPr>
              <a:t> 0x1000001 0x30 (</a:t>
            </a:r>
            <a:r>
              <a:rPr lang="sk-SK" sz="1100" dirty="0" err="1">
                <a:latin typeface="Consolas" panose="020B0609020204030204" pitchFamily="49" charset="0"/>
              </a:rPr>
              <a:t>ptr</a:t>
            </a:r>
            <a:r>
              <a:rPr lang="sk-SK" sz="1100" dirty="0">
                <a:latin typeface="Consolas" panose="020B0609020204030204" pitchFamily="49" charset="0"/>
              </a:rPr>
              <a:t> 0xe7dcdb0) [1], 0x400 (0xe158de8), 0x0 (0xfcb57d8)</a:t>
            </a:r>
          </a:p>
          <a:p>
            <a:r>
              <a:rPr lang="sk-SK" sz="1100" dirty="0">
                <a:latin typeface="Consolas" panose="020B0609020204030204" pitchFamily="49" charset="0"/>
              </a:rPr>
              <a:t> </a:t>
            </a:r>
            <a:r>
              <a:rPr lang="sk-SK" sz="1100" dirty="0" err="1">
                <a:latin typeface="Consolas" panose="020B0609020204030204" pitchFamily="49" charset="0"/>
              </a:rPr>
              <a:t>Updated</a:t>
            </a:r>
            <a:r>
              <a:rPr lang="sk-SK" sz="1100" dirty="0">
                <a:latin typeface="Consolas" panose="020B0609020204030204" pitchFamily="49" charset="0"/>
              </a:rPr>
              <a:t> Nov  1 15:30:55.907</a:t>
            </a:r>
          </a:p>
          <a:p>
            <a:r>
              <a:rPr lang="sk-SK" sz="1100" dirty="0">
                <a:latin typeface="Consolas" panose="020B0609020204030204" pitchFamily="49" charset="0"/>
              </a:rPr>
              <a:t> Prefix Len 24, </a:t>
            </a:r>
            <a:r>
              <a:rPr lang="sk-SK" sz="1100" dirty="0" err="1">
                <a:latin typeface="Consolas" panose="020B0609020204030204" pitchFamily="49" charset="0"/>
              </a:rPr>
              <a:t>traffic</a:t>
            </a:r>
            <a:r>
              <a:rPr lang="sk-SK" sz="1100" dirty="0">
                <a:latin typeface="Consolas" panose="020B0609020204030204" pitchFamily="49" charset="0"/>
              </a:rPr>
              <a:t> index 0, </a:t>
            </a:r>
            <a:r>
              <a:rPr lang="sk-SK" sz="1100" dirty="0" err="1">
                <a:latin typeface="Consolas" panose="020B0609020204030204" pitchFamily="49" charset="0"/>
              </a:rPr>
              <a:t>precedence</a:t>
            </a:r>
            <a:r>
              <a:rPr lang="sk-SK" sz="1100" dirty="0">
                <a:latin typeface="Consolas" panose="020B0609020204030204" pitchFamily="49" charset="0"/>
              </a:rPr>
              <a:t> n/a, priority 3</a:t>
            </a:r>
          </a:p>
          <a:p>
            <a:r>
              <a:rPr lang="sk-SK" sz="1100" dirty="0">
                <a:latin typeface="Consolas" panose="020B0609020204030204" pitchFamily="49" charset="0"/>
              </a:rPr>
              <a:t>  </a:t>
            </a:r>
            <a:r>
              <a:rPr lang="sk-SK" sz="1100" dirty="0" err="1">
                <a:latin typeface="Consolas" panose="020B0609020204030204" pitchFamily="49" charset="0"/>
              </a:rPr>
              <a:t>gateway</a:t>
            </a:r>
            <a:r>
              <a:rPr lang="sk-SK" sz="1100" dirty="0">
                <a:latin typeface="Consolas" panose="020B0609020204030204" pitchFamily="49" charset="0"/>
              </a:rPr>
              <a:t> </a:t>
            </a:r>
            <a:r>
              <a:rPr lang="sk-SK" sz="1100" dirty="0" err="1">
                <a:latin typeface="Consolas" panose="020B0609020204030204" pitchFamily="49" charset="0"/>
              </a:rPr>
              <a:t>array</a:t>
            </a:r>
            <a:r>
              <a:rPr lang="sk-SK" sz="1100" dirty="0">
                <a:latin typeface="Consolas" panose="020B0609020204030204" pitchFamily="49" charset="0"/>
              </a:rPr>
              <a:t> (0x1038b278) </a:t>
            </a:r>
            <a:r>
              <a:rPr lang="sk-SK" sz="1100" dirty="0" err="1">
                <a:latin typeface="Consolas" panose="020B0609020204030204" pitchFamily="49" charset="0"/>
              </a:rPr>
              <a:t>reference</a:t>
            </a:r>
            <a:r>
              <a:rPr lang="sk-SK" sz="1100" dirty="0">
                <a:latin typeface="Consolas" panose="020B0609020204030204" pitchFamily="49" charset="0"/>
              </a:rPr>
              <a:t> </a:t>
            </a:r>
            <a:r>
              <a:rPr lang="sk-SK" sz="1100" dirty="0" err="1">
                <a:latin typeface="Consolas" panose="020B0609020204030204" pitchFamily="49" charset="0"/>
              </a:rPr>
              <a:t>count</a:t>
            </a:r>
            <a:r>
              <a:rPr lang="sk-SK" sz="1100" dirty="0">
                <a:latin typeface="Consolas" panose="020B0609020204030204" pitchFamily="49" charset="0"/>
              </a:rPr>
              <a:t> 4, </a:t>
            </a:r>
            <a:r>
              <a:rPr lang="sk-SK" sz="1100" dirty="0" err="1">
                <a:latin typeface="Consolas" panose="020B0609020204030204" pitchFamily="49" charset="0"/>
              </a:rPr>
              <a:t>flags</a:t>
            </a:r>
            <a:r>
              <a:rPr lang="sk-SK" sz="1100" dirty="0">
                <a:latin typeface="Consolas" panose="020B0609020204030204" pitchFamily="49" charset="0"/>
              </a:rPr>
              <a:t> 0x10, </a:t>
            </a:r>
            <a:r>
              <a:rPr lang="sk-SK" sz="1100" dirty="0" err="1">
                <a:latin typeface="Consolas" panose="020B0609020204030204" pitchFamily="49" charset="0"/>
              </a:rPr>
              <a:t>source</a:t>
            </a:r>
            <a:r>
              <a:rPr lang="sk-SK" sz="1100" dirty="0">
                <a:latin typeface="Consolas" panose="020B0609020204030204" pitchFamily="49" charset="0"/>
              </a:rPr>
              <a:t> </a:t>
            </a:r>
            <a:r>
              <a:rPr lang="sk-SK" sz="1100" dirty="0" err="1">
                <a:latin typeface="Consolas" panose="020B0609020204030204" pitchFamily="49" charset="0"/>
              </a:rPr>
              <a:t>rib</a:t>
            </a:r>
            <a:r>
              <a:rPr lang="sk-SK" sz="1100" dirty="0">
                <a:latin typeface="Consolas" panose="020B0609020204030204" pitchFamily="49" charset="0"/>
              </a:rPr>
              <a:t> (7), 0 </a:t>
            </a:r>
            <a:r>
              <a:rPr lang="sk-SK" sz="1100" dirty="0" err="1">
                <a:latin typeface="Consolas" panose="020B0609020204030204" pitchFamily="49" charset="0"/>
              </a:rPr>
              <a:t>backups</a:t>
            </a:r>
            <a:endParaRPr lang="sk-SK" sz="1100" dirty="0">
              <a:latin typeface="Consolas" panose="020B0609020204030204" pitchFamily="49" charset="0"/>
            </a:endParaRPr>
          </a:p>
          <a:p>
            <a:r>
              <a:rPr lang="sk-SK" sz="1100" dirty="0">
                <a:latin typeface="Consolas" panose="020B0609020204030204" pitchFamily="49" charset="0"/>
              </a:rPr>
              <a:t>                [5 type 3 </a:t>
            </a:r>
            <a:r>
              <a:rPr lang="sk-SK" sz="1100" dirty="0" err="1">
                <a:latin typeface="Consolas" panose="020B0609020204030204" pitchFamily="49" charset="0"/>
              </a:rPr>
              <a:t>flags</a:t>
            </a:r>
            <a:r>
              <a:rPr lang="sk-SK" sz="1100" dirty="0">
                <a:latin typeface="Consolas" panose="020B0609020204030204" pitchFamily="49" charset="0"/>
              </a:rPr>
              <a:t> 0x8441 (0xe071548) </a:t>
            </a:r>
            <a:r>
              <a:rPr lang="sk-SK" sz="1100" dirty="0" err="1">
                <a:latin typeface="Consolas" panose="020B0609020204030204" pitchFamily="49" charset="0"/>
              </a:rPr>
              <a:t>ext</a:t>
            </a:r>
            <a:r>
              <a:rPr lang="sk-SK" sz="1100" dirty="0">
                <a:latin typeface="Consolas" panose="020B0609020204030204" pitchFamily="49" charset="0"/>
              </a:rPr>
              <a:t> 0x0 (0x0)]</a:t>
            </a:r>
          </a:p>
          <a:p>
            <a:r>
              <a:rPr lang="sk-SK" sz="1100" dirty="0">
                <a:latin typeface="Consolas" panose="020B0609020204030204" pitchFamily="49" charset="0"/>
              </a:rPr>
              <a:t>  LW-LDI[type=3, </a:t>
            </a:r>
            <a:r>
              <a:rPr lang="sk-SK" sz="1100" dirty="0" err="1">
                <a:latin typeface="Consolas" panose="020B0609020204030204" pitchFamily="49" charset="0"/>
              </a:rPr>
              <a:t>refc</a:t>
            </a:r>
            <a:r>
              <a:rPr lang="sk-SK" sz="1100" dirty="0">
                <a:latin typeface="Consolas" panose="020B0609020204030204" pitchFamily="49" charset="0"/>
              </a:rPr>
              <a:t>=1, </a:t>
            </a:r>
            <a:r>
              <a:rPr lang="sk-SK" sz="1100" dirty="0" err="1">
                <a:latin typeface="Consolas" panose="020B0609020204030204" pitchFamily="49" charset="0"/>
              </a:rPr>
              <a:t>ptr</a:t>
            </a:r>
            <a:r>
              <a:rPr lang="sk-SK" sz="1100" dirty="0">
                <a:latin typeface="Consolas" panose="020B0609020204030204" pitchFamily="49" charset="0"/>
              </a:rPr>
              <a:t>=0xe158de8, sh-</a:t>
            </a:r>
            <a:r>
              <a:rPr lang="sk-SK" sz="1100" dirty="0" err="1">
                <a:latin typeface="Consolas" panose="020B0609020204030204" pitchFamily="49" charset="0"/>
              </a:rPr>
              <a:t>ldi</a:t>
            </a:r>
            <a:r>
              <a:rPr lang="sk-SK" sz="1100" dirty="0">
                <a:latin typeface="Consolas" panose="020B0609020204030204" pitchFamily="49" charset="0"/>
              </a:rPr>
              <a:t>=0xe071548]</a:t>
            </a:r>
          </a:p>
          <a:p>
            <a:r>
              <a:rPr lang="sk-SK" sz="1100" dirty="0">
                <a:latin typeface="Consolas" panose="020B0609020204030204" pitchFamily="49" charset="0"/>
              </a:rPr>
              <a:t>  </a:t>
            </a:r>
            <a:r>
              <a:rPr lang="sk-SK" sz="1100" dirty="0" err="1">
                <a:latin typeface="Consolas" panose="020B0609020204030204" pitchFamily="49" charset="0"/>
              </a:rPr>
              <a:t>gateway</a:t>
            </a:r>
            <a:r>
              <a:rPr lang="sk-SK" sz="1100" dirty="0">
                <a:latin typeface="Consolas" panose="020B0609020204030204" pitchFamily="49" charset="0"/>
              </a:rPr>
              <a:t> </a:t>
            </a:r>
            <a:r>
              <a:rPr lang="sk-SK" sz="1100" dirty="0" err="1">
                <a:latin typeface="Consolas" panose="020B0609020204030204" pitchFamily="49" charset="0"/>
              </a:rPr>
              <a:t>array</a:t>
            </a:r>
            <a:r>
              <a:rPr lang="sk-SK" sz="1100" dirty="0">
                <a:latin typeface="Consolas" panose="020B0609020204030204" pitchFamily="49" charset="0"/>
              </a:rPr>
              <a:t> update type-</a:t>
            </a:r>
            <a:r>
              <a:rPr lang="sk-SK" sz="1100" dirty="0" err="1">
                <a:latin typeface="Consolas" panose="020B0609020204030204" pitchFamily="49" charset="0"/>
              </a:rPr>
              <a:t>time</a:t>
            </a:r>
            <a:r>
              <a:rPr lang="sk-SK" sz="1100" dirty="0">
                <a:latin typeface="Consolas" panose="020B0609020204030204" pitchFamily="49" charset="0"/>
              </a:rPr>
              <a:t> 1 Nov  1 15:30:55.710</a:t>
            </a:r>
          </a:p>
          <a:p>
            <a:r>
              <a:rPr lang="sk-SK" sz="1100" dirty="0">
                <a:latin typeface="Consolas" panose="020B0609020204030204" pitchFamily="49" charset="0"/>
              </a:rPr>
              <a:t> LDI Update </a:t>
            </a:r>
            <a:r>
              <a:rPr lang="sk-SK" sz="1100" dirty="0" err="1">
                <a:latin typeface="Consolas" panose="020B0609020204030204" pitchFamily="49" charset="0"/>
              </a:rPr>
              <a:t>time</a:t>
            </a:r>
            <a:r>
              <a:rPr lang="sk-SK" sz="1100" dirty="0">
                <a:latin typeface="Consolas" panose="020B0609020204030204" pitchFamily="49" charset="0"/>
              </a:rPr>
              <a:t> Nov  1 15:30:55.710</a:t>
            </a:r>
          </a:p>
          <a:p>
            <a:r>
              <a:rPr lang="sk-SK" sz="1100" dirty="0">
                <a:latin typeface="Consolas" panose="020B0609020204030204" pitchFamily="49" charset="0"/>
              </a:rPr>
              <a:t> LW-LDI-TS Nov  1 15:30:55.907</a:t>
            </a:r>
          </a:p>
          <a:p>
            <a:endParaRPr lang="sk-SK" sz="1100" dirty="0">
              <a:latin typeface="Consolas" panose="020B0609020204030204" pitchFamily="49" charset="0"/>
            </a:endParaRPr>
          </a:p>
          <a:p>
            <a:r>
              <a:rPr lang="sk-SK" sz="1100" dirty="0">
                <a:latin typeface="Consolas" panose="020B0609020204030204" pitchFamily="49" charset="0"/>
              </a:rPr>
              <a:t>  Level 1 - </a:t>
            </a:r>
            <a:r>
              <a:rPr lang="sk-SK" sz="1100" dirty="0" err="1">
                <a:latin typeface="Consolas" panose="020B0609020204030204" pitchFamily="49" charset="0"/>
              </a:rPr>
              <a:t>Load</a:t>
            </a:r>
            <a:r>
              <a:rPr lang="sk-SK" sz="1100" dirty="0">
                <a:latin typeface="Consolas" panose="020B0609020204030204" pitchFamily="49" charset="0"/>
              </a:rPr>
              <a:t> </a:t>
            </a:r>
            <a:r>
              <a:rPr lang="sk-SK" sz="1100" dirty="0" err="1">
                <a:latin typeface="Consolas" panose="020B0609020204030204" pitchFamily="49" charset="0"/>
              </a:rPr>
              <a:t>distribution</a:t>
            </a:r>
            <a:r>
              <a:rPr lang="sk-SK" sz="1100" dirty="0">
                <a:latin typeface="Consolas" panose="020B0609020204030204" pitchFamily="49" charset="0"/>
              </a:rPr>
              <a:t>: 0</a:t>
            </a:r>
          </a:p>
          <a:p>
            <a:r>
              <a:rPr lang="sk-SK" sz="1100" dirty="0">
                <a:latin typeface="Consolas" panose="020B0609020204030204" pitchFamily="49" charset="0"/>
              </a:rPr>
              <a:t>  [0] </a:t>
            </a:r>
            <a:r>
              <a:rPr lang="sk-SK" sz="1100" dirty="0" err="1">
                <a:latin typeface="Consolas" panose="020B0609020204030204" pitchFamily="49" charset="0"/>
              </a:rPr>
              <a:t>via</a:t>
            </a:r>
            <a:r>
              <a:rPr lang="sk-SK" sz="1100" dirty="0">
                <a:latin typeface="Consolas" panose="020B0609020204030204" pitchFamily="49" charset="0"/>
              </a:rPr>
              <a:t> fc00:ab00:1::/128, </a:t>
            </a:r>
            <a:r>
              <a:rPr lang="sk-SK" sz="1100" dirty="0" err="1">
                <a:latin typeface="Consolas" panose="020B0609020204030204" pitchFamily="49" charset="0"/>
              </a:rPr>
              <a:t>recursive</a:t>
            </a:r>
            <a:endParaRPr lang="sk-SK" sz="1100" dirty="0">
              <a:latin typeface="Consolas" panose="020B0609020204030204" pitchFamily="49" charset="0"/>
            </a:endParaRPr>
          </a:p>
          <a:p>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via</a:t>
            </a:r>
            <a:r>
              <a:rPr lang="sk-SK" sz="1100" dirty="0">
                <a:latin typeface="Consolas" panose="020B0609020204030204" pitchFamily="49" charset="0"/>
              </a:rPr>
              <a:t> fc00:ab00:1::/128, 3 </a:t>
            </a:r>
            <a:r>
              <a:rPr lang="sk-SK" sz="1100" dirty="0" err="1">
                <a:latin typeface="Consolas" panose="020B0609020204030204" pitchFamily="49" charset="0"/>
              </a:rPr>
              <a:t>dependencies</a:t>
            </a:r>
            <a:r>
              <a:rPr lang="sk-SK" sz="1100" dirty="0">
                <a:latin typeface="Consolas" panose="020B0609020204030204" pitchFamily="49" charset="0"/>
              </a:rPr>
              <a:t>, </a:t>
            </a:r>
            <a:r>
              <a:rPr lang="sk-SK" sz="1100" dirty="0" err="1">
                <a:latin typeface="Consolas" panose="020B0609020204030204" pitchFamily="49" charset="0"/>
              </a:rPr>
              <a:t>recursive</a:t>
            </a:r>
            <a:r>
              <a:rPr lang="sk-SK" sz="1100" dirty="0">
                <a:latin typeface="Consolas" panose="020B0609020204030204" pitchFamily="49" charset="0"/>
              </a:rPr>
              <a:t> [</a:t>
            </a:r>
            <a:r>
              <a:rPr lang="sk-SK" sz="1100" dirty="0" err="1">
                <a:latin typeface="Consolas" panose="020B0609020204030204" pitchFamily="49" charset="0"/>
              </a:rPr>
              <a:t>flags</a:t>
            </a:r>
            <a:r>
              <a:rPr lang="sk-SK" sz="1100" dirty="0">
                <a:latin typeface="Consolas" panose="020B0609020204030204" pitchFamily="49" charset="0"/>
              </a:rPr>
              <a:t> 0x6000]</a:t>
            </a:r>
          </a:p>
          <a:p>
            <a:r>
              <a:rPr lang="sk-SK" sz="1100" dirty="0">
                <a:latin typeface="Consolas" panose="020B0609020204030204" pitchFamily="49" charset="0"/>
              </a:rPr>
              <a:t>    </a:t>
            </a:r>
            <a:r>
              <a:rPr lang="sk-SK" sz="1100" dirty="0" err="1">
                <a:latin typeface="Consolas" panose="020B0609020204030204" pitchFamily="49" charset="0"/>
              </a:rPr>
              <a:t>path-idx</a:t>
            </a:r>
            <a:r>
              <a:rPr lang="sk-SK" sz="1100" dirty="0">
                <a:latin typeface="Consolas" panose="020B0609020204030204" pitchFamily="49" charset="0"/>
              </a:rPr>
              <a:t> 0 NHID 0x0 [0xe764d30 0x0]</a:t>
            </a:r>
          </a:p>
          <a:p>
            <a:r>
              <a:rPr lang="sk-SK" sz="1100" dirty="0">
                <a:latin typeface="Consolas" panose="020B0609020204030204" pitchFamily="49" charset="0"/>
              </a:rPr>
              <a:t>    </a:t>
            </a:r>
            <a:r>
              <a:rPr lang="sk-SK" sz="1100" dirty="0" err="1">
                <a:latin typeface="Consolas" panose="020B0609020204030204" pitchFamily="49" charset="0"/>
              </a:rPr>
              <a:t>next</a:t>
            </a:r>
            <a:r>
              <a:rPr lang="sk-SK" sz="1100" dirty="0">
                <a:latin typeface="Consolas" panose="020B0609020204030204" pitchFamily="49" charset="0"/>
              </a:rPr>
              <a:t> hop VRF - 'default', table - 0xe0800000</a:t>
            </a:r>
          </a:p>
          <a:p>
            <a:r>
              <a:rPr lang="sk-SK" sz="1100" dirty="0">
                <a:latin typeface="Consolas" panose="020B0609020204030204" pitchFamily="49" charset="0"/>
              </a:rPr>
              <a:t>    </a:t>
            </a:r>
            <a:r>
              <a:rPr lang="sk-SK" sz="1100" dirty="0" err="1">
                <a:latin typeface="Consolas" panose="020B0609020204030204" pitchFamily="49" charset="0"/>
              </a:rPr>
              <a:t>next</a:t>
            </a:r>
            <a:r>
              <a:rPr lang="sk-SK" sz="1100" dirty="0">
                <a:latin typeface="Consolas" panose="020B0609020204030204" pitchFamily="49" charset="0"/>
              </a:rPr>
              <a:t> hop fc00:ab00:1::/128 </a:t>
            </a:r>
            <a:r>
              <a:rPr lang="sk-SK" sz="1100" dirty="0" err="1">
                <a:latin typeface="Consolas" panose="020B0609020204030204" pitchFamily="49" charset="0"/>
              </a:rPr>
              <a:t>via</a:t>
            </a:r>
            <a:r>
              <a:rPr lang="sk-SK" sz="1100" dirty="0">
                <a:latin typeface="Consolas" panose="020B0609020204030204" pitchFamily="49" charset="0"/>
              </a:rPr>
              <a:t> fc00:ab00:1::/48</a:t>
            </a:r>
          </a:p>
          <a:p>
            <a:r>
              <a:rPr lang="sk-SK" sz="1100" dirty="0">
                <a:latin typeface="Consolas" panose="020B0609020204030204" pitchFamily="49" charset="0"/>
              </a:rPr>
              <a:t>    SRv6 </a:t>
            </a:r>
            <a:r>
              <a:rPr lang="sk-SK" sz="1100" dirty="0" err="1">
                <a:latin typeface="Consolas" panose="020B0609020204030204" pitchFamily="49" charset="0"/>
              </a:rPr>
              <a:t>H.Encaps.Red</a:t>
            </a:r>
            <a:r>
              <a:rPr lang="sk-SK" sz="1100" dirty="0">
                <a:latin typeface="Consolas" panose="020B0609020204030204" pitchFamily="49" charset="0"/>
              </a:rPr>
              <a:t> SID-list {</a:t>
            </a:r>
            <a:r>
              <a:rPr lang="sk-SK" sz="1100" dirty="0">
                <a:solidFill>
                  <a:schemeClr val="bg1"/>
                </a:solidFill>
                <a:highlight>
                  <a:srgbClr val="0000FF"/>
                </a:highlight>
                <a:latin typeface="Consolas" panose="020B0609020204030204" pitchFamily="49" charset="0"/>
              </a:rPr>
              <a:t>fc00:ab00:1:e001::</a:t>
            </a:r>
            <a:r>
              <a:rPr lang="sk-SK" sz="1100" dirty="0">
                <a:latin typeface="Consolas" panose="020B0609020204030204" pitchFamily="49" charset="0"/>
              </a:rPr>
              <a:t>}</a:t>
            </a:r>
          </a:p>
          <a:p>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Load</a:t>
            </a:r>
            <a:r>
              <a:rPr lang="sk-SK" sz="1100" dirty="0">
                <a:latin typeface="Consolas" panose="020B0609020204030204" pitchFamily="49" charset="0"/>
              </a:rPr>
              <a:t> </a:t>
            </a:r>
            <a:r>
              <a:rPr lang="sk-SK" sz="1100" dirty="0" err="1">
                <a:latin typeface="Consolas" panose="020B0609020204030204" pitchFamily="49" charset="0"/>
              </a:rPr>
              <a:t>distribution</a:t>
            </a:r>
            <a:r>
              <a:rPr lang="sk-SK" sz="1100" dirty="0">
                <a:latin typeface="Consolas" panose="020B0609020204030204" pitchFamily="49" charset="0"/>
              </a:rPr>
              <a:t>: 0 (refcount 5)</a:t>
            </a:r>
          </a:p>
          <a:p>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Hash</a:t>
            </a:r>
            <a:r>
              <a:rPr lang="sk-SK" sz="1100" dirty="0">
                <a:latin typeface="Consolas" panose="020B0609020204030204" pitchFamily="49" charset="0"/>
              </a:rPr>
              <a:t>  OK  Interface                 </a:t>
            </a:r>
            <a:r>
              <a:rPr lang="sk-SK" sz="1100" dirty="0" err="1">
                <a:latin typeface="Consolas" panose="020B0609020204030204" pitchFamily="49" charset="0"/>
              </a:rPr>
              <a:t>Address</a:t>
            </a:r>
            <a:endParaRPr lang="sk-SK" sz="1100" dirty="0">
              <a:latin typeface="Consolas" panose="020B0609020204030204" pitchFamily="49" charset="0"/>
            </a:endParaRPr>
          </a:p>
          <a:p>
            <a:r>
              <a:rPr lang="sk-SK" sz="1100" dirty="0">
                <a:latin typeface="Consolas" panose="020B0609020204030204" pitchFamily="49" charset="0"/>
              </a:rPr>
              <a:t>    0     Y   GigabitEthernet0/0/0/0    </a:t>
            </a:r>
            <a:r>
              <a:rPr lang="sk-SK" sz="1100" dirty="0" err="1">
                <a:latin typeface="Consolas" panose="020B0609020204030204" pitchFamily="49" charset="0"/>
              </a:rPr>
              <a:t>remote</a:t>
            </a:r>
            <a:r>
              <a:rPr lang="sk-SK" sz="1100" dirty="0">
                <a:latin typeface="Consolas" panose="020B0609020204030204" pitchFamily="49" charset="0"/>
              </a:rPr>
              <a:t>         </a:t>
            </a:r>
          </a:p>
          <a:p>
            <a:r>
              <a:rPr lang="sk-SK" sz="1100" dirty="0">
                <a:latin typeface="Consolas" panose="020B0609020204030204" pitchFamily="49" charset="0"/>
              </a:rPr>
              <a:t>          </a:t>
            </a:r>
          </a:p>
          <a:p>
            <a:r>
              <a:rPr lang="sk-SK" sz="1100" dirty="0">
                <a:latin typeface="Consolas" panose="020B0609020204030204" pitchFamily="49" charset="0"/>
              </a:rPr>
              <a:t>RP/0/RP0/CPU0:R02#</a:t>
            </a:r>
            <a:endParaRPr lang="en-US" sz="1100" dirty="0">
              <a:solidFill>
                <a:srgbClr val="FF0000"/>
              </a:solidFill>
              <a:latin typeface="Consolas" panose="020B0609020204030204" pitchFamily="49" charset="0"/>
            </a:endParaRPr>
          </a:p>
        </p:txBody>
      </p:sp>
      <p:sp>
        <p:nvSpPr>
          <p:cNvPr id="2" name="Rectangle 1">
            <a:extLst>
              <a:ext uri="{FF2B5EF4-FFF2-40B4-BE49-F238E27FC236}">
                <a16:creationId xmlns:a16="http://schemas.microsoft.com/office/drawing/2014/main" id="{DFAA9F38-5D85-A11C-5990-66F981A3EFA7}"/>
              </a:ext>
            </a:extLst>
          </p:cNvPr>
          <p:cNvSpPr/>
          <p:nvPr/>
        </p:nvSpPr>
        <p:spPr>
          <a:xfrm>
            <a:off x="5787887" y="827967"/>
            <a:ext cx="6308036" cy="5001369"/>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RP/0/RP0/CPU0:R02#</a:t>
            </a:r>
            <a:r>
              <a:rPr lang="sk-SK" sz="1100" b="1" dirty="0">
                <a:latin typeface="Consolas" panose="020B0609020204030204" pitchFamily="49" charset="0"/>
              </a:rPr>
              <a:t>sh cef vrf A-GW 10.0.1.1 detail </a:t>
            </a:r>
          </a:p>
          <a:p>
            <a:r>
              <a:rPr lang="sk-SK" sz="1100" dirty="0" err="1">
                <a:latin typeface="Consolas" panose="020B0609020204030204" pitchFamily="49" charset="0"/>
              </a:rPr>
              <a:t>Fri</a:t>
            </a:r>
            <a:r>
              <a:rPr lang="sk-SK" sz="1100" dirty="0">
                <a:latin typeface="Consolas" panose="020B0609020204030204" pitchFamily="49" charset="0"/>
              </a:rPr>
              <a:t> Nov  1 17:42:15.122 UTC</a:t>
            </a:r>
          </a:p>
          <a:p>
            <a:r>
              <a:rPr lang="sk-SK" sz="1100" dirty="0">
                <a:latin typeface="Consolas" panose="020B0609020204030204" pitchFamily="49" charset="0"/>
              </a:rPr>
              <a:t>10.0.1.0/24, </a:t>
            </a:r>
            <a:r>
              <a:rPr lang="sk-SK" sz="1100" dirty="0" err="1">
                <a:latin typeface="Consolas" panose="020B0609020204030204" pitchFamily="49" charset="0"/>
              </a:rPr>
              <a:t>version</a:t>
            </a:r>
            <a:r>
              <a:rPr lang="sk-SK" sz="1100" dirty="0">
                <a:latin typeface="Consolas" panose="020B0609020204030204" pitchFamily="49" charset="0"/>
              </a:rPr>
              <a:t> 14, SRv6 </a:t>
            </a:r>
            <a:r>
              <a:rPr lang="sk-SK" sz="1100" dirty="0" err="1">
                <a:latin typeface="Consolas" panose="020B0609020204030204" pitchFamily="49" charset="0"/>
              </a:rPr>
              <a:t>Headend</a:t>
            </a:r>
            <a:r>
              <a:rPr lang="sk-SK" sz="1100" dirty="0">
                <a:latin typeface="Consolas" panose="020B0609020204030204" pitchFamily="49" charset="0"/>
              </a:rPr>
              <a:t>, </a:t>
            </a:r>
            <a:r>
              <a:rPr lang="sk-SK" sz="1100" dirty="0" err="1">
                <a:latin typeface="Consolas" panose="020B0609020204030204" pitchFamily="49" charset="0"/>
              </a:rPr>
              <a:t>internal</a:t>
            </a:r>
            <a:r>
              <a:rPr lang="sk-SK" sz="1100" dirty="0">
                <a:latin typeface="Consolas" panose="020B0609020204030204" pitchFamily="49" charset="0"/>
              </a:rPr>
              <a:t> 0x1000001 0x30 (</a:t>
            </a:r>
            <a:r>
              <a:rPr lang="sk-SK" sz="1100" dirty="0" err="1">
                <a:latin typeface="Consolas" panose="020B0609020204030204" pitchFamily="49" charset="0"/>
              </a:rPr>
              <a:t>ptr</a:t>
            </a:r>
            <a:r>
              <a:rPr lang="sk-SK" sz="1100" dirty="0">
                <a:latin typeface="Consolas" panose="020B0609020204030204" pitchFamily="49" charset="0"/>
              </a:rPr>
              <a:t> 0xe7dcdb0) [1], 0x400 (0xe158de8), 0x0 (0xfcb57d8)</a:t>
            </a:r>
          </a:p>
          <a:p>
            <a:r>
              <a:rPr lang="sk-SK" sz="1100" dirty="0">
                <a:latin typeface="Consolas" panose="020B0609020204030204" pitchFamily="49" charset="0"/>
              </a:rPr>
              <a:t> </a:t>
            </a:r>
            <a:r>
              <a:rPr lang="sk-SK" sz="1100" dirty="0" err="1">
                <a:latin typeface="Consolas" panose="020B0609020204030204" pitchFamily="49" charset="0"/>
              </a:rPr>
              <a:t>Updated</a:t>
            </a:r>
            <a:r>
              <a:rPr lang="sk-SK" sz="1100" dirty="0">
                <a:latin typeface="Consolas" panose="020B0609020204030204" pitchFamily="49" charset="0"/>
              </a:rPr>
              <a:t> Nov  1 15:30:55.907</a:t>
            </a:r>
          </a:p>
          <a:p>
            <a:r>
              <a:rPr lang="sk-SK" sz="1100" dirty="0">
                <a:latin typeface="Consolas" panose="020B0609020204030204" pitchFamily="49" charset="0"/>
              </a:rPr>
              <a:t> Prefix Len 24, </a:t>
            </a:r>
            <a:r>
              <a:rPr lang="sk-SK" sz="1100" dirty="0" err="1">
                <a:latin typeface="Consolas" panose="020B0609020204030204" pitchFamily="49" charset="0"/>
              </a:rPr>
              <a:t>traffic</a:t>
            </a:r>
            <a:r>
              <a:rPr lang="sk-SK" sz="1100" dirty="0">
                <a:latin typeface="Consolas" panose="020B0609020204030204" pitchFamily="49" charset="0"/>
              </a:rPr>
              <a:t> index 0, </a:t>
            </a:r>
            <a:r>
              <a:rPr lang="sk-SK" sz="1100" dirty="0" err="1">
                <a:latin typeface="Consolas" panose="020B0609020204030204" pitchFamily="49" charset="0"/>
              </a:rPr>
              <a:t>precedence</a:t>
            </a:r>
            <a:r>
              <a:rPr lang="sk-SK" sz="1100" dirty="0">
                <a:latin typeface="Consolas" panose="020B0609020204030204" pitchFamily="49" charset="0"/>
              </a:rPr>
              <a:t> n/a, priority 3</a:t>
            </a:r>
          </a:p>
          <a:p>
            <a:r>
              <a:rPr lang="sk-SK" sz="1100" dirty="0">
                <a:latin typeface="Consolas" panose="020B0609020204030204" pitchFamily="49" charset="0"/>
              </a:rPr>
              <a:t>  </a:t>
            </a:r>
            <a:r>
              <a:rPr lang="sk-SK" sz="1100" dirty="0" err="1">
                <a:latin typeface="Consolas" panose="020B0609020204030204" pitchFamily="49" charset="0"/>
              </a:rPr>
              <a:t>gateway</a:t>
            </a:r>
            <a:r>
              <a:rPr lang="sk-SK" sz="1100" dirty="0">
                <a:latin typeface="Consolas" panose="020B0609020204030204" pitchFamily="49" charset="0"/>
              </a:rPr>
              <a:t> </a:t>
            </a:r>
            <a:r>
              <a:rPr lang="sk-SK" sz="1100" dirty="0" err="1">
                <a:latin typeface="Consolas" panose="020B0609020204030204" pitchFamily="49" charset="0"/>
              </a:rPr>
              <a:t>array</a:t>
            </a:r>
            <a:r>
              <a:rPr lang="sk-SK" sz="1100" dirty="0">
                <a:latin typeface="Consolas" panose="020B0609020204030204" pitchFamily="49" charset="0"/>
              </a:rPr>
              <a:t> (0x1038b278) </a:t>
            </a:r>
            <a:r>
              <a:rPr lang="sk-SK" sz="1100" dirty="0" err="1">
                <a:latin typeface="Consolas" panose="020B0609020204030204" pitchFamily="49" charset="0"/>
              </a:rPr>
              <a:t>reference</a:t>
            </a:r>
            <a:r>
              <a:rPr lang="sk-SK" sz="1100" dirty="0">
                <a:latin typeface="Consolas" panose="020B0609020204030204" pitchFamily="49" charset="0"/>
              </a:rPr>
              <a:t> </a:t>
            </a:r>
            <a:r>
              <a:rPr lang="sk-SK" sz="1100" dirty="0" err="1">
                <a:latin typeface="Consolas" panose="020B0609020204030204" pitchFamily="49" charset="0"/>
              </a:rPr>
              <a:t>count</a:t>
            </a:r>
            <a:r>
              <a:rPr lang="sk-SK" sz="1100" dirty="0">
                <a:latin typeface="Consolas" panose="020B0609020204030204" pitchFamily="49" charset="0"/>
              </a:rPr>
              <a:t> 4, </a:t>
            </a:r>
            <a:r>
              <a:rPr lang="sk-SK" sz="1100" dirty="0" err="1">
                <a:latin typeface="Consolas" panose="020B0609020204030204" pitchFamily="49" charset="0"/>
              </a:rPr>
              <a:t>flags</a:t>
            </a:r>
            <a:r>
              <a:rPr lang="sk-SK" sz="1100" dirty="0">
                <a:latin typeface="Consolas" panose="020B0609020204030204" pitchFamily="49" charset="0"/>
              </a:rPr>
              <a:t> 0x10, </a:t>
            </a:r>
            <a:r>
              <a:rPr lang="sk-SK" sz="1100" dirty="0" err="1">
                <a:latin typeface="Consolas" panose="020B0609020204030204" pitchFamily="49" charset="0"/>
              </a:rPr>
              <a:t>source</a:t>
            </a:r>
            <a:r>
              <a:rPr lang="sk-SK" sz="1100" dirty="0">
                <a:latin typeface="Consolas" panose="020B0609020204030204" pitchFamily="49" charset="0"/>
              </a:rPr>
              <a:t> </a:t>
            </a:r>
            <a:r>
              <a:rPr lang="sk-SK" sz="1100" dirty="0" err="1">
                <a:latin typeface="Consolas" panose="020B0609020204030204" pitchFamily="49" charset="0"/>
              </a:rPr>
              <a:t>rib</a:t>
            </a:r>
            <a:r>
              <a:rPr lang="sk-SK" sz="1100" dirty="0">
                <a:latin typeface="Consolas" panose="020B0609020204030204" pitchFamily="49" charset="0"/>
              </a:rPr>
              <a:t> (7), 0 </a:t>
            </a:r>
            <a:r>
              <a:rPr lang="sk-SK" sz="1100" dirty="0" err="1">
                <a:latin typeface="Consolas" panose="020B0609020204030204" pitchFamily="49" charset="0"/>
              </a:rPr>
              <a:t>backups</a:t>
            </a:r>
            <a:endParaRPr lang="sk-SK" sz="1100" dirty="0">
              <a:latin typeface="Consolas" panose="020B0609020204030204" pitchFamily="49" charset="0"/>
            </a:endParaRPr>
          </a:p>
          <a:p>
            <a:r>
              <a:rPr lang="sk-SK" sz="1100" dirty="0">
                <a:latin typeface="Consolas" panose="020B0609020204030204" pitchFamily="49" charset="0"/>
              </a:rPr>
              <a:t>                [5 type 3 </a:t>
            </a:r>
            <a:r>
              <a:rPr lang="sk-SK" sz="1100" dirty="0" err="1">
                <a:latin typeface="Consolas" panose="020B0609020204030204" pitchFamily="49" charset="0"/>
              </a:rPr>
              <a:t>flags</a:t>
            </a:r>
            <a:r>
              <a:rPr lang="sk-SK" sz="1100" dirty="0">
                <a:latin typeface="Consolas" panose="020B0609020204030204" pitchFamily="49" charset="0"/>
              </a:rPr>
              <a:t> 0x8441 (0xe071548) </a:t>
            </a:r>
            <a:r>
              <a:rPr lang="sk-SK" sz="1100" dirty="0" err="1">
                <a:latin typeface="Consolas" panose="020B0609020204030204" pitchFamily="49" charset="0"/>
              </a:rPr>
              <a:t>ext</a:t>
            </a:r>
            <a:r>
              <a:rPr lang="sk-SK" sz="1100" dirty="0">
                <a:latin typeface="Consolas" panose="020B0609020204030204" pitchFamily="49" charset="0"/>
              </a:rPr>
              <a:t> 0x0 (0x0)]</a:t>
            </a:r>
          </a:p>
          <a:p>
            <a:r>
              <a:rPr lang="sk-SK" sz="1100" dirty="0">
                <a:latin typeface="Consolas" panose="020B0609020204030204" pitchFamily="49" charset="0"/>
              </a:rPr>
              <a:t>  LW-LDI[type=3, </a:t>
            </a:r>
            <a:r>
              <a:rPr lang="sk-SK" sz="1100" dirty="0" err="1">
                <a:latin typeface="Consolas" panose="020B0609020204030204" pitchFamily="49" charset="0"/>
              </a:rPr>
              <a:t>refc</a:t>
            </a:r>
            <a:r>
              <a:rPr lang="sk-SK" sz="1100" dirty="0">
                <a:latin typeface="Consolas" panose="020B0609020204030204" pitchFamily="49" charset="0"/>
              </a:rPr>
              <a:t>=1, </a:t>
            </a:r>
            <a:r>
              <a:rPr lang="sk-SK" sz="1100" dirty="0" err="1">
                <a:latin typeface="Consolas" panose="020B0609020204030204" pitchFamily="49" charset="0"/>
              </a:rPr>
              <a:t>ptr</a:t>
            </a:r>
            <a:r>
              <a:rPr lang="sk-SK" sz="1100" dirty="0">
                <a:latin typeface="Consolas" panose="020B0609020204030204" pitchFamily="49" charset="0"/>
              </a:rPr>
              <a:t>=0xe158de8, sh-</a:t>
            </a:r>
            <a:r>
              <a:rPr lang="sk-SK" sz="1100" dirty="0" err="1">
                <a:latin typeface="Consolas" panose="020B0609020204030204" pitchFamily="49" charset="0"/>
              </a:rPr>
              <a:t>ldi</a:t>
            </a:r>
            <a:r>
              <a:rPr lang="sk-SK" sz="1100" dirty="0">
                <a:latin typeface="Consolas" panose="020B0609020204030204" pitchFamily="49" charset="0"/>
              </a:rPr>
              <a:t>=0xe071548]</a:t>
            </a:r>
          </a:p>
          <a:p>
            <a:r>
              <a:rPr lang="sk-SK" sz="1100" dirty="0">
                <a:latin typeface="Consolas" panose="020B0609020204030204" pitchFamily="49" charset="0"/>
              </a:rPr>
              <a:t>  </a:t>
            </a:r>
            <a:r>
              <a:rPr lang="sk-SK" sz="1100" dirty="0" err="1">
                <a:latin typeface="Consolas" panose="020B0609020204030204" pitchFamily="49" charset="0"/>
              </a:rPr>
              <a:t>gateway</a:t>
            </a:r>
            <a:r>
              <a:rPr lang="sk-SK" sz="1100" dirty="0">
                <a:latin typeface="Consolas" panose="020B0609020204030204" pitchFamily="49" charset="0"/>
              </a:rPr>
              <a:t> </a:t>
            </a:r>
            <a:r>
              <a:rPr lang="sk-SK" sz="1100" dirty="0" err="1">
                <a:latin typeface="Consolas" panose="020B0609020204030204" pitchFamily="49" charset="0"/>
              </a:rPr>
              <a:t>array</a:t>
            </a:r>
            <a:r>
              <a:rPr lang="sk-SK" sz="1100" dirty="0">
                <a:latin typeface="Consolas" panose="020B0609020204030204" pitchFamily="49" charset="0"/>
              </a:rPr>
              <a:t> update type-</a:t>
            </a:r>
            <a:r>
              <a:rPr lang="sk-SK" sz="1100" dirty="0" err="1">
                <a:latin typeface="Consolas" panose="020B0609020204030204" pitchFamily="49" charset="0"/>
              </a:rPr>
              <a:t>time</a:t>
            </a:r>
            <a:r>
              <a:rPr lang="sk-SK" sz="1100" dirty="0">
                <a:latin typeface="Consolas" panose="020B0609020204030204" pitchFamily="49" charset="0"/>
              </a:rPr>
              <a:t> 1 Nov  1 15:30:55.710</a:t>
            </a:r>
          </a:p>
          <a:p>
            <a:r>
              <a:rPr lang="sk-SK" sz="1100" dirty="0">
                <a:latin typeface="Consolas" panose="020B0609020204030204" pitchFamily="49" charset="0"/>
              </a:rPr>
              <a:t> LDI Update </a:t>
            </a:r>
            <a:r>
              <a:rPr lang="sk-SK" sz="1100" dirty="0" err="1">
                <a:latin typeface="Consolas" panose="020B0609020204030204" pitchFamily="49" charset="0"/>
              </a:rPr>
              <a:t>time</a:t>
            </a:r>
            <a:r>
              <a:rPr lang="sk-SK" sz="1100" dirty="0">
                <a:latin typeface="Consolas" panose="020B0609020204030204" pitchFamily="49" charset="0"/>
              </a:rPr>
              <a:t> Nov  1 15:30:55.710</a:t>
            </a:r>
          </a:p>
          <a:p>
            <a:r>
              <a:rPr lang="sk-SK" sz="1100" dirty="0">
                <a:latin typeface="Consolas" panose="020B0609020204030204" pitchFamily="49" charset="0"/>
              </a:rPr>
              <a:t> LW-LDI-TS Nov  1 15:30:55.907</a:t>
            </a:r>
          </a:p>
          <a:p>
            <a:endParaRPr lang="sk-SK" sz="1100" dirty="0">
              <a:latin typeface="Consolas" panose="020B0609020204030204" pitchFamily="49" charset="0"/>
            </a:endParaRPr>
          </a:p>
          <a:p>
            <a:r>
              <a:rPr lang="sk-SK" sz="1100" dirty="0">
                <a:latin typeface="Consolas" panose="020B0609020204030204" pitchFamily="49" charset="0"/>
              </a:rPr>
              <a:t>  Level 1 - </a:t>
            </a:r>
            <a:r>
              <a:rPr lang="sk-SK" sz="1100" dirty="0" err="1">
                <a:latin typeface="Consolas" panose="020B0609020204030204" pitchFamily="49" charset="0"/>
              </a:rPr>
              <a:t>Load</a:t>
            </a:r>
            <a:r>
              <a:rPr lang="sk-SK" sz="1100" dirty="0">
                <a:latin typeface="Consolas" panose="020B0609020204030204" pitchFamily="49" charset="0"/>
              </a:rPr>
              <a:t> </a:t>
            </a:r>
            <a:r>
              <a:rPr lang="sk-SK" sz="1100" dirty="0" err="1">
                <a:latin typeface="Consolas" panose="020B0609020204030204" pitchFamily="49" charset="0"/>
              </a:rPr>
              <a:t>distribution</a:t>
            </a:r>
            <a:r>
              <a:rPr lang="sk-SK" sz="1100" dirty="0">
                <a:latin typeface="Consolas" panose="020B0609020204030204" pitchFamily="49" charset="0"/>
              </a:rPr>
              <a:t>: 0</a:t>
            </a:r>
          </a:p>
          <a:p>
            <a:r>
              <a:rPr lang="sk-SK" sz="1100" dirty="0">
                <a:latin typeface="Consolas" panose="020B0609020204030204" pitchFamily="49" charset="0"/>
              </a:rPr>
              <a:t>  [0] </a:t>
            </a:r>
            <a:r>
              <a:rPr lang="sk-SK" sz="1100" dirty="0" err="1">
                <a:latin typeface="Consolas" panose="020B0609020204030204" pitchFamily="49" charset="0"/>
              </a:rPr>
              <a:t>via</a:t>
            </a:r>
            <a:r>
              <a:rPr lang="sk-SK" sz="1100" dirty="0">
                <a:latin typeface="Consolas" panose="020B0609020204030204" pitchFamily="49" charset="0"/>
              </a:rPr>
              <a:t> fc00:ab00:1::/128, </a:t>
            </a:r>
            <a:r>
              <a:rPr lang="sk-SK" sz="1100" dirty="0" err="1">
                <a:latin typeface="Consolas" panose="020B0609020204030204" pitchFamily="49" charset="0"/>
              </a:rPr>
              <a:t>recursive</a:t>
            </a:r>
            <a:endParaRPr lang="sk-SK" sz="1100" dirty="0">
              <a:latin typeface="Consolas" panose="020B0609020204030204" pitchFamily="49" charset="0"/>
            </a:endParaRPr>
          </a:p>
          <a:p>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via</a:t>
            </a:r>
            <a:r>
              <a:rPr lang="sk-SK" sz="1100" dirty="0">
                <a:latin typeface="Consolas" panose="020B0609020204030204" pitchFamily="49" charset="0"/>
              </a:rPr>
              <a:t> fc00:ab00:1::/128, 3 </a:t>
            </a:r>
            <a:r>
              <a:rPr lang="sk-SK" sz="1100" dirty="0" err="1">
                <a:latin typeface="Consolas" panose="020B0609020204030204" pitchFamily="49" charset="0"/>
              </a:rPr>
              <a:t>dependencies</a:t>
            </a:r>
            <a:r>
              <a:rPr lang="sk-SK" sz="1100" dirty="0">
                <a:latin typeface="Consolas" panose="020B0609020204030204" pitchFamily="49" charset="0"/>
              </a:rPr>
              <a:t>, </a:t>
            </a:r>
            <a:r>
              <a:rPr lang="sk-SK" sz="1100" dirty="0" err="1">
                <a:latin typeface="Consolas" panose="020B0609020204030204" pitchFamily="49" charset="0"/>
              </a:rPr>
              <a:t>recursive</a:t>
            </a:r>
            <a:r>
              <a:rPr lang="sk-SK" sz="1100" dirty="0">
                <a:latin typeface="Consolas" panose="020B0609020204030204" pitchFamily="49" charset="0"/>
              </a:rPr>
              <a:t> [</a:t>
            </a:r>
            <a:r>
              <a:rPr lang="sk-SK" sz="1100" dirty="0" err="1">
                <a:latin typeface="Consolas" panose="020B0609020204030204" pitchFamily="49" charset="0"/>
              </a:rPr>
              <a:t>flags</a:t>
            </a:r>
            <a:r>
              <a:rPr lang="sk-SK" sz="1100" dirty="0">
                <a:latin typeface="Consolas" panose="020B0609020204030204" pitchFamily="49" charset="0"/>
              </a:rPr>
              <a:t> 0x6000]</a:t>
            </a:r>
          </a:p>
          <a:p>
            <a:r>
              <a:rPr lang="sk-SK" sz="1100" dirty="0">
                <a:latin typeface="Consolas" panose="020B0609020204030204" pitchFamily="49" charset="0"/>
              </a:rPr>
              <a:t>    </a:t>
            </a:r>
            <a:r>
              <a:rPr lang="sk-SK" sz="1100" dirty="0" err="1">
                <a:latin typeface="Consolas" panose="020B0609020204030204" pitchFamily="49" charset="0"/>
              </a:rPr>
              <a:t>path-idx</a:t>
            </a:r>
            <a:r>
              <a:rPr lang="sk-SK" sz="1100" dirty="0">
                <a:latin typeface="Consolas" panose="020B0609020204030204" pitchFamily="49" charset="0"/>
              </a:rPr>
              <a:t> 0 NHID 0x0 [0xe764d30 0x0]</a:t>
            </a:r>
          </a:p>
          <a:p>
            <a:r>
              <a:rPr lang="sk-SK" sz="1100" dirty="0">
                <a:latin typeface="Consolas" panose="020B0609020204030204" pitchFamily="49" charset="0"/>
              </a:rPr>
              <a:t>    </a:t>
            </a:r>
            <a:r>
              <a:rPr lang="sk-SK" sz="1100" dirty="0" err="1">
                <a:latin typeface="Consolas" panose="020B0609020204030204" pitchFamily="49" charset="0"/>
              </a:rPr>
              <a:t>next</a:t>
            </a:r>
            <a:r>
              <a:rPr lang="sk-SK" sz="1100" dirty="0">
                <a:latin typeface="Consolas" panose="020B0609020204030204" pitchFamily="49" charset="0"/>
              </a:rPr>
              <a:t> hop VRF - 'default', table - 0xe0800000</a:t>
            </a:r>
          </a:p>
          <a:p>
            <a:r>
              <a:rPr lang="sk-SK" sz="1100" dirty="0">
                <a:latin typeface="Consolas" panose="020B0609020204030204" pitchFamily="49" charset="0"/>
              </a:rPr>
              <a:t>    </a:t>
            </a:r>
            <a:r>
              <a:rPr lang="sk-SK" sz="1100" dirty="0" err="1">
                <a:latin typeface="Consolas" panose="020B0609020204030204" pitchFamily="49" charset="0"/>
              </a:rPr>
              <a:t>next</a:t>
            </a:r>
            <a:r>
              <a:rPr lang="sk-SK" sz="1100" dirty="0">
                <a:latin typeface="Consolas" panose="020B0609020204030204" pitchFamily="49" charset="0"/>
              </a:rPr>
              <a:t> hop fc00:ab00:1::/128 </a:t>
            </a:r>
            <a:r>
              <a:rPr lang="sk-SK" sz="1100" dirty="0" err="1">
                <a:latin typeface="Consolas" panose="020B0609020204030204" pitchFamily="49" charset="0"/>
              </a:rPr>
              <a:t>via</a:t>
            </a:r>
            <a:r>
              <a:rPr lang="sk-SK" sz="1100" dirty="0">
                <a:latin typeface="Consolas" panose="020B0609020204030204" pitchFamily="49" charset="0"/>
              </a:rPr>
              <a:t> fc00:ab00:1::/48</a:t>
            </a:r>
          </a:p>
          <a:p>
            <a:r>
              <a:rPr lang="sk-SK" sz="1100" dirty="0">
                <a:latin typeface="Consolas" panose="020B0609020204030204" pitchFamily="49" charset="0"/>
              </a:rPr>
              <a:t>    SRv6 </a:t>
            </a:r>
            <a:r>
              <a:rPr lang="sk-SK" sz="1100" dirty="0" err="1">
                <a:latin typeface="Consolas" panose="020B0609020204030204" pitchFamily="49" charset="0"/>
              </a:rPr>
              <a:t>H.Encaps.Red</a:t>
            </a:r>
            <a:r>
              <a:rPr lang="sk-SK" sz="1100" dirty="0">
                <a:latin typeface="Consolas" panose="020B0609020204030204" pitchFamily="49" charset="0"/>
              </a:rPr>
              <a:t> </a:t>
            </a:r>
            <a:r>
              <a:rPr lang="sk-SK" sz="1100" dirty="0" err="1">
                <a:latin typeface="Consolas" panose="020B0609020204030204" pitchFamily="49" charset="0"/>
              </a:rPr>
              <a:t>SID</a:t>
            </a:r>
            <a:r>
              <a:rPr lang="sk-SK" sz="1100" dirty="0">
                <a:latin typeface="Consolas" panose="020B0609020204030204" pitchFamily="49" charset="0"/>
              </a:rPr>
              <a:t>-list {</a:t>
            </a:r>
            <a:r>
              <a:rPr lang="sk-SK" sz="1100" dirty="0">
                <a:solidFill>
                  <a:schemeClr val="bg1"/>
                </a:solidFill>
                <a:highlight>
                  <a:srgbClr val="0000FF"/>
                </a:highlight>
                <a:latin typeface="Consolas" panose="020B0609020204030204" pitchFamily="49" charset="0"/>
              </a:rPr>
              <a:t>fc00:ab00:1:e001::</a:t>
            </a:r>
            <a:r>
              <a:rPr lang="sk-SK" sz="1100" dirty="0">
                <a:latin typeface="Consolas" panose="020B0609020204030204" pitchFamily="49" charset="0"/>
              </a:rPr>
              <a:t>}</a:t>
            </a:r>
          </a:p>
          <a:p>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Load</a:t>
            </a:r>
            <a:r>
              <a:rPr lang="sk-SK" sz="1100" dirty="0">
                <a:latin typeface="Consolas" panose="020B0609020204030204" pitchFamily="49" charset="0"/>
              </a:rPr>
              <a:t> </a:t>
            </a:r>
            <a:r>
              <a:rPr lang="sk-SK" sz="1100" dirty="0" err="1">
                <a:latin typeface="Consolas" panose="020B0609020204030204" pitchFamily="49" charset="0"/>
              </a:rPr>
              <a:t>distribution</a:t>
            </a:r>
            <a:r>
              <a:rPr lang="sk-SK" sz="1100" dirty="0">
                <a:latin typeface="Consolas" panose="020B0609020204030204" pitchFamily="49" charset="0"/>
              </a:rPr>
              <a:t>: 0 (refcount 5)</a:t>
            </a:r>
          </a:p>
          <a:p>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Hash</a:t>
            </a:r>
            <a:r>
              <a:rPr lang="sk-SK" sz="1100" dirty="0">
                <a:latin typeface="Consolas" panose="020B0609020204030204" pitchFamily="49" charset="0"/>
              </a:rPr>
              <a:t>  OK  Interface                 </a:t>
            </a:r>
            <a:r>
              <a:rPr lang="sk-SK" sz="1100" dirty="0" err="1">
                <a:latin typeface="Consolas" panose="020B0609020204030204" pitchFamily="49" charset="0"/>
              </a:rPr>
              <a:t>Address</a:t>
            </a:r>
            <a:endParaRPr lang="sk-SK" sz="1100" dirty="0">
              <a:latin typeface="Consolas" panose="020B0609020204030204" pitchFamily="49" charset="0"/>
            </a:endParaRPr>
          </a:p>
          <a:p>
            <a:r>
              <a:rPr lang="sk-SK" sz="1100" dirty="0">
                <a:latin typeface="Consolas" panose="020B0609020204030204" pitchFamily="49" charset="0"/>
              </a:rPr>
              <a:t>    0     Y   GigabitEthernet0/0/0/0    </a:t>
            </a:r>
            <a:r>
              <a:rPr lang="sk-SK" sz="1100" dirty="0" err="1">
                <a:latin typeface="Consolas" panose="020B0609020204030204" pitchFamily="49" charset="0"/>
              </a:rPr>
              <a:t>remote</a:t>
            </a:r>
            <a:r>
              <a:rPr lang="sk-SK" sz="1100" dirty="0">
                <a:latin typeface="Consolas" panose="020B0609020204030204" pitchFamily="49" charset="0"/>
              </a:rPr>
              <a:t>         </a:t>
            </a:r>
          </a:p>
          <a:p>
            <a:r>
              <a:rPr lang="sk-SK" sz="1100" dirty="0">
                <a:latin typeface="Consolas" panose="020B0609020204030204" pitchFamily="49" charset="0"/>
              </a:rPr>
              <a:t>          </a:t>
            </a:r>
          </a:p>
          <a:p>
            <a:r>
              <a:rPr lang="sk-SK" sz="1100" dirty="0">
                <a:latin typeface="Consolas" panose="020B0609020204030204" pitchFamily="49" charset="0"/>
              </a:rPr>
              <a:t>RP/0/RP0/CPU0:R02#</a:t>
            </a:r>
          </a:p>
        </p:txBody>
      </p:sp>
    </p:spTree>
    <p:extLst>
      <p:ext uri="{BB962C8B-B14F-4D97-AF65-F5344CB8AC3E}">
        <p14:creationId xmlns:p14="http://schemas.microsoft.com/office/powerpoint/2010/main" val="1553865159"/>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MPLS to SRv6 (CE31 -&gt; CE01)  #R01</a:t>
            </a:r>
          </a:p>
        </p:txBody>
      </p:sp>
      <p:sp>
        <p:nvSpPr>
          <p:cNvPr id="4" name="Rectangle 3">
            <a:extLst>
              <a:ext uri="{FF2B5EF4-FFF2-40B4-BE49-F238E27FC236}">
                <a16:creationId xmlns:a16="http://schemas.microsoft.com/office/drawing/2014/main" id="{87D7CB37-5BEE-FF8F-7602-60627856E0E8}"/>
              </a:ext>
            </a:extLst>
          </p:cNvPr>
          <p:cNvSpPr/>
          <p:nvPr/>
        </p:nvSpPr>
        <p:spPr>
          <a:xfrm>
            <a:off x="105805" y="786594"/>
            <a:ext cx="5555974" cy="3477875"/>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RP/0/RP0/CPU0:R01#</a:t>
            </a:r>
            <a:r>
              <a:rPr lang="en-US" sz="1100" b="1" dirty="0">
                <a:latin typeface="Consolas" panose="020B0609020204030204" pitchFamily="49" charset="0"/>
              </a:rPr>
              <a:t>sh bgp vpnv4 unicast vrf A 10.0.1.1       </a:t>
            </a:r>
          </a:p>
          <a:p>
            <a:r>
              <a:rPr lang="en-US" sz="1100" dirty="0">
                <a:latin typeface="Consolas" panose="020B0609020204030204" pitchFamily="49" charset="0"/>
              </a:rPr>
              <a:t>BGP routing table entry for 10.0.1.0/24, Route Distinguisher: 65000:1</a:t>
            </a:r>
          </a:p>
          <a:p>
            <a:r>
              <a:rPr lang="en-US" sz="1100" dirty="0">
                <a:latin typeface="Consolas" panose="020B0609020204030204" pitchFamily="49" charset="0"/>
              </a:rPr>
              <a:t>Versions:</a:t>
            </a:r>
          </a:p>
          <a:p>
            <a:r>
              <a:rPr lang="en-US" sz="1100" dirty="0">
                <a:latin typeface="Consolas" panose="020B0609020204030204" pitchFamily="49" charset="0"/>
              </a:rPr>
              <a:t>  Process           </a:t>
            </a:r>
            <a:r>
              <a:rPr lang="en-US" sz="1100" dirty="0" err="1">
                <a:latin typeface="Consolas" panose="020B0609020204030204" pitchFamily="49" charset="0"/>
              </a:rPr>
              <a:t>bRIB</a:t>
            </a:r>
            <a:r>
              <a:rPr lang="en-US" sz="1100" dirty="0">
                <a:latin typeface="Consolas" panose="020B0609020204030204" pitchFamily="49" charset="0"/>
              </a:rPr>
              <a:t>/RIB  </a:t>
            </a:r>
            <a:r>
              <a:rPr lang="en-US" sz="1100" dirty="0" err="1">
                <a:latin typeface="Consolas" panose="020B0609020204030204" pitchFamily="49" charset="0"/>
              </a:rPr>
              <a:t>SendTblVer</a:t>
            </a:r>
            <a:endParaRPr lang="en-US" sz="1100" dirty="0">
              <a:latin typeface="Consolas" panose="020B0609020204030204" pitchFamily="49" charset="0"/>
            </a:endParaRPr>
          </a:p>
          <a:p>
            <a:r>
              <a:rPr lang="en-US" sz="1100" dirty="0">
                <a:latin typeface="Consolas" panose="020B0609020204030204" pitchFamily="49" charset="0"/>
              </a:rPr>
              <a:t>  Speaker                  23           23</a:t>
            </a:r>
          </a:p>
          <a:p>
            <a:r>
              <a:rPr lang="en-US" sz="1100" dirty="0">
                <a:latin typeface="Consolas" panose="020B0609020204030204" pitchFamily="49" charset="0"/>
              </a:rPr>
              <a:t>    SRv6-VPN SID: fc00:ab00:1:e001::/64</a:t>
            </a:r>
          </a:p>
          <a:p>
            <a:r>
              <a:rPr lang="en-US" sz="1100" dirty="0">
                <a:latin typeface="Consolas" panose="020B0609020204030204" pitchFamily="49" charset="0"/>
              </a:rPr>
              <a:t>Last Modified: Oct 21 12:56:44.189 for 1w4d</a:t>
            </a:r>
          </a:p>
          <a:p>
            <a:r>
              <a:rPr lang="en-US" sz="1100" dirty="0">
                <a:latin typeface="Consolas" panose="020B0609020204030204" pitchFamily="49" charset="0"/>
              </a:rPr>
              <a:t>Paths: (1 available, best #1)</a:t>
            </a:r>
          </a:p>
          <a:p>
            <a:r>
              <a:rPr lang="en-US" sz="1100" dirty="0">
                <a:latin typeface="Consolas" panose="020B0609020204030204" pitchFamily="49" charset="0"/>
              </a:rPr>
              <a:t>  Advertised to peers (in unique update groups):</a:t>
            </a:r>
          </a:p>
          <a:p>
            <a:r>
              <a:rPr lang="en-US" sz="1100" dirty="0">
                <a:latin typeface="Consolas" panose="020B0609020204030204" pitchFamily="49" charset="0"/>
              </a:rPr>
              <a:t>    2001:9999::3                            </a:t>
            </a:r>
          </a:p>
          <a:p>
            <a:r>
              <a:rPr lang="en-US" sz="1100" dirty="0">
                <a:latin typeface="Consolas" panose="020B0609020204030204" pitchFamily="49" charset="0"/>
              </a:rPr>
              <a:t>  Path #1: Received by speaker 0</a:t>
            </a:r>
          </a:p>
          <a:p>
            <a:r>
              <a:rPr lang="en-US" sz="1100" dirty="0">
                <a:latin typeface="Consolas" panose="020B0609020204030204" pitchFamily="49" charset="0"/>
              </a:rPr>
              <a:t>  Advertised to peers (in unique update groups):</a:t>
            </a:r>
          </a:p>
          <a:p>
            <a:r>
              <a:rPr lang="en-US" sz="1100" dirty="0">
                <a:latin typeface="Consolas" panose="020B0609020204030204" pitchFamily="49" charset="0"/>
              </a:rPr>
              <a:t>    2001:9999::3                            </a:t>
            </a:r>
          </a:p>
          <a:p>
            <a:r>
              <a:rPr lang="en-US" sz="1100" dirty="0">
                <a:latin typeface="Consolas" panose="020B0609020204030204" pitchFamily="49" charset="0"/>
              </a:rPr>
              <a:t>  </a:t>
            </a:r>
            <a:r>
              <a:rPr lang="en-US" sz="1100" dirty="0">
                <a:solidFill>
                  <a:schemeClr val="accent6"/>
                </a:solidFill>
                <a:latin typeface="Consolas" panose="020B0609020204030204" pitchFamily="49" charset="0"/>
              </a:rPr>
              <a:t>65001</a:t>
            </a:r>
          </a:p>
          <a:p>
            <a:r>
              <a:rPr lang="en-US" sz="1100" dirty="0">
                <a:solidFill>
                  <a:schemeClr val="accent6"/>
                </a:solidFill>
                <a:latin typeface="Consolas" panose="020B0609020204030204" pitchFamily="49" charset="0"/>
              </a:rPr>
              <a:t>    10.64.1.2 from 10.64.1.2 (10.2.1.1)</a:t>
            </a:r>
          </a:p>
          <a:p>
            <a:r>
              <a:rPr lang="en-US" sz="1100" dirty="0">
                <a:latin typeface="Consolas" panose="020B0609020204030204" pitchFamily="49" charset="0"/>
              </a:rPr>
              <a:t>      Origin IGP, metric 0, localpref 100, valid, external, best, group-best, import-candidate</a:t>
            </a:r>
          </a:p>
          <a:p>
            <a:r>
              <a:rPr lang="en-US" sz="1100" dirty="0">
                <a:latin typeface="Consolas" panose="020B0609020204030204" pitchFamily="49" charset="0"/>
              </a:rPr>
              <a:t>      Received Path ID 0, Local Path ID 1, version 23</a:t>
            </a:r>
          </a:p>
          <a:p>
            <a:r>
              <a:rPr lang="en-US" sz="1100" dirty="0">
                <a:latin typeface="Consolas" panose="020B0609020204030204" pitchFamily="49" charset="0"/>
              </a:rPr>
              <a:t>      Extended community: RT:65000:1 </a:t>
            </a:r>
          </a:p>
          <a:p>
            <a:r>
              <a:rPr lang="en-US" sz="1100" dirty="0">
                <a:latin typeface="Consolas" panose="020B0609020204030204" pitchFamily="49" charset="0"/>
              </a:rPr>
              <a:t>RP/0/RP0/CPU0:R01#</a:t>
            </a:r>
          </a:p>
        </p:txBody>
      </p:sp>
      <p:sp>
        <p:nvSpPr>
          <p:cNvPr id="2" name="Rectangle 1">
            <a:extLst>
              <a:ext uri="{FF2B5EF4-FFF2-40B4-BE49-F238E27FC236}">
                <a16:creationId xmlns:a16="http://schemas.microsoft.com/office/drawing/2014/main" id="{DFAA9F38-5D85-A11C-5990-66F981A3EFA7}"/>
              </a:ext>
            </a:extLst>
          </p:cNvPr>
          <p:cNvSpPr/>
          <p:nvPr/>
        </p:nvSpPr>
        <p:spPr>
          <a:xfrm>
            <a:off x="1138067" y="4226510"/>
            <a:ext cx="8521500" cy="2631490"/>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RP/0/RP0/CPU0:R01#sh segment-routing srv6 </a:t>
            </a:r>
            <a:r>
              <a:rPr lang="sk-SK" sz="1100" dirty="0" err="1">
                <a:latin typeface="Consolas" panose="020B0609020204030204" pitchFamily="49" charset="0"/>
              </a:rPr>
              <a:t>sid</a:t>
            </a:r>
            <a:r>
              <a:rPr lang="sk-SK" sz="1100" dirty="0">
                <a:latin typeface="Consolas" panose="020B0609020204030204" pitchFamily="49" charset="0"/>
              </a:rPr>
              <a:t> </a:t>
            </a:r>
          </a:p>
          <a:p>
            <a:r>
              <a:rPr lang="sk-SK" sz="1100" dirty="0" err="1">
                <a:latin typeface="Consolas" panose="020B0609020204030204" pitchFamily="49" charset="0"/>
              </a:rPr>
              <a:t>Fri</a:t>
            </a:r>
            <a:r>
              <a:rPr lang="sk-SK" sz="1100" dirty="0">
                <a:latin typeface="Consolas" panose="020B0609020204030204" pitchFamily="49" charset="0"/>
              </a:rPr>
              <a:t> Nov  1 17:45:53.446 UTC</a:t>
            </a:r>
          </a:p>
          <a:p>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Locator</a:t>
            </a:r>
            <a:r>
              <a:rPr lang="sk-SK" sz="1100" dirty="0">
                <a:latin typeface="Consolas" panose="020B0609020204030204" pitchFamily="49" charset="0"/>
              </a:rPr>
              <a:t>: 'Loc_uSID_Algo_0' *** </a:t>
            </a:r>
          </a:p>
          <a:p>
            <a:endParaRPr lang="sk-SK" sz="1100" dirty="0">
              <a:latin typeface="Consolas" panose="020B0609020204030204" pitchFamily="49" charset="0"/>
            </a:endParaRPr>
          </a:p>
          <a:p>
            <a:r>
              <a:rPr lang="sk-SK" sz="1100" dirty="0">
                <a:latin typeface="Consolas" panose="020B0609020204030204" pitchFamily="49" charset="0"/>
              </a:rPr>
              <a:t>SID                         </a:t>
            </a:r>
            <a:r>
              <a:rPr lang="sk-SK" sz="1100" dirty="0" err="1">
                <a:latin typeface="Consolas" panose="020B0609020204030204" pitchFamily="49" charset="0"/>
              </a:rPr>
              <a:t>Behavior</a:t>
            </a:r>
            <a:r>
              <a:rPr lang="sk-SK" sz="1100" dirty="0">
                <a:latin typeface="Consolas" panose="020B0609020204030204" pitchFamily="49" charset="0"/>
              </a:rPr>
              <a:t>          </a:t>
            </a:r>
            <a:r>
              <a:rPr lang="sk-SK" sz="1100" dirty="0" err="1">
                <a:latin typeface="Consolas" panose="020B0609020204030204" pitchFamily="49" charset="0"/>
              </a:rPr>
              <a:t>Context</a:t>
            </a:r>
            <a:r>
              <a:rPr lang="sk-SK" sz="1100" dirty="0">
                <a:latin typeface="Consolas" panose="020B0609020204030204" pitchFamily="49" charset="0"/>
              </a:rPr>
              <a:t>                           </a:t>
            </a:r>
            <a:r>
              <a:rPr lang="sk-SK" sz="1100" dirty="0" err="1">
                <a:latin typeface="Consolas" panose="020B0609020204030204" pitchFamily="49" charset="0"/>
              </a:rPr>
              <a:t>Owner</a:t>
            </a:r>
            <a:r>
              <a:rPr lang="sk-SK" sz="1100" dirty="0">
                <a:latin typeface="Consolas" panose="020B0609020204030204" pitchFamily="49" charset="0"/>
              </a:rPr>
              <a:t>               State  RW</a:t>
            </a:r>
          </a:p>
          <a:p>
            <a:r>
              <a:rPr lang="sk-SK" sz="1100" dirty="0">
                <a:latin typeface="Consolas" panose="020B0609020204030204" pitchFamily="49" charset="0"/>
              </a:rPr>
              <a:t>--------------------------  ----------------  --------------------------------  ------------------  -----  --</a:t>
            </a:r>
          </a:p>
          <a:p>
            <a:r>
              <a:rPr lang="sk-SK" sz="1100" dirty="0">
                <a:latin typeface="Consolas" panose="020B0609020204030204" pitchFamily="49" charset="0"/>
              </a:rPr>
              <a:t>fc00:ab00:1::               </a:t>
            </a:r>
            <a:r>
              <a:rPr lang="sk-SK" sz="1100" dirty="0" err="1">
                <a:latin typeface="Consolas" panose="020B0609020204030204" pitchFamily="49" charset="0"/>
              </a:rPr>
              <a:t>uN</a:t>
            </a:r>
            <a:r>
              <a:rPr lang="sk-SK" sz="1100" dirty="0">
                <a:latin typeface="Consolas" panose="020B0609020204030204" pitchFamily="49" charset="0"/>
              </a:rPr>
              <a:t> (PSP/USD)      'default':1                       </a:t>
            </a:r>
            <a:r>
              <a:rPr lang="sk-SK" sz="1100" dirty="0" err="1">
                <a:latin typeface="Consolas" panose="020B0609020204030204" pitchFamily="49" charset="0"/>
              </a:rPr>
              <a:t>sidmgr</a:t>
            </a:r>
            <a:r>
              <a:rPr lang="sk-SK" sz="1100" dirty="0">
                <a:latin typeface="Consolas" panose="020B0609020204030204" pitchFamily="49" charset="0"/>
              </a:rPr>
              <a:t>              </a:t>
            </a:r>
            <a:r>
              <a:rPr lang="sk-SK" sz="1100" dirty="0" err="1">
                <a:latin typeface="Consolas" panose="020B0609020204030204" pitchFamily="49" charset="0"/>
              </a:rPr>
              <a:t>InUse</a:t>
            </a:r>
            <a:r>
              <a:rPr lang="sk-SK" sz="1100" dirty="0">
                <a:latin typeface="Consolas" panose="020B0609020204030204" pitchFamily="49" charset="0"/>
              </a:rPr>
              <a:t>  Y </a:t>
            </a:r>
          </a:p>
          <a:p>
            <a:r>
              <a:rPr lang="sk-SK" sz="1100" dirty="0">
                <a:latin typeface="Consolas" panose="020B0609020204030204" pitchFamily="49" charset="0"/>
              </a:rPr>
              <a:t>fc00:ab00:1:e000::          </a:t>
            </a:r>
            <a:r>
              <a:rPr lang="sk-SK" sz="1100" dirty="0" err="1">
                <a:latin typeface="Consolas" panose="020B0609020204030204" pitchFamily="49" charset="0"/>
              </a:rPr>
              <a:t>uA</a:t>
            </a:r>
            <a:r>
              <a:rPr lang="sk-SK" sz="1100" dirty="0">
                <a:latin typeface="Consolas" panose="020B0609020204030204" pitchFamily="49" charset="0"/>
              </a:rPr>
              <a:t> (PSP/USD)      [Gi0/0/0/0, </a:t>
            </a:r>
            <a:r>
              <a:rPr lang="sk-SK" sz="1100" dirty="0" err="1">
                <a:latin typeface="Consolas" panose="020B0609020204030204" pitchFamily="49" charset="0"/>
              </a:rPr>
              <a:t>Link-Local</a:t>
            </a:r>
            <a:r>
              <a:rPr lang="sk-SK" sz="1100" dirty="0">
                <a:latin typeface="Consolas" panose="020B0609020204030204" pitchFamily="49" charset="0"/>
              </a:rPr>
              <a:t>]:0         isis-1              </a:t>
            </a:r>
            <a:r>
              <a:rPr lang="sk-SK" sz="1100" dirty="0" err="1">
                <a:latin typeface="Consolas" panose="020B0609020204030204" pitchFamily="49" charset="0"/>
              </a:rPr>
              <a:t>InUse</a:t>
            </a:r>
            <a:r>
              <a:rPr lang="sk-SK" sz="1100" dirty="0">
                <a:latin typeface="Consolas" panose="020B0609020204030204" pitchFamily="49" charset="0"/>
              </a:rPr>
              <a:t>  Y </a:t>
            </a:r>
          </a:p>
          <a:p>
            <a:r>
              <a:rPr lang="sk-SK" sz="1100" dirty="0">
                <a:solidFill>
                  <a:schemeClr val="bg1"/>
                </a:solidFill>
                <a:highlight>
                  <a:srgbClr val="0000FF"/>
                </a:highlight>
                <a:latin typeface="Consolas" panose="020B0609020204030204" pitchFamily="49" charset="0"/>
              </a:rPr>
              <a:t>fc00:ab00:1:e001::          </a:t>
            </a:r>
            <a:r>
              <a:rPr lang="sk-SK" sz="1100" dirty="0" err="1">
                <a:latin typeface="Consolas" panose="020B0609020204030204" pitchFamily="49" charset="0"/>
              </a:rPr>
              <a:t>uDT4</a:t>
            </a:r>
            <a:r>
              <a:rPr lang="sk-SK" sz="1100" dirty="0">
                <a:latin typeface="Consolas" panose="020B0609020204030204" pitchFamily="49" charset="0"/>
              </a:rPr>
              <a:t>              'A'                               bgp-65000           </a:t>
            </a:r>
            <a:r>
              <a:rPr lang="sk-SK" sz="1100" dirty="0" err="1">
                <a:latin typeface="Consolas" panose="020B0609020204030204" pitchFamily="49" charset="0"/>
              </a:rPr>
              <a:t>InUse</a:t>
            </a:r>
            <a:r>
              <a:rPr lang="sk-SK" sz="1100" dirty="0">
                <a:latin typeface="Consolas" panose="020B0609020204030204" pitchFamily="49" charset="0"/>
              </a:rPr>
              <a:t>  Y </a:t>
            </a:r>
          </a:p>
          <a:p>
            <a:r>
              <a:rPr lang="sk-SK" sz="1100" dirty="0">
                <a:latin typeface="Consolas" panose="020B0609020204030204" pitchFamily="49" charset="0"/>
              </a:rPr>
              <a:t>fc00:ab00:1:e002::          uDX2              14:140104                         l2vpn_srv6          </a:t>
            </a:r>
            <a:r>
              <a:rPr lang="sk-SK" sz="1100" dirty="0" err="1">
                <a:latin typeface="Consolas" panose="020B0609020204030204" pitchFamily="49" charset="0"/>
              </a:rPr>
              <a:t>InUse</a:t>
            </a:r>
            <a:r>
              <a:rPr lang="sk-SK" sz="1100" dirty="0">
                <a:latin typeface="Consolas" panose="020B0609020204030204" pitchFamily="49" charset="0"/>
              </a:rPr>
              <a:t>  Y </a:t>
            </a:r>
          </a:p>
          <a:p>
            <a:r>
              <a:rPr lang="sk-SK" sz="1100" dirty="0">
                <a:latin typeface="Consolas" panose="020B0609020204030204" pitchFamily="49" charset="0"/>
              </a:rPr>
              <a:t>fc00:ab00:1:e003::          </a:t>
            </a:r>
            <a:r>
              <a:rPr lang="sk-SK" sz="1100" dirty="0" err="1">
                <a:latin typeface="Consolas" panose="020B0609020204030204" pitchFamily="49" charset="0"/>
              </a:rPr>
              <a:t>uA</a:t>
            </a:r>
            <a:r>
              <a:rPr lang="sk-SK" sz="1100" dirty="0">
                <a:latin typeface="Consolas" panose="020B0609020204030204" pitchFamily="49" charset="0"/>
              </a:rPr>
              <a:t> (PSP/USD)      [Gi0/0/0/5, </a:t>
            </a:r>
            <a:r>
              <a:rPr lang="sk-SK" sz="1100" dirty="0" err="1">
                <a:latin typeface="Consolas" panose="020B0609020204030204" pitchFamily="49" charset="0"/>
              </a:rPr>
              <a:t>Link-Local</a:t>
            </a:r>
            <a:r>
              <a:rPr lang="sk-SK" sz="1100" dirty="0">
                <a:latin typeface="Consolas" panose="020B0609020204030204" pitchFamily="49" charset="0"/>
              </a:rPr>
              <a:t>]:0         isis-1              </a:t>
            </a:r>
            <a:r>
              <a:rPr lang="sk-SK" sz="1100" dirty="0" err="1">
                <a:latin typeface="Consolas" panose="020B0609020204030204" pitchFamily="49" charset="0"/>
              </a:rPr>
              <a:t>InUse</a:t>
            </a:r>
            <a:r>
              <a:rPr lang="sk-SK" sz="1100" dirty="0">
                <a:latin typeface="Consolas" panose="020B0609020204030204" pitchFamily="49" charset="0"/>
              </a:rPr>
              <a:t>  Y </a:t>
            </a:r>
          </a:p>
          <a:p>
            <a:r>
              <a:rPr lang="sk-SK" sz="1100" dirty="0">
                <a:latin typeface="Consolas" panose="020B0609020204030204" pitchFamily="49" charset="0"/>
              </a:rPr>
              <a:t>fc00:ab00:1:e004::          </a:t>
            </a:r>
            <a:r>
              <a:rPr lang="sk-SK" sz="1100" dirty="0" err="1">
                <a:latin typeface="Consolas" panose="020B0609020204030204" pitchFamily="49" charset="0"/>
              </a:rPr>
              <a:t>uA</a:t>
            </a:r>
            <a:r>
              <a:rPr lang="sk-SK" sz="1100" dirty="0">
                <a:latin typeface="Consolas" panose="020B0609020204030204" pitchFamily="49" charset="0"/>
              </a:rPr>
              <a:t> (PSP/USD)      [Gi0/0/0/0, </a:t>
            </a:r>
            <a:r>
              <a:rPr lang="sk-SK" sz="1100" dirty="0" err="1">
                <a:latin typeface="Consolas" panose="020B0609020204030204" pitchFamily="49" charset="0"/>
              </a:rPr>
              <a:t>Link-Local</a:t>
            </a:r>
            <a:r>
              <a:rPr lang="sk-SK" sz="1100" dirty="0">
                <a:latin typeface="Consolas" panose="020B0609020204030204" pitchFamily="49" charset="0"/>
              </a:rPr>
              <a:t>]:0:P       isis-1              </a:t>
            </a:r>
            <a:r>
              <a:rPr lang="sk-SK" sz="1100" dirty="0" err="1">
                <a:latin typeface="Consolas" panose="020B0609020204030204" pitchFamily="49" charset="0"/>
              </a:rPr>
              <a:t>InUse</a:t>
            </a:r>
            <a:r>
              <a:rPr lang="sk-SK" sz="1100" dirty="0">
                <a:latin typeface="Consolas" panose="020B0609020204030204" pitchFamily="49" charset="0"/>
              </a:rPr>
              <a:t>  Y </a:t>
            </a:r>
          </a:p>
          <a:p>
            <a:r>
              <a:rPr lang="sk-SK" sz="1100" dirty="0">
                <a:latin typeface="Consolas" panose="020B0609020204030204" pitchFamily="49" charset="0"/>
              </a:rPr>
              <a:t>fc00:ab00:1:e005::          </a:t>
            </a:r>
            <a:r>
              <a:rPr lang="sk-SK" sz="1100" dirty="0" err="1">
                <a:latin typeface="Consolas" panose="020B0609020204030204" pitchFamily="49" charset="0"/>
              </a:rPr>
              <a:t>uA</a:t>
            </a:r>
            <a:r>
              <a:rPr lang="sk-SK" sz="1100" dirty="0">
                <a:latin typeface="Consolas" panose="020B0609020204030204" pitchFamily="49" charset="0"/>
              </a:rPr>
              <a:t> (PSP/USD)      [Gi0/0/0/5, </a:t>
            </a:r>
            <a:r>
              <a:rPr lang="sk-SK" sz="1100" dirty="0" err="1">
                <a:latin typeface="Consolas" panose="020B0609020204030204" pitchFamily="49" charset="0"/>
              </a:rPr>
              <a:t>Link-Local</a:t>
            </a:r>
            <a:r>
              <a:rPr lang="sk-SK" sz="1100" dirty="0">
                <a:latin typeface="Consolas" panose="020B0609020204030204" pitchFamily="49" charset="0"/>
              </a:rPr>
              <a:t>]:0:P       isis-1              </a:t>
            </a:r>
            <a:r>
              <a:rPr lang="sk-SK" sz="1100" dirty="0" err="1">
                <a:latin typeface="Consolas" panose="020B0609020204030204" pitchFamily="49" charset="0"/>
              </a:rPr>
              <a:t>InUse</a:t>
            </a:r>
            <a:r>
              <a:rPr lang="sk-SK" sz="1100" dirty="0">
                <a:latin typeface="Consolas" panose="020B0609020204030204" pitchFamily="49" charset="0"/>
              </a:rPr>
              <a:t>  Y </a:t>
            </a:r>
          </a:p>
          <a:p>
            <a:r>
              <a:rPr lang="sk-SK" sz="1100" dirty="0">
                <a:latin typeface="Consolas" panose="020B0609020204030204" pitchFamily="49" charset="0"/>
              </a:rPr>
              <a:t>RP/0/RP0/CPU0:R01#</a:t>
            </a:r>
          </a:p>
        </p:txBody>
      </p:sp>
      <p:sp>
        <p:nvSpPr>
          <p:cNvPr id="6" name="Rectangle 5">
            <a:extLst>
              <a:ext uri="{FF2B5EF4-FFF2-40B4-BE49-F238E27FC236}">
                <a16:creationId xmlns:a16="http://schemas.microsoft.com/office/drawing/2014/main" id="{82848F71-5F6B-8674-37C3-853D8A3361C4}"/>
              </a:ext>
            </a:extLst>
          </p:cNvPr>
          <p:cNvSpPr/>
          <p:nvPr/>
        </p:nvSpPr>
        <p:spPr>
          <a:xfrm>
            <a:off x="5758774" y="785478"/>
            <a:ext cx="6155566" cy="4154984"/>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RP/0/RP0/CPU0:R01#</a:t>
            </a:r>
            <a:r>
              <a:rPr lang="en-US" sz="1100" b="1" dirty="0">
                <a:latin typeface="Consolas" panose="020B0609020204030204" pitchFamily="49" charset="0"/>
              </a:rPr>
              <a:t>sh cef vrf A 10.0.1.1 detail </a:t>
            </a:r>
          </a:p>
          <a:p>
            <a:r>
              <a:rPr lang="en-US" sz="1100" dirty="0">
                <a:latin typeface="Consolas" panose="020B0609020204030204" pitchFamily="49" charset="0"/>
              </a:rPr>
              <a:t>10.0.1.0/24, version 197, internal 0x1000001 0x30 (</a:t>
            </a:r>
            <a:r>
              <a:rPr lang="en-US" sz="1100" dirty="0" err="1">
                <a:latin typeface="Consolas" panose="020B0609020204030204" pitchFamily="49" charset="0"/>
              </a:rPr>
              <a:t>ptr</a:t>
            </a:r>
            <a:r>
              <a:rPr lang="en-US" sz="1100" dirty="0">
                <a:latin typeface="Consolas" panose="020B0609020204030204" pitchFamily="49" charset="0"/>
              </a:rPr>
              <a:t> 0xe8890b0) [1], 0x400 (0xe01b338), 0x0 (0x0)</a:t>
            </a:r>
          </a:p>
          <a:p>
            <a:r>
              <a:rPr lang="en-US" sz="1100" dirty="0">
                <a:latin typeface="Consolas" panose="020B0609020204030204" pitchFamily="49" charset="0"/>
              </a:rPr>
              <a:t> Updated Oct 21 12:56:44.040</a:t>
            </a:r>
          </a:p>
          <a:p>
            <a:r>
              <a:rPr lang="en-US" sz="1100" dirty="0">
                <a:latin typeface="Consolas" panose="020B0609020204030204" pitchFamily="49" charset="0"/>
              </a:rPr>
              <a:t> Prefix Len 24, traffic index 0, precedence n/a, priority 3</a:t>
            </a:r>
          </a:p>
          <a:p>
            <a:r>
              <a:rPr lang="en-US" sz="1100" dirty="0">
                <a:latin typeface="Consolas" panose="020B0609020204030204" pitchFamily="49" charset="0"/>
              </a:rPr>
              <a:t>  gateway array (0xde82e90) reference count 3, flags 0x10, source rib (7), 0 backups</a:t>
            </a:r>
          </a:p>
          <a:p>
            <a:r>
              <a:rPr lang="en-US" sz="1100" dirty="0">
                <a:latin typeface="Consolas" panose="020B0609020204030204" pitchFamily="49" charset="0"/>
              </a:rPr>
              <a:t>                [4 type 3 flags 0x8441 (0xdf33be8) </a:t>
            </a:r>
            <a:r>
              <a:rPr lang="en-US" sz="1100" dirty="0" err="1">
                <a:latin typeface="Consolas" panose="020B0609020204030204" pitchFamily="49" charset="0"/>
              </a:rPr>
              <a:t>ext</a:t>
            </a:r>
            <a:r>
              <a:rPr lang="en-US" sz="1100" dirty="0">
                <a:latin typeface="Consolas" panose="020B0609020204030204" pitchFamily="49" charset="0"/>
              </a:rPr>
              <a:t> 0x0 (0x0)]</a:t>
            </a:r>
          </a:p>
          <a:p>
            <a:r>
              <a:rPr lang="en-US" sz="1100" dirty="0">
                <a:latin typeface="Consolas" panose="020B0609020204030204" pitchFamily="49" charset="0"/>
              </a:rPr>
              <a:t>  LW-LDI[type=3, </a:t>
            </a:r>
            <a:r>
              <a:rPr lang="en-US" sz="1100" dirty="0" err="1">
                <a:latin typeface="Consolas" panose="020B0609020204030204" pitchFamily="49" charset="0"/>
              </a:rPr>
              <a:t>refc</a:t>
            </a:r>
            <a:r>
              <a:rPr lang="en-US" sz="1100" dirty="0">
                <a:latin typeface="Consolas" panose="020B0609020204030204" pitchFamily="49" charset="0"/>
              </a:rPr>
              <a:t>=1, </a:t>
            </a:r>
            <a:r>
              <a:rPr lang="en-US" sz="1100" dirty="0" err="1">
                <a:latin typeface="Consolas" panose="020B0609020204030204" pitchFamily="49" charset="0"/>
              </a:rPr>
              <a:t>ptr</a:t>
            </a:r>
            <a:r>
              <a:rPr lang="en-US" sz="1100" dirty="0">
                <a:latin typeface="Consolas" panose="020B0609020204030204" pitchFamily="49" charset="0"/>
              </a:rPr>
              <a:t>=0xe01b338, sh-</a:t>
            </a:r>
            <a:r>
              <a:rPr lang="en-US" sz="1100" dirty="0" err="1">
                <a:latin typeface="Consolas" panose="020B0609020204030204" pitchFamily="49" charset="0"/>
              </a:rPr>
              <a:t>ldi</a:t>
            </a:r>
            <a:r>
              <a:rPr lang="en-US" sz="1100" dirty="0">
                <a:latin typeface="Consolas" panose="020B0609020204030204" pitchFamily="49" charset="0"/>
              </a:rPr>
              <a:t>=0xdf33be8]</a:t>
            </a:r>
          </a:p>
          <a:p>
            <a:r>
              <a:rPr lang="en-US" sz="1100" dirty="0">
                <a:latin typeface="Consolas" panose="020B0609020204030204" pitchFamily="49" charset="0"/>
              </a:rPr>
              <a:t>  gateway array update type-time 1 Oct 21 12:56:44.026</a:t>
            </a:r>
          </a:p>
          <a:p>
            <a:r>
              <a:rPr lang="en-US" sz="1100" dirty="0">
                <a:latin typeface="Consolas" panose="020B0609020204030204" pitchFamily="49" charset="0"/>
              </a:rPr>
              <a:t> LDI Update time Oct 21 12:56:44.026</a:t>
            </a:r>
          </a:p>
          <a:p>
            <a:r>
              <a:rPr lang="en-US" sz="1100" dirty="0">
                <a:latin typeface="Consolas" panose="020B0609020204030204" pitchFamily="49" charset="0"/>
              </a:rPr>
              <a:t> LW-LDI-TS Oct 21 12:56:44.026</a:t>
            </a:r>
          </a:p>
          <a:p>
            <a:endParaRPr lang="en-US" sz="1100" dirty="0">
              <a:latin typeface="Consolas" panose="020B0609020204030204" pitchFamily="49" charset="0"/>
            </a:endParaRPr>
          </a:p>
          <a:p>
            <a:r>
              <a:rPr lang="en-US" sz="1100" dirty="0">
                <a:latin typeface="Consolas" panose="020B0609020204030204" pitchFamily="49" charset="0"/>
              </a:rPr>
              <a:t>  Level 1 - Load distribution: 0</a:t>
            </a:r>
          </a:p>
          <a:p>
            <a:r>
              <a:rPr lang="en-US" sz="1100" dirty="0">
                <a:latin typeface="Consolas" panose="020B0609020204030204" pitchFamily="49" charset="0"/>
              </a:rPr>
              <a:t>  [0] via 10.64.1.2/32, recursive</a:t>
            </a:r>
          </a:p>
          <a:p>
            <a:endParaRPr lang="en-US" sz="1100" dirty="0">
              <a:latin typeface="Consolas" panose="020B0609020204030204" pitchFamily="49" charset="0"/>
            </a:endParaRPr>
          </a:p>
          <a:p>
            <a:r>
              <a:rPr lang="en-US" sz="1100" dirty="0">
                <a:latin typeface="Consolas" panose="020B0609020204030204" pitchFamily="49" charset="0"/>
              </a:rPr>
              <a:t>   via 10.64.1.2/32, 3 dependencies, recursive, bgp-</a:t>
            </a:r>
            <a:r>
              <a:rPr lang="en-US" sz="1100" dirty="0" err="1">
                <a:latin typeface="Consolas" panose="020B0609020204030204" pitchFamily="49" charset="0"/>
              </a:rPr>
              <a:t>ext</a:t>
            </a:r>
            <a:r>
              <a:rPr lang="en-US" sz="1100" dirty="0">
                <a:latin typeface="Consolas" panose="020B0609020204030204" pitchFamily="49" charset="0"/>
              </a:rPr>
              <a:t> [flags 0x6020]</a:t>
            </a:r>
          </a:p>
          <a:p>
            <a:r>
              <a:rPr lang="en-US" sz="1100" dirty="0">
                <a:latin typeface="Consolas" panose="020B0609020204030204" pitchFamily="49" charset="0"/>
              </a:rPr>
              <a:t>    path-</a:t>
            </a:r>
            <a:r>
              <a:rPr lang="en-US" sz="1100" dirty="0" err="1">
                <a:latin typeface="Consolas" panose="020B0609020204030204" pitchFamily="49" charset="0"/>
              </a:rPr>
              <a:t>idx</a:t>
            </a:r>
            <a:r>
              <a:rPr lang="en-US" sz="1100" dirty="0">
                <a:latin typeface="Consolas" panose="020B0609020204030204" pitchFamily="49" charset="0"/>
              </a:rPr>
              <a:t> 0 NHID 0x0 [0xe889188 0x0]</a:t>
            </a:r>
          </a:p>
          <a:p>
            <a:r>
              <a:rPr lang="en-US" sz="1100" dirty="0">
                <a:latin typeface="Consolas" panose="020B0609020204030204" pitchFamily="49" charset="0"/>
              </a:rPr>
              <a:t>    next hop 10.64.1.2/32 via 10.64.1.2/32</a:t>
            </a:r>
          </a:p>
          <a:p>
            <a:endParaRPr lang="en-US" sz="1100" dirty="0">
              <a:latin typeface="Consolas" panose="020B0609020204030204" pitchFamily="49" charset="0"/>
            </a:endParaRPr>
          </a:p>
          <a:p>
            <a:r>
              <a:rPr lang="en-US" sz="1100" dirty="0">
                <a:latin typeface="Consolas" panose="020B0609020204030204" pitchFamily="49" charset="0"/>
              </a:rPr>
              <a:t>    Load distribution: 0 (refcount 4)</a:t>
            </a:r>
          </a:p>
          <a:p>
            <a:r>
              <a:rPr lang="en-US" sz="1100" dirty="0">
                <a:latin typeface="Consolas" panose="020B0609020204030204" pitchFamily="49" charset="0"/>
              </a:rPr>
              <a:t>    Hash  OK  Interface                 Address</a:t>
            </a:r>
          </a:p>
          <a:p>
            <a:r>
              <a:rPr lang="en-US" sz="1100" dirty="0">
                <a:latin typeface="Consolas" panose="020B0609020204030204" pitchFamily="49" charset="0"/>
              </a:rPr>
              <a:t>    0     Y   </a:t>
            </a:r>
            <a:r>
              <a:rPr lang="en-US" sz="1100" dirty="0">
                <a:solidFill>
                  <a:schemeClr val="accent6"/>
                </a:solidFill>
                <a:latin typeface="Consolas" panose="020B0609020204030204" pitchFamily="49" charset="0"/>
              </a:rPr>
              <a:t>GigabitEthernet0/0/0/20</a:t>
            </a:r>
            <a:r>
              <a:rPr lang="en-US" sz="1100" dirty="0">
                <a:latin typeface="Consolas" panose="020B0609020204030204" pitchFamily="49" charset="0"/>
              </a:rPr>
              <a:t>   remote         </a:t>
            </a:r>
          </a:p>
          <a:p>
            <a:r>
              <a:rPr lang="en-US" sz="1100" dirty="0">
                <a:latin typeface="Consolas" panose="020B0609020204030204" pitchFamily="49" charset="0"/>
              </a:rPr>
              <a:t>RP/0/RP0/CPU0:R01#</a:t>
            </a:r>
          </a:p>
        </p:txBody>
      </p:sp>
    </p:spTree>
    <p:extLst>
      <p:ext uri="{BB962C8B-B14F-4D97-AF65-F5344CB8AC3E}">
        <p14:creationId xmlns:p14="http://schemas.microsoft.com/office/powerpoint/2010/main" val="4167442601"/>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MPLS to SRv6 (CE31 -&gt; CE01)  #CE01</a:t>
            </a:r>
          </a:p>
        </p:txBody>
      </p:sp>
      <p:sp>
        <p:nvSpPr>
          <p:cNvPr id="4" name="Rectangle 3">
            <a:extLst>
              <a:ext uri="{FF2B5EF4-FFF2-40B4-BE49-F238E27FC236}">
                <a16:creationId xmlns:a16="http://schemas.microsoft.com/office/drawing/2014/main" id="{87D7CB37-5BEE-FF8F-7602-60627856E0E8}"/>
              </a:ext>
            </a:extLst>
          </p:cNvPr>
          <p:cNvSpPr/>
          <p:nvPr/>
        </p:nvSpPr>
        <p:spPr>
          <a:xfrm>
            <a:off x="105804" y="786594"/>
            <a:ext cx="9096561" cy="5847755"/>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CE01#sh int lo 1000</a:t>
            </a:r>
          </a:p>
          <a:p>
            <a:r>
              <a:rPr lang="en-US" sz="1100" dirty="0">
                <a:latin typeface="Consolas" panose="020B0609020204030204" pitchFamily="49" charset="0"/>
              </a:rPr>
              <a:t>Loopback1000 is up, line protocol is up </a:t>
            </a:r>
          </a:p>
          <a:p>
            <a:r>
              <a:rPr lang="en-US" sz="1100" dirty="0">
                <a:latin typeface="Consolas" panose="020B0609020204030204" pitchFamily="49" charset="0"/>
              </a:rPr>
              <a:t>  Hardware is Loopback</a:t>
            </a:r>
          </a:p>
          <a:p>
            <a:r>
              <a:rPr lang="en-US" sz="1100" dirty="0">
                <a:latin typeface="Consolas" panose="020B0609020204030204" pitchFamily="49" charset="0"/>
              </a:rPr>
              <a:t>  Internet address is </a:t>
            </a:r>
            <a:r>
              <a:rPr lang="en-US" sz="1100" dirty="0">
                <a:solidFill>
                  <a:schemeClr val="accent6"/>
                </a:solidFill>
                <a:latin typeface="Consolas" panose="020B0609020204030204" pitchFamily="49" charset="0"/>
              </a:rPr>
              <a:t>10.0.1.1/24</a:t>
            </a:r>
          </a:p>
          <a:p>
            <a:r>
              <a:rPr lang="en-US" sz="1100" dirty="0">
                <a:latin typeface="Consolas" panose="020B0609020204030204" pitchFamily="49" charset="0"/>
              </a:rPr>
              <a:t>  MTU 1514 bytes, BW 8000000 Kbit/sec, DLY 5000 usec, </a:t>
            </a:r>
          </a:p>
          <a:p>
            <a:r>
              <a:rPr lang="en-US" sz="1100" dirty="0">
                <a:latin typeface="Consolas" panose="020B0609020204030204" pitchFamily="49" charset="0"/>
              </a:rPr>
              <a:t>  -- cut --</a:t>
            </a:r>
          </a:p>
          <a:p>
            <a:r>
              <a:rPr lang="en-US" sz="1100" dirty="0">
                <a:latin typeface="Consolas" panose="020B0609020204030204" pitchFamily="49" charset="0"/>
              </a:rPr>
              <a:t>CE01#sh ip bgp</a:t>
            </a:r>
          </a:p>
          <a:p>
            <a:r>
              <a:rPr lang="en-US" sz="1100" dirty="0">
                <a:latin typeface="Consolas" panose="020B0609020204030204" pitchFamily="49" charset="0"/>
              </a:rPr>
              <a:t>BGP table version is 203, local router ID is 10.2.1.1</a:t>
            </a:r>
          </a:p>
          <a:p>
            <a:r>
              <a:rPr lang="en-US" sz="1100" dirty="0">
                <a:latin typeface="Consolas" panose="020B0609020204030204" pitchFamily="49" charset="0"/>
              </a:rPr>
              <a:t>Status codes: s suppressed, d damped, h history, * valid, &gt; best, </a:t>
            </a:r>
            <a:r>
              <a:rPr lang="en-US" sz="1100" dirty="0" err="1">
                <a:latin typeface="Consolas" panose="020B0609020204030204" pitchFamily="49" charset="0"/>
              </a:rPr>
              <a:t>i</a:t>
            </a:r>
            <a:r>
              <a:rPr lang="en-US" sz="1100" dirty="0">
                <a:latin typeface="Consolas" panose="020B0609020204030204" pitchFamily="49" charset="0"/>
              </a:rPr>
              <a:t> - internal, </a:t>
            </a:r>
          </a:p>
          <a:p>
            <a:r>
              <a:rPr lang="en-US" sz="1100" dirty="0">
                <a:latin typeface="Consolas" panose="020B0609020204030204" pitchFamily="49" charset="0"/>
              </a:rPr>
              <a:t>              r RIB-failure, S Stale, m multipath, b backup-path, f RT-Filter, </a:t>
            </a:r>
          </a:p>
          <a:p>
            <a:r>
              <a:rPr lang="en-US" sz="1100" dirty="0">
                <a:latin typeface="Consolas" panose="020B0609020204030204" pitchFamily="49" charset="0"/>
              </a:rPr>
              <a:t>              x best-external, a additional-path, c RIB-compressed, </a:t>
            </a:r>
          </a:p>
          <a:p>
            <a:r>
              <a:rPr lang="en-US" sz="1100" dirty="0">
                <a:latin typeface="Consolas" panose="020B0609020204030204" pitchFamily="49" charset="0"/>
              </a:rPr>
              <a:t>              t secondary path, </a:t>
            </a:r>
          </a:p>
          <a:p>
            <a:r>
              <a:rPr lang="en-US" sz="1100" dirty="0">
                <a:latin typeface="Consolas" panose="020B0609020204030204" pitchFamily="49" charset="0"/>
              </a:rPr>
              <a:t>Origin codes: </a:t>
            </a:r>
            <a:r>
              <a:rPr lang="en-US" sz="1100" dirty="0" err="1">
                <a:latin typeface="Consolas" panose="020B0609020204030204" pitchFamily="49" charset="0"/>
              </a:rPr>
              <a:t>i</a:t>
            </a:r>
            <a:r>
              <a:rPr lang="en-US" sz="1100" dirty="0">
                <a:latin typeface="Consolas" panose="020B0609020204030204" pitchFamily="49" charset="0"/>
              </a:rPr>
              <a:t> - IGP, e - EGP, ? - incomplete</a:t>
            </a:r>
          </a:p>
          <a:p>
            <a:r>
              <a:rPr lang="en-US" sz="1100" dirty="0">
                <a:latin typeface="Consolas" panose="020B0609020204030204" pitchFamily="49" charset="0"/>
              </a:rPr>
              <a:t>RPKI validation codes: V valid, I invalid, N Not found</a:t>
            </a:r>
          </a:p>
          <a:p>
            <a:endParaRPr lang="en-US" sz="1100" dirty="0">
              <a:latin typeface="Consolas" panose="020B0609020204030204" pitchFamily="49" charset="0"/>
            </a:endParaRPr>
          </a:p>
          <a:p>
            <a:r>
              <a:rPr lang="en-US" sz="1100" dirty="0">
                <a:latin typeface="Consolas" panose="020B0609020204030204" pitchFamily="49" charset="0"/>
              </a:rPr>
              <a:t>     Network          Next Hop            Metric LocPrf Weight Path</a:t>
            </a:r>
          </a:p>
          <a:p>
            <a:r>
              <a:rPr lang="en-US" sz="1100" dirty="0">
                <a:latin typeface="Consolas" panose="020B0609020204030204" pitchFamily="49" charset="0"/>
              </a:rPr>
              <a:t> </a:t>
            </a:r>
            <a:r>
              <a:rPr lang="en-US" sz="1100" dirty="0">
                <a:solidFill>
                  <a:schemeClr val="accent6"/>
                </a:solidFill>
                <a:latin typeface="Consolas" panose="020B0609020204030204" pitchFamily="49" charset="0"/>
              </a:rPr>
              <a:t>*&gt;   10.0.1.0/24      0.0.0.0                  0         32768 </a:t>
            </a:r>
            <a:r>
              <a:rPr lang="en-US" sz="1100" dirty="0" err="1">
                <a:solidFill>
                  <a:schemeClr val="accent6"/>
                </a:solidFill>
                <a:latin typeface="Consolas" panose="020B0609020204030204" pitchFamily="49" charset="0"/>
              </a:rPr>
              <a:t>i</a:t>
            </a:r>
            <a:endParaRPr lang="en-US" sz="1100" dirty="0">
              <a:solidFill>
                <a:schemeClr val="accent6"/>
              </a:solidFill>
              <a:latin typeface="Consolas" panose="020B0609020204030204" pitchFamily="49" charset="0"/>
            </a:endParaRPr>
          </a:p>
          <a:p>
            <a:r>
              <a:rPr lang="en-US" sz="1100" dirty="0">
                <a:latin typeface="Consolas" panose="020B0609020204030204" pitchFamily="49" charset="0"/>
              </a:rPr>
              <a:t> *&gt;   10.0.4.0/24      10.64.1.1                              0 65000 65004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10.0.21.0/24     10.64.1.1                              0 65000 65021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10.0.31.0/24     10.64.1.1                              0 65000 65031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10.1.1.0/24      0.0.0.0                  0         32768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10.1.4.0/24      10.64.1.1                              0 65000 65004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10.1.21.0/24     10.64.1.1                              0 65000 65021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10.1.31.0/24     10.64.1.1                              0 65000 65031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10.2.1.0/24      0.0.0.0                  0         32768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10.2.4.0/24      10.64.1.1                              0 65000 65004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10.2.21.0/24     10.64.1.1                              0 65000 65021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10.2.31.0/24     10.64.1.1                              0 65000 65031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r&gt;   10.64.1.0/30     10.64.1.1                0             0 65000 ?</a:t>
            </a:r>
          </a:p>
          <a:p>
            <a:r>
              <a:rPr lang="en-US" sz="1100" dirty="0">
                <a:latin typeface="Consolas" panose="020B0609020204030204" pitchFamily="49" charset="0"/>
              </a:rPr>
              <a:t>     Network          Next Hop            Metric LocPrf Weight Path</a:t>
            </a:r>
          </a:p>
          <a:p>
            <a:r>
              <a:rPr lang="en-US" sz="1100" dirty="0">
                <a:latin typeface="Consolas" panose="020B0609020204030204" pitchFamily="49" charset="0"/>
              </a:rPr>
              <a:t> *&gt;   10.64.4.0/30     10.64.1.1                              0 65000 ?</a:t>
            </a:r>
          </a:p>
          <a:p>
            <a:r>
              <a:rPr lang="en-US" sz="1100" dirty="0">
                <a:latin typeface="Consolas" panose="020B0609020204030204" pitchFamily="49" charset="0"/>
              </a:rPr>
              <a:t> *&gt;   10.64.21.0/30    10.64.1.1                              0 65000 ?</a:t>
            </a:r>
          </a:p>
          <a:p>
            <a:r>
              <a:rPr lang="en-US" sz="1100" dirty="0">
                <a:latin typeface="Consolas" panose="020B0609020204030204" pitchFamily="49" charset="0"/>
              </a:rPr>
              <a:t> *&gt;   10.64.31.0/30    10.64.1.1                              0 65000 ?</a:t>
            </a:r>
          </a:p>
          <a:p>
            <a:r>
              <a:rPr lang="en-US" sz="1100" dirty="0">
                <a:latin typeface="Consolas" panose="020B0609020204030204" pitchFamily="49" charset="0"/>
              </a:rPr>
              <a:t>CE01#</a:t>
            </a:r>
          </a:p>
        </p:txBody>
      </p:sp>
    </p:spTree>
    <p:extLst>
      <p:ext uri="{BB962C8B-B14F-4D97-AF65-F5344CB8AC3E}">
        <p14:creationId xmlns:p14="http://schemas.microsoft.com/office/powerpoint/2010/main" val="1186616777"/>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SRv6 to MPLS (CE01 -&gt; CE31)  #CE01</a:t>
            </a:r>
          </a:p>
        </p:txBody>
      </p:sp>
      <p:sp>
        <p:nvSpPr>
          <p:cNvPr id="4" name="Rectangle 3">
            <a:extLst>
              <a:ext uri="{FF2B5EF4-FFF2-40B4-BE49-F238E27FC236}">
                <a16:creationId xmlns:a16="http://schemas.microsoft.com/office/drawing/2014/main" id="{87D7CB37-5BEE-FF8F-7602-60627856E0E8}"/>
              </a:ext>
            </a:extLst>
          </p:cNvPr>
          <p:cNvSpPr/>
          <p:nvPr/>
        </p:nvSpPr>
        <p:spPr>
          <a:xfrm>
            <a:off x="105804" y="786594"/>
            <a:ext cx="9096561" cy="4662815"/>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CE01#</a:t>
            </a:r>
            <a:r>
              <a:rPr lang="en-US" sz="1100" b="1" dirty="0">
                <a:latin typeface="Consolas" panose="020B0609020204030204" pitchFamily="49" charset="0"/>
              </a:rPr>
              <a:t>ping 10.0.31.1 source Loopback 1000</a:t>
            </a:r>
          </a:p>
          <a:p>
            <a:r>
              <a:rPr lang="en-US" sz="1100" dirty="0">
                <a:latin typeface="Consolas" panose="020B0609020204030204" pitchFamily="49" charset="0"/>
              </a:rPr>
              <a:t>Type escape sequence to abort.</a:t>
            </a:r>
          </a:p>
          <a:p>
            <a:r>
              <a:rPr lang="en-US" sz="1100" dirty="0">
                <a:latin typeface="Consolas" panose="020B0609020204030204" pitchFamily="49" charset="0"/>
              </a:rPr>
              <a:t>Sending 5, 100-byte ICMP Echos to 10.0.31.1, timeout is 2 seconds:</a:t>
            </a:r>
          </a:p>
          <a:p>
            <a:r>
              <a:rPr lang="en-US" sz="1100" dirty="0">
                <a:latin typeface="Consolas" panose="020B0609020204030204" pitchFamily="49" charset="0"/>
              </a:rPr>
              <a:t>Packet sent with a source address of 10.0.1.1 </a:t>
            </a:r>
          </a:p>
          <a:p>
            <a:r>
              <a:rPr lang="en-US" sz="1100" dirty="0">
                <a:latin typeface="Consolas" panose="020B0609020204030204" pitchFamily="49" charset="0"/>
              </a:rPr>
              <a:t>!!!!!</a:t>
            </a:r>
          </a:p>
          <a:p>
            <a:r>
              <a:rPr lang="en-US" sz="1100" dirty="0">
                <a:latin typeface="Consolas" panose="020B0609020204030204" pitchFamily="49" charset="0"/>
              </a:rPr>
              <a:t>Success rate is 100 percent (5/5), round-trip min/avg/max = 7/8/9 ms</a:t>
            </a:r>
          </a:p>
          <a:p>
            <a:r>
              <a:rPr lang="en-US" sz="1100" dirty="0">
                <a:latin typeface="Consolas" panose="020B0609020204030204" pitchFamily="49" charset="0"/>
              </a:rPr>
              <a:t>CE01#traceroute 10.0.31.1 source Loopback 1000 numeric</a:t>
            </a:r>
          </a:p>
          <a:p>
            <a:r>
              <a:rPr lang="en-US" sz="1100" dirty="0">
                <a:latin typeface="Consolas" panose="020B0609020204030204" pitchFamily="49" charset="0"/>
              </a:rPr>
              <a:t>Type escape sequence to abort.</a:t>
            </a:r>
          </a:p>
          <a:p>
            <a:r>
              <a:rPr lang="en-US" sz="1100" dirty="0">
                <a:latin typeface="Consolas" panose="020B0609020204030204" pitchFamily="49" charset="0"/>
              </a:rPr>
              <a:t>Tracing the route to 10.0.31.1</a:t>
            </a:r>
          </a:p>
          <a:p>
            <a:r>
              <a:rPr lang="en-US" sz="1100" dirty="0">
                <a:latin typeface="Consolas" panose="020B0609020204030204" pitchFamily="49" charset="0"/>
              </a:rPr>
              <a:t>VRF info: (vrf in name/id, vrf out name/id)</a:t>
            </a:r>
          </a:p>
          <a:p>
            <a:r>
              <a:rPr lang="en-US" sz="1100" dirty="0">
                <a:latin typeface="Consolas" panose="020B0609020204030204" pitchFamily="49" charset="0"/>
              </a:rPr>
              <a:t>  1 10.64.1.1 [AS 65000] 5 msec 1 msec 4 msec</a:t>
            </a:r>
          </a:p>
          <a:p>
            <a:r>
              <a:rPr lang="en-US" sz="1100" dirty="0">
                <a:latin typeface="Consolas" panose="020B0609020204030204" pitchFamily="49" charset="0"/>
              </a:rPr>
              <a:t>  2 64.1.2.2 6 msec 8 msec 4 msec</a:t>
            </a:r>
          </a:p>
          <a:p>
            <a:r>
              <a:rPr lang="en-US" sz="1100" dirty="0">
                <a:latin typeface="Consolas" panose="020B0609020204030204" pitchFamily="49" charset="0"/>
              </a:rPr>
              <a:t>  3 64.2.32.32 [MPLS: Labels 25/26 Exp 0] 7 msec 7 msec 8 msec</a:t>
            </a:r>
          </a:p>
          <a:p>
            <a:r>
              <a:rPr lang="en-US" sz="1100" dirty="0">
                <a:latin typeface="Consolas" panose="020B0609020204030204" pitchFamily="49" charset="0"/>
              </a:rPr>
              <a:t>  4 10.64.31.1 [AS 65000] [MPLS: Label 26 Exp 0] 6 msec 6 msec 5 msec</a:t>
            </a:r>
          </a:p>
          <a:p>
            <a:r>
              <a:rPr lang="en-US" sz="1100" dirty="0">
                <a:latin typeface="Consolas" panose="020B0609020204030204" pitchFamily="49" charset="0"/>
              </a:rPr>
              <a:t>  5 10.64.31.2 [AS 65000] 7 msec *  25 msec</a:t>
            </a:r>
          </a:p>
          <a:p>
            <a:r>
              <a:rPr lang="en-US" sz="1100" dirty="0">
                <a:latin typeface="Consolas" panose="020B0609020204030204" pitchFamily="49" charset="0"/>
              </a:rPr>
              <a:t>CE01#</a:t>
            </a:r>
          </a:p>
          <a:p>
            <a:endParaRPr lang="en-US" sz="1100" dirty="0">
              <a:latin typeface="Consolas" panose="020B0609020204030204" pitchFamily="49" charset="0"/>
            </a:endParaRPr>
          </a:p>
          <a:p>
            <a:r>
              <a:rPr lang="en-US" sz="1100" dirty="0">
                <a:latin typeface="Consolas" panose="020B0609020204030204" pitchFamily="49" charset="0"/>
              </a:rPr>
              <a:t>CE01#</a:t>
            </a:r>
            <a:r>
              <a:rPr lang="en-US" sz="1100" b="1" dirty="0">
                <a:latin typeface="Consolas" panose="020B0609020204030204" pitchFamily="49" charset="0"/>
              </a:rPr>
              <a:t>sh ip bgp 10.0.31.1</a:t>
            </a:r>
          </a:p>
          <a:p>
            <a:r>
              <a:rPr lang="en-US" sz="1100" dirty="0">
                <a:latin typeface="Consolas" panose="020B0609020204030204" pitchFamily="49" charset="0"/>
              </a:rPr>
              <a:t>BGP routing table entry for 10.0.31.0/24, version 203</a:t>
            </a:r>
          </a:p>
          <a:p>
            <a:r>
              <a:rPr lang="en-US" sz="1100" dirty="0">
                <a:latin typeface="Consolas" panose="020B0609020204030204" pitchFamily="49" charset="0"/>
              </a:rPr>
              <a:t>Paths: (1 available, best #1, table default)</a:t>
            </a:r>
          </a:p>
          <a:p>
            <a:r>
              <a:rPr lang="en-US" sz="1100" dirty="0">
                <a:latin typeface="Consolas" panose="020B0609020204030204" pitchFamily="49" charset="0"/>
              </a:rPr>
              <a:t>  Not advertised to any peer</a:t>
            </a:r>
          </a:p>
          <a:p>
            <a:r>
              <a:rPr lang="en-US" sz="1100" dirty="0">
                <a:latin typeface="Consolas" panose="020B0609020204030204" pitchFamily="49" charset="0"/>
              </a:rPr>
              <a:t>  Refresh Epoch 1</a:t>
            </a:r>
          </a:p>
          <a:p>
            <a:r>
              <a:rPr lang="en-US" sz="1100" dirty="0">
                <a:latin typeface="Consolas" panose="020B0609020204030204" pitchFamily="49" charset="0"/>
              </a:rPr>
              <a:t>  65000 65031</a:t>
            </a:r>
          </a:p>
          <a:p>
            <a:r>
              <a:rPr lang="en-US" sz="1100" dirty="0">
                <a:latin typeface="Consolas" panose="020B0609020204030204" pitchFamily="49" charset="0"/>
              </a:rPr>
              <a:t>    10.64.1.1 from 10.64.1.1 (10.64.1.1)</a:t>
            </a:r>
          </a:p>
          <a:p>
            <a:r>
              <a:rPr lang="en-US" sz="1100" dirty="0">
                <a:latin typeface="Consolas" panose="020B0609020204030204" pitchFamily="49" charset="0"/>
              </a:rPr>
              <a:t>      Origin IGP, localpref 100, valid, external, best</a:t>
            </a:r>
          </a:p>
          <a:p>
            <a:r>
              <a:rPr lang="en-US" sz="1100" dirty="0">
                <a:latin typeface="Consolas" panose="020B0609020204030204" pitchFamily="49" charset="0"/>
              </a:rPr>
              <a:t>      </a:t>
            </a:r>
            <a:r>
              <a:rPr lang="en-US" sz="1100" dirty="0" err="1">
                <a:latin typeface="Consolas" panose="020B0609020204030204" pitchFamily="49" charset="0"/>
              </a:rPr>
              <a:t>rx</a:t>
            </a:r>
            <a:r>
              <a:rPr lang="en-US" sz="1100" dirty="0">
                <a:latin typeface="Consolas" panose="020B0609020204030204" pitchFamily="49" charset="0"/>
              </a:rPr>
              <a:t> </a:t>
            </a:r>
            <a:r>
              <a:rPr lang="en-US" sz="1100" dirty="0" err="1">
                <a:latin typeface="Consolas" panose="020B0609020204030204" pitchFamily="49" charset="0"/>
              </a:rPr>
              <a:t>pathid</a:t>
            </a:r>
            <a:r>
              <a:rPr lang="en-US" sz="1100" dirty="0">
                <a:latin typeface="Consolas" panose="020B0609020204030204" pitchFamily="49" charset="0"/>
              </a:rPr>
              <a:t>: 0, </a:t>
            </a:r>
            <a:r>
              <a:rPr lang="en-US" sz="1100" dirty="0" err="1">
                <a:latin typeface="Consolas" panose="020B0609020204030204" pitchFamily="49" charset="0"/>
              </a:rPr>
              <a:t>tx</a:t>
            </a:r>
            <a:r>
              <a:rPr lang="en-US" sz="1100" dirty="0">
                <a:latin typeface="Consolas" panose="020B0609020204030204" pitchFamily="49" charset="0"/>
              </a:rPr>
              <a:t> </a:t>
            </a:r>
            <a:r>
              <a:rPr lang="en-US" sz="1100" dirty="0" err="1">
                <a:latin typeface="Consolas" panose="020B0609020204030204" pitchFamily="49" charset="0"/>
              </a:rPr>
              <a:t>pathid</a:t>
            </a:r>
            <a:r>
              <a:rPr lang="en-US" sz="1100" dirty="0">
                <a:latin typeface="Consolas" panose="020B0609020204030204" pitchFamily="49" charset="0"/>
              </a:rPr>
              <a:t>: 0x0</a:t>
            </a:r>
          </a:p>
          <a:p>
            <a:r>
              <a:rPr lang="en-US" sz="1100" dirty="0">
                <a:latin typeface="Consolas" panose="020B0609020204030204" pitchFamily="49" charset="0"/>
              </a:rPr>
              <a:t>CE01#</a:t>
            </a:r>
          </a:p>
        </p:txBody>
      </p:sp>
    </p:spTree>
    <p:extLst>
      <p:ext uri="{BB962C8B-B14F-4D97-AF65-F5344CB8AC3E}">
        <p14:creationId xmlns:p14="http://schemas.microsoft.com/office/powerpoint/2010/main" val="4164839945"/>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SRv6 to MPLS (CE01 -&gt; CE31)  #R01</a:t>
            </a:r>
          </a:p>
        </p:txBody>
      </p:sp>
      <p:sp>
        <p:nvSpPr>
          <p:cNvPr id="2" name="Rectangle 1">
            <a:extLst>
              <a:ext uri="{FF2B5EF4-FFF2-40B4-BE49-F238E27FC236}">
                <a16:creationId xmlns:a16="http://schemas.microsoft.com/office/drawing/2014/main" id="{1C04B55F-CE6E-D1AA-E2C6-EB5E073A98AE}"/>
              </a:ext>
            </a:extLst>
          </p:cNvPr>
          <p:cNvSpPr/>
          <p:nvPr/>
        </p:nvSpPr>
        <p:spPr>
          <a:xfrm>
            <a:off x="58202" y="785478"/>
            <a:ext cx="9096561" cy="4832092"/>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RP/0/RP0/CPU0:R01#</a:t>
            </a:r>
            <a:r>
              <a:rPr lang="en-US" sz="1100" b="1" dirty="0">
                <a:latin typeface="Consolas" panose="020B0609020204030204" pitchFamily="49" charset="0"/>
              </a:rPr>
              <a:t>sh bgp vrf A 10.0.31.1</a:t>
            </a:r>
          </a:p>
          <a:p>
            <a:r>
              <a:rPr lang="en-US" sz="1100" dirty="0">
                <a:latin typeface="Consolas" panose="020B0609020204030204" pitchFamily="49" charset="0"/>
              </a:rPr>
              <a:t>Fri Nov  1 17:56:02.430 UTC</a:t>
            </a:r>
          </a:p>
          <a:p>
            <a:r>
              <a:rPr lang="en-US" sz="1100" dirty="0">
                <a:latin typeface="Consolas" panose="020B0609020204030204" pitchFamily="49" charset="0"/>
              </a:rPr>
              <a:t>BGP routing table entry for 10.0.31.0/24, Route Distinguisher: 65000:1</a:t>
            </a:r>
          </a:p>
          <a:p>
            <a:r>
              <a:rPr lang="en-US" sz="1100" dirty="0">
                <a:latin typeface="Consolas" panose="020B0609020204030204" pitchFamily="49" charset="0"/>
              </a:rPr>
              <a:t>Versions:</a:t>
            </a:r>
          </a:p>
          <a:p>
            <a:r>
              <a:rPr lang="en-US" sz="1100" dirty="0">
                <a:latin typeface="Consolas" panose="020B0609020204030204" pitchFamily="49" charset="0"/>
              </a:rPr>
              <a:t>  Process           </a:t>
            </a:r>
            <a:r>
              <a:rPr lang="en-US" sz="1100" dirty="0" err="1">
                <a:latin typeface="Consolas" panose="020B0609020204030204" pitchFamily="49" charset="0"/>
              </a:rPr>
              <a:t>bRIB</a:t>
            </a:r>
            <a:r>
              <a:rPr lang="en-US" sz="1100" dirty="0">
                <a:latin typeface="Consolas" panose="020B0609020204030204" pitchFamily="49" charset="0"/>
              </a:rPr>
              <a:t>/RIB  </a:t>
            </a:r>
            <a:r>
              <a:rPr lang="en-US" sz="1100" dirty="0" err="1">
                <a:latin typeface="Consolas" panose="020B0609020204030204" pitchFamily="49" charset="0"/>
              </a:rPr>
              <a:t>SendTblVer</a:t>
            </a:r>
            <a:endParaRPr lang="en-US" sz="1100" dirty="0">
              <a:latin typeface="Consolas" panose="020B0609020204030204" pitchFamily="49" charset="0"/>
            </a:endParaRPr>
          </a:p>
          <a:p>
            <a:r>
              <a:rPr lang="en-US" sz="1100" dirty="0">
                <a:latin typeface="Consolas" panose="020B0609020204030204" pitchFamily="49" charset="0"/>
              </a:rPr>
              <a:t>  Speaker                 142          142</a:t>
            </a:r>
          </a:p>
          <a:p>
            <a:r>
              <a:rPr lang="en-US" sz="1100" dirty="0">
                <a:latin typeface="Consolas" panose="020B0609020204030204" pitchFamily="49" charset="0"/>
              </a:rPr>
              <a:t>Last Modified: Nov  1 15:30:56.189 for 02:25:06</a:t>
            </a:r>
          </a:p>
          <a:p>
            <a:r>
              <a:rPr lang="en-US" sz="1100" dirty="0">
                <a:latin typeface="Consolas" panose="020B0609020204030204" pitchFamily="49" charset="0"/>
              </a:rPr>
              <a:t>Paths: (1 available, best #1)</a:t>
            </a:r>
          </a:p>
          <a:p>
            <a:r>
              <a:rPr lang="en-US" sz="1100" dirty="0">
                <a:latin typeface="Consolas" panose="020B0609020204030204" pitchFamily="49" charset="0"/>
              </a:rPr>
              <a:t>  Advertised to CE peers (in unique update groups):</a:t>
            </a:r>
          </a:p>
          <a:p>
            <a:r>
              <a:rPr lang="en-US" sz="1100" dirty="0">
                <a:latin typeface="Consolas" panose="020B0609020204030204" pitchFamily="49" charset="0"/>
              </a:rPr>
              <a:t>    10.64.1.2       </a:t>
            </a:r>
          </a:p>
          <a:p>
            <a:r>
              <a:rPr lang="en-US" sz="1100" dirty="0">
                <a:latin typeface="Consolas" panose="020B0609020204030204" pitchFamily="49" charset="0"/>
              </a:rPr>
              <a:t>  Path #1: Received by speaker 0</a:t>
            </a:r>
          </a:p>
          <a:p>
            <a:r>
              <a:rPr lang="en-US" sz="1100" dirty="0">
                <a:latin typeface="Consolas" panose="020B0609020204030204" pitchFamily="49" charset="0"/>
              </a:rPr>
              <a:t>  Advertised to CE peers (in unique update groups):</a:t>
            </a:r>
          </a:p>
          <a:p>
            <a:r>
              <a:rPr lang="en-US" sz="1100" dirty="0">
                <a:latin typeface="Consolas" panose="020B0609020204030204" pitchFamily="49" charset="0"/>
              </a:rPr>
              <a:t>    10.64.1.2       </a:t>
            </a:r>
          </a:p>
          <a:p>
            <a:r>
              <a:rPr lang="en-US" sz="1100" dirty="0">
                <a:latin typeface="Consolas" panose="020B0609020204030204" pitchFamily="49" charset="0"/>
              </a:rPr>
              <a:t>  </a:t>
            </a:r>
            <a:r>
              <a:rPr lang="en-US" sz="1100" dirty="0">
                <a:highlight>
                  <a:srgbClr val="808000"/>
                </a:highlight>
                <a:latin typeface="Consolas" panose="020B0609020204030204" pitchFamily="49" charset="0"/>
              </a:rPr>
              <a:t>65031</a:t>
            </a:r>
          </a:p>
          <a:p>
            <a:r>
              <a:rPr lang="en-US" sz="1100" dirty="0">
                <a:highlight>
                  <a:srgbClr val="808000"/>
                </a:highlight>
                <a:latin typeface="Consolas" panose="020B0609020204030204" pitchFamily="49" charset="0"/>
              </a:rPr>
              <a:t>    2001:9999::2 </a:t>
            </a:r>
            <a:r>
              <a:rPr lang="en-US" sz="1100" dirty="0">
                <a:latin typeface="Consolas" panose="020B0609020204030204" pitchFamily="49" charset="0"/>
              </a:rPr>
              <a:t>(metric 10) from 2001:9999::3 (1.1.1.31)</a:t>
            </a:r>
          </a:p>
          <a:p>
            <a:r>
              <a:rPr lang="en-US" sz="1100" dirty="0">
                <a:latin typeface="Consolas" panose="020B0609020204030204" pitchFamily="49" charset="0"/>
              </a:rPr>
              <a:t>      Received Label </a:t>
            </a:r>
            <a:r>
              <a:rPr lang="en-US" sz="1100" dirty="0">
                <a:highlight>
                  <a:srgbClr val="808000"/>
                </a:highlight>
                <a:latin typeface="Consolas" panose="020B0609020204030204" pitchFamily="49" charset="0"/>
              </a:rPr>
              <a:t>0xe0080</a:t>
            </a:r>
          </a:p>
          <a:p>
            <a:r>
              <a:rPr lang="en-US" sz="1100" dirty="0">
                <a:latin typeface="Consolas" panose="020B0609020204030204" pitchFamily="49" charset="0"/>
              </a:rPr>
              <a:t>      Origin IGP, metric 0, localpref 100, valid, internal, best, group-best, import-candidate, imported</a:t>
            </a:r>
          </a:p>
          <a:p>
            <a:r>
              <a:rPr lang="en-US" sz="1100" dirty="0">
                <a:latin typeface="Consolas" panose="020B0609020204030204" pitchFamily="49" charset="0"/>
              </a:rPr>
              <a:t>      Received Path ID 0, Local Path ID 1, version 142</a:t>
            </a:r>
          </a:p>
          <a:p>
            <a:r>
              <a:rPr lang="en-US" sz="1100" dirty="0">
                <a:latin typeface="Consolas" panose="020B0609020204030204" pitchFamily="49" charset="0"/>
              </a:rPr>
              <a:t>      Extended community: RT:65000:1 </a:t>
            </a:r>
          </a:p>
          <a:p>
            <a:r>
              <a:rPr lang="en-US" sz="1100" dirty="0">
                <a:latin typeface="Consolas" panose="020B0609020204030204" pitchFamily="49" charset="0"/>
              </a:rPr>
              <a:t>      Originator: 1.1.1.31, Cluster list: 0.0.0.100, 1.1.1.2</a:t>
            </a:r>
          </a:p>
          <a:p>
            <a:r>
              <a:rPr lang="en-US" sz="1100" dirty="0">
                <a:latin typeface="Consolas" panose="020B0609020204030204" pitchFamily="49" charset="0"/>
              </a:rPr>
              <a:t>      PSID-Type:L3, </a:t>
            </a:r>
            <a:r>
              <a:rPr lang="en-US" sz="1100" dirty="0" err="1">
                <a:latin typeface="Consolas" panose="020B0609020204030204" pitchFamily="49" charset="0"/>
              </a:rPr>
              <a:t>SubTLV</a:t>
            </a:r>
            <a:r>
              <a:rPr lang="en-US" sz="1100" dirty="0">
                <a:latin typeface="Consolas" panose="020B0609020204030204" pitchFamily="49" charset="0"/>
              </a:rPr>
              <a:t> Count:1</a:t>
            </a:r>
          </a:p>
          <a:p>
            <a:r>
              <a:rPr lang="en-US" sz="1100" dirty="0">
                <a:latin typeface="Consolas" panose="020B0609020204030204" pitchFamily="49" charset="0"/>
              </a:rPr>
              <a:t>       </a:t>
            </a:r>
            <a:r>
              <a:rPr lang="en-US" sz="1100" dirty="0" err="1">
                <a:latin typeface="Consolas" panose="020B0609020204030204" pitchFamily="49" charset="0"/>
              </a:rPr>
              <a:t>SubTLV</a:t>
            </a:r>
            <a:r>
              <a:rPr lang="en-US" sz="1100" dirty="0">
                <a:latin typeface="Consolas" panose="020B0609020204030204" pitchFamily="49" charset="0"/>
              </a:rPr>
              <a:t>:</a:t>
            </a:r>
          </a:p>
          <a:p>
            <a:r>
              <a:rPr lang="en-US" sz="1100" dirty="0">
                <a:latin typeface="Consolas" panose="020B0609020204030204" pitchFamily="49" charset="0"/>
              </a:rPr>
              <a:t>        T:1(Sid information), Sid:</a:t>
            </a:r>
            <a:r>
              <a:rPr lang="en-US" sz="1100" dirty="0">
                <a:highlight>
                  <a:srgbClr val="808000"/>
                </a:highlight>
                <a:latin typeface="Consolas" panose="020B0609020204030204" pitchFamily="49" charset="0"/>
              </a:rPr>
              <a:t>fc00:ab00:2::</a:t>
            </a:r>
            <a:r>
              <a:rPr lang="en-US" sz="1100" dirty="0">
                <a:latin typeface="Consolas" panose="020B0609020204030204" pitchFamily="49" charset="0"/>
              </a:rPr>
              <a:t>, Behavior:63, SS-TLV Count:1</a:t>
            </a:r>
          </a:p>
          <a:p>
            <a:r>
              <a:rPr lang="en-US" sz="1100" dirty="0">
                <a:latin typeface="Consolas" panose="020B0609020204030204" pitchFamily="49" charset="0"/>
              </a:rPr>
              <a:t>         </a:t>
            </a:r>
            <a:r>
              <a:rPr lang="en-US" sz="1100" dirty="0" err="1">
                <a:latin typeface="Consolas" panose="020B0609020204030204" pitchFamily="49" charset="0"/>
              </a:rPr>
              <a:t>SubSubTLV</a:t>
            </a:r>
            <a:r>
              <a:rPr lang="en-US" sz="1100" dirty="0">
                <a:latin typeface="Consolas" panose="020B0609020204030204" pitchFamily="49" charset="0"/>
              </a:rPr>
              <a:t>:</a:t>
            </a:r>
          </a:p>
          <a:p>
            <a:r>
              <a:rPr lang="en-US" sz="1100" dirty="0">
                <a:latin typeface="Consolas" panose="020B0609020204030204" pitchFamily="49" charset="0"/>
              </a:rPr>
              <a:t>          T:1(Sid structure):</a:t>
            </a:r>
          </a:p>
          <a:p>
            <a:r>
              <a:rPr lang="en-US" sz="1100" dirty="0">
                <a:latin typeface="Consolas" panose="020B0609020204030204" pitchFamily="49" charset="0"/>
              </a:rPr>
              <a:t>      Source AFI: VPNv4 Unicast, Source VRF: default, Source Route Distinguisher: 65000:2000</a:t>
            </a:r>
          </a:p>
          <a:p>
            <a:r>
              <a:rPr lang="en-US" sz="1100" dirty="0">
                <a:latin typeface="Consolas" panose="020B0609020204030204" pitchFamily="49" charset="0"/>
              </a:rPr>
              <a:t>RP/0/RP0/CPU0:R01#</a:t>
            </a:r>
          </a:p>
        </p:txBody>
      </p:sp>
    </p:spTree>
    <p:extLst>
      <p:ext uri="{BB962C8B-B14F-4D97-AF65-F5344CB8AC3E}">
        <p14:creationId xmlns:p14="http://schemas.microsoft.com/office/powerpoint/2010/main" val="1329349570"/>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SRv6 to MPLS (CE01 -&gt; CE31)  #R01</a:t>
            </a:r>
          </a:p>
        </p:txBody>
      </p:sp>
      <p:sp>
        <p:nvSpPr>
          <p:cNvPr id="4" name="Rectangle 3">
            <a:extLst>
              <a:ext uri="{FF2B5EF4-FFF2-40B4-BE49-F238E27FC236}">
                <a16:creationId xmlns:a16="http://schemas.microsoft.com/office/drawing/2014/main" id="{87D7CB37-5BEE-FF8F-7602-60627856E0E8}"/>
              </a:ext>
            </a:extLst>
          </p:cNvPr>
          <p:cNvSpPr/>
          <p:nvPr/>
        </p:nvSpPr>
        <p:spPr>
          <a:xfrm>
            <a:off x="112322" y="785478"/>
            <a:ext cx="9096561" cy="4832092"/>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RP/0/RP0/CPU0:R01#</a:t>
            </a:r>
            <a:r>
              <a:rPr lang="en-US" sz="1100" b="1" dirty="0">
                <a:latin typeface="Consolas" panose="020B0609020204030204" pitchFamily="49" charset="0"/>
              </a:rPr>
              <a:t>sh cef vrf A 10.0.31.1</a:t>
            </a:r>
          </a:p>
          <a:p>
            <a:r>
              <a:rPr lang="en-US" sz="1100" dirty="0">
                <a:latin typeface="Consolas" panose="020B0609020204030204" pitchFamily="49" charset="0"/>
              </a:rPr>
              <a:t>Fri Nov  1 17:55:01.230 UTC</a:t>
            </a:r>
          </a:p>
          <a:p>
            <a:r>
              <a:rPr lang="en-US" sz="1100" dirty="0">
                <a:latin typeface="Consolas" panose="020B0609020204030204" pitchFamily="49" charset="0"/>
              </a:rPr>
              <a:t>10.0.31.0/24, version 280, SRv6 Headend, internal 0x5000001 0x30 (</a:t>
            </a:r>
            <a:r>
              <a:rPr lang="en-US" sz="1100" dirty="0" err="1">
                <a:latin typeface="Consolas" panose="020B0609020204030204" pitchFamily="49" charset="0"/>
              </a:rPr>
              <a:t>ptr</a:t>
            </a:r>
            <a:r>
              <a:rPr lang="en-US" sz="1100" dirty="0">
                <a:latin typeface="Consolas" panose="020B0609020204030204" pitchFamily="49" charset="0"/>
              </a:rPr>
              <a:t> 0xe87d1b8) [1], 0x400 (0xe01b920), 0x0 (0xfcbf738)</a:t>
            </a:r>
          </a:p>
          <a:p>
            <a:r>
              <a:rPr lang="en-US" sz="1100" dirty="0">
                <a:latin typeface="Consolas" panose="020B0609020204030204" pitchFamily="49" charset="0"/>
              </a:rPr>
              <a:t> Updated Nov  1 15:30:56.088</a:t>
            </a:r>
          </a:p>
          <a:p>
            <a:r>
              <a:rPr lang="en-US" sz="1100" dirty="0">
                <a:latin typeface="Consolas" panose="020B0609020204030204" pitchFamily="49" charset="0"/>
              </a:rPr>
              <a:t> Prefix Len 24, traffic index 0, precedence n/a, priority 3</a:t>
            </a:r>
          </a:p>
          <a:p>
            <a:r>
              <a:rPr lang="en-US" sz="1100" dirty="0">
                <a:latin typeface="Consolas" panose="020B0609020204030204" pitchFamily="49" charset="0"/>
              </a:rPr>
              <a:t>  gateway array (0xff5b278) reference count 4, flags 0x10, source rib (7), 0 backups</a:t>
            </a:r>
          </a:p>
          <a:p>
            <a:r>
              <a:rPr lang="en-US" sz="1100" dirty="0">
                <a:latin typeface="Consolas" panose="020B0609020204030204" pitchFamily="49" charset="0"/>
              </a:rPr>
              <a:t>                [5 type 3 flags 0x8441 (0xdf33e28) </a:t>
            </a:r>
            <a:r>
              <a:rPr lang="en-US" sz="1100" dirty="0" err="1">
                <a:latin typeface="Consolas" panose="020B0609020204030204" pitchFamily="49" charset="0"/>
              </a:rPr>
              <a:t>ext</a:t>
            </a:r>
            <a:r>
              <a:rPr lang="en-US" sz="1100" dirty="0">
                <a:latin typeface="Consolas" panose="020B0609020204030204" pitchFamily="49" charset="0"/>
              </a:rPr>
              <a:t> 0x0 (0x0)]</a:t>
            </a:r>
          </a:p>
          <a:p>
            <a:r>
              <a:rPr lang="en-US" sz="1100" dirty="0">
                <a:latin typeface="Consolas" panose="020B0609020204030204" pitchFamily="49" charset="0"/>
              </a:rPr>
              <a:t>  LW-LDI[type=3, </a:t>
            </a:r>
            <a:r>
              <a:rPr lang="en-US" sz="1100" dirty="0" err="1">
                <a:latin typeface="Consolas" panose="020B0609020204030204" pitchFamily="49" charset="0"/>
              </a:rPr>
              <a:t>refc</a:t>
            </a:r>
            <a:r>
              <a:rPr lang="en-US" sz="1100" dirty="0">
                <a:latin typeface="Consolas" panose="020B0609020204030204" pitchFamily="49" charset="0"/>
              </a:rPr>
              <a:t>=1, </a:t>
            </a:r>
            <a:r>
              <a:rPr lang="en-US" sz="1100" dirty="0" err="1">
                <a:latin typeface="Consolas" panose="020B0609020204030204" pitchFamily="49" charset="0"/>
              </a:rPr>
              <a:t>ptr</a:t>
            </a:r>
            <a:r>
              <a:rPr lang="en-US" sz="1100" dirty="0">
                <a:latin typeface="Consolas" panose="020B0609020204030204" pitchFamily="49" charset="0"/>
              </a:rPr>
              <a:t>=0xe01b920, sh-</a:t>
            </a:r>
            <a:r>
              <a:rPr lang="en-US" sz="1100" dirty="0" err="1">
                <a:latin typeface="Consolas" panose="020B0609020204030204" pitchFamily="49" charset="0"/>
              </a:rPr>
              <a:t>ldi</a:t>
            </a:r>
            <a:r>
              <a:rPr lang="en-US" sz="1100" dirty="0">
                <a:latin typeface="Consolas" panose="020B0609020204030204" pitchFamily="49" charset="0"/>
              </a:rPr>
              <a:t>=0xdf33e28]</a:t>
            </a:r>
          </a:p>
          <a:p>
            <a:r>
              <a:rPr lang="en-US" sz="1100" dirty="0">
                <a:latin typeface="Consolas" panose="020B0609020204030204" pitchFamily="49" charset="0"/>
              </a:rPr>
              <a:t>  gateway array update type-time 1 Nov  1 15:30:56.087</a:t>
            </a:r>
          </a:p>
          <a:p>
            <a:r>
              <a:rPr lang="en-US" sz="1100" dirty="0">
                <a:latin typeface="Consolas" panose="020B0609020204030204" pitchFamily="49" charset="0"/>
              </a:rPr>
              <a:t> LDI Update time Nov  1 15:30:56.087</a:t>
            </a:r>
          </a:p>
          <a:p>
            <a:r>
              <a:rPr lang="en-US" sz="1100" dirty="0">
                <a:latin typeface="Consolas" panose="020B0609020204030204" pitchFamily="49" charset="0"/>
              </a:rPr>
              <a:t> LW-LDI-TS Nov  1 15:30:56.087</a:t>
            </a:r>
          </a:p>
          <a:p>
            <a:endParaRPr lang="en-US" sz="1100" dirty="0">
              <a:latin typeface="Consolas" panose="020B0609020204030204" pitchFamily="49" charset="0"/>
            </a:endParaRPr>
          </a:p>
          <a:p>
            <a:r>
              <a:rPr lang="en-US" sz="1100" dirty="0">
                <a:latin typeface="Consolas" panose="020B0609020204030204" pitchFamily="49" charset="0"/>
              </a:rPr>
              <a:t>  Level 1 - Load distribution: 0</a:t>
            </a:r>
          </a:p>
          <a:p>
            <a:r>
              <a:rPr lang="en-US" sz="1100" dirty="0">
                <a:latin typeface="Consolas" panose="020B0609020204030204" pitchFamily="49" charset="0"/>
              </a:rPr>
              <a:t>  [0] via fc00:ab00:2::/128, recursive</a:t>
            </a:r>
          </a:p>
          <a:p>
            <a:endParaRPr lang="en-US" sz="1100" dirty="0">
              <a:latin typeface="Consolas" panose="020B0609020204030204" pitchFamily="49" charset="0"/>
            </a:endParaRPr>
          </a:p>
          <a:p>
            <a:r>
              <a:rPr lang="en-US" sz="1100" dirty="0">
                <a:latin typeface="Consolas" panose="020B0609020204030204" pitchFamily="49" charset="0"/>
              </a:rPr>
              <a:t>   via fc00:ab00:2::/128, 3 dependencies, recursive [flags 0x6000]</a:t>
            </a:r>
          </a:p>
          <a:p>
            <a:r>
              <a:rPr lang="en-US" sz="1100" dirty="0">
                <a:latin typeface="Consolas" panose="020B0609020204030204" pitchFamily="49" charset="0"/>
              </a:rPr>
              <a:t>    path-</a:t>
            </a:r>
            <a:r>
              <a:rPr lang="en-US" sz="1100" dirty="0" err="1">
                <a:latin typeface="Consolas" panose="020B0609020204030204" pitchFamily="49" charset="0"/>
              </a:rPr>
              <a:t>idx</a:t>
            </a:r>
            <a:r>
              <a:rPr lang="en-US" sz="1100" dirty="0">
                <a:latin typeface="Consolas" panose="020B0609020204030204" pitchFamily="49" charset="0"/>
              </a:rPr>
              <a:t> 0 NHID 0x0 [0xe8077d0 0x0]</a:t>
            </a:r>
          </a:p>
          <a:p>
            <a:r>
              <a:rPr lang="en-US" sz="1100" dirty="0">
                <a:latin typeface="Consolas" panose="020B0609020204030204" pitchFamily="49" charset="0"/>
              </a:rPr>
              <a:t>    next hop VRF - 'default', table - 0xe0800000</a:t>
            </a:r>
          </a:p>
          <a:p>
            <a:r>
              <a:rPr lang="en-US" sz="1100" dirty="0">
                <a:latin typeface="Consolas" panose="020B0609020204030204" pitchFamily="49" charset="0"/>
              </a:rPr>
              <a:t>    next hop fc00:ab00:2::/128 via fc00:ab00:2::/48</a:t>
            </a:r>
          </a:p>
          <a:p>
            <a:r>
              <a:rPr lang="en-US" sz="1100" dirty="0">
                <a:latin typeface="Consolas" panose="020B0609020204030204" pitchFamily="49" charset="0"/>
              </a:rPr>
              <a:t>    SRv6 </a:t>
            </a:r>
            <a:r>
              <a:rPr lang="en-US" sz="1100" dirty="0" err="1">
                <a:latin typeface="Consolas" panose="020B0609020204030204" pitchFamily="49" charset="0"/>
              </a:rPr>
              <a:t>H.Encaps.Red</a:t>
            </a:r>
            <a:r>
              <a:rPr lang="en-US" sz="1100" dirty="0">
                <a:latin typeface="Consolas" panose="020B0609020204030204" pitchFamily="49" charset="0"/>
              </a:rPr>
              <a:t> SID-list {</a:t>
            </a:r>
            <a:r>
              <a:rPr lang="en-US" sz="1100" dirty="0">
                <a:highlight>
                  <a:srgbClr val="808000"/>
                </a:highlight>
                <a:latin typeface="Consolas" panose="020B0609020204030204" pitchFamily="49" charset="0"/>
              </a:rPr>
              <a:t>fc00:ab00:2:e008::</a:t>
            </a:r>
            <a:r>
              <a:rPr lang="en-US" sz="1100" dirty="0">
                <a:latin typeface="Consolas" panose="020B0609020204030204" pitchFamily="49" charset="0"/>
              </a:rPr>
              <a:t>}</a:t>
            </a:r>
          </a:p>
          <a:p>
            <a:endParaRPr lang="en-US" sz="1100" dirty="0">
              <a:latin typeface="Consolas" panose="020B0609020204030204" pitchFamily="49" charset="0"/>
            </a:endParaRPr>
          </a:p>
          <a:p>
            <a:r>
              <a:rPr lang="en-US" sz="1100" dirty="0">
                <a:latin typeface="Consolas" panose="020B0609020204030204" pitchFamily="49" charset="0"/>
              </a:rPr>
              <a:t>    Load distribution: 0 (refcount 5)</a:t>
            </a:r>
          </a:p>
          <a:p>
            <a:endParaRPr lang="en-US" sz="1100" dirty="0">
              <a:latin typeface="Consolas" panose="020B0609020204030204" pitchFamily="49" charset="0"/>
            </a:endParaRPr>
          </a:p>
          <a:p>
            <a:r>
              <a:rPr lang="en-US" sz="1100" dirty="0">
                <a:latin typeface="Consolas" panose="020B0609020204030204" pitchFamily="49" charset="0"/>
              </a:rPr>
              <a:t>    Hash  OK  Interface                 Address</a:t>
            </a:r>
          </a:p>
          <a:p>
            <a:r>
              <a:rPr lang="en-US" sz="1100" dirty="0">
                <a:latin typeface="Consolas" panose="020B0609020204030204" pitchFamily="49" charset="0"/>
              </a:rPr>
              <a:t>    0     Y   GigabitEthernet0/0/0/0    remote         </a:t>
            </a:r>
          </a:p>
          <a:p>
            <a:r>
              <a:rPr lang="en-US" sz="1100" dirty="0">
                <a:latin typeface="Consolas" panose="020B0609020204030204" pitchFamily="49" charset="0"/>
              </a:rPr>
              <a:t>          </a:t>
            </a:r>
          </a:p>
          <a:p>
            <a:r>
              <a:rPr lang="en-US" sz="1100" dirty="0">
                <a:latin typeface="Consolas" panose="020B0609020204030204" pitchFamily="49" charset="0"/>
              </a:rPr>
              <a:t>RP/0/RP0/CPU0:R01#</a:t>
            </a:r>
          </a:p>
        </p:txBody>
      </p:sp>
    </p:spTree>
    <p:extLst>
      <p:ext uri="{BB962C8B-B14F-4D97-AF65-F5344CB8AC3E}">
        <p14:creationId xmlns:p14="http://schemas.microsoft.com/office/powerpoint/2010/main" val="2868515413"/>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SRv6 to MPLS (CE01 -&gt; CE31)  #R02</a:t>
            </a:r>
          </a:p>
        </p:txBody>
      </p:sp>
      <p:sp>
        <p:nvSpPr>
          <p:cNvPr id="4" name="Rectangle 3">
            <a:extLst>
              <a:ext uri="{FF2B5EF4-FFF2-40B4-BE49-F238E27FC236}">
                <a16:creationId xmlns:a16="http://schemas.microsoft.com/office/drawing/2014/main" id="{02654599-256A-3307-DB6B-13E583CB5ABA}"/>
              </a:ext>
            </a:extLst>
          </p:cNvPr>
          <p:cNvSpPr/>
          <p:nvPr/>
        </p:nvSpPr>
        <p:spPr>
          <a:xfrm>
            <a:off x="0" y="2507200"/>
            <a:ext cx="7344383" cy="4324261"/>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RP/0/RP0/CPU0:R02#</a:t>
            </a:r>
            <a:r>
              <a:rPr lang="en-US" sz="1100" b="1" dirty="0">
                <a:latin typeface="Consolas" panose="020B0609020204030204" pitchFamily="49" charset="0"/>
              </a:rPr>
              <a:t>sh bgp vrf A-GW 10.0.31.1</a:t>
            </a:r>
          </a:p>
          <a:p>
            <a:r>
              <a:rPr lang="en-US" sz="1100" dirty="0">
                <a:latin typeface="Consolas" panose="020B0609020204030204" pitchFamily="49" charset="0"/>
              </a:rPr>
              <a:t>Fri Nov  1 17:59:46.648 UTC</a:t>
            </a:r>
          </a:p>
          <a:p>
            <a:r>
              <a:rPr lang="en-US" sz="1100" dirty="0">
                <a:latin typeface="Consolas" panose="020B0609020204030204" pitchFamily="49" charset="0"/>
              </a:rPr>
              <a:t>BGP routing table entry for 10.0.31.0/24, Route Distinguisher: 65000:2000</a:t>
            </a:r>
          </a:p>
          <a:p>
            <a:r>
              <a:rPr lang="en-US" sz="1100" dirty="0">
                <a:latin typeface="Consolas" panose="020B0609020204030204" pitchFamily="49" charset="0"/>
              </a:rPr>
              <a:t>Versions:</a:t>
            </a:r>
          </a:p>
          <a:p>
            <a:r>
              <a:rPr lang="en-US" sz="1100" dirty="0">
                <a:latin typeface="Consolas" panose="020B0609020204030204" pitchFamily="49" charset="0"/>
              </a:rPr>
              <a:t>  Process           </a:t>
            </a:r>
            <a:r>
              <a:rPr lang="en-US" sz="1100" dirty="0" err="1">
                <a:latin typeface="Consolas" panose="020B0609020204030204" pitchFamily="49" charset="0"/>
              </a:rPr>
              <a:t>bRIB</a:t>
            </a:r>
            <a:r>
              <a:rPr lang="en-US" sz="1100" dirty="0">
                <a:latin typeface="Consolas" panose="020B0609020204030204" pitchFamily="49" charset="0"/>
              </a:rPr>
              <a:t>/RIB  </a:t>
            </a:r>
            <a:r>
              <a:rPr lang="en-US" sz="1100" dirty="0" err="1">
                <a:latin typeface="Consolas" panose="020B0609020204030204" pitchFamily="49" charset="0"/>
              </a:rPr>
              <a:t>SendTblVer</a:t>
            </a:r>
            <a:endParaRPr lang="en-US" sz="1100" dirty="0">
              <a:latin typeface="Consolas" panose="020B0609020204030204" pitchFamily="49" charset="0"/>
            </a:endParaRPr>
          </a:p>
          <a:p>
            <a:r>
              <a:rPr lang="en-US" sz="1100" dirty="0">
                <a:latin typeface="Consolas" panose="020B0609020204030204" pitchFamily="49" charset="0"/>
              </a:rPr>
              <a:t>  Speaker                  71           71</a:t>
            </a:r>
          </a:p>
          <a:p>
            <a:r>
              <a:rPr lang="en-US" sz="1100" dirty="0">
                <a:latin typeface="Consolas" panose="020B0609020204030204" pitchFamily="49" charset="0"/>
              </a:rPr>
              <a:t>    Local Label: 24010</a:t>
            </a:r>
          </a:p>
          <a:p>
            <a:r>
              <a:rPr lang="en-US" sz="1100" dirty="0">
                <a:latin typeface="Consolas" panose="020B0609020204030204" pitchFamily="49" charset="0"/>
              </a:rPr>
              <a:t>    SRv6-VPN SID: fc00:ab00:2:e008::/64</a:t>
            </a:r>
          </a:p>
          <a:p>
            <a:r>
              <a:rPr lang="en-US" sz="1100" dirty="0">
                <a:latin typeface="Consolas" panose="020B0609020204030204" pitchFamily="49" charset="0"/>
              </a:rPr>
              <a:t>Last Modified: Nov  1 15:28:39.875 for 02:31:06</a:t>
            </a:r>
          </a:p>
          <a:p>
            <a:r>
              <a:rPr lang="en-US" sz="1100" dirty="0">
                <a:latin typeface="Consolas" panose="020B0609020204030204" pitchFamily="49" charset="0"/>
              </a:rPr>
              <a:t>Paths: (1 available, best #1)</a:t>
            </a:r>
          </a:p>
          <a:p>
            <a:r>
              <a:rPr lang="en-US" sz="1100" dirty="0">
                <a:latin typeface="Consolas" panose="020B0609020204030204" pitchFamily="49" charset="0"/>
              </a:rPr>
              <a:t>  Advertised to PE peers (in unique update groups):</a:t>
            </a:r>
          </a:p>
          <a:p>
            <a:r>
              <a:rPr lang="en-US" sz="1100" dirty="0">
                <a:latin typeface="Consolas" panose="020B0609020204030204" pitchFamily="49" charset="0"/>
              </a:rPr>
              <a:t>    2001:9999::3                            </a:t>
            </a:r>
          </a:p>
          <a:p>
            <a:r>
              <a:rPr lang="en-US" sz="1100" dirty="0">
                <a:latin typeface="Consolas" panose="020B0609020204030204" pitchFamily="49" charset="0"/>
              </a:rPr>
              <a:t>  Path #1: Received by speaker 0</a:t>
            </a:r>
          </a:p>
          <a:p>
            <a:r>
              <a:rPr lang="en-US" sz="1100" dirty="0">
                <a:latin typeface="Consolas" panose="020B0609020204030204" pitchFamily="49" charset="0"/>
              </a:rPr>
              <a:t>  Advertised to PE peers (in unique update groups):</a:t>
            </a:r>
          </a:p>
          <a:p>
            <a:r>
              <a:rPr lang="en-US" sz="1100" dirty="0">
                <a:latin typeface="Consolas" panose="020B0609020204030204" pitchFamily="49" charset="0"/>
              </a:rPr>
              <a:t>    2001:9999::3                            </a:t>
            </a:r>
          </a:p>
          <a:p>
            <a:r>
              <a:rPr lang="en-US" sz="1100" dirty="0">
                <a:latin typeface="Consolas" panose="020B0609020204030204" pitchFamily="49" charset="0"/>
              </a:rPr>
              <a:t>  65031, (Received from a RR-client)</a:t>
            </a:r>
          </a:p>
          <a:p>
            <a:r>
              <a:rPr lang="en-US" sz="1100" dirty="0">
                <a:latin typeface="Consolas" panose="020B0609020204030204" pitchFamily="49" charset="0"/>
              </a:rPr>
              <a:t>    1.1.1.31 (metric 20) from 1.1.1.31 (1.1.1.31)</a:t>
            </a:r>
          </a:p>
          <a:p>
            <a:r>
              <a:rPr lang="en-US" sz="1100" dirty="0">
                <a:latin typeface="Consolas" panose="020B0609020204030204" pitchFamily="49" charset="0"/>
              </a:rPr>
              <a:t>      Received Label </a:t>
            </a:r>
            <a:r>
              <a:rPr lang="en-US" sz="1100" dirty="0">
                <a:highlight>
                  <a:srgbClr val="FF00FF"/>
                </a:highlight>
                <a:latin typeface="Consolas" panose="020B0609020204030204" pitchFamily="49" charset="0"/>
              </a:rPr>
              <a:t>26</a:t>
            </a:r>
            <a:r>
              <a:rPr lang="en-US" sz="1100" dirty="0">
                <a:latin typeface="Consolas" panose="020B0609020204030204" pitchFamily="49" charset="0"/>
              </a:rPr>
              <a:t> </a:t>
            </a:r>
          </a:p>
          <a:p>
            <a:r>
              <a:rPr lang="en-US" sz="1100" dirty="0">
                <a:latin typeface="Consolas" panose="020B0609020204030204" pitchFamily="49" charset="0"/>
              </a:rPr>
              <a:t>      Origin IGP, metric 0, localpref 100, valid, internal, best, group-best, import-candidate, imported, </a:t>
            </a:r>
            <a:r>
              <a:rPr lang="en-US" sz="1100" dirty="0" err="1">
                <a:latin typeface="Consolas" panose="020B0609020204030204" pitchFamily="49" charset="0"/>
              </a:rPr>
              <a:t>reoriginated</a:t>
            </a:r>
            <a:r>
              <a:rPr lang="en-US" sz="1100" dirty="0">
                <a:latin typeface="Consolas" panose="020B0609020204030204" pitchFamily="49" charset="0"/>
              </a:rPr>
              <a:t> with stitching-rt</a:t>
            </a:r>
          </a:p>
          <a:p>
            <a:r>
              <a:rPr lang="en-US" sz="1100" dirty="0">
                <a:latin typeface="Consolas" panose="020B0609020204030204" pitchFamily="49" charset="0"/>
              </a:rPr>
              <a:t>      Received Path ID 0, Local Path ID 1, version 71</a:t>
            </a:r>
          </a:p>
          <a:p>
            <a:r>
              <a:rPr lang="en-US" sz="1100" dirty="0">
                <a:latin typeface="Consolas" panose="020B0609020204030204" pitchFamily="49" charset="0"/>
              </a:rPr>
              <a:t>      Extended community: RT:65000:1 </a:t>
            </a:r>
          </a:p>
          <a:p>
            <a:r>
              <a:rPr lang="en-US" sz="1100" dirty="0">
                <a:latin typeface="Consolas" panose="020B0609020204030204" pitchFamily="49" charset="0"/>
              </a:rPr>
              <a:t>      Source AFI: VPNv4 Unicast, Source VRF: default, Source Route Distinguisher: 65000:1</a:t>
            </a:r>
          </a:p>
          <a:p>
            <a:r>
              <a:rPr lang="en-US" sz="1100" dirty="0">
                <a:latin typeface="Consolas" panose="020B0609020204030204" pitchFamily="49" charset="0"/>
              </a:rPr>
              <a:t>RP/0/RP0/CPU0:R02#</a:t>
            </a:r>
          </a:p>
          <a:p>
            <a:endParaRPr lang="en-US" sz="1100" dirty="0">
              <a:latin typeface="Consolas" panose="020B0609020204030204" pitchFamily="49" charset="0"/>
            </a:endParaRPr>
          </a:p>
        </p:txBody>
      </p:sp>
      <p:sp>
        <p:nvSpPr>
          <p:cNvPr id="5" name="Rectangle 4">
            <a:extLst>
              <a:ext uri="{FF2B5EF4-FFF2-40B4-BE49-F238E27FC236}">
                <a16:creationId xmlns:a16="http://schemas.microsoft.com/office/drawing/2014/main" id="{DF368704-E137-F49C-1BEB-727A92CA2F56}"/>
              </a:ext>
            </a:extLst>
          </p:cNvPr>
          <p:cNvSpPr/>
          <p:nvPr/>
        </p:nvSpPr>
        <p:spPr>
          <a:xfrm>
            <a:off x="5705695" y="865688"/>
            <a:ext cx="6486305" cy="4493538"/>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RP/0/RP0/CPU0:R02#</a:t>
            </a:r>
            <a:r>
              <a:rPr lang="en-US" sz="1100" b="1" dirty="0">
                <a:latin typeface="Consolas" panose="020B0609020204030204" pitchFamily="49" charset="0"/>
              </a:rPr>
              <a:t>sh cef 1.1.1.31</a:t>
            </a:r>
          </a:p>
          <a:p>
            <a:r>
              <a:rPr lang="en-US" sz="1100" dirty="0">
                <a:latin typeface="Consolas" panose="020B0609020204030204" pitchFamily="49" charset="0"/>
              </a:rPr>
              <a:t>Fri Nov  1 18:00:26.584 UTC</a:t>
            </a:r>
          </a:p>
          <a:p>
            <a:r>
              <a:rPr lang="en-US" sz="1100" dirty="0">
                <a:latin typeface="Consolas" panose="020B0609020204030204" pitchFamily="49" charset="0"/>
              </a:rPr>
              <a:t>1.1.1.31/32, version 38, internal 0x1000001 0x30 (</a:t>
            </a:r>
            <a:r>
              <a:rPr lang="en-US" sz="1100" dirty="0" err="1">
                <a:latin typeface="Consolas" panose="020B0609020204030204" pitchFamily="49" charset="0"/>
              </a:rPr>
              <a:t>ptr</a:t>
            </a:r>
            <a:r>
              <a:rPr lang="en-US" sz="1100" dirty="0">
                <a:latin typeface="Consolas" panose="020B0609020204030204" pitchFamily="49" charset="0"/>
              </a:rPr>
              <a:t> 0xe7e87b0) [1], 0x600 (0xe158890), 0xa28 (0xf485468)</a:t>
            </a:r>
          </a:p>
          <a:p>
            <a:r>
              <a:rPr lang="en-US" sz="1100" dirty="0">
                <a:latin typeface="Consolas" panose="020B0609020204030204" pitchFamily="49" charset="0"/>
              </a:rPr>
              <a:t> Updated Nov  1 14:56:03.550 </a:t>
            </a:r>
          </a:p>
          <a:p>
            <a:r>
              <a:rPr lang="en-US" sz="1100" dirty="0">
                <a:latin typeface="Consolas" panose="020B0609020204030204" pitchFamily="49" charset="0"/>
              </a:rPr>
              <a:t> remote adjacency to GigabitEthernet0/0/0/3</a:t>
            </a:r>
          </a:p>
          <a:p>
            <a:r>
              <a:rPr lang="en-US" sz="1100" dirty="0">
                <a:latin typeface="Consolas" panose="020B0609020204030204" pitchFamily="49" charset="0"/>
              </a:rPr>
              <a:t> Prefix Len 32, traffic index 0, precedence n/a, priority 3</a:t>
            </a:r>
          </a:p>
          <a:p>
            <a:r>
              <a:rPr lang="en-US" sz="1100" dirty="0">
                <a:latin typeface="Consolas" panose="020B0609020204030204" pitchFamily="49" charset="0"/>
              </a:rPr>
              <a:t>  gateway array (0xdfc1708) reference count 3, flags 0x68, source </a:t>
            </a:r>
            <a:r>
              <a:rPr lang="en-US" sz="1100" dirty="0" err="1">
                <a:latin typeface="Consolas" panose="020B0609020204030204" pitchFamily="49" charset="0"/>
              </a:rPr>
              <a:t>lsd</a:t>
            </a:r>
            <a:r>
              <a:rPr lang="en-US" sz="1100" dirty="0">
                <a:latin typeface="Consolas" panose="020B0609020204030204" pitchFamily="49" charset="0"/>
              </a:rPr>
              <a:t> (5), 1 backups</a:t>
            </a:r>
          </a:p>
          <a:p>
            <a:r>
              <a:rPr lang="en-US" sz="1100" dirty="0">
                <a:latin typeface="Consolas" panose="020B0609020204030204" pitchFamily="49" charset="0"/>
              </a:rPr>
              <a:t>                [2 type 5 flags 0x8401 (0xf4c4528) </a:t>
            </a:r>
            <a:r>
              <a:rPr lang="en-US" sz="1100" dirty="0" err="1">
                <a:latin typeface="Consolas" panose="020B0609020204030204" pitchFamily="49" charset="0"/>
              </a:rPr>
              <a:t>ext</a:t>
            </a:r>
            <a:r>
              <a:rPr lang="en-US" sz="1100" dirty="0">
                <a:latin typeface="Consolas" panose="020B0609020204030204" pitchFamily="49" charset="0"/>
              </a:rPr>
              <a:t> 0x0 (0x0)]</a:t>
            </a:r>
          </a:p>
          <a:p>
            <a:r>
              <a:rPr lang="en-US" sz="1100" dirty="0">
                <a:latin typeface="Consolas" panose="020B0609020204030204" pitchFamily="49" charset="0"/>
              </a:rPr>
              <a:t>  LW-LDI[type=5, </a:t>
            </a:r>
            <a:r>
              <a:rPr lang="en-US" sz="1100" dirty="0" err="1">
                <a:latin typeface="Consolas" panose="020B0609020204030204" pitchFamily="49" charset="0"/>
              </a:rPr>
              <a:t>refc</a:t>
            </a:r>
            <a:r>
              <a:rPr lang="en-US" sz="1100" dirty="0">
                <a:latin typeface="Consolas" panose="020B0609020204030204" pitchFamily="49" charset="0"/>
              </a:rPr>
              <a:t>=3, </a:t>
            </a:r>
            <a:r>
              <a:rPr lang="en-US" sz="1100" dirty="0" err="1">
                <a:latin typeface="Consolas" panose="020B0609020204030204" pitchFamily="49" charset="0"/>
              </a:rPr>
              <a:t>ptr</a:t>
            </a:r>
            <a:r>
              <a:rPr lang="en-US" sz="1100" dirty="0">
                <a:latin typeface="Consolas" panose="020B0609020204030204" pitchFamily="49" charset="0"/>
              </a:rPr>
              <a:t>=0xe158890, sh-</a:t>
            </a:r>
            <a:r>
              <a:rPr lang="en-US" sz="1100" dirty="0" err="1">
                <a:latin typeface="Consolas" panose="020B0609020204030204" pitchFamily="49" charset="0"/>
              </a:rPr>
              <a:t>ldi</a:t>
            </a:r>
            <a:r>
              <a:rPr lang="en-US" sz="1100" dirty="0">
                <a:latin typeface="Consolas" panose="020B0609020204030204" pitchFamily="49" charset="0"/>
              </a:rPr>
              <a:t>=0xf4c4528]</a:t>
            </a:r>
          </a:p>
          <a:p>
            <a:r>
              <a:rPr lang="en-US" sz="1100" dirty="0">
                <a:latin typeface="Consolas" panose="020B0609020204030204" pitchFamily="49" charset="0"/>
              </a:rPr>
              <a:t>  gateway array update type-time 1 Nov  1 14:56:03.551</a:t>
            </a:r>
          </a:p>
          <a:p>
            <a:r>
              <a:rPr lang="en-US" sz="1100" dirty="0">
                <a:latin typeface="Consolas" panose="020B0609020204030204" pitchFamily="49" charset="0"/>
              </a:rPr>
              <a:t> LDI Update time Nov  1 14:56:03.551</a:t>
            </a:r>
          </a:p>
          <a:p>
            <a:r>
              <a:rPr lang="en-US" sz="1100" dirty="0">
                <a:latin typeface="Consolas" panose="020B0609020204030204" pitchFamily="49" charset="0"/>
              </a:rPr>
              <a:t> LW-LDI-TS Nov  1 14:56:03.551</a:t>
            </a:r>
          </a:p>
          <a:p>
            <a:r>
              <a:rPr lang="en-US" sz="1100" dirty="0">
                <a:latin typeface="Consolas" panose="020B0609020204030204" pitchFamily="49" charset="0"/>
              </a:rPr>
              <a:t>   via 64.2.32.32/32, GigabitEthernet0/0/0/3, 4 dependencies, weight 0, class 0 [flags 0x0]</a:t>
            </a:r>
          </a:p>
          <a:p>
            <a:r>
              <a:rPr lang="en-US" sz="1100" dirty="0">
                <a:latin typeface="Consolas" panose="020B0609020204030204" pitchFamily="49" charset="0"/>
              </a:rPr>
              <a:t>    path-</a:t>
            </a:r>
            <a:r>
              <a:rPr lang="en-US" sz="1100" dirty="0" err="1">
                <a:latin typeface="Consolas" panose="020B0609020204030204" pitchFamily="49" charset="0"/>
              </a:rPr>
              <a:t>idx</a:t>
            </a:r>
            <a:r>
              <a:rPr lang="en-US" sz="1100" dirty="0">
                <a:latin typeface="Consolas" panose="020B0609020204030204" pitchFamily="49" charset="0"/>
              </a:rPr>
              <a:t> 0 NHID 0x0 [0xfdd2790 0x0]</a:t>
            </a:r>
          </a:p>
          <a:p>
            <a:r>
              <a:rPr lang="en-US" sz="1100" dirty="0">
                <a:latin typeface="Consolas" panose="020B0609020204030204" pitchFamily="49" charset="0"/>
              </a:rPr>
              <a:t>    next hop 64.2.32.32/32</a:t>
            </a:r>
          </a:p>
          <a:p>
            <a:r>
              <a:rPr lang="en-US" sz="1100" dirty="0">
                <a:latin typeface="Consolas" panose="020B0609020204030204" pitchFamily="49" charset="0"/>
              </a:rPr>
              <a:t>    remote adjacency</a:t>
            </a:r>
          </a:p>
          <a:p>
            <a:r>
              <a:rPr lang="en-US" sz="1100" dirty="0">
                <a:latin typeface="Consolas" panose="020B0609020204030204" pitchFamily="49" charset="0"/>
              </a:rPr>
              <a:t>     local label 24009      labels imposed {</a:t>
            </a:r>
            <a:r>
              <a:rPr lang="en-US" sz="1100" dirty="0">
                <a:highlight>
                  <a:srgbClr val="00FF00"/>
                </a:highlight>
                <a:latin typeface="Consolas" panose="020B0609020204030204" pitchFamily="49" charset="0"/>
              </a:rPr>
              <a:t>25</a:t>
            </a:r>
            <a:r>
              <a:rPr lang="en-US" sz="1100" dirty="0">
                <a:latin typeface="Consolas" panose="020B0609020204030204" pitchFamily="49" charset="0"/>
              </a:rPr>
              <a:t>}</a:t>
            </a:r>
          </a:p>
          <a:p>
            <a:endParaRPr lang="en-US" sz="1100" dirty="0">
              <a:latin typeface="Consolas" panose="020B0609020204030204" pitchFamily="49" charset="0"/>
            </a:endParaRPr>
          </a:p>
          <a:p>
            <a:r>
              <a:rPr lang="en-US" sz="1100" dirty="0">
                <a:latin typeface="Consolas" panose="020B0609020204030204" pitchFamily="49" charset="0"/>
              </a:rPr>
              <a:t>    Load distribution: 0 (refcount 2)</a:t>
            </a:r>
          </a:p>
          <a:p>
            <a:endParaRPr lang="en-US" sz="1100" dirty="0">
              <a:latin typeface="Consolas" panose="020B0609020204030204" pitchFamily="49" charset="0"/>
            </a:endParaRPr>
          </a:p>
          <a:p>
            <a:r>
              <a:rPr lang="en-US" sz="1100" dirty="0">
                <a:latin typeface="Consolas" panose="020B0609020204030204" pitchFamily="49" charset="0"/>
              </a:rPr>
              <a:t>    Hash  OK  Interface                 Address</a:t>
            </a:r>
          </a:p>
          <a:p>
            <a:r>
              <a:rPr lang="en-US" sz="1100" dirty="0">
                <a:latin typeface="Consolas" panose="020B0609020204030204" pitchFamily="49" charset="0"/>
              </a:rPr>
              <a:t>    0     Y   GigabitEthernet0/0/0/3    remote         </a:t>
            </a:r>
          </a:p>
          <a:p>
            <a:r>
              <a:rPr lang="en-US" sz="1100" dirty="0">
                <a:latin typeface="Consolas" panose="020B0609020204030204" pitchFamily="49" charset="0"/>
              </a:rPr>
              <a:t>RP/0/RP0/CPU0:R02#</a:t>
            </a:r>
          </a:p>
        </p:txBody>
      </p:sp>
    </p:spTree>
    <p:extLst>
      <p:ext uri="{BB962C8B-B14F-4D97-AF65-F5344CB8AC3E}">
        <p14:creationId xmlns:p14="http://schemas.microsoft.com/office/powerpoint/2010/main" val="1143851639"/>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SRv6 to MPLS (CE01 -&gt; CE31)  #R02</a:t>
            </a:r>
          </a:p>
        </p:txBody>
      </p:sp>
      <p:sp>
        <p:nvSpPr>
          <p:cNvPr id="2" name="Rectangle 1">
            <a:extLst>
              <a:ext uri="{FF2B5EF4-FFF2-40B4-BE49-F238E27FC236}">
                <a16:creationId xmlns:a16="http://schemas.microsoft.com/office/drawing/2014/main" id="{1C04B55F-CE6E-D1AA-E2C6-EB5E073A98AE}"/>
              </a:ext>
            </a:extLst>
          </p:cNvPr>
          <p:cNvSpPr/>
          <p:nvPr/>
        </p:nvSpPr>
        <p:spPr>
          <a:xfrm>
            <a:off x="207524" y="785478"/>
            <a:ext cx="9096561" cy="3985706"/>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RP/0/RP0/CPU0:R02#</a:t>
            </a:r>
            <a:r>
              <a:rPr lang="en-US" sz="1100" b="1" dirty="0">
                <a:latin typeface="Consolas" panose="020B0609020204030204" pitchFamily="49" charset="0"/>
              </a:rPr>
              <a:t>sh cef vrf A-GW 10.0.31.1</a:t>
            </a:r>
          </a:p>
          <a:p>
            <a:r>
              <a:rPr lang="en-US" sz="1100" dirty="0">
                <a:latin typeface="Consolas" panose="020B0609020204030204" pitchFamily="49" charset="0"/>
              </a:rPr>
              <a:t>Fri Nov  1 17:59:30.012 UTC</a:t>
            </a:r>
          </a:p>
          <a:p>
            <a:r>
              <a:rPr lang="en-US" sz="1100" dirty="0">
                <a:latin typeface="Consolas" panose="020B0609020204030204" pitchFamily="49" charset="0"/>
              </a:rPr>
              <a:t>10.0.31.0/24, version 1, internal 0x1000001 0x30 (</a:t>
            </a:r>
            <a:r>
              <a:rPr lang="en-US" sz="1100" dirty="0" err="1">
                <a:latin typeface="Consolas" panose="020B0609020204030204" pitchFamily="49" charset="0"/>
              </a:rPr>
              <a:t>ptr</a:t>
            </a:r>
            <a:r>
              <a:rPr lang="en-US" sz="1100" dirty="0">
                <a:latin typeface="Consolas" panose="020B0609020204030204" pitchFamily="49" charset="0"/>
              </a:rPr>
              <a:t> 0xe7e7858) [1], 0x600 (0xe158a40), 0xa08 (0xf485588)</a:t>
            </a:r>
          </a:p>
          <a:p>
            <a:r>
              <a:rPr lang="en-US" sz="1100" dirty="0">
                <a:latin typeface="Consolas" panose="020B0609020204030204" pitchFamily="49" charset="0"/>
              </a:rPr>
              <a:t> Updated Nov  1 15:28:39.497</a:t>
            </a:r>
          </a:p>
          <a:p>
            <a:r>
              <a:rPr lang="en-US" sz="1100" dirty="0">
                <a:latin typeface="Consolas" panose="020B0609020204030204" pitchFamily="49" charset="0"/>
              </a:rPr>
              <a:t> Prefix Len 24, traffic index 0, precedence n/a, priority 3</a:t>
            </a:r>
          </a:p>
          <a:p>
            <a:r>
              <a:rPr lang="en-US" sz="1100" dirty="0">
                <a:latin typeface="Consolas" panose="020B0609020204030204" pitchFamily="49" charset="0"/>
              </a:rPr>
              <a:t>  gateway array (0xdfc1c78) reference count 4, flags 0x38, source rib (7), 0 backups</a:t>
            </a:r>
          </a:p>
          <a:p>
            <a:r>
              <a:rPr lang="en-US" sz="1100" dirty="0">
                <a:latin typeface="Consolas" panose="020B0609020204030204" pitchFamily="49" charset="0"/>
              </a:rPr>
              <a:t>                [5 type 1 flags 0x8441 (0xf4c48e8) </a:t>
            </a:r>
            <a:r>
              <a:rPr lang="en-US" sz="1100" dirty="0" err="1">
                <a:latin typeface="Consolas" panose="020B0609020204030204" pitchFamily="49" charset="0"/>
              </a:rPr>
              <a:t>ext</a:t>
            </a:r>
            <a:r>
              <a:rPr lang="en-US" sz="1100" dirty="0">
                <a:latin typeface="Consolas" panose="020B0609020204030204" pitchFamily="49" charset="0"/>
              </a:rPr>
              <a:t> 0x0 (0x0)]</a:t>
            </a:r>
          </a:p>
          <a:p>
            <a:r>
              <a:rPr lang="en-US" sz="1100" dirty="0">
                <a:latin typeface="Consolas" panose="020B0609020204030204" pitchFamily="49" charset="0"/>
              </a:rPr>
              <a:t>  LW-LDI[type=1, </a:t>
            </a:r>
            <a:r>
              <a:rPr lang="en-US" sz="1100" dirty="0" err="1">
                <a:latin typeface="Consolas" panose="020B0609020204030204" pitchFamily="49" charset="0"/>
              </a:rPr>
              <a:t>refc</a:t>
            </a:r>
            <a:r>
              <a:rPr lang="en-US" sz="1100" dirty="0">
                <a:latin typeface="Consolas" panose="020B0609020204030204" pitchFamily="49" charset="0"/>
              </a:rPr>
              <a:t>=1, </a:t>
            </a:r>
            <a:r>
              <a:rPr lang="en-US" sz="1100" dirty="0" err="1">
                <a:latin typeface="Consolas" panose="020B0609020204030204" pitchFamily="49" charset="0"/>
              </a:rPr>
              <a:t>ptr</a:t>
            </a:r>
            <a:r>
              <a:rPr lang="en-US" sz="1100" dirty="0">
                <a:latin typeface="Consolas" panose="020B0609020204030204" pitchFamily="49" charset="0"/>
              </a:rPr>
              <a:t>=0xe158a40, sh-</a:t>
            </a:r>
            <a:r>
              <a:rPr lang="en-US" sz="1100" dirty="0" err="1">
                <a:latin typeface="Consolas" panose="020B0609020204030204" pitchFamily="49" charset="0"/>
              </a:rPr>
              <a:t>ldi</a:t>
            </a:r>
            <a:r>
              <a:rPr lang="en-US" sz="1100" dirty="0">
                <a:latin typeface="Consolas" panose="020B0609020204030204" pitchFamily="49" charset="0"/>
              </a:rPr>
              <a:t>=0xf4c48e8]</a:t>
            </a:r>
          </a:p>
          <a:p>
            <a:r>
              <a:rPr lang="en-US" sz="1100" dirty="0">
                <a:latin typeface="Consolas" panose="020B0609020204030204" pitchFamily="49" charset="0"/>
              </a:rPr>
              <a:t>  gateway array update type-time 1 Nov  1 15:28:39.497</a:t>
            </a:r>
          </a:p>
          <a:p>
            <a:r>
              <a:rPr lang="en-US" sz="1100" dirty="0">
                <a:latin typeface="Consolas" panose="020B0609020204030204" pitchFamily="49" charset="0"/>
              </a:rPr>
              <a:t> LDI Update time Nov  1 15:28:39.497</a:t>
            </a:r>
          </a:p>
          <a:p>
            <a:r>
              <a:rPr lang="en-US" sz="1100" dirty="0">
                <a:latin typeface="Consolas" panose="020B0609020204030204" pitchFamily="49" charset="0"/>
              </a:rPr>
              <a:t> LW-LDI-TS Nov  1 15:28:39.497</a:t>
            </a:r>
          </a:p>
          <a:p>
            <a:r>
              <a:rPr lang="en-US" sz="1100" dirty="0">
                <a:latin typeface="Consolas" panose="020B0609020204030204" pitchFamily="49" charset="0"/>
              </a:rPr>
              <a:t>   via 1.1.1.31/32, 3 dependencies, recursive [flags 0x6000]</a:t>
            </a:r>
          </a:p>
          <a:p>
            <a:r>
              <a:rPr lang="en-US" sz="1100" dirty="0">
                <a:latin typeface="Consolas" panose="020B0609020204030204" pitchFamily="49" charset="0"/>
              </a:rPr>
              <a:t>    path-</a:t>
            </a:r>
            <a:r>
              <a:rPr lang="en-US" sz="1100" dirty="0" err="1">
                <a:latin typeface="Consolas" panose="020B0609020204030204" pitchFamily="49" charset="0"/>
              </a:rPr>
              <a:t>idx</a:t>
            </a:r>
            <a:r>
              <a:rPr lang="en-US" sz="1100" dirty="0">
                <a:latin typeface="Consolas" panose="020B0609020204030204" pitchFamily="49" charset="0"/>
              </a:rPr>
              <a:t> 0 NHID 0x0 [0xe43fd60 0x0]</a:t>
            </a:r>
          </a:p>
          <a:p>
            <a:r>
              <a:rPr lang="en-US" sz="1100" dirty="0">
                <a:latin typeface="Consolas" panose="020B0609020204030204" pitchFamily="49" charset="0"/>
              </a:rPr>
              <a:t>    recursion-via-/32</a:t>
            </a:r>
          </a:p>
          <a:p>
            <a:r>
              <a:rPr lang="en-US" sz="1100" dirty="0">
                <a:latin typeface="Consolas" panose="020B0609020204030204" pitchFamily="49" charset="0"/>
              </a:rPr>
              <a:t>    next hop VRF - 'default', table - 0xe0000000</a:t>
            </a:r>
          </a:p>
          <a:p>
            <a:r>
              <a:rPr lang="en-US" sz="1100" dirty="0">
                <a:latin typeface="Consolas" panose="020B0609020204030204" pitchFamily="49" charset="0"/>
              </a:rPr>
              <a:t>    next hop 1.1.1.31/32 via 24009/0/21</a:t>
            </a:r>
          </a:p>
          <a:p>
            <a:r>
              <a:rPr lang="en-US" sz="1100" dirty="0">
                <a:latin typeface="Consolas" panose="020B0609020204030204" pitchFamily="49" charset="0"/>
              </a:rPr>
              <a:t>     next hop 64.2.32.32/32 Gi0/0/0/3    labels imposed {</a:t>
            </a:r>
            <a:r>
              <a:rPr lang="en-US" sz="1100" dirty="0">
                <a:highlight>
                  <a:srgbClr val="00FF00"/>
                </a:highlight>
                <a:latin typeface="Consolas" panose="020B0609020204030204" pitchFamily="49" charset="0"/>
              </a:rPr>
              <a:t>25</a:t>
            </a:r>
            <a:r>
              <a:rPr lang="en-US" sz="1100" dirty="0">
                <a:latin typeface="Consolas" panose="020B0609020204030204" pitchFamily="49" charset="0"/>
              </a:rPr>
              <a:t> </a:t>
            </a:r>
            <a:r>
              <a:rPr lang="en-US" sz="1100" dirty="0">
                <a:highlight>
                  <a:srgbClr val="FF00FF"/>
                </a:highlight>
                <a:latin typeface="Consolas" panose="020B0609020204030204" pitchFamily="49" charset="0"/>
              </a:rPr>
              <a:t>26</a:t>
            </a:r>
            <a:r>
              <a:rPr lang="en-US" sz="1100" dirty="0">
                <a:latin typeface="Consolas" panose="020B0609020204030204" pitchFamily="49" charset="0"/>
              </a:rPr>
              <a:t>}</a:t>
            </a:r>
          </a:p>
          <a:p>
            <a:endParaRPr lang="en-US" sz="1100" dirty="0">
              <a:latin typeface="Consolas" panose="020B0609020204030204" pitchFamily="49" charset="0"/>
            </a:endParaRPr>
          </a:p>
          <a:p>
            <a:r>
              <a:rPr lang="en-US" sz="1100" dirty="0">
                <a:latin typeface="Consolas" panose="020B0609020204030204" pitchFamily="49" charset="0"/>
              </a:rPr>
              <a:t>    Load distribution: 0 (refcount 5)</a:t>
            </a:r>
          </a:p>
          <a:p>
            <a:endParaRPr lang="en-US" sz="1100" dirty="0">
              <a:latin typeface="Consolas" panose="020B0609020204030204" pitchFamily="49" charset="0"/>
            </a:endParaRPr>
          </a:p>
          <a:p>
            <a:r>
              <a:rPr lang="en-US" sz="1100" dirty="0">
                <a:latin typeface="Consolas" panose="020B0609020204030204" pitchFamily="49" charset="0"/>
              </a:rPr>
              <a:t>    Hash  OK  Interface                 Address</a:t>
            </a:r>
          </a:p>
          <a:p>
            <a:r>
              <a:rPr lang="en-US" sz="1100" dirty="0">
                <a:latin typeface="Consolas" panose="020B0609020204030204" pitchFamily="49" charset="0"/>
              </a:rPr>
              <a:t>    0     Y   recursive                 24009/0        </a:t>
            </a:r>
          </a:p>
          <a:p>
            <a:r>
              <a:rPr lang="en-US" sz="1100" dirty="0">
                <a:latin typeface="Consolas" panose="020B0609020204030204" pitchFamily="49" charset="0"/>
              </a:rPr>
              <a:t>RP/0/RP0/CPU0:R02#</a:t>
            </a:r>
          </a:p>
        </p:txBody>
      </p:sp>
    </p:spTree>
    <p:extLst>
      <p:ext uri="{BB962C8B-B14F-4D97-AF65-F5344CB8AC3E}">
        <p14:creationId xmlns:p14="http://schemas.microsoft.com/office/powerpoint/2010/main" val="3296915318"/>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SRv6 to MPLS (CE01 -&gt; CE31)  #R32</a:t>
            </a:r>
          </a:p>
        </p:txBody>
      </p:sp>
      <p:sp>
        <p:nvSpPr>
          <p:cNvPr id="5" name="Rectangle 4">
            <a:extLst>
              <a:ext uri="{FF2B5EF4-FFF2-40B4-BE49-F238E27FC236}">
                <a16:creationId xmlns:a16="http://schemas.microsoft.com/office/drawing/2014/main" id="{DF368704-E137-F49C-1BEB-727A92CA2F56}"/>
              </a:ext>
            </a:extLst>
          </p:cNvPr>
          <p:cNvSpPr/>
          <p:nvPr/>
        </p:nvSpPr>
        <p:spPr>
          <a:xfrm>
            <a:off x="647312" y="933782"/>
            <a:ext cx="6486305" cy="2800767"/>
          </a:xfrm>
          <a:prstGeom prst="rect">
            <a:avLst/>
          </a:prstGeom>
          <a:solidFill>
            <a:schemeClr val="bg1">
              <a:lumMod val="95000"/>
            </a:schemeClr>
          </a:solidFill>
          <a:ln>
            <a:solidFill>
              <a:schemeClr val="tx1"/>
            </a:solidFill>
          </a:ln>
          <a:effectLst/>
        </p:spPr>
        <p:txBody>
          <a:bodyPr wrap="square">
            <a:spAutoFit/>
          </a:bodyPr>
          <a:lstStyle/>
          <a:p>
            <a:r>
              <a:rPr lang="en-US" sz="1100" dirty="0" err="1">
                <a:latin typeface="Consolas" panose="020B0609020204030204" pitchFamily="49" charset="0"/>
              </a:rPr>
              <a:t>R32#</a:t>
            </a:r>
            <a:r>
              <a:rPr lang="en-US" sz="1100" b="1" dirty="0" err="1">
                <a:latin typeface="Consolas" panose="020B0609020204030204" pitchFamily="49" charset="0"/>
              </a:rPr>
              <a:t>sh</a:t>
            </a:r>
            <a:r>
              <a:rPr lang="en-US" sz="1100" b="1" dirty="0">
                <a:latin typeface="Consolas" panose="020B0609020204030204" pitchFamily="49" charset="0"/>
              </a:rPr>
              <a:t> mpls forwarding-table </a:t>
            </a:r>
          </a:p>
          <a:p>
            <a:r>
              <a:rPr lang="en-US" sz="1100" dirty="0">
                <a:latin typeface="Consolas" panose="020B0609020204030204" pitchFamily="49" charset="0"/>
              </a:rPr>
              <a:t>Local      Outgoing   Prefix           Bytes Label   Outgoing   Next Hop    </a:t>
            </a:r>
          </a:p>
          <a:p>
            <a:r>
              <a:rPr lang="en-US" sz="1100" dirty="0">
                <a:latin typeface="Consolas" panose="020B0609020204030204" pitchFamily="49" charset="0"/>
              </a:rPr>
              <a:t>Label      </a:t>
            </a:r>
            <a:r>
              <a:rPr lang="en-US" sz="1100" dirty="0" err="1">
                <a:latin typeface="Consolas" panose="020B0609020204030204" pitchFamily="49" charset="0"/>
              </a:rPr>
              <a:t>Label</a:t>
            </a:r>
            <a:r>
              <a:rPr lang="en-US" sz="1100" dirty="0">
                <a:latin typeface="Consolas" panose="020B0609020204030204" pitchFamily="49" charset="0"/>
              </a:rPr>
              <a:t>      or Tunnel Id     Switched      interface              </a:t>
            </a:r>
          </a:p>
          <a:p>
            <a:r>
              <a:rPr lang="en-US" sz="1100" dirty="0">
                <a:latin typeface="Consolas" panose="020B0609020204030204" pitchFamily="49" charset="0"/>
              </a:rPr>
              <a:t>16         Pop Label  1.1.1.4/32       0             Gi5        64.4.32.4   </a:t>
            </a:r>
          </a:p>
          <a:p>
            <a:r>
              <a:rPr lang="en-US" sz="1100" dirty="0">
                <a:latin typeface="Consolas" panose="020B0609020204030204" pitchFamily="49" charset="0"/>
              </a:rPr>
              <a:t>17         Pop Label  1.1.1.2/32       28314         Gi3        64.2.32.2   </a:t>
            </a:r>
          </a:p>
          <a:p>
            <a:r>
              <a:rPr lang="en-US" sz="1100" dirty="0">
                <a:latin typeface="Consolas" panose="020B0609020204030204" pitchFamily="49" charset="0"/>
              </a:rPr>
              <a:t>18         24007      1.1.1.12/32      0             Gi3        64.2.32.2   </a:t>
            </a:r>
          </a:p>
          <a:p>
            <a:r>
              <a:rPr lang="en-US" sz="1100" dirty="0">
                <a:latin typeface="Consolas" panose="020B0609020204030204" pitchFamily="49" charset="0"/>
              </a:rPr>
              <a:t>19         24000      1.1.1.3/32       0             Gi3        64.2.32.2   </a:t>
            </a:r>
          </a:p>
          <a:p>
            <a:r>
              <a:rPr lang="en-US" sz="1100" dirty="0">
                <a:latin typeface="Consolas" panose="020B0609020204030204" pitchFamily="49" charset="0"/>
              </a:rPr>
              <a:t>           24000      1.1.1.3/32       41861         Gi5        64.4.32.4   </a:t>
            </a:r>
          </a:p>
          <a:p>
            <a:r>
              <a:rPr lang="en-US" sz="1100" dirty="0">
                <a:latin typeface="Consolas" panose="020B0609020204030204" pitchFamily="49" charset="0"/>
              </a:rPr>
              <a:t>20         24013      1.1.1.23/32      0             Gi5        64.4.32.4   </a:t>
            </a:r>
          </a:p>
          <a:p>
            <a:r>
              <a:rPr lang="en-US" sz="1100" dirty="0">
                <a:latin typeface="Consolas" panose="020B0609020204030204" pitchFamily="49" charset="0"/>
              </a:rPr>
              <a:t>21         24002      1.1.1.1/32       0             Gi3        64.2.32.2   </a:t>
            </a:r>
          </a:p>
          <a:p>
            <a:r>
              <a:rPr lang="en-US" sz="1100" dirty="0">
                <a:latin typeface="Consolas" panose="020B0609020204030204" pitchFamily="49" charset="0"/>
              </a:rPr>
              <a:t>22         24003      1.1.1.13/32      0             Gi3        64.2.32.2   </a:t>
            </a:r>
          </a:p>
          <a:p>
            <a:r>
              <a:rPr lang="en-US" sz="1100" dirty="0">
                <a:latin typeface="Consolas" panose="020B0609020204030204" pitchFamily="49" charset="0"/>
              </a:rPr>
              <a:t>           24010      1.1.1.13/32      0             Gi5        64.4.32.4   </a:t>
            </a:r>
          </a:p>
          <a:p>
            <a:r>
              <a:rPr lang="en-US" sz="1100" dirty="0">
                <a:latin typeface="Consolas" panose="020B0609020204030204" pitchFamily="49" charset="0"/>
              </a:rPr>
              <a:t>23         24004      1.1.1.22/32      0             Gi3        64.2.32.2   </a:t>
            </a:r>
          </a:p>
          <a:p>
            <a:r>
              <a:rPr lang="en-US" sz="1100" dirty="0">
                <a:latin typeface="Consolas" panose="020B0609020204030204" pitchFamily="49" charset="0"/>
              </a:rPr>
              <a:t>24         24005      1.1.1.21/32      0             Gi3        64.2.32.2   </a:t>
            </a:r>
          </a:p>
          <a:p>
            <a:r>
              <a:rPr lang="en-US" sz="1100" dirty="0">
                <a:highlight>
                  <a:srgbClr val="00FF00"/>
                </a:highlight>
                <a:latin typeface="Consolas" panose="020B0609020204030204" pitchFamily="49" charset="0"/>
              </a:rPr>
              <a:t>25         Pop Label  1.1.1.31/32      69445         Gi1        64.31.32.31 </a:t>
            </a:r>
          </a:p>
          <a:p>
            <a:r>
              <a:rPr lang="en-US" sz="1100" dirty="0">
                <a:latin typeface="Consolas" panose="020B0609020204030204" pitchFamily="49" charset="0"/>
              </a:rPr>
              <a:t>R32#</a:t>
            </a:r>
          </a:p>
        </p:txBody>
      </p:sp>
    </p:spTree>
    <p:extLst>
      <p:ext uri="{BB962C8B-B14F-4D97-AF65-F5344CB8AC3E}">
        <p14:creationId xmlns:p14="http://schemas.microsoft.com/office/powerpoint/2010/main" val="1085596976"/>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SRv6 to MPLS (CE01 -&gt; CE31)  #R31</a:t>
            </a:r>
          </a:p>
        </p:txBody>
      </p:sp>
      <p:sp>
        <p:nvSpPr>
          <p:cNvPr id="5" name="Rectangle 4">
            <a:extLst>
              <a:ext uri="{FF2B5EF4-FFF2-40B4-BE49-F238E27FC236}">
                <a16:creationId xmlns:a16="http://schemas.microsoft.com/office/drawing/2014/main" id="{DF368704-E137-F49C-1BEB-727A92CA2F56}"/>
              </a:ext>
            </a:extLst>
          </p:cNvPr>
          <p:cNvSpPr/>
          <p:nvPr/>
        </p:nvSpPr>
        <p:spPr>
          <a:xfrm>
            <a:off x="647312" y="933782"/>
            <a:ext cx="6486305" cy="5678478"/>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R31#</a:t>
            </a:r>
            <a:r>
              <a:rPr lang="en-US" sz="1100" b="1" dirty="0">
                <a:latin typeface="Consolas" panose="020B0609020204030204" pitchFamily="49" charset="0"/>
              </a:rPr>
              <a:t>sh mpls forwarding-table </a:t>
            </a:r>
          </a:p>
          <a:p>
            <a:r>
              <a:rPr lang="en-US" sz="1100" dirty="0">
                <a:latin typeface="Consolas" panose="020B0609020204030204" pitchFamily="49" charset="0"/>
              </a:rPr>
              <a:t>Local      Outgoing   Prefix           Bytes Label   Outgoing   Next Hop    </a:t>
            </a:r>
          </a:p>
          <a:p>
            <a:r>
              <a:rPr lang="en-US" sz="1100" dirty="0">
                <a:latin typeface="Consolas" panose="020B0609020204030204" pitchFamily="49" charset="0"/>
              </a:rPr>
              <a:t>Label      </a:t>
            </a:r>
            <a:r>
              <a:rPr lang="en-US" sz="1100" dirty="0" err="1">
                <a:latin typeface="Consolas" panose="020B0609020204030204" pitchFamily="49" charset="0"/>
              </a:rPr>
              <a:t>Label</a:t>
            </a:r>
            <a:r>
              <a:rPr lang="en-US" sz="1100" dirty="0">
                <a:latin typeface="Consolas" panose="020B0609020204030204" pitchFamily="49" charset="0"/>
              </a:rPr>
              <a:t>      or Tunnel Id     Switched      interface              </a:t>
            </a:r>
          </a:p>
          <a:p>
            <a:r>
              <a:rPr lang="en-US" sz="1100" dirty="0">
                <a:latin typeface="Consolas" panose="020B0609020204030204" pitchFamily="49" charset="0"/>
              </a:rPr>
              <a:t>16         Pop Label  1.1.1.32/32      0             Gi1        64.31.32.32 </a:t>
            </a:r>
          </a:p>
          <a:p>
            <a:r>
              <a:rPr lang="en-US" sz="1100" dirty="0">
                <a:latin typeface="Consolas" panose="020B0609020204030204" pitchFamily="49" charset="0"/>
              </a:rPr>
              <a:t>17         17         1.1.1.2/32       0             Gi1        64.31.32.32 </a:t>
            </a:r>
          </a:p>
          <a:p>
            <a:r>
              <a:rPr lang="en-US" sz="1100" dirty="0">
                <a:latin typeface="Consolas" panose="020B0609020204030204" pitchFamily="49" charset="0"/>
              </a:rPr>
              <a:t>18         16         1.1.1.4/32       0             Gi1        64.31.32.32 </a:t>
            </a:r>
          </a:p>
          <a:p>
            <a:r>
              <a:rPr lang="en-US" sz="1100" dirty="0">
                <a:latin typeface="Consolas" panose="020B0609020204030204" pitchFamily="49" charset="0"/>
              </a:rPr>
              <a:t>19         21         1.1.1.1/32       0             Gi1        64.31.32.32 </a:t>
            </a:r>
          </a:p>
          <a:p>
            <a:r>
              <a:rPr lang="en-US" sz="1100" dirty="0">
                <a:latin typeface="Consolas" panose="020B0609020204030204" pitchFamily="49" charset="0"/>
              </a:rPr>
              <a:t>20         19         1.1.1.3/32       0             Gi1        64.31.32.32 </a:t>
            </a:r>
          </a:p>
          <a:p>
            <a:r>
              <a:rPr lang="en-US" sz="1100" dirty="0">
                <a:latin typeface="Consolas" panose="020B0609020204030204" pitchFamily="49" charset="0"/>
              </a:rPr>
              <a:t>21         18         1.1.1.12/32      0             Gi1        64.31.32.32 </a:t>
            </a:r>
          </a:p>
          <a:p>
            <a:r>
              <a:rPr lang="en-US" sz="1100" dirty="0">
                <a:latin typeface="Consolas" panose="020B0609020204030204" pitchFamily="49" charset="0"/>
              </a:rPr>
              <a:t>22         23         1.1.1.22/32      0             Gi1        64.31.32.32 </a:t>
            </a:r>
          </a:p>
          <a:p>
            <a:r>
              <a:rPr lang="en-US" sz="1100" dirty="0">
                <a:latin typeface="Consolas" panose="020B0609020204030204" pitchFamily="49" charset="0"/>
              </a:rPr>
              <a:t>23         20         1.1.1.23/32      0             Gi1        64.31.32.32 </a:t>
            </a:r>
          </a:p>
          <a:p>
            <a:r>
              <a:rPr lang="en-US" sz="1100" dirty="0">
                <a:latin typeface="Consolas" panose="020B0609020204030204" pitchFamily="49" charset="0"/>
              </a:rPr>
              <a:t>24         22         1.1.1.13/32      0             Gi1        64.31.32.32 </a:t>
            </a:r>
          </a:p>
          <a:p>
            <a:r>
              <a:rPr lang="en-US" sz="1100" dirty="0">
                <a:latin typeface="Consolas" panose="020B0609020204030204" pitchFamily="49" charset="0"/>
              </a:rPr>
              <a:t>25         24         1.1.1.21/32      0             Gi1        64.31.32.32 </a:t>
            </a:r>
          </a:p>
          <a:p>
            <a:r>
              <a:rPr lang="en-US" sz="1100" dirty="0">
                <a:highlight>
                  <a:srgbClr val="FF00FF"/>
                </a:highlight>
                <a:latin typeface="Consolas" panose="020B0609020204030204" pitchFamily="49" charset="0"/>
              </a:rPr>
              <a:t>26         No Label   10.0.31.0/24[V]  4550          Gi20       10.64.31.2  </a:t>
            </a:r>
          </a:p>
          <a:p>
            <a:r>
              <a:rPr lang="en-US" sz="1100" dirty="0">
                <a:latin typeface="Consolas" panose="020B0609020204030204" pitchFamily="49" charset="0"/>
              </a:rPr>
              <a:t>27         No Label   10.1.31.0/24[V]  0             Gi20       10.64.31.2  </a:t>
            </a:r>
          </a:p>
          <a:p>
            <a:r>
              <a:rPr lang="en-US" sz="1100" dirty="0">
                <a:latin typeface="Consolas" panose="020B0609020204030204" pitchFamily="49" charset="0"/>
              </a:rPr>
              <a:t>28         No Label   10.2.31.0/24[V]  0             Gi20       10.64.31.2  </a:t>
            </a:r>
          </a:p>
          <a:p>
            <a:r>
              <a:rPr lang="en-US" sz="1100" dirty="0">
                <a:latin typeface="Consolas" panose="020B0609020204030204" pitchFamily="49" charset="0"/>
              </a:rPr>
              <a:t>29         No Label   10.64.31.0/30[V] 0             aggregate/A </a:t>
            </a:r>
          </a:p>
          <a:p>
            <a:r>
              <a:rPr lang="en-US" sz="1100" dirty="0">
                <a:latin typeface="Consolas" panose="020B0609020204030204" pitchFamily="49" charset="0"/>
              </a:rPr>
              <a:t>R31#</a:t>
            </a:r>
          </a:p>
          <a:p>
            <a:endParaRPr lang="en-US" sz="1100" dirty="0">
              <a:latin typeface="Consolas" panose="020B0609020204030204" pitchFamily="49" charset="0"/>
            </a:endParaRPr>
          </a:p>
          <a:p>
            <a:r>
              <a:rPr lang="en-US" sz="1100" dirty="0">
                <a:latin typeface="Consolas" panose="020B0609020204030204" pitchFamily="49" charset="0"/>
              </a:rPr>
              <a:t>R31#</a:t>
            </a:r>
            <a:r>
              <a:rPr lang="en-US" sz="1100" b="1" dirty="0">
                <a:latin typeface="Consolas" panose="020B0609020204030204" pitchFamily="49" charset="0"/>
              </a:rPr>
              <a:t>sh ip bgp vpnv4 vrf A 10.0.31.1</a:t>
            </a:r>
          </a:p>
          <a:p>
            <a:r>
              <a:rPr lang="en-US" sz="1100" dirty="0">
                <a:latin typeface="Consolas" panose="020B0609020204030204" pitchFamily="49" charset="0"/>
              </a:rPr>
              <a:t>BGP routing table entry for 65000:1:10.0.31.0/24, version 9</a:t>
            </a:r>
          </a:p>
          <a:p>
            <a:r>
              <a:rPr lang="en-US" sz="1100" dirty="0">
                <a:latin typeface="Consolas" panose="020B0609020204030204" pitchFamily="49" charset="0"/>
              </a:rPr>
              <a:t>Paths: (1 available, best #1, table A)</a:t>
            </a:r>
          </a:p>
          <a:p>
            <a:r>
              <a:rPr lang="en-US" sz="1100" dirty="0">
                <a:latin typeface="Consolas" panose="020B0609020204030204" pitchFamily="49" charset="0"/>
              </a:rPr>
              <a:t>  Advertised to update-groups:</a:t>
            </a:r>
          </a:p>
          <a:p>
            <a:r>
              <a:rPr lang="en-US" sz="1100" dirty="0">
                <a:latin typeface="Consolas" panose="020B0609020204030204" pitchFamily="49" charset="0"/>
              </a:rPr>
              <a:t>     1         </a:t>
            </a:r>
          </a:p>
          <a:p>
            <a:r>
              <a:rPr lang="en-US" sz="1100" dirty="0">
                <a:latin typeface="Consolas" panose="020B0609020204030204" pitchFamily="49" charset="0"/>
              </a:rPr>
              <a:t>  Refresh Epoch 4</a:t>
            </a:r>
          </a:p>
          <a:p>
            <a:r>
              <a:rPr lang="en-US" sz="1100" dirty="0">
                <a:latin typeface="Consolas" panose="020B0609020204030204" pitchFamily="49" charset="0"/>
              </a:rPr>
              <a:t>  </a:t>
            </a:r>
            <a:r>
              <a:rPr lang="en-US" sz="1100" dirty="0">
                <a:solidFill>
                  <a:schemeClr val="accent4">
                    <a:lumMod val="75000"/>
                  </a:schemeClr>
                </a:solidFill>
                <a:latin typeface="Consolas" panose="020B0609020204030204" pitchFamily="49" charset="0"/>
              </a:rPr>
              <a:t>65031</a:t>
            </a:r>
          </a:p>
          <a:p>
            <a:r>
              <a:rPr lang="en-US" sz="1100" dirty="0">
                <a:solidFill>
                  <a:schemeClr val="accent4">
                    <a:lumMod val="75000"/>
                  </a:schemeClr>
                </a:solidFill>
                <a:latin typeface="Consolas" panose="020B0609020204030204" pitchFamily="49" charset="0"/>
              </a:rPr>
              <a:t>    10.64.31.2</a:t>
            </a:r>
            <a:r>
              <a:rPr lang="en-US" sz="1100" dirty="0">
                <a:latin typeface="Consolas" panose="020B0609020204030204" pitchFamily="49" charset="0"/>
              </a:rPr>
              <a:t> (via vrf A) from 10.64.31.2 (10.2.31.1)</a:t>
            </a:r>
          </a:p>
          <a:p>
            <a:r>
              <a:rPr lang="en-US" sz="1100" dirty="0">
                <a:latin typeface="Consolas" panose="020B0609020204030204" pitchFamily="49" charset="0"/>
              </a:rPr>
              <a:t>      Origin IGP, metric 0, localpref 100, valid, external, best</a:t>
            </a:r>
          </a:p>
          <a:p>
            <a:r>
              <a:rPr lang="en-US" sz="1100" dirty="0">
                <a:latin typeface="Consolas" panose="020B0609020204030204" pitchFamily="49" charset="0"/>
              </a:rPr>
              <a:t>      Extended Community: RT:65000:1001</a:t>
            </a:r>
          </a:p>
          <a:p>
            <a:r>
              <a:rPr lang="en-US" sz="1100" dirty="0">
                <a:latin typeface="Consolas" panose="020B0609020204030204" pitchFamily="49" charset="0"/>
              </a:rPr>
              <a:t>      mpls labels in/out 26/nolabel</a:t>
            </a:r>
          </a:p>
          <a:p>
            <a:r>
              <a:rPr lang="en-US" sz="1100" dirty="0">
                <a:latin typeface="Consolas" panose="020B0609020204030204" pitchFamily="49" charset="0"/>
              </a:rPr>
              <a:t>      </a:t>
            </a:r>
            <a:r>
              <a:rPr lang="en-US" sz="1100" dirty="0" err="1">
                <a:latin typeface="Consolas" panose="020B0609020204030204" pitchFamily="49" charset="0"/>
              </a:rPr>
              <a:t>rx</a:t>
            </a:r>
            <a:r>
              <a:rPr lang="en-US" sz="1100" dirty="0">
                <a:latin typeface="Consolas" panose="020B0609020204030204" pitchFamily="49" charset="0"/>
              </a:rPr>
              <a:t> </a:t>
            </a:r>
            <a:r>
              <a:rPr lang="en-US" sz="1100" dirty="0" err="1">
                <a:latin typeface="Consolas" panose="020B0609020204030204" pitchFamily="49" charset="0"/>
              </a:rPr>
              <a:t>pathid</a:t>
            </a:r>
            <a:r>
              <a:rPr lang="en-US" sz="1100" dirty="0">
                <a:latin typeface="Consolas" panose="020B0609020204030204" pitchFamily="49" charset="0"/>
              </a:rPr>
              <a:t>: 0, </a:t>
            </a:r>
            <a:r>
              <a:rPr lang="en-US" sz="1100" dirty="0" err="1">
                <a:latin typeface="Consolas" panose="020B0609020204030204" pitchFamily="49" charset="0"/>
              </a:rPr>
              <a:t>tx</a:t>
            </a:r>
            <a:r>
              <a:rPr lang="en-US" sz="1100" dirty="0">
                <a:latin typeface="Consolas" panose="020B0609020204030204" pitchFamily="49" charset="0"/>
              </a:rPr>
              <a:t> </a:t>
            </a:r>
            <a:r>
              <a:rPr lang="en-US" sz="1100" dirty="0" err="1">
                <a:latin typeface="Consolas" panose="020B0609020204030204" pitchFamily="49" charset="0"/>
              </a:rPr>
              <a:t>pathid</a:t>
            </a:r>
            <a:r>
              <a:rPr lang="en-US" sz="1100" dirty="0">
                <a:latin typeface="Consolas" panose="020B0609020204030204" pitchFamily="49" charset="0"/>
              </a:rPr>
              <a:t>: 0x0</a:t>
            </a:r>
          </a:p>
          <a:p>
            <a:r>
              <a:rPr lang="en-US" sz="1100" dirty="0">
                <a:latin typeface="Consolas" panose="020B0609020204030204" pitchFamily="49" charset="0"/>
              </a:rPr>
              <a:t>      Updated on Nov 1 2024 14:57:22 UTC</a:t>
            </a:r>
          </a:p>
          <a:p>
            <a:r>
              <a:rPr lang="en-US" sz="1100" dirty="0">
                <a:latin typeface="Consolas" panose="020B0609020204030204" pitchFamily="49" charset="0"/>
              </a:rPr>
              <a:t>R31#</a:t>
            </a:r>
          </a:p>
        </p:txBody>
      </p:sp>
    </p:spTree>
    <p:extLst>
      <p:ext uri="{BB962C8B-B14F-4D97-AF65-F5344CB8AC3E}">
        <p14:creationId xmlns:p14="http://schemas.microsoft.com/office/powerpoint/2010/main" val="3573870414"/>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SRv6 to MPLS (CE01 -&gt; CE31)  #CE31</a:t>
            </a:r>
          </a:p>
        </p:txBody>
      </p:sp>
      <p:sp>
        <p:nvSpPr>
          <p:cNvPr id="5" name="Rectangle 4">
            <a:extLst>
              <a:ext uri="{FF2B5EF4-FFF2-40B4-BE49-F238E27FC236}">
                <a16:creationId xmlns:a16="http://schemas.microsoft.com/office/drawing/2014/main" id="{DF368704-E137-F49C-1BEB-727A92CA2F56}"/>
              </a:ext>
            </a:extLst>
          </p:cNvPr>
          <p:cNvSpPr/>
          <p:nvPr/>
        </p:nvSpPr>
        <p:spPr>
          <a:xfrm>
            <a:off x="647312" y="840968"/>
            <a:ext cx="6486305" cy="6017032"/>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CE31#sh int loopback 1000</a:t>
            </a:r>
          </a:p>
          <a:p>
            <a:r>
              <a:rPr lang="en-US" sz="1100" dirty="0">
                <a:latin typeface="Consolas" panose="020B0609020204030204" pitchFamily="49" charset="0"/>
              </a:rPr>
              <a:t>Loopback1000 is up, line protocol is up </a:t>
            </a:r>
          </a:p>
          <a:p>
            <a:r>
              <a:rPr lang="en-US" sz="1100" dirty="0">
                <a:latin typeface="Consolas" panose="020B0609020204030204" pitchFamily="49" charset="0"/>
              </a:rPr>
              <a:t>  Hardware is Loopback</a:t>
            </a:r>
          </a:p>
          <a:p>
            <a:r>
              <a:rPr lang="en-US" sz="1100" dirty="0">
                <a:latin typeface="Consolas" panose="020B0609020204030204" pitchFamily="49" charset="0"/>
              </a:rPr>
              <a:t>  Internet address is </a:t>
            </a:r>
            <a:r>
              <a:rPr lang="en-US" sz="1100" dirty="0">
                <a:solidFill>
                  <a:schemeClr val="accent4">
                    <a:lumMod val="75000"/>
                  </a:schemeClr>
                </a:solidFill>
                <a:latin typeface="Consolas" panose="020B0609020204030204" pitchFamily="49" charset="0"/>
              </a:rPr>
              <a:t>10.0.31.1/24</a:t>
            </a:r>
          </a:p>
          <a:p>
            <a:r>
              <a:rPr lang="en-US" sz="1100" dirty="0">
                <a:latin typeface="Consolas" panose="020B0609020204030204" pitchFamily="49" charset="0"/>
              </a:rPr>
              <a:t>-- Cut –</a:t>
            </a:r>
          </a:p>
          <a:p>
            <a:endParaRPr lang="en-US" sz="1100" dirty="0">
              <a:latin typeface="Consolas" panose="020B0609020204030204" pitchFamily="49" charset="0"/>
            </a:endParaRPr>
          </a:p>
          <a:p>
            <a:r>
              <a:rPr lang="en-US" sz="1100" dirty="0">
                <a:latin typeface="Consolas" panose="020B0609020204030204" pitchFamily="49" charset="0"/>
              </a:rPr>
              <a:t>CE31#sh ip bgp          </a:t>
            </a:r>
          </a:p>
          <a:p>
            <a:r>
              <a:rPr lang="en-US" sz="1100" dirty="0">
                <a:latin typeface="Consolas" panose="020B0609020204030204" pitchFamily="49" charset="0"/>
              </a:rPr>
              <a:t>BGP table version is 17, local router ID is 10.2.31.1</a:t>
            </a:r>
          </a:p>
          <a:p>
            <a:r>
              <a:rPr lang="en-US" sz="1100" dirty="0">
                <a:latin typeface="Consolas" panose="020B0609020204030204" pitchFamily="49" charset="0"/>
              </a:rPr>
              <a:t>Status codes: s suppressed, d damped, h history, * valid, &gt; best, </a:t>
            </a:r>
            <a:r>
              <a:rPr lang="en-US" sz="1100" dirty="0" err="1">
                <a:latin typeface="Consolas" panose="020B0609020204030204" pitchFamily="49" charset="0"/>
              </a:rPr>
              <a:t>i</a:t>
            </a:r>
            <a:r>
              <a:rPr lang="en-US" sz="1100" dirty="0">
                <a:latin typeface="Consolas" panose="020B0609020204030204" pitchFamily="49" charset="0"/>
              </a:rPr>
              <a:t> - internal, </a:t>
            </a:r>
          </a:p>
          <a:p>
            <a:r>
              <a:rPr lang="en-US" sz="1100" dirty="0">
                <a:latin typeface="Consolas" panose="020B0609020204030204" pitchFamily="49" charset="0"/>
              </a:rPr>
              <a:t>              r RIB-failure, S Stale, m multipath, b backup-path, f RT-Filter, </a:t>
            </a:r>
          </a:p>
          <a:p>
            <a:r>
              <a:rPr lang="en-US" sz="1100" dirty="0">
                <a:latin typeface="Consolas" panose="020B0609020204030204" pitchFamily="49" charset="0"/>
              </a:rPr>
              <a:t>              x best-external, a additional-path, c RIB-compressed, </a:t>
            </a:r>
          </a:p>
          <a:p>
            <a:r>
              <a:rPr lang="en-US" sz="1100" dirty="0">
                <a:latin typeface="Consolas" panose="020B0609020204030204" pitchFamily="49" charset="0"/>
              </a:rPr>
              <a:t>              t secondary path, </a:t>
            </a:r>
          </a:p>
          <a:p>
            <a:r>
              <a:rPr lang="en-US" sz="1100" dirty="0">
                <a:latin typeface="Consolas" panose="020B0609020204030204" pitchFamily="49" charset="0"/>
              </a:rPr>
              <a:t>Origin codes: </a:t>
            </a:r>
            <a:r>
              <a:rPr lang="en-US" sz="1100" dirty="0" err="1">
                <a:latin typeface="Consolas" panose="020B0609020204030204" pitchFamily="49" charset="0"/>
              </a:rPr>
              <a:t>i</a:t>
            </a:r>
            <a:r>
              <a:rPr lang="en-US" sz="1100" dirty="0">
                <a:latin typeface="Consolas" panose="020B0609020204030204" pitchFamily="49" charset="0"/>
              </a:rPr>
              <a:t> - IGP, e - EGP, ? - incomplete</a:t>
            </a:r>
          </a:p>
          <a:p>
            <a:r>
              <a:rPr lang="en-US" sz="1100" dirty="0">
                <a:latin typeface="Consolas" panose="020B0609020204030204" pitchFamily="49" charset="0"/>
              </a:rPr>
              <a:t>RPKI validation codes: V valid, I invalid, N Not found</a:t>
            </a:r>
          </a:p>
          <a:p>
            <a:endParaRPr lang="en-US" sz="1100" dirty="0">
              <a:latin typeface="Consolas" panose="020B0609020204030204" pitchFamily="49" charset="0"/>
            </a:endParaRPr>
          </a:p>
          <a:p>
            <a:r>
              <a:rPr lang="en-US" sz="1100" dirty="0">
                <a:latin typeface="Consolas" panose="020B0609020204030204" pitchFamily="49" charset="0"/>
              </a:rPr>
              <a:t>     Network          Next Hop            Metric LocPrf Weight Path</a:t>
            </a:r>
          </a:p>
          <a:p>
            <a:r>
              <a:rPr lang="en-US" sz="1100" dirty="0">
                <a:latin typeface="Consolas" panose="020B0609020204030204" pitchFamily="49" charset="0"/>
              </a:rPr>
              <a:t> *&gt;   10.0.1.0/24      10.64.31.1                             0 65000 65001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10.0.4.0/24      10.64.31.1                             0 65000 65004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10.0.21.0/24     10.64.31.1                             0 65000 65021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solidFill>
                  <a:schemeClr val="accent4">
                    <a:lumMod val="75000"/>
                  </a:schemeClr>
                </a:solidFill>
                <a:latin typeface="Consolas" panose="020B0609020204030204" pitchFamily="49" charset="0"/>
              </a:rPr>
              <a:t> *&gt;   10.0.31.0/24     0.0.0.0                  0         32768 </a:t>
            </a:r>
            <a:r>
              <a:rPr lang="en-US" sz="1100" dirty="0" err="1">
                <a:solidFill>
                  <a:schemeClr val="accent4">
                    <a:lumMod val="75000"/>
                  </a:schemeClr>
                </a:solidFill>
                <a:latin typeface="Consolas" panose="020B0609020204030204" pitchFamily="49" charset="0"/>
              </a:rPr>
              <a:t>i</a:t>
            </a:r>
            <a:endParaRPr lang="en-US" sz="1100" dirty="0">
              <a:solidFill>
                <a:schemeClr val="accent4">
                  <a:lumMod val="75000"/>
                </a:schemeClr>
              </a:solidFill>
              <a:latin typeface="Consolas" panose="020B0609020204030204" pitchFamily="49" charset="0"/>
            </a:endParaRPr>
          </a:p>
          <a:p>
            <a:r>
              <a:rPr lang="en-US" sz="1100" dirty="0">
                <a:latin typeface="Consolas" panose="020B0609020204030204" pitchFamily="49" charset="0"/>
              </a:rPr>
              <a:t> *&gt;   10.1.1.0/24      10.64.31.1                             0 65000 65001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10.1.4.0/24      10.64.31.1                             0 65000 65004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10.1.21.0/24     10.64.31.1                             0 65000 65021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10.1.31.0/24     0.0.0.0                  0         32768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10.2.1.0/24      10.64.31.1                             0 65000 65001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10.2.4.0/24      10.64.31.1                             0 65000 65004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10.2.21.0/24     10.64.31.1                             0 65000 65021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10.2.31.0/24     0.0.0.0                  0         32768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10.64.1.0/30     10.64.31.1                             0 65000 ?</a:t>
            </a:r>
          </a:p>
          <a:p>
            <a:r>
              <a:rPr lang="en-US" sz="1100" dirty="0">
                <a:latin typeface="Consolas" panose="020B0609020204030204" pitchFamily="49" charset="0"/>
              </a:rPr>
              <a:t>     Network          Next Hop            Metric LocPrf Weight Path</a:t>
            </a:r>
          </a:p>
          <a:p>
            <a:r>
              <a:rPr lang="en-US" sz="1100" dirty="0">
                <a:latin typeface="Consolas" panose="020B0609020204030204" pitchFamily="49" charset="0"/>
              </a:rPr>
              <a:t> *&gt;   10.64.4.0/30     10.64.31.1                             0 65000 ?</a:t>
            </a:r>
          </a:p>
          <a:p>
            <a:r>
              <a:rPr lang="en-US" sz="1100" dirty="0">
                <a:latin typeface="Consolas" panose="020B0609020204030204" pitchFamily="49" charset="0"/>
              </a:rPr>
              <a:t> *&gt;   10.64.21.0/30    10.64.31.1                             0 65000 ?</a:t>
            </a:r>
          </a:p>
          <a:p>
            <a:r>
              <a:rPr lang="en-US" sz="1100" dirty="0">
                <a:latin typeface="Consolas" panose="020B0609020204030204" pitchFamily="49" charset="0"/>
              </a:rPr>
              <a:t> r&gt;   10.64.31.0/30    10.64.31.1               0             0 65000 ?</a:t>
            </a:r>
          </a:p>
          <a:p>
            <a:r>
              <a:rPr lang="en-US" sz="1100" dirty="0">
                <a:latin typeface="Consolas" panose="020B0609020204030204" pitchFamily="49" charset="0"/>
              </a:rPr>
              <a:t>CE31#</a:t>
            </a:r>
          </a:p>
          <a:p>
            <a:pPr marL="171450" indent="-171450">
              <a:buFont typeface="Wingdings" panose="05000000000000000000" pitchFamily="2" charset="2"/>
              <a:buChar char="n"/>
            </a:pPr>
            <a:endParaRPr lang="en-US" sz="1100" dirty="0">
              <a:latin typeface="Consolas" panose="020B0609020204030204" pitchFamily="49" charset="0"/>
            </a:endParaRPr>
          </a:p>
        </p:txBody>
      </p:sp>
    </p:spTree>
    <p:extLst>
      <p:ext uri="{BB962C8B-B14F-4D97-AF65-F5344CB8AC3E}">
        <p14:creationId xmlns:p14="http://schemas.microsoft.com/office/powerpoint/2010/main" val="12313730"/>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1950574-7994-6101-BD98-4C1B808EC106}"/>
              </a:ext>
            </a:extLst>
          </p:cNvPr>
          <p:cNvSpPr>
            <a:spLocks noGrp="1"/>
          </p:cNvSpPr>
          <p:nvPr>
            <p:ph type="body" sz="quarter" idx="10"/>
          </p:nvPr>
        </p:nvSpPr>
        <p:spPr/>
        <p:txBody>
          <a:bodyPr/>
          <a:lstStyle/>
          <a:p>
            <a:r>
              <a:rPr lang="en-US" dirty="0"/>
              <a:t>CE31</a:t>
            </a:r>
          </a:p>
          <a:p>
            <a:r>
              <a:rPr lang="en-US" dirty="0"/>
              <a:t>R31</a:t>
            </a:r>
          </a:p>
          <a:p>
            <a:r>
              <a:rPr lang="en-US" dirty="0"/>
              <a:t>R32</a:t>
            </a:r>
          </a:p>
          <a:p>
            <a:r>
              <a:rPr lang="en-US" dirty="0"/>
              <a:t>R02</a:t>
            </a:r>
          </a:p>
          <a:p>
            <a:r>
              <a:rPr lang="en-US" dirty="0"/>
              <a:t>R12</a:t>
            </a:r>
          </a:p>
          <a:p>
            <a:r>
              <a:rPr lang="en-US" dirty="0"/>
              <a:t>R21</a:t>
            </a:r>
          </a:p>
          <a:p>
            <a:r>
              <a:rPr lang="en-US" dirty="0"/>
              <a:t>CE21 </a:t>
            </a:r>
          </a:p>
        </p:txBody>
      </p:sp>
      <p:sp>
        <p:nvSpPr>
          <p:cNvPr id="3" name="Text Placeholder 2">
            <a:extLst>
              <a:ext uri="{FF2B5EF4-FFF2-40B4-BE49-F238E27FC236}">
                <a16:creationId xmlns:a16="http://schemas.microsoft.com/office/drawing/2014/main" id="{B6FB7BA3-4001-15C7-07DC-9CB0D94433A6}"/>
              </a:ext>
            </a:extLst>
          </p:cNvPr>
          <p:cNvSpPr>
            <a:spLocks noGrp="1"/>
          </p:cNvSpPr>
          <p:nvPr>
            <p:ph type="body" sz="quarter" idx="11"/>
          </p:nvPr>
        </p:nvSpPr>
        <p:spPr/>
        <p:txBody>
          <a:bodyPr/>
          <a:lstStyle/>
          <a:p>
            <a:r>
              <a:rPr lang="en-US" dirty="0"/>
              <a:t>MPLS to SRv6 (CE31 -&gt; CE21)</a:t>
            </a:r>
          </a:p>
        </p:txBody>
      </p:sp>
      <p:pic>
        <p:nvPicPr>
          <p:cNvPr id="5" name="Picture 4" descr="A diagram of a network&#10;&#10;Description automatically generated with medium confidence">
            <a:extLst>
              <a:ext uri="{FF2B5EF4-FFF2-40B4-BE49-F238E27FC236}">
                <a16:creationId xmlns:a16="http://schemas.microsoft.com/office/drawing/2014/main" id="{1CD9C138-89B6-D20D-46F3-E69546CD35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5578" y="939338"/>
            <a:ext cx="7686422" cy="5705529"/>
          </a:xfrm>
          <a:prstGeom prst="rect">
            <a:avLst/>
          </a:prstGeom>
        </p:spPr>
      </p:pic>
      <p:sp>
        <p:nvSpPr>
          <p:cNvPr id="4" name="Freeform: Shape 3">
            <a:extLst>
              <a:ext uri="{FF2B5EF4-FFF2-40B4-BE49-F238E27FC236}">
                <a16:creationId xmlns:a16="http://schemas.microsoft.com/office/drawing/2014/main" id="{165818D5-6E0B-B92B-E0D9-FFF4491CF266}"/>
              </a:ext>
            </a:extLst>
          </p:cNvPr>
          <p:cNvSpPr/>
          <p:nvPr/>
        </p:nvSpPr>
        <p:spPr>
          <a:xfrm>
            <a:off x="6078278" y="1414130"/>
            <a:ext cx="1845479" cy="4423144"/>
          </a:xfrm>
          <a:custGeom>
            <a:avLst/>
            <a:gdLst>
              <a:gd name="connsiteX0" fmla="*/ 0 w 1845479"/>
              <a:gd name="connsiteY0" fmla="*/ 120728 h 1641184"/>
              <a:gd name="connsiteX1" fmla="*/ 1594884 w 1845479"/>
              <a:gd name="connsiteY1" fmla="*/ 120728 h 1641184"/>
              <a:gd name="connsiteX2" fmla="*/ 1679944 w 1845479"/>
              <a:gd name="connsiteY2" fmla="*/ 1375370 h 1641184"/>
              <a:gd name="connsiteX3" fmla="*/ 10633 w 1845479"/>
              <a:gd name="connsiteY3" fmla="*/ 1641184 h 1641184"/>
            </a:gdLst>
            <a:ahLst/>
            <a:cxnLst>
              <a:cxn ang="0">
                <a:pos x="connsiteX0" y="connsiteY0"/>
              </a:cxn>
              <a:cxn ang="0">
                <a:pos x="connsiteX1" y="connsiteY1"/>
              </a:cxn>
              <a:cxn ang="0">
                <a:pos x="connsiteX2" y="connsiteY2"/>
              </a:cxn>
              <a:cxn ang="0">
                <a:pos x="connsiteX3" y="connsiteY3"/>
              </a:cxn>
            </a:cxnLst>
            <a:rect l="l" t="t" r="r" b="b"/>
            <a:pathLst>
              <a:path w="1845479" h="1641184">
                <a:moveTo>
                  <a:pt x="0" y="120728"/>
                </a:moveTo>
                <a:cubicBezTo>
                  <a:pt x="657446" y="16174"/>
                  <a:pt x="1314893" y="-88379"/>
                  <a:pt x="1594884" y="120728"/>
                </a:cubicBezTo>
                <a:cubicBezTo>
                  <a:pt x="1874875" y="329835"/>
                  <a:pt x="1943986" y="1121961"/>
                  <a:pt x="1679944" y="1375370"/>
                </a:cubicBezTo>
                <a:cubicBezTo>
                  <a:pt x="1415902" y="1628779"/>
                  <a:pt x="713267" y="1634981"/>
                  <a:pt x="10633" y="1641184"/>
                </a:cubicBezTo>
              </a:path>
            </a:pathLst>
          </a:custGeom>
          <a:noFill/>
          <a:ln w="57150">
            <a:solidFill>
              <a:schemeClr val="accent6">
                <a:lumMod val="60000"/>
                <a:lumOff val="40000"/>
              </a:schemeClr>
            </a:solidFill>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0491096"/>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MPLS to SRv6 (CE31 -&gt; CE21)  #CE31</a:t>
            </a:r>
          </a:p>
        </p:txBody>
      </p:sp>
      <p:sp>
        <p:nvSpPr>
          <p:cNvPr id="4" name="Rectangle 3">
            <a:extLst>
              <a:ext uri="{FF2B5EF4-FFF2-40B4-BE49-F238E27FC236}">
                <a16:creationId xmlns:a16="http://schemas.microsoft.com/office/drawing/2014/main" id="{87D7CB37-5BEE-FF8F-7602-60627856E0E8}"/>
              </a:ext>
            </a:extLst>
          </p:cNvPr>
          <p:cNvSpPr/>
          <p:nvPr/>
        </p:nvSpPr>
        <p:spPr>
          <a:xfrm>
            <a:off x="155153" y="785478"/>
            <a:ext cx="5699602" cy="2631490"/>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CE31#</a:t>
            </a:r>
            <a:r>
              <a:rPr lang="sk-SK" sz="1100" b="1" dirty="0">
                <a:latin typeface="Consolas" panose="020B0609020204030204" pitchFamily="49" charset="0"/>
              </a:rPr>
              <a:t>ping 10.0.21.1 </a:t>
            </a:r>
            <a:r>
              <a:rPr lang="sk-SK" sz="1100" b="1" dirty="0" err="1">
                <a:latin typeface="Consolas" panose="020B0609020204030204" pitchFamily="49" charset="0"/>
              </a:rPr>
              <a:t>source</a:t>
            </a:r>
            <a:r>
              <a:rPr lang="sk-SK" sz="1100" b="1" dirty="0">
                <a:latin typeface="Consolas" panose="020B0609020204030204" pitchFamily="49" charset="0"/>
              </a:rPr>
              <a:t> </a:t>
            </a:r>
            <a:r>
              <a:rPr lang="sk-SK" sz="1100" b="1" dirty="0" err="1">
                <a:latin typeface="Consolas" panose="020B0609020204030204" pitchFamily="49" charset="0"/>
              </a:rPr>
              <a:t>loopback</a:t>
            </a:r>
            <a:r>
              <a:rPr lang="sk-SK" sz="1100" b="1" dirty="0">
                <a:latin typeface="Consolas" panose="020B0609020204030204" pitchFamily="49" charset="0"/>
              </a:rPr>
              <a:t> 1000             </a:t>
            </a:r>
          </a:p>
          <a:p>
            <a:r>
              <a:rPr lang="sk-SK" sz="1100" dirty="0">
                <a:latin typeface="Consolas" panose="020B0609020204030204" pitchFamily="49" charset="0"/>
              </a:rPr>
              <a:t>Type </a:t>
            </a:r>
            <a:r>
              <a:rPr lang="sk-SK" sz="1100" dirty="0" err="1">
                <a:latin typeface="Consolas" panose="020B0609020204030204" pitchFamily="49" charset="0"/>
              </a:rPr>
              <a:t>escape</a:t>
            </a:r>
            <a:r>
              <a:rPr lang="sk-SK" sz="1100" dirty="0">
                <a:latin typeface="Consolas" panose="020B0609020204030204" pitchFamily="49" charset="0"/>
              </a:rPr>
              <a:t> </a:t>
            </a:r>
            <a:r>
              <a:rPr lang="sk-SK" sz="1100" dirty="0" err="1">
                <a:latin typeface="Consolas" panose="020B0609020204030204" pitchFamily="49" charset="0"/>
              </a:rPr>
              <a:t>sequence</a:t>
            </a:r>
            <a:r>
              <a:rPr lang="sk-SK" sz="1100" dirty="0">
                <a:latin typeface="Consolas" panose="020B0609020204030204" pitchFamily="49" charset="0"/>
              </a:rPr>
              <a:t> to </a:t>
            </a:r>
            <a:r>
              <a:rPr lang="sk-SK" sz="1100" dirty="0" err="1">
                <a:latin typeface="Consolas" panose="020B0609020204030204" pitchFamily="49" charset="0"/>
              </a:rPr>
              <a:t>abort</a:t>
            </a:r>
            <a:r>
              <a:rPr lang="sk-SK" sz="1100" dirty="0">
                <a:latin typeface="Consolas" panose="020B0609020204030204" pitchFamily="49" charset="0"/>
              </a:rPr>
              <a:t>.</a:t>
            </a:r>
          </a:p>
          <a:p>
            <a:r>
              <a:rPr lang="sk-SK" sz="1100" dirty="0" err="1">
                <a:latin typeface="Consolas" panose="020B0609020204030204" pitchFamily="49" charset="0"/>
              </a:rPr>
              <a:t>Sending</a:t>
            </a:r>
            <a:r>
              <a:rPr lang="sk-SK" sz="1100" dirty="0">
                <a:latin typeface="Consolas" panose="020B0609020204030204" pitchFamily="49" charset="0"/>
              </a:rPr>
              <a:t> 5, 100-byte ICMP Echos to 10.0.21.1, </a:t>
            </a:r>
            <a:r>
              <a:rPr lang="sk-SK" sz="1100" dirty="0" err="1">
                <a:latin typeface="Consolas" panose="020B0609020204030204" pitchFamily="49" charset="0"/>
              </a:rPr>
              <a:t>timeout</a:t>
            </a:r>
            <a:r>
              <a:rPr lang="sk-SK" sz="1100" dirty="0">
                <a:latin typeface="Consolas" panose="020B0609020204030204" pitchFamily="49" charset="0"/>
              </a:rPr>
              <a:t> </a:t>
            </a:r>
            <a:r>
              <a:rPr lang="sk-SK" sz="1100" dirty="0" err="1">
                <a:latin typeface="Consolas" panose="020B0609020204030204" pitchFamily="49" charset="0"/>
              </a:rPr>
              <a:t>is</a:t>
            </a:r>
            <a:r>
              <a:rPr lang="sk-SK" sz="1100" dirty="0">
                <a:latin typeface="Consolas" panose="020B0609020204030204" pitchFamily="49" charset="0"/>
              </a:rPr>
              <a:t> 2 </a:t>
            </a:r>
            <a:r>
              <a:rPr lang="sk-SK" sz="1100" dirty="0" err="1">
                <a:latin typeface="Consolas" panose="020B0609020204030204" pitchFamily="49" charset="0"/>
              </a:rPr>
              <a:t>seconds</a:t>
            </a:r>
            <a:r>
              <a:rPr lang="sk-SK" sz="1100" dirty="0">
                <a:latin typeface="Consolas" panose="020B0609020204030204" pitchFamily="49" charset="0"/>
              </a:rPr>
              <a:t>:</a:t>
            </a:r>
          </a:p>
          <a:p>
            <a:r>
              <a:rPr lang="sk-SK" sz="1100" dirty="0" err="1">
                <a:latin typeface="Consolas" panose="020B0609020204030204" pitchFamily="49" charset="0"/>
              </a:rPr>
              <a:t>Packet</a:t>
            </a:r>
            <a:r>
              <a:rPr lang="sk-SK" sz="1100" dirty="0">
                <a:latin typeface="Consolas" panose="020B0609020204030204" pitchFamily="49" charset="0"/>
              </a:rPr>
              <a:t> </a:t>
            </a:r>
            <a:r>
              <a:rPr lang="sk-SK" sz="1100" dirty="0" err="1">
                <a:latin typeface="Consolas" panose="020B0609020204030204" pitchFamily="49" charset="0"/>
              </a:rPr>
              <a:t>sent</a:t>
            </a:r>
            <a:r>
              <a:rPr lang="sk-SK" sz="1100" dirty="0">
                <a:latin typeface="Consolas" panose="020B0609020204030204" pitchFamily="49" charset="0"/>
              </a:rPr>
              <a:t> </a:t>
            </a:r>
            <a:r>
              <a:rPr lang="sk-SK" sz="1100" dirty="0" err="1">
                <a:latin typeface="Consolas" panose="020B0609020204030204" pitchFamily="49" charset="0"/>
              </a:rPr>
              <a:t>with</a:t>
            </a:r>
            <a:r>
              <a:rPr lang="sk-SK" sz="1100" dirty="0">
                <a:latin typeface="Consolas" panose="020B0609020204030204" pitchFamily="49" charset="0"/>
              </a:rPr>
              <a:t> a </a:t>
            </a:r>
            <a:r>
              <a:rPr lang="sk-SK" sz="1100" dirty="0" err="1">
                <a:latin typeface="Consolas" panose="020B0609020204030204" pitchFamily="49" charset="0"/>
              </a:rPr>
              <a:t>source</a:t>
            </a:r>
            <a:r>
              <a:rPr lang="sk-SK" sz="1100" dirty="0">
                <a:latin typeface="Consolas" panose="020B0609020204030204" pitchFamily="49" charset="0"/>
              </a:rPr>
              <a:t> </a:t>
            </a:r>
            <a:r>
              <a:rPr lang="sk-SK" sz="1100" dirty="0" err="1">
                <a:latin typeface="Consolas" panose="020B0609020204030204" pitchFamily="49" charset="0"/>
              </a:rPr>
              <a:t>address</a:t>
            </a:r>
            <a:r>
              <a:rPr lang="sk-SK" sz="1100" dirty="0">
                <a:latin typeface="Consolas" panose="020B0609020204030204" pitchFamily="49" charset="0"/>
              </a:rPr>
              <a:t> of 10.0.31.1 </a:t>
            </a:r>
          </a:p>
          <a:p>
            <a:r>
              <a:rPr lang="sk-SK" sz="1100" dirty="0">
                <a:latin typeface="Consolas" panose="020B0609020204030204" pitchFamily="49" charset="0"/>
              </a:rPr>
              <a:t>!!!!!</a:t>
            </a:r>
          </a:p>
          <a:p>
            <a:r>
              <a:rPr lang="sk-SK" sz="1100" dirty="0" err="1">
                <a:latin typeface="Consolas" panose="020B0609020204030204" pitchFamily="49" charset="0"/>
              </a:rPr>
              <a:t>Success</a:t>
            </a:r>
            <a:r>
              <a:rPr lang="sk-SK" sz="1100" dirty="0">
                <a:latin typeface="Consolas" panose="020B0609020204030204" pitchFamily="49" charset="0"/>
              </a:rPr>
              <a:t> rate </a:t>
            </a:r>
            <a:r>
              <a:rPr lang="sk-SK" sz="1100" dirty="0" err="1">
                <a:latin typeface="Consolas" panose="020B0609020204030204" pitchFamily="49" charset="0"/>
              </a:rPr>
              <a:t>is</a:t>
            </a:r>
            <a:r>
              <a:rPr lang="sk-SK" sz="1100" dirty="0">
                <a:latin typeface="Consolas" panose="020B0609020204030204" pitchFamily="49" charset="0"/>
              </a:rPr>
              <a:t> 100 percent (5/5), </a:t>
            </a:r>
            <a:r>
              <a:rPr lang="sk-SK" sz="1100" dirty="0" err="1">
                <a:latin typeface="Consolas" panose="020B0609020204030204" pitchFamily="49" charset="0"/>
              </a:rPr>
              <a:t>round</a:t>
            </a:r>
            <a:r>
              <a:rPr lang="sk-SK" sz="1100" dirty="0">
                <a:latin typeface="Consolas" panose="020B0609020204030204" pitchFamily="49" charset="0"/>
              </a:rPr>
              <a:t>-trip min/</a:t>
            </a:r>
            <a:r>
              <a:rPr lang="sk-SK" sz="1100" dirty="0" err="1">
                <a:latin typeface="Consolas" panose="020B0609020204030204" pitchFamily="49" charset="0"/>
              </a:rPr>
              <a:t>avg</a:t>
            </a:r>
            <a:r>
              <a:rPr lang="sk-SK" sz="1100" dirty="0">
                <a:latin typeface="Consolas" panose="020B0609020204030204" pitchFamily="49" charset="0"/>
              </a:rPr>
              <a:t>/max = 7/26/46 ms</a:t>
            </a:r>
          </a:p>
          <a:p>
            <a:r>
              <a:rPr lang="sk-SK" sz="1100" dirty="0">
                <a:latin typeface="Consolas" panose="020B0609020204030204" pitchFamily="49" charset="0"/>
              </a:rPr>
              <a:t>CE31#</a:t>
            </a:r>
            <a:r>
              <a:rPr lang="sk-SK" sz="1100" b="1" dirty="0">
                <a:latin typeface="Consolas" panose="020B0609020204030204" pitchFamily="49" charset="0"/>
              </a:rPr>
              <a:t>traceroute 10.0.21.1 </a:t>
            </a:r>
            <a:r>
              <a:rPr lang="sk-SK" sz="1100" b="1" dirty="0" err="1">
                <a:latin typeface="Consolas" panose="020B0609020204030204" pitchFamily="49" charset="0"/>
              </a:rPr>
              <a:t>source</a:t>
            </a:r>
            <a:r>
              <a:rPr lang="sk-SK" sz="1100" b="1" dirty="0">
                <a:latin typeface="Consolas" panose="020B0609020204030204" pitchFamily="49" charset="0"/>
              </a:rPr>
              <a:t> </a:t>
            </a:r>
            <a:r>
              <a:rPr lang="sk-SK" sz="1100" b="1" dirty="0" err="1">
                <a:latin typeface="Consolas" panose="020B0609020204030204" pitchFamily="49" charset="0"/>
              </a:rPr>
              <a:t>loopback</a:t>
            </a:r>
            <a:r>
              <a:rPr lang="sk-SK" sz="1100" b="1" dirty="0">
                <a:latin typeface="Consolas" panose="020B0609020204030204" pitchFamily="49" charset="0"/>
              </a:rPr>
              <a:t> 1000 </a:t>
            </a:r>
            <a:r>
              <a:rPr lang="sk-SK" sz="1100" b="1" dirty="0" err="1">
                <a:latin typeface="Consolas" panose="020B0609020204030204" pitchFamily="49" charset="0"/>
              </a:rPr>
              <a:t>numeric</a:t>
            </a:r>
            <a:endParaRPr lang="sk-SK" sz="1100" b="1" dirty="0">
              <a:latin typeface="Consolas" panose="020B0609020204030204" pitchFamily="49" charset="0"/>
            </a:endParaRPr>
          </a:p>
          <a:p>
            <a:r>
              <a:rPr lang="sk-SK" sz="1100" dirty="0">
                <a:latin typeface="Consolas" panose="020B0609020204030204" pitchFamily="49" charset="0"/>
              </a:rPr>
              <a:t>Type </a:t>
            </a:r>
            <a:r>
              <a:rPr lang="sk-SK" sz="1100" dirty="0" err="1">
                <a:latin typeface="Consolas" panose="020B0609020204030204" pitchFamily="49" charset="0"/>
              </a:rPr>
              <a:t>escape</a:t>
            </a:r>
            <a:r>
              <a:rPr lang="sk-SK" sz="1100" dirty="0">
                <a:latin typeface="Consolas" panose="020B0609020204030204" pitchFamily="49" charset="0"/>
              </a:rPr>
              <a:t> </a:t>
            </a:r>
            <a:r>
              <a:rPr lang="sk-SK" sz="1100" dirty="0" err="1">
                <a:latin typeface="Consolas" panose="020B0609020204030204" pitchFamily="49" charset="0"/>
              </a:rPr>
              <a:t>sequence</a:t>
            </a:r>
            <a:r>
              <a:rPr lang="sk-SK" sz="1100" dirty="0">
                <a:latin typeface="Consolas" panose="020B0609020204030204" pitchFamily="49" charset="0"/>
              </a:rPr>
              <a:t> to </a:t>
            </a:r>
            <a:r>
              <a:rPr lang="sk-SK" sz="1100" dirty="0" err="1">
                <a:latin typeface="Consolas" panose="020B0609020204030204" pitchFamily="49" charset="0"/>
              </a:rPr>
              <a:t>abort</a:t>
            </a:r>
            <a:r>
              <a:rPr lang="sk-SK" sz="1100" dirty="0">
                <a:latin typeface="Consolas" panose="020B0609020204030204" pitchFamily="49" charset="0"/>
              </a:rPr>
              <a:t>.</a:t>
            </a:r>
          </a:p>
          <a:p>
            <a:r>
              <a:rPr lang="sk-SK" sz="1100" dirty="0" err="1">
                <a:latin typeface="Consolas" panose="020B0609020204030204" pitchFamily="49" charset="0"/>
              </a:rPr>
              <a:t>Tracing</a:t>
            </a:r>
            <a:r>
              <a:rPr lang="sk-SK" sz="1100" dirty="0">
                <a:latin typeface="Consolas" panose="020B0609020204030204" pitchFamily="49" charset="0"/>
              </a:rPr>
              <a:t> </a:t>
            </a:r>
            <a:r>
              <a:rPr lang="sk-SK" sz="1100" dirty="0" err="1">
                <a:latin typeface="Consolas" panose="020B0609020204030204" pitchFamily="49" charset="0"/>
              </a:rPr>
              <a:t>the</a:t>
            </a:r>
            <a:r>
              <a:rPr lang="sk-SK" sz="1100" dirty="0">
                <a:latin typeface="Consolas" panose="020B0609020204030204" pitchFamily="49" charset="0"/>
              </a:rPr>
              <a:t> </a:t>
            </a:r>
            <a:r>
              <a:rPr lang="sk-SK" sz="1100" dirty="0" err="1">
                <a:latin typeface="Consolas" panose="020B0609020204030204" pitchFamily="49" charset="0"/>
              </a:rPr>
              <a:t>route</a:t>
            </a:r>
            <a:r>
              <a:rPr lang="sk-SK" sz="1100" dirty="0">
                <a:latin typeface="Consolas" panose="020B0609020204030204" pitchFamily="49" charset="0"/>
              </a:rPr>
              <a:t> to 10.0.21.1</a:t>
            </a:r>
          </a:p>
          <a:p>
            <a:r>
              <a:rPr lang="sk-SK" sz="1100" dirty="0">
                <a:latin typeface="Consolas" panose="020B0609020204030204" pitchFamily="49" charset="0"/>
              </a:rPr>
              <a:t>VRF </a:t>
            </a:r>
            <a:r>
              <a:rPr lang="sk-SK" sz="1100" dirty="0" err="1">
                <a:latin typeface="Consolas" panose="020B0609020204030204" pitchFamily="49" charset="0"/>
              </a:rPr>
              <a:t>info</a:t>
            </a:r>
            <a:r>
              <a:rPr lang="sk-SK" sz="1100" dirty="0">
                <a:latin typeface="Consolas" panose="020B0609020204030204" pitchFamily="49" charset="0"/>
              </a:rPr>
              <a:t>: (vrf in </a:t>
            </a:r>
            <a:r>
              <a:rPr lang="sk-SK" sz="1100" dirty="0" err="1">
                <a:latin typeface="Consolas" panose="020B0609020204030204" pitchFamily="49" charset="0"/>
              </a:rPr>
              <a:t>name</a:t>
            </a:r>
            <a:r>
              <a:rPr lang="sk-SK" sz="1100" dirty="0">
                <a:latin typeface="Consolas" panose="020B0609020204030204" pitchFamily="49" charset="0"/>
              </a:rPr>
              <a:t>/id, vrf </a:t>
            </a:r>
            <a:r>
              <a:rPr lang="sk-SK" sz="1100" dirty="0" err="1">
                <a:latin typeface="Consolas" panose="020B0609020204030204" pitchFamily="49" charset="0"/>
              </a:rPr>
              <a:t>out</a:t>
            </a:r>
            <a:r>
              <a:rPr lang="sk-SK" sz="1100" dirty="0">
                <a:latin typeface="Consolas" panose="020B0609020204030204" pitchFamily="49" charset="0"/>
              </a:rPr>
              <a:t> </a:t>
            </a:r>
            <a:r>
              <a:rPr lang="sk-SK" sz="1100" dirty="0" err="1">
                <a:latin typeface="Consolas" panose="020B0609020204030204" pitchFamily="49" charset="0"/>
              </a:rPr>
              <a:t>name</a:t>
            </a:r>
            <a:r>
              <a:rPr lang="sk-SK" sz="1100" dirty="0">
                <a:latin typeface="Consolas" panose="020B0609020204030204" pitchFamily="49" charset="0"/>
              </a:rPr>
              <a:t>/id)</a:t>
            </a:r>
          </a:p>
          <a:p>
            <a:r>
              <a:rPr lang="sk-SK" sz="1100" dirty="0">
                <a:latin typeface="Consolas" panose="020B0609020204030204" pitchFamily="49" charset="0"/>
              </a:rPr>
              <a:t>  1 10.64.31.1 [AS 65000] 3 </a:t>
            </a:r>
            <a:r>
              <a:rPr lang="sk-SK" sz="1100" dirty="0" err="1">
                <a:latin typeface="Consolas" panose="020B0609020204030204" pitchFamily="49" charset="0"/>
              </a:rPr>
              <a:t>msec</a:t>
            </a:r>
            <a:r>
              <a:rPr lang="sk-SK" sz="1100" dirty="0">
                <a:latin typeface="Consolas" panose="020B0609020204030204" pitchFamily="49" charset="0"/>
              </a:rPr>
              <a:t> 4 </a:t>
            </a:r>
            <a:r>
              <a:rPr lang="sk-SK" sz="1100" dirty="0" err="1">
                <a:latin typeface="Consolas" panose="020B0609020204030204" pitchFamily="49" charset="0"/>
              </a:rPr>
              <a:t>msec</a:t>
            </a:r>
            <a:r>
              <a:rPr lang="sk-SK" sz="1100" dirty="0">
                <a:latin typeface="Consolas" panose="020B0609020204030204" pitchFamily="49" charset="0"/>
              </a:rPr>
              <a:t> 2 </a:t>
            </a:r>
            <a:r>
              <a:rPr lang="sk-SK" sz="1100" dirty="0" err="1">
                <a:latin typeface="Consolas" panose="020B0609020204030204" pitchFamily="49" charset="0"/>
              </a:rPr>
              <a:t>msec</a:t>
            </a:r>
            <a:endParaRPr lang="sk-SK" sz="1100" dirty="0">
              <a:latin typeface="Consolas" panose="020B0609020204030204" pitchFamily="49" charset="0"/>
            </a:endParaRPr>
          </a:p>
          <a:p>
            <a:r>
              <a:rPr lang="sk-SK" sz="1100" dirty="0">
                <a:latin typeface="Consolas" panose="020B0609020204030204" pitchFamily="49" charset="0"/>
              </a:rPr>
              <a:t>  2 64.31.32.32 [MPLS: </a:t>
            </a:r>
            <a:r>
              <a:rPr lang="sk-SK" sz="1100" dirty="0" err="1">
                <a:latin typeface="Consolas" panose="020B0609020204030204" pitchFamily="49" charset="0"/>
              </a:rPr>
              <a:t>Labels</a:t>
            </a:r>
            <a:r>
              <a:rPr lang="sk-SK" sz="1100" dirty="0">
                <a:latin typeface="Consolas" panose="020B0609020204030204" pitchFamily="49" charset="0"/>
              </a:rPr>
              <a:t> 17/24010 </a:t>
            </a:r>
            <a:r>
              <a:rPr lang="sk-SK" sz="1100" dirty="0" err="1">
                <a:latin typeface="Consolas" panose="020B0609020204030204" pitchFamily="49" charset="0"/>
              </a:rPr>
              <a:t>Exp</a:t>
            </a:r>
            <a:r>
              <a:rPr lang="sk-SK" sz="1100" dirty="0">
                <a:latin typeface="Consolas" panose="020B0609020204030204" pitchFamily="49" charset="0"/>
              </a:rPr>
              <a:t> 0] 0 </a:t>
            </a:r>
            <a:r>
              <a:rPr lang="sk-SK" sz="1100" dirty="0" err="1">
                <a:latin typeface="Consolas" panose="020B0609020204030204" pitchFamily="49" charset="0"/>
              </a:rPr>
              <a:t>msec</a:t>
            </a:r>
            <a:r>
              <a:rPr lang="sk-SK" sz="1100" dirty="0">
                <a:latin typeface="Consolas" panose="020B0609020204030204" pitchFamily="49" charset="0"/>
              </a:rPr>
              <a:t> 5 </a:t>
            </a:r>
            <a:r>
              <a:rPr lang="sk-SK" sz="1100" dirty="0" err="1">
                <a:latin typeface="Consolas" panose="020B0609020204030204" pitchFamily="49" charset="0"/>
              </a:rPr>
              <a:t>msec</a:t>
            </a:r>
            <a:r>
              <a:rPr lang="sk-SK" sz="1100" dirty="0">
                <a:latin typeface="Consolas" panose="020B0609020204030204" pitchFamily="49" charset="0"/>
              </a:rPr>
              <a:t> 6 </a:t>
            </a:r>
            <a:r>
              <a:rPr lang="sk-SK" sz="1100" dirty="0" err="1">
                <a:latin typeface="Consolas" panose="020B0609020204030204" pitchFamily="49" charset="0"/>
              </a:rPr>
              <a:t>msec</a:t>
            </a:r>
            <a:endParaRPr lang="sk-SK" sz="1100" dirty="0">
              <a:latin typeface="Consolas" panose="020B0609020204030204" pitchFamily="49" charset="0"/>
            </a:endParaRPr>
          </a:p>
          <a:p>
            <a:r>
              <a:rPr lang="sk-SK" sz="1100" dirty="0">
                <a:latin typeface="Consolas" panose="020B0609020204030204" pitchFamily="49" charset="0"/>
              </a:rPr>
              <a:t>  3 64.2.32.2 10 </a:t>
            </a:r>
            <a:r>
              <a:rPr lang="sk-SK" sz="1100" dirty="0" err="1">
                <a:latin typeface="Consolas" panose="020B0609020204030204" pitchFamily="49" charset="0"/>
              </a:rPr>
              <a:t>msec</a:t>
            </a:r>
            <a:r>
              <a:rPr lang="sk-SK" sz="1100" dirty="0">
                <a:latin typeface="Consolas" panose="020B0609020204030204" pitchFamily="49" charset="0"/>
              </a:rPr>
              <a:t> 4 </a:t>
            </a:r>
            <a:r>
              <a:rPr lang="sk-SK" sz="1100" dirty="0" err="1">
                <a:latin typeface="Consolas" panose="020B0609020204030204" pitchFamily="49" charset="0"/>
              </a:rPr>
              <a:t>msec</a:t>
            </a:r>
            <a:r>
              <a:rPr lang="sk-SK" sz="1100" dirty="0">
                <a:latin typeface="Consolas" panose="020B0609020204030204" pitchFamily="49" charset="0"/>
              </a:rPr>
              <a:t> 9 </a:t>
            </a:r>
            <a:r>
              <a:rPr lang="sk-SK" sz="1100" dirty="0" err="1">
                <a:latin typeface="Consolas" panose="020B0609020204030204" pitchFamily="49" charset="0"/>
              </a:rPr>
              <a:t>msec</a:t>
            </a:r>
            <a:endParaRPr lang="sk-SK" sz="1100" dirty="0">
              <a:latin typeface="Consolas" panose="020B0609020204030204" pitchFamily="49" charset="0"/>
            </a:endParaRPr>
          </a:p>
          <a:p>
            <a:r>
              <a:rPr lang="sk-SK" sz="1100" dirty="0">
                <a:latin typeface="Consolas" panose="020B0609020204030204" pitchFamily="49" charset="0"/>
              </a:rPr>
              <a:t>  4 10.64.21.2 [AS 65000] 8 </a:t>
            </a:r>
            <a:r>
              <a:rPr lang="sk-SK" sz="1100" dirty="0" err="1">
                <a:latin typeface="Consolas" panose="020B0609020204030204" pitchFamily="49" charset="0"/>
              </a:rPr>
              <a:t>msec</a:t>
            </a:r>
            <a:r>
              <a:rPr lang="sk-SK" sz="1100" dirty="0">
                <a:latin typeface="Consolas" panose="020B0609020204030204" pitchFamily="49" charset="0"/>
              </a:rPr>
              <a:t> *  30 </a:t>
            </a:r>
            <a:r>
              <a:rPr lang="sk-SK" sz="1100" dirty="0" err="1">
                <a:latin typeface="Consolas" panose="020B0609020204030204" pitchFamily="49" charset="0"/>
              </a:rPr>
              <a:t>msec</a:t>
            </a:r>
            <a:endParaRPr lang="sk-SK" sz="1100" dirty="0">
              <a:latin typeface="Consolas" panose="020B0609020204030204" pitchFamily="49" charset="0"/>
            </a:endParaRPr>
          </a:p>
          <a:p>
            <a:r>
              <a:rPr lang="sk-SK" sz="1100" dirty="0">
                <a:latin typeface="Consolas" panose="020B0609020204030204" pitchFamily="49" charset="0"/>
              </a:rPr>
              <a:t>CE31#</a:t>
            </a:r>
            <a:endParaRPr lang="sk-SK" sz="1100" dirty="0">
              <a:solidFill>
                <a:srgbClr val="FF0000"/>
              </a:solidFill>
              <a:latin typeface="Consolas" panose="020B0609020204030204" pitchFamily="49" charset="0"/>
            </a:endParaRPr>
          </a:p>
        </p:txBody>
      </p:sp>
      <p:sp>
        <p:nvSpPr>
          <p:cNvPr id="5" name="Rectangle 4">
            <a:extLst>
              <a:ext uri="{FF2B5EF4-FFF2-40B4-BE49-F238E27FC236}">
                <a16:creationId xmlns:a16="http://schemas.microsoft.com/office/drawing/2014/main" id="{A04F5EE3-4DD0-66D0-1E01-24F6F1F561C3}"/>
              </a:ext>
            </a:extLst>
          </p:cNvPr>
          <p:cNvSpPr/>
          <p:nvPr/>
        </p:nvSpPr>
        <p:spPr>
          <a:xfrm>
            <a:off x="155153" y="3779587"/>
            <a:ext cx="5699602" cy="2800767"/>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CE31#</a:t>
            </a:r>
            <a:r>
              <a:rPr lang="sk-SK" sz="1100" b="1" dirty="0">
                <a:latin typeface="Consolas" panose="020B0609020204030204" pitchFamily="49" charset="0"/>
              </a:rPr>
              <a:t>sh ip cef 10.0.21.1</a:t>
            </a:r>
          </a:p>
          <a:p>
            <a:r>
              <a:rPr lang="sk-SK" sz="1100" dirty="0">
                <a:latin typeface="Consolas" panose="020B0609020204030204" pitchFamily="49" charset="0"/>
              </a:rPr>
              <a:t>10.0.21.0/24</a:t>
            </a:r>
          </a:p>
          <a:p>
            <a:r>
              <a:rPr lang="sk-SK" sz="1100" dirty="0">
                <a:latin typeface="Consolas" panose="020B0609020204030204" pitchFamily="49" charset="0"/>
              </a:rPr>
              <a:t>  </a:t>
            </a:r>
            <a:r>
              <a:rPr lang="sk-SK" sz="1100" dirty="0" err="1">
                <a:latin typeface="Consolas" panose="020B0609020204030204" pitchFamily="49" charset="0"/>
              </a:rPr>
              <a:t>nexthop</a:t>
            </a:r>
            <a:r>
              <a:rPr lang="sk-SK" sz="1100" dirty="0">
                <a:latin typeface="Consolas" panose="020B0609020204030204" pitchFamily="49" charset="0"/>
              </a:rPr>
              <a:t> 10.64.31.1 GigabitEthernet0/0</a:t>
            </a:r>
          </a:p>
          <a:p>
            <a:r>
              <a:rPr lang="sk-SK" sz="1100" dirty="0">
                <a:latin typeface="Consolas" panose="020B0609020204030204" pitchFamily="49" charset="0"/>
              </a:rPr>
              <a:t>CE31#sh ip bgp 10.0.21.1                              </a:t>
            </a:r>
          </a:p>
          <a:p>
            <a:r>
              <a:rPr lang="sk-SK" sz="1100" dirty="0">
                <a:latin typeface="Consolas" panose="020B0609020204030204" pitchFamily="49" charset="0"/>
              </a:rPr>
              <a:t>BGP routing table </a:t>
            </a:r>
            <a:r>
              <a:rPr lang="sk-SK" sz="1100" dirty="0" err="1">
                <a:latin typeface="Consolas" panose="020B0609020204030204" pitchFamily="49" charset="0"/>
              </a:rPr>
              <a:t>entry</a:t>
            </a:r>
            <a:r>
              <a:rPr lang="sk-SK" sz="1100" dirty="0">
                <a:latin typeface="Consolas" panose="020B0609020204030204" pitchFamily="49" charset="0"/>
              </a:rPr>
              <a:t> </a:t>
            </a:r>
            <a:r>
              <a:rPr lang="sk-SK" sz="1100" dirty="0" err="1">
                <a:latin typeface="Consolas" panose="020B0609020204030204" pitchFamily="49" charset="0"/>
              </a:rPr>
              <a:t>for</a:t>
            </a:r>
            <a:r>
              <a:rPr lang="sk-SK" sz="1100" dirty="0">
                <a:latin typeface="Consolas" panose="020B0609020204030204" pitchFamily="49" charset="0"/>
              </a:rPr>
              <a:t> 10.0.21.0/24, </a:t>
            </a:r>
            <a:r>
              <a:rPr lang="sk-SK" sz="1100" dirty="0" err="1">
                <a:latin typeface="Consolas" panose="020B0609020204030204" pitchFamily="49" charset="0"/>
              </a:rPr>
              <a:t>version</a:t>
            </a:r>
            <a:r>
              <a:rPr lang="sk-SK" sz="1100" dirty="0">
                <a:latin typeface="Consolas" panose="020B0609020204030204" pitchFamily="49" charset="0"/>
              </a:rPr>
              <a:t> 9</a:t>
            </a:r>
          </a:p>
          <a:p>
            <a:r>
              <a:rPr lang="sk-SK" sz="1100" dirty="0" err="1">
                <a:latin typeface="Consolas" panose="020B0609020204030204" pitchFamily="49" charset="0"/>
              </a:rPr>
              <a:t>Paths</a:t>
            </a:r>
            <a:r>
              <a:rPr lang="sk-SK" sz="1100" dirty="0">
                <a:latin typeface="Consolas" panose="020B0609020204030204" pitchFamily="49" charset="0"/>
              </a:rPr>
              <a:t>: (1 </a:t>
            </a:r>
            <a:r>
              <a:rPr lang="sk-SK" sz="1100" dirty="0" err="1">
                <a:latin typeface="Consolas" panose="020B0609020204030204" pitchFamily="49" charset="0"/>
              </a:rPr>
              <a:t>available</a:t>
            </a:r>
            <a:r>
              <a:rPr lang="sk-SK" sz="1100" dirty="0">
                <a:latin typeface="Consolas" panose="020B0609020204030204" pitchFamily="49" charset="0"/>
              </a:rPr>
              <a:t>, </a:t>
            </a:r>
            <a:r>
              <a:rPr lang="sk-SK" sz="1100" dirty="0" err="1">
                <a:latin typeface="Consolas" panose="020B0609020204030204" pitchFamily="49" charset="0"/>
              </a:rPr>
              <a:t>best</a:t>
            </a:r>
            <a:r>
              <a:rPr lang="sk-SK" sz="1100" dirty="0">
                <a:latin typeface="Consolas" panose="020B0609020204030204" pitchFamily="49" charset="0"/>
              </a:rPr>
              <a:t> #1, table default)</a:t>
            </a:r>
          </a:p>
          <a:p>
            <a:r>
              <a:rPr lang="sk-SK" sz="1100" dirty="0">
                <a:latin typeface="Consolas" panose="020B0609020204030204" pitchFamily="49" charset="0"/>
              </a:rPr>
              <a:t>  </a:t>
            </a:r>
            <a:r>
              <a:rPr lang="sk-SK" sz="1100" dirty="0" err="1">
                <a:latin typeface="Consolas" panose="020B0609020204030204" pitchFamily="49" charset="0"/>
              </a:rPr>
              <a:t>Not</a:t>
            </a:r>
            <a:r>
              <a:rPr lang="sk-SK" sz="1100" dirty="0">
                <a:latin typeface="Consolas" panose="020B0609020204030204" pitchFamily="49" charset="0"/>
              </a:rPr>
              <a:t> </a:t>
            </a:r>
            <a:r>
              <a:rPr lang="sk-SK" sz="1100" dirty="0" err="1">
                <a:latin typeface="Consolas" panose="020B0609020204030204" pitchFamily="49" charset="0"/>
              </a:rPr>
              <a:t>advertised</a:t>
            </a:r>
            <a:r>
              <a:rPr lang="sk-SK" sz="1100" dirty="0">
                <a:latin typeface="Consolas" panose="020B0609020204030204" pitchFamily="49" charset="0"/>
              </a:rPr>
              <a:t> to </a:t>
            </a:r>
            <a:r>
              <a:rPr lang="sk-SK" sz="1100" dirty="0" err="1">
                <a:latin typeface="Consolas" panose="020B0609020204030204" pitchFamily="49" charset="0"/>
              </a:rPr>
              <a:t>any</a:t>
            </a:r>
            <a:r>
              <a:rPr lang="sk-SK" sz="1100" dirty="0">
                <a:latin typeface="Consolas" panose="020B0609020204030204" pitchFamily="49" charset="0"/>
              </a:rPr>
              <a:t> </a:t>
            </a:r>
            <a:r>
              <a:rPr lang="sk-SK" sz="1100" dirty="0" err="1">
                <a:latin typeface="Consolas" panose="020B0609020204030204" pitchFamily="49" charset="0"/>
              </a:rPr>
              <a:t>peer</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Refresh</a:t>
            </a:r>
            <a:r>
              <a:rPr lang="sk-SK" sz="1100" dirty="0">
                <a:latin typeface="Consolas" panose="020B0609020204030204" pitchFamily="49" charset="0"/>
              </a:rPr>
              <a:t> Epoch 1</a:t>
            </a:r>
          </a:p>
          <a:p>
            <a:r>
              <a:rPr lang="sk-SK" sz="1100" dirty="0">
                <a:latin typeface="Consolas" panose="020B0609020204030204" pitchFamily="49" charset="0"/>
              </a:rPr>
              <a:t>  65000 65021</a:t>
            </a:r>
          </a:p>
          <a:p>
            <a:r>
              <a:rPr lang="sk-SK" sz="1100" dirty="0">
                <a:latin typeface="Consolas" panose="020B0609020204030204" pitchFamily="49" charset="0"/>
              </a:rPr>
              <a:t>    10.64.31.1 </a:t>
            </a:r>
            <a:r>
              <a:rPr lang="sk-SK" sz="1100" dirty="0" err="1">
                <a:latin typeface="Consolas" panose="020B0609020204030204" pitchFamily="49" charset="0"/>
              </a:rPr>
              <a:t>from</a:t>
            </a:r>
            <a:r>
              <a:rPr lang="sk-SK" sz="1100" dirty="0">
                <a:latin typeface="Consolas" panose="020B0609020204030204" pitchFamily="49" charset="0"/>
              </a:rPr>
              <a:t> 10.64.31.1 (10.64.31.1)</a:t>
            </a:r>
          </a:p>
          <a:p>
            <a:r>
              <a:rPr lang="sk-SK" sz="1100" dirty="0">
                <a:latin typeface="Consolas" panose="020B0609020204030204" pitchFamily="49" charset="0"/>
              </a:rPr>
              <a:t>      </a:t>
            </a:r>
            <a:r>
              <a:rPr lang="sk-SK" sz="1100" dirty="0" err="1">
                <a:latin typeface="Consolas" panose="020B0609020204030204" pitchFamily="49" charset="0"/>
              </a:rPr>
              <a:t>Origin</a:t>
            </a:r>
            <a:r>
              <a:rPr lang="sk-SK" sz="1100" dirty="0">
                <a:latin typeface="Consolas" panose="020B0609020204030204" pitchFamily="49" charset="0"/>
              </a:rPr>
              <a:t> IGP, localpref 100, </a:t>
            </a:r>
            <a:r>
              <a:rPr lang="sk-SK" sz="1100" dirty="0" err="1">
                <a:latin typeface="Consolas" panose="020B0609020204030204" pitchFamily="49" charset="0"/>
              </a:rPr>
              <a:t>valid</a:t>
            </a:r>
            <a:r>
              <a:rPr lang="sk-SK" sz="1100" dirty="0">
                <a:latin typeface="Consolas" panose="020B0609020204030204" pitchFamily="49" charset="0"/>
              </a:rPr>
              <a:t>, </a:t>
            </a:r>
            <a:r>
              <a:rPr lang="sk-SK" sz="1100" dirty="0" err="1">
                <a:latin typeface="Consolas" panose="020B0609020204030204" pitchFamily="49" charset="0"/>
              </a:rPr>
              <a:t>external</a:t>
            </a:r>
            <a:r>
              <a:rPr lang="sk-SK" sz="1100" dirty="0">
                <a:latin typeface="Consolas" panose="020B0609020204030204" pitchFamily="49" charset="0"/>
              </a:rPr>
              <a:t>, </a:t>
            </a:r>
            <a:r>
              <a:rPr lang="sk-SK" sz="1100" dirty="0" err="1">
                <a:latin typeface="Consolas" panose="020B0609020204030204" pitchFamily="49" charset="0"/>
              </a:rPr>
              <a:t>best</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rx</a:t>
            </a:r>
            <a:r>
              <a:rPr lang="sk-SK" sz="1100" dirty="0">
                <a:latin typeface="Consolas" panose="020B0609020204030204" pitchFamily="49" charset="0"/>
              </a:rPr>
              <a:t> </a:t>
            </a:r>
            <a:r>
              <a:rPr lang="sk-SK" sz="1100" dirty="0" err="1">
                <a:latin typeface="Consolas" panose="020B0609020204030204" pitchFamily="49" charset="0"/>
              </a:rPr>
              <a:t>pathid</a:t>
            </a:r>
            <a:r>
              <a:rPr lang="sk-SK" sz="1100" dirty="0">
                <a:latin typeface="Consolas" panose="020B0609020204030204" pitchFamily="49" charset="0"/>
              </a:rPr>
              <a:t>: 0, </a:t>
            </a:r>
            <a:r>
              <a:rPr lang="sk-SK" sz="1100" dirty="0" err="1">
                <a:latin typeface="Consolas" panose="020B0609020204030204" pitchFamily="49" charset="0"/>
              </a:rPr>
              <a:t>tx</a:t>
            </a:r>
            <a:r>
              <a:rPr lang="sk-SK" sz="1100" dirty="0">
                <a:latin typeface="Consolas" panose="020B0609020204030204" pitchFamily="49" charset="0"/>
              </a:rPr>
              <a:t> </a:t>
            </a:r>
            <a:r>
              <a:rPr lang="sk-SK" sz="1100" dirty="0" err="1">
                <a:latin typeface="Consolas" panose="020B0609020204030204" pitchFamily="49" charset="0"/>
              </a:rPr>
              <a:t>pathid</a:t>
            </a:r>
            <a:r>
              <a:rPr lang="sk-SK" sz="1100" dirty="0">
                <a:latin typeface="Consolas" panose="020B0609020204030204" pitchFamily="49" charset="0"/>
              </a:rPr>
              <a:t>: 0x0</a:t>
            </a:r>
          </a:p>
          <a:p>
            <a:r>
              <a:rPr lang="sk-SK" sz="1100" dirty="0">
                <a:latin typeface="Consolas" panose="020B0609020204030204" pitchFamily="49" charset="0"/>
              </a:rPr>
              <a:t>CE31#sh ip cef 10.0.21.1</a:t>
            </a:r>
          </a:p>
          <a:p>
            <a:r>
              <a:rPr lang="sk-SK" sz="1100" dirty="0">
                <a:latin typeface="Consolas" panose="020B0609020204030204" pitchFamily="49" charset="0"/>
              </a:rPr>
              <a:t>10.0.21.0/24</a:t>
            </a:r>
          </a:p>
          <a:p>
            <a:r>
              <a:rPr lang="sk-SK" sz="1100" dirty="0">
                <a:latin typeface="Consolas" panose="020B0609020204030204" pitchFamily="49" charset="0"/>
              </a:rPr>
              <a:t>  </a:t>
            </a:r>
            <a:r>
              <a:rPr lang="sk-SK" sz="1100" dirty="0" err="1">
                <a:latin typeface="Consolas" panose="020B0609020204030204" pitchFamily="49" charset="0"/>
              </a:rPr>
              <a:t>nexthop</a:t>
            </a:r>
            <a:r>
              <a:rPr lang="sk-SK" sz="1100" dirty="0">
                <a:latin typeface="Consolas" panose="020B0609020204030204" pitchFamily="49" charset="0"/>
              </a:rPr>
              <a:t> 10.64.31.1 GigabitEthernet0/0</a:t>
            </a:r>
          </a:p>
          <a:p>
            <a:r>
              <a:rPr lang="sk-SK" sz="1100" dirty="0">
                <a:latin typeface="Consolas" panose="020B0609020204030204" pitchFamily="49" charset="0"/>
              </a:rPr>
              <a:t>CE31#</a:t>
            </a:r>
            <a:endParaRPr lang="sk-SK" sz="11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2433245627"/>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MPLS to SRv6 (CE31 -&gt; CE21)  #R31</a:t>
            </a:r>
          </a:p>
        </p:txBody>
      </p:sp>
      <p:sp>
        <p:nvSpPr>
          <p:cNvPr id="4" name="Rectangle 3">
            <a:extLst>
              <a:ext uri="{FF2B5EF4-FFF2-40B4-BE49-F238E27FC236}">
                <a16:creationId xmlns:a16="http://schemas.microsoft.com/office/drawing/2014/main" id="{87D7CB37-5BEE-FF8F-7602-60627856E0E8}"/>
              </a:ext>
            </a:extLst>
          </p:cNvPr>
          <p:cNvSpPr/>
          <p:nvPr/>
        </p:nvSpPr>
        <p:spPr>
          <a:xfrm>
            <a:off x="155153" y="785478"/>
            <a:ext cx="5699602" cy="2800767"/>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R31#</a:t>
            </a:r>
            <a:r>
              <a:rPr lang="sk-SK" sz="1100" b="1" dirty="0">
                <a:latin typeface="Consolas" panose="020B0609020204030204" pitchFamily="49" charset="0"/>
              </a:rPr>
              <a:t>sh ip bgp vpnv4 vrf A 10.0.21.1</a:t>
            </a:r>
          </a:p>
          <a:p>
            <a:r>
              <a:rPr lang="sk-SK" sz="1100" dirty="0">
                <a:latin typeface="Consolas" panose="020B0609020204030204" pitchFamily="49" charset="0"/>
              </a:rPr>
              <a:t>BGP routing table </a:t>
            </a:r>
            <a:r>
              <a:rPr lang="sk-SK" sz="1100" dirty="0" err="1">
                <a:latin typeface="Consolas" panose="020B0609020204030204" pitchFamily="49" charset="0"/>
              </a:rPr>
              <a:t>entry</a:t>
            </a:r>
            <a:r>
              <a:rPr lang="sk-SK" sz="1100" dirty="0">
                <a:latin typeface="Consolas" panose="020B0609020204030204" pitchFamily="49" charset="0"/>
              </a:rPr>
              <a:t> </a:t>
            </a:r>
            <a:r>
              <a:rPr lang="sk-SK" sz="1100" dirty="0" err="1">
                <a:latin typeface="Consolas" panose="020B0609020204030204" pitchFamily="49" charset="0"/>
              </a:rPr>
              <a:t>for</a:t>
            </a:r>
            <a:r>
              <a:rPr lang="sk-SK" sz="1100" dirty="0">
                <a:latin typeface="Consolas" panose="020B0609020204030204" pitchFamily="49" charset="0"/>
              </a:rPr>
              <a:t> 65000:1:10.0.21.0/24, </a:t>
            </a:r>
            <a:r>
              <a:rPr lang="sk-SK" sz="1100" dirty="0" err="1">
                <a:latin typeface="Consolas" panose="020B0609020204030204" pitchFamily="49" charset="0"/>
              </a:rPr>
              <a:t>version</a:t>
            </a:r>
            <a:r>
              <a:rPr lang="sk-SK" sz="1100" dirty="0">
                <a:latin typeface="Consolas" panose="020B0609020204030204" pitchFamily="49" charset="0"/>
              </a:rPr>
              <a:t> 23</a:t>
            </a:r>
          </a:p>
          <a:p>
            <a:r>
              <a:rPr lang="sk-SK" sz="1100" dirty="0" err="1">
                <a:latin typeface="Consolas" panose="020B0609020204030204" pitchFamily="49" charset="0"/>
              </a:rPr>
              <a:t>Paths</a:t>
            </a:r>
            <a:r>
              <a:rPr lang="sk-SK" sz="1100" dirty="0">
                <a:latin typeface="Consolas" panose="020B0609020204030204" pitchFamily="49" charset="0"/>
              </a:rPr>
              <a:t>: (1 </a:t>
            </a:r>
            <a:r>
              <a:rPr lang="sk-SK" sz="1100" dirty="0" err="1">
                <a:latin typeface="Consolas" panose="020B0609020204030204" pitchFamily="49" charset="0"/>
              </a:rPr>
              <a:t>available</a:t>
            </a:r>
            <a:r>
              <a:rPr lang="sk-SK" sz="1100" dirty="0">
                <a:latin typeface="Consolas" panose="020B0609020204030204" pitchFamily="49" charset="0"/>
              </a:rPr>
              <a:t>, </a:t>
            </a:r>
            <a:r>
              <a:rPr lang="sk-SK" sz="1100" dirty="0" err="1">
                <a:latin typeface="Consolas" panose="020B0609020204030204" pitchFamily="49" charset="0"/>
              </a:rPr>
              <a:t>best</a:t>
            </a:r>
            <a:r>
              <a:rPr lang="sk-SK" sz="1100" dirty="0">
                <a:latin typeface="Consolas" panose="020B0609020204030204" pitchFamily="49" charset="0"/>
              </a:rPr>
              <a:t> #1, table A)</a:t>
            </a:r>
          </a:p>
          <a:p>
            <a:r>
              <a:rPr lang="sk-SK" sz="1100" dirty="0">
                <a:latin typeface="Consolas" panose="020B0609020204030204" pitchFamily="49" charset="0"/>
              </a:rPr>
              <a:t>  </a:t>
            </a:r>
            <a:r>
              <a:rPr lang="sk-SK" sz="1100" dirty="0" err="1">
                <a:latin typeface="Consolas" panose="020B0609020204030204" pitchFamily="49" charset="0"/>
              </a:rPr>
              <a:t>Flag</a:t>
            </a:r>
            <a:r>
              <a:rPr lang="sk-SK" sz="1100" dirty="0">
                <a:latin typeface="Consolas" panose="020B0609020204030204" pitchFamily="49" charset="0"/>
              </a:rPr>
              <a:t>: 0x100</a:t>
            </a:r>
          </a:p>
          <a:p>
            <a:r>
              <a:rPr lang="sk-SK" sz="1100" dirty="0">
                <a:latin typeface="Consolas" panose="020B0609020204030204" pitchFamily="49" charset="0"/>
              </a:rPr>
              <a:t>  </a:t>
            </a:r>
            <a:r>
              <a:rPr lang="sk-SK" sz="1100" dirty="0" err="1">
                <a:latin typeface="Consolas" panose="020B0609020204030204" pitchFamily="49" charset="0"/>
              </a:rPr>
              <a:t>Advertised</a:t>
            </a:r>
            <a:r>
              <a:rPr lang="sk-SK" sz="1100" dirty="0">
                <a:latin typeface="Consolas" panose="020B0609020204030204" pitchFamily="49" charset="0"/>
              </a:rPr>
              <a:t> to update-</a:t>
            </a:r>
            <a:r>
              <a:rPr lang="sk-SK" sz="1100" dirty="0" err="1">
                <a:latin typeface="Consolas" panose="020B0609020204030204" pitchFamily="49" charset="0"/>
              </a:rPr>
              <a:t>groups</a:t>
            </a:r>
            <a:r>
              <a:rPr lang="sk-SK" sz="1100" dirty="0">
                <a:latin typeface="Consolas" panose="020B0609020204030204" pitchFamily="49" charset="0"/>
              </a:rPr>
              <a:t>:</a:t>
            </a:r>
          </a:p>
          <a:p>
            <a:r>
              <a:rPr lang="sk-SK" sz="1100" dirty="0">
                <a:latin typeface="Consolas" panose="020B0609020204030204" pitchFamily="49" charset="0"/>
              </a:rPr>
              <a:t>     2         </a:t>
            </a:r>
          </a:p>
          <a:p>
            <a:r>
              <a:rPr lang="sk-SK" sz="1100" dirty="0">
                <a:latin typeface="Consolas" panose="020B0609020204030204" pitchFamily="49" charset="0"/>
              </a:rPr>
              <a:t>  </a:t>
            </a:r>
            <a:r>
              <a:rPr lang="sk-SK" sz="1100" dirty="0" err="1">
                <a:latin typeface="Consolas" panose="020B0609020204030204" pitchFamily="49" charset="0"/>
              </a:rPr>
              <a:t>Refresh</a:t>
            </a:r>
            <a:r>
              <a:rPr lang="sk-SK" sz="1100" dirty="0">
                <a:latin typeface="Consolas" panose="020B0609020204030204" pitchFamily="49" charset="0"/>
              </a:rPr>
              <a:t> Epoch 1</a:t>
            </a:r>
          </a:p>
          <a:p>
            <a:r>
              <a:rPr lang="sk-SK" sz="1100" dirty="0">
                <a:latin typeface="Consolas" panose="020B0609020204030204" pitchFamily="49" charset="0"/>
              </a:rPr>
              <a:t>  65021, </a:t>
            </a:r>
            <a:r>
              <a:rPr lang="sk-SK" sz="1100" dirty="0" err="1">
                <a:latin typeface="Consolas" panose="020B0609020204030204" pitchFamily="49" charset="0"/>
              </a:rPr>
              <a:t>imported</a:t>
            </a:r>
            <a:r>
              <a:rPr lang="sk-SK" sz="1100" dirty="0">
                <a:latin typeface="Consolas" panose="020B0609020204030204" pitchFamily="49" charset="0"/>
              </a:rPr>
              <a:t> </a:t>
            </a:r>
            <a:r>
              <a:rPr lang="sk-SK" sz="1100" dirty="0" err="1">
                <a:latin typeface="Consolas" panose="020B0609020204030204" pitchFamily="49" charset="0"/>
              </a:rPr>
              <a:t>path</a:t>
            </a:r>
            <a:r>
              <a:rPr lang="sk-SK" sz="1100" dirty="0">
                <a:latin typeface="Consolas" panose="020B0609020204030204" pitchFamily="49" charset="0"/>
              </a:rPr>
              <a:t> </a:t>
            </a:r>
            <a:r>
              <a:rPr lang="sk-SK" sz="1100" dirty="0" err="1">
                <a:latin typeface="Consolas" panose="020B0609020204030204" pitchFamily="49" charset="0"/>
              </a:rPr>
              <a:t>from</a:t>
            </a:r>
            <a:r>
              <a:rPr lang="sk-SK" sz="1100" dirty="0">
                <a:latin typeface="Consolas" panose="020B0609020204030204" pitchFamily="49" charset="0"/>
              </a:rPr>
              <a:t> 65000:2000:10.0.21.0/24 (</a:t>
            </a:r>
            <a:r>
              <a:rPr lang="sk-SK" sz="1100" dirty="0" err="1">
                <a:latin typeface="Consolas" panose="020B0609020204030204" pitchFamily="49" charset="0"/>
              </a:rPr>
              <a:t>global</a:t>
            </a:r>
            <a:r>
              <a:rPr lang="sk-SK" sz="1100" dirty="0">
                <a:latin typeface="Consolas" panose="020B0609020204030204" pitchFamily="49" charset="0"/>
              </a:rPr>
              <a:t>)</a:t>
            </a:r>
          </a:p>
          <a:p>
            <a:r>
              <a:rPr lang="sk-SK" sz="1100" dirty="0">
                <a:latin typeface="Consolas" panose="020B0609020204030204" pitchFamily="49" charset="0"/>
              </a:rPr>
              <a:t>    1.1.1.2 (</a:t>
            </a:r>
            <a:r>
              <a:rPr lang="sk-SK" sz="1100" dirty="0" err="1">
                <a:latin typeface="Consolas" panose="020B0609020204030204" pitchFamily="49" charset="0"/>
              </a:rPr>
              <a:t>metric</a:t>
            </a:r>
            <a:r>
              <a:rPr lang="sk-SK" sz="1100" dirty="0">
                <a:latin typeface="Consolas" panose="020B0609020204030204" pitchFamily="49" charset="0"/>
              </a:rPr>
              <a:t> 20) (</a:t>
            </a:r>
            <a:r>
              <a:rPr lang="sk-SK" sz="1100" dirty="0" err="1">
                <a:latin typeface="Consolas" panose="020B0609020204030204" pitchFamily="49" charset="0"/>
              </a:rPr>
              <a:t>via</a:t>
            </a:r>
            <a:r>
              <a:rPr lang="sk-SK" sz="1100" dirty="0">
                <a:latin typeface="Consolas" panose="020B0609020204030204" pitchFamily="49" charset="0"/>
              </a:rPr>
              <a:t> default) </a:t>
            </a:r>
            <a:r>
              <a:rPr lang="sk-SK" sz="1100" dirty="0" err="1">
                <a:latin typeface="Consolas" panose="020B0609020204030204" pitchFamily="49" charset="0"/>
              </a:rPr>
              <a:t>from</a:t>
            </a:r>
            <a:r>
              <a:rPr lang="sk-SK" sz="1100" dirty="0">
                <a:latin typeface="Consolas" panose="020B0609020204030204" pitchFamily="49" charset="0"/>
              </a:rPr>
              <a:t> 1.1.1.2 (1.1.1.2)</a:t>
            </a:r>
          </a:p>
          <a:p>
            <a:r>
              <a:rPr lang="sk-SK" sz="1100" dirty="0">
                <a:latin typeface="Consolas" panose="020B0609020204030204" pitchFamily="49" charset="0"/>
              </a:rPr>
              <a:t>      </a:t>
            </a:r>
            <a:r>
              <a:rPr lang="sk-SK" sz="1100" dirty="0" err="1">
                <a:latin typeface="Consolas" panose="020B0609020204030204" pitchFamily="49" charset="0"/>
              </a:rPr>
              <a:t>Origin</a:t>
            </a:r>
            <a:r>
              <a:rPr lang="sk-SK" sz="1100" dirty="0">
                <a:latin typeface="Consolas" panose="020B0609020204030204" pitchFamily="49" charset="0"/>
              </a:rPr>
              <a:t> IGP, </a:t>
            </a:r>
            <a:r>
              <a:rPr lang="sk-SK" sz="1100" dirty="0" err="1">
                <a:latin typeface="Consolas" panose="020B0609020204030204" pitchFamily="49" charset="0"/>
              </a:rPr>
              <a:t>metric</a:t>
            </a:r>
            <a:r>
              <a:rPr lang="sk-SK" sz="1100" dirty="0">
                <a:latin typeface="Consolas" panose="020B0609020204030204" pitchFamily="49" charset="0"/>
              </a:rPr>
              <a:t> 0, localpref 100, </a:t>
            </a:r>
            <a:r>
              <a:rPr lang="sk-SK" sz="1100" dirty="0" err="1">
                <a:latin typeface="Consolas" panose="020B0609020204030204" pitchFamily="49" charset="0"/>
              </a:rPr>
              <a:t>valid</a:t>
            </a:r>
            <a:r>
              <a:rPr lang="sk-SK" sz="1100" dirty="0">
                <a:latin typeface="Consolas" panose="020B0609020204030204" pitchFamily="49" charset="0"/>
              </a:rPr>
              <a:t>, </a:t>
            </a:r>
            <a:r>
              <a:rPr lang="sk-SK" sz="1100" dirty="0" err="1">
                <a:latin typeface="Consolas" panose="020B0609020204030204" pitchFamily="49" charset="0"/>
              </a:rPr>
              <a:t>internal</a:t>
            </a:r>
            <a:r>
              <a:rPr lang="sk-SK" sz="1100" dirty="0">
                <a:latin typeface="Consolas" panose="020B0609020204030204" pitchFamily="49" charset="0"/>
              </a:rPr>
              <a:t>, </a:t>
            </a:r>
            <a:r>
              <a:rPr lang="sk-SK" sz="1100" dirty="0" err="1">
                <a:latin typeface="Consolas" panose="020B0609020204030204" pitchFamily="49" charset="0"/>
              </a:rPr>
              <a:t>best</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Extended</a:t>
            </a:r>
            <a:r>
              <a:rPr lang="sk-SK" sz="1100" dirty="0">
                <a:latin typeface="Consolas" panose="020B0609020204030204" pitchFamily="49" charset="0"/>
              </a:rPr>
              <a:t> </a:t>
            </a:r>
            <a:r>
              <a:rPr lang="sk-SK" sz="1100" dirty="0" err="1">
                <a:latin typeface="Consolas" panose="020B0609020204030204" pitchFamily="49" charset="0"/>
              </a:rPr>
              <a:t>Community</a:t>
            </a:r>
            <a:r>
              <a:rPr lang="sk-SK" sz="1100" dirty="0">
                <a:latin typeface="Consolas" panose="020B0609020204030204" pitchFamily="49" charset="0"/>
              </a:rPr>
              <a:t>: RT:65000:1 RT:65000:1001</a:t>
            </a:r>
          </a:p>
          <a:p>
            <a:r>
              <a:rPr lang="sk-SK" sz="1100" dirty="0">
                <a:latin typeface="Consolas" panose="020B0609020204030204" pitchFamily="49" charset="0"/>
              </a:rPr>
              <a:t>      </a:t>
            </a:r>
            <a:r>
              <a:rPr lang="sk-SK" sz="1100" dirty="0" err="1">
                <a:latin typeface="Consolas" panose="020B0609020204030204" pitchFamily="49" charset="0"/>
              </a:rPr>
              <a:t>Originator</a:t>
            </a:r>
            <a:r>
              <a:rPr lang="sk-SK" sz="1100" dirty="0">
                <a:latin typeface="Consolas" panose="020B0609020204030204" pitchFamily="49" charset="0"/>
              </a:rPr>
              <a:t>: 1.1.1.21, </a:t>
            </a:r>
            <a:r>
              <a:rPr lang="sk-SK" sz="1100" dirty="0" err="1">
                <a:latin typeface="Consolas" panose="020B0609020204030204" pitchFamily="49" charset="0"/>
              </a:rPr>
              <a:t>Cluster</a:t>
            </a:r>
            <a:r>
              <a:rPr lang="sk-SK" sz="1100" dirty="0">
                <a:latin typeface="Consolas" panose="020B0609020204030204" pitchFamily="49" charset="0"/>
              </a:rPr>
              <a:t> list: 1.1.1.2, 0.0.0.100</a:t>
            </a:r>
          </a:p>
          <a:p>
            <a:r>
              <a:rPr lang="sk-SK" sz="1100" dirty="0">
                <a:latin typeface="Consolas" panose="020B0609020204030204" pitchFamily="49" charset="0"/>
              </a:rPr>
              <a:t>      mpls </a:t>
            </a:r>
            <a:r>
              <a:rPr lang="sk-SK" sz="1100" dirty="0" err="1">
                <a:latin typeface="Consolas" panose="020B0609020204030204" pitchFamily="49" charset="0"/>
              </a:rPr>
              <a:t>labels</a:t>
            </a:r>
            <a:r>
              <a:rPr lang="sk-SK" sz="1100" dirty="0">
                <a:latin typeface="Consolas" panose="020B0609020204030204" pitchFamily="49" charset="0"/>
              </a:rPr>
              <a:t> in/</a:t>
            </a:r>
            <a:r>
              <a:rPr lang="sk-SK" sz="1100" dirty="0" err="1">
                <a:latin typeface="Consolas" panose="020B0609020204030204" pitchFamily="49" charset="0"/>
              </a:rPr>
              <a:t>out</a:t>
            </a:r>
            <a:r>
              <a:rPr lang="sk-SK" sz="1100" dirty="0">
                <a:latin typeface="Consolas" panose="020B0609020204030204" pitchFamily="49" charset="0"/>
              </a:rPr>
              <a:t> nolabel/</a:t>
            </a:r>
            <a:r>
              <a:rPr lang="sk-SK" sz="1100" dirty="0">
                <a:highlight>
                  <a:srgbClr val="00FFFF"/>
                </a:highlight>
                <a:latin typeface="Consolas" panose="020B0609020204030204" pitchFamily="49" charset="0"/>
              </a:rPr>
              <a:t>24010</a:t>
            </a:r>
          </a:p>
          <a:p>
            <a:r>
              <a:rPr lang="sk-SK" sz="1100" dirty="0">
                <a:latin typeface="Consolas" panose="020B0609020204030204" pitchFamily="49" charset="0"/>
              </a:rPr>
              <a:t>      </a:t>
            </a:r>
            <a:r>
              <a:rPr lang="sk-SK" sz="1100" dirty="0" err="1">
                <a:latin typeface="Consolas" panose="020B0609020204030204" pitchFamily="49" charset="0"/>
              </a:rPr>
              <a:t>rx</a:t>
            </a:r>
            <a:r>
              <a:rPr lang="sk-SK" sz="1100" dirty="0">
                <a:latin typeface="Consolas" panose="020B0609020204030204" pitchFamily="49" charset="0"/>
              </a:rPr>
              <a:t> </a:t>
            </a:r>
            <a:r>
              <a:rPr lang="sk-SK" sz="1100" dirty="0" err="1">
                <a:latin typeface="Consolas" panose="020B0609020204030204" pitchFamily="49" charset="0"/>
              </a:rPr>
              <a:t>pathid</a:t>
            </a:r>
            <a:r>
              <a:rPr lang="sk-SK" sz="1100" dirty="0">
                <a:latin typeface="Consolas" panose="020B0609020204030204" pitchFamily="49" charset="0"/>
              </a:rPr>
              <a:t>: 0, </a:t>
            </a:r>
            <a:r>
              <a:rPr lang="sk-SK" sz="1100" dirty="0" err="1">
                <a:latin typeface="Consolas" panose="020B0609020204030204" pitchFamily="49" charset="0"/>
              </a:rPr>
              <a:t>tx</a:t>
            </a:r>
            <a:r>
              <a:rPr lang="sk-SK" sz="1100" dirty="0">
                <a:latin typeface="Consolas" panose="020B0609020204030204" pitchFamily="49" charset="0"/>
              </a:rPr>
              <a:t> </a:t>
            </a:r>
            <a:r>
              <a:rPr lang="sk-SK" sz="1100" dirty="0" err="1">
                <a:latin typeface="Consolas" panose="020B0609020204030204" pitchFamily="49" charset="0"/>
              </a:rPr>
              <a:t>pathid</a:t>
            </a:r>
            <a:r>
              <a:rPr lang="sk-SK" sz="1100" dirty="0">
                <a:latin typeface="Consolas" panose="020B0609020204030204" pitchFamily="49" charset="0"/>
              </a:rPr>
              <a:t>: 0x0</a:t>
            </a:r>
          </a:p>
          <a:p>
            <a:r>
              <a:rPr lang="sk-SK" sz="1100" dirty="0">
                <a:latin typeface="Consolas" panose="020B0609020204030204" pitchFamily="49" charset="0"/>
              </a:rPr>
              <a:t>      </a:t>
            </a:r>
            <a:r>
              <a:rPr lang="sk-SK" sz="1100" dirty="0" err="1">
                <a:latin typeface="Consolas" panose="020B0609020204030204" pitchFamily="49" charset="0"/>
              </a:rPr>
              <a:t>Updated</a:t>
            </a:r>
            <a:r>
              <a:rPr lang="sk-SK" sz="1100" dirty="0">
                <a:latin typeface="Consolas" panose="020B0609020204030204" pitchFamily="49" charset="0"/>
              </a:rPr>
              <a:t> on Nov 1 2024 15:31:07 UTC</a:t>
            </a:r>
          </a:p>
          <a:p>
            <a:r>
              <a:rPr lang="sk-SK" sz="1100" dirty="0">
                <a:latin typeface="Consolas" panose="020B0609020204030204" pitchFamily="49" charset="0"/>
              </a:rPr>
              <a:t>R31#</a:t>
            </a:r>
            <a:endParaRPr lang="sk-SK" sz="1100" dirty="0">
              <a:solidFill>
                <a:srgbClr val="FF0000"/>
              </a:solidFill>
              <a:latin typeface="Consolas" panose="020B0609020204030204" pitchFamily="49" charset="0"/>
            </a:endParaRPr>
          </a:p>
        </p:txBody>
      </p:sp>
      <p:sp>
        <p:nvSpPr>
          <p:cNvPr id="5" name="Rectangle 4">
            <a:extLst>
              <a:ext uri="{FF2B5EF4-FFF2-40B4-BE49-F238E27FC236}">
                <a16:creationId xmlns:a16="http://schemas.microsoft.com/office/drawing/2014/main" id="{A04F5EE3-4DD0-66D0-1E01-24F6F1F561C3}"/>
              </a:ext>
            </a:extLst>
          </p:cNvPr>
          <p:cNvSpPr/>
          <p:nvPr/>
        </p:nvSpPr>
        <p:spPr>
          <a:xfrm>
            <a:off x="155153" y="3779587"/>
            <a:ext cx="5699602" cy="1446550"/>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R31#</a:t>
            </a:r>
            <a:r>
              <a:rPr lang="sk-SK" sz="1100" b="1" dirty="0">
                <a:latin typeface="Consolas" panose="020B0609020204030204" pitchFamily="49" charset="0"/>
              </a:rPr>
              <a:t>sh ip cef vrf A 10.0.21.1 detail</a:t>
            </a:r>
          </a:p>
          <a:p>
            <a:r>
              <a:rPr lang="sk-SK" sz="1100" dirty="0">
                <a:latin typeface="Consolas" panose="020B0609020204030204" pitchFamily="49" charset="0"/>
              </a:rPr>
              <a:t>10.0.21.0/24, epoch 2, </a:t>
            </a:r>
            <a:r>
              <a:rPr lang="sk-SK" sz="1100" dirty="0" err="1">
                <a:latin typeface="Consolas" panose="020B0609020204030204" pitchFamily="49" charset="0"/>
              </a:rPr>
              <a:t>flags</a:t>
            </a:r>
            <a:r>
              <a:rPr lang="sk-SK" sz="1100" dirty="0">
                <a:latin typeface="Consolas" panose="020B0609020204030204" pitchFamily="49" charset="0"/>
              </a:rPr>
              <a:t> [</a:t>
            </a:r>
            <a:r>
              <a:rPr lang="sk-SK" sz="1100" dirty="0" err="1">
                <a:latin typeface="Consolas" panose="020B0609020204030204" pitchFamily="49" charset="0"/>
              </a:rPr>
              <a:t>rib</a:t>
            </a:r>
            <a:r>
              <a:rPr lang="sk-SK" sz="1100" dirty="0">
                <a:latin typeface="Consolas" panose="020B0609020204030204" pitchFamily="49" charset="0"/>
              </a:rPr>
              <a:t> </a:t>
            </a:r>
            <a:r>
              <a:rPr lang="sk-SK" sz="1100" dirty="0" err="1">
                <a:latin typeface="Consolas" panose="020B0609020204030204" pitchFamily="49" charset="0"/>
              </a:rPr>
              <a:t>defined</a:t>
            </a:r>
            <a:r>
              <a:rPr lang="sk-SK" sz="1100" dirty="0">
                <a:latin typeface="Consolas" panose="020B0609020204030204" pitchFamily="49" charset="0"/>
              </a:rPr>
              <a:t> </a:t>
            </a:r>
            <a:r>
              <a:rPr lang="sk-SK" sz="1100" dirty="0" err="1">
                <a:latin typeface="Consolas" panose="020B0609020204030204" pitchFamily="49" charset="0"/>
              </a:rPr>
              <a:t>all</a:t>
            </a:r>
            <a:r>
              <a:rPr lang="sk-SK" sz="1100" dirty="0">
                <a:latin typeface="Consolas" panose="020B0609020204030204" pitchFamily="49" charset="0"/>
              </a:rPr>
              <a:t> </a:t>
            </a:r>
            <a:r>
              <a:rPr lang="sk-SK" sz="1100" dirty="0" err="1">
                <a:latin typeface="Consolas" panose="020B0609020204030204" pitchFamily="49" charset="0"/>
              </a:rPr>
              <a:t>labels</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recursive</a:t>
            </a:r>
            <a:r>
              <a:rPr lang="sk-SK" sz="1100" dirty="0">
                <a:latin typeface="Consolas" panose="020B0609020204030204" pitchFamily="49" charset="0"/>
              </a:rPr>
              <a:t> </a:t>
            </a:r>
            <a:r>
              <a:rPr lang="sk-SK" sz="1100" dirty="0" err="1">
                <a:latin typeface="Consolas" panose="020B0609020204030204" pitchFamily="49" charset="0"/>
              </a:rPr>
              <a:t>via</a:t>
            </a:r>
            <a:r>
              <a:rPr lang="sk-SK" sz="1100" dirty="0">
                <a:latin typeface="Consolas" panose="020B0609020204030204" pitchFamily="49" charset="0"/>
              </a:rPr>
              <a:t> 1.1.1.2 </a:t>
            </a:r>
            <a:r>
              <a:rPr lang="sk-SK" sz="1100" dirty="0" err="1">
                <a:latin typeface="Consolas" panose="020B0609020204030204" pitchFamily="49" charset="0"/>
              </a:rPr>
              <a:t>label</a:t>
            </a:r>
            <a:r>
              <a:rPr lang="sk-SK" sz="1100" dirty="0">
                <a:latin typeface="Consolas" panose="020B0609020204030204" pitchFamily="49" charset="0"/>
              </a:rPr>
              <a:t> </a:t>
            </a:r>
            <a:r>
              <a:rPr lang="sk-SK" sz="1100" dirty="0">
                <a:highlight>
                  <a:srgbClr val="00FFFF"/>
                </a:highlight>
                <a:latin typeface="Consolas" panose="020B0609020204030204" pitchFamily="49" charset="0"/>
              </a:rPr>
              <a:t>24010</a:t>
            </a:r>
          </a:p>
          <a:p>
            <a:r>
              <a:rPr lang="sk-SK" sz="1100" dirty="0">
                <a:latin typeface="Consolas" panose="020B0609020204030204" pitchFamily="49" charset="0"/>
              </a:rPr>
              <a:t>    </a:t>
            </a:r>
            <a:r>
              <a:rPr lang="sk-SK" sz="1100" dirty="0" err="1">
                <a:latin typeface="Consolas" panose="020B0609020204030204" pitchFamily="49" charset="0"/>
              </a:rPr>
              <a:t>nexthop</a:t>
            </a:r>
            <a:r>
              <a:rPr lang="sk-SK" sz="1100" dirty="0">
                <a:latin typeface="Consolas" panose="020B0609020204030204" pitchFamily="49" charset="0"/>
              </a:rPr>
              <a:t> 64.31.32.32 GigabitEthernet1 </a:t>
            </a:r>
            <a:r>
              <a:rPr lang="sk-SK" sz="1100" dirty="0" err="1">
                <a:latin typeface="Consolas" panose="020B0609020204030204" pitchFamily="49" charset="0"/>
              </a:rPr>
              <a:t>label</a:t>
            </a:r>
            <a:r>
              <a:rPr lang="sk-SK" sz="1100" dirty="0">
                <a:latin typeface="Consolas" panose="020B0609020204030204" pitchFamily="49" charset="0"/>
              </a:rPr>
              <a:t> </a:t>
            </a:r>
            <a:r>
              <a:rPr lang="sk-SK" sz="1100" dirty="0">
                <a:highlight>
                  <a:srgbClr val="FFFF00"/>
                </a:highlight>
                <a:latin typeface="Consolas" panose="020B0609020204030204" pitchFamily="49" charset="0"/>
              </a:rPr>
              <a:t>17</a:t>
            </a:r>
            <a:r>
              <a:rPr lang="sk-SK" sz="1100" dirty="0">
                <a:latin typeface="Consolas" panose="020B0609020204030204" pitchFamily="49" charset="0"/>
              </a:rPr>
              <a:t>-(local:17)</a:t>
            </a:r>
          </a:p>
          <a:p>
            <a:r>
              <a:rPr lang="sk-SK" sz="1100" dirty="0">
                <a:latin typeface="Consolas" panose="020B0609020204030204" pitchFamily="49" charset="0"/>
              </a:rPr>
              <a:t>R31#sh ip cef 1.1.1.2               </a:t>
            </a:r>
          </a:p>
          <a:p>
            <a:r>
              <a:rPr lang="sk-SK" sz="1100" dirty="0">
                <a:latin typeface="Consolas" panose="020B0609020204030204" pitchFamily="49" charset="0"/>
              </a:rPr>
              <a:t>1.1.1.2/32</a:t>
            </a:r>
          </a:p>
          <a:p>
            <a:r>
              <a:rPr lang="sk-SK" sz="1100" dirty="0">
                <a:latin typeface="Consolas" panose="020B0609020204030204" pitchFamily="49" charset="0"/>
              </a:rPr>
              <a:t>  </a:t>
            </a:r>
            <a:r>
              <a:rPr lang="sk-SK" sz="1100" dirty="0" err="1">
                <a:latin typeface="Consolas" panose="020B0609020204030204" pitchFamily="49" charset="0"/>
              </a:rPr>
              <a:t>nexthop</a:t>
            </a:r>
            <a:r>
              <a:rPr lang="sk-SK" sz="1100" dirty="0">
                <a:latin typeface="Consolas" panose="020B0609020204030204" pitchFamily="49" charset="0"/>
              </a:rPr>
              <a:t> 64.31.32.32 GigabitEthernet1 </a:t>
            </a:r>
            <a:r>
              <a:rPr lang="sk-SK" sz="1100" dirty="0" err="1">
                <a:latin typeface="Consolas" panose="020B0609020204030204" pitchFamily="49" charset="0"/>
              </a:rPr>
              <a:t>label</a:t>
            </a:r>
            <a:r>
              <a:rPr lang="sk-SK" sz="1100" dirty="0">
                <a:latin typeface="Consolas" panose="020B0609020204030204" pitchFamily="49" charset="0"/>
              </a:rPr>
              <a:t> </a:t>
            </a:r>
            <a:r>
              <a:rPr lang="sk-SK" sz="1100" dirty="0">
                <a:highlight>
                  <a:srgbClr val="FFFF00"/>
                </a:highlight>
                <a:latin typeface="Consolas" panose="020B0609020204030204" pitchFamily="49" charset="0"/>
              </a:rPr>
              <a:t>17</a:t>
            </a:r>
            <a:r>
              <a:rPr lang="sk-SK" sz="1100" dirty="0">
                <a:latin typeface="Consolas" panose="020B0609020204030204" pitchFamily="49" charset="0"/>
              </a:rPr>
              <a:t>-(local:17)</a:t>
            </a:r>
          </a:p>
          <a:p>
            <a:r>
              <a:rPr lang="sk-SK" sz="1100" dirty="0">
                <a:latin typeface="Consolas" panose="020B0609020204030204" pitchFamily="49" charset="0"/>
              </a:rPr>
              <a:t>R31#</a:t>
            </a:r>
          </a:p>
        </p:txBody>
      </p:sp>
    </p:spTree>
    <p:extLst>
      <p:ext uri="{BB962C8B-B14F-4D97-AF65-F5344CB8AC3E}">
        <p14:creationId xmlns:p14="http://schemas.microsoft.com/office/powerpoint/2010/main" val="1875968736"/>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MPLS to SRv6 (CE31 -&gt; CE21)  #R32</a:t>
            </a:r>
          </a:p>
        </p:txBody>
      </p:sp>
      <p:sp>
        <p:nvSpPr>
          <p:cNvPr id="4" name="Rectangle 3">
            <a:extLst>
              <a:ext uri="{FF2B5EF4-FFF2-40B4-BE49-F238E27FC236}">
                <a16:creationId xmlns:a16="http://schemas.microsoft.com/office/drawing/2014/main" id="{87D7CB37-5BEE-FF8F-7602-60627856E0E8}"/>
              </a:ext>
            </a:extLst>
          </p:cNvPr>
          <p:cNvSpPr/>
          <p:nvPr/>
        </p:nvSpPr>
        <p:spPr>
          <a:xfrm>
            <a:off x="155152" y="785478"/>
            <a:ext cx="6829307" cy="2800767"/>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R32#</a:t>
            </a:r>
            <a:r>
              <a:rPr lang="sk-SK" sz="1100" b="1" dirty="0">
                <a:latin typeface="Consolas" panose="020B0609020204030204" pitchFamily="49" charset="0"/>
              </a:rPr>
              <a:t>sh </a:t>
            </a:r>
            <a:r>
              <a:rPr lang="sk-SK" sz="1100" b="1" dirty="0" err="1">
                <a:latin typeface="Consolas" panose="020B0609020204030204" pitchFamily="49" charset="0"/>
              </a:rPr>
              <a:t>mpl</a:t>
            </a:r>
            <a:r>
              <a:rPr lang="sk-SK" sz="1100" b="1" dirty="0">
                <a:latin typeface="Consolas" panose="020B0609020204030204" pitchFamily="49" charset="0"/>
              </a:rPr>
              <a:t> </a:t>
            </a:r>
            <a:r>
              <a:rPr lang="sk-SK" sz="1100" b="1" dirty="0" err="1">
                <a:latin typeface="Consolas" panose="020B0609020204030204" pitchFamily="49" charset="0"/>
              </a:rPr>
              <a:t>forwarding</a:t>
            </a:r>
            <a:r>
              <a:rPr lang="sk-SK" sz="1100" b="1" dirty="0">
                <a:latin typeface="Consolas" panose="020B0609020204030204" pitchFamily="49" charset="0"/>
              </a:rPr>
              <a:t>-table </a:t>
            </a:r>
          </a:p>
          <a:p>
            <a:r>
              <a:rPr lang="sk-SK" sz="1100" dirty="0" err="1">
                <a:latin typeface="Consolas" panose="020B0609020204030204" pitchFamily="49" charset="0"/>
              </a:rPr>
              <a:t>Local</a:t>
            </a:r>
            <a:r>
              <a:rPr lang="sk-SK" sz="1100" dirty="0">
                <a:latin typeface="Consolas" panose="020B0609020204030204" pitchFamily="49" charset="0"/>
              </a:rPr>
              <a:t>      </a:t>
            </a:r>
            <a:r>
              <a:rPr lang="sk-SK" sz="1100" dirty="0" err="1">
                <a:latin typeface="Consolas" panose="020B0609020204030204" pitchFamily="49" charset="0"/>
              </a:rPr>
              <a:t>Outgoing</a:t>
            </a:r>
            <a:r>
              <a:rPr lang="sk-SK" sz="1100" dirty="0">
                <a:latin typeface="Consolas" panose="020B0609020204030204" pitchFamily="49" charset="0"/>
              </a:rPr>
              <a:t>   Prefix           </a:t>
            </a:r>
            <a:r>
              <a:rPr lang="sk-SK" sz="1100" dirty="0" err="1">
                <a:latin typeface="Consolas" panose="020B0609020204030204" pitchFamily="49" charset="0"/>
              </a:rPr>
              <a:t>Bytes</a:t>
            </a:r>
            <a:r>
              <a:rPr lang="sk-SK" sz="1100" dirty="0">
                <a:latin typeface="Consolas" panose="020B0609020204030204" pitchFamily="49" charset="0"/>
              </a:rPr>
              <a:t> </a:t>
            </a:r>
            <a:r>
              <a:rPr lang="sk-SK" sz="1100" dirty="0" err="1">
                <a:latin typeface="Consolas" panose="020B0609020204030204" pitchFamily="49" charset="0"/>
              </a:rPr>
              <a:t>Label</a:t>
            </a:r>
            <a:r>
              <a:rPr lang="sk-SK" sz="1100" dirty="0">
                <a:latin typeface="Consolas" panose="020B0609020204030204" pitchFamily="49" charset="0"/>
              </a:rPr>
              <a:t>   </a:t>
            </a:r>
            <a:r>
              <a:rPr lang="sk-SK" sz="1100" dirty="0" err="1">
                <a:latin typeface="Consolas" panose="020B0609020204030204" pitchFamily="49" charset="0"/>
              </a:rPr>
              <a:t>Outgoing</a:t>
            </a:r>
            <a:r>
              <a:rPr lang="sk-SK" sz="1100" dirty="0">
                <a:latin typeface="Consolas" panose="020B0609020204030204" pitchFamily="49" charset="0"/>
              </a:rPr>
              <a:t>   </a:t>
            </a:r>
            <a:r>
              <a:rPr lang="sk-SK" sz="1100" dirty="0" err="1">
                <a:latin typeface="Consolas" panose="020B0609020204030204" pitchFamily="49" charset="0"/>
              </a:rPr>
              <a:t>Next</a:t>
            </a:r>
            <a:r>
              <a:rPr lang="sk-SK" sz="1100" dirty="0">
                <a:latin typeface="Consolas" panose="020B0609020204030204" pitchFamily="49" charset="0"/>
              </a:rPr>
              <a:t> Hop    </a:t>
            </a:r>
          </a:p>
          <a:p>
            <a:r>
              <a:rPr lang="sk-SK" sz="1100" dirty="0" err="1">
                <a:latin typeface="Consolas" panose="020B0609020204030204" pitchFamily="49" charset="0"/>
              </a:rPr>
              <a:t>Label</a:t>
            </a:r>
            <a:r>
              <a:rPr lang="sk-SK" sz="1100" dirty="0">
                <a:latin typeface="Consolas" panose="020B0609020204030204" pitchFamily="49" charset="0"/>
              </a:rPr>
              <a:t>      </a:t>
            </a:r>
            <a:r>
              <a:rPr lang="sk-SK" sz="1100" dirty="0" err="1">
                <a:latin typeface="Consolas" panose="020B0609020204030204" pitchFamily="49" charset="0"/>
              </a:rPr>
              <a:t>Label</a:t>
            </a:r>
            <a:r>
              <a:rPr lang="sk-SK" sz="1100" dirty="0">
                <a:latin typeface="Consolas" panose="020B0609020204030204" pitchFamily="49" charset="0"/>
              </a:rPr>
              <a:t>      or </a:t>
            </a:r>
            <a:r>
              <a:rPr lang="sk-SK" sz="1100" dirty="0" err="1">
                <a:latin typeface="Consolas" panose="020B0609020204030204" pitchFamily="49" charset="0"/>
              </a:rPr>
              <a:t>Tunnel</a:t>
            </a:r>
            <a:r>
              <a:rPr lang="sk-SK" sz="1100" dirty="0">
                <a:latin typeface="Consolas" panose="020B0609020204030204" pitchFamily="49" charset="0"/>
              </a:rPr>
              <a:t> Id     </a:t>
            </a:r>
            <a:r>
              <a:rPr lang="sk-SK" sz="1100" dirty="0" err="1">
                <a:latin typeface="Consolas" panose="020B0609020204030204" pitchFamily="49" charset="0"/>
              </a:rPr>
              <a:t>Switched</a:t>
            </a:r>
            <a:r>
              <a:rPr lang="sk-SK" sz="1100" dirty="0">
                <a:latin typeface="Consolas" panose="020B0609020204030204" pitchFamily="49" charset="0"/>
              </a:rPr>
              <a:t>      interface              </a:t>
            </a:r>
          </a:p>
          <a:p>
            <a:r>
              <a:rPr lang="sk-SK" sz="1100" dirty="0">
                <a:latin typeface="Consolas" panose="020B0609020204030204" pitchFamily="49" charset="0"/>
              </a:rPr>
              <a:t>16         Pop </a:t>
            </a:r>
            <a:r>
              <a:rPr lang="sk-SK" sz="1100" dirty="0" err="1">
                <a:latin typeface="Consolas" panose="020B0609020204030204" pitchFamily="49" charset="0"/>
              </a:rPr>
              <a:t>Label</a:t>
            </a:r>
            <a:r>
              <a:rPr lang="sk-SK" sz="1100" dirty="0">
                <a:latin typeface="Consolas" panose="020B0609020204030204" pitchFamily="49" charset="0"/>
              </a:rPr>
              <a:t>  1.1.1.4/32       0             Gi5        64.4.32.4   </a:t>
            </a:r>
          </a:p>
          <a:p>
            <a:r>
              <a:rPr lang="sk-SK" sz="1100" dirty="0">
                <a:highlight>
                  <a:srgbClr val="FFFF00"/>
                </a:highlight>
                <a:latin typeface="Consolas" panose="020B0609020204030204" pitchFamily="49" charset="0"/>
              </a:rPr>
              <a:t>17         Pop </a:t>
            </a:r>
            <a:r>
              <a:rPr lang="sk-SK" sz="1100" dirty="0" err="1">
                <a:highlight>
                  <a:srgbClr val="FFFF00"/>
                </a:highlight>
                <a:latin typeface="Consolas" panose="020B0609020204030204" pitchFamily="49" charset="0"/>
              </a:rPr>
              <a:t>Label</a:t>
            </a:r>
            <a:r>
              <a:rPr lang="sk-SK" sz="1100" dirty="0">
                <a:highlight>
                  <a:srgbClr val="FFFF00"/>
                </a:highlight>
                <a:latin typeface="Consolas" panose="020B0609020204030204" pitchFamily="49" charset="0"/>
              </a:rPr>
              <a:t>  1.1.1.2/32       19987         Gi3        64.2.32.2   </a:t>
            </a:r>
          </a:p>
          <a:p>
            <a:r>
              <a:rPr lang="sk-SK" sz="1100" dirty="0">
                <a:latin typeface="Consolas" panose="020B0609020204030204" pitchFamily="49" charset="0"/>
              </a:rPr>
              <a:t>18         24007      1.1.1.12/32      0             Gi3        64.2.32.2   </a:t>
            </a:r>
          </a:p>
          <a:p>
            <a:r>
              <a:rPr lang="sk-SK" sz="1100" dirty="0">
                <a:latin typeface="Consolas" panose="020B0609020204030204" pitchFamily="49" charset="0"/>
              </a:rPr>
              <a:t>19         24000      1.1.1.3/32       0             Gi3        64.2.32.2   </a:t>
            </a:r>
          </a:p>
          <a:p>
            <a:r>
              <a:rPr lang="sk-SK" sz="1100" dirty="0">
                <a:latin typeface="Consolas" panose="020B0609020204030204" pitchFamily="49" charset="0"/>
              </a:rPr>
              <a:t>           24000      1.1.1.3/32       30701         Gi5        64.4.32.4   </a:t>
            </a:r>
          </a:p>
          <a:p>
            <a:r>
              <a:rPr lang="sk-SK" sz="1100" dirty="0">
                <a:latin typeface="Consolas" panose="020B0609020204030204" pitchFamily="49" charset="0"/>
              </a:rPr>
              <a:t>20         24013      1.1.1.23/32      0             Gi5        64.4.32.4   </a:t>
            </a:r>
          </a:p>
          <a:p>
            <a:r>
              <a:rPr lang="sk-SK" sz="1100" dirty="0">
                <a:latin typeface="Consolas" panose="020B0609020204030204" pitchFamily="49" charset="0"/>
              </a:rPr>
              <a:t>21         24002      1.1.1.1/32       0             Gi3        64.2.32.2   </a:t>
            </a:r>
          </a:p>
          <a:p>
            <a:r>
              <a:rPr lang="sk-SK" sz="1100" dirty="0">
                <a:latin typeface="Consolas" panose="020B0609020204030204" pitchFamily="49" charset="0"/>
              </a:rPr>
              <a:t>22         24003      1.1.1.13/32      0             Gi3        64.2.32.2   </a:t>
            </a:r>
          </a:p>
          <a:p>
            <a:r>
              <a:rPr lang="sk-SK" sz="1100" dirty="0">
                <a:latin typeface="Consolas" panose="020B0609020204030204" pitchFamily="49" charset="0"/>
              </a:rPr>
              <a:t>           24010      1.1.1.13/32      0             Gi5        64.4.32.4   </a:t>
            </a:r>
          </a:p>
          <a:p>
            <a:r>
              <a:rPr lang="sk-SK" sz="1100" dirty="0">
                <a:latin typeface="Consolas" panose="020B0609020204030204" pitchFamily="49" charset="0"/>
              </a:rPr>
              <a:t>23         24004      1.1.1.22/32      0             Gi3        64.2.32.2   </a:t>
            </a:r>
          </a:p>
          <a:p>
            <a:r>
              <a:rPr lang="sk-SK" sz="1100" dirty="0">
                <a:latin typeface="Consolas" panose="020B0609020204030204" pitchFamily="49" charset="0"/>
              </a:rPr>
              <a:t>24         24005      1.1.1.21/32      0             Gi3        64.2.32.2   </a:t>
            </a:r>
          </a:p>
          <a:p>
            <a:r>
              <a:rPr lang="sk-SK" sz="1100" dirty="0">
                <a:latin typeface="Consolas" panose="020B0609020204030204" pitchFamily="49" charset="0"/>
              </a:rPr>
              <a:t>25         Pop </a:t>
            </a:r>
            <a:r>
              <a:rPr lang="sk-SK" sz="1100" dirty="0" err="1">
                <a:latin typeface="Consolas" panose="020B0609020204030204" pitchFamily="49" charset="0"/>
              </a:rPr>
              <a:t>Label</a:t>
            </a:r>
            <a:r>
              <a:rPr lang="sk-SK" sz="1100" dirty="0">
                <a:latin typeface="Consolas" panose="020B0609020204030204" pitchFamily="49" charset="0"/>
              </a:rPr>
              <a:t>  1.1.1.31/32      50621         Gi1        64.31.32.31 </a:t>
            </a:r>
          </a:p>
          <a:p>
            <a:r>
              <a:rPr lang="sk-SK" sz="1100" dirty="0">
                <a:latin typeface="Consolas" panose="020B0609020204030204" pitchFamily="49" charset="0"/>
              </a:rPr>
              <a:t>R32#</a:t>
            </a:r>
            <a:endParaRPr lang="sk-SK" sz="11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1222334267"/>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MPLS to SRv6 (CE31 -&gt; CE21)  #R02</a:t>
            </a:r>
          </a:p>
        </p:txBody>
      </p:sp>
      <p:sp>
        <p:nvSpPr>
          <p:cNvPr id="4" name="Rectangle 3">
            <a:extLst>
              <a:ext uri="{FF2B5EF4-FFF2-40B4-BE49-F238E27FC236}">
                <a16:creationId xmlns:a16="http://schemas.microsoft.com/office/drawing/2014/main" id="{87D7CB37-5BEE-FF8F-7602-60627856E0E8}"/>
              </a:ext>
            </a:extLst>
          </p:cNvPr>
          <p:cNvSpPr/>
          <p:nvPr/>
        </p:nvSpPr>
        <p:spPr>
          <a:xfrm>
            <a:off x="0" y="679111"/>
            <a:ext cx="6096000" cy="6186309"/>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RP/0/RP0/CPU0:R02#</a:t>
            </a:r>
            <a:r>
              <a:rPr lang="sk-SK" sz="1100" b="1" dirty="0">
                <a:latin typeface="Consolas" panose="020B0609020204030204" pitchFamily="49" charset="0"/>
              </a:rPr>
              <a:t>sh bgp vrf A-GW 10.0.21.0/24 detail </a:t>
            </a:r>
          </a:p>
          <a:p>
            <a:r>
              <a:rPr lang="sk-SK" sz="1100" dirty="0">
                <a:latin typeface="Consolas" panose="020B0609020204030204" pitchFamily="49" charset="0"/>
              </a:rPr>
              <a:t>BGP routing table </a:t>
            </a:r>
            <a:r>
              <a:rPr lang="sk-SK" sz="1100" dirty="0" err="1">
                <a:latin typeface="Consolas" panose="020B0609020204030204" pitchFamily="49" charset="0"/>
              </a:rPr>
              <a:t>entry</a:t>
            </a:r>
            <a:r>
              <a:rPr lang="sk-SK" sz="1100" dirty="0">
                <a:latin typeface="Consolas" panose="020B0609020204030204" pitchFamily="49" charset="0"/>
              </a:rPr>
              <a:t> </a:t>
            </a:r>
            <a:r>
              <a:rPr lang="sk-SK" sz="1100" dirty="0" err="1">
                <a:latin typeface="Consolas" panose="020B0609020204030204" pitchFamily="49" charset="0"/>
              </a:rPr>
              <a:t>for</a:t>
            </a:r>
            <a:r>
              <a:rPr lang="sk-SK" sz="1100" dirty="0">
                <a:latin typeface="Consolas" panose="020B0609020204030204" pitchFamily="49" charset="0"/>
              </a:rPr>
              <a:t> 10.0.21.0/24, </a:t>
            </a:r>
            <a:r>
              <a:rPr lang="sk-SK" sz="1100" dirty="0" err="1">
                <a:latin typeface="Consolas" panose="020B0609020204030204" pitchFamily="49" charset="0"/>
              </a:rPr>
              <a:t>Route</a:t>
            </a:r>
            <a:r>
              <a:rPr lang="sk-SK" sz="1100" dirty="0">
                <a:latin typeface="Consolas" panose="020B0609020204030204" pitchFamily="49" charset="0"/>
              </a:rPr>
              <a:t> </a:t>
            </a:r>
            <a:r>
              <a:rPr lang="sk-SK" sz="1100" dirty="0" err="1">
                <a:latin typeface="Consolas" panose="020B0609020204030204" pitchFamily="49" charset="0"/>
              </a:rPr>
              <a:t>Distinguisher</a:t>
            </a:r>
            <a:r>
              <a:rPr lang="sk-SK" sz="1100" dirty="0">
                <a:latin typeface="Consolas" panose="020B0609020204030204" pitchFamily="49" charset="0"/>
              </a:rPr>
              <a:t>: 65000:2000</a:t>
            </a:r>
          </a:p>
          <a:p>
            <a:r>
              <a:rPr lang="sk-SK" sz="1100" dirty="0" err="1">
                <a:latin typeface="Consolas" panose="020B0609020204030204" pitchFamily="49" charset="0"/>
              </a:rPr>
              <a:t>Versions</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Process</a:t>
            </a:r>
            <a:r>
              <a:rPr lang="sk-SK" sz="1100" dirty="0">
                <a:latin typeface="Consolas" panose="020B0609020204030204" pitchFamily="49" charset="0"/>
              </a:rPr>
              <a:t>           </a:t>
            </a:r>
            <a:r>
              <a:rPr lang="sk-SK" sz="1100" dirty="0" err="1">
                <a:latin typeface="Consolas" panose="020B0609020204030204" pitchFamily="49" charset="0"/>
              </a:rPr>
              <a:t>bRIB</a:t>
            </a:r>
            <a:r>
              <a:rPr lang="sk-SK" sz="1100" dirty="0">
                <a:latin typeface="Consolas" panose="020B0609020204030204" pitchFamily="49" charset="0"/>
              </a:rPr>
              <a:t>/RIB  </a:t>
            </a:r>
            <a:r>
              <a:rPr lang="sk-SK" sz="1100" dirty="0" err="1">
                <a:latin typeface="Consolas" panose="020B0609020204030204" pitchFamily="49" charset="0"/>
              </a:rPr>
              <a:t>SendTblVer</a:t>
            </a:r>
            <a:endParaRPr lang="sk-SK" sz="1100" dirty="0">
              <a:latin typeface="Consolas" panose="020B0609020204030204" pitchFamily="49" charset="0"/>
            </a:endParaRPr>
          </a:p>
          <a:p>
            <a:r>
              <a:rPr lang="sk-SK" sz="1100" dirty="0">
                <a:latin typeface="Consolas" panose="020B0609020204030204" pitchFamily="49" charset="0"/>
              </a:rPr>
              <a:t>  Speaker                  85           85</a:t>
            </a:r>
          </a:p>
          <a:p>
            <a:r>
              <a:rPr lang="sk-SK" sz="1100" dirty="0">
                <a:latin typeface="Consolas" panose="020B0609020204030204" pitchFamily="49" charset="0"/>
              </a:rPr>
              <a:t>    </a:t>
            </a:r>
            <a:r>
              <a:rPr lang="sk-SK" sz="1100" dirty="0" err="1">
                <a:latin typeface="Consolas" panose="020B0609020204030204" pitchFamily="49" charset="0"/>
              </a:rPr>
              <a:t>Local</a:t>
            </a:r>
            <a:r>
              <a:rPr lang="sk-SK" sz="1100" dirty="0">
                <a:latin typeface="Consolas" panose="020B0609020204030204" pitchFamily="49" charset="0"/>
              </a:rPr>
              <a:t> </a:t>
            </a:r>
            <a:r>
              <a:rPr lang="sk-SK" sz="1100" dirty="0" err="1">
                <a:latin typeface="Consolas" panose="020B0609020204030204" pitchFamily="49" charset="0"/>
              </a:rPr>
              <a:t>Label</a:t>
            </a:r>
            <a:r>
              <a:rPr lang="sk-SK" sz="1100" dirty="0">
                <a:latin typeface="Consolas" panose="020B0609020204030204" pitchFamily="49" charset="0"/>
              </a:rPr>
              <a:t>: </a:t>
            </a:r>
            <a:r>
              <a:rPr lang="sk-SK" sz="1100" dirty="0">
                <a:highlight>
                  <a:srgbClr val="00FFFF"/>
                </a:highlight>
                <a:latin typeface="Consolas" panose="020B0609020204030204" pitchFamily="49" charset="0"/>
              </a:rPr>
              <a:t>24010</a:t>
            </a:r>
            <a:r>
              <a:rPr lang="sk-SK" sz="1100" dirty="0">
                <a:latin typeface="Consolas" panose="020B0609020204030204" pitchFamily="49" charset="0"/>
              </a:rPr>
              <a:t> (</a:t>
            </a:r>
            <a:r>
              <a:rPr lang="sk-SK" sz="1100" dirty="0" err="1">
                <a:latin typeface="Consolas" panose="020B0609020204030204" pitchFamily="49" charset="0"/>
              </a:rPr>
              <a:t>with</a:t>
            </a:r>
            <a:r>
              <a:rPr lang="sk-SK" sz="1100" dirty="0">
                <a:latin typeface="Consolas" panose="020B0609020204030204" pitchFamily="49" charset="0"/>
              </a:rPr>
              <a:t> </a:t>
            </a:r>
            <a:r>
              <a:rPr lang="sk-SK" sz="1100" dirty="0" err="1">
                <a:latin typeface="Consolas" panose="020B0609020204030204" pitchFamily="49" charset="0"/>
              </a:rPr>
              <a:t>rewrite</a:t>
            </a:r>
            <a:r>
              <a:rPr lang="sk-SK" sz="1100" dirty="0">
                <a:latin typeface="Consolas" panose="020B0609020204030204" pitchFamily="49" charset="0"/>
              </a:rPr>
              <a:t>); </a:t>
            </a:r>
          </a:p>
          <a:p>
            <a:r>
              <a:rPr lang="sk-SK" sz="1100" dirty="0">
                <a:latin typeface="Consolas" panose="020B0609020204030204" pitchFamily="49" charset="0"/>
              </a:rPr>
              <a:t>    SRv6-VPN SID: fc00:ab00:2:e008::/64</a:t>
            </a:r>
          </a:p>
          <a:p>
            <a:r>
              <a:rPr lang="sk-SK" sz="1100" dirty="0">
                <a:latin typeface="Consolas" panose="020B0609020204030204" pitchFamily="49" charset="0"/>
              </a:rPr>
              <a:t>    </a:t>
            </a:r>
            <a:r>
              <a:rPr lang="sk-SK" sz="1100" dirty="0" err="1">
                <a:latin typeface="Consolas" panose="020B0609020204030204" pitchFamily="49" charset="0"/>
              </a:rPr>
              <a:t>Flags</a:t>
            </a:r>
            <a:r>
              <a:rPr lang="sk-SK" sz="1100" dirty="0">
                <a:latin typeface="Consolas" panose="020B0609020204030204" pitchFamily="49" charset="0"/>
              </a:rPr>
              <a:t>: 0x01001001+0x01000000; </a:t>
            </a:r>
          </a:p>
          <a:p>
            <a:r>
              <a:rPr lang="sk-SK" sz="1100" dirty="0" err="1">
                <a:latin typeface="Consolas" panose="020B0609020204030204" pitchFamily="49" charset="0"/>
              </a:rPr>
              <a:t>Last</a:t>
            </a:r>
            <a:r>
              <a:rPr lang="sk-SK" sz="1100" dirty="0">
                <a:latin typeface="Consolas" panose="020B0609020204030204" pitchFamily="49" charset="0"/>
              </a:rPr>
              <a:t> </a:t>
            </a:r>
            <a:r>
              <a:rPr lang="sk-SK" sz="1100" dirty="0" err="1">
                <a:latin typeface="Consolas" panose="020B0609020204030204" pitchFamily="49" charset="0"/>
              </a:rPr>
              <a:t>Modified</a:t>
            </a:r>
            <a:r>
              <a:rPr lang="sk-SK" sz="1100" dirty="0">
                <a:latin typeface="Consolas" panose="020B0609020204030204" pitchFamily="49" charset="0"/>
              </a:rPr>
              <a:t>: Nov  1 15:30:55.875 </a:t>
            </a:r>
            <a:r>
              <a:rPr lang="sk-SK" sz="1100" dirty="0" err="1">
                <a:latin typeface="Consolas" panose="020B0609020204030204" pitchFamily="49" charset="0"/>
              </a:rPr>
              <a:t>for</a:t>
            </a:r>
            <a:r>
              <a:rPr lang="sk-SK" sz="1100" dirty="0">
                <a:latin typeface="Consolas" panose="020B0609020204030204" pitchFamily="49" charset="0"/>
              </a:rPr>
              <a:t> 02:51:04</a:t>
            </a:r>
          </a:p>
          <a:p>
            <a:r>
              <a:rPr lang="sk-SK" sz="1100" dirty="0" err="1">
                <a:latin typeface="Consolas" panose="020B0609020204030204" pitchFamily="49" charset="0"/>
              </a:rPr>
              <a:t>Paths</a:t>
            </a:r>
            <a:r>
              <a:rPr lang="sk-SK" sz="1100" dirty="0">
                <a:latin typeface="Consolas" panose="020B0609020204030204" pitchFamily="49" charset="0"/>
              </a:rPr>
              <a:t>: (1 </a:t>
            </a:r>
            <a:r>
              <a:rPr lang="sk-SK" sz="1100" dirty="0" err="1">
                <a:latin typeface="Consolas" panose="020B0609020204030204" pitchFamily="49" charset="0"/>
              </a:rPr>
              <a:t>available</a:t>
            </a:r>
            <a:r>
              <a:rPr lang="sk-SK" sz="1100" dirty="0">
                <a:latin typeface="Consolas" panose="020B0609020204030204" pitchFamily="49" charset="0"/>
              </a:rPr>
              <a:t>, </a:t>
            </a:r>
            <a:r>
              <a:rPr lang="sk-SK" sz="1100" dirty="0" err="1">
                <a:latin typeface="Consolas" panose="020B0609020204030204" pitchFamily="49" charset="0"/>
              </a:rPr>
              <a:t>best</a:t>
            </a:r>
            <a:r>
              <a:rPr lang="sk-SK" sz="1100" dirty="0">
                <a:latin typeface="Consolas" panose="020B0609020204030204" pitchFamily="49" charset="0"/>
              </a:rPr>
              <a:t> #1)</a:t>
            </a:r>
          </a:p>
          <a:p>
            <a:r>
              <a:rPr lang="sk-SK" sz="1100" dirty="0">
                <a:latin typeface="Consolas" panose="020B0609020204030204" pitchFamily="49" charset="0"/>
              </a:rPr>
              <a:t>  </a:t>
            </a:r>
            <a:r>
              <a:rPr lang="sk-SK" sz="1100" dirty="0" err="1">
                <a:latin typeface="Consolas" panose="020B0609020204030204" pitchFamily="49" charset="0"/>
              </a:rPr>
              <a:t>Advertised</a:t>
            </a:r>
            <a:r>
              <a:rPr lang="sk-SK" sz="1100" dirty="0">
                <a:latin typeface="Consolas" panose="020B0609020204030204" pitchFamily="49" charset="0"/>
              </a:rPr>
              <a:t> to PE </a:t>
            </a:r>
            <a:r>
              <a:rPr lang="sk-SK" sz="1100" dirty="0" err="1">
                <a:latin typeface="Consolas" panose="020B0609020204030204" pitchFamily="49" charset="0"/>
              </a:rPr>
              <a:t>peers</a:t>
            </a:r>
            <a:r>
              <a:rPr lang="sk-SK" sz="1100" dirty="0">
                <a:latin typeface="Consolas" panose="020B0609020204030204" pitchFamily="49" charset="0"/>
              </a:rPr>
              <a:t> (in </a:t>
            </a:r>
            <a:r>
              <a:rPr lang="sk-SK" sz="1100" dirty="0" err="1">
                <a:latin typeface="Consolas" panose="020B0609020204030204" pitchFamily="49" charset="0"/>
              </a:rPr>
              <a:t>unique</a:t>
            </a:r>
            <a:r>
              <a:rPr lang="sk-SK" sz="1100" dirty="0">
                <a:latin typeface="Consolas" panose="020B0609020204030204" pitchFamily="49" charset="0"/>
              </a:rPr>
              <a:t> update </a:t>
            </a:r>
            <a:r>
              <a:rPr lang="sk-SK" sz="1100" dirty="0" err="1">
                <a:latin typeface="Consolas" panose="020B0609020204030204" pitchFamily="49" charset="0"/>
              </a:rPr>
              <a:t>groups</a:t>
            </a:r>
            <a:r>
              <a:rPr lang="sk-SK" sz="1100" dirty="0">
                <a:latin typeface="Consolas" panose="020B0609020204030204" pitchFamily="49" charset="0"/>
              </a:rPr>
              <a:t>):</a:t>
            </a:r>
          </a:p>
          <a:p>
            <a:r>
              <a:rPr lang="sk-SK" sz="1100" dirty="0">
                <a:latin typeface="Consolas" panose="020B0609020204030204" pitchFamily="49" charset="0"/>
              </a:rPr>
              <a:t>    1.1.1.31        </a:t>
            </a:r>
          </a:p>
          <a:p>
            <a:r>
              <a:rPr lang="sk-SK" sz="1100" dirty="0">
                <a:latin typeface="Consolas" panose="020B0609020204030204" pitchFamily="49" charset="0"/>
              </a:rPr>
              <a:t>  </a:t>
            </a:r>
            <a:r>
              <a:rPr lang="sk-SK" sz="1100" dirty="0" err="1">
                <a:latin typeface="Consolas" panose="020B0609020204030204" pitchFamily="49" charset="0"/>
              </a:rPr>
              <a:t>Path</a:t>
            </a:r>
            <a:r>
              <a:rPr lang="sk-SK" sz="1100" dirty="0">
                <a:latin typeface="Consolas" panose="020B0609020204030204" pitchFamily="49" charset="0"/>
              </a:rPr>
              <a:t> #1: </a:t>
            </a:r>
            <a:r>
              <a:rPr lang="sk-SK" sz="1100" dirty="0" err="1">
                <a:latin typeface="Consolas" panose="020B0609020204030204" pitchFamily="49" charset="0"/>
              </a:rPr>
              <a:t>Received</a:t>
            </a:r>
            <a:r>
              <a:rPr lang="sk-SK" sz="1100" dirty="0">
                <a:latin typeface="Consolas" panose="020B0609020204030204" pitchFamily="49" charset="0"/>
              </a:rPr>
              <a:t> by speaker 0</a:t>
            </a:r>
          </a:p>
          <a:p>
            <a:r>
              <a:rPr lang="sk-SK" sz="1100" dirty="0">
                <a:latin typeface="Consolas" panose="020B0609020204030204" pitchFamily="49" charset="0"/>
              </a:rPr>
              <a:t>  </a:t>
            </a:r>
            <a:r>
              <a:rPr lang="sk-SK" sz="1100" dirty="0" err="1">
                <a:latin typeface="Consolas" panose="020B0609020204030204" pitchFamily="49" charset="0"/>
              </a:rPr>
              <a:t>Flags</a:t>
            </a:r>
            <a:r>
              <a:rPr lang="sk-SK" sz="1100" dirty="0">
                <a:latin typeface="Consolas" panose="020B0609020204030204" pitchFamily="49" charset="0"/>
              </a:rPr>
              <a:t>: 0x200060000d060205+0x00, import: 0x080</a:t>
            </a:r>
          </a:p>
          <a:p>
            <a:r>
              <a:rPr lang="sk-SK" sz="1100" dirty="0">
                <a:latin typeface="Consolas" panose="020B0609020204030204" pitchFamily="49" charset="0"/>
              </a:rPr>
              <a:t>  </a:t>
            </a:r>
            <a:r>
              <a:rPr lang="sk-SK" sz="1100" dirty="0" err="1">
                <a:latin typeface="Consolas" panose="020B0609020204030204" pitchFamily="49" charset="0"/>
              </a:rPr>
              <a:t>Advertised</a:t>
            </a:r>
            <a:r>
              <a:rPr lang="sk-SK" sz="1100" dirty="0">
                <a:latin typeface="Consolas" panose="020B0609020204030204" pitchFamily="49" charset="0"/>
              </a:rPr>
              <a:t> to PE </a:t>
            </a:r>
            <a:r>
              <a:rPr lang="sk-SK" sz="1100" dirty="0" err="1">
                <a:latin typeface="Consolas" panose="020B0609020204030204" pitchFamily="49" charset="0"/>
              </a:rPr>
              <a:t>peers</a:t>
            </a:r>
            <a:r>
              <a:rPr lang="sk-SK" sz="1100" dirty="0">
                <a:latin typeface="Consolas" panose="020B0609020204030204" pitchFamily="49" charset="0"/>
              </a:rPr>
              <a:t> (in </a:t>
            </a:r>
            <a:r>
              <a:rPr lang="sk-SK" sz="1100" dirty="0" err="1">
                <a:latin typeface="Consolas" panose="020B0609020204030204" pitchFamily="49" charset="0"/>
              </a:rPr>
              <a:t>unique</a:t>
            </a:r>
            <a:r>
              <a:rPr lang="sk-SK" sz="1100" dirty="0">
                <a:latin typeface="Consolas" panose="020B0609020204030204" pitchFamily="49" charset="0"/>
              </a:rPr>
              <a:t> update </a:t>
            </a:r>
            <a:r>
              <a:rPr lang="sk-SK" sz="1100" dirty="0" err="1">
                <a:latin typeface="Consolas" panose="020B0609020204030204" pitchFamily="49" charset="0"/>
              </a:rPr>
              <a:t>groups</a:t>
            </a:r>
            <a:r>
              <a:rPr lang="sk-SK" sz="1100" dirty="0">
                <a:latin typeface="Consolas" panose="020B0609020204030204" pitchFamily="49" charset="0"/>
              </a:rPr>
              <a:t>):</a:t>
            </a:r>
          </a:p>
          <a:p>
            <a:r>
              <a:rPr lang="sk-SK" sz="1100" dirty="0">
                <a:latin typeface="Consolas" panose="020B0609020204030204" pitchFamily="49" charset="0"/>
              </a:rPr>
              <a:t>    1.1.1.31        </a:t>
            </a:r>
          </a:p>
          <a:p>
            <a:r>
              <a:rPr lang="sk-SK" sz="1100" dirty="0">
                <a:latin typeface="Consolas" panose="020B0609020204030204" pitchFamily="49" charset="0"/>
              </a:rPr>
              <a:t>  65021, (</a:t>
            </a:r>
            <a:r>
              <a:rPr lang="sk-SK" sz="1100" dirty="0" err="1">
                <a:latin typeface="Consolas" panose="020B0609020204030204" pitchFamily="49" charset="0"/>
              </a:rPr>
              <a:t>Received</a:t>
            </a:r>
            <a:r>
              <a:rPr lang="sk-SK" sz="1100" dirty="0">
                <a:latin typeface="Consolas" panose="020B0609020204030204" pitchFamily="49" charset="0"/>
              </a:rPr>
              <a:t> </a:t>
            </a:r>
            <a:r>
              <a:rPr lang="sk-SK" sz="1100" dirty="0" err="1">
                <a:latin typeface="Consolas" panose="020B0609020204030204" pitchFamily="49" charset="0"/>
              </a:rPr>
              <a:t>from</a:t>
            </a:r>
            <a:r>
              <a:rPr lang="sk-SK" sz="1100" dirty="0">
                <a:latin typeface="Consolas" panose="020B0609020204030204" pitchFamily="49" charset="0"/>
              </a:rPr>
              <a:t> a RR-</a:t>
            </a:r>
            <a:r>
              <a:rPr lang="sk-SK" sz="1100" dirty="0" err="1">
                <a:latin typeface="Consolas" panose="020B0609020204030204" pitchFamily="49" charset="0"/>
              </a:rPr>
              <a:t>client</a:t>
            </a:r>
            <a:r>
              <a:rPr lang="sk-SK" sz="1100" dirty="0">
                <a:latin typeface="Consolas" panose="020B0609020204030204" pitchFamily="49" charset="0"/>
              </a:rPr>
              <a:t>)</a:t>
            </a:r>
          </a:p>
          <a:p>
            <a:r>
              <a:rPr lang="sk-SK" sz="1100" dirty="0">
                <a:latin typeface="Consolas" panose="020B0609020204030204" pitchFamily="49" charset="0"/>
              </a:rPr>
              <a:t>    2001:9999::21 (</a:t>
            </a:r>
            <a:r>
              <a:rPr lang="sk-SK" sz="1100" dirty="0" err="1">
                <a:latin typeface="Consolas" panose="020B0609020204030204" pitchFamily="49" charset="0"/>
              </a:rPr>
              <a:t>metric</a:t>
            </a:r>
            <a:r>
              <a:rPr lang="sk-SK" sz="1100" dirty="0">
                <a:latin typeface="Consolas" panose="020B0609020204030204" pitchFamily="49" charset="0"/>
              </a:rPr>
              <a:t> 30) </a:t>
            </a:r>
            <a:r>
              <a:rPr lang="sk-SK" sz="1100" dirty="0" err="1">
                <a:latin typeface="Consolas" panose="020B0609020204030204" pitchFamily="49" charset="0"/>
              </a:rPr>
              <a:t>from</a:t>
            </a:r>
            <a:r>
              <a:rPr lang="sk-SK" sz="1100" dirty="0">
                <a:latin typeface="Consolas" panose="020B0609020204030204" pitchFamily="49" charset="0"/>
              </a:rPr>
              <a:t> 2001:9999::3 (1.1.1.21), </a:t>
            </a:r>
            <a:r>
              <a:rPr lang="sk-SK" sz="1100" dirty="0" err="1">
                <a:latin typeface="Consolas" panose="020B0609020204030204" pitchFamily="49" charset="0"/>
              </a:rPr>
              <a:t>if-handle</a:t>
            </a:r>
            <a:r>
              <a:rPr lang="sk-SK" sz="1100" dirty="0">
                <a:latin typeface="Consolas" panose="020B0609020204030204" pitchFamily="49" charset="0"/>
              </a:rPr>
              <a:t> 0x00000000</a:t>
            </a:r>
          </a:p>
          <a:p>
            <a:r>
              <a:rPr lang="sk-SK" sz="1100" dirty="0">
                <a:latin typeface="Consolas" panose="020B0609020204030204" pitchFamily="49" charset="0"/>
              </a:rPr>
              <a:t>      </a:t>
            </a:r>
            <a:r>
              <a:rPr lang="sk-SK" sz="1100" dirty="0" err="1">
                <a:latin typeface="Consolas" panose="020B0609020204030204" pitchFamily="49" charset="0"/>
              </a:rPr>
              <a:t>Received</a:t>
            </a:r>
            <a:r>
              <a:rPr lang="sk-SK" sz="1100" dirty="0">
                <a:latin typeface="Consolas" panose="020B0609020204030204" pitchFamily="49" charset="0"/>
              </a:rPr>
              <a:t> </a:t>
            </a:r>
            <a:r>
              <a:rPr lang="sk-SK" sz="1100" dirty="0" err="1">
                <a:latin typeface="Consolas" panose="020B0609020204030204" pitchFamily="49" charset="0"/>
              </a:rPr>
              <a:t>Label</a:t>
            </a:r>
            <a:r>
              <a:rPr lang="sk-SK" sz="1100" dirty="0">
                <a:latin typeface="Consolas" panose="020B0609020204030204" pitchFamily="49" charset="0"/>
              </a:rPr>
              <a:t> </a:t>
            </a:r>
            <a:r>
              <a:rPr lang="sk-SK" sz="1100" dirty="0">
                <a:solidFill>
                  <a:schemeClr val="bg1"/>
                </a:solidFill>
                <a:highlight>
                  <a:srgbClr val="008000"/>
                </a:highlight>
                <a:latin typeface="Consolas" panose="020B0609020204030204" pitchFamily="49" charset="0"/>
              </a:rPr>
              <a:t>0xe0000</a:t>
            </a:r>
          </a:p>
          <a:p>
            <a:r>
              <a:rPr lang="sk-SK" sz="1100" dirty="0">
                <a:latin typeface="Consolas" panose="020B0609020204030204" pitchFamily="49" charset="0"/>
              </a:rPr>
              <a:t>      </a:t>
            </a:r>
            <a:r>
              <a:rPr lang="sk-SK" sz="1100" dirty="0" err="1">
                <a:latin typeface="Consolas" panose="020B0609020204030204" pitchFamily="49" charset="0"/>
              </a:rPr>
              <a:t>Origin</a:t>
            </a:r>
            <a:r>
              <a:rPr lang="sk-SK" sz="1100" dirty="0">
                <a:latin typeface="Consolas" panose="020B0609020204030204" pitchFamily="49" charset="0"/>
              </a:rPr>
              <a:t> IGP, </a:t>
            </a:r>
            <a:r>
              <a:rPr lang="sk-SK" sz="1100" dirty="0" err="1">
                <a:latin typeface="Consolas" panose="020B0609020204030204" pitchFamily="49" charset="0"/>
              </a:rPr>
              <a:t>metric</a:t>
            </a:r>
            <a:r>
              <a:rPr lang="sk-SK" sz="1100" dirty="0">
                <a:latin typeface="Consolas" panose="020B0609020204030204" pitchFamily="49" charset="0"/>
              </a:rPr>
              <a:t> 0, localpref 100, </a:t>
            </a:r>
            <a:r>
              <a:rPr lang="sk-SK" sz="1100" dirty="0" err="1">
                <a:latin typeface="Consolas" panose="020B0609020204030204" pitchFamily="49" charset="0"/>
              </a:rPr>
              <a:t>valid</a:t>
            </a:r>
            <a:r>
              <a:rPr lang="sk-SK" sz="1100" dirty="0">
                <a:latin typeface="Consolas" panose="020B0609020204030204" pitchFamily="49" charset="0"/>
              </a:rPr>
              <a:t>, </a:t>
            </a:r>
            <a:r>
              <a:rPr lang="sk-SK" sz="1100" dirty="0" err="1">
                <a:latin typeface="Consolas" panose="020B0609020204030204" pitchFamily="49" charset="0"/>
              </a:rPr>
              <a:t>internal</a:t>
            </a:r>
            <a:r>
              <a:rPr lang="sk-SK" sz="1100" dirty="0">
                <a:latin typeface="Consolas" panose="020B0609020204030204" pitchFamily="49" charset="0"/>
              </a:rPr>
              <a:t>, </a:t>
            </a:r>
            <a:r>
              <a:rPr lang="sk-SK" sz="1100" dirty="0" err="1">
                <a:latin typeface="Consolas" panose="020B0609020204030204" pitchFamily="49" charset="0"/>
              </a:rPr>
              <a:t>best</a:t>
            </a:r>
            <a:r>
              <a:rPr lang="sk-SK" sz="1100" dirty="0">
                <a:latin typeface="Consolas" panose="020B0609020204030204" pitchFamily="49" charset="0"/>
              </a:rPr>
              <a:t>, </a:t>
            </a:r>
            <a:r>
              <a:rPr lang="sk-SK" sz="1100" dirty="0" err="1">
                <a:latin typeface="Consolas" panose="020B0609020204030204" pitchFamily="49" charset="0"/>
              </a:rPr>
              <a:t>group-best</a:t>
            </a:r>
            <a:r>
              <a:rPr lang="sk-SK" sz="1100" dirty="0">
                <a:latin typeface="Consolas" panose="020B0609020204030204" pitchFamily="49" charset="0"/>
              </a:rPr>
              <a:t>, import-</a:t>
            </a:r>
            <a:r>
              <a:rPr lang="sk-SK" sz="1100" dirty="0" err="1">
                <a:latin typeface="Consolas" panose="020B0609020204030204" pitchFamily="49" charset="0"/>
              </a:rPr>
              <a:t>candidate</a:t>
            </a:r>
            <a:r>
              <a:rPr lang="sk-SK" sz="1100" dirty="0">
                <a:latin typeface="Consolas" panose="020B0609020204030204" pitchFamily="49" charset="0"/>
              </a:rPr>
              <a:t>, </a:t>
            </a:r>
            <a:r>
              <a:rPr lang="sk-SK" sz="1100" dirty="0" err="1">
                <a:latin typeface="Consolas" panose="020B0609020204030204" pitchFamily="49" charset="0"/>
              </a:rPr>
              <a:t>imported</a:t>
            </a:r>
            <a:r>
              <a:rPr lang="sk-SK" sz="1100" dirty="0">
                <a:latin typeface="Consolas" panose="020B0609020204030204" pitchFamily="49" charset="0"/>
              </a:rPr>
              <a:t>, </a:t>
            </a:r>
            <a:r>
              <a:rPr lang="sk-SK" sz="1100" dirty="0" err="1">
                <a:latin typeface="Consolas" panose="020B0609020204030204" pitchFamily="49" charset="0"/>
              </a:rPr>
              <a:t>reoriginated</a:t>
            </a:r>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Received</a:t>
            </a:r>
            <a:r>
              <a:rPr lang="sk-SK" sz="1100" dirty="0">
                <a:latin typeface="Consolas" panose="020B0609020204030204" pitchFamily="49" charset="0"/>
              </a:rPr>
              <a:t> </a:t>
            </a:r>
            <a:r>
              <a:rPr lang="sk-SK" sz="1100" dirty="0" err="1">
                <a:latin typeface="Consolas" panose="020B0609020204030204" pitchFamily="49" charset="0"/>
              </a:rPr>
              <a:t>Path</a:t>
            </a:r>
            <a:r>
              <a:rPr lang="sk-SK" sz="1100" dirty="0">
                <a:latin typeface="Consolas" panose="020B0609020204030204" pitchFamily="49" charset="0"/>
              </a:rPr>
              <a:t> ID 0, </a:t>
            </a:r>
            <a:r>
              <a:rPr lang="sk-SK" sz="1100" dirty="0" err="1">
                <a:latin typeface="Consolas" panose="020B0609020204030204" pitchFamily="49" charset="0"/>
              </a:rPr>
              <a:t>Local</a:t>
            </a:r>
            <a:r>
              <a:rPr lang="sk-SK" sz="1100" dirty="0">
                <a:latin typeface="Consolas" panose="020B0609020204030204" pitchFamily="49" charset="0"/>
              </a:rPr>
              <a:t> </a:t>
            </a:r>
            <a:r>
              <a:rPr lang="sk-SK" sz="1100" dirty="0" err="1">
                <a:latin typeface="Consolas" panose="020B0609020204030204" pitchFamily="49" charset="0"/>
              </a:rPr>
              <a:t>Path</a:t>
            </a:r>
            <a:r>
              <a:rPr lang="sk-SK" sz="1100" dirty="0">
                <a:latin typeface="Consolas" panose="020B0609020204030204" pitchFamily="49" charset="0"/>
              </a:rPr>
              <a:t> ID 1, </a:t>
            </a:r>
            <a:r>
              <a:rPr lang="sk-SK" sz="1100" dirty="0" err="1">
                <a:latin typeface="Consolas" panose="020B0609020204030204" pitchFamily="49" charset="0"/>
              </a:rPr>
              <a:t>version</a:t>
            </a:r>
            <a:r>
              <a:rPr lang="sk-SK" sz="1100" dirty="0">
                <a:latin typeface="Consolas" panose="020B0609020204030204" pitchFamily="49" charset="0"/>
              </a:rPr>
              <a:t> 85</a:t>
            </a:r>
          </a:p>
          <a:p>
            <a:r>
              <a:rPr lang="sk-SK" sz="1100" dirty="0">
                <a:latin typeface="Consolas" panose="020B0609020204030204" pitchFamily="49" charset="0"/>
              </a:rPr>
              <a:t>      </a:t>
            </a:r>
            <a:r>
              <a:rPr lang="sk-SK" sz="1100" dirty="0" err="1">
                <a:latin typeface="Consolas" panose="020B0609020204030204" pitchFamily="49" charset="0"/>
              </a:rPr>
              <a:t>Extended</a:t>
            </a:r>
            <a:r>
              <a:rPr lang="sk-SK" sz="1100" dirty="0">
                <a:latin typeface="Consolas" panose="020B0609020204030204" pitchFamily="49" charset="0"/>
              </a:rPr>
              <a:t> </a:t>
            </a:r>
            <a:r>
              <a:rPr lang="sk-SK" sz="1100" dirty="0" err="1">
                <a:latin typeface="Consolas" panose="020B0609020204030204" pitchFamily="49" charset="0"/>
              </a:rPr>
              <a:t>community</a:t>
            </a:r>
            <a:r>
              <a:rPr lang="sk-SK" sz="1100" dirty="0">
                <a:latin typeface="Consolas" panose="020B0609020204030204" pitchFamily="49" charset="0"/>
              </a:rPr>
              <a:t>: RT:65000:1 RT:65000:1001 </a:t>
            </a:r>
          </a:p>
          <a:p>
            <a:r>
              <a:rPr lang="sk-SK" sz="1100" dirty="0">
                <a:latin typeface="Consolas" panose="020B0609020204030204" pitchFamily="49" charset="0"/>
              </a:rPr>
              <a:t>      </a:t>
            </a:r>
            <a:r>
              <a:rPr lang="sk-SK" sz="1100" dirty="0" err="1">
                <a:latin typeface="Consolas" panose="020B0609020204030204" pitchFamily="49" charset="0"/>
              </a:rPr>
              <a:t>Originator</a:t>
            </a:r>
            <a:r>
              <a:rPr lang="sk-SK" sz="1100" dirty="0">
                <a:latin typeface="Consolas" panose="020B0609020204030204" pitchFamily="49" charset="0"/>
              </a:rPr>
              <a:t>: 1.1.1.21, </a:t>
            </a:r>
            <a:r>
              <a:rPr lang="sk-SK" sz="1100" dirty="0" err="1">
                <a:latin typeface="Consolas" panose="020B0609020204030204" pitchFamily="49" charset="0"/>
              </a:rPr>
              <a:t>Cluster</a:t>
            </a:r>
            <a:r>
              <a:rPr lang="sk-SK" sz="1100" dirty="0">
                <a:latin typeface="Consolas" panose="020B0609020204030204" pitchFamily="49" charset="0"/>
              </a:rPr>
              <a:t> list: 0.0.0.100</a:t>
            </a:r>
          </a:p>
          <a:p>
            <a:r>
              <a:rPr lang="sk-SK" sz="1100" dirty="0">
                <a:latin typeface="Consolas" panose="020B0609020204030204" pitchFamily="49" charset="0"/>
              </a:rPr>
              <a:t>      PSID-Type:L3, </a:t>
            </a:r>
            <a:r>
              <a:rPr lang="sk-SK" sz="1100" dirty="0" err="1">
                <a:latin typeface="Consolas" panose="020B0609020204030204" pitchFamily="49" charset="0"/>
              </a:rPr>
              <a:t>SubTLV</a:t>
            </a:r>
            <a:r>
              <a:rPr lang="sk-SK" sz="1100" dirty="0">
                <a:latin typeface="Consolas" panose="020B0609020204030204" pitchFamily="49" charset="0"/>
              </a:rPr>
              <a:t> Count:1, R:0x00,</a:t>
            </a:r>
          </a:p>
          <a:p>
            <a:r>
              <a:rPr lang="sk-SK" sz="1100" dirty="0">
                <a:latin typeface="Consolas" panose="020B0609020204030204" pitchFamily="49" charset="0"/>
              </a:rPr>
              <a:t>       </a:t>
            </a:r>
            <a:r>
              <a:rPr lang="sk-SK" sz="1100" dirty="0" err="1">
                <a:latin typeface="Consolas" panose="020B0609020204030204" pitchFamily="49" charset="0"/>
              </a:rPr>
              <a:t>SubTLV</a:t>
            </a:r>
            <a:r>
              <a:rPr lang="sk-SK" sz="1100" dirty="0">
                <a:latin typeface="Consolas" panose="020B0609020204030204" pitchFamily="49" charset="0"/>
              </a:rPr>
              <a:t>:</a:t>
            </a:r>
          </a:p>
          <a:p>
            <a:r>
              <a:rPr lang="sk-SK" sz="1100" dirty="0">
                <a:latin typeface="Consolas" panose="020B0609020204030204" pitchFamily="49" charset="0"/>
              </a:rPr>
              <a:t>        T:1(Sid </a:t>
            </a:r>
            <a:r>
              <a:rPr lang="sk-SK" sz="1100" dirty="0" err="1">
                <a:latin typeface="Consolas" panose="020B0609020204030204" pitchFamily="49" charset="0"/>
              </a:rPr>
              <a:t>information</a:t>
            </a:r>
            <a:r>
              <a:rPr lang="sk-SK" sz="1100" dirty="0">
                <a:latin typeface="Consolas" panose="020B0609020204030204" pitchFamily="49" charset="0"/>
              </a:rPr>
              <a:t>), </a:t>
            </a:r>
            <a:r>
              <a:rPr lang="sk-SK" sz="1100" dirty="0" err="1">
                <a:latin typeface="Consolas" panose="020B0609020204030204" pitchFamily="49" charset="0"/>
              </a:rPr>
              <a:t>Sid:</a:t>
            </a:r>
            <a:r>
              <a:rPr lang="sk-SK" sz="1100" dirty="0" err="1">
                <a:solidFill>
                  <a:schemeClr val="bg1"/>
                </a:solidFill>
                <a:highlight>
                  <a:srgbClr val="008000"/>
                </a:highlight>
                <a:latin typeface="Consolas" panose="020B0609020204030204" pitchFamily="49" charset="0"/>
              </a:rPr>
              <a:t>fc00:ab00:21</a:t>
            </a:r>
            <a:r>
              <a:rPr lang="sk-SK" sz="1100" dirty="0">
                <a:solidFill>
                  <a:schemeClr val="bg1"/>
                </a:solidFill>
                <a:highlight>
                  <a:srgbClr val="008000"/>
                </a:highlight>
                <a:latin typeface="Consolas" panose="020B0609020204030204" pitchFamily="49" charset="0"/>
              </a:rPr>
              <a:t>::</a:t>
            </a:r>
            <a:r>
              <a:rPr lang="sk-SK" sz="1100" dirty="0">
                <a:latin typeface="Consolas" panose="020B0609020204030204" pitchFamily="49" charset="0"/>
              </a:rPr>
              <a:t>, F:0x00, R2:0x00, Behavior:63, R3:0x00, SS-TLV Count:1</a:t>
            </a:r>
          </a:p>
          <a:p>
            <a:r>
              <a:rPr lang="sk-SK" sz="1100" dirty="0">
                <a:latin typeface="Consolas" panose="020B0609020204030204" pitchFamily="49" charset="0"/>
              </a:rPr>
              <a:t>         </a:t>
            </a:r>
            <a:r>
              <a:rPr lang="sk-SK" sz="1100" dirty="0" err="1">
                <a:latin typeface="Consolas" panose="020B0609020204030204" pitchFamily="49" charset="0"/>
              </a:rPr>
              <a:t>SubSubTLV</a:t>
            </a:r>
            <a:r>
              <a:rPr lang="sk-SK" sz="1100" dirty="0">
                <a:latin typeface="Consolas" panose="020B0609020204030204" pitchFamily="49" charset="0"/>
              </a:rPr>
              <a:t>:</a:t>
            </a:r>
          </a:p>
          <a:p>
            <a:r>
              <a:rPr lang="sk-SK" sz="1100" dirty="0">
                <a:latin typeface="Consolas" panose="020B0609020204030204" pitchFamily="49" charset="0"/>
              </a:rPr>
              <a:t>          T:1(Sid </a:t>
            </a:r>
            <a:r>
              <a:rPr lang="sk-SK" sz="1100" dirty="0" err="1">
                <a:latin typeface="Consolas" panose="020B0609020204030204" pitchFamily="49" charset="0"/>
              </a:rPr>
              <a:t>structure</a:t>
            </a:r>
            <a:r>
              <a:rPr lang="sk-SK" sz="1100" dirty="0">
                <a:latin typeface="Consolas" panose="020B0609020204030204" pitchFamily="49" charset="0"/>
              </a:rPr>
              <a:t>):</a:t>
            </a:r>
          </a:p>
          <a:p>
            <a:r>
              <a:rPr lang="sk-SK" sz="1100" dirty="0">
                <a:latin typeface="Consolas" panose="020B0609020204030204" pitchFamily="49" charset="0"/>
              </a:rPr>
              <a:t>           </a:t>
            </a:r>
            <a:r>
              <a:rPr lang="sk-SK" sz="1100" dirty="0" err="1">
                <a:latin typeface="Consolas" panose="020B0609020204030204" pitchFamily="49" charset="0"/>
              </a:rPr>
              <a:t>Length</a:t>
            </a:r>
            <a:r>
              <a:rPr lang="sk-SK" sz="1100" dirty="0">
                <a:latin typeface="Consolas" panose="020B0609020204030204" pitchFamily="49" charset="0"/>
              </a:rPr>
              <a:t> [</a:t>
            </a:r>
            <a:r>
              <a:rPr lang="sk-SK" sz="1100" dirty="0" err="1">
                <a:latin typeface="Consolas" panose="020B0609020204030204" pitchFamily="49" charset="0"/>
              </a:rPr>
              <a:t>Loc-blk,Loc-node,Func,Arg</a:t>
            </a:r>
            <a:r>
              <a:rPr lang="sk-SK" sz="1100" dirty="0">
                <a:latin typeface="Consolas" panose="020B0609020204030204" pitchFamily="49" charset="0"/>
              </a:rPr>
              <a:t>]:[32,16,16,0], Tpose-len:16, Tpose-offset:48</a:t>
            </a:r>
          </a:p>
          <a:p>
            <a:r>
              <a:rPr lang="sk-SK" sz="1100" dirty="0">
                <a:latin typeface="Consolas" panose="020B0609020204030204" pitchFamily="49" charset="0"/>
              </a:rPr>
              <a:t>      </a:t>
            </a:r>
            <a:r>
              <a:rPr lang="sk-SK" sz="1100" dirty="0" err="1">
                <a:latin typeface="Consolas" panose="020B0609020204030204" pitchFamily="49" charset="0"/>
              </a:rPr>
              <a:t>Source</a:t>
            </a:r>
            <a:r>
              <a:rPr lang="sk-SK" sz="1100" dirty="0">
                <a:latin typeface="Consolas" panose="020B0609020204030204" pitchFamily="49" charset="0"/>
              </a:rPr>
              <a:t> AFI: VPNv4 </a:t>
            </a:r>
            <a:r>
              <a:rPr lang="sk-SK" sz="1100" dirty="0" err="1">
                <a:latin typeface="Consolas" panose="020B0609020204030204" pitchFamily="49" charset="0"/>
              </a:rPr>
              <a:t>Unicast</a:t>
            </a:r>
            <a:r>
              <a:rPr lang="sk-SK" sz="1100" dirty="0">
                <a:latin typeface="Consolas" panose="020B0609020204030204" pitchFamily="49" charset="0"/>
              </a:rPr>
              <a:t>, </a:t>
            </a:r>
            <a:r>
              <a:rPr lang="sk-SK" sz="1100" dirty="0" err="1">
                <a:latin typeface="Consolas" panose="020B0609020204030204" pitchFamily="49" charset="0"/>
              </a:rPr>
              <a:t>Source</a:t>
            </a:r>
            <a:r>
              <a:rPr lang="sk-SK" sz="1100" dirty="0">
                <a:latin typeface="Consolas" panose="020B0609020204030204" pitchFamily="49" charset="0"/>
              </a:rPr>
              <a:t> VRF: default, </a:t>
            </a:r>
            <a:r>
              <a:rPr lang="sk-SK" sz="1100" dirty="0" err="1">
                <a:latin typeface="Consolas" panose="020B0609020204030204" pitchFamily="49" charset="0"/>
              </a:rPr>
              <a:t>Source</a:t>
            </a:r>
            <a:r>
              <a:rPr lang="sk-SK" sz="1100" dirty="0">
                <a:latin typeface="Consolas" panose="020B0609020204030204" pitchFamily="49" charset="0"/>
              </a:rPr>
              <a:t> </a:t>
            </a:r>
            <a:r>
              <a:rPr lang="sk-SK" sz="1100" dirty="0" err="1">
                <a:latin typeface="Consolas" panose="020B0609020204030204" pitchFamily="49" charset="0"/>
              </a:rPr>
              <a:t>Route</a:t>
            </a:r>
            <a:r>
              <a:rPr lang="sk-SK" sz="1100" dirty="0">
                <a:latin typeface="Consolas" panose="020B0609020204030204" pitchFamily="49" charset="0"/>
              </a:rPr>
              <a:t> </a:t>
            </a:r>
            <a:r>
              <a:rPr lang="sk-SK" sz="1100" dirty="0" err="1">
                <a:latin typeface="Consolas" panose="020B0609020204030204" pitchFamily="49" charset="0"/>
              </a:rPr>
              <a:t>Distinguisher</a:t>
            </a:r>
            <a:r>
              <a:rPr lang="sk-SK" sz="1100" dirty="0">
                <a:latin typeface="Consolas" panose="020B0609020204030204" pitchFamily="49" charset="0"/>
              </a:rPr>
              <a:t>: 65000:1</a:t>
            </a:r>
          </a:p>
          <a:p>
            <a:r>
              <a:rPr lang="sk-SK" sz="1100" dirty="0">
                <a:latin typeface="Consolas" panose="020B0609020204030204" pitchFamily="49" charset="0"/>
              </a:rPr>
              <a:t>RP/0/RP0/CPU0:R02#</a:t>
            </a:r>
            <a:endParaRPr lang="en-US" sz="1100" dirty="0">
              <a:solidFill>
                <a:srgbClr val="FF0000"/>
              </a:solidFill>
              <a:latin typeface="Consolas" panose="020B0609020204030204" pitchFamily="49" charset="0"/>
            </a:endParaRPr>
          </a:p>
        </p:txBody>
      </p:sp>
      <p:sp>
        <p:nvSpPr>
          <p:cNvPr id="2" name="Rectangle 1">
            <a:extLst>
              <a:ext uri="{FF2B5EF4-FFF2-40B4-BE49-F238E27FC236}">
                <a16:creationId xmlns:a16="http://schemas.microsoft.com/office/drawing/2014/main" id="{DFAA9F38-5D85-A11C-5990-66F981A3EFA7}"/>
              </a:ext>
            </a:extLst>
          </p:cNvPr>
          <p:cNvSpPr/>
          <p:nvPr/>
        </p:nvSpPr>
        <p:spPr>
          <a:xfrm>
            <a:off x="6188149" y="827967"/>
            <a:ext cx="5907774" cy="6017032"/>
          </a:xfrm>
          <a:prstGeom prst="rect">
            <a:avLst/>
          </a:prstGeom>
          <a:solidFill>
            <a:schemeClr val="bg1">
              <a:lumMod val="95000"/>
            </a:schemeClr>
          </a:solidFill>
          <a:ln>
            <a:solidFill>
              <a:schemeClr val="tx1"/>
            </a:solidFill>
          </a:ln>
          <a:effectLst/>
        </p:spPr>
        <p:txBody>
          <a:bodyPr wrap="square">
            <a:spAutoFit/>
          </a:bodyPr>
          <a:lstStyle/>
          <a:p>
            <a:r>
              <a:rPr lang="sk-SK" sz="1100" b="1" dirty="0">
                <a:latin typeface="Consolas" panose="020B0609020204030204" pitchFamily="49" charset="0"/>
              </a:rPr>
              <a:t>RP/0/RP0/CPU0:R02#sh mpls </a:t>
            </a:r>
            <a:r>
              <a:rPr lang="sk-SK" sz="1100" b="1" dirty="0" err="1">
                <a:latin typeface="Consolas" panose="020B0609020204030204" pitchFamily="49" charset="0"/>
              </a:rPr>
              <a:t>forwarding</a:t>
            </a:r>
            <a:r>
              <a:rPr lang="sk-SK" sz="1100" b="1" dirty="0">
                <a:latin typeface="Consolas" panose="020B0609020204030204" pitchFamily="49" charset="0"/>
              </a:rPr>
              <a:t> </a:t>
            </a:r>
          </a:p>
          <a:p>
            <a:r>
              <a:rPr lang="sk-SK" sz="1100" dirty="0" err="1">
                <a:latin typeface="Consolas" panose="020B0609020204030204" pitchFamily="49" charset="0"/>
              </a:rPr>
              <a:t>Local</a:t>
            </a:r>
            <a:r>
              <a:rPr lang="sk-SK" sz="1100" dirty="0">
                <a:latin typeface="Consolas" panose="020B0609020204030204" pitchFamily="49" charset="0"/>
              </a:rPr>
              <a:t>  </a:t>
            </a:r>
            <a:r>
              <a:rPr lang="sk-SK" sz="1100" dirty="0" err="1">
                <a:latin typeface="Consolas" panose="020B0609020204030204" pitchFamily="49" charset="0"/>
              </a:rPr>
              <a:t>Outgoing</a:t>
            </a:r>
            <a:r>
              <a:rPr lang="sk-SK" sz="1100" dirty="0">
                <a:latin typeface="Consolas" panose="020B0609020204030204" pitchFamily="49" charset="0"/>
              </a:rPr>
              <a:t>    Prefix             </a:t>
            </a:r>
            <a:r>
              <a:rPr lang="sk-SK" sz="1100" dirty="0" err="1">
                <a:latin typeface="Consolas" panose="020B0609020204030204" pitchFamily="49" charset="0"/>
              </a:rPr>
              <a:t>Outgoing</a:t>
            </a:r>
            <a:r>
              <a:rPr lang="sk-SK" sz="1100" dirty="0">
                <a:latin typeface="Consolas" panose="020B0609020204030204" pitchFamily="49" charset="0"/>
              </a:rPr>
              <a:t>     </a:t>
            </a:r>
            <a:r>
              <a:rPr lang="sk-SK" sz="1100" dirty="0" err="1">
                <a:latin typeface="Consolas" panose="020B0609020204030204" pitchFamily="49" charset="0"/>
              </a:rPr>
              <a:t>Next</a:t>
            </a:r>
            <a:r>
              <a:rPr lang="sk-SK" sz="1100" dirty="0">
                <a:latin typeface="Consolas" panose="020B0609020204030204" pitchFamily="49" charset="0"/>
              </a:rPr>
              <a:t> Hop        </a:t>
            </a:r>
            <a:r>
              <a:rPr lang="sk-SK" sz="1100" dirty="0" err="1">
                <a:latin typeface="Consolas" panose="020B0609020204030204" pitchFamily="49" charset="0"/>
              </a:rPr>
              <a:t>Bytes</a:t>
            </a:r>
            <a:r>
              <a:rPr lang="sk-SK" sz="1100" dirty="0">
                <a:latin typeface="Consolas" panose="020B0609020204030204" pitchFamily="49" charset="0"/>
              </a:rPr>
              <a:t>       </a:t>
            </a:r>
          </a:p>
          <a:p>
            <a:r>
              <a:rPr lang="sk-SK" sz="1100" dirty="0" err="1">
                <a:latin typeface="Consolas" panose="020B0609020204030204" pitchFamily="49" charset="0"/>
              </a:rPr>
              <a:t>Label</a:t>
            </a:r>
            <a:r>
              <a:rPr lang="sk-SK" sz="1100" dirty="0">
                <a:latin typeface="Consolas" panose="020B0609020204030204" pitchFamily="49" charset="0"/>
              </a:rPr>
              <a:t>  </a:t>
            </a:r>
            <a:r>
              <a:rPr lang="sk-SK" sz="1100" dirty="0" err="1">
                <a:latin typeface="Consolas" panose="020B0609020204030204" pitchFamily="49" charset="0"/>
              </a:rPr>
              <a:t>Label</a:t>
            </a:r>
            <a:r>
              <a:rPr lang="sk-SK" sz="1100" dirty="0">
                <a:latin typeface="Consolas" panose="020B0609020204030204" pitchFamily="49" charset="0"/>
              </a:rPr>
              <a:t>       or ID              Interface                    </a:t>
            </a:r>
            <a:r>
              <a:rPr lang="sk-SK" sz="1100" dirty="0" err="1">
                <a:latin typeface="Consolas" panose="020B0609020204030204" pitchFamily="49" charset="0"/>
              </a:rPr>
              <a:t>Switched</a:t>
            </a:r>
            <a:r>
              <a:rPr lang="sk-SK" sz="1100" dirty="0">
                <a:latin typeface="Consolas" panose="020B0609020204030204" pitchFamily="49" charset="0"/>
              </a:rPr>
              <a:t>    </a:t>
            </a:r>
          </a:p>
          <a:p>
            <a:r>
              <a:rPr lang="sk-SK" sz="1100" dirty="0">
                <a:latin typeface="Consolas" panose="020B0609020204030204" pitchFamily="49" charset="0"/>
              </a:rPr>
              <a:t>------ ----------- ------------------ ------------ --------------- --------</a:t>
            </a:r>
          </a:p>
          <a:p>
            <a:r>
              <a:rPr lang="sk-SK" sz="1100" dirty="0">
                <a:latin typeface="Consolas" panose="020B0609020204030204" pitchFamily="49" charset="0"/>
              </a:rPr>
              <a:t>24000  Pop         1.1.1.3/32         Gi0/0/0/2    64.2.3.3        6998465     </a:t>
            </a:r>
          </a:p>
          <a:p>
            <a:r>
              <a:rPr lang="sk-SK" sz="1100" dirty="0">
                <a:latin typeface="Consolas" panose="020B0609020204030204" pitchFamily="49" charset="0"/>
              </a:rPr>
              <a:t>24001  Pop         1.1.1.4/32         Gi0/0/0/4    64.2.4.4        1830684     </a:t>
            </a:r>
          </a:p>
          <a:p>
            <a:r>
              <a:rPr lang="sk-SK" sz="1100" dirty="0">
                <a:latin typeface="Consolas" panose="020B0609020204030204" pitchFamily="49" charset="0"/>
              </a:rPr>
              <a:t>24002  Pop         1.1.1.1/32         Gi0/0/0/0    64.1.2.1        4781829     </a:t>
            </a:r>
          </a:p>
          <a:p>
            <a:r>
              <a:rPr lang="sk-SK" sz="1100" dirty="0">
                <a:latin typeface="Consolas" panose="020B0609020204030204" pitchFamily="49" charset="0"/>
              </a:rPr>
              <a:t>24003  24003       1.1.1.13/32        Gi0/0/0/2    64.2.3.3        553         </a:t>
            </a:r>
          </a:p>
          <a:p>
            <a:r>
              <a:rPr lang="sk-SK" sz="1100" dirty="0">
                <a:latin typeface="Consolas" panose="020B0609020204030204" pitchFamily="49" charset="0"/>
              </a:rPr>
              <a:t>       24004       1.1.1.13/32        Gi0/0/0/1    64.2.12.12      517         </a:t>
            </a:r>
          </a:p>
          <a:p>
            <a:r>
              <a:rPr lang="sk-SK" sz="1100" dirty="0">
                <a:latin typeface="Consolas" panose="020B0609020204030204" pitchFamily="49" charset="0"/>
              </a:rPr>
              <a:t>24004  24006       1.1.1.22/32        Gi0/0/0/1    64.2.12.12      561         </a:t>
            </a:r>
          </a:p>
          <a:p>
            <a:r>
              <a:rPr lang="sk-SK" sz="1100" dirty="0">
                <a:latin typeface="Consolas" panose="020B0609020204030204" pitchFamily="49" charset="0"/>
              </a:rPr>
              <a:t>24005  24007       1.1.1.21/32        Gi0/0/0/1    64.2.12.12      1928832     </a:t>
            </a:r>
          </a:p>
          <a:p>
            <a:r>
              <a:rPr lang="sk-SK" sz="1100" dirty="0">
                <a:latin typeface="Consolas" panose="020B0609020204030204" pitchFamily="49" charset="0"/>
              </a:rPr>
              <a:t>24006  24013       1.1.1.23/32        Gi0/0/0/4    64.2.4.4        0           </a:t>
            </a:r>
          </a:p>
          <a:p>
            <a:r>
              <a:rPr lang="sk-SK" sz="1100" dirty="0">
                <a:latin typeface="Consolas" panose="020B0609020204030204" pitchFamily="49" charset="0"/>
              </a:rPr>
              <a:t>24007  Pop         1.1.1.12/32        Gi0/0/0/1    64.2.12.12      2192862     </a:t>
            </a:r>
          </a:p>
          <a:p>
            <a:r>
              <a:rPr lang="sk-SK" sz="1100" dirty="0">
                <a:latin typeface="Consolas" panose="020B0609020204030204" pitchFamily="49" charset="0"/>
              </a:rPr>
              <a:t>24008  Pop         1.1.1.32/32        Gi0/0/0/3    64.2.32.32      17032       </a:t>
            </a:r>
          </a:p>
          <a:p>
            <a:r>
              <a:rPr lang="sk-SK" sz="1100" dirty="0">
                <a:latin typeface="Consolas" panose="020B0609020204030204" pitchFamily="49" charset="0"/>
              </a:rPr>
              <a:t>24009  25          1.1.1.31/32        Gi0/0/0/3    64.2.32.32      16052       </a:t>
            </a:r>
          </a:p>
          <a:p>
            <a:r>
              <a:rPr lang="sk-SK" sz="1100" dirty="0">
                <a:highlight>
                  <a:srgbClr val="00FFFF"/>
                </a:highlight>
                <a:latin typeface="Consolas" panose="020B0609020204030204" pitchFamily="49" charset="0"/>
              </a:rPr>
              <a:t>24010  </a:t>
            </a:r>
            <a:r>
              <a:rPr lang="sk-SK" sz="1100" dirty="0" err="1">
                <a:highlight>
                  <a:srgbClr val="00FFFF"/>
                </a:highlight>
                <a:latin typeface="Consolas" panose="020B0609020204030204" pitchFamily="49" charset="0"/>
              </a:rPr>
              <a:t>Aggregate</a:t>
            </a:r>
            <a:r>
              <a:rPr lang="sk-SK" sz="1100" dirty="0">
                <a:highlight>
                  <a:srgbClr val="00FFFF"/>
                </a:highlight>
                <a:latin typeface="Consolas" panose="020B0609020204030204" pitchFamily="49" charset="0"/>
              </a:rPr>
              <a:t>   A-GW: Per-VRF </a:t>
            </a:r>
            <a:r>
              <a:rPr lang="sk-SK" sz="1100" dirty="0" err="1">
                <a:highlight>
                  <a:srgbClr val="00FFFF"/>
                </a:highlight>
                <a:latin typeface="Consolas" panose="020B0609020204030204" pitchFamily="49" charset="0"/>
              </a:rPr>
              <a:t>Aggr</a:t>
            </a:r>
            <a:r>
              <a:rPr lang="sk-SK" sz="1100" dirty="0">
                <a:highlight>
                  <a:srgbClr val="00FFFF"/>
                </a:highlight>
                <a:latin typeface="Consolas" panose="020B0609020204030204" pitchFamily="49" charset="0"/>
              </a:rPr>
              <a:t>[V]   \</a:t>
            </a:r>
          </a:p>
          <a:p>
            <a:r>
              <a:rPr lang="sk-SK" sz="1100" dirty="0">
                <a:highlight>
                  <a:srgbClr val="00FFFF"/>
                </a:highlight>
                <a:latin typeface="Consolas" panose="020B0609020204030204" pitchFamily="49" charset="0"/>
              </a:rPr>
              <a:t>                                      A-GW                         3634</a:t>
            </a:r>
            <a:r>
              <a:rPr lang="sk-SK" sz="1100" dirty="0">
                <a:highlight>
                  <a:srgbClr val="FFFF00"/>
                </a:highlight>
                <a:latin typeface="Consolas" panose="020B0609020204030204" pitchFamily="49" charset="0"/>
              </a:rPr>
              <a:t>        </a:t>
            </a:r>
            <a:endParaRPr lang="en-US" sz="1100" dirty="0">
              <a:latin typeface="Consolas" panose="020B0609020204030204" pitchFamily="49" charset="0"/>
            </a:endParaRPr>
          </a:p>
          <a:p>
            <a:r>
              <a:rPr lang="sk-SK" sz="1100" dirty="0">
                <a:latin typeface="Consolas" panose="020B0609020204030204" pitchFamily="49" charset="0"/>
              </a:rPr>
              <a:t>RP/0/RP0/CPU0:R02#show mpls </a:t>
            </a:r>
            <a:r>
              <a:rPr lang="sk-SK" sz="1100" dirty="0" err="1">
                <a:latin typeface="Consolas" panose="020B0609020204030204" pitchFamily="49" charset="0"/>
              </a:rPr>
              <a:t>label</a:t>
            </a:r>
            <a:r>
              <a:rPr lang="sk-SK" sz="1100" dirty="0">
                <a:latin typeface="Consolas" panose="020B0609020204030204" pitchFamily="49" charset="0"/>
              </a:rPr>
              <a:t> table vrf </a:t>
            </a:r>
            <a:r>
              <a:rPr lang="en-US" sz="1100" dirty="0">
                <a:latin typeface="Consolas" panose="020B0609020204030204" pitchFamily="49" charset="0"/>
              </a:rPr>
              <a:t>all</a:t>
            </a:r>
            <a:endParaRPr lang="sk-SK" sz="1100" dirty="0">
              <a:latin typeface="Consolas" panose="020B0609020204030204" pitchFamily="49" charset="0"/>
            </a:endParaRPr>
          </a:p>
          <a:p>
            <a:r>
              <a:rPr lang="sk-SK" sz="1100" dirty="0">
                <a:latin typeface="Consolas" panose="020B0609020204030204" pitchFamily="49" charset="0"/>
              </a:rPr>
              <a:t>RSI </a:t>
            </a:r>
            <a:r>
              <a:rPr lang="sk-SK" sz="1100" dirty="0" err="1">
                <a:latin typeface="Consolas" panose="020B0609020204030204" pitchFamily="49" charset="0"/>
              </a:rPr>
              <a:t>connected</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Vrf </a:t>
            </a:r>
            <a:r>
              <a:rPr lang="sk-SK" sz="1100" dirty="0" err="1">
                <a:latin typeface="Consolas" panose="020B0609020204030204" pitchFamily="49" charset="0"/>
              </a:rPr>
              <a:t>Name</a:t>
            </a:r>
            <a:r>
              <a:rPr lang="sk-SK" sz="1100" dirty="0">
                <a:latin typeface="Consolas" panose="020B0609020204030204" pitchFamily="49" charset="0"/>
              </a:rPr>
              <a:t>: </a:t>
            </a:r>
            <a:r>
              <a:rPr lang="sk-SK" sz="1100" dirty="0" err="1">
                <a:latin typeface="Consolas" panose="020B0609020204030204" pitchFamily="49" charset="0"/>
              </a:rPr>
              <a:t>Multiple</a:t>
            </a:r>
            <a:r>
              <a:rPr lang="sk-SK" sz="1100" dirty="0">
                <a:latin typeface="Consolas" panose="020B0609020204030204" pitchFamily="49" charset="0"/>
              </a:rPr>
              <a:t> </a:t>
            </a:r>
            <a:r>
              <a:rPr lang="sk-SK" sz="1100" dirty="0" err="1">
                <a:latin typeface="Consolas" panose="020B0609020204030204" pitchFamily="49" charset="0"/>
              </a:rPr>
              <a:t>VRFs</a:t>
            </a:r>
            <a:r>
              <a:rPr lang="sk-SK" sz="1100" dirty="0">
                <a:latin typeface="Consolas" panose="020B0609020204030204" pitchFamily="49" charset="0"/>
              </a:rPr>
              <a:t> </a:t>
            </a:r>
            <a:r>
              <a:rPr lang="sk-SK" sz="1100" dirty="0" err="1">
                <a:latin typeface="Consolas" panose="020B0609020204030204" pitchFamily="49" charset="0"/>
              </a:rPr>
              <a:t>Shown</a:t>
            </a:r>
            <a:endParaRPr lang="sk-SK" sz="1100" dirty="0">
              <a:latin typeface="Consolas" panose="020B0609020204030204" pitchFamily="49" charset="0"/>
            </a:endParaRPr>
          </a:p>
          <a:p>
            <a:r>
              <a:rPr lang="sk-SK" sz="1100" dirty="0">
                <a:latin typeface="Consolas" panose="020B0609020204030204" pitchFamily="49" charset="0"/>
              </a:rPr>
              <a:t>Table </a:t>
            </a:r>
            <a:r>
              <a:rPr lang="sk-SK" sz="1100" dirty="0" err="1">
                <a:latin typeface="Consolas" panose="020B0609020204030204" pitchFamily="49" charset="0"/>
              </a:rPr>
              <a:t>Label</a:t>
            </a:r>
            <a:r>
              <a:rPr lang="sk-SK" sz="1100" dirty="0">
                <a:latin typeface="Consolas" panose="020B0609020204030204" pitchFamily="49" charset="0"/>
              </a:rPr>
              <a:t>   </a:t>
            </a:r>
            <a:r>
              <a:rPr lang="sk-SK" sz="1100" dirty="0" err="1">
                <a:latin typeface="Consolas" panose="020B0609020204030204" pitchFamily="49" charset="0"/>
              </a:rPr>
              <a:t>Owner</a:t>
            </a:r>
            <a:r>
              <a:rPr lang="sk-SK" sz="1100" dirty="0">
                <a:latin typeface="Consolas" panose="020B0609020204030204" pitchFamily="49" charset="0"/>
              </a:rPr>
              <a:t>                           State  </a:t>
            </a:r>
            <a:r>
              <a:rPr lang="sk-SK" sz="1100" dirty="0" err="1">
                <a:latin typeface="Consolas" panose="020B0609020204030204" pitchFamily="49" charset="0"/>
              </a:rPr>
              <a:t>Rewrite</a:t>
            </a:r>
            <a:endParaRPr lang="sk-SK" sz="1100" dirty="0">
              <a:latin typeface="Consolas" panose="020B0609020204030204" pitchFamily="49" charset="0"/>
            </a:endParaRPr>
          </a:p>
          <a:p>
            <a:r>
              <a:rPr lang="sk-SK" sz="1100" dirty="0">
                <a:latin typeface="Consolas" panose="020B0609020204030204" pitchFamily="49" charset="0"/>
              </a:rPr>
              <a:t>----- ------- ------------------------------- ------ -------</a:t>
            </a:r>
          </a:p>
          <a:p>
            <a:r>
              <a:rPr lang="sk-SK" sz="1100" dirty="0">
                <a:latin typeface="Consolas" panose="020B0609020204030204" pitchFamily="49" charset="0"/>
              </a:rPr>
              <a:t>0     24000   LDP(A)                          </a:t>
            </a:r>
            <a:r>
              <a:rPr lang="sk-SK" sz="1100" dirty="0" err="1">
                <a:latin typeface="Consolas" panose="020B0609020204030204" pitchFamily="49" charset="0"/>
              </a:rPr>
              <a:t>InUse</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0     24001   LDP(A)                          </a:t>
            </a:r>
            <a:r>
              <a:rPr lang="sk-SK" sz="1100" dirty="0" err="1">
                <a:latin typeface="Consolas" panose="020B0609020204030204" pitchFamily="49" charset="0"/>
              </a:rPr>
              <a:t>InUse</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0     24002   LDP(A)                          </a:t>
            </a:r>
            <a:r>
              <a:rPr lang="sk-SK" sz="1100" dirty="0" err="1">
                <a:latin typeface="Consolas" panose="020B0609020204030204" pitchFamily="49" charset="0"/>
              </a:rPr>
              <a:t>InUse</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0     24003   LDP(A)                          </a:t>
            </a:r>
            <a:r>
              <a:rPr lang="sk-SK" sz="1100" dirty="0" err="1">
                <a:latin typeface="Consolas" panose="020B0609020204030204" pitchFamily="49" charset="0"/>
              </a:rPr>
              <a:t>InUse</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0     24004   LDP(A)                          </a:t>
            </a:r>
            <a:r>
              <a:rPr lang="sk-SK" sz="1100" dirty="0" err="1">
                <a:latin typeface="Consolas" panose="020B0609020204030204" pitchFamily="49" charset="0"/>
              </a:rPr>
              <a:t>InUse</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0     24005   LDP(A)                          </a:t>
            </a:r>
            <a:r>
              <a:rPr lang="sk-SK" sz="1100" dirty="0" err="1">
                <a:latin typeface="Consolas" panose="020B0609020204030204" pitchFamily="49" charset="0"/>
              </a:rPr>
              <a:t>InUse</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0     24006   LDP(A)                          </a:t>
            </a:r>
            <a:r>
              <a:rPr lang="sk-SK" sz="1100" dirty="0" err="1">
                <a:latin typeface="Consolas" panose="020B0609020204030204" pitchFamily="49" charset="0"/>
              </a:rPr>
              <a:t>InUse</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0     24007   LDP(A)                          </a:t>
            </a:r>
            <a:r>
              <a:rPr lang="sk-SK" sz="1100" dirty="0" err="1">
                <a:latin typeface="Consolas" panose="020B0609020204030204" pitchFamily="49" charset="0"/>
              </a:rPr>
              <a:t>InUse</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0     24008   LDP(A)                          </a:t>
            </a:r>
            <a:r>
              <a:rPr lang="sk-SK" sz="1100" dirty="0" err="1">
                <a:latin typeface="Consolas" panose="020B0609020204030204" pitchFamily="49" charset="0"/>
              </a:rPr>
              <a:t>InUse</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0     24009   LDP(A)                          </a:t>
            </a:r>
            <a:r>
              <a:rPr lang="sk-SK" sz="1100" dirty="0" err="1">
                <a:latin typeface="Consolas" panose="020B0609020204030204" pitchFamily="49" charset="0"/>
              </a:rPr>
              <a:t>InUse</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0     24010   BGP-VPNv4(A):bgp-default        </a:t>
            </a:r>
            <a:r>
              <a:rPr lang="sk-SK" sz="1100" dirty="0" err="1">
                <a:latin typeface="Consolas" panose="020B0609020204030204" pitchFamily="49" charset="0"/>
              </a:rPr>
              <a:t>InUse</a:t>
            </a:r>
            <a:r>
              <a:rPr lang="sk-SK" sz="1100" dirty="0">
                <a:latin typeface="Consolas" panose="020B0609020204030204" pitchFamily="49" charset="0"/>
              </a:rPr>
              <a:t>  </a:t>
            </a:r>
            <a:r>
              <a:rPr lang="sk-SK" sz="1100" dirty="0" err="1">
                <a:latin typeface="Consolas" panose="020B0609020204030204" pitchFamily="49" charset="0"/>
              </a:rPr>
              <a:t>Yes</a:t>
            </a:r>
            <a:endParaRPr lang="sk-SK" sz="1100" dirty="0">
              <a:latin typeface="Consolas" panose="020B0609020204030204" pitchFamily="49" charset="0"/>
            </a:endParaRPr>
          </a:p>
          <a:p>
            <a:r>
              <a:rPr lang="sk-SK" sz="1100" dirty="0">
                <a:latin typeface="Consolas" panose="020B0609020204030204" pitchFamily="49" charset="0"/>
              </a:rPr>
              <a:t>RP/0/RP0/CPU0:R02#</a:t>
            </a:r>
          </a:p>
        </p:txBody>
      </p:sp>
    </p:spTree>
    <p:extLst>
      <p:ext uri="{BB962C8B-B14F-4D97-AF65-F5344CB8AC3E}">
        <p14:creationId xmlns:p14="http://schemas.microsoft.com/office/powerpoint/2010/main" val="2216447154"/>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MPLS to SRv6 (CE31 -&gt; CE21)  #R02</a:t>
            </a:r>
          </a:p>
        </p:txBody>
      </p:sp>
      <p:sp>
        <p:nvSpPr>
          <p:cNvPr id="4" name="Rectangle 3">
            <a:extLst>
              <a:ext uri="{FF2B5EF4-FFF2-40B4-BE49-F238E27FC236}">
                <a16:creationId xmlns:a16="http://schemas.microsoft.com/office/drawing/2014/main" id="{87D7CB37-5BEE-FF8F-7602-60627856E0E8}"/>
              </a:ext>
            </a:extLst>
          </p:cNvPr>
          <p:cNvSpPr/>
          <p:nvPr/>
        </p:nvSpPr>
        <p:spPr>
          <a:xfrm>
            <a:off x="0" y="827967"/>
            <a:ext cx="5555974" cy="5001369"/>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RP/0/RP0/CPU0:R02#</a:t>
            </a:r>
            <a:r>
              <a:rPr lang="sk-SK" sz="1100" b="1" dirty="0">
                <a:latin typeface="Consolas" panose="020B0609020204030204" pitchFamily="49" charset="0"/>
              </a:rPr>
              <a:t>sh cef vrf A-GW 10.0.21.1</a:t>
            </a:r>
          </a:p>
          <a:p>
            <a:r>
              <a:rPr lang="sk-SK" sz="1100" dirty="0" err="1">
                <a:latin typeface="Consolas" panose="020B0609020204030204" pitchFamily="49" charset="0"/>
              </a:rPr>
              <a:t>Fri</a:t>
            </a:r>
            <a:r>
              <a:rPr lang="sk-SK" sz="1100" dirty="0">
                <a:latin typeface="Consolas" panose="020B0609020204030204" pitchFamily="49" charset="0"/>
              </a:rPr>
              <a:t> Nov  1 18:24:35.222 UTC</a:t>
            </a:r>
          </a:p>
          <a:p>
            <a:r>
              <a:rPr lang="sk-SK" sz="1100" dirty="0">
                <a:latin typeface="Consolas" panose="020B0609020204030204" pitchFamily="49" charset="0"/>
              </a:rPr>
              <a:t>10.0.21.0/24, </a:t>
            </a:r>
            <a:r>
              <a:rPr lang="sk-SK" sz="1100" dirty="0" err="1">
                <a:latin typeface="Consolas" panose="020B0609020204030204" pitchFamily="49" charset="0"/>
              </a:rPr>
              <a:t>version</a:t>
            </a:r>
            <a:r>
              <a:rPr lang="sk-SK" sz="1100" dirty="0">
                <a:latin typeface="Consolas" panose="020B0609020204030204" pitchFamily="49" charset="0"/>
              </a:rPr>
              <a:t> 6, SRv6 </a:t>
            </a:r>
            <a:r>
              <a:rPr lang="sk-SK" sz="1100" dirty="0" err="1">
                <a:latin typeface="Consolas" panose="020B0609020204030204" pitchFamily="49" charset="0"/>
              </a:rPr>
              <a:t>Headend</a:t>
            </a:r>
            <a:r>
              <a:rPr lang="sk-SK" sz="1100" dirty="0">
                <a:latin typeface="Consolas" panose="020B0609020204030204" pitchFamily="49" charset="0"/>
              </a:rPr>
              <a:t>, </a:t>
            </a:r>
            <a:r>
              <a:rPr lang="sk-SK" sz="1100" dirty="0" err="1">
                <a:latin typeface="Consolas" panose="020B0609020204030204" pitchFamily="49" charset="0"/>
              </a:rPr>
              <a:t>internal</a:t>
            </a:r>
            <a:r>
              <a:rPr lang="sk-SK" sz="1100" dirty="0">
                <a:latin typeface="Consolas" panose="020B0609020204030204" pitchFamily="49" charset="0"/>
              </a:rPr>
              <a:t> 0x1000001 0x30 (</a:t>
            </a:r>
            <a:r>
              <a:rPr lang="sk-SK" sz="1100" dirty="0" err="1">
                <a:latin typeface="Consolas" panose="020B0609020204030204" pitchFamily="49" charset="0"/>
              </a:rPr>
              <a:t>ptr</a:t>
            </a:r>
            <a:r>
              <a:rPr lang="sk-SK" sz="1100" dirty="0">
                <a:latin typeface="Consolas" panose="020B0609020204030204" pitchFamily="49" charset="0"/>
              </a:rPr>
              <a:t> 0xe7dd5b0) [1], 0x400 (0xe158ba8), 0x0 (0xfcb5aa8)</a:t>
            </a:r>
          </a:p>
          <a:p>
            <a:r>
              <a:rPr lang="sk-SK" sz="1100" dirty="0">
                <a:latin typeface="Consolas" panose="020B0609020204030204" pitchFamily="49" charset="0"/>
              </a:rPr>
              <a:t> </a:t>
            </a:r>
            <a:r>
              <a:rPr lang="sk-SK" sz="1100" dirty="0" err="1">
                <a:latin typeface="Consolas" panose="020B0609020204030204" pitchFamily="49" charset="0"/>
              </a:rPr>
              <a:t>Updated</a:t>
            </a:r>
            <a:r>
              <a:rPr lang="sk-SK" sz="1100" dirty="0">
                <a:latin typeface="Consolas" panose="020B0609020204030204" pitchFamily="49" charset="0"/>
              </a:rPr>
              <a:t> Nov  1 15:30:55.711</a:t>
            </a:r>
          </a:p>
          <a:p>
            <a:r>
              <a:rPr lang="sk-SK" sz="1100" dirty="0">
                <a:latin typeface="Consolas" panose="020B0609020204030204" pitchFamily="49" charset="0"/>
              </a:rPr>
              <a:t> Prefix Len 24, </a:t>
            </a:r>
            <a:r>
              <a:rPr lang="sk-SK" sz="1100" dirty="0" err="1">
                <a:latin typeface="Consolas" panose="020B0609020204030204" pitchFamily="49" charset="0"/>
              </a:rPr>
              <a:t>traffic</a:t>
            </a:r>
            <a:r>
              <a:rPr lang="sk-SK" sz="1100" dirty="0">
                <a:latin typeface="Consolas" panose="020B0609020204030204" pitchFamily="49" charset="0"/>
              </a:rPr>
              <a:t> index 0, </a:t>
            </a:r>
            <a:r>
              <a:rPr lang="sk-SK" sz="1100" dirty="0" err="1">
                <a:latin typeface="Consolas" panose="020B0609020204030204" pitchFamily="49" charset="0"/>
              </a:rPr>
              <a:t>precedence</a:t>
            </a:r>
            <a:r>
              <a:rPr lang="sk-SK" sz="1100" dirty="0">
                <a:latin typeface="Consolas" panose="020B0609020204030204" pitchFamily="49" charset="0"/>
              </a:rPr>
              <a:t> n/a, priority 3</a:t>
            </a:r>
          </a:p>
          <a:p>
            <a:r>
              <a:rPr lang="sk-SK" sz="1100" dirty="0">
                <a:latin typeface="Consolas" panose="020B0609020204030204" pitchFamily="49" charset="0"/>
              </a:rPr>
              <a:t>  </a:t>
            </a:r>
            <a:r>
              <a:rPr lang="sk-SK" sz="1100" dirty="0" err="1">
                <a:latin typeface="Consolas" panose="020B0609020204030204" pitchFamily="49" charset="0"/>
              </a:rPr>
              <a:t>gateway</a:t>
            </a:r>
            <a:r>
              <a:rPr lang="sk-SK" sz="1100" dirty="0">
                <a:latin typeface="Consolas" panose="020B0609020204030204" pitchFamily="49" charset="0"/>
              </a:rPr>
              <a:t> </a:t>
            </a:r>
            <a:r>
              <a:rPr lang="sk-SK" sz="1100" dirty="0" err="1">
                <a:latin typeface="Consolas" panose="020B0609020204030204" pitchFamily="49" charset="0"/>
              </a:rPr>
              <a:t>array</a:t>
            </a:r>
            <a:r>
              <a:rPr lang="sk-SK" sz="1100" dirty="0">
                <a:latin typeface="Consolas" panose="020B0609020204030204" pitchFamily="49" charset="0"/>
              </a:rPr>
              <a:t> (0x1038b190) </a:t>
            </a:r>
            <a:r>
              <a:rPr lang="sk-SK" sz="1100" dirty="0" err="1">
                <a:latin typeface="Consolas" panose="020B0609020204030204" pitchFamily="49" charset="0"/>
              </a:rPr>
              <a:t>reference</a:t>
            </a:r>
            <a:r>
              <a:rPr lang="sk-SK" sz="1100" dirty="0">
                <a:latin typeface="Consolas" panose="020B0609020204030204" pitchFamily="49" charset="0"/>
              </a:rPr>
              <a:t> </a:t>
            </a:r>
            <a:r>
              <a:rPr lang="sk-SK" sz="1100" dirty="0" err="1">
                <a:latin typeface="Consolas" panose="020B0609020204030204" pitchFamily="49" charset="0"/>
              </a:rPr>
              <a:t>count</a:t>
            </a:r>
            <a:r>
              <a:rPr lang="sk-SK" sz="1100" dirty="0">
                <a:latin typeface="Consolas" panose="020B0609020204030204" pitchFamily="49" charset="0"/>
              </a:rPr>
              <a:t> 4, </a:t>
            </a:r>
            <a:r>
              <a:rPr lang="sk-SK" sz="1100" dirty="0" err="1">
                <a:latin typeface="Consolas" panose="020B0609020204030204" pitchFamily="49" charset="0"/>
              </a:rPr>
              <a:t>flags</a:t>
            </a:r>
            <a:r>
              <a:rPr lang="sk-SK" sz="1100" dirty="0">
                <a:latin typeface="Consolas" panose="020B0609020204030204" pitchFamily="49" charset="0"/>
              </a:rPr>
              <a:t> 0x10, </a:t>
            </a:r>
            <a:r>
              <a:rPr lang="sk-SK" sz="1100" dirty="0" err="1">
                <a:latin typeface="Consolas" panose="020B0609020204030204" pitchFamily="49" charset="0"/>
              </a:rPr>
              <a:t>source</a:t>
            </a:r>
            <a:r>
              <a:rPr lang="sk-SK" sz="1100" dirty="0">
                <a:latin typeface="Consolas" panose="020B0609020204030204" pitchFamily="49" charset="0"/>
              </a:rPr>
              <a:t> </a:t>
            </a:r>
            <a:r>
              <a:rPr lang="sk-SK" sz="1100" dirty="0" err="1">
                <a:latin typeface="Consolas" panose="020B0609020204030204" pitchFamily="49" charset="0"/>
              </a:rPr>
              <a:t>rib</a:t>
            </a:r>
            <a:r>
              <a:rPr lang="sk-SK" sz="1100" dirty="0">
                <a:latin typeface="Consolas" panose="020B0609020204030204" pitchFamily="49" charset="0"/>
              </a:rPr>
              <a:t> (7), 0 </a:t>
            </a:r>
            <a:r>
              <a:rPr lang="sk-SK" sz="1100" dirty="0" err="1">
                <a:latin typeface="Consolas" panose="020B0609020204030204" pitchFamily="49" charset="0"/>
              </a:rPr>
              <a:t>backups</a:t>
            </a:r>
            <a:endParaRPr lang="sk-SK" sz="1100" dirty="0">
              <a:latin typeface="Consolas" panose="020B0609020204030204" pitchFamily="49" charset="0"/>
            </a:endParaRPr>
          </a:p>
          <a:p>
            <a:r>
              <a:rPr lang="sk-SK" sz="1100" dirty="0">
                <a:latin typeface="Consolas" panose="020B0609020204030204" pitchFamily="49" charset="0"/>
              </a:rPr>
              <a:t>                [5 type 3 </a:t>
            </a:r>
            <a:r>
              <a:rPr lang="sk-SK" sz="1100" dirty="0" err="1">
                <a:latin typeface="Consolas" panose="020B0609020204030204" pitchFamily="49" charset="0"/>
              </a:rPr>
              <a:t>flags</a:t>
            </a:r>
            <a:r>
              <a:rPr lang="sk-SK" sz="1100" dirty="0">
                <a:latin typeface="Consolas" panose="020B0609020204030204" pitchFamily="49" charset="0"/>
              </a:rPr>
              <a:t> 0x8441 (0xe0714e8) </a:t>
            </a:r>
            <a:r>
              <a:rPr lang="sk-SK" sz="1100" dirty="0" err="1">
                <a:latin typeface="Consolas" panose="020B0609020204030204" pitchFamily="49" charset="0"/>
              </a:rPr>
              <a:t>ext</a:t>
            </a:r>
            <a:r>
              <a:rPr lang="sk-SK" sz="1100" dirty="0">
                <a:latin typeface="Consolas" panose="020B0609020204030204" pitchFamily="49" charset="0"/>
              </a:rPr>
              <a:t> 0x0 (0x0)]</a:t>
            </a:r>
          </a:p>
          <a:p>
            <a:r>
              <a:rPr lang="sk-SK" sz="1100" dirty="0">
                <a:latin typeface="Consolas" panose="020B0609020204030204" pitchFamily="49" charset="0"/>
              </a:rPr>
              <a:t>  LW-LDI[type=3, </a:t>
            </a:r>
            <a:r>
              <a:rPr lang="sk-SK" sz="1100" dirty="0" err="1">
                <a:latin typeface="Consolas" panose="020B0609020204030204" pitchFamily="49" charset="0"/>
              </a:rPr>
              <a:t>refc</a:t>
            </a:r>
            <a:r>
              <a:rPr lang="sk-SK" sz="1100" dirty="0">
                <a:latin typeface="Consolas" panose="020B0609020204030204" pitchFamily="49" charset="0"/>
              </a:rPr>
              <a:t>=1, </a:t>
            </a:r>
            <a:r>
              <a:rPr lang="sk-SK" sz="1100" dirty="0" err="1">
                <a:latin typeface="Consolas" panose="020B0609020204030204" pitchFamily="49" charset="0"/>
              </a:rPr>
              <a:t>ptr</a:t>
            </a:r>
            <a:r>
              <a:rPr lang="sk-SK" sz="1100" dirty="0">
                <a:latin typeface="Consolas" panose="020B0609020204030204" pitchFamily="49" charset="0"/>
              </a:rPr>
              <a:t>=0xe158ba8, sh-</a:t>
            </a:r>
            <a:r>
              <a:rPr lang="sk-SK" sz="1100" dirty="0" err="1">
                <a:latin typeface="Consolas" panose="020B0609020204030204" pitchFamily="49" charset="0"/>
              </a:rPr>
              <a:t>ldi</a:t>
            </a:r>
            <a:r>
              <a:rPr lang="sk-SK" sz="1100" dirty="0">
                <a:latin typeface="Consolas" panose="020B0609020204030204" pitchFamily="49" charset="0"/>
              </a:rPr>
              <a:t>=0xe0714e8]</a:t>
            </a:r>
          </a:p>
          <a:p>
            <a:r>
              <a:rPr lang="sk-SK" sz="1100" dirty="0">
                <a:latin typeface="Consolas" panose="020B0609020204030204" pitchFamily="49" charset="0"/>
              </a:rPr>
              <a:t>  </a:t>
            </a:r>
            <a:r>
              <a:rPr lang="sk-SK" sz="1100" dirty="0" err="1">
                <a:latin typeface="Consolas" panose="020B0609020204030204" pitchFamily="49" charset="0"/>
              </a:rPr>
              <a:t>gateway</a:t>
            </a:r>
            <a:r>
              <a:rPr lang="sk-SK" sz="1100" dirty="0">
                <a:latin typeface="Consolas" panose="020B0609020204030204" pitchFamily="49" charset="0"/>
              </a:rPr>
              <a:t> </a:t>
            </a:r>
            <a:r>
              <a:rPr lang="sk-SK" sz="1100" dirty="0" err="1">
                <a:latin typeface="Consolas" panose="020B0609020204030204" pitchFamily="49" charset="0"/>
              </a:rPr>
              <a:t>array</a:t>
            </a:r>
            <a:r>
              <a:rPr lang="sk-SK" sz="1100" dirty="0">
                <a:latin typeface="Consolas" panose="020B0609020204030204" pitchFamily="49" charset="0"/>
              </a:rPr>
              <a:t> update type-</a:t>
            </a:r>
            <a:r>
              <a:rPr lang="sk-SK" sz="1100" dirty="0" err="1">
                <a:latin typeface="Consolas" panose="020B0609020204030204" pitchFamily="49" charset="0"/>
              </a:rPr>
              <a:t>time</a:t>
            </a:r>
            <a:r>
              <a:rPr lang="sk-SK" sz="1100" dirty="0">
                <a:latin typeface="Consolas" panose="020B0609020204030204" pitchFamily="49" charset="0"/>
              </a:rPr>
              <a:t> 1 Nov  1 15:30:55.711</a:t>
            </a:r>
          </a:p>
          <a:p>
            <a:r>
              <a:rPr lang="sk-SK" sz="1100" dirty="0">
                <a:latin typeface="Consolas" panose="020B0609020204030204" pitchFamily="49" charset="0"/>
              </a:rPr>
              <a:t> LDI Update </a:t>
            </a:r>
            <a:r>
              <a:rPr lang="sk-SK" sz="1100" dirty="0" err="1">
                <a:latin typeface="Consolas" panose="020B0609020204030204" pitchFamily="49" charset="0"/>
              </a:rPr>
              <a:t>time</a:t>
            </a:r>
            <a:r>
              <a:rPr lang="sk-SK" sz="1100" dirty="0">
                <a:latin typeface="Consolas" panose="020B0609020204030204" pitchFamily="49" charset="0"/>
              </a:rPr>
              <a:t> Nov  1 15:30:55.711</a:t>
            </a:r>
          </a:p>
          <a:p>
            <a:r>
              <a:rPr lang="sk-SK" sz="1100" dirty="0">
                <a:latin typeface="Consolas" panose="020B0609020204030204" pitchFamily="49" charset="0"/>
              </a:rPr>
              <a:t> LW-LDI-TS Nov  1 15:30:55.711</a:t>
            </a:r>
          </a:p>
          <a:p>
            <a:endParaRPr lang="sk-SK" sz="1100" dirty="0">
              <a:latin typeface="Consolas" panose="020B0609020204030204" pitchFamily="49" charset="0"/>
            </a:endParaRPr>
          </a:p>
          <a:p>
            <a:r>
              <a:rPr lang="sk-SK" sz="1100" dirty="0">
                <a:latin typeface="Consolas" panose="020B0609020204030204" pitchFamily="49" charset="0"/>
              </a:rPr>
              <a:t>  Level 1 - </a:t>
            </a:r>
            <a:r>
              <a:rPr lang="sk-SK" sz="1100" dirty="0" err="1">
                <a:latin typeface="Consolas" panose="020B0609020204030204" pitchFamily="49" charset="0"/>
              </a:rPr>
              <a:t>Load</a:t>
            </a:r>
            <a:r>
              <a:rPr lang="sk-SK" sz="1100" dirty="0">
                <a:latin typeface="Consolas" panose="020B0609020204030204" pitchFamily="49" charset="0"/>
              </a:rPr>
              <a:t> </a:t>
            </a:r>
            <a:r>
              <a:rPr lang="sk-SK" sz="1100" dirty="0" err="1">
                <a:latin typeface="Consolas" panose="020B0609020204030204" pitchFamily="49" charset="0"/>
              </a:rPr>
              <a:t>distribution</a:t>
            </a:r>
            <a:r>
              <a:rPr lang="sk-SK" sz="1100" dirty="0">
                <a:latin typeface="Consolas" panose="020B0609020204030204" pitchFamily="49" charset="0"/>
              </a:rPr>
              <a:t>: 0</a:t>
            </a:r>
          </a:p>
          <a:p>
            <a:r>
              <a:rPr lang="sk-SK" sz="1100" dirty="0">
                <a:latin typeface="Consolas" panose="020B0609020204030204" pitchFamily="49" charset="0"/>
              </a:rPr>
              <a:t>  [0] </a:t>
            </a:r>
            <a:r>
              <a:rPr lang="sk-SK" sz="1100" dirty="0" err="1">
                <a:latin typeface="Consolas" panose="020B0609020204030204" pitchFamily="49" charset="0"/>
              </a:rPr>
              <a:t>via</a:t>
            </a:r>
            <a:r>
              <a:rPr lang="sk-SK" sz="1100" dirty="0">
                <a:latin typeface="Consolas" panose="020B0609020204030204" pitchFamily="49" charset="0"/>
              </a:rPr>
              <a:t> fc00:ab00:21::/128, </a:t>
            </a:r>
            <a:r>
              <a:rPr lang="sk-SK" sz="1100" dirty="0" err="1">
                <a:latin typeface="Consolas" panose="020B0609020204030204" pitchFamily="49" charset="0"/>
              </a:rPr>
              <a:t>recursive</a:t>
            </a:r>
            <a:endParaRPr lang="sk-SK" sz="1100" dirty="0">
              <a:latin typeface="Consolas" panose="020B0609020204030204" pitchFamily="49" charset="0"/>
            </a:endParaRPr>
          </a:p>
          <a:p>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via</a:t>
            </a:r>
            <a:r>
              <a:rPr lang="sk-SK" sz="1100" dirty="0">
                <a:latin typeface="Consolas" panose="020B0609020204030204" pitchFamily="49" charset="0"/>
              </a:rPr>
              <a:t> fc00:ab00:21::/128, 3 </a:t>
            </a:r>
            <a:r>
              <a:rPr lang="sk-SK" sz="1100" dirty="0" err="1">
                <a:latin typeface="Consolas" panose="020B0609020204030204" pitchFamily="49" charset="0"/>
              </a:rPr>
              <a:t>dependencies</a:t>
            </a:r>
            <a:r>
              <a:rPr lang="sk-SK" sz="1100" dirty="0">
                <a:latin typeface="Consolas" panose="020B0609020204030204" pitchFamily="49" charset="0"/>
              </a:rPr>
              <a:t>, </a:t>
            </a:r>
            <a:r>
              <a:rPr lang="sk-SK" sz="1100" dirty="0" err="1">
                <a:latin typeface="Consolas" panose="020B0609020204030204" pitchFamily="49" charset="0"/>
              </a:rPr>
              <a:t>recursive</a:t>
            </a:r>
            <a:r>
              <a:rPr lang="sk-SK" sz="1100" dirty="0">
                <a:latin typeface="Consolas" panose="020B0609020204030204" pitchFamily="49" charset="0"/>
              </a:rPr>
              <a:t> [</a:t>
            </a:r>
            <a:r>
              <a:rPr lang="sk-SK" sz="1100" dirty="0" err="1">
                <a:latin typeface="Consolas" panose="020B0609020204030204" pitchFamily="49" charset="0"/>
              </a:rPr>
              <a:t>flags</a:t>
            </a:r>
            <a:r>
              <a:rPr lang="sk-SK" sz="1100" dirty="0">
                <a:latin typeface="Consolas" panose="020B0609020204030204" pitchFamily="49" charset="0"/>
              </a:rPr>
              <a:t> 0x6000]</a:t>
            </a:r>
          </a:p>
          <a:p>
            <a:r>
              <a:rPr lang="sk-SK" sz="1100" dirty="0">
                <a:latin typeface="Consolas" panose="020B0609020204030204" pitchFamily="49" charset="0"/>
              </a:rPr>
              <a:t>    </a:t>
            </a:r>
            <a:r>
              <a:rPr lang="sk-SK" sz="1100" dirty="0" err="1">
                <a:latin typeface="Consolas" panose="020B0609020204030204" pitchFamily="49" charset="0"/>
              </a:rPr>
              <a:t>path-idx</a:t>
            </a:r>
            <a:r>
              <a:rPr lang="sk-SK" sz="1100" dirty="0">
                <a:latin typeface="Consolas" panose="020B0609020204030204" pitchFamily="49" charset="0"/>
              </a:rPr>
              <a:t> 0 NHID 0x0 [0xe7662c8 0x0]</a:t>
            </a:r>
          </a:p>
          <a:p>
            <a:r>
              <a:rPr lang="sk-SK" sz="1100" dirty="0">
                <a:latin typeface="Consolas" panose="020B0609020204030204" pitchFamily="49" charset="0"/>
              </a:rPr>
              <a:t>    </a:t>
            </a:r>
            <a:r>
              <a:rPr lang="sk-SK" sz="1100" dirty="0" err="1">
                <a:latin typeface="Consolas" panose="020B0609020204030204" pitchFamily="49" charset="0"/>
              </a:rPr>
              <a:t>next</a:t>
            </a:r>
            <a:r>
              <a:rPr lang="sk-SK" sz="1100" dirty="0">
                <a:latin typeface="Consolas" panose="020B0609020204030204" pitchFamily="49" charset="0"/>
              </a:rPr>
              <a:t> hop VRF - 'default', table - 0xe0800000</a:t>
            </a:r>
          </a:p>
          <a:p>
            <a:r>
              <a:rPr lang="sk-SK" sz="1100" dirty="0">
                <a:latin typeface="Consolas" panose="020B0609020204030204" pitchFamily="49" charset="0"/>
              </a:rPr>
              <a:t>    </a:t>
            </a:r>
            <a:r>
              <a:rPr lang="sk-SK" sz="1100" dirty="0" err="1">
                <a:latin typeface="Consolas" panose="020B0609020204030204" pitchFamily="49" charset="0"/>
              </a:rPr>
              <a:t>next</a:t>
            </a:r>
            <a:r>
              <a:rPr lang="sk-SK" sz="1100" dirty="0">
                <a:latin typeface="Consolas" panose="020B0609020204030204" pitchFamily="49" charset="0"/>
              </a:rPr>
              <a:t> hop fc00:ab00:21::/128 </a:t>
            </a:r>
            <a:r>
              <a:rPr lang="sk-SK" sz="1100" dirty="0" err="1">
                <a:latin typeface="Consolas" panose="020B0609020204030204" pitchFamily="49" charset="0"/>
              </a:rPr>
              <a:t>via</a:t>
            </a:r>
            <a:r>
              <a:rPr lang="sk-SK" sz="1100" dirty="0">
                <a:latin typeface="Consolas" panose="020B0609020204030204" pitchFamily="49" charset="0"/>
              </a:rPr>
              <a:t> fc00:ab00:21::/48</a:t>
            </a:r>
          </a:p>
          <a:p>
            <a:r>
              <a:rPr lang="sk-SK" sz="1100" dirty="0">
                <a:latin typeface="Consolas" panose="020B0609020204030204" pitchFamily="49" charset="0"/>
              </a:rPr>
              <a:t>    SRv6 </a:t>
            </a:r>
            <a:r>
              <a:rPr lang="sk-SK" sz="1100" dirty="0" err="1">
                <a:latin typeface="Consolas" panose="020B0609020204030204" pitchFamily="49" charset="0"/>
              </a:rPr>
              <a:t>H.Encaps.Red</a:t>
            </a:r>
            <a:r>
              <a:rPr lang="sk-SK" sz="1100" dirty="0">
                <a:latin typeface="Consolas" panose="020B0609020204030204" pitchFamily="49" charset="0"/>
              </a:rPr>
              <a:t> </a:t>
            </a:r>
            <a:r>
              <a:rPr lang="sk-SK" sz="1100" dirty="0" err="1">
                <a:latin typeface="Consolas" panose="020B0609020204030204" pitchFamily="49" charset="0"/>
              </a:rPr>
              <a:t>SID</a:t>
            </a:r>
            <a:r>
              <a:rPr lang="sk-SK" sz="1100" dirty="0">
                <a:latin typeface="Consolas" panose="020B0609020204030204" pitchFamily="49" charset="0"/>
              </a:rPr>
              <a:t>-list {</a:t>
            </a:r>
            <a:r>
              <a:rPr lang="sk-SK" sz="1100" dirty="0">
                <a:solidFill>
                  <a:schemeClr val="bg1"/>
                </a:solidFill>
                <a:highlight>
                  <a:srgbClr val="008000"/>
                </a:highlight>
                <a:latin typeface="Consolas" panose="020B0609020204030204" pitchFamily="49" charset="0"/>
              </a:rPr>
              <a:t>fc00:ab00:21:e000::</a:t>
            </a:r>
            <a:r>
              <a:rPr lang="sk-SK" sz="1100" dirty="0">
                <a:latin typeface="Consolas" panose="020B0609020204030204" pitchFamily="49" charset="0"/>
              </a:rPr>
              <a:t>}</a:t>
            </a:r>
          </a:p>
          <a:p>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Load</a:t>
            </a:r>
            <a:r>
              <a:rPr lang="sk-SK" sz="1100" dirty="0">
                <a:latin typeface="Consolas" panose="020B0609020204030204" pitchFamily="49" charset="0"/>
              </a:rPr>
              <a:t> </a:t>
            </a:r>
            <a:r>
              <a:rPr lang="sk-SK" sz="1100" dirty="0" err="1">
                <a:latin typeface="Consolas" panose="020B0609020204030204" pitchFamily="49" charset="0"/>
              </a:rPr>
              <a:t>distribution</a:t>
            </a:r>
            <a:r>
              <a:rPr lang="sk-SK" sz="1100" dirty="0">
                <a:latin typeface="Consolas" panose="020B0609020204030204" pitchFamily="49" charset="0"/>
              </a:rPr>
              <a:t>: 0 (refcount 5)</a:t>
            </a:r>
          </a:p>
          <a:p>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Hash</a:t>
            </a:r>
            <a:r>
              <a:rPr lang="sk-SK" sz="1100" dirty="0">
                <a:latin typeface="Consolas" panose="020B0609020204030204" pitchFamily="49" charset="0"/>
              </a:rPr>
              <a:t>  OK  Interface                 </a:t>
            </a:r>
            <a:r>
              <a:rPr lang="sk-SK" sz="1100" dirty="0" err="1">
                <a:latin typeface="Consolas" panose="020B0609020204030204" pitchFamily="49" charset="0"/>
              </a:rPr>
              <a:t>Address</a:t>
            </a:r>
            <a:endParaRPr lang="sk-SK" sz="1100" dirty="0">
              <a:latin typeface="Consolas" panose="020B0609020204030204" pitchFamily="49" charset="0"/>
            </a:endParaRPr>
          </a:p>
          <a:p>
            <a:r>
              <a:rPr lang="sk-SK" sz="1100" dirty="0">
                <a:latin typeface="Consolas" panose="020B0609020204030204" pitchFamily="49" charset="0"/>
              </a:rPr>
              <a:t>    0     Y   GigabitEthernet0/0/0/1    </a:t>
            </a:r>
            <a:r>
              <a:rPr lang="sk-SK" sz="1100" dirty="0" err="1">
                <a:latin typeface="Consolas" panose="020B0609020204030204" pitchFamily="49" charset="0"/>
              </a:rPr>
              <a:t>remote</a:t>
            </a:r>
            <a:r>
              <a:rPr lang="sk-SK" sz="1100" dirty="0">
                <a:latin typeface="Consolas" panose="020B0609020204030204" pitchFamily="49" charset="0"/>
              </a:rPr>
              <a:t>         </a:t>
            </a:r>
          </a:p>
          <a:p>
            <a:r>
              <a:rPr lang="sk-SK" sz="1100" dirty="0">
                <a:latin typeface="Consolas" panose="020B0609020204030204" pitchFamily="49" charset="0"/>
              </a:rPr>
              <a:t>          </a:t>
            </a:r>
          </a:p>
          <a:p>
            <a:r>
              <a:rPr lang="sk-SK" sz="1100" dirty="0">
                <a:latin typeface="Consolas" panose="020B0609020204030204" pitchFamily="49" charset="0"/>
              </a:rPr>
              <a:t>RP/0/RP0/CPU0:R02#</a:t>
            </a:r>
            <a:endParaRPr lang="en-US" sz="1100" dirty="0">
              <a:solidFill>
                <a:srgbClr val="FF0000"/>
              </a:solidFill>
              <a:latin typeface="Consolas" panose="020B0609020204030204" pitchFamily="49" charset="0"/>
            </a:endParaRPr>
          </a:p>
        </p:txBody>
      </p:sp>
      <p:sp>
        <p:nvSpPr>
          <p:cNvPr id="2" name="Rectangle 1">
            <a:extLst>
              <a:ext uri="{FF2B5EF4-FFF2-40B4-BE49-F238E27FC236}">
                <a16:creationId xmlns:a16="http://schemas.microsoft.com/office/drawing/2014/main" id="{DFAA9F38-5D85-A11C-5990-66F981A3EFA7}"/>
              </a:ext>
            </a:extLst>
          </p:cNvPr>
          <p:cNvSpPr/>
          <p:nvPr/>
        </p:nvSpPr>
        <p:spPr>
          <a:xfrm>
            <a:off x="5787887" y="827967"/>
            <a:ext cx="6308036" cy="5001369"/>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RP/0/RP0/CPU0:R02#</a:t>
            </a:r>
            <a:r>
              <a:rPr lang="sk-SK" sz="1100" b="1" dirty="0">
                <a:latin typeface="Consolas" panose="020B0609020204030204" pitchFamily="49" charset="0"/>
              </a:rPr>
              <a:t>sh cef vrf A-GW 10.0.21.1 detail</a:t>
            </a:r>
          </a:p>
          <a:p>
            <a:r>
              <a:rPr lang="sk-SK" sz="1100" dirty="0" err="1">
                <a:latin typeface="Consolas" panose="020B0609020204030204" pitchFamily="49" charset="0"/>
              </a:rPr>
              <a:t>Fri</a:t>
            </a:r>
            <a:r>
              <a:rPr lang="sk-SK" sz="1100" dirty="0">
                <a:latin typeface="Consolas" panose="020B0609020204030204" pitchFamily="49" charset="0"/>
              </a:rPr>
              <a:t> Nov  1 18:25:07.985 UTC</a:t>
            </a:r>
          </a:p>
          <a:p>
            <a:r>
              <a:rPr lang="sk-SK" sz="1100" dirty="0">
                <a:latin typeface="Consolas" panose="020B0609020204030204" pitchFamily="49" charset="0"/>
              </a:rPr>
              <a:t>10.0.21.0/24, </a:t>
            </a:r>
            <a:r>
              <a:rPr lang="sk-SK" sz="1100" dirty="0" err="1">
                <a:latin typeface="Consolas" panose="020B0609020204030204" pitchFamily="49" charset="0"/>
              </a:rPr>
              <a:t>version</a:t>
            </a:r>
            <a:r>
              <a:rPr lang="sk-SK" sz="1100" dirty="0">
                <a:latin typeface="Consolas" panose="020B0609020204030204" pitchFamily="49" charset="0"/>
              </a:rPr>
              <a:t> 6, SRv6 </a:t>
            </a:r>
            <a:r>
              <a:rPr lang="sk-SK" sz="1100" dirty="0" err="1">
                <a:latin typeface="Consolas" panose="020B0609020204030204" pitchFamily="49" charset="0"/>
              </a:rPr>
              <a:t>Headend</a:t>
            </a:r>
            <a:r>
              <a:rPr lang="sk-SK" sz="1100" dirty="0">
                <a:latin typeface="Consolas" panose="020B0609020204030204" pitchFamily="49" charset="0"/>
              </a:rPr>
              <a:t>, </a:t>
            </a:r>
            <a:r>
              <a:rPr lang="sk-SK" sz="1100" dirty="0" err="1">
                <a:latin typeface="Consolas" panose="020B0609020204030204" pitchFamily="49" charset="0"/>
              </a:rPr>
              <a:t>internal</a:t>
            </a:r>
            <a:r>
              <a:rPr lang="sk-SK" sz="1100" dirty="0">
                <a:latin typeface="Consolas" panose="020B0609020204030204" pitchFamily="49" charset="0"/>
              </a:rPr>
              <a:t> 0x1000001 0x30 (</a:t>
            </a:r>
            <a:r>
              <a:rPr lang="sk-SK" sz="1100" dirty="0" err="1">
                <a:latin typeface="Consolas" panose="020B0609020204030204" pitchFamily="49" charset="0"/>
              </a:rPr>
              <a:t>ptr</a:t>
            </a:r>
            <a:r>
              <a:rPr lang="sk-SK" sz="1100" dirty="0">
                <a:latin typeface="Consolas" panose="020B0609020204030204" pitchFamily="49" charset="0"/>
              </a:rPr>
              <a:t> 0xe7dd5b0) [1], 0x400 (0xe158ba8), 0x0 (0xfcb5aa8)</a:t>
            </a:r>
          </a:p>
          <a:p>
            <a:r>
              <a:rPr lang="sk-SK" sz="1100" dirty="0">
                <a:latin typeface="Consolas" panose="020B0609020204030204" pitchFamily="49" charset="0"/>
              </a:rPr>
              <a:t> </a:t>
            </a:r>
            <a:r>
              <a:rPr lang="sk-SK" sz="1100" dirty="0" err="1">
                <a:latin typeface="Consolas" panose="020B0609020204030204" pitchFamily="49" charset="0"/>
              </a:rPr>
              <a:t>Updated</a:t>
            </a:r>
            <a:r>
              <a:rPr lang="sk-SK" sz="1100" dirty="0">
                <a:latin typeface="Consolas" panose="020B0609020204030204" pitchFamily="49" charset="0"/>
              </a:rPr>
              <a:t> Nov  1 15:30:55.710</a:t>
            </a:r>
          </a:p>
          <a:p>
            <a:r>
              <a:rPr lang="sk-SK" sz="1100" dirty="0">
                <a:latin typeface="Consolas" panose="020B0609020204030204" pitchFamily="49" charset="0"/>
              </a:rPr>
              <a:t> Prefix Len 24, </a:t>
            </a:r>
            <a:r>
              <a:rPr lang="sk-SK" sz="1100" dirty="0" err="1">
                <a:latin typeface="Consolas" panose="020B0609020204030204" pitchFamily="49" charset="0"/>
              </a:rPr>
              <a:t>traffic</a:t>
            </a:r>
            <a:r>
              <a:rPr lang="sk-SK" sz="1100" dirty="0">
                <a:latin typeface="Consolas" panose="020B0609020204030204" pitchFamily="49" charset="0"/>
              </a:rPr>
              <a:t> index 0, </a:t>
            </a:r>
            <a:r>
              <a:rPr lang="sk-SK" sz="1100" dirty="0" err="1">
                <a:latin typeface="Consolas" panose="020B0609020204030204" pitchFamily="49" charset="0"/>
              </a:rPr>
              <a:t>precedence</a:t>
            </a:r>
            <a:r>
              <a:rPr lang="sk-SK" sz="1100" dirty="0">
                <a:latin typeface="Consolas" panose="020B0609020204030204" pitchFamily="49" charset="0"/>
              </a:rPr>
              <a:t> n/a, priority 3</a:t>
            </a:r>
          </a:p>
          <a:p>
            <a:r>
              <a:rPr lang="sk-SK" sz="1100" dirty="0">
                <a:latin typeface="Consolas" panose="020B0609020204030204" pitchFamily="49" charset="0"/>
              </a:rPr>
              <a:t>  </a:t>
            </a:r>
            <a:r>
              <a:rPr lang="sk-SK" sz="1100" dirty="0" err="1">
                <a:latin typeface="Consolas" panose="020B0609020204030204" pitchFamily="49" charset="0"/>
              </a:rPr>
              <a:t>gateway</a:t>
            </a:r>
            <a:r>
              <a:rPr lang="sk-SK" sz="1100" dirty="0">
                <a:latin typeface="Consolas" panose="020B0609020204030204" pitchFamily="49" charset="0"/>
              </a:rPr>
              <a:t> </a:t>
            </a:r>
            <a:r>
              <a:rPr lang="sk-SK" sz="1100" dirty="0" err="1">
                <a:latin typeface="Consolas" panose="020B0609020204030204" pitchFamily="49" charset="0"/>
              </a:rPr>
              <a:t>array</a:t>
            </a:r>
            <a:r>
              <a:rPr lang="sk-SK" sz="1100" dirty="0">
                <a:latin typeface="Consolas" panose="020B0609020204030204" pitchFamily="49" charset="0"/>
              </a:rPr>
              <a:t> (0x1038b190) </a:t>
            </a:r>
            <a:r>
              <a:rPr lang="sk-SK" sz="1100" dirty="0" err="1">
                <a:latin typeface="Consolas" panose="020B0609020204030204" pitchFamily="49" charset="0"/>
              </a:rPr>
              <a:t>reference</a:t>
            </a:r>
            <a:r>
              <a:rPr lang="sk-SK" sz="1100" dirty="0">
                <a:latin typeface="Consolas" panose="020B0609020204030204" pitchFamily="49" charset="0"/>
              </a:rPr>
              <a:t> </a:t>
            </a:r>
            <a:r>
              <a:rPr lang="sk-SK" sz="1100" dirty="0" err="1">
                <a:latin typeface="Consolas" panose="020B0609020204030204" pitchFamily="49" charset="0"/>
              </a:rPr>
              <a:t>count</a:t>
            </a:r>
            <a:r>
              <a:rPr lang="sk-SK" sz="1100" dirty="0">
                <a:latin typeface="Consolas" panose="020B0609020204030204" pitchFamily="49" charset="0"/>
              </a:rPr>
              <a:t> 4, </a:t>
            </a:r>
            <a:r>
              <a:rPr lang="sk-SK" sz="1100" dirty="0" err="1">
                <a:latin typeface="Consolas" panose="020B0609020204030204" pitchFamily="49" charset="0"/>
              </a:rPr>
              <a:t>flags</a:t>
            </a:r>
            <a:r>
              <a:rPr lang="sk-SK" sz="1100" dirty="0">
                <a:latin typeface="Consolas" panose="020B0609020204030204" pitchFamily="49" charset="0"/>
              </a:rPr>
              <a:t> 0x10, </a:t>
            </a:r>
            <a:r>
              <a:rPr lang="sk-SK" sz="1100" dirty="0" err="1">
                <a:latin typeface="Consolas" panose="020B0609020204030204" pitchFamily="49" charset="0"/>
              </a:rPr>
              <a:t>source</a:t>
            </a:r>
            <a:r>
              <a:rPr lang="sk-SK" sz="1100" dirty="0">
                <a:latin typeface="Consolas" panose="020B0609020204030204" pitchFamily="49" charset="0"/>
              </a:rPr>
              <a:t> </a:t>
            </a:r>
            <a:r>
              <a:rPr lang="sk-SK" sz="1100" dirty="0" err="1">
                <a:latin typeface="Consolas" panose="020B0609020204030204" pitchFamily="49" charset="0"/>
              </a:rPr>
              <a:t>rib</a:t>
            </a:r>
            <a:r>
              <a:rPr lang="sk-SK" sz="1100" dirty="0">
                <a:latin typeface="Consolas" panose="020B0609020204030204" pitchFamily="49" charset="0"/>
              </a:rPr>
              <a:t> (7), 0 </a:t>
            </a:r>
            <a:r>
              <a:rPr lang="sk-SK" sz="1100" dirty="0" err="1">
                <a:latin typeface="Consolas" panose="020B0609020204030204" pitchFamily="49" charset="0"/>
              </a:rPr>
              <a:t>backups</a:t>
            </a:r>
            <a:endParaRPr lang="sk-SK" sz="1100" dirty="0">
              <a:latin typeface="Consolas" panose="020B0609020204030204" pitchFamily="49" charset="0"/>
            </a:endParaRPr>
          </a:p>
          <a:p>
            <a:r>
              <a:rPr lang="sk-SK" sz="1100" dirty="0">
                <a:latin typeface="Consolas" panose="020B0609020204030204" pitchFamily="49" charset="0"/>
              </a:rPr>
              <a:t>                [5 type 3 </a:t>
            </a:r>
            <a:r>
              <a:rPr lang="sk-SK" sz="1100" dirty="0" err="1">
                <a:latin typeface="Consolas" panose="020B0609020204030204" pitchFamily="49" charset="0"/>
              </a:rPr>
              <a:t>flags</a:t>
            </a:r>
            <a:r>
              <a:rPr lang="sk-SK" sz="1100" dirty="0">
                <a:latin typeface="Consolas" panose="020B0609020204030204" pitchFamily="49" charset="0"/>
              </a:rPr>
              <a:t> 0x8441 (0xe0714e8) </a:t>
            </a:r>
            <a:r>
              <a:rPr lang="sk-SK" sz="1100" dirty="0" err="1">
                <a:latin typeface="Consolas" panose="020B0609020204030204" pitchFamily="49" charset="0"/>
              </a:rPr>
              <a:t>ext</a:t>
            </a:r>
            <a:r>
              <a:rPr lang="sk-SK" sz="1100" dirty="0">
                <a:latin typeface="Consolas" panose="020B0609020204030204" pitchFamily="49" charset="0"/>
              </a:rPr>
              <a:t> 0x0 (0x0)]</a:t>
            </a:r>
          </a:p>
          <a:p>
            <a:r>
              <a:rPr lang="sk-SK" sz="1100" dirty="0">
                <a:latin typeface="Consolas" panose="020B0609020204030204" pitchFamily="49" charset="0"/>
              </a:rPr>
              <a:t>  LW-LDI[type=3, </a:t>
            </a:r>
            <a:r>
              <a:rPr lang="sk-SK" sz="1100" dirty="0" err="1">
                <a:latin typeface="Consolas" panose="020B0609020204030204" pitchFamily="49" charset="0"/>
              </a:rPr>
              <a:t>refc</a:t>
            </a:r>
            <a:r>
              <a:rPr lang="sk-SK" sz="1100" dirty="0">
                <a:latin typeface="Consolas" panose="020B0609020204030204" pitchFamily="49" charset="0"/>
              </a:rPr>
              <a:t>=1, </a:t>
            </a:r>
            <a:r>
              <a:rPr lang="sk-SK" sz="1100" dirty="0" err="1">
                <a:latin typeface="Consolas" panose="020B0609020204030204" pitchFamily="49" charset="0"/>
              </a:rPr>
              <a:t>ptr</a:t>
            </a:r>
            <a:r>
              <a:rPr lang="sk-SK" sz="1100" dirty="0">
                <a:latin typeface="Consolas" panose="020B0609020204030204" pitchFamily="49" charset="0"/>
              </a:rPr>
              <a:t>=0xe158ba8, sh-</a:t>
            </a:r>
            <a:r>
              <a:rPr lang="sk-SK" sz="1100" dirty="0" err="1">
                <a:latin typeface="Consolas" panose="020B0609020204030204" pitchFamily="49" charset="0"/>
              </a:rPr>
              <a:t>ldi</a:t>
            </a:r>
            <a:r>
              <a:rPr lang="sk-SK" sz="1100" dirty="0">
                <a:latin typeface="Consolas" panose="020B0609020204030204" pitchFamily="49" charset="0"/>
              </a:rPr>
              <a:t>=0xe0714e8]</a:t>
            </a:r>
          </a:p>
          <a:p>
            <a:r>
              <a:rPr lang="sk-SK" sz="1100" dirty="0">
                <a:latin typeface="Consolas" panose="020B0609020204030204" pitchFamily="49" charset="0"/>
              </a:rPr>
              <a:t>  </a:t>
            </a:r>
            <a:r>
              <a:rPr lang="sk-SK" sz="1100" dirty="0" err="1">
                <a:latin typeface="Consolas" panose="020B0609020204030204" pitchFamily="49" charset="0"/>
              </a:rPr>
              <a:t>gateway</a:t>
            </a:r>
            <a:r>
              <a:rPr lang="sk-SK" sz="1100" dirty="0">
                <a:latin typeface="Consolas" panose="020B0609020204030204" pitchFamily="49" charset="0"/>
              </a:rPr>
              <a:t> </a:t>
            </a:r>
            <a:r>
              <a:rPr lang="sk-SK" sz="1100" dirty="0" err="1">
                <a:latin typeface="Consolas" panose="020B0609020204030204" pitchFamily="49" charset="0"/>
              </a:rPr>
              <a:t>array</a:t>
            </a:r>
            <a:r>
              <a:rPr lang="sk-SK" sz="1100" dirty="0">
                <a:latin typeface="Consolas" panose="020B0609020204030204" pitchFamily="49" charset="0"/>
              </a:rPr>
              <a:t> update type-</a:t>
            </a:r>
            <a:r>
              <a:rPr lang="sk-SK" sz="1100" dirty="0" err="1">
                <a:latin typeface="Consolas" panose="020B0609020204030204" pitchFamily="49" charset="0"/>
              </a:rPr>
              <a:t>time</a:t>
            </a:r>
            <a:r>
              <a:rPr lang="sk-SK" sz="1100" dirty="0">
                <a:latin typeface="Consolas" panose="020B0609020204030204" pitchFamily="49" charset="0"/>
              </a:rPr>
              <a:t> 1 Nov  1 15:30:55.710</a:t>
            </a:r>
          </a:p>
          <a:p>
            <a:r>
              <a:rPr lang="sk-SK" sz="1100" dirty="0">
                <a:latin typeface="Consolas" panose="020B0609020204030204" pitchFamily="49" charset="0"/>
              </a:rPr>
              <a:t> LDI Update </a:t>
            </a:r>
            <a:r>
              <a:rPr lang="sk-SK" sz="1100" dirty="0" err="1">
                <a:latin typeface="Consolas" panose="020B0609020204030204" pitchFamily="49" charset="0"/>
              </a:rPr>
              <a:t>time</a:t>
            </a:r>
            <a:r>
              <a:rPr lang="sk-SK" sz="1100" dirty="0">
                <a:latin typeface="Consolas" panose="020B0609020204030204" pitchFamily="49" charset="0"/>
              </a:rPr>
              <a:t> Nov  1 15:30:55.710</a:t>
            </a:r>
          </a:p>
          <a:p>
            <a:r>
              <a:rPr lang="sk-SK" sz="1100" dirty="0">
                <a:latin typeface="Consolas" panose="020B0609020204030204" pitchFamily="49" charset="0"/>
              </a:rPr>
              <a:t> LW-LDI-TS Nov  1 15:30:55.710</a:t>
            </a:r>
          </a:p>
          <a:p>
            <a:endParaRPr lang="sk-SK" sz="1100" dirty="0">
              <a:latin typeface="Consolas" panose="020B0609020204030204" pitchFamily="49" charset="0"/>
            </a:endParaRPr>
          </a:p>
          <a:p>
            <a:r>
              <a:rPr lang="sk-SK" sz="1100" dirty="0">
                <a:latin typeface="Consolas" panose="020B0609020204030204" pitchFamily="49" charset="0"/>
              </a:rPr>
              <a:t>  Level 1 - </a:t>
            </a:r>
            <a:r>
              <a:rPr lang="sk-SK" sz="1100" dirty="0" err="1">
                <a:latin typeface="Consolas" panose="020B0609020204030204" pitchFamily="49" charset="0"/>
              </a:rPr>
              <a:t>Load</a:t>
            </a:r>
            <a:r>
              <a:rPr lang="sk-SK" sz="1100" dirty="0">
                <a:latin typeface="Consolas" panose="020B0609020204030204" pitchFamily="49" charset="0"/>
              </a:rPr>
              <a:t> </a:t>
            </a:r>
            <a:r>
              <a:rPr lang="sk-SK" sz="1100" dirty="0" err="1">
                <a:latin typeface="Consolas" panose="020B0609020204030204" pitchFamily="49" charset="0"/>
              </a:rPr>
              <a:t>distribution</a:t>
            </a:r>
            <a:r>
              <a:rPr lang="sk-SK" sz="1100" dirty="0">
                <a:latin typeface="Consolas" panose="020B0609020204030204" pitchFamily="49" charset="0"/>
              </a:rPr>
              <a:t>: 0</a:t>
            </a:r>
          </a:p>
          <a:p>
            <a:r>
              <a:rPr lang="sk-SK" sz="1100" dirty="0">
                <a:latin typeface="Consolas" panose="020B0609020204030204" pitchFamily="49" charset="0"/>
              </a:rPr>
              <a:t>  [0] </a:t>
            </a:r>
            <a:r>
              <a:rPr lang="sk-SK" sz="1100" dirty="0" err="1">
                <a:latin typeface="Consolas" panose="020B0609020204030204" pitchFamily="49" charset="0"/>
              </a:rPr>
              <a:t>via</a:t>
            </a:r>
            <a:r>
              <a:rPr lang="sk-SK" sz="1100" dirty="0">
                <a:latin typeface="Consolas" panose="020B0609020204030204" pitchFamily="49" charset="0"/>
              </a:rPr>
              <a:t> fc00:ab00:21::/128, </a:t>
            </a:r>
            <a:r>
              <a:rPr lang="sk-SK" sz="1100" dirty="0" err="1">
                <a:latin typeface="Consolas" panose="020B0609020204030204" pitchFamily="49" charset="0"/>
              </a:rPr>
              <a:t>recursive</a:t>
            </a:r>
            <a:endParaRPr lang="sk-SK" sz="1100" dirty="0">
              <a:latin typeface="Consolas" panose="020B0609020204030204" pitchFamily="49" charset="0"/>
            </a:endParaRPr>
          </a:p>
          <a:p>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via</a:t>
            </a:r>
            <a:r>
              <a:rPr lang="sk-SK" sz="1100" dirty="0">
                <a:latin typeface="Consolas" panose="020B0609020204030204" pitchFamily="49" charset="0"/>
              </a:rPr>
              <a:t> fc00:ab00:21::/128, 3 </a:t>
            </a:r>
            <a:r>
              <a:rPr lang="sk-SK" sz="1100" dirty="0" err="1">
                <a:latin typeface="Consolas" panose="020B0609020204030204" pitchFamily="49" charset="0"/>
              </a:rPr>
              <a:t>dependencies</a:t>
            </a:r>
            <a:r>
              <a:rPr lang="sk-SK" sz="1100" dirty="0">
                <a:latin typeface="Consolas" panose="020B0609020204030204" pitchFamily="49" charset="0"/>
              </a:rPr>
              <a:t>, </a:t>
            </a:r>
            <a:r>
              <a:rPr lang="sk-SK" sz="1100" dirty="0" err="1">
                <a:latin typeface="Consolas" panose="020B0609020204030204" pitchFamily="49" charset="0"/>
              </a:rPr>
              <a:t>recursive</a:t>
            </a:r>
            <a:r>
              <a:rPr lang="sk-SK" sz="1100" dirty="0">
                <a:latin typeface="Consolas" panose="020B0609020204030204" pitchFamily="49" charset="0"/>
              </a:rPr>
              <a:t> [</a:t>
            </a:r>
            <a:r>
              <a:rPr lang="sk-SK" sz="1100" dirty="0" err="1">
                <a:latin typeface="Consolas" panose="020B0609020204030204" pitchFamily="49" charset="0"/>
              </a:rPr>
              <a:t>flags</a:t>
            </a:r>
            <a:r>
              <a:rPr lang="sk-SK" sz="1100" dirty="0">
                <a:latin typeface="Consolas" panose="020B0609020204030204" pitchFamily="49" charset="0"/>
              </a:rPr>
              <a:t> 0x6000]</a:t>
            </a:r>
          </a:p>
          <a:p>
            <a:r>
              <a:rPr lang="sk-SK" sz="1100" dirty="0">
                <a:latin typeface="Consolas" panose="020B0609020204030204" pitchFamily="49" charset="0"/>
              </a:rPr>
              <a:t>    </a:t>
            </a:r>
            <a:r>
              <a:rPr lang="sk-SK" sz="1100" dirty="0" err="1">
                <a:latin typeface="Consolas" panose="020B0609020204030204" pitchFamily="49" charset="0"/>
              </a:rPr>
              <a:t>path-idx</a:t>
            </a:r>
            <a:r>
              <a:rPr lang="sk-SK" sz="1100" dirty="0">
                <a:latin typeface="Consolas" panose="020B0609020204030204" pitchFamily="49" charset="0"/>
              </a:rPr>
              <a:t> 0 NHID 0x0 [0xe7662c8 0x0]</a:t>
            </a:r>
          </a:p>
          <a:p>
            <a:r>
              <a:rPr lang="sk-SK" sz="1100" dirty="0">
                <a:latin typeface="Consolas" panose="020B0609020204030204" pitchFamily="49" charset="0"/>
              </a:rPr>
              <a:t>    </a:t>
            </a:r>
            <a:r>
              <a:rPr lang="sk-SK" sz="1100" dirty="0" err="1">
                <a:latin typeface="Consolas" panose="020B0609020204030204" pitchFamily="49" charset="0"/>
              </a:rPr>
              <a:t>next</a:t>
            </a:r>
            <a:r>
              <a:rPr lang="sk-SK" sz="1100" dirty="0">
                <a:latin typeface="Consolas" panose="020B0609020204030204" pitchFamily="49" charset="0"/>
              </a:rPr>
              <a:t> hop VRF - 'default', table - 0xe0800000</a:t>
            </a:r>
          </a:p>
          <a:p>
            <a:r>
              <a:rPr lang="sk-SK" sz="1100" dirty="0">
                <a:latin typeface="Consolas" panose="020B0609020204030204" pitchFamily="49" charset="0"/>
              </a:rPr>
              <a:t>    </a:t>
            </a:r>
            <a:r>
              <a:rPr lang="sk-SK" sz="1100" dirty="0" err="1">
                <a:latin typeface="Consolas" panose="020B0609020204030204" pitchFamily="49" charset="0"/>
              </a:rPr>
              <a:t>next</a:t>
            </a:r>
            <a:r>
              <a:rPr lang="sk-SK" sz="1100" dirty="0">
                <a:latin typeface="Consolas" panose="020B0609020204030204" pitchFamily="49" charset="0"/>
              </a:rPr>
              <a:t> hop fc00:ab00:21::/128 </a:t>
            </a:r>
            <a:r>
              <a:rPr lang="sk-SK" sz="1100" dirty="0" err="1">
                <a:latin typeface="Consolas" panose="020B0609020204030204" pitchFamily="49" charset="0"/>
              </a:rPr>
              <a:t>via</a:t>
            </a:r>
            <a:r>
              <a:rPr lang="sk-SK" sz="1100" dirty="0">
                <a:latin typeface="Consolas" panose="020B0609020204030204" pitchFamily="49" charset="0"/>
              </a:rPr>
              <a:t> fc00:ab00:21::/48</a:t>
            </a:r>
          </a:p>
          <a:p>
            <a:r>
              <a:rPr lang="sk-SK" sz="1100" dirty="0">
                <a:latin typeface="Consolas" panose="020B0609020204030204" pitchFamily="49" charset="0"/>
              </a:rPr>
              <a:t>    SRv6 </a:t>
            </a:r>
            <a:r>
              <a:rPr lang="sk-SK" sz="1100" dirty="0" err="1">
                <a:latin typeface="Consolas" panose="020B0609020204030204" pitchFamily="49" charset="0"/>
              </a:rPr>
              <a:t>H.Encaps.Red</a:t>
            </a:r>
            <a:r>
              <a:rPr lang="sk-SK" sz="1100" dirty="0">
                <a:latin typeface="Consolas" panose="020B0609020204030204" pitchFamily="49" charset="0"/>
              </a:rPr>
              <a:t> </a:t>
            </a:r>
            <a:r>
              <a:rPr lang="sk-SK" sz="1100" dirty="0" err="1">
                <a:latin typeface="Consolas" panose="020B0609020204030204" pitchFamily="49" charset="0"/>
              </a:rPr>
              <a:t>SID</a:t>
            </a:r>
            <a:r>
              <a:rPr lang="sk-SK" sz="1100" dirty="0">
                <a:latin typeface="Consolas" panose="020B0609020204030204" pitchFamily="49" charset="0"/>
              </a:rPr>
              <a:t>-list {</a:t>
            </a:r>
            <a:r>
              <a:rPr lang="sk-SK" sz="1100" dirty="0">
                <a:solidFill>
                  <a:schemeClr val="bg1"/>
                </a:solidFill>
                <a:highlight>
                  <a:srgbClr val="008000"/>
                </a:highlight>
                <a:latin typeface="Consolas" panose="020B0609020204030204" pitchFamily="49" charset="0"/>
              </a:rPr>
              <a:t>fc00:ab00:21:e000::</a:t>
            </a:r>
            <a:r>
              <a:rPr lang="sk-SK" sz="1100" dirty="0">
                <a:latin typeface="Consolas" panose="020B0609020204030204" pitchFamily="49" charset="0"/>
              </a:rPr>
              <a:t>}</a:t>
            </a:r>
          </a:p>
          <a:p>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Load</a:t>
            </a:r>
            <a:r>
              <a:rPr lang="sk-SK" sz="1100" dirty="0">
                <a:latin typeface="Consolas" panose="020B0609020204030204" pitchFamily="49" charset="0"/>
              </a:rPr>
              <a:t> </a:t>
            </a:r>
            <a:r>
              <a:rPr lang="sk-SK" sz="1100" dirty="0" err="1">
                <a:latin typeface="Consolas" panose="020B0609020204030204" pitchFamily="49" charset="0"/>
              </a:rPr>
              <a:t>distribution</a:t>
            </a:r>
            <a:r>
              <a:rPr lang="sk-SK" sz="1100" dirty="0">
                <a:latin typeface="Consolas" panose="020B0609020204030204" pitchFamily="49" charset="0"/>
              </a:rPr>
              <a:t>: 0 (refcount 5)</a:t>
            </a:r>
          </a:p>
          <a:p>
            <a:endParaRPr lang="sk-SK" sz="1100" dirty="0">
              <a:latin typeface="Consolas" panose="020B0609020204030204" pitchFamily="49" charset="0"/>
            </a:endParaRPr>
          </a:p>
          <a:p>
            <a:r>
              <a:rPr lang="sk-SK" sz="1100" dirty="0">
                <a:latin typeface="Consolas" panose="020B0609020204030204" pitchFamily="49" charset="0"/>
              </a:rPr>
              <a:t>    </a:t>
            </a:r>
            <a:r>
              <a:rPr lang="sk-SK" sz="1100" dirty="0" err="1">
                <a:latin typeface="Consolas" panose="020B0609020204030204" pitchFamily="49" charset="0"/>
              </a:rPr>
              <a:t>Hash</a:t>
            </a:r>
            <a:r>
              <a:rPr lang="sk-SK" sz="1100" dirty="0">
                <a:latin typeface="Consolas" panose="020B0609020204030204" pitchFamily="49" charset="0"/>
              </a:rPr>
              <a:t>  OK  Interface                 </a:t>
            </a:r>
            <a:r>
              <a:rPr lang="sk-SK" sz="1100" dirty="0" err="1">
                <a:latin typeface="Consolas" panose="020B0609020204030204" pitchFamily="49" charset="0"/>
              </a:rPr>
              <a:t>Address</a:t>
            </a:r>
            <a:endParaRPr lang="sk-SK" sz="1100" dirty="0">
              <a:latin typeface="Consolas" panose="020B0609020204030204" pitchFamily="49" charset="0"/>
            </a:endParaRPr>
          </a:p>
          <a:p>
            <a:r>
              <a:rPr lang="sk-SK" sz="1100" dirty="0">
                <a:latin typeface="Consolas" panose="020B0609020204030204" pitchFamily="49" charset="0"/>
              </a:rPr>
              <a:t>    0     Y   GigabitEthernet0/0/0/1    </a:t>
            </a:r>
            <a:r>
              <a:rPr lang="sk-SK" sz="1100" dirty="0" err="1">
                <a:latin typeface="Consolas" panose="020B0609020204030204" pitchFamily="49" charset="0"/>
              </a:rPr>
              <a:t>remote</a:t>
            </a:r>
            <a:r>
              <a:rPr lang="sk-SK" sz="1100" dirty="0">
                <a:latin typeface="Consolas" panose="020B0609020204030204" pitchFamily="49" charset="0"/>
              </a:rPr>
              <a:t>         </a:t>
            </a:r>
          </a:p>
          <a:p>
            <a:r>
              <a:rPr lang="sk-SK" sz="1100" dirty="0">
                <a:latin typeface="Consolas" panose="020B0609020204030204" pitchFamily="49" charset="0"/>
              </a:rPr>
              <a:t>          </a:t>
            </a:r>
          </a:p>
          <a:p>
            <a:r>
              <a:rPr lang="sk-SK" sz="1100" dirty="0">
                <a:latin typeface="Consolas" panose="020B0609020204030204" pitchFamily="49" charset="0"/>
              </a:rPr>
              <a:t>RP/0/RP0/CPU0:R02#</a:t>
            </a:r>
          </a:p>
        </p:txBody>
      </p:sp>
    </p:spTree>
    <p:extLst>
      <p:ext uri="{BB962C8B-B14F-4D97-AF65-F5344CB8AC3E}">
        <p14:creationId xmlns:p14="http://schemas.microsoft.com/office/powerpoint/2010/main" val="1818434118"/>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MPLS to SRv6 (CE31 -&gt; CE21)  #R21</a:t>
            </a:r>
          </a:p>
        </p:txBody>
      </p:sp>
      <p:sp>
        <p:nvSpPr>
          <p:cNvPr id="4" name="Rectangle 3">
            <a:extLst>
              <a:ext uri="{FF2B5EF4-FFF2-40B4-BE49-F238E27FC236}">
                <a16:creationId xmlns:a16="http://schemas.microsoft.com/office/drawing/2014/main" id="{87D7CB37-5BEE-FF8F-7602-60627856E0E8}"/>
              </a:ext>
            </a:extLst>
          </p:cNvPr>
          <p:cNvSpPr/>
          <p:nvPr/>
        </p:nvSpPr>
        <p:spPr>
          <a:xfrm>
            <a:off x="105805" y="786594"/>
            <a:ext cx="5555974" cy="2462213"/>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R21#</a:t>
            </a:r>
            <a:r>
              <a:rPr lang="en-US" sz="1100" b="1" dirty="0">
                <a:latin typeface="Consolas" panose="020B0609020204030204" pitchFamily="49" charset="0"/>
              </a:rPr>
              <a:t>sh ip bgp vpnv4 vrf A 10.0.21.1</a:t>
            </a:r>
          </a:p>
          <a:p>
            <a:r>
              <a:rPr lang="en-US" sz="1100" dirty="0">
                <a:latin typeface="Consolas" panose="020B0609020204030204" pitchFamily="49" charset="0"/>
              </a:rPr>
              <a:t>BGP routing table entry for 65000:1:10.0.21.0/24, version 2</a:t>
            </a:r>
          </a:p>
          <a:p>
            <a:r>
              <a:rPr lang="en-US" sz="1100" dirty="0">
                <a:latin typeface="Consolas" panose="020B0609020204030204" pitchFamily="49" charset="0"/>
              </a:rPr>
              <a:t>Paths: (1 available, best #1, table A)</a:t>
            </a:r>
          </a:p>
          <a:p>
            <a:r>
              <a:rPr lang="en-US" sz="1100" dirty="0">
                <a:latin typeface="Consolas" panose="020B0609020204030204" pitchFamily="49" charset="0"/>
              </a:rPr>
              <a:t>  Advertised to update-groups:</a:t>
            </a:r>
          </a:p>
          <a:p>
            <a:r>
              <a:rPr lang="en-US" sz="1100" dirty="0">
                <a:latin typeface="Consolas" panose="020B0609020204030204" pitchFamily="49" charset="0"/>
              </a:rPr>
              <a:t>     3         </a:t>
            </a:r>
          </a:p>
          <a:p>
            <a:r>
              <a:rPr lang="en-US" sz="1100" dirty="0">
                <a:latin typeface="Consolas" panose="020B0609020204030204" pitchFamily="49" charset="0"/>
              </a:rPr>
              <a:t>  Refresh Epoch 1</a:t>
            </a:r>
          </a:p>
          <a:p>
            <a:r>
              <a:rPr lang="en-US" sz="1100" dirty="0">
                <a:latin typeface="Consolas" panose="020B0609020204030204" pitchFamily="49" charset="0"/>
              </a:rPr>
              <a:t>  </a:t>
            </a:r>
            <a:r>
              <a:rPr lang="en-US" sz="1100" dirty="0">
                <a:solidFill>
                  <a:schemeClr val="accent6">
                    <a:lumMod val="75000"/>
                  </a:schemeClr>
                </a:solidFill>
                <a:latin typeface="Consolas" panose="020B0609020204030204" pitchFamily="49" charset="0"/>
              </a:rPr>
              <a:t>65021</a:t>
            </a:r>
          </a:p>
          <a:p>
            <a:r>
              <a:rPr lang="en-US" sz="1100" dirty="0">
                <a:solidFill>
                  <a:schemeClr val="accent6">
                    <a:lumMod val="75000"/>
                  </a:schemeClr>
                </a:solidFill>
                <a:latin typeface="Consolas" panose="020B0609020204030204" pitchFamily="49" charset="0"/>
              </a:rPr>
              <a:t>    10.64.21.2</a:t>
            </a:r>
            <a:r>
              <a:rPr lang="en-US" sz="1100" dirty="0">
                <a:latin typeface="Consolas" panose="020B0609020204030204" pitchFamily="49" charset="0"/>
              </a:rPr>
              <a:t> (via vrf A) from 10.64.21.2 (10.2.21.1)</a:t>
            </a:r>
          </a:p>
          <a:p>
            <a:r>
              <a:rPr lang="en-US" sz="1100" dirty="0">
                <a:latin typeface="Consolas" panose="020B0609020204030204" pitchFamily="49" charset="0"/>
              </a:rPr>
              <a:t>      Origin IGP, metric 0, localpref 100, valid, external, best</a:t>
            </a:r>
          </a:p>
          <a:p>
            <a:r>
              <a:rPr lang="en-US" sz="1100" dirty="0">
                <a:latin typeface="Consolas" panose="020B0609020204030204" pitchFamily="49" charset="0"/>
              </a:rPr>
              <a:t>      Extended Community: RT:65000:1</a:t>
            </a:r>
          </a:p>
          <a:p>
            <a:r>
              <a:rPr lang="en-US" sz="1100" dirty="0">
                <a:latin typeface="Consolas" panose="020B0609020204030204" pitchFamily="49" charset="0"/>
              </a:rPr>
              <a:t>      srv6 in-</a:t>
            </a:r>
            <a:r>
              <a:rPr lang="en-US" sz="1100" dirty="0" err="1">
                <a:latin typeface="Consolas" panose="020B0609020204030204" pitchFamily="49" charset="0"/>
              </a:rPr>
              <a:t>sid</a:t>
            </a:r>
            <a:r>
              <a:rPr lang="en-US" sz="1100" dirty="0">
                <a:latin typeface="Consolas" panose="020B0609020204030204" pitchFamily="49" charset="0"/>
              </a:rPr>
              <a:t>: FC00:AB00:21:E000::</a:t>
            </a:r>
          </a:p>
          <a:p>
            <a:r>
              <a:rPr lang="en-US" sz="1100" dirty="0">
                <a:latin typeface="Consolas" panose="020B0609020204030204" pitchFamily="49" charset="0"/>
              </a:rPr>
              <a:t>      </a:t>
            </a:r>
            <a:r>
              <a:rPr lang="en-US" sz="1100" dirty="0" err="1">
                <a:latin typeface="Consolas" panose="020B0609020204030204" pitchFamily="49" charset="0"/>
              </a:rPr>
              <a:t>rx</a:t>
            </a:r>
            <a:r>
              <a:rPr lang="en-US" sz="1100" dirty="0">
                <a:latin typeface="Consolas" panose="020B0609020204030204" pitchFamily="49" charset="0"/>
              </a:rPr>
              <a:t> </a:t>
            </a:r>
            <a:r>
              <a:rPr lang="en-US" sz="1100" dirty="0" err="1">
                <a:latin typeface="Consolas" panose="020B0609020204030204" pitchFamily="49" charset="0"/>
              </a:rPr>
              <a:t>pathid</a:t>
            </a:r>
            <a:r>
              <a:rPr lang="en-US" sz="1100" dirty="0">
                <a:latin typeface="Consolas" panose="020B0609020204030204" pitchFamily="49" charset="0"/>
              </a:rPr>
              <a:t>: 0, </a:t>
            </a:r>
            <a:r>
              <a:rPr lang="en-US" sz="1100" dirty="0" err="1">
                <a:latin typeface="Consolas" panose="020B0609020204030204" pitchFamily="49" charset="0"/>
              </a:rPr>
              <a:t>tx</a:t>
            </a:r>
            <a:r>
              <a:rPr lang="en-US" sz="1100" dirty="0">
                <a:latin typeface="Consolas" panose="020B0609020204030204" pitchFamily="49" charset="0"/>
              </a:rPr>
              <a:t> </a:t>
            </a:r>
            <a:r>
              <a:rPr lang="en-US" sz="1100" dirty="0" err="1">
                <a:latin typeface="Consolas" panose="020B0609020204030204" pitchFamily="49" charset="0"/>
              </a:rPr>
              <a:t>pathid</a:t>
            </a:r>
            <a:r>
              <a:rPr lang="en-US" sz="1100" dirty="0">
                <a:latin typeface="Consolas" panose="020B0609020204030204" pitchFamily="49" charset="0"/>
              </a:rPr>
              <a:t>: 0x0</a:t>
            </a:r>
          </a:p>
          <a:p>
            <a:r>
              <a:rPr lang="en-US" sz="1100" dirty="0">
                <a:latin typeface="Consolas" panose="020B0609020204030204" pitchFamily="49" charset="0"/>
              </a:rPr>
              <a:t>      Updated on Oct 21 2024 13:07:59 UTC</a:t>
            </a:r>
          </a:p>
          <a:p>
            <a:r>
              <a:rPr lang="en-US" sz="1100" dirty="0">
                <a:latin typeface="Consolas" panose="020B0609020204030204" pitchFamily="49" charset="0"/>
              </a:rPr>
              <a:t>R21#</a:t>
            </a:r>
          </a:p>
        </p:txBody>
      </p:sp>
      <p:sp>
        <p:nvSpPr>
          <p:cNvPr id="2" name="Rectangle 1">
            <a:extLst>
              <a:ext uri="{FF2B5EF4-FFF2-40B4-BE49-F238E27FC236}">
                <a16:creationId xmlns:a16="http://schemas.microsoft.com/office/drawing/2014/main" id="{DFAA9F38-5D85-A11C-5990-66F981A3EFA7}"/>
              </a:ext>
            </a:extLst>
          </p:cNvPr>
          <p:cNvSpPr/>
          <p:nvPr/>
        </p:nvSpPr>
        <p:spPr>
          <a:xfrm>
            <a:off x="991400" y="3732209"/>
            <a:ext cx="10209197" cy="1615827"/>
          </a:xfrm>
          <a:prstGeom prst="rect">
            <a:avLst/>
          </a:prstGeom>
          <a:solidFill>
            <a:schemeClr val="bg1">
              <a:lumMod val="95000"/>
            </a:schemeClr>
          </a:solidFill>
          <a:ln>
            <a:solidFill>
              <a:schemeClr val="tx1"/>
            </a:solidFill>
          </a:ln>
          <a:effectLst/>
        </p:spPr>
        <p:txBody>
          <a:bodyPr wrap="square">
            <a:spAutoFit/>
          </a:bodyPr>
          <a:lstStyle/>
          <a:p>
            <a:r>
              <a:rPr lang="sk-SK" sz="1100" dirty="0">
                <a:latin typeface="Consolas" panose="020B0609020204030204" pitchFamily="49" charset="0"/>
              </a:rPr>
              <a:t>R21#sh segment-routing srv6 </a:t>
            </a:r>
            <a:r>
              <a:rPr lang="sk-SK" sz="1100" dirty="0" err="1">
                <a:latin typeface="Consolas" panose="020B0609020204030204" pitchFamily="49" charset="0"/>
              </a:rPr>
              <a:t>sid</a:t>
            </a:r>
            <a:endParaRPr lang="sk-SK" sz="1100" dirty="0">
              <a:latin typeface="Consolas" panose="020B0609020204030204" pitchFamily="49" charset="0"/>
            </a:endParaRPr>
          </a:p>
          <a:p>
            <a:endParaRPr lang="sk-SK" sz="1100" dirty="0">
              <a:latin typeface="Consolas" panose="020B0609020204030204" pitchFamily="49" charset="0"/>
            </a:endParaRPr>
          </a:p>
          <a:p>
            <a:r>
              <a:rPr lang="sk-SK" sz="1100" dirty="0">
                <a:latin typeface="Consolas" panose="020B0609020204030204" pitchFamily="49" charset="0"/>
              </a:rPr>
              <a:t>SID                                  </a:t>
            </a:r>
            <a:r>
              <a:rPr lang="sk-SK" sz="1100" dirty="0" err="1">
                <a:latin typeface="Consolas" panose="020B0609020204030204" pitchFamily="49" charset="0"/>
              </a:rPr>
              <a:t>Locator</a:t>
            </a:r>
            <a:r>
              <a:rPr lang="sk-SK" sz="1100" dirty="0">
                <a:latin typeface="Consolas" panose="020B0609020204030204" pitchFamily="49" charset="0"/>
              </a:rPr>
              <a:t>         </a:t>
            </a:r>
            <a:r>
              <a:rPr lang="sk-SK" sz="1100" dirty="0" err="1">
                <a:latin typeface="Consolas" panose="020B0609020204030204" pitchFamily="49" charset="0"/>
              </a:rPr>
              <a:t>Behavior</a:t>
            </a:r>
            <a:r>
              <a:rPr lang="sk-SK" sz="1100" dirty="0">
                <a:latin typeface="Consolas" panose="020B0609020204030204" pitchFamily="49" charset="0"/>
              </a:rPr>
              <a:t>             </a:t>
            </a:r>
            <a:r>
              <a:rPr lang="sk-SK" sz="1100" dirty="0" err="1">
                <a:latin typeface="Consolas" panose="020B0609020204030204" pitchFamily="49" charset="0"/>
              </a:rPr>
              <a:t>Context</a:t>
            </a:r>
            <a:r>
              <a:rPr lang="sk-SK" sz="1100" dirty="0">
                <a:latin typeface="Consolas" panose="020B0609020204030204" pitchFamily="49" charset="0"/>
              </a:rPr>
              <a:t>                                  </a:t>
            </a:r>
            <a:r>
              <a:rPr lang="sk-SK" sz="1100" dirty="0" err="1">
                <a:latin typeface="Consolas" panose="020B0609020204030204" pitchFamily="49" charset="0"/>
              </a:rPr>
              <a:t>Owner</a:t>
            </a:r>
            <a:endParaRPr lang="sk-SK" sz="1100" dirty="0">
              <a:latin typeface="Consolas" panose="020B0609020204030204" pitchFamily="49" charset="0"/>
            </a:endParaRPr>
          </a:p>
          <a:p>
            <a:r>
              <a:rPr lang="sk-SK" sz="1100" dirty="0">
                <a:latin typeface="Consolas" panose="020B0609020204030204" pitchFamily="49" charset="0"/>
              </a:rPr>
              <a:t>---                                  -------         --------             -------                                  -----</a:t>
            </a:r>
          </a:p>
          <a:p>
            <a:r>
              <a:rPr lang="sk-SK" sz="1100" dirty="0">
                <a:latin typeface="Consolas" panose="020B0609020204030204" pitchFamily="49" charset="0"/>
              </a:rPr>
              <a:t>FC00:AB00:21::                       Loc_uSID_Algo_0 </a:t>
            </a:r>
            <a:r>
              <a:rPr lang="sk-SK" sz="1100" dirty="0" err="1">
                <a:latin typeface="Consolas" panose="020B0609020204030204" pitchFamily="49" charset="0"/>
              </a:rPr>
              <a:t>uN</a:t>
            </a:r>
            <a:r>
              <a:rPr lang="sk-SK" sz="1100" dirty="0">
                <a:latin typeface="Consolas" panose="020B0609020204030204" pitchFamily="49" charset="0"/>
              </a:rPr>
              <a:t> (PSP/USD)                                                  SID-MGR                                 </a:t>
            </a:r>
          </a:p>
          <a:p>
            <a:r>
              <a:rPr lang="sk-SK" sz="1100" dirty="0">
                <a:latin typeface="Consolas" panose="020B0609020204030204" pitchFamily="49" charset="0"/>
              </a:rPr>
              <a:t>FC00:AB00:21:E000::                  Loc_uSID_Algo_0 uDT4                 A                                        router bgp                              </a:t>
            </a:r>
          </a:p>
          <a:p>
            <a:r>
              <a:rPr lang="sk-SK" sz="1100" dirty="0">
                <a:solidFill>
                  <a:schemeClr val="bg1"/>
                </a:solidFill>
                <a:highlight>
                  <a:srgbClr val="008000"/>
                </a:highlight>
                <a:latin typeface="Consolas" panose="020B0609020204030204" pitchFamily="49" charset="0"/>
              </a:rPr>
              <a:t>FC00:AB00:21:E001::                  </a:t>
            </a:r>
            <a:r>
              <a:rPr lang="sk-SK" sz="1100" dirty="0" err="1">
                <a:latin typeface="Consolas" panose="020B0609020204030204" pitchFamily="49" charset="0"/>
              </a:rPr>
              <a:t>Loc_uSID_Algo_0</a:t>
            </a:r>
            <a:r>
              <a:rPr lang="sk-SK" sz="1100" dirty="0">
                <a:latin typeface="Consolas" panose="020B0609020204030204" pitchFamily="49" charset="0"/>
              </a:rPr>
              <a:t> </a:t>
            </a:r>
            <a:r>
              <a:rPr lang="sk-SK" sz="1100" dirty="0" err="1">
                <a:latin typeface="Consolas" panose="020B0609020204030204" pitchFamily="49" charset="0"/>
              </a:rPr>
              <a:t>uA</a:t>
            </a:r>
            <a:r>
              <a:rPr lang="sk-SK" sz="1100" dirty="0">
                <a:latin typeface="Consolas" panose="020B0609020204030204" pitchFamily="49" charset="0"/>
              </a:rPr>
              <a:t> (PSP/USD)         Gi1 FE80::5054:FF:FE13:CE9F              router </a:t>
            </a:r>
            <a:r>
              <a:rPr lang="sk-SK" sz="1100" dirty="0" err="1">
                <a:latin typeface="Consolas" panose="020B0609020204030204" pitchFamily="49" charset="0"/>
              </a:rPr>
              <a:t>isis</a:t>
            </a:r>
            <a:r>
              <a:rPr lang="sk-SK" sz="1100" dirty="0">
                <a:latin typeface="Consolas" panose="020B0609020204030204" pitchFamily="49" charset="0"/>
              </a:rPr>
              <a:t> 1                           </a:t>
            </a:r>
          </a:p>
          <a:p>
            <a:endParaRPr lang="sk-SK" sz="1100" dirty="0">
              <a:latin typeface="Consolas" panose="020B0609020204030204" pitchFamily="49" charset="0"/>
            </a:endParaRPr>
          </a:p>
          <a:p>
            <a:r>
              <a:rPr lang="sk-SK" sz="1100" dirty="0">
                <a:latin typeface="Consolas" panose="020B0609020204030204" pitchFamily="49" charset="0"/>
              </a:rPr>
              <a:t>R21#</a:t>
            </a:r>
          </a:p>
        </p:txBody>
      </p:sp>
      <p:sp>
        <p:nvSpPr>
          <p:cNvPr id="6" name="Rectangle 5">
            <a:extLst>
              <a:ext uri="{FF2B5EF4-FFF2-40B4-BE49-F238E27FC236}">
                <a16:creationId xmlns:a16="http://schemas.microsoft.com/office/drawing/2014/main" id="{82848F71-5F6B-8674-37C3-853D8A3361C4}"/>
              </a:ext>
            </a:extLst>
          </p:cNvPr>
          <p:cNvSpPr/>
          <p:nvPr/>
        </p:nvSpPr>
        <p:spPr>
          <a:xfrm>
            <a:off x="5758774" y="785478"/>
            <a:ext cx="6155566" cy="938719"/>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R21#</a:t>
            </a:r>
            <a:r>
              <a:rPr lang="en-US" sz="1100" b="1" dirty="0">
                <a:latin typeface="Consolas" panose="020B0609020204030204" pitchFamily="49" charset="0"/>
              </a:rPr>
              <a:t>sh ip cef vrf A 10.0.21.1 detail </a:t>
            </a:r>
          </a:p>
          <a:p>
            <a:r>
              <a:rPr lang="en-US" sz="1100" dirty="0">
                <a:latin typeface="Consolas" panose="020B0609020204030204" pitchFamily="49" charset="0"/>
              </a:rPr>
              <a:t>10.0.21.0/24, epoch 2, flags [rib only nolabel, rib defined all labels]</a:t>
            </a:r>
          </a:p>
          <a:p>
            <a:r>
              <a:rPr lang="en-US" sz="1100" dirty="0">
                <a:latin typeface="Consolas" panose="020B0609020204030204" pitchFamily="49" charset="0"/>
              </a:rPr>
              <a:t>  recursive via </a:t>
            </a:r>
            <a:r>
              <a:rPr lang="en-US" sz="1100" dirty="0">
                <a:solidFill>
                  <a:schemeClr val="accent6">
                    <a:lumMod val="75000"/>
                  </a:schemeClr>
                </a:solidFill>
                <a:latin typeface="Consolas" panose="020B0609020204030204" pitchFamily="49" charset="0"/>
              </a:rPr>
              <a:t>10.64.21.2</a:t>
            </a:r>
          </a:p>
          <a:p>
            <a:r>
              <a:rPr lang="en-US" sz="1100" dirty="0">
                <a:solidFill>
                  <a:schemeClr val="accent6">
                    <a:lumMod val="75000"/>
                  </a:schemeClr>
                </a:solidFill>
                <a:latin typeface="Consolas" panose="020B0609020204030204" pitchFamily="49" charset="0"/>
              </a:rPr>
              <a:t>    attached to GigabitEthernet20</a:t>
            </a:r>
          </a:p>
          <a:p>
            <a:r>
              <a:rPr lang="en-US" sz="1100" dirty="0">
                <a:latin typeface="Consolas" panose="020B0609020204030204" pitchFamily="49" charset="0"/>
              </a:rPr>
              <a:t>R21#</a:t>
            </a:r>
          </a:p>
        </p:txBody>
      </p:sp>
    </p:spTree>
    <p:extLst>
      <p:ext uri="{BB962C8B-B14F-4D97-AF65-F5344CB8AC3E}">
        <p14:creationId xmlns:p14="http://schemas.microsoft.com/office/powerpoint/2010/main" val="3708230711"/>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MPLS to SRv6 (CE31 -&gt; CE21)  #CE21</a:t>
            </a:r>
          </a:p>
        </p:txBody>
      </p:sp>
      <p:sp>
        <p:nvSpPr>
          <p:cNvPr id="4" name="Rectangle 3">
            <a:extLst>
              <a:ext uri="{FF2B5EF4-FFF2-40B4-BE49-F238E27FC236}">
                <a16:creationId xmlns:a16="http://schemas.microsoft.com/office/drawing/2014/main" id="{87D7CB37-5BEE-FF8F-7602-60627856E0E8}"/>
              </a:ext>
            </a:extLst>
          </p:cNvPr>
          <p:cNvSpPr/>
          <p:nvPr/>
        </p:nvSpPr>
        <p:spPr>
          <a:xfrm>
            <a:off x="105804" y="786594"/>
            <a:ext cx="9096561" cy="5678478"/>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CE21#sh int loo 1000</a:t>
            </a:r>
          </a:p>
          <a:p>
            <a:r>
              <a:rPr lang="en-US" sz="1100" dirty="0">
                <a:latin typeface="Consolas" panose="020B0609020204030204" pitchFamily="49" charset="0"/>
              </a:rPr>
              <a:t>Loopback1000 is up, line protocol is up </a:t>
            </a:r>
          </a:p>
          <a:p>
            <a:r>
              <a:rPr lang="en-US" sz="1100" dirty="0">
                <a:latin typeface="Consolas" panose="020B0609020204030204" pitchFamily="49" charset="0"/>
              </a:rPr>
              <a:t>  Hardware is Loopback</a:t>
            </a:r>
          </a:p>
          <a:p>
            <a:r>
              <a:rPr lang="en-US" sz="1100" dirty="0">
                <a:latin typeface="Consolas" panose="020B0609020204030204" pitchFamily="49" charset="0"/>
              </a:rPr>
              <a:t>  Internet address is </a:t>
            </a:r>
            <a:r>
              <a:rPr lang="en-US" sz="1100" dirty="0">
                <a:solidFill>
                  <a:schemeClr val="accent6">
                    <a:lumMod val="75000"/>
                  </a:schemeClr>
                </a:solidFill>
                <a:latin typeface="Consolas" panose="020B0609020204030204" pitchFamily="49" charset="0"/>
              </a:rPr>
              <a:t>10.0.21.1/24</a:t>
            </a:r>
          </a:p>
          <a:p>
            <a:r>
              <a:rPr lang="en-US" sz="1100" dirty="0">
                <a:latin typeface="Consolas" panose="020B0609020204030204" pitchFamily="49" charset="0"/>
              </a:rPr>
              <a:t>-- Cut --</a:t>
            </a:r>
          </a:p>
          <a:p>
            <a:r>
              <a:rPr lang="en-US" sz="1100" dirty="0">
                <a:latin typeface="Consolas" panose="020B0609020204030204" pitchFamily="49" charset="0"/>
              </a:rPr>
              <a:t>CE21# sh ip bgp </a:t>
            </a:r>
          </a:p>
          <a:p>
            <a:r>
              <a:rPr lang="en-US" sz="1100" dirty="0">
                <a:latin typeface="Consolas" panose="020B0609020204030204" pitchFamily="49" charset="0"/>
              </a:rPr>
              <a:t>BGP table version is 151, local router ID is 10.2.21.1</a:t>
            </a:r>
          </a:p>
          <a:p>
            <a:r>
              <a:rPr lang="en-US" sz="1100" dirty="0">
                <a:latin typeface="Consolas" panose="020B0609020204030204" pitchFamily="49" charset="0"/>
              </a:rPr>
              <a:t>Status codes: s suppressed, d damped, h history, * valid, &gt; best, </a:t>
            </a:r>
            <a:r>
              <a:rPr lang="en-US" sz="1100" dirty="0" err="1">
                <a:latin typeface="Consolas" panose="020B0609020204030204" pitchFamily="49" charset="0"/>
              </a:rPr>
              <a:t>i</a:t>
            </a:r>
            <a:r>
              <a:rPr lang="en-US" sz="1100" dirty="0">
                <a:latin typeface="Consolas" panose="020B0609020204030204" pitchFamily="49" charset="0"/>
              </a:rPr>
              <a:t> - internal, </a:t>
            </a:r>
          </a:p>
          <a:p>
            <a:r>
              <a:rPr lang="en-US" sz="1100" dirty="0">
                <a:latin typeface="Consolas" panose="020B0609020204030204" pitchFamily="49" charset="0"/>
              </a:rPr>
              <a:t>              r RIB-failure, S Stale, m multipath, b backup-path, f RT-Filter, </a:t>
            </a:r>
          </a:p>
          <a:p>
            <a:r>
              <a:rPr lang="en-US" sz="1100" dirty="0">
                <a:latin typeface="Consolas" panose="020B0609020204030204" pitchFamily="49" charset="0"/>
              </a:rPr>
              <a:t>              x best-external, a additional-path, c RIB-compressed, </a:t>
            </a:r>
          </a:p>
          <a:p>
            <a:r>
              <a:rPr lang="en-US" sz="1100" dirty="0">
                <a:latin typeface="Consolas" panose="020B0609020204030204" pitchFamily="49" charset="0"/>
              </a:rPr>
              <a:t>              t secondary path, </a:t>
            </a:r>
          </a:p>
          <a:p>
            <a:r>
              <a:rPr lang="en-US" sz="1100" dirty="0">
                <a:latin typeface="Consolas" panose="020B0609020204030204" pitchFamily="49" charset="0"/>
              </a:rPr>
              <a:t>Origin codes: </a:t>
            </a:r>
            <a:r>
              <a:rPr lang="en-US" sz="1100" dirty="0" err="1">
                <a:latin typeface="Consolas" panose="020B0609020204030204" pitchFamily="49" charset="0"/>
              </a:rPr>
              <a:t>i</a:t>
            </a:r>
            <a:r>
              <a:rPr lang="en-US" sz="1100" dirty="0">
                <a:latin typeface="Consolas" panose="020B0609020204030204" pitchFamily="49" charset="0"/>
              </a:rPr>
              <a:t> - IGP, e - EGP, ? - incomplete</a:t>
            </a:r>
          </a:p>
          <a:p>
            <a:r>
              <a:rPr lang="en-US" sz="1100" dirty="0">
                <a:latin typeface="Consolas" panose="020B0609020204030204" pitchFamily="49" charset="0"/>
              </a:rPr>
              <a:t>RPKI validation codes: V valid, I invalid, N Not found</a:t>
            </a:r>
          </a:p>
          <a:p>
            <a:endParaRPr lang="en-US" sz="1100" dirty="0">
              <a:latin typeface="Consolas" panose="020B0609020204030204" pitchFamily="49" charset="0"/>
            </a:endParaRPr>
          </a:p>
          <a:p>
            <a:r>
              <a:rPr lang="en-US" sz="1100" dirty="0">
                <a:latin typeface="Consolas" panose="020B0609020204030204" pitchFamily="49" charset="0"/>
              </a:rPr>
              <a:t>     Network          Next Hop            Metric LocPrf Weight Path</a:t>
            </a:r>
          </a:p>
          <a:p>
            <a:r>
              <a:rPr lang="en-US" sz="1100" dirty="0">
                <a:latin typeface="Consolas" panose="020B0609020204030204" pitchFamily="49" charset="0"/>
              </a:rPr>
              <a:t> *&gt;   10.0.1.0/24      10.64.21.1                             0 65000 65001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10.0.4.0/24      10.64.21.1                             0 65000 65004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a:t>
            </a:r>
            <a:r>
              <a:rPr lang="en-US" sz="1100" dirty="0">
                <a:solidFill>
                  <a:schemeClr val="accent6">
                    <a:lumMod val="75000"/>
                  </a:schemeClr>
                </a:solidFill>
                <a:latin typeface="Consolas" panose="020B0609020204030204" pitchFamily="49" charset="0"/>
              </a:rPr>
              <a:t>*&gt;   10.0.21.0/24     0.0.0.0                  0         32768 </a:t>
            </a:r>
            <a:r>
              <a:rPr lang="en-US" sz="1100" dirty="0" err="1">
                <a:solidFill>
                  <a:schemeClr val="accent6">
                    <a:lumMod val="75000"/>
                  </a:schemeClr>
                </a:solidFill>
                <a:latin typeface="Consolas" panose="020B0609020204030204" pitchFamily="49" charset="0"/>
              </a:rPr>
              <a:t>i</a:t>
            </a:r>
            <a:endParaRPr lang="en-US" sz="1100" dirty="0">
              <a:solidFill>
                <a:schemeClr val="accent6">
                  <a:lumMod val="75000"/>
                </a:schemeClr>
              </a:solidFill>
              <a:latin typeface="Consolas" panose="020B0609020204030204" pitchFamily="49" charset="0"/>
            </a:endParaRPr>
          </a:p>
          <a:p>
            <a:r>
              <a:rPr lang="en-US" sz="1100" dirty="0">
                <a:latin typeface="Consolas" panose="020B0609020204030204" pitchFamily="49" charset="0"/>
              </a:rPr>
              <a:t> *&gt;   10.0.31.0/24     10.64.21.1                             0 65000 65031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10.1.1.0/24      10.64.21.1                             0 65000 65001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10.1.4.0/24      10.64.21.1                             0 65000 65004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10.1.21.0/24     0.0.0.0                  0         32768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10.1.31.0/24     10.64.21.1                             0 65000 65031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10.2.1.0/24      10.64.21.1                             0 65000 65001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10.2.4.0/24      10.64.21.1                             0 65000 65004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10.2.21.0/24     0.0.0.0                  0         32768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10.2.31.0/24     10.64.21.1                             0 65000 65031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10.64.1.0/30     10.64.21.1                             0 65000 ?</a:t>
            </a:r>
          </a:p>
          <a:p>
            <a:r>
              <a:rPr lang="en-US" sz="1100" dirty="0">
                <a:latin typeface="Consolas" panose="020B0609020204030204" pitchFamily="49" charset="0"/>
              </a:rPr>
              <a:t>     Network          Next Hop            Metric LocPrf Weight Path</a:t>
            </a:r>
          </a:p>
          <a:p>
            <a:r>
              <a:rPr lang="en-US" sz="1100" dirty="0">
                <a:latin typeface="Consolas" panose="020B0609020204030204" pitchFamily="49" charset="0"/>
              </a:rPr>
              <a:t> *&gt;   10.64.4.0/30     10.64.21.1                             0 65000 ?</a:t>
            </a:r>
          </a:p>
          <a:p>
            <a:r>
              <a:rPr lang="en-US" sz="1100" dirty="0">
                <a:latin typeface="Consolas" panose="020B0609020204030204" pitchFamily="49" charset="0"/>
              </a:rPr>
              <a:t> r&gt;   10.64.21.0/30    10.64.21.1               0             0 65000 ?</a:t>
            </a:r>
          </a:p>
          <a:p>
            <a:r>
              <a:rPr lang="en-US" sz="1100" dirty="0">
                <a:latin typeface="Consolas" panose="020B0609020204030204" pitchFamily="49" charset="0"/>
              </a:rPr>
              <a:t> *&gt;   10.64.31.0/30    10.64.21.1                             0 65000 ?</a:t>
            </a:r>
          </a:p>
          <a:p>
            <a:r>
              <a:rPr lang="en-US" sz="1100" dirty="0">
                <a:latin typeface="Consolas" panose="020B0609020204030204" pitchFamily="49" charset="0"/>
              </a:rPr>
              <a:t>CE21#</a:t>
            </a:r>
          </a:p>
        </p:txBody>
      </p:sp>
    </p:spTree>
    <p:extLst>
      <p:ext uri="{BB962C8B-B14F-4D97-AF65-F5344CB8AC3E}">
        <p14:creationId xmlns:p14="http://schemas.microsoft.com/office/powerpoint/2010/main" val="282614279"/>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SRv6 to MPLS (CE21 -&gt; CE31)  #CE21</a:t>
            </a:r>
          </a:p>
        </p:txBody>
      </p:sp>
      <p:sp>
        <p:nvSpPr>
          <p:cNvPr id="4" name="Rectangle 3">
            <a:extLst>
              <a:ext uri="{FF2B5EF4-FFF2-40B4-BE49-F238E27FC236}">
                <a16:creationId xmlns:a16="http://schemas.microsoft.com/office/drawing/2014/main" id="{87D7CB37-5BEE-FF8F-7602-60627856E0E8}"/>
              </a:ext>
            </a:extLst>
          </p:cNvPr>
          <p:cNvSpPr/>
          <p:nvPr/>
        </p:nvSpPr>
        <p:spPr>
          <a:xfrm>
            <a:off x="105804" y="786594"/>
            <a:ext cx="9096561" cy="3477875"/>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CE21#</a:t>
            </a:r>
            <a:r>
              <a:rPr lang="en-US" sz="1100" b="1" dirty="0">
                <a:latin typeface="Consolas" panose="020B0609020204030204" pitchFamily="49" charset="0"/>
              </a:rPr>
              <a:t>ping 10.0.31.1 source Loopback 1000</a:t>
            </a:r>
          </a:p>
          <a:p>
            <a:r>
              <a:rPr lang="en-US" sz="1100" dirty="0">
                <a:latin typeface="Consolas" panose="020B0609020204030204" pitchFamily="49" charset="0"/>
              </a:rPr>
              <a:t>Type escape sequence to abort.</a:t>
            </a:r>
          </a:p>
          <a:p>
            <a:r>
              <a:rPr lang="en-US" sz="1100" dirty="0">
                <a:latin typeface="Consolas" panose="020B0609020204030204" pitchFamily="49" charset="0"/>
              </a:rPr>
              <a:t>Sending 5, 100-byte ICMP Echos to 10.0.31.1, timeout is 2 seconds:</a:t>
            </a:r>
          </a:p>
          <a:p>
            <a:r>
              <a:rPr lang="en-US" sz="1100" dirty="0">
                <a:latin typeface="Consolas" panose="020B0609020204030204" pitchFamily="49" charset="0"/>
              </a:rPr>
              <a:t>Packet sent with a source address of 10.0.21.1 </a:t>
            </a:r>
          </a:p>
          <a:p>
            <a:r>
              <a:rPr lang="en-US" sz="1100" dirty="0">
                <a:latin typeface="Consolas" panose="020B0609020204030204" pitchFamily="49" charset="0"/>
              </a:rPr>
              <a:t>!!!!!</a:t>
            </a:r>
          </a:p>
          <a:p>
            <a:r>
              <a:rPr lang="en-US" sz="1100" dirty="0">
                <a:latin typeface="Consolas" panose="020B0609020204030204" pitchFamily="49" charset="0"/>
              </a:rPr>
              <a:t>Success rate is 100 percent (5/5), round-trip min/avg/max = 8/12/17 ms</a:t>
            </a:r>
          </a:p>
          <a:p>
            <a:r>
              <a:rPr lang="en-US" sz="1100" dirty="0">
                <a:latin typeface="Consolas" panose="020B0609020204030204" pitchFamily="49" charset="0"/>
              </a:rPr>
              <a:t>CE21#</a:t>
            </a:r>
            <a:r>
              <a:rPr lang="en-US" sz="1100" b="1" dirty="0">
                <a:latin typeface="Consolas" panose="020B0609020204030204" pitchFamily="49" charset="0"/>
              </a:rPr>
              <a:t>traceroute 10.0.31.1 source Loopback 1000 numeric</a:t>
            </a:r>
          </a:p>
          <a:p>
            <a:r>
              <a:rPr lang="en-US" sz="1100" dirty="0">
                <a:latin typeface="Consolas" panose="020B0609020204030204" pitchFamily="49" charset="0"/>
              </a:rPr>
              <a:t>Type escape sequence to abort.</a:t>
            </a:r>
          </a:p>
          <a:p>
            <a:r>
              <a:rPr lang="en-US" sz="1100" dirty="0">
                <a:latin typeface="Consolas" panose="020B0609020204030204" pitchFamily="49" charset="0"/>
              </a:rPr>
              <a:t>Tracing the route to 10.0.31.1</a:t>
            </a:r>
          </a:p>
          <a:p>
            <a:r>
              <a:rPr lang="en-US" sz="1100" dirty="0">
                <a:latin typeface="Consolas" panose="020B0609020204030204" pitchFamily="49" charset="0"/>
              </a:rPr>
              <a:t>VRF info: (vrf in name/id, vrf out name/id)</a:t>
            </a:r>
          </a:p>
          <a:p>
            <a:r>
              <a:rPr lang="en-US" sz="1100" dirty="0">
                <a:latin typeface="Consolas" panose="020B0609020204030204" pitchFamily="49" charset="0"/>
              </a:rPr>
              <a:t>  1 10.64.21.1 [AS 65000] 5 msec 4 msec 1 msec</a:t>
            </a:r>
          </a:p>
          <a:p>
            <a:r>
              <a:rPr lang="en-US" sz="1100" dirty="0">
                <a:latin typeface="Consolas" panose="020B0609020204030204" pitchFamily="49" charset="0"/>
              </a:rPr>
              <a:t>  2 64.2.12.2 20 msec 10 msec 6 msec</a:t>
            </a:r>
          </a:p>
          <a:p>
            <a:r>
              <a:rPr lang="en-US" sz="1100" dirty="0">
                <a:latin typeface="Consolas" panose="020B0609020204030204" pitchFamily="49" charset="0"/>
              </a:rPr>
              <a:t>  3 64.2.32.32 [MPLS: Labels 25/26 Exp 0] 13 msec 10 msec 9 msec</a:t>
            </a:r>
          </a:p>
          <a:p>
            <a:r>
              <a:rPr lang="en-US" sz="1100" dirty="0">
                <a:latin typeface="Consolas" panose="020B0609020204030204" pitchFamily="49" charset="0"/>
              </a:rPr>
              <a:t>  4 10.64.31.1 [AS 65000] [MPLS: Label 26 Exp 0] 13 msec 6 msec 11 msec</a:t>
            </a:r>
          </a:p>
          <a:p>
            <a:r>
              <a:rPr lang="en-US" sz="1100" dirty="0">
                <a:latin typeface="Consolas" panose="020B0609020204030204" pitchFamily="49" charset="0"/>
              </a:rPr>
              <a:t>  5 10.64.31.2 [AS 65000] 15 msec *  30 msec</a:t>
            </a:r>
          </a:p>
          <a:p>
            <a:r>
              <a:rPr lang="en-US" sz="1100" dirty="0">
                <a:latin typeface="Consolas" panose="020B0609020204030204" pitchFamily="49" charset="0"/>
              </a:rPr>
              <a:t>CE21#</a:t>
            </a:r>
          </a:p>
          <a:p>
            <a:r>
              <a:rPr lang="en-US" sz="1100" dirty="0">
                <a:latin typeface="Consolas" panose="020B0609020204030204" pitchFamily="49" charset="0"/>
              </a:rPr>
              <a:t>CE21#</a:t>
            </a:r>
            <a:r>
              <a:rPr lang="en-US" sz="1100" b="1" dirty="0">
                <a:latin typeface="Consolas" panose="020B0609020204030204" pitchFamily="49" charset="0"/>
              </a:rPr>
              <a:t>sh ip cef 10.0.31.1</a:t>
            </a:r>
          </a:p>
          <a:p>
            <a:r>
              <a:rPr lang="en-US" sz="1100" dirty="0">
                <a:latin typeface="Consolas" panose="020B0609020204030204" pitchFamily="49" charset="0"/>
              </a:rPr>
              <a:t>10.0.31.0/24</a:t>
            </a:r>
          </a:p>
          <a:p>
            <a:r>
              <a:rPr lang="en-US" sz="1100" dirty="0">
                <a:latin typeface="Consolas" panose="020B0609020204030204" pitchFamily="49" charset="0"/>
              </a:rPr>
              <a:t>  </a:t>
            </a:r>
            <a:r>
              <a:rPr lang="en-US" sz="1100" dirty="0" err="1">
                <a:latin typeface="Consolas" panose="020B0609020204030204" pitchFamily="49" charset="0"/>
              </a:rPr>
              <a:t>nexthop</a:t>
            </a:r>
            <a:r>
              <a:rPr lang="en-US" sz="1100" dirty="0">
                <a:latin typeface="Consolas" panose="020B0609020204030204" pitchFamily="49" charset="0"/>
              </a:rPr>
              <a:t> 10.64.21.1 GigabitEthernet0/0</a:t>
            </a:r>
          </a:p>
          <a:p>
            <a:r>
              <a:rPr lang="en-US" sz="1100" dirty="0">
                <a:latin typeface="Consolas" panose="020B0609020204030204" pitchFamily="49" charset="0"/>
              </a:rPr>
              <a:t>CE21#</a:t>
            </a:r>
          </a:p>
        </p:txBody>
      </p:sp>
    </p:spTree>
    <p:extLst>
      <p:ext uri="{BB962C8B-B14F-4D97-AF65-F5344CB8AC3E}">
        <p14:creationId xmlns:p14="http://schemas.microsoft.com/office/powerpoint/2010/main" val="3334123886"/>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SRv6 to MPLS (CE21 -&gt; CE31)  #R21</a:t>
            </a:r>
          </a:p>
        </p:txBody>
      </p:sp>
      <p:sp>
        <p:nvSpPr>
          <p:cNvPr id="4" name="Rectangle 3">
            <a:extLst>
              <a:ext uri="{FF2B5EF4-FFF2-40B4-BE49-F238E27FC236}">
                <a16:creationId xmlns:a16="http://schemas.microsoft.com/office/drawing/2014/main" id="{87D7CB37-5BEE-FF8F-7602-60627856E0E8}"/>
              </a:ext>
            </a:extLst>
          </p:cNvPr>
          <p:cNvSpPr/>
          <p:nvPr/>
        </p:nvSpPr>
        <p:spPr>
          <a:xfrm>
            <a:off x="105804" y="786594"/>
            <a:ext cx="9096561" cy="3139321"/>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R21#</a:t>
            </a:r>
            <a:r>
              <a:rPr lang="en-US" sz="1100" b="1" dirty="0">
                <a:latin typeface="Consolas" panose="020B0609020204030204" pitchFamily="49" charset="0"/>
              </a:rPr>
              <a:t>sh ip cef vrf A 10.0.31.1 detail </a:t>
            </a:r>
          </a:p>
          <a:p>
            <a:r>
              <a:rPr lang="en-US" sz="1100" dirty="0">
                <a:latin typeface="Consolas" panose="020B0609020204030204" pitchFamily="49" charset="0"/>
              </a:rPr>
              <a:t>10.0.31.0/24, epoch 2, flags [rib only nolabel, rib defined all labels]</a:t>
            </a:r>
          </a:p>
          <a:p>
            <a:r>
              <a:rPr lang="en-US" sz="1100" dirty="0">
                <a:latin typeface="Consolas" panose="020B0609020204030204" pitchFamily="49" charset="0"/>
              </a:rPr>
              <a:t>  VPN-SID(s) on: 1/0:v4-rcrsv-FC00:AB00:2:E008::</a:t>
            </a:r>
          </a:p>
          <a:p>
            <a:r>
              <a:rPr lang="en-US" sz="1100" dirty="0">
                <a:latin typeface="Consolas" panose="020B0609020204030204" pitchFamily="49" charset="0"/>
              </a:rPr>
              <a:t>  Path: v4-rcrsv-FC00:AB00:2:E008:: (VPN-SID: </a:t>
            </a:r>
            <a:r>
              <a:rPr lang="en-US" sz="1100" dirty="0">
                <a:highlight>
                  <a:srgbClr val="808000"/>
                </a:highlight>
                <a:latin typeface="Consolas" panose="020B0609020204030204" pitchFamily="49" charset="0"/>
              </a:rPr>
              <a:t>FC00:AB00:2:E008::</a:t>
            </a:r>
            <a:r>
              <a:rPr lang="en-US" sz="1100" dirty="0">
                <a:latin typeface="Consolas" panose="020B0609020204030204" pitchFamily="49" charset="0"/>
              </a:rPr>
              <a:t>)</a:t>
            </a:r>
          </a:p>
          <a:p>
            <a:r>
              <a:rPr lang="en-US" sz="1100" dirty="0">
                <a:latin typeface="Consolas" panose="020B0609020204030204" pitchFamily="49" charset="0"/>
              </a:rPr>
              <a:t>    </a:t>
            </a:r>
            <a:r>
              <a:rPr lang="en-US" sz="1100" dirty="0" err="1">
                <a:latin typeface="Consolas" panose="020B0609020204030204" pitchFamily="49" charset="0"/>
              </a:rPr>
              <a:t>Nexthop</a:t>
            </a:r>
            <a:r>
              <a:rPr lang="en-US" sz="1100" dirty="0">
                <a:latin typeface="Consolas" panose="020B0609020204030204" pitchFamily="49" charset="0"/>
              </a:rPr>
              <a:t>: FC00:AB00:2:E008::</a:t>
            </a:r>
          </a:p>
          <a:p>
            <a:r>
              <a:rPr lang="en-US" sz="1100" dirty="0">
                <a:latin typeface="Consolas" panose="020B0609020204030204" pitchFamily="49" charset="0"/>
              </a:rPr>
              <a:t>    </a:t>
            </a:r>
            <a:r>
              <a:rPr lang="en-US" sz="1100" dirty="0" err="1">
                <a:latin typeface="Consolas" panose="020B0609020204030204" pitchFamily="49" charset="0"/>
              </a:rPr>
              <a:t>Encap</a:t>
            </a:r>
            <a:r>
              <a:rPr lang="en-US" sz="1100" dirty="0">
                <a:latin typeface="Consolas" panose="020B0609020204030204" pitchFamily="49" charset="0"/>
              </a:rPr>
              <a:t> Flags: 00000004 [vpn-</a:t>
            </a:r>
            <a:r>
              <a:rPr lang="en-US" sz="1100" dirty="0" err="1">
                <a:latin typeface="Consolas" panose="020B0609020204030204" pitchFamily="49" charset="0"/>
              </a:rPr>
              <a:t>sid</a:t>
            </a:r>
            <a:r>
              <a:rPr lang="en-US" sz="1100" dirty="0">
                <a:latin typeface="Consolas" panose="020B0609020204030204" pitchFamily="49" charset="0"/>
              </a:rPr>
              <a:t>]</a:t>
            </a:r>
          </a:p>
          <a:p>
            <a:r>
              <a:rPr lang="en-US" sz="1100" dirty="0">
                <a:latin typeface="Consolas" panose="020B0609020204030204" pitchFamily="49" charset="0"/>
              </a:rPr>
              <a:t>    IPv6 TC: 0   Flow Label: 0       Hop Limit: 64 </a:t>
            </a:r>
          </a:p>
          <a:p>
            <a:r>
              <a:rPr lang="en-US" sz="1100" dirty="0">
                <a:latin typeface="Consolas" panose="020B0609020204030204" pitchFamily="49" charset="0"/>
              </a:rPr>
              <a:t>      </a:t>
            </a:r>
            <a:r>
              <a:rPr lang="en-US" sz="1100" dirty="0" err="1">
                <a:latin typeface="Consolas" panose="020B0609020204030204" pitchFamily="49" charset="0"/>
              </a:rPr>
              <a:t>Src</a:t>
            </a:r>
            <a:r>
              <a:rPr lang="en-US" sz="1100" dirty="0">
                <a:latin typeface="Consolas" panose="020B0609020204030204" pitchFamily="49" charset="0"/>
              </a:rPr>
              <a:t>: 2001:9999::21</a:t>
            </a:r>
          </a:p>
          <a:p>
            <a:r>
              <a:rPr lang="en-US" sz="1100" dirty="0">
                <a:latin typeface="Consolas" panose="020B0609020204030204" pitchFamily="49" charset="0"/>
              </a:rPr>
              <a:t>      </a:t>
            </a:r>
            <a:r>
              <a:rPr lang="en-US" sz="1100" dirty="0" err="1">
                <a:latin typeface="Consolas" panose="020B0609020204030204" pitchFamily="49" charset="0"/>
              </a:rPr>
              <a:t>Dst</a:t>
            </a:r>
            <a:r>
              <a:rPr lang="en-US" sz="1100" dirty="0">
                <a:latin typeface="Consolas" panose="020B0609020204030204" pitchFamily="49" charset="0"/>
              </a:rPr>
              <a:t>: </a:t>
            </a:r>
            <a:r>
              <a:rPr lang="en-US" sz="1100" dirty="0">
                <a:highlight>
                  <a:srgbClr val="808000"/>
                </a:highlight>
                <a:latin typeface="Consolas" panose="020B0609020204030204" pitchFamily="49" charset="0"/>
              </a:rPr>
              <a:t>FC00:AB00:2:E008::</a:t>
            </a:r>
          </a:p>
          <a:p>
            <a:r>
              <a:rPr lang="en-US" sz="1100" dirty="0">
                <a:latin typeface="Consolas" panose="020B0609020204030204" pitchFamily="49" charset="0"/>
              </a:rPr>
              <a:t>    Segment List (1) </a:t>
            </a:r>
            <a:r>
              <a:rPr lang="en-US" sz="1100" dirty="0" err="1">
                <a:latin typeface="Consolas" panose="020B0609020204030204" pitchFamily="49" charset="0"/>
              </a:rPr>
              <a:t>mode:combine</a:t>
            </a:r>
            <a:endParaRPr lang="en-US" sz="1100" dirty="0">
              <a:latin typeface="Consolas" panose="020B0609020204030204" pitchFamily="49" charset="0"/>
            </a:endParaRPr>
          </a:p>
          <a:p>
            <a:r>
              <a:rPr lang="en-US" sz="1100" dirty="0">
                <a:latin typeface="Consolas" panose="020B0609020204030204" pitchFamily="49" charset="0"/>
              </a:rPr>
              <a:t>      FC00:AB00:2:E008:: [SL-MSD:1 END-POP-MSD:1 SRH-Inst:1]</a:t>
            </a:r>
          </a:p>
          <a:p>
            <a:r>
              <a:rPr lang="en-US" sz="1100" dirty="0">
                <a:latin typeface="Consolas" panose="020B0609020204030204" pitchFamily="49" charset="0"/>
              </a:rPr>
              <a:t>    Flow-based </a:t>
            </a:r>
            <a:r>
              <a:rPr lang="en-US" sz="1100" dirty="0" err="1">
                <a:latin typeface="Consolas" panose="020B0609020204030204" pitchFamily="49" charset="0"/>
              </a:rPr>
              <a:t>Encap</a:t>
            </a:r>
            <a:r>
              <a:rPr lang="en-US" sz="1100" dirty="0">
                <a:latin typeface="Consolas" panose="020B0609020204030204" pitchFamily="49" charset="0"/>
              </a:rPr>
              <a:t> Chains: 1</a:t>
            </a:r>
          </a:p>
          <a:p>
            <a:r>
              <a:rPr lang="en-US" sz="1100" dirty="0">
                <a:latin typeface="Consolas" panose="020B0609020204030204" pitchFamily="49" charset="0"/>
              </a:rPr>
              <a:t>      IPV6 adj out of GigabitEthernet1, </a:t>
            </a:r>
            <a:r>
              <a:rPr lang="en-US" sz="1100" dirty="0" err="1">
                <a:latin typeface="Consolas" panose="020B0609020204030204" pitchFamily="49" charset="0"/>
              </a:rPr>
              <a:t>addr</a:t>
            </a:r>
            <a:r>
              <a:rPr lang="en-US" sz="1100" dirty="0">
                <a:latin typeface="Consolas" panose="020B0609020204030204" pitchFamily="49" charset="0"/>
              </a:rPr>
              <a:t> FE80::5054:FF:FE13:CE9F from &lt;none&gt; &lt;= SRv6 SID List OCE 0x770B90EEA818 (6) 1 Segments</a:t>
            </a:r>
          </a:p>
          <a:p>
            <a:r>
              <a:rPr lang="en-US" sz="1100" dirty="0">
                <a:latin typeface="Consolas" panose="020B0609020204030204" pitchFamily="49" charset="0"/>
              </a:rPr>
              <a:t>  recursive via FC00:AB00:2:E008::</a:t>
            </a:r>
          </a:p>
          <a:p>
            <a:r>
              <a:rPr lang="en-US" sz="1100" dirty="0">
                <a:latin typeface="Consolas" panose="020B0609020204030204" pitchFamily="49" charset="0"/>
              </a:rPr>
              <a:t>    recursive via FC00:AB00:2::/48</a:t>
            </a:r>
          </a:p>
          <a:p>
            <a:r>
              <a:rPr lang="en-US" sz="1100" dirty="0">
                <a:latin typeface="Consolas" panose="020B0609020204030204" pitchFamily="49" charset="0"/>
              </a:rPr>
              <a:t>      </a:t>
            </a:r>
            <a:r>
              <a:rPr lang="en-US" sz="1100" dirty="0" err="1">
                <a:latin typeface="Consolas" panose="020B0609020204030204" pitchFamily="49" charset="0"/>
              </a:rPr>
              <a:t>nexthop</a:t>
            </a:r>
            <a:r>
              <a:rPr lang="en-US" sz="1100" dirty="0">
                <a:latin typeface="Consolas" panose="020B0609020204030204" pitchFamily="49" charset="0"/>
              </a:rPr>
              <a:t> FE80::5054:FF:FE13:CE9F GigabitEthernet1</a:t>
            </a:r>
          </a:p>
          <a:p>
            <a:r>
              <a:rPr lang="en-US" sz="1100" dirty="0">
                <a:latin typeface="Consolas" panose="020B0609020204030204" pitchFamily="49" charset="0"/>
              </a:rPr>
              <a:t>R21#</a:t>
            </a:r>
          </a:p>
        </p:txBody>
      </p:sp>
      <p:sp>
        <p:nvSpPr>
          <p:cNvPr id="2" name="Rectangle 1">
            <a:extLst>
              <a:ext uri="{FF2B5EF4-FFF2-40B4-BE49-F238E27FC236}">
                <a16:creationId xmlns:a16="http://schemas.microsoft.com/office/drawing/2014/main" id="{1C04B55F-CE6E-D1AA-E2C6-EB5E073A98AE}"/>
              </a:ext>
            </a:extLst>
          </p:cNvPr>
          <p:cNvSpPr/>
          <p:nvPr/>
        </p:nvSpPr>
        <p:spPr>
          <a:xfrm>
            <a:off x="2668622" y="4044772"/>
            <a:ext cx="9096561" cy="2800767"/>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R21#sh ip bgp vpnv4 vrf A 10.0.31.1        </a:t>
            </a:r>
          </a:p>
          <a:p>
            <a:r>
              <a:rPr lang="en-US" sz="1100" dirty="0">
                <a:latin typeface="Consolas" panose="020B0609020204030204" pitchFamily="49" charset="0"/>
              </a:rPr>
              <a:t>BGP routing table entry for 65000:1:10.0.31.0/24, version 89</a:t>
            </a:r>
          </a:p>
          <a:p>
            <a:r>
              <a:rPr lang="en-US" sz="1100" dirty="0">
                <a:latin typeface="Consolas" panose="020B0609020204030204" pitchFamily="49" charset="0"/>
              </a:rPr>
              <a:t>Paths: (1 available, best #1, table A)</a:t>
            </a:r>
          </a:p>
          <a:p>
            <a:r>
              <a:rPr lang="en-US" sz="1100" dirty="0">
                <a:latin typeface="Consolas" panose="020B0609020204030204" pitchFamily="49" charset="0"/>
              </a:rPr>
              <a:t>  Flag: 0x100</a:t>
            </a:r>
          </a:p>
          <a:p>
            <a:r>
              <a:rPr lang="en-US" sz="1100" dirty="0">
                <a:latin typeface="Consolas" panose="020B0609020204030204" pitchFamily="49" charset="0"/>
              </a:rPr>
              <a:t>  Advertised to update-groups:</a:t>
            </a:r>
          </a:p>
          <a:p>
            <a:r>
              <a:rPr lang="en-US" sz="1100" dirty="0">
                <a:latin typeface="Consolas" panose="020B0609020204030204" pitchFamily="49" charset="0"/>
              </a:rPr>
              <a:t>     1         </a:t>
            </a:r>
          </a:p>
          <a:p>
            <a:r>
              <a:rPr lang="en-US" sz="1100" dirty="0">
                <a:latin typeface="Consolas" panose="020B0609020204030204" pitchFamily="49" charset="0"/>
              </a:rPr>
              <a:t>  Refresh Epoch 1</a:t>
            </a:r>
          </a:p>
          <a:p>
            <a:r>
              <a:rPr lang="en-US" sz="1100" dirty="0">
                <a:latin typeface="Consolas" panose="020B0609020204030204" pitchFamily="49" charset="0"/>
              </a:rPr>
              <a:t>  65031, imported path from 65000:2000:10.0.31.0/24 (global)</a:t>
            </a:r>
          </a:p>
          <a:p>
            <a:r>
              <a:rPr lang="en-US" sz="1100" dirty="0">
                <a:latin typeface="Consolas" panose="020B0609020204030204" pitchFamily="49" charset="0"/>
              </a:rPr>
              <a:t>    2001:9999::2 (metric 30) (via default) from 2001:9999::3 (1.1.1.3)</a:t>
            </a:r>
          </a:p>
          <a:p>
            <a:r>
              <a:rPr lang="en-US" sz="1100" dirty="0">
                <a:latin typeface="Consolas" panose="020B0609020204030204" pitchFamily="49" charset="0"/>
              </a:rPr>
              <a:t>      Origin IGP, metric 0, localpref 100, valid, internal, best</a:t>
            </a:r>
          </a:p>
          <a:p>
            <a:r>
              <a:rPr lang="en-US" sz="1100" dirty="0">
                <a:latin typeface="Consolas" panose="020B0609020204030204" pitchFamily="49" charset="0"/>
              </a:rPr>
              <a:t>      Extended Community: RT:65000:1</a:t>
            </a:r>
          </a:p>
          <a:p>
            <a:r>
              <a:rPr lang="en-US" sz="1100" dirty="0">
                <a:latin typeface="Consolas" panose="020B0609020204030204" pitchFamily="49" charset="0"/>
              </a:rPr>
              <a:t>      Originator: 1.1.1.31, Cluster list: 0.0.0.100, 1.1.1.2</a:t>
            </a:r>
          </a:p>
          <a:p>
            <a:r>
              <a:rPr lang="en-US" sz="1100" dirty="0">
                <a:latin typeface="Consolas" panose="020B0609020204030204" pitchFamily="49" charset="0"/>
              </a:rPr>
              <a:t>      srv6 out-</a:t>
            </a:r>
            <a:r>
              <a:rPr lang="en-US" sz="1100" dirty="0" err="1">
                <a:latin typeface="Consolas" panose="020B0609020204030204" pitchFamily="49" charset="0"/>
              </a:rPr>
              <a:t>sid</a:t>
            </a:r>
            <a:r>
              <a:rPr lang="en-US" sz="1100" dirty="0">
                <a:latin typeface="Consolas" panose="020B0609020204030204" pitchFamily="49" charset="0"/>
              </a:rPr>
              <a:t>: </a:t>
            </a:r>
            <a:r>
              <a:rPr lang="en-US" sz="1100" dirty="0">
                <a:highlight>
                  <a:srgbClr val="808000"/>
                </a:highlight>
                <a:latin typeface="Consolas" panose="020B0609020204030204" pitchFamily="49" charset="0"/>
              </a:rPr>
              <a:t>FC00:AB00:2:E008::</a:t>
            </a:r>
          </a:p>
          <a:p>
            <a:r>
              <a:rPr lang="en-US" sz="1100" dirty="0">
                <a:latin typeface="Consolas" panose="020B0609020204030204" pitchFamily="49" charset="0"/>
              </a:rPr>
              <a:t>      </a:t>
            </a:r>
            <a:r>
              <a:rPr lang="en-US" sz="1100" dirty="0" err="1">
                <a:latin typeface="Consolas" panose="020B0609020204030204" pitchFamily="49" charset="0"/>
              </a:rPr>
              <a:t>rx</a:t>
            </a:r>
            <a:r>
              <a:rPr lang="en-US" sz="1100" dirty="0">
                <a:latin typeface="Consolas" panose="020B0609020204030204" pitchFamily="49" charset="0"/>
              </a:rPr>
              <a:t> </a:t>
            </a:r>
            <a:r>
              <a:rPr lang="en-US" sz="1100" dirty="0" err="1">
                <a:latin typeface="Consolas" panose="020B0609020204030204" pitchFamily="49" charset="0"/>
              </a:rPr>
              <a:t>pathid</a:t>
            </a:r>
            <a:r>
              <a:rPr lang="en-US" sz="1100" dirty="0">
                <a:latin typeface="Consolas" panose="020B0609020204030204" pitchFamily="49" charset="0"/>
              </a:rPr>
              <a:t>: 0, </a:t>
            </a:r>
            <a:r>
              <a:rPr lang="en-US" sz="1100" dirty="0" err="1">
                <a:latin typeface="Consolas" panose="020B0609020204030204" pitchFamily="49" charset="0"/>
              </a:rPr>
              <a:t>tx</a:t>
            </a:r>
            <a:r>
              <a:rPr lang="en-US" sz="1100" dirty="0">
                <a:latin typeface="Consolas" panose="020B0609020204030204" pitchFamily="49" charset="0"/>
              </a:rPr>
              <a:t> </a:t>
            </a:r>
            <a:r>
              <a:rPr lang="en-US" sz="1100" dirty="0" err="1">
                <a:latin typeface="Consolas" panose="020B0609020204030204" pitchFamily="49" charset="0"/>
              </a:rPr>
              <a:t>pathid</a:t>
            </a:r>
            <a:r>
              <a:rPr lang="en-US" sz="1100" dirty="0">
                <a:latin typeface="Consolas" panose="020B0609020204030204" pitchFamily="49" charset="0"/>
              </a:rPr>
              <a:t>: 0x0</a:t>
            </a:r>
          </a:p>
          <a:p>
            <a:r>
              <a:rPr lang="en-US" sz="1100" dirty="0">
                <a:latin typeface="Consolas" panose="020B0609020204030204" pitchFamily="49" charset="0"/>
              </a:rPr>
              <a:t>      Updated on Nov 1 2024 15:30:56 UTC</a:t>
            </a:r>
          </a:p>
          <a:p>
            <a:r>
              <a:rPr lang="en-US" sz="1100" dirty="0">
                <a:latin typeface="Consolas" panose="020B0609020204030204" pitchFamily="49" charset="0"/>
              </a:rPr>
              <a:t>R21#</a:t>
            </a:r>
          </a:p>
        </p:txBody>
      </p:sp>
    </p:spTree>
    <p:extLst>
      <p:ext uri="{BB962C8B-B14F-4D97-AF65-F5344CB8AC3E}">
        <p14:creationId xmlns:p14="http://schemas.microsoft.com/office/powerpoint/2010/main" val="2802323552"/>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SRv6 to MPLS (</a:t>
            </a:r>
            <a:r>
              <a:rPr lang="en-US" dirty="0" err="1"/>
              <a:t>CE21</a:t>
            </a:r>
            <a:r>
              <a:rPr lang="en-US" dirty="0"/>
              <a:t> -&gt; CE31)  #R02</a:t>
            </a:r>
          </a:p>
        </p:txBody>
      </p:sp>
      <p:sp>
        <p:nvSpPr>
          <p:cNvPr id="4" name="Rectangle 3">
            <a:extLst>
              <a:ext uri="{FF2B5EF4-FFF2-40B4-BE49-F238E27FC236}">
                <a16:creationId xmlns:a16="http://schemas.microsoft.com/office/drawing/2014/main" id="{0C6E602D-EE62-7151-0174-BF002B3CB62A}"/>
              </a:ext>
            </a:extLst>
          </p:cNvPr>
          <p:cNvSpPr/>
          <p:nvPr/>
        </p:nvSpPr>
        <p:spPr>
          <a:xfrm>
            <a:off x="0" y="3852899"/>
            <a:ext cx="9096561" cy="2970044"/>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RP/0/RP0/CPU0:R02#</a:t>
            </a:r>
            <a:r>
              <a:rPr lang="en-US" sz="1100" b="1" dirty="0">
                <a:latin typeface="Consolas" panose="020B0609020204030204" pitchFamily="49" charset="0"/>
              </a:rPr>
              <a:t>sh segment-routing srv6 </a:t>
            </a:r>
            <a:r>
              <a:rPr lang="en-US" sz="1100" b="1" dirty="0" err="1">
                <a:latin typeface="Consolas" panose="020B0609020204030204" pitchFamily="49" charset="0"/>
              </a:rPr>
              <a:t>sid</a:t>
            </a:r>
            <a:r>
              <a:rPr lang="en-US" sz="1100" b="1" dirty="0">
                <a:latin typeface="Consolas" panose="020B0609020204030204" pitchFamily="49" charset="0"/>
              </a:rPr>
              <a:t> </a:t>
            </a:r>
          </a:p>
          <a:p>
            <a:endParaRPr lang="en-US" sz="1100" dirty="0">
              <a:latin typeface="Consolas" panose="020B0609020204030204" pitchFamily="49" charset="0"/>
            </a:endParaRPr>
          </a:p>
          <a:p>
            <a:r>
              <a:rPr lang="en-US" sz="1100" dirty="0">
                <a:latin typeface="Consolas" panose="020B0609020204030204" pitchFamily="49" charset="0"/>
              </a:rPr>
              <a:t>*** Locator: '</a:t>
            </a:r>
            <a:r>
              <a:rPr lang="en-US" sz="1100" dirty="0" err="1">
                <a:latin typeface="Consolas" panose="020B0609020204030204" pitchFamily="49" charset="0"/>
              </a:rPr>
              <a:t>Loc_uSID_Algo_0</a:t>
            </a:r>
            <a:r>
              <a:rPr lang="en-US" sz="1100" dirty="0">
                <a:latin typeface="Consolas" panose="020B0609020204030204" pitchFamily="49" charset="0"/>
              </a:rPr>
              <a:t>' *** </a:t>
            </a:r>
          </a:p>
          <a:p>
            <a:endParaRPr lang="en-US" sz="1100" dirty="0">
              <a:latin typeface="Consolas" panose="020B0609020204030204" pitchFamily="49" charset="0"/>
            </a:endParaRPr>
          </a:p>
          <a:p>
            <a:r>
              <a:rPr lang="en-US" sz="1100" dirty="0">
                <a:latin typeface="Consolas" panose="020B0609020204030204" pitchFamily="49" charset="0"/>
              </a:rPr>
              <a:t>SID                         Behavior          Context                           Owner               State  RW</a:t>
            </a:r>
          </a:p>
          <a:p>
            <a:r>
              <a:rPr lang="en-US" sz="1100" dirty="0">
                <a:latin typeface="Consolas" panose="020B0609020204030204" pitchFamily="49" charset="0"/>
              </a:rPr>
              <a:t>--------------------------  ----------------  --------------------------------  ------------------  -----  --</a:t>
            </a:r>
          </a:p>
          <a:p>
            <a:r>
              <a:rPr lang="en-US" sz="1100" dirty="0">
                <a:latin typeface="Consolas" panose="020B0609020204030204" pitchFamily="49" charset="0"/>
              </a:rPr>
              <a:t>fc00:ab00:2::               </a:t>
            </a:r>
            <a:r>
              <a:rPr lang="en-US" sz="1100" dirty="0" err="1">
                <a:latin typeface="Consolas" panose="020B0609020204030204" pitchFamily="49" charset="0"/>
              </a:rPr>
              <a:t>uN</a:t>
            </a:r>
            <a:r>
              <a:rPr lang="en-US" sz="1100" dirty="0">
                <a:latin typeface="Consolas" panose="020B0609020204030204" pitchFamily="49" charset="0"/>
              </a:rPr>
              <a:t> (PSP/USD)      'default':2                       </a:t>
            </a:r>
            <a:r>
              <a:rPr lang="en-US" sz="1100" dirty="0" err="1">
                <a:latin typeface="Consolas" panose="020B0609020204030204" pitchFamily="49" charset="0"/>
              </a:rPr>
              <a:t>sidmgr</a:t>
            </a:r>
            <a:r>
              <a:rPr lang="en-US" sz="1100" dirty="0">
                <a:latin typeface="Consolas" panose="020B0609020204030204" pitchFamily="49" charset="0"/>
              </a:rPr>
              <a:t>              </a:t>
            </a:r>
            <a:r>
              <a:rPr lang="en-US" sz="1100" dirty="0" err="1">
                <a:latin typeface="Consolas" panose="020B0609020204030204" pitchFamily="49" charset="0"/>
              </a:rPr>
              <a:t>InUse</a:t>
            </a:r>
            <a:r>
              <a:rPr lang="en-US" sz="1100" dirty="0">
                <a:latin typeface="Consolas" panose="020B0609020204030204" pitchFamily="49" charset="0"/>
              </a:rPr>
              <a:t>  Y </a:t>
            </a:r>
          </a:p>
          <a:p>
            <a:r>
              <a:rPr lang="en-US" sz="1100" dirty="0">
                <a:latin typeface="Consolas" panose="020B0609020204030204" pitchFamily="49" charset="0"/>
              </a:rPr>
              <a:t>fc00:ab00:2:e000::          </a:t>
            </a:r>
            <a:r>
              <a:rPr lang="en-US" sz="1100" dirty="0" err="1">
                <a:latin typeface="Consolas" panose="020B0609020204030204" pitchFamily="49" charset="0"/>
              </a:rPr>
              <a:t>uA</a:t>
            </a:r>
            <a:r>
              <a:rPr lang="en-US" sz="1100" dirty="0">
                <a:latin typeface="Consolas" panose="020B0609020204030204" pitchFamily="49" charset="0"/>
              </a:rPr>
              <a:t> (PSP/USD)      [Gi0/0/0/0, Link-Local]:0         isis-1              </a:t>
            </a:r>
            <a:r>
              <a:rPr lang="en-US" sz="1100" dirty="0" err="1">
                <a:latin typeface="Consolas" panose="020B0609020204030204" pitchFamily="49" charset="0"/>
              </a:rPr>
              <a:t>InUse</a:t>
            </a:r>
            <a:r>
              <a:rPr lang="en-US" sz="1100" dirty="0">
                <a:latin typeface="Consolas" panose="020B0609020204030204" pitchFamily="49" charset="0"/>
              </a:rPr>
              <a:t>  Y </a:t>
            </a:r>
          </a:p>
          <a:p>
            <a:r>
              <a:rPr lang="en-US" sz="1100" dirty="0">
                <a:latin typeface="Consolas" panose="020B0609020204030204" pitchFamily="49" charset="0"/>
              </a:rPr>
              <a:t>fc00:ab00:2:e001::          </a:t>
            </a:r>
            <a:r>
              <a:rPr lang="en-US" sz="1100" dirty="0" err="1">
                <a:latin typeface="Consolas" panose="020B0609020204030204" pitchFamily="49" charset="0"/>
              </a:rPr>
              <a:t>uA</a:t>
            </a:r>
            <a:r>
              <a:rPr lang="en-US" sz="1100" dirty="0">
                <a:latin typeface="Consolas" panose="020B0609020204030204" pitchFamily="49" charset="0"/>
              </a:rPr>
              <a:t> (PSP/USD)      [Gi0/0/0/4, Link-Local]:0         isis-1              </a:t>
            </a:r>
            <a:r>
              <a:rPr lang="en-US" sz="1100" dirty="0" err="1">
                <a:latin typeface="Consolas" panose="020B0609020204030204" pitchFamily="49" charset="0"/>
              </a:rPr>
              <a:t>InUse</a:t>
            </a:r>
            <a:r>
              <a:rPr lang="en-US" sz="1100" dirty="0">
                <a:latin typeface="Consolas" panose="020B0609020204030204" pitchFamily="49" charset="0"/>
              </a:rPr>
              <a:t>  Y </a:t>
            </a:r>
          </a:p>
          <a:p>
            <a:r>
              <a:rPr lang="en-US" sz="1100" dirty="0">
                <a:latin typeface="Consolas" panose="020B0609020204030204" pitchFamily="49" charset="0"/>
              </a:rPr>
              <a:t>fc00:ab00:2:e002::          </a:t>
            </a:r>
            <a:r>
              <a:rPr lang="en-US" sz="1100" dirty="0" err="1">
                <a:latin typeface="Consolas" panose="020B0609020204030204" pitchFamily="49" charset="0"/>
              </a:rPr>
              <a:t>uA</a:t>
            </a:r>
            <a:r>
              <a:rPr lang="en-US" sz="1100" dirty="0">
                <a:latin typeface="Consolas" panose="020B0609020204030204" pitchFamily="49" charset="0"/>
              </a:rPr>
              <a:t> (PSP/USD)      [Gi0/0/0/2, Link-Local]:0         isis-1              </a:t>
            </a:r>
            <a:r>
              <a:rPr lang="en-US" sz="1100" dirty="0" err="1">
                <a:latin typeface="Consolas" panose="020B0609020204030204" pitchFamily="49" charset="0"/>
              </a:rPr>
              <a:t>InUse</a:t>
            </a:r>
            <a:r>
              <a:rPr lang="en-US" sz="1100" dirty="0">
                <a:latin typeface="Consolas" panose="020B0609020204030204" pitchFamily="49" charset="0"/>
              </a:rPr>
              <a:t>  Y </a:t>
            </a:r>
          </a:p>
          <a:p>
            <a:r>
              <a:rPr lang="en-US" sz="1100" dirty="0">
                <a:latin typeface="Consolas" panose="020B0609020204030204" pitchFamily="49" charset="0"/>
              </a:rPr>
              <a:t>fc00:ab00:2:e003::          </a:t>
            </a:r>
            <a:r>
              <a:rPr lang="en-US" sz="1100" dirty="0" err="1">
                <a:latin typeface="Consolas" panose="020B0609020204030204" pitchFamily="49" charset="0"/>
              </a:rPr>
              <a:t>uA</a:t>
            </a:r>
            <a:r>
              <a:rPr lang="en-US" sz="1100" dirty="0">
                <a:latin typeface="Consolas" panose="020B0609020204030204" pitchFamily="49" charset="0"/>
              </a:rPr>
              <a:t> (PSP/USD)      [Gi0/0/0/1, Link-Local]:0         isis-1              </a:t>
            </a:r>
            <a:r>
              <a:rPr lang="en-US" sz="1100" dirty="0" err="1">
                <a:latin typeface="Consolas" panose="020B0609020204030204" pitchFamily="49" charset="0"/>
              </a:rPr>
              <a:t>InUse</a:t>
            </a:r>
            <a:r>
              <a:rPr lang="en-US" sz="1100" dirty="0">
                <a:latin typeface="Consolas" panose="020B0609020204030204" pitchFamily="49" charset="0"/>
              </a:rPr>
              <a:t>  Y </a:t>
            </a:r>
          </a:p>
          <a:p>
            <a:r>
              <a:rPr lang="en-US" sz="1100" dirty="0">
                <a:latin typeface="Consolas" panose="020B0609020204030204" pitchFamily="49" charset="0"/>
              </a:rPr>
              <a:t>fc00:ab00:2:e004::          </a:t>
            </a:r>
            <a:r>
              <a:rPr lang="en-US" sz="1100" dirty="0" err="1">
                <a:latin typeface="Consolas" panose="020B0609020204030204" pitchFamily="49" charset="0"/>
              </a:rPr>
              <a:t>uA</a:t>
            </a:r>
            <a:r>
              <a:rPr lang="en-US" sz="1100" dirty="0">
                <a:latin typeface="Consolas" panose="020B0609020204030204" pitchFamily="49" charset="0"/>
              </a:rPr>
              <a:t> (PSP/USD)      [Gi0/0/0/0, Link-Local]:0:P       isis-1              </a:t>
            </a:r>
            <a:r>
              <a:rPr lang="en-US" sz="1100" dirty="0" err="1">
                <a:latin typeface="Consolas" panose="020B0609020204030204" pitchFamily="49" charset="0"/>
              </a:rPr>
              <a:t>InUse</a:t>
            </a:r>
            <a:r>
              <a:rPr lang="en-US" sz="1100" dirty="0">
                <a:latin typeface="Consolas" panose="020B0609020204030204" pitchFamily="49" charset="0"/>
              </a:rPr>
              <a:t>  Y </a:t>
            </a:r>
          </a:p>
          <a:p>
            <a:r>
              <a:rPr lang="en-US" sz="1100" dirty="0">
                <a:latin typeface="Consolas" panose="020B0609020204030204" pitchFamily="49" charset="0"/>
              </a:rPr>
              <a:t>fc00:ab00:2:e005::          </a:t>
            </a:r>
            <a:r>
              <a:rPr lang="en-US" sz="1100" dirty="0" err="1">
                <a:latin typeface="Consolas" panose="020B0609020204030204" pitchFamily="49" charset="0"/>
              </a:rPr>
              <a:t>uA</a:t>
            </a:r>
            <a:r>
              <a:rPr lang="en-US" sz="1100" dirty="0">
                <a:latin typeface="Consolas" panose="020B0609020204030204" pitchFamily="49" charset="0"/>
              </a:rPr>
              <a:t> (PSP/USD)      [Gi0/0/0/4, Link-Local]:0:P       isis-1              </a:t>
            </a:r>
            <a:r>
              <a:rPr lang="en-US" sz="1100" dirty="0" err="1">
                <a:latin typeface="Consolas" panose="020B0609020204030204" pitchFamily="49" charset="0"/>
              </a:rPr>
              <a:t>InUse</a:t>
            </a:r>
            <a:r>
              <a:rPr lang="en-US" sz="1100" dirty="0">
                <a:latin typeface="Consolas" panose="020B0609020204030204" pitchFamily="49" charset="0"/>
              </a:rPr>
              <a:t>  Y </a:t>
            </a:r>
          </a:p>
          <a:p>
            <a:r>
              <a:rPr lang="en-US" sz="1100" dirty="0">
                <a:latin typeface="Consolas" panose="020B0609020204030204" pitchFamily="49" charset="0"/>
              </a:rPr>
              <a:t>fc00:ab00:2:e006::          </a:t>
            </a:r>
            <a:r>
              <a:rPr lang="en-US" sz="1100" dirty="0" err="1">
                <a:latin typeface="Consolas" panose="020B0609020204030204" pitchFamily="49" charset="0"/>
              </a:rPr>
              <a:t>uA</a:t>
            </a:r>
            <a:r>
              <a:rPr lang="en-US" sz="1100" dirty="0">
                <a:latin typeface="Consolas" panose="020B0609020204030204" pitchFamily="49" charset="0"/>
              </a:rPr>
              <a:t> (PSP/USD)      [Gi0/0/0/2, Link-Local]:0:P       isis-1              </a:t>
            </a:r>
            <a:r>
              <a:rPr lang="en-US" sz="1100" dirty="0" err="1">
                <a:latin typeface="Consolas" panose="020B0609020204030204" pitchFamily="49" charset="0"/>
              </a:rPr>
              <a:t>InUse</a:t>
            </a:r>
            <a:r>
              <a:rPr lang="en-US" sz="1100" dirty="0">
                <a:latin typeface="Consolas" panose="020B0609020204030204" pitchFamily="49" charset="0"/>
              </a:rPr>
              <a:t>  Y </a:t>
            </a:r>
          </a:p>
          <a:p>
            <a:r>
              <a:rPr lang="en-US" sz="1100" dirty="0">
                <a:latin typeface="Consolas" panose="020B0609020204030204" pitchFamily="49" charset="0"/>
              </a:rPr>
              <a:t>fc00:ab00:2:e007::          </a:t>
            </a:r>
            <a:r>
              <a:rPr lang="en-US" sz="1100" dirty="0" err="1">
                <a:latin typeface="Consolas" panose="020B0609020204030204" pitchFamily="49" charset="0"/>
              </a:rPr>
              <a:t>uA</a:t>
            </a:r>
            <a:r>
              <a:rPr lang="en-US" sz="1100" dirty="0">
                <a:latin typeface="Consolas" panose="020B0609020204030204" pitchFamily="49" charset="0"/>
              </a:rPr>
              <a:t> (PSP/USD)      [Gi0/0/0/1, Link-Local]:0:P       isis-1              </a:t>
            </a:r>
            <a:r>
              <a:rPr lang="en-US" sz="1100" dirty="0" err="1">
                <a:latin typeface="Consolas" panose="020B0609020204030204" pitchFamily="49" charset="0"/>
              </a:rPr>
              <a:t>InUse</a:t>
            </a:r>
            <a:r>
              <a:rPr lang="en-US" sz="1100" dirty="0">
                <a:latin typeface="Consolas" panose="020B0609020204030204" pitchFamily="49" charset="0"/>
              </a:rPr>
              <a:t>  Y </a:t>
            </a:r>
          </a:p>
          <a:p>
            <a:r>
              <a:rPr lang="en-US" sz="1100" dirty="0">
                <a:highlight>
                  <a:srgbClr val="808000"/>
                </a:highlight>
                <a:latin typeface="Consolas" panose="020B0609020204030204" pitchFamily="49" charset="0"/>
              </a:rPr>
              <a:t>fc00:ab00:2:e008::          uDT4              'A-GW'                            bgp-65000           </a:t>
            </a:r>
            <a:r>
              <a:rPr lang="en-US" sz="1100" dirty="0" err="1">
                <a:highlight>
                  <a:srgbClr val="808000"/>
                </a:highlight>
                <a:latin typeface="Consolas" panose="020B0609020204030204" pitchFamily="49" charset="0"/>
              </a:rPr>
              <a:t>InUse</a:t>
            </a:r>
            <a:r>
              <a:rPr lang="en-US" sz="1100" dirty="0">
                <a:highlight>
                  <a:srgbClr val="808000"/>
                </a:highlight>
                <a:latin typeface="Consolas" panose="020B0609020204030204" pitchFamily="49" charset="0"/>
              </a:rPr>
              <a:t>  Y </a:t>
            </a:r>
          </a:p>
          <a:p>
            <a:r>
              <a:rPr lang="en-US" sz="1100" dirty="0">
                <a:latin typeface="Consolas" panose="020B0609020204030204" pitchFamily="49" charset="0"/>
              </a:rPr>
              <a:t>RP/0/RP0/CPU0:R02#</a:t>
            </a:r>
          </a:p>
        </p:txBody>
      </p:sp>
      <p:sp>
        <p:nvSpPr>
          <p:cNvPr id="2" name="Rectangle 1">
            <a:extLst>
              <a:ext uri="{FF2B5EF4-FFF2-40B4-BE49-F238E27FC236}">
                <a16:creationId xmlns:a16="http://schemas.microsoft.com/office/drawing/2014/main" id="{1C04B55F-CE6E-D1AA-E2C6-EB5E073A98AE}"/>
              </a:ext>
            </a:extLst>
          </p:cNvPr>
          <p:cNvSpPr/>
          <p:nvPr/>
        </p:nvSpPr>
        <p:spPr>
          <a:xfrm>
            <a:off x="5146158" y="785478"/>
            <a:ext cx="6971414" cy="4154984"/>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RP/0/RP0/CPU0:R02#</a:t>
            </a:r>
            <a:r>
              <a:rPr lang="en-US" sz="1100" b="1" dirty="0">
                <a:latin typeface="Consolas" panose="020B0609020204030204" pitchFamily="49" charset="0"/>
              </a:rPr>
              <a:t>sh cef vrf A-GW 10.0.31.1</a:t>
            </a:r>
          </a:p>
          <a:p>
            <a:r>
              <a:rPr lang="en-US" sz="1100" dirty="0">
                <a:latin typeface="Consolas" panose="020B0609020204030204" pitchFamily="49" charset="0"/>
              </a:rPr>
              <a:t>Fri Nov  1 17:59:30.012 UTC</a:t>
            </a:r>
          </a:p>
          <a:p>
            <a:r>
              <a:rPr lang="en-US" sz="1100" dirty="0">
                <a:latin typeface="Consolas" panose="020B0609020204030204" pitchFamily="49" charset="0"/>
              </a:rPr>
              <a:t>10.0.31.0/24, version 1, internal 0x1000001 0x30 (</a:t>
            </a:r>
            <a:r>
              <a:rPr lang="en-US" sz="1100" dirty="0" err="1">
                <a:latin typeface="Consolas" panose="020B0609020204030204" pitchFamily="49" charset="0"/>
              </a:rPr>
              <a:t>ptr</a:t>
            </a:r>
            <a:r>
              <a:rPr lang="en-US" sz="1100" dirty="0">
                <a:latin typeface="Consolas" panose="020B0609020204030204" pitchFamily="49" charset="0"/>
              </a:rPr>
              <a:t> 0xe7e7858) [1], 0x600 (0xe158a40), 0xa08 (0xf485588)</a:t>
            </a:r>
          </a:p>
          <a:p>
            <a:r>
              <a:rPr lang="en-US" sz="1100" dirty="0">
                <a:latin typeface="Consolas" panose="020B0609020204030204" pitchFamily="49" charset="0"/>
              </a:rPr>
              <a:t> Updated Nov  1 15:28:39.497</a:t>
            </a:r>
          </a:p>
          <a:p>
            <a:r>
              <a:rPr lang="en-US" sz="1100" dirty="0">
                <a:latin typeface="Consolas" panose="020B0609020204030204" pitchFamily="49" charset="0"/>
              </a:rPr>
              <a:t> Prefix Len 24, traffic index 0, precedence n/a, priority 3</a:t>
            </a:r>
          </a:p>
          <a:p>
            <a:r>
              <a:rPr lang="en-US" sz="1100" dirty="0">
                <a:latin typeface="Consolas" panose="020B0609020204030204" pitchFamily="49" charset="0"/>
              </a:rPr>
              <a:t>  gateway array (0xdfc1c78) reference count 4, flags 0x38, source rib (7), 0 backups</a:t>
            </a:r>
          </a:p>
          <a:p>
            <a:r>
              <a:rPr lang="en-US" sz="1100" dirty="0">
                <a:latin typeface="Consolas" panose="020B0609020204030204" pitchFamily="49" charset="0"/>
              </a:rPr>
              <a:t>                [5 type 1 flags 0x8441 (0xf4c48e8) </a:t>
            </a:r>
            <a:r>
              <a:rPr lang="en-US" sz="1100" dirty="0" err="1">
                <a:latin typeface="Consolas" panose="020B0609020204030204" pitchFamily="49" charset="0"/>
              </a:rPr>
              <a:t>ext</a:t>
            </a:r>
            <a:r>
              <a:rPr lang="en-US" sz="1100" dirty="0">
                <a:latin typeface="Consolas" panose="020B0609020204030204" pitchFamily="49" charset="0"/>
              </a:rPr>
              <a:t> 0x0 (0x0)]</a:t>
            </a:r>
          </a:p>
          <a:p>
            <a:r>
              <a:rPr lang="en-US" sz="1100" dirty="0">
                <a:latin typeface="Consolas" panose="020B0609020204030204" pitchFamily="49" charset="0"/>
              </a:rPr>
              <a:t>  LW-LDI[type=1, </a:t>
            </a:r>
            <a:r>
              <a:rPr lang="en-US" sz="1100" dirty="0" err="1">
                <a:latin typeface="Consolas" panose="020B0609020204030204" pitchFamily="49" charset="0"/>
              </a:rPr>
              <a:t>refc</a:t>
            </a:r>
            <a:r>
              <a:rPr lang="en-US" sz="1100" dirty="0">
                <a:latin typeface="Consolas" panose="020B0609020204030204" pitchFamily="49" charset="0"/>
              </a:rPr>
              <a:t>=1, </a:t>
            </a:r>
            <a:r>
              <a:rPr lang="en-US" sz="1100" dirty="0" err="1">
                <a:latin typeface="Consolas" panose="020B0609020204030204" pitchFamily="49" charset="0"/>
              </a:rPr>
              <a:t>ptr</a:t>
            </a:r>
            <a:r>
              <a:rPr lang="en-US" sz="1100" dirty="0">
                <a:latin typeface="Consolas" panose="020B0609020204030204" pitchFamily="49" charset="0"/>
              </a:rPr>
              <a:t>=0xe158a40, sh-</a:t>
            </a:r>
            <a:r>
              <a:rPr lang="en-US" sz="1100" dirty="0" err="1">
                <a:latin typeface="Consolas" panose="020B0609020204030204" pitchFamily="49" charset="0"/>
              </a:rPr>
              <a:t>ldi</a:t>
            </a:r>
            <a:r>
              <a:rPr lang="en-US" sz="1100" dirty="0">
                <a:latin typeface="Consolas" panose="020B0609020204030204" pitchFamily="49" charset="0"/>
              </a:rPr>
              <a:t>=0xf4c48e8]</a:t>
            </a:r>
          </a:p>
          <a:p>
            <a:r>
              <a:rPr lang="en-US" sz="1100" dirty="0">
                <a:latin typeface="Consolas" panose="020B0609020204030204" pitchFamily="49" charset="0"/>
              </a:rPr>
              <a:t>  gateway array update type-time 1 Nov  1 15:28:39.497</a:t>
            </a:r>
          </a:p>
          <a:p>
            <a:r>
              <a:rPr lang="en-US" sz="1100" dirty="0">
                <a:latin typeface="Consolas" panose="020B0609020204030204" pitchFamily="49" charset="0"/>
              </a:rPr>
              <a:t> LDI Update time Nov  1 15:28:39.497</a:t>
            </a:r>
          </a:p>
          <a:p>
            <a:r>
              <a:rPr lang="en-US" sz="1100" dirty="0">
                <a:latin typeface="Consolas" panose="020B0609020204030204" pitchFamily="49" charset="0"/>
              </a:rPr>
              <a:t> LW-LDI-TS Nov  1 15:28:39.497</a:t>
            </a:r>
          </a:p>
          <a:p>
            <a:r>
              <a:rPr lang="en-US" sz="1100" dirty="0">
                <a:latin typeface="Consolas" panose="020B0609020204030204" pitchFamily="49" charset="0"/>
              </a:rPr>
              <a:t>   via 1.1.1.31/32, 3 dependencies, recursive [flags 0x6000]</a:t>
            </a:r>
          </a:p>
          <a:p>
            <a:r>
              <a:rPr lang="en-US" sz="1100" dirty="0">
                <a:latin typeface="Consolas" panose="020B0609020204030204" pitchFamily="49" charset="0"/>
              </a:rPr>
              <a:t>    path-</a:t>
            </a:r>
            <a:r>
              <a:rPr lang="en-US" sz="1100" dirty="0" err="1">
                <a:latin typeface="Consolas" panose="020B0609020204030204" pitchFamily="49" charset="0"/>
              </a:rPr>
              <a:t>idx</a:t>
            </a:r>
            <a:r>
              <a:rPr lang="en-US" sz="1100" dirty="0">
                <a:latin typeface="Consolas" panose="020B0609020204030204" pitchFamily="49" charset="0"/>
              </a:rPr>
              <a:t> 0 NHID 0x0 [0xe43fd60 0x0]</a:t>
            </a:r>
          </a:p>
          <a:p>
            <a:r>
              <a:rPr lang="en-US" sz="1100" dirty="0">
                <a:latin typeface="Consolas" panose="020B0609020204030204" pitchFamily="49" charset="0"/>
              </a:rPr>
              <a:t>    recursion-via-/32</a:t>
            </a:r>
          </a:p>
          <a:p>
            <a:r>
              <a:rPr lang="en-US" sz="1100" dirty="0">
                <a:latin typeface="Consolas" panose="020B0609020204030204" pitchFamily="49" charset="0"/>
              </a:rPr>
              <a:t>    next hop VRF - 'default', table - 0xe0000000</a:t>
            </a:r>
          </a:p>
          <a:p>
            <a:r>
              <a:rPr lang="en-US" sz="1100" dirty="0">
                <a:latin typeface="Consolas" panose="020B0609020204030204" pitchFamily="49" charset="0"/>
              </a:rPr>
              <a:t>    next hop 1.1.1.31/32 via 24009/0/21</a:t>
            </a:r>
          </a:p>
          <a:p>
            <a:r>
              <a:rPr lang="en-US" sz="1100" dirty="0">
                <a:latin typeface="Consolas" panose="020B0609020204030204" pitchFamily="49" charset="0"/>
              </a:rPr>
              <a:t>     next hop 64.2.32.32/32 Gi0/0/0/3    labels imposed {</a:t>
            </a:r>
            <a:r>
              <a:rPr lang="en-US" sz="1100" dirty="0">
                <a:highlight>
                  <a:srgbClr val="00FF00"/>
                </a:highlight>
                <a:latin typeface="Consolas" panose="020B0609020204030204" pitchFamily="49" charset="0"/>
              </a:rPr>
              <a:t>25</a:t>
            </a:r>
            <a:r>
              <a:rPr lang="en-US" sz="1100" dirty="0">
                <a:latin typeface="Consolas" panose="020B0609020204030204" pitchFamily="49" charset="0"/>
              </a:rPr>
              <a:t> </a:t>
            </a:r>
            <a:r>
              <a:rPr lang="en-US" sz="1100" dirty="0">
                <a:highlight>
                  <a:srgbClr val="FF00FF"/>
                </a:highlight>
                <a:latin typeface="Consolas" panose="020B0609020204030204" pitchFamily="49" charset="0"/>
              </a:rPr>
              <a:t>26</a:t>
            </a:r>
            <a:r>
              <a:rPr lang="en-US" sz="1100" dirty="0">
                <a:latin typeface="Consolas" panose="020B0609020204030204" pitchFamily="49" charset="0"/>
              </a:rPr>
              <a:t>}</a:t>
            </a:r>
          </a:p>
          <a:p>
            <a:endParaRPr lang="en-US" sz="1100" dirty="0">
              <a:latin typeface="Consolas" panose="020B0609020204030204" pitchFamily="49" charset="0"/>
            </a:endParaRPr>
          </a:p>
          <a:p>
            <a:r>
              <a:rPr lang="en-US" sz="1100" dirty="0">
                <a:latin typeface="Consolas" panose="020B0609020204030204" pitchFamily="49" charset="0"/>
              </a:rPr>
              <a:t>    Load distribution: 0 (refcount 5)</a:t>
            </a:r>
          </a:p>
          <a:p>
            <a:endParaRPr lang="en-US" sz="1100" dirty="0">
              <a:latin typeface="Consolas" panose="020B0609020204030204" pitchFamily="49" charset="0"/>
            </a:endParaRPr>
          </a:p>
          <a:p>
            <a:r>
              <a:rPr lang="en-US" sz="1100" dirty="0">
                <a:latin typeface="Consolas" panose="020B0609020204030204" pitchFamily="49" charset="0"/>
              </a:rPr>
              <a:t>    Hash  OK  Interface                 Address</a:t>
            </a:r>
          </a:p>
          <a:p>
            <a:r>
              <a:rPr lang="en-US" sz="1100" dirty="0">
                <a:latin typeface="Consolas" panose="020B0609020204030204" pitchFamily="49" charset="0"/>
              </a:rPr>
              <a:t>    0     Y   recursive                 24009/0        </a:t>
            </a:r>
          </a:p>
          <a:p>
            <a:r>
              <a:rPr lang="en-US" sz="1100" dirty="0">
                <a:latin typeface="Consolas" panose="020B0609020204030204" pitchFamily="49" charset="0"/>
              </a:rPr>
              <a:t>RP/0/RP0/</a:t>
            </a:r>
            <a:r>
              <a:rPr lang="en-US" sz="1100" dirty="0" err="1">
                <a:latin typeface="Consolas" panose="020B0609020204030204" pitchFamily="49" charset="0"/>
              </a:rPr>
              <a:t>CPU0:R02</a:t>
            </a:r>
            <a:r>
              <a:rPr lang="en-US" sz="1100" dirty="0">
                <a:latin typeface="Consolas" panose="020B0609020204030204" pitchFamily="49" charset="0"/>
              </a:rPr>
              <a:t>#</a:t>
            </a:r>
          </a:p>
        </p:txBody>
      </p:sp>
    </p:spTree>
    <p:extLst>
      <p:ext uri="{BB962C8B-B14F-4D97-AF65-F5344CB8AC3E}">
        <p14:creationId xmlns:p14="http://schemas.microsoft.com/office/powerpoint/2010/main" val="1096610458"/>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SRv6 to MPLS (</a:t>
            </a:r>
            <a:r>
              <a:rPr lang="en-US" dirty="0" err="1"/>
              <a:t>CE21</a:t>
            </a:r>
            <a:r>
              <a:rPr lang="en-US" dirty="0"/>
              <a:t> -&gt; CE31)  #R02</a:t>
            </a:r>
          </a:p>
        </p:txBody>
      </p:sp>
      <p:sp>
        <p:nvSpPr>
          <p:cNvPr id="4" name="Rectangle 3">
            <a:extLst>
              <a:ext uri="{FF2B5EF4-FFF2-40B4-BE49-F238E27FC236}">
                <a16:creationId xmlns:a16="http://schemas.microsoft.com/office/drawing/2014/main" id="{02654599-256A-3307-DB6B-13E583CB5ABA}"/>
              </a:ext>
            </a:extLst>
          </p:cNvPr>
          <p:cNvSpPr/>
          <p:nvPr/>
        </p:nvSpPr>
        <p:spPr>
          <a:xfrm>
            <a:off x="0" y="2507200"/>
            <a:ext cx="7344383" cy="4324261"/>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RP/0/RP0/CPU0:R02#</a:t>
            </a:r>
            <a:r>
              <a:rPr lang="en-US" sz="1100" b="1" dirty="0">
                <a:latin typeface="Consolas" panose="020B0609020204030204" pitchFamily="49" charset="0"/>
              </a:rPr>
              <a:t>sh bgp vrf A-GW 10.0.31.1</a:t>
            </a:r>
          </a:p>
          <a:p>
            <a:r>
              <a:rPr lang="en-US" sz="1100" dirty="0">
                <a:latin typeface="Consolas" panose="020B0609020204030204" pitchFamily="49" charset="0"/>
              </a:rPr>
              <a:t>Fri Nov  1 17:59:46.648 UTC</a:t>
            </a:r>
          </a:p>
          <a:p>
            <a:r>
              <a:rPr lang="en-US" sz="1100" dirty="0">
                <a:latin typeface="Consolas" panose="020B0609020204030204" pitchFamily="49" charset="0"/>
              </a:rPr>
              <a:t>BGP routing table entry for 10.0.31.0/24, Route Distinguisher: 65000:2000</a:t>
            </a:r>
          </a:p>
          <a:p>
            <a:r>
              <a:rPr lang="en-US" sz="1100" dirty="0">
                <a:latin typeface="Consolas" panose="020B0609020204030204" pitchFamily="49" charset="0"/>
              </a:rPr>
              <a:t>Versions:</a:t>
            </a:r>
          </a:p>
          <a:p>
            <a:r>
              <a:rPr lang="en-US" sz="1100" dirty="0">
                <a:latin typeface="Consolas" panose="020B0609020204030204" pitchFamily="49" charset="0"/>
              </a:rPr>
              <a:t>  Process           </a:t>
            </a:r>
            <a:r>
              <a:rPr lang="en-US" sz="1100" dirty="0" err="1">
                <a:latin typeface="Consolas" panose="020B0609020204030204" pitchFamily="49" charset="0"/>
              </a:rPr>
              <a:t>bRIB</a:t>
            </a:r>
            <a:r>
              <a:rPr lang="en-US" sz="1100" dirty="0">
                <a:latin typeface="Consolas" panose="020B0609020204030204" pitchFamily="49" charset="0"/>
              </a:rPr>
              <a:t>/RIB  </a:t>
            </a:r>
            <a:r>
              <a:rPr lang="en-US" sz="1100" dirty="0" err="1">
                <a:latin typeface="Consolas" panose="020B0609020204030204" pitchFamily="49" charset="0"/>
              </a:rPr>
              <a:t>SendTblVer</a:t>
            </a:r>
            <a:endParaRPr lang="en-US" sz="1100" dirty="0">
              <a:latin typeface="Consolas" panose="020B0609020204030204" pitchFamily="49" charset="0"/>
            </a:endParaRPr>
          </a:p>
          <a:p>
            <a:r>
              <a:rPr lang="en-US" sz="1100" dirty="0">
                <a:latin typeface="Consolas" panose="020B0609020204030204" pitchFamily="49" charset="0"/>
              </a:rPr>
              <a:t>  Speaker                  71           71</a:t>
            </a:r>
          </a:p>
          <a:p>
            <a:r>
              <a:rPr lang="en-US" sz="1100" dirty="0">
                <a:latin typeface="Consolas" panose="020B0609020204030204" pitchFamily="49" charset="0"/>
              </a:rPr>
              <a:t>    Local Label: 24010</a:t>
            </a:r>
          </a:p>
          <a:p>
            <a:r>
              <a:rPr lang="en-US" sz="1100" dirty="0">
                <a:latin typeface="Consolas" panose="020B0609020204030204" pitchFamily="49" charset="0"/>
              </a:rPr>
              <a:t>    SRv6-VPN SID: fc00:ab00:2:e008::/64</a:t>
            </a:r>
          </a:p>
          <a:p>
            <a:r>
              <a:rPr lang="en-US" sz="1100" dirty="0">
                <a:latin typeface="Consolas" panose="020B0609020204030204" pitchFamily="49" charset="0"/>
              </a:rPr>
              <a:t>Last Modified: Nov  1 15:28:39.875 for 02:31:06</a:t>
            </a:r>
          </a:p>
          <a:p>
            <a:r>
              <a:rPr lang="en-US" sz="1100" dirty="0">
                <a:latin typeface="Consolas" panose="020B0609020204030204" pitchFamily="49" charset="0"/>
              </a:rPr>
              <a:t>Paths: (1 available, best #1)</a:t>
            </a:r>
          </a:p>
          <a:p>
            <a:r>
              <a:rPr lang="en-US" sz="1100" dirty="0">
                <a:latin typeface="Consolas" panose="020B0609020204030204" pitchFamily="49" charset="0"/>
              </a:rPr>
              <a:t>  Advertised to PE peers (in unique update groups):</a:t>
            </a:r>
          </a:p>
          <a:p>
            <a:r>
              <a:rPr lang="en-US" sz="1100" dirty="0">
                <a:latin typeface="Consolas" panose="020B0609020204030204" pitchFamily="49" charset="0"/>
              </a:rPr>
              <a:t>    2001:9999::3                            </a:t>
            </a:r>
          </a:p>
          <a:p>
            <a:r>
              <a:rPr lang="en-US" sz="1100" dirty="0">
                <a:latin typeface="Consolas" panose="020B0609020204030204" pitchFamily="49" charset="0"/>
              </a:rPr>
              <a:t>  Path #1: Received by speaker 0</a:t>
            </a:r>
          </a:p>
          <a:p>
            <a:r>
              <a:rPr lang="en-US" sz="1100" dirty="0">
                <a:latin typeface="Consolas" panose="020B0609020204030204" pitchFamily="49" charset="0"/>
              </a:rPr>
              <a:t>  Advertised to PE peers (in unique update groups):</a:t>
            </a:r>
          </a:p>
          <a:p>
            <a:r>
              <a:rPr lang="en-US" sz="1100" dirty="0">
                <a:latin typeface="Consolas" panose="020B0609020204030204" pitchFamily="49" charset="0"/>
              </a:rPr>
              <a:t>    2001:9999::3                            </a:t>
            </a:r>
          </a:p>
          <a:p>
            <a:r>
              <a:rPr lang="en-US" sz="1100" dirty="0">
                <a:latin typeface="Consolas" panose="020B0609020204030204" pitchFamily="49" charset="0"/>
              </a:rPr>
              <a:t>  65031, (Received from a RR-client)</a:t>
            </a:r>
          </a:p>
          <a:p>
            <a:r>
              <a:rPr lang="en-US" sz="1100" dirty="0">
                <a:latin typeface="Consolas" panose="020B0609020204030204" pitchFamily="49" charset="0"/>
              </a:rPr>
              <a:t>    </a:t>
            </a:r>
            <a:r>
              <a:rPr lang="en-US" sz="1100" dirty="0">
                <a:highlight>
                  <a:srgbClr val="00FF00"/>
                </a:highlight>
                <a:latin typeface="Consolas" panose="020B0609020204030204" pitchFamily="49" charset="0"/>
              </a:rPr>
              <a:t>1.1.1.31</a:t>
            </a:r>
            <a:r>
              <a:rPr lang="en-US" sz="1100" dirty="0">
                <a:latin typeface="Consolas" panose="020B0609020204030204" pitchFamily="49" charset="0"/>
              </a:rPr>
              <a:t> (metric 20) from 1.1.1.31 (1.1.1.31)</a:t>
            </a:r>
          </a:p>
          <a:p>
            <a:r>
              <a:rPr lang="en-US" sz="1100" dirty="0">
                <a:latin typeface="Consolas" panose="020B0609020204030204" pitchFamily="49" charset="0"/>
              </a:rPr>
              <a:t>      Received Label </a:t>
            </a:r>
            <a:r>
              <a:rPr lang="en-US" sz="1100" dirty="0">
                <a:highlight>
                  <a:srgbClr val="FF00FF"/>
                </a:highlight>
                <a:latin typeface="Consolas" panose="020B0609020204030204" pitchFamily="49" charset="0"/>
              </a:rPr>
              <a:t>26</a:t>
            </a:r>
            <a:r>
              <a:rPr lang="en-US" sz="1100" dirty="0">
                <a:latin typeface="Consolas" panose="020B0609020204030204" pitchFamily="49" charset="0"/>
              </a:rPr>
              <a:t> </a:t>
            </a:r>
          </a:p>
          <a:p>
            <a:r>
              <a:rPr lang="en-US" sz="1100" dirty="0">
                <a:latin typeface="Consolas" panose="020B0609020204030204" pitchFamily="49" charset="0"/>
              </a:rPr>
              <a:t>      Origin IGP, metric 0, localpref 100, valid, internal, </a:t>
            </a:r>
            <a:r>
              <a:rPr lang="en-US" sz="1100" dirty="0">
                <a:highlight>
                  <a:srgbClr val="00FF00"/>
                </a:highlight>
                <a:latin typeface="Consolas" panose="020B0609020204030204" pitchFamily="49" charset="0"/>
              </a:rPr>
              <a:t>best</a:t>
            </a:r>
            <a:r>
              <a:rPr lang="en-US" sz="1100" dirty="0">
                <a:latin typeface="Consolas" panose="020B0609020204030204" pitchFamily="49" charset="0"/>
              </a:rPr>
              <a:t>, group-best, import-candidate, imported, </a:t>
            </a:r>
            <a:r>
              <a:rPr lang="en-US" sz="1100" dirty="0" err="1">
                <a:latin typeface="Consolas" panose="020B0609020204030204" pitchFamily="49" charset="0"/>
              </a:rPr>
              <a:t>reoriginated</a:t>
            </a:r>
            <a:r>
              <a:rPr lang="en-US" sz="1100" dirty="0">
                <a:latin typeface="Consolas" panose="020B0609020204030204" pitchFamily="49" charset="0"/>
              </a:rPr>
              <a:t> with stitching-rt</a:t>
            </a:r>
          </a:p>
          <a:p>
            <a:r>
              <a:rPr lang="en-US" sz="1100" dirty="0">
                <a:latin typeface="Consolas" panose="020B0609020204030204" pitchFamily="49" charset="0"/>
              </a:rPr>
              <a:t>      Received Path ID 0, Local Path ID 1, version 71</a:t>
            </a:r>
          </a:p>
          <a:p>
            <a:r>
              <a:rPr lang="en-US" sz="1100" dirty="0">
                <a:latin typeface="Consolas" panose="020B0609020204030204" pitchFamily="49" charset="0"/>
              </a:rPr>
              <a:t>      Extended community: RT:65000:1 </a:t>
            </a:r>
          </a:p>
          <a:p>
            <a:r>
              <a:rPr lang="en-US" sz="1100" dirty="0">
                <a:latin typeface="Consolas" panose="020B0609020204030204" pitchFamily="49" charset="0"/>
              </a:rPr>
              <a:t>      Source AFI: VPNv4 Unicast, Source VRF: default, Source Route Distinguisher: 65000:1</a:t>
            </a:r>
          </a:p>
          <a:p>
            <a:r>
              <a:rPr lang="en-US" sz="1100" dirty="0">
                <a:latin typeface="Consolas" panose="020B0609020204030204" pitchFamily="49" charset="0"/>
              </a:rPr>
              <a:t>RP/0/RP0/CPU0:R02#</a:t>
            </a:r>
          </a:p>
          <a:p>
            <a:endParaRPr lang="en-US" sz="1100" dirty="0">
              <a:latin typeface="Consolas" panose="020B0609020204030204" pitchFamily="49" charset="0"/>
            </a:endParaRPr>
          </a:p>
        </p:txBody>
      </p:sp>
      <p:sp>
        <p:nvSpPr>
          <p:cNvPr id="5" name="Rectangle 4">
            <a:extLst>
              <a:ext uri="{FF2B5EF4-FFF2-40B4-BE49-F238E27FC236}">
                <a16:creationId xmlns:a16="http://schemas.microsoft.com/office/drawing/2014/main" id="{DF368704-E137-F49C-1BEB-727A92CA2F56}"/>
              </a:ext>
            </a:extLst>
          </p:cNvPr>
          <p:cNvSpPr/>
          <p:nvPr/>
        </p:nvSpPr>
        <p:spPr>
          <a:xfrm>
            <a:off x="5705695" y="865688"/>
            <a:ext cx="6486305" cy="4493538"/>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RP/0/RP0/CPU0:R02#</a:t>
            </a:r>
            <a:r>
              <a:rPr lang="en-US" sz="1100" b="1" dirty="0">
                <a:latin typeface="Consolas" panose="020B0609020204030204" pitchFamily="49" charset="0"/>
              </a:rPr>
              <a:t>sh cef 1.1.1.31</a:t>
            </a:r>
          </a:p>
          <a:p>
            <a:r>
              <a:rPr lang="en-US" sz="1100" dirty="0">
                <a:latin typeface="Consolas" panose="020B0609020204030204" pitchFamily="49" charset="0"/>
              </a:rPr>
              <a:t>Fri Nov  1 18:00:26.584 UTC</a:t>
            </a:r>
          </a:p>
          <a:p>
            <a:r>
              <a:rPr lang="en-US" sz="1100" dirty="0">
                <a:latin typeface="Consolas" panose="020B0609020204030204" pitchFamily="49" charset="0"/>
              </a:rPr>
              <a:t>1.1.1.31/32, version 38, internal 0x1000001 0x30 (</a:t>
            </a:r>
            <a:r>
              <a:rPr lang="en-US" sz="1100" dirty="0" err="1">
                <a:latin typeface="Consolas" panose="020B0609020204030204" pitchFamily="49" charset="0"/>
              </a:rPr>
              <a:t>ptr</a:t>
            </a:r>
            <a:r>
              <a:rPr lang="en-US" sz="1100" dirty="0">
                <a:latin typeface="Consolas" panose="020B0609020204030204" pitchFamily="49" charset="0"/>
              </a:rPr>
              <a:t> 0xe7e87b0) [1], 0x600 (0xe158890), 0xa28 (0xf485468)</a:t>
            </a:r>
          </a:p>
          <a:p>
            <a:r>
              <a:rPr lang="en-US" sz="1100" dirty="0">
                <a:latin typeface="Consolas" panose="020B0609020204030204" pitchFamily="49" charset="0"/>
              </a:rPr>
              <a:t> Updated Nov  1 14:56:03.550 </a:t>
            </a:r>
          </a:p>
          <a:p>
            <a:r>
              <a:rPr lang="en-US" sz="1100" dirty="0">
                <a:latin typeface="Consolas" panose="020B0609020204030204" pitchFamily="49" charset="0"/>
              </a:rPr>
              <a:t> remote adjacency to GigabitEthernet0/0/0/3</a:t>
            </a:r>
          </a:p>
          <a:p>
            <a:r>
              <a:rPr lang="en-US" sz="1100" dirty="0">
                <a:latin typeface="Consolas" panose="020B0609020204030204" pitchFamily="49" charset="0"/>
              </a:rPr>
              <a:t> Prefix Len 32, traffic index 0, precedence n/a, priority 3</a:t>
            </a:r>
          </a:p>
          <a:p>
            <a:r>
              <a:rPr lang="en-US" sz="1100" dirty="0">
                <a:latin typeface="Consolas" panose="020B0609020204030204" pitchFamily="49" charset="0"/>
              </a:rPr>
              <a:t>  gateway array (0xdfc1708) reference count 3, flags 0x68, source </a:t>
            </a:r>
            <a:r>
              <a:rPr lang="en-US" sz="1100" dirty="0" err="1">
                <a:latin typeface="Consolas" panose="020B0609020204030204" pitchFamily="49" charset="0"/>
              </a:rPr>
              <a:t>lsd</a:t>
            </a:r>
            <a:r>
              <a:rPr lang="en-US" sz="1100" dirty="0">
                <a:latin typeface="Consolas" panose="020B0609020204030204" pitchFamily="49" charset="0"/>
              </a:rPr>
              <a:t> (5), 1 backups</a:t>
            </a:r>
          </a:p>
          <a:p>
            <a:r>
              <a:rPr lang="en-US" sz="1100" dirty="0">
                <a:latin typeface="Consolas" panose="020B0609020204030204" pitchFamily="49" charset="0"/>
              </a:rPr>
              <a:t>                [2 type 5 flags 0x8401 (0xf4c4528) </a:t>
            </a:r>
            <a:r>
              <a:rPr lang="en-US" sz="1100" dirty="0" err="1">
                <a:latin typeface="Consolas" panose="020B0609020204030204" pitchFamily="49" charset="0"/>
              </a:rPr>
              <a:t>ext</a:t>
            </a:r>
            <a:r>
              <a:rPr lang="en-US" sz="1100" dirty="0">
                <a:latin typeface="Consolas" panose="020B0609020204030204" pitchFamily="49" charset="0"/>
              </a:rPr>
              <a:t> 0x0 (0x0)]</a:t>
            </a:r>
          </a:p>
          <a:p>
            <a:r>
              <a:rPr lang="en-US" sz="1100" dirty="0">
                <a:latin typeface="Consolas" panose="020B0609020204030204" pitchFamily="49" charset="0"/>
              </a:rPr>
              <a:t>  LW-LDI[type=5, </a:t>
            </a:r>
            <a:r>
              <a:rPr lang="en-US" sz="1100" dirty="0" err="1">
                <a:latin typeface="Consolas" panose="020B0609020204030204" pitchFamily="49" charset="0"/>
              </a:rPr>
              <a:t>refc</a:t>
            </a:r>
            <a:r>
              <a:rPr lang="en-US" sz="1100" dirty="0">
                <a:latin typeface="Consolas" panose="020B0609020204030204" pitchFamily="49" charset="0"/>
              </a:rPr>
              <a:t>=3, </a:t>
            </a:r>
            <a:r>
              <a:rPr lang="en-US" sz="1100" dirty="0" err="1">
                <a:latin typeface="Consolas" panose="020B0609020204030204" pitchFamily="49" charset="0"/>
              </a:rPr>
              <a:t>ptr</a:t>
            </a:r>
            <a:r>
              <a:rPr lang="en-US" sz="1100" dirty="0">
                <a:latin typeface="Consolas" panose="020B0609020204030204" pitchFamily="49" charset="0"/>
              </a:rPr>
              <a:t>=0xe158890, sh-</a:t>
            </a:r>
            <a:r>
              <a:rPr lang="en-US" sz="1100" dirty="0" err="1">
                <a:latin typeface="Consolas" panose="020B0609020204030204" pitchFamily="49" charset="0"/>
              </a:rPr>
              <a:t>ldi</a:t>
            </a:r>
            <a:r>
              <a:rPr lang="en-US" sz="1100" dirty="0">
                <a:latin typeface="Consolas" panose="020B0609020204030204" pitchFamily="49" charset="0"/>
              </a:rPr>
              <a:t>=0xf4c4528]</a:t>
            </a:r>
          </a:p>
          <a:p>
            <a:r>
              <a:rPr lang="en-US" sz="1100" dirty="0">
                <a:latin typeface="Consolas" panose="020B0609020204030204" pitchFamily="49" charset="0"/>
              </a:rPr>
              <a:t>  gateway array update type-time 1 Nov  1 14:56:03.551</a:t>
            </a:r>
          </a:p>
          <a:p>
            <a:r>
              <a:rPr lang="en-US" sz="1100" dirty="0">
                <a:latin typeface="Consolas" panose="020B0609020204030204" pitchFamily="49" charset="0"/>
              </a:rPr>
              <a:t> LDI Update time Nov  1 14:56:03.551</a:t>
            </a:r>
          </a:p>
          <a:p>
            <a:r>
              <a:rPr lang="en-US" sz="1100" dirty="0">
                <a:latin typeface="Consolas" panose="020B0609020204030204" pitchFamily="49" charset="0"/>
              </a:rPr>
              <a:t> LW-LDI-TS Nov  1 14:56:03.551</a:t>
            </a:r>
          </a:p>
          <a:p>
            <a:r>
              <a:rPr lang="en-US" sz="1100" dirty="0">
                <a:latin typeface="Consolas" panose="020B0609020204030204" pitchFamily="49" charset="0"/>
              </a:rPr>
              <a:t>   via 64.2.32.32/32, GigabitEthernet0/0/0/3, 4 dependencies, weight 0, class 0 [flags 0x0]</a:t>
            </a:r>
          </a:p>
          <a:p>
            <a:r>
              <a:rPr lang="en-US" sz="1100" dirty="0">
                <a:latin typeface="Consolas" panose="020B0609020204030204" pitchFamily="49" charset="0"/>
              </a:rPr>
              <a:t>    path-</a:t>
            </a:r>
            <a:r>
              <a:rPr lang="en-US" sz="1100" dirty="0" err="1">
                <a:latin typeface="Consolas" panose="020B0609020204030204" pitchFamily="49" charset="0"/>
              </a:rPr>
              <a:t>idx</a:t>
            </a:r>
            <a:r>
              <a:rPr lang="en-US" sz="1100" dirty="0">
                <a:latin typeface="Consolas" panose="020B0609020204030204" pitchFamily="49" charset="0"/>
              </a:rPr>
              <a:t> 0 NHID 0x0 [0xfdd2790 0x0]</a:t>
            </a:r>
          </a:p>
          <a:p>
            <a:r>
              <a:rPr lang="en-US" sz="1100" dirty="0">
                <a:latin typeface="Consolas" panose="020B0609020204030204" pitchFamily="49" charset="0"/>
              </a:rPr>
              <a:t>    next hop 64.2.32.32/32</a:t>
            </a:r>
          </a:p>
          <a:p>
            <a:r>
              <a:rPr lang="en-US" sz="1100" dirty="0">
                <a:latin typeface="Consolas" panose="020B0609020204030204" pitchFamily="49" charset="0"/>
              </a:rPr>
              <a:t>    remote adjacency</a:t>
            </a:r>
          </a:p>
          <a:p>
            <a:r>
              <a:rPr lang="en-US" sz="1100" dirty="0">
                <a:latin typeface="Consolas" panose="020B0609020204030204" pitchFamily="49" charset="0"/>
              </a:rPr>
              <a:t>     local label 24009      labels imposed {</a:t>
            </a:r>
            <a:r>
              <a:rPr lang="en-US" sz="1100" dirty="0">
                <a:highlight>
                  <a:srgbClr val="00FF00"/>
                </a:highlight>
                <a:latin typeface="Consolas" panose="020B0609020204030204" pitchFamily="49" charset="0"/>
              </a:rPr>
              <a:t>25</a:t>
            </a:r>
            <a:r>
              <a:rPr lang="en-US" sz="1100" dirty="0">
                <a:latin typeface="Consolas" panose="020B0609020204030204" pitchFamily="49" charset="0"/>
              </a:rPr>
              <a:t>}</a:t>
            </a:r>
          </a:p>
          <a:p>
            <a:endParaRPr lang="en-US" sz="1100" dirty="0">
              <a:latin typeface="Consolas" panose="020B0609020204030204" pitchFamily="49" charset="0"/>
            </a:endParaRPr>
          </a:p>
          <a:p>
            <a:r>
              <a:rPr lang="en-US" sz="1100" dirty="0">
                <a:latin typeface="Consolas" panose="020B0609020204030204" pitchFamily="49" charset="0"/>
              </a:rPr>
              <a:t>    Load distribution: 0 (refcount 2)</a:t>
            </a:r>
          </a:p>
          <a:p>
            <a:endParaRPr lang="en-US" sz="1100" dirty="0">
              <a:latin typeface="Consolas" panose="020B0609020204030204" pitchFamily="49" charset="0"/>
            </a:endParaRPr>
          </a:p>
          <a:p>
            <a:r>
              <a:rPr lang="en-US" sz="1100" dirty="0">
                <a:latin typeface="Consolas" panose="020B0609020204030204" pitchFamily="49" charset="0"/>
              </a:rPr>
              <a:t>    Hash  OK  Interface                 Address</a:t>
            </a:r>
          </a:p>
          <a:p>
            <a:r>
              <a:rPr lang="en-US" sz="1100" dirty="0">
                <a:latin typeface="Consolas" panose="020B0609020204030204" pitchFamily="49" charset="0"/>
              </a:rPr>
              <a:t>    0     Y   GigabitEthernet0/0/0/3    remote         </a:t>
            </a:r>
          </a:p>
          <a:p>
            <a:r>
              <a:rPr lang="en-US" sz="1100" dirty="0">
                <a:latin typeface="Consolas" panose="020B0609020204030204" pitchFamily="49" charset="0"/>
              </a:rPr>
              <a:t>RP/0/RP0/CPU0:R02#</a:t>
            </a:r>
          </a:p>
        </p:txBody>
      </p:sp>
    </p:spTree>
    <p:extLst>
      <p:ext uri="{BB962C8B-B14F-4D97-AF65-F5344CB8AC3E}">
        <p14:creationId xmlns:p14="http://schemas.microsoft.com/office/powerpoint/2010/main" val="420202818"/>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SRv6 to MPLS (</a:t>
            </a:r>
            <a:r>
              <a:rPr lang="en-US" dirty="0" err="1"/>
              <a:t>CE21</a:t>
            </a:r>
            <a:r>
              <a:rPr lang="en-US" dirty="0"/>
              <a:t> -&gt; CE31)  #R32</a:t>
            </a:r>
          </a:p>
        </p:txBody>
      </p:sp>
      <p:sp>
        <p:nvSpPr>
          <p:cNvPr id="5" name="Rectangle 4">
            <a:extLst>
              <a:ext uri="{FF2B5EF4-FFF2-40B4-BE49-F238E27FC236}">
                <a16:creationId xmlns:a16="http://schemas.microsoft.com/office/drawing/2014/main" id="{DF368704-E137-F49C-1BEB-727A92CA2F56}"/>
              </a:ext>
            </a:extLst>
          </p:cNvPr>
          <p:cNvSpPr/>
          <p:nvPr/>
        </p:nvSpPr>
        <p:spPr>
          <a:xfrm>
            <a:off x="307071" y="912517"/>
            <a:ext cx="6486305" cy="2800767"/>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R32#sh </a:t>
            </a:r>
            <a:r>
              <a:rPr lang="en-US" sz="1100" dirty="0" err="1">
                <a:latin typeface="Consolas" panose="020B0609020204030204" pitchFamily="49" charset="0"/>
              </a:rPr>
              <a:t>mpl</a:t>
            </a:r>
            <a:r>
              <a:rPr lang="en-US" sz="1100" dirty="0">
                <a:latin typeface="Consolas" panose="020B0609020204030204" pitchFamily="49" charset="0"/>
              </a:rPr>
              <a:t> forwarding-table </a:t>
            </a:r>
          </a:p>
          <a:p>
            <a:r>
              <a:rPr lang="en-US" sz="1100" dirty="0">
                <a:latin typeface="Consolas" panose="020B0609020204030204" pitchFamily="49" charset="0"/>
              </a:rPr>
              <a:t>Local      Outgoing   Prefix           Bytes Label   Outgoing   Next Hop    </a:t>
            </a:r>
          </a:p>
          <a:p>
            <a:r>
              <a:rPr lang="en-US" sz="1100" dirty="0">
                <a:latin typeface="Consolas" panose="020B0609020204030204" pitchFamily="49" charset="0"/>
              </a:rPr>
              <a:t>Label      </a:t>
            </a:r>
            <a:r>
              <a:rPr lang="en-US" sz="1100" dirty="0" err="1">
                <a:latin typeface="Consolas" panose="020B0609020204030204" pitchFamily="49" charset="0"/>
              </a:rPr>
              <a:t>Label</a:t>
            </a:r>
            <a:r>
              <a:rPr lang="en-US" sz="1100" dirty="0">
                <a:latin typeface="Consolas" panose="020B0609020204030204" pitchFamily="49" charset="0"/>
              </a:rPr>
              <a:t>      or Tunnel Id     Switched      interface              </a:t>
            </a:r>
          </a:p>
          <a:p>
            <a:r>
              <a:rPr lang="en-US" sz="1100" dirty="0">
                <a:latin typeface="Consolas" panose="020B0609020204030204" pitchFamily="49" charset="0"/>
              </a:rPr>
              <a:t>16         Pop Label  1.1.1.4/32       0             Gi5        64.4.32.4   </a:t>
            </a:r>
          </a:p>
          <a:p>
            <a:r>
              <a:rPr lang="en-US" sz="1100" dirty="0">
                <a:latin typeface="Consolas" panose="020B0609020204030204" pitchFamily="49" charset="0"/>
              </a:rPr>
              <a:t>17         Pop Label  1.1.1.2/32       28314         Gi3        64.2.32.2   </a:t>
            </a:r>
          </a:p>
          <a:p>
            <a:r>
              <a:rPr lang="en-US" sz="1100" dirty="0">
                <a:latin typeface="Consolas" panose="020B0609020204030204" pitchFamily="49" charset="0"/>
              </a:rPr>
              <a:t>18         24007      1.1.1.12/32      0             Gi3        64.2.32.2   </a:t>
            </a:r>
          </a:p>
          <a:p>
            <a:r>
              <a:rPr lang="en-US" sz="1100" dirty="0">
                <a:latin typeface="Consolas" panose="020B0609020204030204" pitchFamily="49" charset="0"/>
              </a:rPr>
              <a:t>19         24000      1.1.1.3/32       0             Gi3        64.2.32.2   </a:t>
            </a:r>
          </a:p>
          <a:p>
            <a:r>
              <a:rPr lang="en-US" sz="1100" dirty="0">
                <a:latin typeface="Consolas" panose="020B0609020204030204" pitchFamily="49" charset="0"/>
              </a:rPr>
              <a:t>           24000      1.1.1.3/32       41861         Gi5        64.4.32.4   </a:t>
            </a:r>
          </a:p>
          <a:p>
            <a:r>
              <a:rPr lang="en-US" sz="1100" dirty="0">
                <a:latin typeface="Consolas" panose="020B0609020204030204" pitchFamily="49" charset="0"/>
              </a:rPr>
              <a:t>20         24013      1.1.1.23/32      0             Gi5        64.4.32.4   </a:t>
            </a:r>
          </a:p>
          <a:p>
            <a:r>
              <a:rPr lang="en-US" sz="1100" dirty="0">
                <a:latin typeface="Consolas" panose="020B0609020204030204" pitchFamily="49" charset="0"/>
              </a:rPr>
              <a:t>21         24002      1.1.1.1/32       0             Gi3        64.2.32.2   </a:t>
            </a:r>
          </a:p>
          <a:p>
            <a:r>
              <a:rPr lang="en-US" sz="1100" dirty="0">
                <a:latin typeface="Consolas" panose="020B0609020204030204" pitchFamily="49" charset="0"/>
              </a:rPr>
              <a:t>22         24003      1.1.1.13/32      0             Gi3        64.2.32.2   </a:t>
            </a:r>
          </a:p>
          <a:p>
            <a:r>
              <a:rPr lang="en-US" sz="1100" dirty="0">
                <a:latin typeface="Consolas" panose="020B0609020204030204" pitchFamily="49" charset="0"/>
              </a:rPr>
              <a:t>           24010      1.1.1.13/32      0             Gi5        64.4.32.4   </a:t>
            </a:r>
          </a:p>
          <a:p>
            <a:r>
              <a:rPr lang="en-US" sz="1100" dirty="0">
                <a:latin typeface="Consolas" panose="020B0609020204030204" pitchFamily="49" charset="0"/>
              </a:rPr>
              <a:t>23         24004      1.1.1.22/32      0             Gi3        64.2.32.2   </a:t>
            </a:r>
          </a:p>
          <a:p>
            <a:r>
              <a:rPr lang="en-US" sz="1100" dirty="0">
                <a:latin typeface="Consolas" panose="020B0609020204030204" pitchFamily="49" charset="0"/>
              </a:rPr>
              <a:t>24         24005      1.1.1.21/32      0             Gi3        64.2.32.2   </a:t>
            </a:r>
          </a:p>
          <a:p>
            <a:r>
              <a:rPr lang="en-US" sz="1100" dirty="0">
                <a:highlight>
                  <a:srgbClr val="00FF00"/>
                </a:highlight>
                <a:latin typeface="Consolas" panose="020B0609020204030204" pitchFamily="49" charset="0"/>
              </a:rPr>
              <a:t>25         Pop Label  1.1.1.31/32      69445         Gi1        64.31.32.31 </a:t>
            </a:r>
          </a:p>
          <a:p>
            <a:r>
              <a:rPr lang="en-US" sz="1100" dirty="0">
                <a:latin typeface="Consolas" panose="020B0609020204030204" pitchFamily="49" charset="0"/>
              </a:rPr>
              <a:t>R32#</a:t>
            </a:r>
          </a:p>
        </p:txBody>
      </p:sp>
    </p:spTree>
    <p:extLst>
      <p:ext uri="{BB962C8B-B14F-4D97-AF65-F5344CB8AC3E}">
        <p14:creationId xmlns:p14="http://schemas.microsoft.com/office/powerpoint/2010/main" val="229695311"/>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SRv6 to MPLS (CE01 -&gt; CE31)  #R31</a:t>
            </a:r>
          </a:p>
        </p:txBody>
      </p:sp>
      <p:sp>
        <p:nvSpPr>
          <p:cNvPr id="5" name="Rectangle 4">
            <a:extLst>
              <a:ext uri="{FF2B5EF4-FFF2-40B4-BE49-F238E27FC236}">
                <a16:creationId xmlns:a16="http://schemas.microsoft.com/office/drawing/2014/main" id="{DF368704-E137-F49C-1BEB-727A92CA2F56}"/>
              </a:ext>
            </a:extLst>
          </p:cNvPr>
          <p:cNvSpPr/>
          <p:nvPr/>
        </p:nvSpPr>
        <p:spPr>
          <a:xfrm>
            <a:off x="647312" y="933782"/>
            <a:ext cx="6486305" cy="5678478"/>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R31#</a:t>
            </a:r>
            <a:r>
              <a:rPr lang="en-US" sz="1100" b="1" dirty="0">
                <a:latin typeface="Consolas" panose="020B0609020204030204" pitchFamily="49" charset="0"/>
              </a:rPr>
              <a:t>sh mpls forwarding-table </a:t>
            </a:r>
          </a:p>
          <a:p>
            <a:r>
              <a:rPr lang="en-US" sz="1100" dirty="0">
                <a:latin typeface="Consolas" panose="020B0609020204030204" pitchFamily="49" charset="0"/>
              </a:rPr>
              <a:t>Local      Outgoing   Prefix           Bytes Label   Outgoing   Next Hop    </a:t>
            </a:r>
          </a:p>
          <a:p>
            <a:r>
              <a:rPr lang="en-US" sz="1100" dirty="0">
                <a:latin typeface="Consolas" panose="020B0609020204030204" pitchFamily="49" charset="0"/>
              </a:rPr>
              <a:t>Label      </a:t>
            </a:r>
            <a:r>
              <a:rPr lang="en-US" sz="1100" dirty="0" err="1">
                <a:latin typeface="Consolas" panose="020B0609020204030204" pitchFamily="49" charset="0"/>
              </a:rPr>
              <a:t>Label</a:t>
            </a:r>
            <a:r>
              <a:rPr lang="en-US" sz="1100" dirty="0">
                <a:latin typeface="Consolas" panose="020B0609020204030204" pitchFamily="49" charset="0"/>
              </a:rPr>
              <a:t>      or Tunnel Id     Switched      interface              </a:t>
            </a:r>
          </a:p>
          <a:p>
            <a:r>
              <a:rPr lang="en-US" sz="1100" dirty="0">
                <a:latin typeface="Consolas" panose="020B0609020204030204" pitchFamily="49" charset="0"/>
              </a:rPr>
              <a:t>16         Pop Label  1.1.1.32/32      0             Gi1        64.31.32.32 </a:t>
            </a:r>
          </a:p>
          <a:p>
            <a:r>
              <a:rPr lang="en-US" sz="1100" dirty="0">
                <a:latin typeface="Consolas" panose="020B0609020204030204" pitchFamily="49" charset="0"/>
              </a:rPr>
              <a:t>17         17         1.1.1.2/32       0             Gi1        64.31.32.32 </a:t>
            </a:r>
          </a:p>
          <a:p>
            <a:r>
              <a:rPr lang="en-US" sz="1100" dirty="0">
                <a:latin typeface="Consolas" panose="020B0609020204030204" pitchFamily="49" charset="0"/>
              </a:rPr>
              <a:t>18         16         1.1.1.4/32       0             Gi1        64.31.32.32 </a:t>
            </a:r>
          </a:p>
          <a:p>
            <a:r>
              <a:rPr lang="en-US" sz="1100" dirty="0">
                <a:latin typeface="Consolas" panose="020B0609020204030204" pitchFamily="49" charset="0"/>
              </a:rPr>
              <a:t>19         21         1.1.1.1/32       0             Gi1        64.31.32.32 </a:t>
            </a:r>
          </a:p>
          <a:p>
            <a:r>
              <a:rPr lang="en-US" sz="1100" dirty="0">
                <a:latin typeface="Consolas" panose="020B0609020204030204" pitchFamily="49" charset="0"/>
              </a:rPr>
              <a:t>20         19         1.1.1.3/32       0             Gi1        64.31.32.32 </a:t>
            </a:r>
          </a:p>
          <a:p>
            <a:r>
              <a:rPr lang="en-US" sz="1100" dirty="0">
                <a:latin typeface="Consolas" panose="020B0609020204030204" pitchFamily="49" charset="0"/>
              </a:rPr>
              <a:t>21         18         1.1.1.12/32      0             Gi1        64.31.32.32 </a:t>
            </a:r>
          </a:p>
          <a:p>
            <a:r>
              <a:rPr lang="en-US" sz="1100" dirty="0">
                <a:latin typeface="Consolas" panose="020B0609020204030204" pitchFamily="49" charset="0"/>
              </a:rPr>
              <a:t>22         23         1.1.1.22/32      0             Gi1        64.31.32.32 </a:t>
            </a:r>
          </a:p>
          <a:p>
            <a:r>
              <a:rPr lang="en-US" sz="1100" dirty="0">
                <a:latin typeface="Consolas" panose="020B0609020204030204" pitchFamily="49" charset="0"/>
              </a:rPr>
              <a:t>23         20         1.1.1.23/32      0             Gi1        64.31.32.32 </a:t>
            </a:r>
          </a:p>
          <a:p>
            <a:r>
              <a:rPr lang="en-US" sz="1100" dirty="0">
                <a:latin typeface="Consolas" panose="020B0609020204030204" pitchFamily="49" charset="0"/>
              </a:rPr>
              <a:t>24         22         1.1.1.13/32      0             Gi1        64.31.32.32 </a:t>
            </a:r>
          </a:p>
          <a:p>
            <a:r>
              <a:rPr lang="en-US" sz="1100" dirty="0">
                <a:latin typeface="Consolas" panose="020B0609020204030204" pitchFamily="49" charset="0"/>
              </a:rPr>
              <a:t>25         24         1.1.1.21/32      0             Gi1        64.31.32.32 </a:t>
            </a:r>
          </a:p>
          <a:p>
            <a:r>
              <a:rPr lang="en-US" sz="1100" dirty="0">
                <a:highlight>
                  <a:srgbClr val="FF00FF"/>
                </a:highlight>
                <a:latin typeface="Consolas" panose="020B0609020204030204" pitchFamily="49" charset="0"/>
              </a:rPr>
              <a:t>26         No Label   10.0.31.0/24[V]  4550          Gi20       10.64.31.2  </a:t>
            </a:r>
          </a:p>
          <a:p>
            <a:r>
              <a:rPr lang="en-US" sz="1100" dirty="0">
                <a:latin typeface="Consolas" panose="020B0609020204030204" pitchFamily="49" charset="0"/>
              </a:rPr>
              <a:t>27         No Label   10.1.31.0/24[V]  0             Gi20       10.64.31.2  </a:t>
            </a:r>
          </a:p>
          <a:p>
            <a:r>
              <a:rPr lang="en-US" sz="1100" dirty="0">
                <a:latin typeface="Consolas" panose="020B0609020204030204" pitchFamily="49" charset="0"/>
              </a:rPr>
              <a:t>28         No Label   10.2.31.0/24[V]  0             Gi20       10.64.31.2  </a:t>
            </a:r>
          </a:p>
          <a:p>
            <a:r>
              <a:rPr lang="en-US" sz="1100" dirty="0">
                <a:latin typeface="Consolas" panose="020B0609020204030204" pitchFamily="49" charset="0"/>
              </a:rPr>
              <a:t>29         No Label   10.64.31.0/30[V] 0             aggregate/A </a:t>
            </a:r>
          </a:p>
          <a:p>
            <a:r>
              <a:rPr lang="en-US" sz="1100" dirty="0">
                <a:latin typeface="Consolas" panose="020B0609020204030204" pitchFamily="49" charset="0"/>
              </a:rPr>
              <a:t>R31#</a:t>
            </a:r>
          </a:p>
          <a:p>
            <a:endParaRPr lang="en-US" sz="1100" dirty="0">
              <a:latin typeface="Consolas" panose="020B0609020204030204" pitchFamily="49" charset="0"/>
            </a:endParaRPr>
          </a:p>
          <a:p>
            <a:r>
              <a:rPr lang="en-US" sz="1100" dirty="0">
                <a:latin typeface="Consolas" panose="020B0609020204030204" pitchFamily="49" charset="0"/>
              </a:rPr>
              <a:t>R31#</a:t>
            </a:r>
            <a:r>
              <a:rPr lang="en-US" sz="1100" b="1" dirty="0">
                <a:latin typeface="Consolas" panose="020B0609020204030204" pitchFamily="49" charset="0"/>
              </a:rPr>
              <a:t>sh ip bgp vpnv4 vrf A 10.0.31.1</a:t>
            </a:r>
          </a:p>
          <a:p>
            <a:r>
              <a:rPr lang="en-US" sz="1100" dirty="0">
                <a:latin typeface="Consolas" panose="020B0609020204030204" pitchFamily="49" charset="0"/>
              </a:rPr>
              <a:t>BGP routing table entry for 65000:1:10.0.31.0/24, version 9</a:t>
            </a:r>
          </a:p>
          <a:p>
            <a:r>
              <a:rPr lang="en-US" sz="1100" dirty="0">
                <a:latin typeface="Consolas" panose="020B0609020204030204" pitchFamily="49" charset="0"/>
              </a:rPr>
              <a:t>Paths: (1 available, best #1, table A)</a:t>
            </a:r>
          </a:p>
          <a:p>
            <a:r>
              <a:rPr lang="en-US" sz="1100" dirty="0">
                <a:latin typeface="Consolas" panose="020B0609020204030204" pitchFamily="49" charset="0"/>
              </a:rPr>
              <a:t>  Advertised to update-groups:</a:t>
            </a:r>
          </a:p>
          <a:p>
            <a:r>
              <a:rPr lang="en-US" sz="1100" dirty="0">
                <a:latin typeface="Consolas" panose="020B0609020204030204" pitchFamily="49" charset="0"/>
              </a:rPr>
              <a:t>     1         </a:t>
            </a:r>
          </a:p>
          <a:p>
            <a:r>
              <a:rPr lang="en-US" sz="1100" dirty="0">
                <a:latin typeface="Consolas" panose="020B0609020204030204" pitchFamily="49" charset="0"/>
              </a:rPr>
              <a:t>  Refresh Epoch 4</a:t>
            </a:r>
          </a:p>
          <a:p>
            <a:r>
              <a:rPr lang="en-US" sz="1100" dirty="0">
                <a:latin typeface="Consolas" panose="020B0609020204030204" pitchFamily="49" charset="0"/>
              </a:rPr>
              <a:t>  </a:t>
            </a:r>
            <a:r>
              <a:rPr lang="en-US" sz="1100" dirty="0">
                <a:solidFill>
                  <a:schemeClr val="accent6">
                    <a:lumMod val="75000"/>
                  </a:schemeClr>
                </a:solidFill>
                <a:latin typeface="Consolas" panose="020B0609020204030204" pitchFamily="49" charset="0"/>
              </a:rPr>
              <a:t>65031</a:t>
            </a:r>
          </a:p>
          <a:p>
            <a:r>
              <a:rPr lang="en-US" sz="1100" dirty="0">
                <a:solidFill>
                  <a:schemeClr val="accent6">
                    <a:lumMod val="75000"/>
                  </a:schemeClr>
                </a:solidFill>
                <a:latin typeface="Consolas" panose="020B0609020204030204" pitchFamily="49" charset="0"/>
              </a:rPr>
              <a:t>    10.64.31.2</a:t>
            </a:r>
            <a:r>
              <a:rPr lang="en-US" sz="1100" dirty="0">
                <a:latin typeface="Consolas" panose="020B0609020204030204" pitchFamily="49" charset="0"/>
              </a:rPr>
              <a:t> (via vrf A) from 10.64.31.2 (10.2.31.1)</a:t>
            </a:r>
          </a:p>
          <a:p>
            <a:r>
              <a:rPr lang="en-US" sz="1100" dirty="0">
                <a:latin typeface="Consolas" panose="020B0609020204030204" pitchFamily="49" charset="0"/>
              </a:rPr>
              <a:t>      Origin IGP, metric 0, localpref 100, valid, external, best</a:t>
            </a:r>
          </a:p>
          <a:p>
            <a:r>
              <a:rPr lang="en-US" sz="1100" dirty="0">
                <a:latin typeface="Consolas" panose="020B0609020204030204" pitchFamily="49" charset="0"/>
              </a:rPr>
              <a:t>      Extended Community: RT:65000:1001</a:t>
            </a:r>
          </a:p>
          <a:p>
            <a:r>
              <a:rPr lang="en-US" sz="1100" dirty="0">
                <a:latin typeface="Consolas" panose="020B0609020204030204" pitchFamily="49" charset="0"/>
              </a:rPr>
              <a:t>      mpls labels in/out 26/nolabel</a:t>
            </a:r>
          </a:p>
          <a:p>
            <a:r>
              <a:rPr lang="en-US" sz="1100" dirty="0">
                <a:latin typeface="Consolas" panose="020B0609020204030204" pitchFamily="49" charset="0"/>
              </a:rPr>
              <a:t>      </a:t>
            </a:r>
            <a:r>
              <a:rPr lang="en-US" sz="1100" dirty="0" err="1">
                <a:latin typeface="Consolas" panose="020B0609020204030204" pitchFamily="49" charset="0"/>
              </a:rPr>
              <a:t>rx</a:t>
            </a:r>
            <a:r>
              <a:rPr lang="en-US" sz="1100" dirty="0">
                <a:latin typeface="Consolas" panose="020B0609020204030204" pitchFamily="49" charset="0"/>
              </a:rPr>
              <a:t> </a:t>
            </a:r>
            <a:r>
              <a:rPr lang="en-US" sz="1100" dirty="0" err="1">
                <a:latin typeface="Consolas" panose="020B0609020204030204" pitchFamily="49" charset="0"/>
              </a:rPr>
              <a:t>pathid</a:t>
            </a:r>
            <a:r>
              <a:rPr lang="en-US" sz="1100" dirty="0">
                <a:latin typeface="Consolas" panose="020B0609020204030204" pitchFamily="49" charset="0"/>
              </a:rPr>
              <a:t>: 0, </a:t>
            </a:r>
            <a:r>
              <a:rPr lang="en-US" sz="1100" dirty="0" err="1">
                <a:latin typeface="Consolas" panose="020B0609020204030204" pitchFamily="49" charset="0"/>
              </a:rPr>
              <a:t>tx</a:t>
            </a:r>
            <a:r>
              <a:rPr lang="en-US" sz="1100" dirty="0">
                <a:latin typeface="Consolas" panose="020B0609020204030204" pitchFamily="49" charset="0"/>
              </a:rPr>
              <a:t> </a:t>
            </a:r>
            <a:r>
              <a:rPr lang="en-US" sz="1100" dirty="0" err="1">
                <a:latin typeface="Consolas" panose="020B0609020204030204" pitchFamily="49" charset="0"/>
              </a:rPr>
              <a:t>pathid</a:t>
            </a:r>
            <a:r>
              <a:rPr lang="en-US" sz="1100" dirty="0">
                <a:latin typeface="Consolas" panose="020B0609020204030204" pitchFamily="49" charset="0"/>
              </a:rPr>
              <a:t>: 0x0</a:t>
            </a:r>
          </a:p>
          <a:p>
            <a:r>
              <a:rPr lang="en-US" sz="1100" dirty="0">
                <a:latin typeface="Consolas" panose="020B0609020204030204" pitchFamily="49" charset="0"/>
              </a:rPr>
              <a:t>      Updated on Nov 1 2024 14:57:22 UTC</a:t>
            </a:r>
          </a:p>
          <a:p>
            <a:r>
              <a:rPr lang="en-US" sz="1100" dirty="0">
                <a:latin typeface="Consolas" panose="020B0609020204030204" pitchFamily="49" charset="0"/>
              </a:rPr>
              <a:t>R31#</a:t>
            </a:r>
          </a:p>
        </p:txBody>
      </p:sp>
    </p:spTree>
    <p:extLst>
      <p:ext uri="{BB962C8B-B14F-4D97-AF65-F5344CB8AC3E}">
        <p14:creationId xmlns:p14="http://schemas.microsoft.com/office/powerpoint/2010/main" val="4129780235"/>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519512-9486-B868-6E3D-B70FF2A8783F}"/>
              </a:ext>
            </a:extLst>
          </p:cNvPr>
          <p:cNvSpPr>
            <a:spLocks noGrp="1"/>
          </p:cNvSpPr>
          <p:nvPr>
            <p:ph type="body" sz="quarter" idx="11"/>
          </p:nvPr>
        </p:nvSpPr>
        <p:spPr/>
        <p:txBody>
          <a:bodyPr/>
          <a:lstStyle/>
          <a:p>
            <a:r>
              <a:rPr lang="en-US" dirty="0"/>
              <a:t>SRv6 to MPLS (CE01 -&gt; CE31)  #CE31</a:t>
            </a:r>
          </a:p>
        </p:txBody>
      </p:sp>
      <p:sp>
        <p:nvSpPr>
          <p:cNvPr id="5" name="Rectangle 4">
            <a:extLst>
              <a:ext uri="{FF2B5EF4-FFF2-40B4-BE49-F238E27FC236}">
                <a16:creationId xmlns:a16="http://schemas.microsoft.com/office/drawing/2014/main" id="{DF368704-E137-F49C-1BEB-727A92CA2F56}"/>
              </a:ext>
            </a:extLst>
          </p:cNvPr>
          <p:cNvSpPr/>
          <p:nvPr/>
        </p:nvSpPr>
        <p:spPr>
          <a:xfrm>
            <a:off x="647312" y="840968"/>
            <a:ext cx="6486305" cy="6017032"/>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CE31#sh int loopback 1000</a:t>
            </a:r>
          </a:p>
          <a:p>
            <a:r>
              <a:rPr lang="en-US" sz="1100" dirty="0">
                <a:latin typeface="Consolas" panose="020B0609020204030204" pitchFamily="49" charset="0"/>
              </a:rPr>
              <a:t>Loopback1000 is up, line protocol is up </a:t>
            </a:r>
          </a:p>
          <a:p>
            <a:r>
              <a:rPr lang="en-US" sz="1100" dirty="0">
                <a:latin typeface="Consolas" panose="020B0609020204030204" pitchFamily="49" charset="0"/>
              </a:rPr>
              <a:t>  Hardware is Loopback</a:t>
            </a:r>
          </a:p>
          <a:p>
            <a:r>
              <a:rPr lang="en-US" sz="1100" dirty="0">
                <a:latin typeface="Consolas" panose="020B0609020204030204" pitchFamily="49" charset="0"/>
              </a:rPr>
              <a:t>  Internet address is </a:t>
            </a:r>
            <a:r>
              <a:rPr lang="en-US" sz="1100" dirty="0">
                <a:solidFill>
                  <a:schemeClr val="accent6">
                    <a:lumMod val="75000"/>
                  </a:schemeClr>
                </a:solidFill>
                <a:latin typeface="Consolas" panose="020B0609020204030204" pitchFamily="49" charset="0"/>
              </a:rPr>
              <a:t>10.0.31.1/24</a:t>
            </a:r>
          </a:p>
          <a:p>
            <a:r>
              <a:rPr lang="en-US" sz="1100" dirty="0">
                <a:latin typeface="Consolas" panose="020B0609020204030204" pitchFamily="49" charset="0"/>
              </a:rPr>
              <a:t>-- Cut –</a:t>
            </a:r>
          </a:p>
          <a:p>
            <a:endParaRPr lang="en-US" sz="1100" dirty="0">
              <a:latin typeface="Consolas" panose="020B0609020204030204" pitchFamily="49" charset="0"/>
            </a:endParaRPr>
          </a:p>
          <a:p>
            <a:r>
              <a:rPr lang="en-US" sz="1100" dirty="0">
                <a:latin typeface="Consolas" panose="020B0609020204030204" pitchFamily="49" charset="0"/>
              </a:rPr>
              <a:t>CE31#sh ip bgp          </a:t>
            </a:r>
          </a:p>
          <a:p>
            <a:r>
              <a:rPr lang="en-US" sz="1100" dirty="0">
                <a:latin typeface="Consolas" panose="020B0609020204030204" pitchFamily="49" charset="0"/>
              </a:rPr>
              <a:t>BGP table version is 17, local router ID is 10.2.31.1</a:t>
            </a:r>
          </a:p>
          <a:p>
            <a:r>
              <a:rPr lang="en-US" sz="1100" dirty="0">
                <a:latin typeface="Consolas" panose="020B0609020204030204" pitchFamily="49" charset="0"/>
              </a:rPr>
              <a:t>Status codes: s suppressed, d damped, h history, * valid, &gt; best, </a:t>
            </a:r>
            <a:r>
              <a:rPr lang="en-US" sz="1100" dirty="0" err="1">
                <a:latin typeface="Consolas" panose="020B0609020204030204" pitchFamily="49" charset="0"/>
              </a:rPr>
              <a:t>i</a:t>
            </a:r>
            <a:r>
              <a:rPr lang="en-US" sz="1100" dirty="0">
                <a:latin typeface="Consolas" panose="020B0609020204030204" pitchFamily="49" charset="0"/>
              </a:rPr>
              <a:t> - internal, </a:t>
            </a:r>
          </a:p>
          <a:p>
            <a:r>
              <a:rPr lang="en-US" sz="1100" dirty="0">
                <a:latin typeface="Consolas" panose="020B0609020204030204" pitchFamily="49" charset="0"/>
              </a:rPr>
              <a:t>              r RIB-failure, S Stale, m multipath, b backup-path, f RT-Filter, </a:t>
            </a:r>
          </a:p>
          <a:p>
            <a:r>
              <a:rPr lang="en-US" sz="1100" dirty="0">
                <a:latin typeface="Consolas" panose="020B0609020204030204" pitchFamily="49" charset="0"/>
              </a:rPr>
              <a:t>              x best-external, a additional-path, c RIB-compressed, </a:t>
            </a:r>
          </a:p>
          <a:p>
            <a:r>
              <a:rPr lang="en-US" sz="1100" dirty="0">
                <a:latin typeface="Consolas" panose="020B0609020204030204" pitchFamily="49" charset="0"/>
              </a:rPr>
              <a:t>              t secondary path, </a:t>
            </a:r>
          </a:p>
          <a:p>
            <a:r>
              <a:rPr lang="en-US" sz="1100" dirty="0">
                <a:latin typeface="Consolas" panose="020B0609020204030204" pitchFamily="49" charset="0"/>
              </a:rPr>
              <a:t>Origin codes: </a:t>
            </a:r>
            <a:r>
              <a:rPr lang="en-US" sz="1100" dirty="0" err="1">
                <a:latin typeface="Consolas" panose="020B0609020204030204" pitchFamily="49" charset="0"/>
              </a:rPr>
              <a:t>i</a:t>
            </a:r>
            <a:r>
              <a:rPr lang="en-US" sz="1100" dirty="0">
                <a:latin typeface="Consolas" panose="020B0609020204030204" pitchFamily="49" charset="0"/>
              </a:rPr>
              <a:t> - IGP, e - EGP, ? - incomplete</a:t>
            </a:r>
          </a:p>
          <a:p>
            <a:r>
              <a:rPr lang="en-US" sz="1100" dirty="0">
                <a:latin typeface="Consolas" panose="020B0609020204030204" pitchFamily="49" charset="0"/>
              </a:rPr>
              <a:t>RPKI validation codes: V valid, I invalid, N Not found</a:t>
            </a:r>
          </a:p>
          <a:p>
            <a:endParaRPr lang="en-US" sz="1100" dirty="0">
              <a:latin typeface="Consolas" panose="020B0609020204030204" pitchFamily="49" charset="0"/>
            </a:endParaRPr>
          </a:p>
          <a:p>
            <a:r>
              <a:rPr lang="en-US" sz="1100" dirty="0">
                <a:latin typeface="Consolas" panose="020B0609020204030204" pitchFamily="49" charset="0"/>
              </a:rPr>
              <a:t>     Network          Next Hop            Metric LocPrf Weight Path</a:t>
            </a:r>
          </a:p>
          <a:p>
            <a:r>
              <a:rPr lang="en-US" sz="1100" dirty="0">
                <a:latin typeface="Consolas" panose="020B0609020204030204" pitchFamily="49" charset="0"/>
              </a:rPr>
              <a:t> *&gt;   10.0.1.0/24      10.64.31.1                             0 65000 65001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10.0.4.0/24      10.64.31.1                             0 65000 65004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10.0.21.0/24     10.64.31.1                             0 65000 65021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a:t>
            </a:r>
            <a:r>
              <a:rPr lang="en-US" sz="1100" dirty="0">
                <a:solidFill>
                  <a:schemeClr val="accent6">
                    <a:lumMod val="75000"/>
                  </a:schemeClr>
                </a:solidFill>
                <a:latin typeface="Consolas" panose="020B0609020204030204" pitchFamily="49" charset="0"/>
              </a:rPr>
              <a:t>*&gt;   10.0.31.0/24     0.0.0.0                  0         32768 </a:t>
            </a:r>
            <a:r>
              <a:rPr lang="en-US" sz="1100" dirty="0" err="1">
                <a:solidFill>
                  <a:schemeClr val="accent6">
                    <a:lumMod val="75000"/>
                  </a:schemeClr>
                </a:solidFill>
                <a:latin typeface="Consolas" panose="020B0609020204030204" pitchFamily="49" charset="0"/>
              </a:rPr>
              <a:t>i</a:t>
            </a:r>
            <a:endParaRPr lang="en-US" sz="1100" dirty="0">
              <a:solidFill>
                <a:schemeClr val="accent6">
                  <a:lumMod val="75000"/>
                </a:schemeClr>
              </a:solidFill>
              <a:latin typeface="Consolas" panose="020B0609020204030204" pitchFamily="49" charset="0"/>
            </a:endParaRPr>
          </a:p>
          <a:p>
            <a:r>
              <a:rPr lang="en-US" sz="1100" dirty="0">
                <a:latin typeface="Consolas" panose="020B0609020204030204" pitchFamily="49" charset="0"/>
              </a:rPr>
              <a:t> *&gt;   10.1.1.0/24      10.64.31.1                             0 65000 65001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10.1.4.0/24      10.64.31.1                             0 65000 65004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10.1.21.0/24     10.64.31.1                             0 65000 65021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10.1.31.0/24     0.0.0.0                  0         32768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10.2.1.0/24      10.64.31.1                             0 65000 65001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10.2.4.0/24      10.64.31.1                             0 65000 65004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10.2.21.0/24     10.64.31.1                             0 65000 65021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10.2.31.0/24     0.0.0.0                  0         32768 </a:t>
            </a:r>
            <a:r>
              <a:rPr lang="en-US" sz="1100" dirty="0" err="1">
                <a:latin typeface="Consolas" panose="020B0609020204030204" pitchFamily="49" charset="0"/>
              </a:rPr>
              <a:t>i</a:t>
            </a:r>
            <a:endParaRPr lang="en-US" sz="1100" dirty="0">
              <a:latin typeface="Consolas" panose="020B0609020204030204" pitchFamily="49" charset="0"/>
            </a:endParaRPr>
          </a:p>
          <a:p>
            <a:r>
              <a:rPr lang="en-US" sz="1100" dirty="0">
                <a:latin typeface="Consolas" panose="020B0609020204030204" pitchFamily="49" charset="0"/>
              </a:rPr>
              <a:t> *&gt;   10.64.1.0/30     10.64.31.1                             0 65000 ?</a:t>
            </a:r>
          </a:p>
          <a:p>
            <a:r>
              <a:rPr lang="en-US" sz="1100" dirty="0">
                <a:latin typeface="Consolas" panose="020B0609020204030204" pitchFamily="49" charset="0"/>
              </a:rPr>
              <a:t>     Network          Next Hop            Metric LocPrf Weight Path</a:t>
            </a:r>
          </a:p>
          <a:p>
            <a:r>
              <a:rPr lang="en-US" sz="1100" dirty="0">
                <a:latin typeface="Consolas" panose="020B0609020204030204" pitchFamily="49" charset="0"/>
              </a:rPr>
              <a:t> *&gt;   10.64.4.0/30     10.64.31.1                             0 65000 ?</a:t>
            </a:r>
          </a:p>
          <a:p>
            <a:r>
              <a:rPr lang="en-US" sz="1100" dirty="0">
                <a:latin typeface="Consolas" panose="020B0609020204030204" pitchFamily="49" charset="0"/>
              </a:rPr>
              <a:t> *&gt;   10.64.21.0/30    10.64.31.1                             0 65000 ?</a:t>
            </a:r>
          </a:p>
          <a:p>
            <a:r>
              <a:rPr lang="en-US" sz="1100" dirty="0">
                <a:latin typeface="Consolas" panose="020B0609020204030204" pitchFamily="49" charset="0"/>
              </a:rPr>
              <a:t> r&gt;   10.64.31.0/30    10.64.31.1               0             0 65000 ?</a:t>
            </a:r>
          </a:p>
          <a:p>
            <a:r>
              <a:rPr lang="en-US" sz="1100" dirty="0">
                <a:latin typeface="Consolas" panose="020B0609020204030204" pitchFamily="49" charset="0"/>
              </a:rPr>
              <a:t>CE31#</a:t>
            </a:r>
          </a:p>
          <a:p>
            <a:pPr marL="171450" indent="-171450">
              <a:buFont typeface="Wingdings" panose="05000000000000000000" pitchFamily="2" charset="2"/>
              <a:buChar char="n"/>
            </a:pPr>
            <a:endParaRPr lang="en-US" sz="1100" dirty="0">
              <a:latin typeface="Consolas" panose="020B0609020204030204" pitchFamily="49" charset="0"/>
            </a:endParaRPr>
          </a:p>
        </p:txBody>
      </p:sp>
    </p:spTree>
    <p:extLst>
      <p:ext uri="{BB962C8B-B14F-4D97-AF65-F5344CB8AC3E}">
        <p14:creationId xmlns:p14="http://schemas.microsoft.com/office/powerpoint/2010/main" val="1761381128"/>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721DBD-20FD-469F-DC45-C9C2BDC8B199}"/>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78E53C79-C587-9DEB-BB18-FF32CF2366D9}"/>
              </a:ext>
            </a:extLst>
          </p:cNvPr>
          <p:cNvSpPr>
            <a:spLocks noGrp="1"/>
          </p:cNvSpPr>
          <p:nvPr>
            <p:ph type="body" sz="quarter" idx="11"/>
          </p:nvPr>
        </p:nvSpPr>
        <p:spPr/>
        <p:txBody>
          <a:bodyPr/>
          <a:lstStyle/>
          <a:p>
            <a:r>
              <a:rPr lang="en-US" sz="2800" dirty="0"/>
              <a:t>LAB </a:t>
            </a:r>
            <a:r>
              <a:rPr lang="en-US" sz="2800" dirty="0" err="1"/>
              <a:t>4b</a:t>
            </a:r>
            <a:r>
              <a:rPr lang="en-US" sz="2800" dirty="0"/>
              <a:t> – MPLS/SRv6 VPN Interworking gateway - L3VPN</a:t>
            </a:r>
          </a:p>
        </p:txBody>
      </p:sp>
    </p:spTree>
    <p:extLst>
      <p:ext uri="{BB962C8B-B14F-4D97-AF65-F5344CB8AC3E}">
        <p14:creationId xmlns:p14="http://schemas.microsoft.com/office/powerpoint/2010/main" val="1032228157"/>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721DBD-20FD-469F-DC45-C9C2BDC8B199}"/>
              </a:ext>
            </a:extLst>
          </p:cNvPr>
          <p:cNvSpPr>
            <a:spLocks noGrp="1"/>
          </p:cNvSpPr>
          <p:nvPr>
            <p:ph type="body" sz="quarter" idx="10"/>
          </p:nvPr>
        </p:nvSpPr>
        <p:spPr/>
        <p:txBody>
          <a:bodyPr/>
          <a:lstStyle/>
          <a:p>
            <a:r>
              <a:rPr lang="en-US" dirty="0" err="1"/>
              <a:t>R32</a:t>
            </a:r>
            <a:r>
              <a:rPr lang="en-US" dirty="0"/>
              <a:t> “pure IPv6” router without SRv6</a:t>
            </a:r>
          </a:p>
        </p:txBody>
      </p:sp>
      <p:sp>
        <p:nvSpPr>
          <p:cNvPr id="3" name="Text Placeholder 2">
            <a:extLst>
              <a:ext uri="{FF2B5EF4-FFF2-40B4-BE49-F238E27FC236}">
                <a16:creationId xmlns:a16="http://schemas.microsoft.com/office/drawing/2014/main" id="{78E53C79-C587-9DEB-BB18-FF32CF2366D9}"/>
              </a:ext>
            </a:extLst>
          </p:cNvPr>
          <p:cNvSpPr>
            <a:spLocks noGrp="1"/>
          </p:cNvSpPr>
          <p:nvPr>
            <p:ph type="body" sz="quarter" idx="11"/>
          </p:nvPr>
        </p:nvSpPr>
        <p:spPr/>
        <p:txBody>
          <a:bodyPr/>
          <a:lstStyle/>
          <a:p>
            <a:r>
              <a:rPr lang="en-US" sz="2800" dirty="0"/>
              <a:t>LAB 5 – SRv6 to all devices</a:t>
            </a:r>
          </a:p>
        </p:txBody>
      </p:sp>
    </p:spTree>
    <p:extLst>
      <p:ext uri="{BB962C8B-B14F-4D97-AF65-F5344CB8AC3E}">
        <p14:creationId xmlns:p14="http://schemas.microsoft.com/office/powerpoint/2010/main" val="2299014893"/>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7DF76D3A-5E3E-4BC8-8F39-771134FF4322}"/>
              </a:ext>
            </a:extLst>
          </p:cNvPr>
          <p:cNvSpPr>
            <a:spLocks noGrp="1"/>
          </p:cNvSpPr>
          <p:nvPr>
            <p:ph type="body" idx="1"/>
          </p:nvPr>
        </p:nvSpPr>
        <p:spPr/>
        <p:txBody>
          <a:bodyPr/>
          <a:lstStyle/>
          <a:p>
            <a:r>
              <a:rPr lang="en-US" noProof="0" dirty="0"/>
              <a:t>TI-LFA</a:t>
            </a:r>
          </a:p>
        </p:txBody>
      </p:sp>
      <p:sp>
        <p:nvSpPr>
          <p:cNvPr id="5" name="Zástupný text 4">
            <a:extLst>
              <a:ext uri="{FF2B5EF4-FFF2-40B4-BE49-F238E27FC236}">
                <a16:creationId xmlns:a16="http://schemas.microsoft.com/office/drawing/2014/main" id="{CA46CB7B-0002-4873-B253-4D2438CC3611}"/>
              </a:ext>
            </a:extLst>
          </p:cNvPr>
          <p:cNvSpPr>
            <a:spLocks noGrp="1"/>
          </p:cNvSpPr>
          <p:nvPr>
            <p:ph type="body" sz="quarter" idx="13"/>
          </p:nvPr>
        </p:nvSpPr>
        <p:spPr/>
        <p:txBody>
          <a:bodyPr/>
          <a:lstStyle/>
          <a:p>
            <a:r>
              <a:rPr lang="en-US" dirty="0"/>
              <a:t>SRv6</a:t>
            </a:r>
          </a:p>
        </p:txBody>
      </p:sp>
      <p:sp>
        <p:nvSpPr>
          <p:cNvPr id="6" name="Zástupný text 5">
            <a:extLst>
              <a:ext uri="{FF2B5EF4-FFF2-40B4-BE49-F238E27FC236}">
                <a16:creationId xmlns:a16="http://schemas.microsoft.com/office/drawing/2014/main" id="{955FA430-FA92-4EB5-849C-E3D05AB9B217}"/>
              </a:ext>
            </a:extLst>
          </p:cNvPr>
          <p:cNvSpPr>
            <a:spLocks noGrp="1"/>
          </p:cNvSpPr>
          <p:nvPr>
            <p:ph type="body" sz="quarter" idx="14"/>
          </p:nvPr>
        </p:nvSpPr>
        <p:spPr/>
        <p:txBody>
          <a:bodyPr/>
          <a:lstStyle/>
          <a:p>
            <a:endParaRPr lang="en-US" dirty="0"/>
          </a:p>
        </p:txBody>
      </p:sp>
      <p:sp>
        <p:nvSpPr>
          <p:cNvPr id="2" name="Text Placeholder 1">
            <a:extLst>
              <a:ext uri="{FF2B5EF4-FFF2-40B4-BE49-F238E27FC236}">
                <a16:creationId xmlns:a16="http://schemas.microsoft.com/office/drawing/2014/main" id="{B367786B-A4DD-DB9E-9087-78A451525AAC}"/>
              </a:ext>
            </a:extLst>
          </p:cNvPr>
          <p:cNvSpPr>
            <a:spLocks noGrp="1"/>
          </p:cNvSpPr>
          <p:nvPr>
            <p:ph type="body" sz="quarter" idx="15"/>
          </p:nvPr>
        </p:nvSpPr>
        <p:spPr/>
        <p:txBody>
          <a:bodyPr/>
          <a:lstStyle/>
          <a:p>
            <a:r>
              <a:rPr lang="en-US" dirty="0">
                <a:cs typeface="Calibri" pitchFamily="34" charset="0"/>
              </a:rPr>
              <a:t>SRv6 and service migration</a:t>
            </a:r>
            <a:endParaRPr lang="cs-CZ" dirty="0"/>
          </a:p>
        </p:txBody>
      </p:sp>
    </p:spTree>
    <p:extLst>
      <p:ext uri="{BB962C8B-B14F-4D97-AF65-F5344CB8AC3E}">
        <p14:creationId xmlns:p14="http://schemas.microsoft.com/office/powerpoint/2010/main" val="1731129"/>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22851A4-4C87-E8EA-C674-0E18A6AB564E}"/>
              </a:ext>
            </a:extLst>
          </p:cNvPr>
          <p:cNvSpPr>
            <a:spLocks noGrp="1"/>
          </p:cNvSpPr>
          <p:nvPr>
            <p:ph type="body" sz="quarter" idx="10"/>
          </p:nvPr>
        </p:nvSpPr>
        <p:spPr/>
        <p:txBody>
          <a:bodyPr/>
          <a:lstStyle/>
          <a:p>
            <a:r>
              <a:rPr lang="en-US" dirty="0"/>
              <a:t>Algorithm to calculate backup paths for IP (and MPLS)</a:t>
            </a:r>
          </a:p>
          <a:p>
            <a:r>
              <a:rPr lang="en-US" dirty="0"/>
              <a:t>No signaling, link or node protection, and other tiebreakers</a:t>
            </a:r>
          </a:p>
          <a:p>
            <a:r>
              <a:rPr lang="en-US" dirty="0"/>
              <a:t>The same principles as in LDP/MPLS or SR-MPLS but “tunneling” is not done by MPLS</a:t>
            </a:r>
          </a:p>
          <a:p>
            <a:r>
              <a:rPr lang="en-US" dirty="0"/>
              <a:t>Protected traffic is on Post-Convergence (PC) Path</a:t>
            </a:r>
          </a:p>
          <a:p>
            <a:r>
              <a:rPr lang="en-US" dirty="0"/>
              <a:t>Available for: SR-MPLS, SRv6, Tree-SID</a:t>
            </a:r>
          </a:p>
          <a:p>
            <a:endParaRPr lang="en-US" dirty="0"/>
          </a:p>
          <a:p>
            <a:endParaRPr lang="en-US" dirty="0"/>
          </a:p>
        </p:txBody>
      </p:sp>
      <p:sp>
        <p:nvSpPr>
          <p:cNvPr id="3" name="Text Placeholder 2">
            <a:extLst>
              <a:ext uri="{FF2B5EF4-FFF2-40B4-BE49-F238E27FC236}">
                <a16:creationId xmlns:a16="http://schemas.microsoft.com/office/drawing/2014/main" id="{94B8ED6C-7982-3897-7E1B-8084D5838EE0}"/>
              </a:ext>
            </a:extLst>
          </p:cNvPr>
          <p:cNvSpPr>
            <a:spLocks noGrp="1"/>
          </p:cNvSpPr>
          <p:nvPr>
            <p:ph type="body" sz="quarter" idx="11"/>
          </p:nvPr>
        </p:nvSpPr>
        <p:spPr/>
        <p:txBody>
          <a:bodyPr/>
          <a:lstStyle/>
          <a:p>
            <a:r>
              <a:rPr lang="en-US" dirty="0"/>
              <a:t>TI-LFA</a:t>
            </a:r>
          </a:p>
        </p:txBody>
      </p:sp>
    </p:spTree>
    <p:extLst>
      <p:ext uri="{BB962C8B-B14F-4D97-AF65-F5344CB8AC3E}">
        <p14:creationId xmlns:p14="http://schemas.microsoft.com/office/powerpoint/2010/main" val="3686966370"/>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0E54F2B-A934-38A3-5D79-E11254BBBB63}"/>
              </a:ext>
            </a:extLst>
          </p:cNvPr>
          <p:cNvSpPr>
            <a:spLocks noGrp="1"/>
          </p:cNvSpPr>
          <p:nvPr>
            <p:ph type="body" sz="quarter" idx="10"/>
          </p:nvPr>
        </p:nvSpPr>
        <p:spPr/>
        <p:txBody>
          <a:bodyPr/>
          <a:lstStyle/>
          <a:p>
            <a:r>
              <a:rPr lang="en-US" dirty="0"/>
              <a:t>Path 1 to 7</a:t>
            </a:r>
          </a:p>
          <a:p>
            <a:r>
              <a:rPr lang="en-US" dirty="0"/>
              <a:t>Simple IPv6 </a:t>
            </a:r>
            <a:r>
              <a:rPr lang="en-US" dirty="0" err="1"/>
              <a:t>encap</a:t>
            </a:r>
            <a:endParaRPr lang="en-US" dirty="0"/>
          </a:p>
        </p:txBody>
      </p:sp>
      <p:sp>
        <p:nvSpPr>
          <p:cNvPr id="4" name="Text Placeholder 3">
            <a:extLst>
              <a:ext uri="{FF2B5EF4-FFF2-40B4-BE49-F238E27FC236}">
                <a16:creationId xmlns:a16="http://schemas.microsoft.com/office/drawing/2014/main" id="{A55613E9-594B-520B-B97D-97B38B3731F2}"/>
              </a:ext>
            </a:extLst>
          </p:cNvPr>
          <p:cNvSpPr>
            <a:spLocks noGrp="1"/>
          </p:cNvSpPr>
          <p:nvPr>
            <p:ph type="body" sz="quarter" idx="11"/>
          </p:nvPr>
        </p:nvSpPr>
        <p:spPr/>
        <p:txBody>
          <a:bodyPr/>
          <a:lstStyle/>
          <a:p>
            <a:r>
              <a:rPr lang="en-US" dirty="0"/>
              <a:t>TI-LFA - Regular Path</a:t>
            </a:r>
          </a:p>
        </p:txBody>
      </p:sp>
      <p:sp>
        <p:nvSpPr>
          <p:cNvPr id="7" name="Elipse 6">
            <a:extLst>
              <a:ext uri="{FF2B5EF4-FFF2-40B4-BE49-F238E27FC236}">
                <a16:creationId xmlns:a16="http://schemas.microsoft.com/office/drawing/2014/main" id="{1F1F086D-0210-8973-9941-EC1867D57D8B}"/>
              </a:ext>
            </a:extLst>
          </p:cNvPr>
          <p:cNvSpPr/>
          <p:nvPr/>
        </p:nvSpPr>
        <p:spPr>
          <a:xfrm>
            <a:off x="7386267" y="3910749"/>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a:latin typeface="+mj-lt"/>
              </a:rPr>
              <a:t>4</a:t>
            </a:r>
          </a:p>
        </p:txBody>
      </p:sp>
      <p:sp>
        <p:nvSpPr>
          <p:cNvPr id="8" name="Elipse 6">
            <a:extLst>
              <a:ext uri="{FF2B5EF4-FFF2-40B4-BE49-F238E27FC236}">
                <a16:creationId xmlns:a16="http://schemas.microsoft.com/office/drawing/2014/main" id="{04FAA97D-66CB-1CFF-FA1E-CCB41BF117DF}"/>
              </a:ext>
            </a:extLst>
          </p:cNvPr>
          <p:cNvSpPr/>
          <p:nvPr/>
        </p:nvSpPr>
        <p:spPr>
          <a:xfrm>
            <a:off x="9812491" y="5030549"/>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a:latin typeface="+mj-lt"/>
              </a:rPr>
              <a:t>6</a:t>
            </a:r>
          </a:p>
        </p:txBody>
      </p:sp>
      <p:sp>
        <p:nvSpPr>
          <p:cNvPr id="9" name="Elipse 6">
            <a:extLst>
              <a:ext uri="{FF2B5EF4-FFF2-40B4-BE49-F238E27FC236}">
                <a16:creationId xmlns:a16="http://schemas.microsoft.com/office/drawing/2014/main" id="{8C5D90FA-B3DF-AC49-CCCF-738012A9D04D}"/>
              </a:ext>
            </a:extLst>
          </p:cNvPr>
          <p:cNvSpPr/>
          <p:nvPr/>
        </p:nvSpPr>
        <p:spPr>
          <a:xfrm>
            <a:off x="7386267" y="5030549"/>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a:latin typeface="+mj-lt"/>
              </a:rPr>
              <a:t>5</a:t>
            </a:r>
          </a:p>
        </p:txBody>
      </p:sp>
      <p:sp>
        <p:nvSpPr>
          <p:cNvPr id="10" name="Elipse 6">
            <a:extLst>
              <a:ext uri="{FF2B5EF4-FFF2-40B4-BE49-F238E27FC236}">
                <a16:creationId xmlns:a16="http://schemas.microsoft.com/office/drawing/2014/main" id="{C15DFDE9-E09E-BA10-F8E0-ED05CB6AD5AA}"/>
              </a:ext>
            </a:extLst>
          </p:cNvPr>
          <p:cNvSpPr/>
          <p:nvPr/>
        </p:nvSpPr>
        <p:spPr>
          <a:xfrm>
            <a:off x="9812491" y="2790948"/>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a:latin typeface="+mj-lt"/>
              </a:rPr>
              <a:t>3</a:t>
            </a:r>
          </a:p>
        </p:txBody>
      </p:sp>
      <p:sp>
        <p:nvSpPr>
          <p:cNvPr id="11" name="Elipse 6">
            <a:extLst>
              <a:ext uri="{FF2B5EF4-FFF2-40B4-BE49-F238E27FC236}">
                <a16:creationId xmlns:a16="http://schemas.microsoft.com/office/drawing/2014/main" id="{2AB71C8B-EFD4-8A3A-C38C-1F01AB615FC5}"/>
              </a:ext>
            </a:extLst>
          </p:cNvPr>
          <p:cNvSpPr/>
          <p:nvPr/>
        </p:nvSpPr>
        <p:spPr>
          <a:xfrm>
            <a:off x="7386267" y="2790948"/>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dirty="0">
                <a:latin typeface="+mj-lt"/>
              </a:rPr>
              <a:t>2</a:t>
            </a:r>
          </a:p>
        </p:txBody>
      </p:sp>
      <p:sp>
        <p:nvSpPr>
          <p:cNvPr id="12" name="Elipse 6">
            <a:extLst>
              <a:ext uri="{FF2B5EF4-FFF2-40B4-BE49-F238E27FC236}">
                <a16:creationId xmlns:a16="http://schemas.microsoft.com/office/drawing/2014/main" id="{DBB113AB-4851-F24C-8E8A-4C108D91615E}"/>
              </a:ext>
            </a:extLst>
          </p:cNvPr>
          <p:cNvSpPr/>
          <p:nvPr/>
        </p:nvSpPr>
        <p:spPr>
          <a:xfrm>
            <a:off x="7386267" y="1671147"/>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a:latin typeface="+mj-lt"/>
              </a:rPr>
              <a:t>1</a:t>
            </a:r>
          </a:p>
        </p:txBody>
      </p:sp>
      <p:cxnSp>
        <p:nvCxnSpPr>
          <p:cNvPr id="13" name="Straight Arrow Connector 12">
            <a:extLst>
              <a:ext uri="{FF2B5EF4-FFF2-40B4-BE49-F238E27FC236}">
                <a16:creationId xmlns:a16="http://schemas.microsoft.com/office/drawing/2014/main" id="{3D583F15-9406-FEA8-4FA0-41FA1793EB3F}"/>
              </a:ext>
            </a:extLst>
          </p:cNvPr>
          <p:cNvCxnSpPr>
            <a:cxnSpLocks/>
            <a:stCxn id="7" idx="0"/>
            <a:endCxn id="11" idx="4"/>
          </p:cNvCxnSpPr>
          <p:nvPr/>
        </p:nvCxnSpPr>
        <p:spPr bwMode="auto">
          <a:xfrm flipV="1">
            <a:off x="7674267" y="3366949"/>
            <a:ext cx="0" cy="543801"/>
          </a:xfrm>
          <a:prstGeom prst="straightConnector1">
            <a:avLst/>
          </a:prstGeom>
          <a:solidFill>
            <a:srgbClr val="0183B7"/>
          </a:solidFill>
          <a:ln w="25400" cap="flat" cmpd="sng" algn="ctr">
            <a:solidFill>
              <a:schemeClr val="accent2"/>
            </a:solidFill>
            <a:prstDash val="solid"/>
            <a:round/>
            <a:headEnd type="none" w="med" len="med"/>
            <a:tailEnd type="none" w="med" len="med"/>
          </a:ln>
          <a:effectLst/>
        </p:spPr>
      </p:cxnSp>
      <p:cxnSp>
        <p:nvCxnSpPr>
          <p:cNvPr id="14" name="Straight Arrow Connector 13">
            <a:extLst>
              <a:ext uri="{FF2B5EF4-FFF2-40B4-BE49-F238E27FC236}">
                <a16:creationId xmlns:a16="http://schemas.microsoft.com/office/drawing/2014/main" id="{9410A912-6DD5-B233-2923-04FED946DF97}"/>
              </a:ext>
            </a:extLst>
          </p:cNvPr>
          <p:cNvCxnSpPr>
            <a:cxnSpLocks/>
            <a:stCxn id="11" idx="6"/>
            <a:endCxn id="10" idx="2"/>
          </p:cNvCxnSpPr>
          <p:nvPr/>
        </p:nvCxnSpPr>
        <p:spPr bwMode="auto">
          <a:xfrm>
            <a:off x="7962267" y="3078948"/>
            <a:ext cx="1850224" cy="0"/>
          </a:xfrm>
          <a:prstGeom prst="straightConnector1">
            <a:avLst/>
          </a:prstGeom>
          <a:solidFill>
            <a:srgbClr val="0183B7"/>
          </a:solidFill>
          <a:ln w="25400" cap="flat" cmpd="sng" algn="ctr">
            <a:solidFill>
              <a:schemeClr val="accent2"/>
            </a:solidFill>
            <a:prstDash val="solid"/>
            <a:round/>
            <a:headEnd type="none" w="med" len="med"/>
            <a:tailEnd type="none" w="med" len="med"/>
          </a:ln>
          <a:effectLst/>
        </p:spPr>
      </p:cxnSp>
      <p:cxnSp>
        <p:nvCxnSpPr>
          <p:cNvPr id="15" name="Straight Arrow Connector 14">
            <a:extLst>
              <a:ext uri="{FF2B5EF4-FFF2-40B4-BE49-F238E27FC236}">
                <a16:creationId xmlns:a16="http://schemas.microsoft.com/office/drawing/2014/main" id="{41884E08-1617-8EBC-81BF-9336106FE8EC}"/>
              </a:ext>
            </a:extLst>
          </p:cNvPr>
          <p:cNvCxnSpPr>
            <a:cxnSpLocks/>
            <a:stCxn id="9" idx="6"/>
            <a:endCxn id="8" idx="2"/>
          </p:cNvCxnSpPr>
          <p:nvPr/>
        </p:nvCxnSpPr>
        <p:spPr bwMode="auto">
          <a:xfrm>
            <a:off x="7962267" y="5318549"/>
            <a:ext cx="1850224" cy="0"/>
          </a:xfrm>
          <a:prstGeom prst="straightConnector1">
            <a:avLst/>
          </a:prstGeom>
          <a:solidFill>
            <a:srgbClr val="0183B7"/>
          </a:solidFill>
          <a:ln w="25400" cap="flat" cmpd="sng" algn="ctr">
            <a:solidFill>
              <a:schemeClr val="accent2"/>
            </a:solidFill>
            <a:prstDash val="solid"/>
            <a:round/>
            <a:headEnd type="none" w="med" len="med"/>
            <a:tailEnd type="none" w="med" len="med"/>
          </a:ln>
          <a:effectLst/>
        </p:spPr>
      </p:cxnSp>
      <p:cxnSp>
        <p:nvCxnSpPr>
          <p:cNvPr id="16" name="Straight Arrow Connector 15">
            <a:extLst>
              <a:ext uri="{FF2B5EF4-FFF2-40B4-BE49-F238E27FC236}">
                <a16:creationId xmlns:a16="http://schemas.microsoft.com/office/drawing/2014/main" id="{0964AF5A-79FB-A4CD-8AEE-4063C3BA4F00}"/>
              </a:ext>
            </a:extLst>
          </p:cNvPr>
          <p:cNvCxnSpPr>
            <a:cxnSpLocks/>
            <a:stCxn id="7" idx="4"/>
          </p:cNvCxnSpPr>
          <p:nvPr/>
        </p:nvCxnSpPr>
        <p:spPr bwMode="auto">
          <a:xfrm>
            <a:off x="7674267" y="4486749"/>
            <a:ext cx="0" cy="543800"/>
          </a:xfrm>
          <a:prstGeom prst="straightConnector1">
            <a:avLst/>
          </a:prstGeom>
          <a:solidFill>
            <a:srgbClr val="0183B7"/>
          </a:solidFill>
          <a:ln w="25400" cap="flat" cmpd="sng" algn="ctr">
            <a:solidFill>
              <a:schemeClr val="accent2"/>
            </a:solidFill>
            <a:prstDash val="solid"/>
            <a:round/>
            <a:headEnd type="none" w="med" len="med"/>
            <a:tailEnd type="none" w="med" len="med"/>
          </a:ln>
          <a:effectLst/>
        </p:spPr>
      </p:cxnSp>
      <p:cxnSp>
        <p:nvCxnSpPr>
          <p:cNvPr id="17" name="Straight Arrow Connector 16">
            <a:extLst>
              <a:ext uri="{FF2B5EF4-FFF2-40B4-BE49-F238E27FC236}">
                <a16:creationId xmlns:a16="http://schemas.microsoft.com/office/drawing/2014/main" id="{D6754861-3435-2875-03B8-ECE0CB5BEF09}"/>
              </a:ext>
            </a:extLst>
          </p:cNvPr>
          <p:cNvCxnSpPr>
            <a:cxnSpLocks/>
            <a:stCxn id="10" idx="4"/>
            <a:endCxn id="8" idx="0"/>
          </p:cNvCxnSpPr>
          <p:nvPr/>
        </p:nvCxnSpPr>
        <p:spPr bwMode="auto">
          <a:xfrm>
            <a:off x="10100491" y="3366949"/>
            <a:ext cx="0" cy="1663601"/>
          </a:xfrm>
          <a:prstGeom prst="straightConnector1">
            <a:avLst/>
          </a:prstGeom>
          <a:solidFill>
            <a:srgbClr val="0183B7"/>
          </a:solidFill>
          <a:ln w="25400" cap="flat" cmpd="sng" algn="ctr">
            <a:solidFill>
              <a:schemeClr val="accent2"/>
            </a:solidFill>
            <a:prstDash val="solid"/>
            <a:round/>
            <a:headEnd type="none" w="med" len="med"/>
            <a:tailEnd type="none" w="med" len="med"/>
          </a:ln>
          <a:effectLst/>
        </p:spPr>
      </p:cxnSp>
      <p:cxnSp>
        <p:nvCxnSpPr>
          <p:cNvPr id="18" name="Straight Arrow Connector 17">
            <a:extLst>
              <a:ext uri="{FF2B5EF4-FFF2-40B4-BE49-F238E27FC236}">
                <a16:creationId xmlns:a16="http://schemas.microsoft.com/office/drawing/2014/main" id="{A305550D-5AB0-F39B-C092-C84E7B1D5660}"/>
              </a:ext>
            </a:extLst>
          </p:cNvPr>
          <p:cNvCxnSpPr>
            <a:cxnSpLocks/>
            <a:stCxn id="10" idx="0"/>
            <a:endCxn id="32" idx="4"/>
          </p:cNvCxnSpPr>
          <p:nvPr/>
        </p:nvCxnSpPr>
        <p:spPr bwMode="auto">
          <a:xfrm flipV="1">
            <a:off x="10100491" y="2247148"/>
            <a:ext cx="0" cy="543801"/>
          </a:xfrm>
          <a:prstGeom prst="straightConnector1">
            <a:avLst/>
          </a:prstGeom>
          <a:solidFill>
            <a:srgbClr val="0183B7"/>
          </a:solidFill>
          <a:ln w="25400" cap="flat" cmpd="sng" algn="ctr">
            <a:solidFill>
              <a:schemeClr val="accent2"/>
            </a:solidFill>
            <a:prstDash val="solid"/>
            <a:round/>
            <a:headEnd type="none" w="med" len="med"/>
            <a:tailEnd type="none" w="med" len="med"/>
          </a:ln>
          <a:effectLst/>
        </p:spPr>
      </p:cxnSp>
      <p:cxnSp>
        <p:nvCxnSpPr>
          <p:cNvPr id="19" name="Straight Arrow Connector 18">
            <a:extLst>
              <a:ext uri="{FF2B5EF4-FFF2-40B4-BE49-F238E27FC236}">
                <a16:creationId xmlns:a16="http://schemas.microsoft.com/office/drawing/2014/main" id="{BC99D32B-205B-39D9-3476-43291E43C486}"/>
              </a:ext>
            </a:extLst>
          </p:cNvPr>
          <p:cNvCxnSpPr>
            <a:cxnSpLocks/>
            <a:stCxn id="12" idx="4"/>
            <a:endCxn id="11" idx="0"/>
          </p:cNvCxnSpPr>
          <p:nvPr/>
        </p:nvCxnSpPr>
        <p:spPr bwMode="auto">
          <a:xfrm>
            <a:off x="7674267" y="2247148"/>
            <a:ext cx="0" cy="543801"/>
          </a:xfrm>
          <a:prstGeom prst="straightConnector1">
            <a:avLst/>
          </a:prstGeom>
          <a:solidFill>
            <a:srgbClr val="0183B7"/>
          </a:solidFill>
          <a:ln w="25400" cap="flat" cmpd="sng" algn="ctr">
            <a:solidFill>
              <a:schemeClr val="accent2"/>
            </a:solidFill>
            <a:prstDash val="solid"/>
            <a:round/>
            <a:headEnd type="none" w="med" len="med"/>
            <a:tailEnd type="none" w="med" len="med"/>
          </a:ln>
          <a:effectLst/>
        </p:spPr>
      </p:cxnSp>
      <p:sp>
        <p:nvSpPr>
          <p:cNvPr id="32" name="Elipse 6">
            <a:extLst>
              <a:ext uri="{FF2B5EF4-FFF2-40B4-BE49-F238E27FC236}">
                <a16:creationId xmlns:a16="http://schemas.microsoft.com/office/drawing/2014/main" id="{72450909-B5E8-864D-1D51-8F03EE633DF1}"/>
              </a:ext>
            </a:extLst>
          </p:cNvPr>
          <p:cNvSpPr/>
          <p:nvPr/>
        </p:nvSpPr>
        <p:spPr>
          <a:xfrm>
            <a:off x="9812491" y="1671147"/>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a:latin typeface="+mj-lt"/>
              </a:rPr>
              <a:t>7</a:t>
            </a:r>
          </a:p>
        </p:txBody>
      </p:sp>
      <p:sp>
        <p:nvSpPr>
          <p:cNvPr id="21" name="Freeform: Shape 20">
            <a:extLst>
              <a:ext uri="{FF2B5EF4-FFF2-40B4-BE49-F238E27FC236}">
                <a16:creationId xmlns:a16="http://schemas.microsoft.com/office/drawing/2014/main" id="{714C1ED7-55C3-92EF-4CC2-EC87BCB8EA70}"/>
              </a:ext>
            </a:extLst>
          </p:cNvPr>
          <p:cNvSpPr/>
          <p:nvPr/>
        </p:nvSpPr>
        <p:spPr>
          <a:xfrm>
            <a:off x="7181754" y="2189709"/>
            <a:ext cx="3487761" cy="788537"/>
          </a:xfrm>
          <a:custGeom>
            <a:avLst/>
            <a:gdLst>
              <a:gd name="connsiteX0" fmla="*/ 211043 w 2708022"/>
              <a:gd name="connsiteY0" fmla="*/ 9098 h 674114"/>
              <a:gd name="connsiteX1" fmla="*/ 224691 w 2708022"/>
              <a:gd name="connsiteY1" fmla="*/ 582304 h 674114"/>
              <a:gd name="connsiteX2" fmla="*/ 2512966 w 2708022"/>
              <a:gd name="connsiteY2" fmla="*/ 614149 h 674114"/>
              <a:gd name="connsiteX3" fmla="*/ 2431079 w 2708022"/>
              <a:gd name="connsiteY3" fmla="*/ 0 h 674114"/>
            </a:gdLst>
            <a:ahLst/>
            <a:cxnLst>
              <a:cxn ang="0">
                <a:pos x="connsiteX0" y="connsiteY0"/>
              </a:cxn>
              <a:cxn ang="0">
                <a:pos x="connsiteX1" y="connsiteY1"/>
              </a:cxn>
              <a:cxn ang="0">
                <a:pos x="connsiteX2" y="connsiteY2"/>
              </a:cxn>
              <a:cxn ang="0">
                <a:pos x="connsiteX3" y="connsiteY3"/>
              </a:cxn>
            </a:cxnLst>
            <a:rect l="l" t="t" r="r" b="b"/>
            <a:pathLst>
              <a:path w="2708022" h="674114">
                <a:moveTo>
                  <a:pt x="211043" y="9098"/>
                </a:moveTo>
                <a:cubicBezTo>
                  <a:pt x="26040" y="245280"/>
                  <a:pt x="-158963" y="481462"/>
                  <a:pt x="224691" y="582304"/>
                </a:cubicBezTo>
                <a:cubicBezTo>
                  <a:pt x="608345" y="683146"/>
                  <a:pt x="2145235" y="711200"/>
                  <a:pt x="2512966" y="614149"/>
                </a:cubicBezTo>
                <a:cubicBezTo>
                  <a:pt x="2880697" y="517098"/>
                  <a:pt x="2655888" y="258549"/>
                  <a:pt x="2431079" y="0"/>
                </a:cubicBezTo>
              </a:path>
            </a:pathLst>
          </a:custGeom>
          <a:noFill/>
          <a:ln w="57150">
            <a:solidFill>
              <a:schemeClr val="accent4"/>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lIns="91408" tIns="45705" rIns="91408" bIns="45705" rtlCol="0" anchor="ctr"/>
          <a:lstStyle/>
          <a:p>
            <a:pPr algn="ctr" defTabSz="609199"/>
            <a:endParaRPr lang="en-US" sz="2400">
              <a:solidFill>
                <a:schemeClr val="tx1"/>
              </a:solidFill>
              <a:latin typeface="Arial"/>
            </a:endParaRPr>
          </a:p>
        </p:txBody>
      </p:sp>
      <p:sp>
        <p:nvSpPr>
          <p:cNvPr id="22" name="TextBox 21">
            <a:extLst>
              <a:ext uri="{FF2B5EF4-FFF2-40B4-BE49-F238E27FC236}">
                <a16:creationId xmlns:a16="http://schemas.microsoft.com/office/drawing/2014/main" id="{2909A656-BA62-7C2F-FD40-06BF14F35DCB}"/>
              </a:ext>
            </a:extLst>
          </p:cNvPr>
          <p:cNvSpPr txBox="1"/>
          <p:nvPr/>
        </p:nvSpPr>
        <p:spPr>
          <a:xfrm>
            <a:off x="7858023" y="6238714"/>
            <a:ext cx="2065416" cy="297423"/>
          </a:xfrm>
          <a:prstGeom prst="rect">
            <a:avLst/>
          </a:prstGeom>
          <a:noFill/>
        </p:spPr>
        <p:txBody>
          <a:bodyPr wrap="square" lIns="91408" tIns="45705" rIns="91408" bIns="45705" rtlCol="0">
            <a:spAutoFit/>
          </a:bodyPr>
          <a:lstStyle/>
          <a:p>
            <a:pPr algn="ctr" defTabSz="609199"/>
            <a:r>
              <a:rPr lang="en-US" sz="1333">
                <a:latin typeface="+mj-lt"/>
              </a:rPr>
              <a:t>Default metric: </a:t>
            </a:r>
            <a:r>
              <a:rPr lang="en-US" sz="1333" u="sng">
                <a:latin typeface="+mj-lt"/>
              </a:rPr>
              <a:t>10</a:t>
            </a:r>
          </a:p>
        </p:txBody>
      </p:sp>
      <p:grpSp>
        <p:nvGrpSpPr>
          <p:cNvPr id="24" name="Group 23">
            <a:extLst>
              <a:ext uri="{FF2B5EF4-FFF2-40B4-BE49-F238E27FC236}">
                <a16:creationId xmlns:a16="http://schemas.microsoft.com/office/drawing/2014/main" id="{959F8CC6-C8C3-9FDC-342F-814AB997E051}"/>
              </a:ext>
            </a:extLst>
          </p:cNvPr>
          <p:cNvGrpSpPr/>
          <p:nvPr/>
        </p:nvGrpSpPr>
        <p:grpSpPr>
          <a:xfrm>
            <a:off x="9925593" y="5743399"/>
            <a:ext cx="1738709" cy="297454"/>
            <a:chOff x="4207550" y="4284065"/>
            <a:chExt cx="1304032" cy="223091"/>
          </a:xfrm>
        </p:grpSpPr>
        <p:cxnSp>
          <p:nvCxnSpPr>
            <p:cNvPr id="31" name="Straight Connector 30">
              <a:extLst>
                <a:ext uri="{FF2B5EF4-FFF2-40B4-BE49-F238E27FC236}">
                  <a16:creationId xmlns:a16="http://schemas.microsoft.com/office/drawing/2014/main" id="{E13584CC-9605-870E-90B1-F54BAB6076E1}"/>
                </a:ext>
              </a:extLst>
            </p:cNvPr>
            <p:cNvCxnSpPr/>
            <p:nvPr/>
          </p:nvCxnSpPr>
          <p:spPr>
            <a:xfrm flipV="1">
              <a:off x="4207550" y="4411326"/>
              <a:ext cx="324862" cy="7088"/>
            </a:xfrm>
            <a:prstGeom prst="line">
              <a:avLst/>
            </a:prstGeom>
            <a:noFill/>
            <a:ln w="38100">
              <a:solidFill>
                <a:schemeClr val="accent4">
                  <a:alpha val="85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cxnSp>
        <p:sp>
          <p:nvSpPr>
            <p:cNvPr id="33" name="TextBox 32">
              <a:extLst>
                <a:ext uri="{FF2B5EF4-FFF2-40B4-BE49-F238E27FC236}">
                  <a16:creationId xmlns:a16="http://schemas.microsoft.com/office/drawing/2014/main" id="{76E8DCA5-16E3-EAAD-A33D-175053FB8A80}"/>
                </a:ext>
              </a:extLst>
            </p:cNvPr>
            <p:cNvSpPr txBox="1"/>
            <p:nvPr/>
          </p:nvSpPr>
          <p:spPr>
            <a:xfrm>
              <a:off x="4497428" y="4284065"/>
              <a:ext cx="1014154" cy="223091"/>
            </a:xfrm>
            <a:prstGeom prst="rect">
              <a:avLst/>
            </a:prstGeom>
            <a:noFill/>
            <a:ln>
              <a:noFill/>
            </a:ln>
          </p:spPr>
          <p:txBody>
            <a:bodyPr wrap="none" lIns="96000" rIns="96000" rtlCol="0">
              <a:spAutoFit/>
            </a:bodyPr>
            <a:lstStyle/>
            <a:p>
              <a:pPr defTabSz="609585" fontAlgn="base">
                <a:spcBef>
                  <a:spcPct val="0"/>
                </a:spcBef>
                <a:spcAft>
                  <a:spcPct val="0"/>
                </a:spcAft>
                <a:defRPr/>
              </a:pPr>
              <a:r>
                <a:rPr lang="en-US" sz="1333">
                  <a:latin typeface="CiscoSansTT ExtraLight"/>
                  <a:ea typeface="ＭＳ Ｐゴシック" charset="0"/>
                </a:rPr>
                <a:t>Pre-convergence</a:t>
              </a:r>
            </a:p>
          </p:txBody>
        </p:sp>
      </p:grpSp>
      <p:sp>
        <p:nvSpPr>
          <p:cNvPr id="34" name="TextBox 33">
            <a:extLst>
              <a:ext uri="{FF2B5EF4-FFF2-40B4-BE49-F238E27FC236}">
                <a16:creationId xmlns:a16="http://schemas.microsoft.com/office/drawing/2014/main" id="{C9CBE1A5-BDCF-3349-E9E2-338130D8DAA6}"/>
              </a:ext>
            </a:extLst>
          </p:cNvPr>
          <p:cNvSpPr txBox="1"/>
          <p:nvPr/>
        </p:nvSpPr>
        <p:spPr>
          <a:xfrm>
            <a:off x="10232959" y="1332593"/>
            <a:ext cx="1285929" cy="461665"/>
          </a:xfrm>
          <a:prstGeom prst="rect">
            <a:avLst/>
          </a:prstGeom>
          <a:noFill/>
        </p:spPr>
        <p:txBody>
          <a:bodyPr wrap="none" rtlCol="0">
            <a:spAutoFit/>
          </a:bodyPr>
          <a:lstStyle/>
          <a:p>
            <a:r>
              <a:rPr lang="en-US" sz="1200" dirty="0"/>
              <a:t>Locator:</a:t>
            </a:r>
          </a:p>
          <a:p>
            <a:r>
              <a:rPr lang="en-US" sz="1200" dirty="0" err="1"/>
              <a:t>fcbb:bb00:7</a:t>
            </a:r>
            <a:r>
              <a:rPr lang="en-US" sz="1200" dirty="0"/>
              <a:t>::/48</a:t>
            </a:r>
          </a:p>
        </p:txBody>
      </p:sp>
      <p:sp>
        <p:nvSpPr>
          <p:cNvPr id="5" name="TextBox 4">
            <a:extLst>
              <a:ext uri="{FF2B5EF4-FFF2-40B4-BE49-F238E27FC236}">
                <a16:creationId xmlns:a16="http://schemas.microsoft.com/office/drawing/2014/main" id="{CB569A1E-8300-9FE6-7D04-099352142ABA}"/>
              </a:ext>
            </a:extLst>
          </p:cNvPr>
          <p:cNvSpPr txBox="1"/>
          <p:nvPr/>
        </p:nvSpPr>
        <p:spPr>
          <a:xfrm>
            <a:off x="7923648" y="3078948"/>
            <a:ext cx="365806" cy="297454"/>
          </a:xfrm>
          <a:prstGeom prst="rect">
            <a:avLst/>
          </a:prstGeom>
          <a:noFill/>
        </p:spPr>
        <p:txBody>
          <a:bodyPr wrap="none" rtlCol="0">
            <a:spAutoFit/>
          </a:bodyPr>
          <a:lstStyle/>
          <a:p>
            <a:r>
              <a:rPr lang="en-US" sz="1333"/>
              <a:t>if0</a:t>
            </a:r>
          </a:p>
        </p:txBody>
      </p:sp>
      <p:sp>
        <p:nvSpPr>
          <p:cNvPr id="20" name="TextBox 19">
            <a:extLst>
              <a:ext uri="{FF2B5EF4-FFF2-40B4-BE49-F238E27FC236}">
                <a16:creationId xmlns:a16="http://schemas.microsoft.com/office/drawing/2014/main" id="{A575CBA8-F85F-26E7-A559-643F36C03B92}"/>
              </a:ext>
            </a:extLst>
          </p:cNvPr>
          <p:cNvSpPr txBox="1"/>
          <p:nvPr/>
        </p:nvSpPr>
        <p:spPr>
          <a:xfrm>
            <a:off x="7292266" y="3321563"/>
            <a:ext cx="365806" cy="297454"/>
          </a:xfrm>
          <a:prstGeom prst="rect">
            <a:avLst/>
          </a:prstGeom>
          <a:noFill/>
        </p:spPr>
        <p:txBody>
          <a:bodyPr wrap="none" rtlCol="0">
            <a:spAutoFit/>
          </a:bodyPr>
          <a:lstStyle/>
          <a:p>
            <a:r>
              <a:rPr lang="en-US" sz="1333"/>
              <a:t>if1</a:t>
            </a:r>
          </a:p>
        </p:txBody>
      </p:sp>
      <p:sp>
        <p:nvSpPr>
          <p:cNvPr id="23" name="TextBox 22">
            <a:extLst>
              <a:ext uri="{FF2B5EF4-FFF2-40B4-BE49-F238E27FC236}">
                <a16:creationId xmlns:a16="http://schemas.microsoft.com/office/drawing/2014/main" id="{35CA9799-93ED-EEA4-B4D8-2DCCA9DD8525}"/>
              </a:ext>
            </a:extLst>
          </p:cNvPr>
          <p:cNvSpPr txBox="1"/>
          <p:nvPr/>
        </p:nvSpPr>
        <p:spPr>
          <a:xfrm>
            <a:off x="7686490" y="2514178"/>
            <a:ext cx="543739" cy="307777"/>
          </a:xfrm>
          <a:prstGeom prst="rect">
            <a:avLst/>
          </a:prstGeom>
          <a:noFill/>
        </p:spPr>
        <p:txBody>
          <a:bodyPr wrap="none" rtlCol="0">
            <a:spAutoFit/>
          </a:bodyPr>
          <a:lstStyle/>
          <a:p>
            <a:r>
              <a:rPr lang="en-US" sz="1400" b="1"/>
              <a:t>PLR</a:t>
            </a:r>
          </a:p>
        </p:txBody>
      </p:sp>
      <p:grpSp>
        <p:nvGrpSpPr>
          <p:cNvPr id="35" name="Group 34">
            <a:extLst>
              <a:ext uri="{FF2B5EF4-FFF2-40B4-BE49-F238E27FC236}">
                <a16:creationId xmlns:a16="http://schemas.microsoft.com/office/drawing/2014/main" id="{B36C71CA-6922-0CC1-C2DA-F494BB05A215}"/>
              </a:ext>
            </a:extLst>
          </p:cNvPr>
          <p:cNvGrpSpPr/>
          <p:nvPr/>
        </p:nvGrpSpPr>
        <p:grpSpPr>
          <a:xfrm>
            <a:off x="7583617" y="2316828"/>
            <a:ext cx="2607524" cy="429681"/>
            <a:chOff x="3579621" y="4000665"/>
            <a:chExt cx="1955643" cy="322261"/>
          </a:xfrm>
        </p:grpSpPr>
        <p:sp>
          <p:nvSpPr>
            <p:cNvPr id="25" name="Rectángulo redondeado 66">
              <a:extLst>
                <a:ext uri="{FF2B5EF4-FFF2-40B4-BE49-F238E27FC236}">
                  <a16:creationId xmlns:a16="http://schemas.microsoft.com/office/drawing/2014/main" id="{2C561B64-0BB1-E065-B289-50B52A54E3BC}"/>
                </a:ext>
              </a:extLst>
            </p:cNvPr>
            <p:cNvSpPr/>
            <p:nvPr/>
          </p:nvSpPr>
          <p:spPr>
            <a:xfrm rot="10800000">
              <a:off x="3579623" y="4161795"/>
              <a:ext cx="1955641" cy="161131"/>
            </a:xfrm>
            <a:prstGeom prst="round2SameRect">
              <a:avLst/>
            </a:prstGeom>
            <a:solidFill>
              <a:schemeClr val="bg2">
                <a:lumMod val="75000"/>
              </a:schemeClr>
            </a:solidFill>
            <a:ln w="25400" cap="flat" cmpd="sng" algn="ctr">
              <a:noFill/>
              <a:prstDash val="solid"/>
            </a:ln>
            <a:effectLst/>
          </p:spPr>
          <p:txBody>
            <a:bodyPr vert="horz" lIns="0" tIns="0" rIns="0" bIns="0" rtlCol="0" anchor="ctr"/>
            <a:lstStyle/>
            <a:p>
              <a:pPr algn="ctr" defTabSz="1219140">
                <a:defRPr/>
              </a:pPr>
              <a:endParaRPr lang="es-ES_tradnl" sz="933" kern="0">
                <a:latin typeface="CiscoSansTT ExtraLight"/>
              </a:endParaRPr>
            </a:p>
          </p:txBody>
        </p:sp>
        <p:sp>
          <p:nvSpPr>
            <p:cNvPr id="26" name="TextBox 25">
              <a:extLst>
                <a:ext uri="{FF2B5EF4-FFF2-40B4-BE49-F238E27FC236}">
                  <a16:creationId xmlns:a16="http://schemas.microsoft.com/office/drawing/2014/main" id="{D142CAA2-AD5F-0DF3-8563-EDD52AB8728C}"/>
                </a:ext>
              </a:extLst>
            </p:cNvPr>
            <p:cNvSpPr txBox="1"/>
            <p:nvPr/>
          </p:nvSpPr>
          <p:spPr>
            <a:xfrm>
              <a:off x="3579621" y="4161795"/>
              <a:ext cx="1955641" cy="161131"/>
            </a:xfrm>
            <a:prstGeom prst="rect">
              <a:avLst/>
            </a:prstGeom>
            <a:noFill/>
          </p:spPr>
          <p:txBody>
            <a:bodyPr wrap="square" lIns="0" tIns="0" rIns="0" bIns="0" rtlCol="0" anchor="ctr">
              <a:normAutofit/>
            </a:bodyPr>
            <a:lstStyle/>
            <a:p>
              <a:pPr algn="ctr" defTabSz="1219140">
                <a:defRPr/>
              </a:pPr>
              <a:r>
                <a:rPr lang="es-ES_tradnl" sz="933" kern="0">
                  <a:latin typeface="CiscoSansTT ExtraLight"/>
                </a:rPr>
                <a:t>DATA</a:t>
              </a:r>
            </a:p>
          </p:txBody>
        </p:sp>
        <p:sp>
          <p:nvSpPr>
            <p:cNvPr id="27" name="Rectángulo redondeado 64">
              <a:extLst>
                <a:ext uri="{FF2B5EF4-FFF2-40B4-BE49-F238E27FC236}">
                  <a16:creationId xmlns:a16="http://schemas.microsoft.com/office/drawing/2014/main" id="{436C1DEB-76DC-BFE6-A30B-AA1795D8D88B}"/>
                </a:ext>
              </a:extLst>
            </p:cNvPr>
            <p:cNvSpPr/>
            <p:nvPr/>
          </p:nvSpPr>
          <p:spPr>
            <a:xfrm rot="16200000">
              <a:off x="3695035" y="3885712"/>
              <a:ext cx="161130" cy="391036"/>
            </a:xfrm>
            <a:prstGeom prst="round1Rect">
              <a:avLst/>
            </a:prstGeom>
            <a:solidFill>
              <a:schemeClr val="accent2"/>
            </a:solidFill>
            <a:ln w="25400" cap="flat" cmpd="sng" algn="ctr">
              <a:noFill/>
              <a:prstDash val="solid"/>
            </a:ln>
            <a:effectLst/>
          </p:spPr>
          <p:txBody>
            <a:bodyPr vert="vert" lIns="0" tIns="0" rIns="0" bIns="0" rtlCol="0" anchor="ctr"/>
            <a:lstStyle/>
            <a:p>
              <a:pPr algn="ctr" defTabSz="1219140">
                <a:defRPr/>
              </a:pPr>
              <a:r>
                <a:rPr lang="es-ES_tradnl" sz="933" kern="0">
                  <a:latin typeface="CiscoSansTT ExtraLight"/>
                </a:rPr>
                <a:t>IPv6</a:t>
              </a:r>
              <a:endParaRPr lang="es-ES_tradnl" sz="933" b="1" kern="0">
                <a:latin typeface="CiscoSansTT ExtraLight"/>
              </a:endParaRPr>
            </a:p>
          </p:txBody>
        </p:sp>
        <p:sp>
          <p:nvSpPr>
            <p:cNvPr id="28" name="Rectángulo redondeado 64">
              <a:extLst>
                <a:ext uri="{FF2B5EF4-FFF2-40B4-BE49-F238E27FC236}">
                  <a16:creationId xmlns:a16="http://schemas.microsoft.com/office/drawing/2014/main" id="{29A6212B-2BEC-CFAC-B47A-32EBF3596665}"/>
                </a:ext>
              </a:extLst>
            </p:cNvPr>
            <p:cNvSpPr/>
            <p:nvPr/>
          </p:nvSpPr>
          <p:spPr>
            <a:xfrm>
              <a:off x="3971115" y="4000666"/>
              <a:ext cx="1564149" cy="161131"/>
            </a:xfrm>
            <a:prstGeom prst="round1Rect">
              <a:avLst/>
            </a:prstGeom>
            <a:solidFill>
              <a:schemeClr val="accent2">
                <a:lumMod val="20000"/>
                <a:lumOff val="80000"/>
              </a:schemeClr>
            </a:solidFill>
            <a:ln w="25400" cap="flat" cmpd="sng" algn="ctr">
              <a:noFill/>
              <a:prstDash val="solid"/>
            </a:ln>
            <a:effectLst/>
          </p:spPr>
          <p:txBody>
            <a:bodyPr vert="horz" lIns="0" tIns="0" rIns="0" bIns="0" rtlCol="0" anchor="ctr"/>
            <a:lstStyle/>
            <a:p>
              <a:pPr algn="ctr" defTabSz="1219140">
                <a:defRPr/>
              </a:pPr>
              <a:r>
                <a:rPr lang="es-ES_tradnl" sz="933" kern="0" dirty="0">
                  <a:latin typeface="CiscoSansTT ExtraLight"/>
                </a:rPr>
                <a:t>SA = 1::1, DA = </a:t>
              </a:r>
              <a:r>
                <a:rPr lang="es-ES_tradnl" sz="933" b="1" kern="0" dirty="0" err="1">
                  <a:latin typeface="CiscoSansTT ExtraLight"/>
                </a:rPr>
                <a:t>fcbb:bb00:7:e000</a:t>
              </a:r>
              <a:endParaRPr lang="es-ES_tradnl" sz="933" b="1" kern="0" dirty="0">
                <a:latin typeface="CiscoSansTT ExtraLight"/>
              </a:endParaRPr>
            </a:p>
          </p:txBody>
        </p:sp>
      </p:grpSp>
    </p:spTree>
    <p:extLst>
      <p:ext uri="{BB962C8B-B14F-4D97-AF65-F5344CB8AC3E}">
        <p14:creationId xmlns:p14="http://schemas.microsoft.com/office/powerpoint/2010/main" val="923194898"/>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FBFBC6B-9B3E-1FBB-DC43-FA35DA0E5FEF}"/>
              </a:ext>
            </a:extLst>
          </p:cNvPr>
          <p:cNvSpPr>
            <a:spLocks noGrp="1"/>
          </p:cNvSpPr>
          <p:nvPr>
            <p:ph type="body" sz="quarter" idx="10"/>
          </p:nvPr>
        </p:nvSpPr>
        <p:spPr>
          <a:xfrm>
            <a:off x="873918" y="939338"/>
            <a:ext cx="5657456" cy="5345083"/>
          </a:xfrm>
        </p:spPr>
        <p:txBody>
          <a:bodyPr/>
          <a:lstStyle/>
          <a:p>
            <a:r>
              <a:rPr lang="en-US" sz="2400" dirty="0"/>
              <a:t>When </a:t>
            </a:r>
            <a:r>
              <a:rPr lang="en-US" sz="2400" dirty="0" err="1">
                <a:solidFill>
                  <a:srgbClr val="FF0000"/>
                </a:solidFill>
              </a:rPr>
              <a:t>if0</a:t>
            </a:r>
            <a:r>
              <a:rPr lang="en-US" sz="2400" dirty="0"/>
              <a:t> at </a:t>
            </a:r>
            <a:r>
              <a:rPr lang="en-US" sz="2400" dirty="0">
                <a:solidFill>
                  <a:srgbClr val="FA661C"/>
                </a:solidFill>
              </a:rPr>
              <a:t>2</a:t>
            </a:r>
            <a:r>
              <a:rPr lang="en-US" sz="2400" dirty="0"/>
              <a:t> fails, the backup path is activated in the forwarding</a:t>
            </a:r>
          </a:p>
          <a:p>
            <a:endParaRPr lang="en-US" sz="2400" dirty="0"/>
          </a:p>
          <a:p>
            <a:r>
              <a:rPr lang="en-US" sz="2400" dirty="0"/>
              <a:t>To steer packets on the TI-LFA backup path:</a:t>
            </a:r>
            <a:br>
              <a:rPr lang="en-US" sz="2400" dirty="0"/>
            </a:br>
            <a:r>
              <a:rPr lang="en-US" sz="2400" dirty="0"/>
              <a:t>“</a:t>
            </a:r>
            <a:r>
              <a:rPr lang="en-US" sz="2400" b="1" dirty="0">
                <a:solidFill>
                  <a:srgbClr val="FA661C"/>
                </a:solidFill>
              </a:rPr>
              <a:t>2</a:t>
            </a:r>
            <a:r>
              <a:rPr lang="en-US" sz="2400" dirty="0"/>
              <a:t> forwards the packet on interface </a:t>
            </a:r>
            <a:r>
              <a:rPr lang="en-US" sz="2400" b="1" dirty="0" err="1">
                <a:solidFill>
                  <a:srgbClr val="FA661C"/>
                </a:solidFill>
              </a:rPr>
              <a:t>if1</a:t>
            </a:r>
            <a:r>
              <a:rPr lang="en-US" sz="2400" dirty="0"/>
              <a:t> to </a:t>
            </a:r>
            <a:r>
              <a:rPr lang="en-US" sz="2400" dirty="0" err="1"/>
              <a:t>R4</a:t>
            </a:r>
            <a:r>
              <a:rPr lang="en-US" sz="2400" dirty="0"/>
              <a:t> and pushes the segment </a:t>
            </a:r>
            <a:r>
              <a:rPr lang="en-US" sz="2400" dirty="0">
                <a:solidFill>
                  <a:schemeClr val="accent5"/>
                </a:solidFill>
              </a:rPr>
              <a:t>prefix-SID of </a:t>
            </a:r>
            <a:r>
              <a:rPr lang="en-US" sz="2400" dirty="0" err="1">
                <a:solidFill>
                  <a:schemeClr val="accent5"/>
                </a:solidFill>
              </a:rPr>
              <a:t>R5</a:t>
            </a:r>
            <a:r>
              <a:rPr lang="en-US" sz="2400" dirty="0"/>
              <a:t>”</a:t>
            </a:r>
          </a:p>
          <a:p>
            <a:endParaRPr lang="en-US" dirty="0"/>
          </a:p>
        </p:txBody>
      </p:sp>
      <p:sp>
        <p:nvSpPr>
          <p:cNvPr id="6" name="Text Placeholder 5">
            <a:extLst>
              <a:ext uri="{FF2B5EF4-FFF2-40B4-BE49-F238E27FC236}">
                <a16:creationId xmlns:a16="http://schemas.microsoft.com/office/drawing/2014/main" id="{AEF0E006-084E-BCEC-DE51-3BFFF8D9C606}"/>
              </a:ext>
            </a:extLst>
          </p:cNvPr>
          <p:cNvSpPr>
            <a:spLocks noGrp="1"/>
          </p:cNvSpPr>
          <p:nvPr>
            <p:ph type="body" sz="quarter" idx="11"/>
          </p:nvPr>
        </p:nvSpPr>
        <p:spPr/>
        <p:txBody>
          <a:bodyPr/>
          <a:lstStyle/>
          <a:p>
            <a:r>
              <a:rPr lang="en-US" dirty="0"/>
              <a:t>TI-LFA with SRv6</a:t>
            </a:r>
          </a:p>
        </p:txBody>
      </p:sp>
      <p:sp>
        <p:nvSpPr>
          <p:cNvPr id="7" name="Elipse 6">
            <a:extLst>
              <a:ext uri="{FF2B5EF4-FFF2-40B4-BE49-F238E27FC236}">
                <a16:creationId xmlns:a16="http://schemas.microsoft.com/office/drawing/2014/main" id="{1F1F086D-0210-8973-9941-EC1867D57D8B}"/>
              </a:ext>
            </a:extLst>
          </p:cNvPr>
          <p:cNvSpPr/>
          <p:nvPr/>
        </p:nvSpPr>
        <p:spPr>
          <a:xfrm>
            <a:off x="7386267" y="3910749"/>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a:latin typeface="+mj-lt"/>
              </a:rPr>
              <a:t>4</a:t>
            </a:r>
          </a:p>
        </p:txBody>
      </p:sp>
      <p:sp>
        <p:nvSpPr>
          <p:cNvPr id="8" name="Elipse 6">
            <a:extLst>
              <a:ext uri="{FF2B5EF4-FFF2-40B4-BE49-F238E27FC236}">
                <a16:creationId xmlns:a16="http://schemas.microsoft.com/office/drawing/2014/main" id="{04FAA97D-66CB-1CFF-FA1E-CCB41BF117DF}"/>
              </a:ext>
            </a:extLst>
          </p:cNvPr>
          <p:cNvSpPr/>
          <p:nvPr/>
        </p:nvSpPr>
        <p:spPr>
          <a:xfrm>
            <a:off x="9812491" y="5030549"/>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a:latin typeface="+mj-lt"/>
              </a:rPr>
              <a:t>6</a:t>
            </a:r>
          </a:p>
        </p:txBody>
      </p:sp>
      <p:sp>
        <p:nvSpPr>
          <p:cNvPr id="9" name="Elipse 6">
            <a:extLst>
              <a:ext uri="{FF2B5EF4-FFF2-40B4-BE49-F238E27FC236}">
                <a16:creationId xmlns:a16="http://schemas.microsoft.com/office/drawing/2014/main" id="{8C5D90FA-B3DF-AC49-CCCF-738012A9D04D}"/>
              </a:ext>
            </a:extLst>
          </p:cNvPr>
          <p:cNvSpPr/>
          <p:nvPr/>
        </p:nvSpPr>
        <p:spPr>
          <a:xfrm>
            <a:off x="7386267" y="5030549"/>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dirty="0">
                <a:solidFill>
                  <a:schemeClr val="accent5"/>
                </a:solidFill>
                <a:latin typeface="+mj-lt"/>
              </a:rPr>
              <a:t>5</a:t>
            </a:r>
          </a:p>
        </p:txBody>
      </p:sp>
      <p:sp>
        <p:nvSpPr>
          <p:cNvPr id="10" name="Elipse 6">
            <a:extLst>
              <a:ext uri="{FF2B5EF4-FFF2-40B4-BE49-F238E27FC236}">
                <a16:creationId xmlns:a16="http://schemas.microsoft.com/office/drawing/2014/main" id="{C15DFDE9-E09E-BA10-F8E0-ED05CB6AD5AA}"/>
              </a:ext>
            </a:extLst>
          </p:cNvPr>
          <p:cNvSpPr/>
          <p:nvPr/>
        </p:nvSpPr>
        <p:spPr>
          <a:xfrm>
            <a:off x="9812491" y="2790948"/>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a:latin typeface="+mj-lt"/>
              </a:rPr>
              <a:t>3</a:t>
            </a:r>
          </a:p>
        </p:txBody>
      </p:sp>
      <p:sp>
        <p:nvSpPr>
          <p:cNvPr id="11" name="Elipse 6">
            <a:extLst>
              <a:ext uri="{FF2B5EF4-FFF2-40B4-BE49-F238E27FC236}">
                <a16:creationId xmlns:a16="http://schemas.microsoft.com/office/drawing/2014/main" id="{2AB71C8B-EFD4-8A3A-C38C-1F01AB615FC5}"/>
              </a:ext>
            </a:extLst>
          </p:cNvPr>
          <p:cNvSpPr/>
          <p:nvPr/>
        </p:nvSpPr>
        <p:spPr>
          <a:xfrm>
            <a:off x="7386267" y="2790948"/>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dirty="0">
                <a:solidFill>
                  <a:srgbClr val="FA661C"/>
                </a:solidFill>
                <a:latin typeface="+mj-lt"/>
              </a:rPr>
              <a:t>2</a:t>
            </a:r>
          </a:p>
        </p:txBody>
      </p:sp>
      <p:sp>
        <p:nvSpPr>
          <p:cNvPr id="12" name="Elipse 6">
            <a:extLst>
              <a:ext uri="{FF2B5EF4-FFF2-40B4-BE49-F238E27FC236}">
                <a16:creationId xmlns:a16="http://schemas.microsoft.com/office/drawing/2014/main" id="{DBB113AB-4851-F24C-8E8A-4C108D91615E}"/>
              </a:ext>
            </a:extLst>
          </p:cNvPr>
          <p:cNvSpPr/>
          <p:nvPr/>
        </p:nvSpPr>
        <p:spPr>
          <a:xfrm>
            <a:off x="7386267" y="1671147"/>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a:latin typeface="+mj-lt"/>
              </a:rPr>
              <a:t>1</a:t>
            </a:r>
          </a:p>
        </p:txBody>
      </p:sp>
      <p:cxnSp>
        <p:nvCxnSpPr>
          <p:cNvPr id="13" name="Straight Arrow Connector 12">
            <a:extLst>
              <a:ext uri="{FF2B5EF4-FFF2-40B4-BE49-F238E27FC236}">
                <a16:creationId xmlns:a16="http://schemas.microsoft.com/office/drawing/2014/main" id="{3D583F15-9406-FEA8-4FA0-41FA1793EB3F}"/>
              </a:ext>
            </a:extLst>
          </p:cNvPr>
          <p:cNvCxnSpPr>
            <a:cxnSpLocks/>
            <a:stCxn id="7" idx="0"/>
            <a:endCxn id="11" idx="4"/>
          </p:cNvCxnSpPr>
          <p:nvPr/>
        </p:nvCxnSpPr>
        <p:spPr bwMode="auto">
          <a:xfrm flipV="1">
            <a:off x="7674267" y="3366949"/>
            <a:ext cx="0" cy="543801"/>
          </a:xfrm>
          <a:prstGeom prst="straightConnector1">
            <a:avLst/>
          </a:prstGeom>
          <a:solidFill>
            <a:srgbClr val="0183B7"/>
          </a:solidFill>
          <a:ln w="25400" cap="flat" cmpd="sng" algn="ctr">
            <a:solidFill>
              <a:schemeClr val="accent2"/>
            </a:solidFill>
            <a:prstDash val="solid"/>
            <a:round/>
            <a:headEnd type="none" w="med" len="med"/>
            <a:tailEnd type="none" w="med" len="med"/>
          </a:ln>
          <a:effectLst/>
        </p:spPr>
      </p:cxnSp>
      <p:cxnSp>
        <p:nvCxnSpPr>
          <p:cNvPr id="15" name="Straight Arrow Connector 14">
            <a:extLst>
              <a:ext uri="{FF2B5EF4-FFF2-40B4-BE49-F238E27FC236}">
                <a16:creationId xmlns:a16="http://schemas.microsoft.com/office/drawing/2014/main" id="{41884E08-1617-8EBC-81BF-9336106FE8EC}"/>
              </a:ext>
            </a:extLst>
          </p:cNvPr>
          <p:cNvCxnSpPr>
            <a:cxnSpLocks/>
            <a:stCxn id="9" idx="6"/>
            <a:endCxn id="8" idx="2"/>
          </p:cNvCxnSpPr>
          <p:nvPr/>
        </p:nvCxnSpPr>
        <p:spPr bwMode="auto">
          <a:xfrm>
            <a:off x="7962267" y="5318549"/>
            <a:ext cx="1850224" cy="0"/>
          </a:xfrm>
          <a:prstGeom prst="straightConnector1">
            <a:avLst/>
          </a:prstGeom>
          <a:solidFill>
            <a:srgbClr val="0183B7"/>
          </a:solidFill>
          <a:ln w="25400" cap="flat" cmpd="sng" algn="ctr">
            <a:solidFill>
              <a:schemeClr val="accent2"/>
            </a:solidFill>
            <a:prstDash val="solid"/>
            <a:round/>
            <a:headEnd type="none" w="med" len="med"/>
            <a:tailEnd type="none" w="med" len="med"/>
          </a:ln>
          <a:effectLst/>
        </p:spPr>
      </p:cxnSp>
      <p:cxnSp>
        <p:nvCxnSpPr>
          <p:cNvPr id="16" name="Straight Arrow Connector 15">
            <a:extLst>
              <a:ext uri="{FF2B5EF4-FFF2-40B4-BE49-F238E27FC236}">
                <a16:creationId xmlns:a16="http://schemas.microsoft.com/office/drawing/2014/main" id="{0964AF5A-79FB-A4CD-8AEE-4063C3BA4F00}"/>
              </a:ext>
            </a:extLst>
          </p:cNvPr>
          <p:cNvCxnSpPr>
            <a:cxnSpLocks/>
            <a:stCxn id="7" idx="4"/>
          </p:cNvCxnSpPr>
          <p:nvPr/>
        </p:nvCxnSpPr>
        <p:spPr bwMode="auto">
          <a:xfrm>
            <a:off x="7674267" y="4486749"/>
            <a:ext cx="0" cy="543800"/>
          </a:xfrm>
          <a:prstGeom prst="straightConnector1">
            <a:avLst/>
          </a:prstGeom>
          <a:solidFill>
            <a:srgbClr val="0183B7"/>
          </a:solidFill>
          <a:ln w="25400" cap="flat" cmpd="sng" algn="ctr">
            <a:solidFill>
              <a:schemeClr val="accent2"/>
            </a:solidFill>
            <a:prstDash val="solid"/>
            <a:round/>
            <a:headEnd type="none" w="med" len="med"/>
            <a:tailEnd type="none" w="med" len="med"/>
          </a:ln>
          <a:effectLst/>
        </p:spPr>
      </p:cxnSp>
      <p:cxnSp>
        <p:nvCxnSpPr>
          <p:cNvPr id="17" name="Straight Arrow Connector 16">
            <a:extLst>
              <a:ext uri="{FF2B5EF4-FFF2-40B4-BE49-F238E27FC236}">
                <a16:creationId xmlns:a16="http://schemas.microsoft.com/office/drawing/2014/main" id="{D6754861-3435-2875-03B8-ECE0CB5BEF09}"/>
              </a:ext>
            </a:extLst>
          </p:cNvPr>
          <p:cNvCxnSpPr>
            <a:cxnSpLocks/>
            <a:stCxn id="10" idx="4"/>
            <a:endCxn id="8" idx="0"/>
          </p:cNvCxnSpPr>
          <p:nvPr/>
        </p:nvCxnSpPr>
        <p:spPr bwMode="auto">
          <a:xfrm>
            <a:off x="10100491" y="3366949"/>
            <a:ext cx="0" cy="1663601"/>
          </a:xfrm>
          <a:prstGeom prst="straightConnector1">
            <a:avLst/>
          </a:prstGeom>
          <a:solidFill>
            <a:srgbClr val="0183B7"/>
          </a:solidFill>
          <a:ln w="25400" cap="flat" cmpd="sng" algn="ctr">
            <a:solidFill>
              <a:schemeClr val="accent2"/>
            </a:solidFill>
            <a:prstDash val="solid"/>
            <a:round/>
            <a:headEnd type="none" w="med" len="med"/>
            <a:tailEnd type="none" w="med" len="med"/>
          </a:ln>
          <a:effectLst/>
        </p:spPr>
      </p:cxnSp>
      <p:cxnSp>
        <p:nvCxnSpPr>
          <p:cNvPr id="18" name="Straight Arrow Connector 17">
            <a:extLst>
              <a:ext uri="{FF2B5EF4-FFF2-40B4-BE49-F238E27FC236}">
                <a16:creationId xmlns:a16="http://schemas.microsoft.com/office/drawing/2014/main" id="{A305550D-5AB0-F39B-C092-C84E7B1D5660}"/>
              </a:ext>
            </a:extLst>
          </p:cNvPr>
          <p:cNvCxnSpPr>
            <a:cxnSpLocks/>
            <a:stCxn id="10" idx="0"/>
            <a:endCxn id="32" idx="4"/>
          </p:cNvCxnSpPr>
          <p:nvPr/>
        </p:nvCxnSpPr>
        <p:spPr bwMode="auto">
          <a:xfrm flipV="1">
            <a:off x="10100491" y="2247148"/>
            <a:ext cx="0" cy="543801"/>
          </a:xfrm>
          <a:prstGeom prst="straightConnector1">
            <a:avLst/>
          </a:prstGeom>
          <a:solidFill>
            <a:srgbClr val="0183B7"/>
          </a:solidFill>
          <a:ln w="25400" cap="flat" cmpd="sng" algn="ctr">
            <a:solidFill>
              <a:schemeClr val="accent2"/>
            </a:solidFill>
            <a:prstDash val="solid"/>
            <a:round/>
            <a:headEnd type="none" w="med" len="med"/>
            <a:tailEnd type="none" w="med" len="med"/>
          </a:ln>
          <a:effectLst/>
        </p:spPr>
      </p:cxnSp>
      <p:cxnSp>
        <p:nvCxnSpPr>
          <p:cNvPr id="19" name="Straight Arrow Connector 18">
            <a:extLst>
              <a:ext uri="{FF2B5EF4-FFF2-40B4-BE49-F238E27FC236}">
                <a16:creationId xmlns:a16="http://schemas.microsoft.com/office/drawing/2014/main" id="{BC99D32B-205B-39D9-3476-43291E43C486}"/>
              </a:ext>
            </a:extLst>
          </p:cNvPr>
          <p:cNvCxnSpPr>
            <a:cxnSpLocks/>
            <a:stCxn id="12" idx="4"/>
            <a:endCxn id="11" idx="0"/>
          </p:cNvCxnSpPr>
          <p:nvPr/>
        </p:nvCxnSpPr>
        <p:spPr bwMode="auto">
          <a:xfrm>
            <a:off x="7674267" y="2247148"/>
            <a:ext cx="0" cy="543801"/>
          </a:xfrm>
          <a:prstGeom prst="straightConnector1">
            <a:avLst/>
          </a:prstGeom>
          <a:solidFill>
            <a:srgbClr val="0183B7"/>
          </a:solidFill>
          <a:ln w="25400" cap="flat" cmpd="sng" algn="ctr">
            <a:solidFill>
              <a:schemeClr val="accent2"/>
            </a:solidFill>
            <a:prstDash val="solid"/>
            <a:round/>
            <a:headEnd type="none" w="med" len="med"/>
            <a:tailEnd type="none" w="med" len="med"/>
          </a:ln>
          <a:effectLst/>
        </p:spPr>
      </p:cxnSp>
      <p:sp>
        <p:nvSpPr>
          <p:cNvPr id="32" name="Elipse 6">
            <a:extLst>
              <a:ext uri="{FF2B5EF4-FFF2-40B4-BE49-F238E27FC236}">
                <a16:creationId xmlns:a16="http://schemas.microsoft.com/office/drawing/2014/main" id="{72450909-B5E8-864D-1D51-8F03EE633DF1}"/>
              </a:ext>
            </a:extLst>
          </p:cNvPr>
          <p:cNvSpPr/>
          <p:nvPr/>
        </p:nvSpPr>
        <p:spPr>
          <a:xfrm>
            <a:off x="9812491" y="1671147"/>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a:latin typeface="+mj-lt"/>
              </a:rPr>
              <a:t>7</a:t>
            </a:r>
          </a:p>
        </p:txBody>
      </p:sp>
      <p:sp>
        <p:nvSpPr>
          <p:cNvPr id="21" name="Freeform: Shape 20">
            <a:extLst>
              <a:ext uri="{FF2B5EF4-FFF2-40B4-BE49-F238E27FC236}">
                <a16:creationId xmlns:a16="http://schemas.microsoft.com/office/drawing/2014/main" id="{714C1ED7-55C3-92EF-4CC2-EC87BCB8EA70}"/>
              </a:ext>
            </a:extLst>
          </p:cNvPr>
          <p:cNvSpPr/>
          <p:nvPr/>
        </p:nvSpPr>
        <p:spPr>
          <a:xfrm>
            <a:off x="7181754" y="2189709"/>
            <a:ext cx="3487761" cy="788537"/>
          </a:xfrm>
          <a:custGeom>
            <a:avLst/>
            <a:gdLst>
              <a:gd name="connsiteX0" fmla="*/ 211043 w 2708022"/>
              <a:gd name="connsiteY0" fmla="*/ 9098 h 674114"/>
              <a:gd name="connsiteX1" fmla="*/ 224691 w 2708022"/>
              <a:gd name="connsiteY1" fmla="*/ 582304 h 674114"/>
              <a:gd name="connsiteX2" fmla="*/ 2512966 w 2708022"/>
              <a:gd name="connsiteY2" fmla="*/ 614149 h 674114"/>
              <a:gd name="connsiteX3" fmla="*/ 2431079 w 2708022"/>
              <a:gd name="connsiteY3" fmla="*/ 0 h 674114"/>
            </a:gdLst>
            <a:ahLst/>
            <a:cxnLst>
              <a:cxn ang="0">
                <a:pos x="connsiteX0" y="connsiteY0"/>
              </a:cxn>
              <a:cxn ang="0">
                <a:pos x="connsiteX1" y="connsiteY1"/>
              </a:cxn>
              <a:cxn ang="0">
                <a:pos x="connsiteX2" y="connsiteY2"/>
              </a:cxn>
              <a:cxn ang="0">
                <a:pos x="connsiteX3" y="connsiteY3"/>
              </a:cxn>
            </a:cxnLst>
            <a:rect l="l" t="t" r="r" b="b"/>
            <a:pathLst>
              <a:path w="2708022" h="674114">
                <a:moveTo>
                  <a:pt x="211043" y="9098"/>
                </a:moveTo>
                <a:cubicBezTo>
                  <a:pt x="26040" y="245280"/>
                  <a:pt x="-158963" y="481462"/>
                  <a:pt x="224691" y="582304"/>
                </a:cubicBezTo>
                <a:cubicBezTo>
                  <a:pt x="608345" y="683146"/>
                  <a:pt x="2145235" y="711200"/>
                  <a:pt x="2512966" y="614149"/>
                </a:cubicBezTo>
                <a:cubicBezTo>
                  <a:pt x="2880697" y="517098"/>
                  <a:pt x="2655888" y="258549"/>
                  <a:pt x="2431079" y="0"/>
                </a:cubicBezTo>
              </a:path>
            </a:pathLst>
          </a:custGeom>
          <a:noFill/>
          <a:ln w="57150">
            <a:solidFill>
              <a:schemeClr val="accent4"/>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lIns="91408" tIns="45705" rIns="91408" bIns="45705" rtlCol="0" anchor="ctr"/>
          <a:lstStyle/>
          <a:p>
            <a:pPr algn="ctr" defTabSz="609199"/>
            <a:endParaRPr lang="en-US" sz="2400">
              <a:solidFill>
                <a:schemeClr val="tx1"/>
              </a:solidFill>
              <a:latin typeface="Arial"/>
            </a:endParaRPr>
          </a:p>
        </p:txBody>
      </p:sp>
      <p:sp>
        <p:nvSpPr>
          <p:cNvPr id="22" name="TextBox 21">
            <a:extLst>
              <a:ext uri="{FF2B5EF4-FFF2-40B4-BE49-F238E27FC236}">
                <a16:creationId xmlns:a16="http://schemas.microsoft.com/office/drawing/2014/main" id="{2909A656-BA62-7C2F-FD40-06BF14F35DCB}"/>
              </a:ext>
            </a:extLst>
          </p:cNvPr>
          <p:cNvSpPr txBox="1"/>
          <p:nvPr/>
        </p:nvSpPr>
        <p:spPr>
          <a:xfrm>
            <a:off x="7858023" y="6238714"/>
            <a:ext cx="2065416" cy="297423"/>
          </a:xfrm>
          <a:prstGeom prst="rect">
            <a:avLst/>
          </a:prstGeom>
          <a:noFill/>
        </p:spPr>
        <p:txBody>
          <a:bodyPr wrap="square" lIns="91408" tIns="45705" rIns="91408" bIns="45705" rtlCol="0">
            <a:spAutoFit/>
          </a:bodyPr>
          <a:lstStyle/>
          <a:p>
            <a:pPr algn="ctr" defTabSz="609199"/>
            <a:r>
              <a:rPr lang="en-US" sz="1333">
                <a:latin typeface="+mj-lt"/>
              </a:rPr>
              <a:t>Default metric: </a:t>
            </a:r>
            <a:r>
              <a:rPr lang="en-US" sz="1333" u="sng">
                <a:latin typeface="+mj-lt"/>
              </a:rPr>
              <a:t>10</a:t>
            </a:r>
          </a:p>
        </p:txBody>
      </p:sp>
      <p:sp>
        <p:nvSpPr>
          <p:cNvPr id="34" name="TextBox 33">
            <a:extLst>
              <a:ext uri="{FF2B5EF4-FFF2-40B4-BE49-F238E27FC236}">
                <a16:creationId xmlns:a16="http://schemas.microsoft.com/office/drawing/2014/main" id="{C9CBE1A5-BDCF-3349-E9E2-338130D8DAA6}"/>
              </a:ext>
            </a:extLst>
          </p:cNvPr>
          <p:cNvSpPr txBox="1"/>
          <p:nvPr/>
        </p:nvSpPr>
        <p:spPr>
          <a:xfrm>
            <a:off x="10232959" y="1332593"/>
            <a:ext cx="1285929" cy="461665"/>
          </a:xfrm>
          <a:prstGeom prst="rect">
            <a:avLst/>
          </a:prstGeom>
          <a:noFill/>
        </p:spPr>
        <p:txBody>
          <a:bodyPr wrap="none" rtlCol="0">
            <a:spAutoFit/>
          </a:bodyPr>
          <a:lstStyle/>
          <a:p>
            <a:r>
              <a:rPr lang="en-US" sz="1200" dirty="0"/>
              <a:t>Locator:</a:t>
            </a:r>
          </a:p>
          <a:p>
            <a:r>
              <a:rPr lang="en-US" sz="1200" dirty="0" err="1"/>
              <a:t>fcbb:bb00:7</a:t>
            </a:r>
            <a:r>
              <a:rPr lang="en-US" sz="1200" dirty="0"/>
              <a:t>::/48</a:t>
            </a:r>
          </a:p>
        </p:txBody>
      </p:sp>
      <p:sp>
        <p:nvSpPr>
          <p:cNvPr id="5" name="TextBox 4">
            <a:extLst>
              <a:ext uri="{FF2B5EF4-FFF2-40B4-BE49-F238E27FC236}">
                <a16:creationId xmlns:a16="http://schemas.microsoft.com/office/drawing/2014/main" id="{CB569A1E-8300-9FE6-7D04-099352142ABA}"/>
              </a:ext>
            </a:extLst>
          </p:cNvPr>
          <p:cNvSpPr txBox="1"/>
          <p:nvPr/>
        </p:nvSpPr>
        <p:spPr>
          <a:xfrm>
            <a:off x="7923648" y="3078948"/>
            <a:ext cx="365806" cy="297454"/>
          </a:xfrm>
          <a:prstGeom prst="rect">
            <a:avLst/>
          </a:prstGeom>
          <a:noFill/>
        </p:spPr>
        <p:txBody>
          <a:bodyPr wrap="none" rtlCol="0">
            <a:spAutoFit/>
          </a:bodyPr>
          <a:lstStyle/>
          <a:p>
            <a:r>
              <a:rPr lang="en-US" sz="1333" dirty="0" err="1">
                <a:solidFill>
                  <a:srgbClr val="FF0000"/>
                </a:solidFill>
              </a:rPr>
              <a:t>if0</a:t>
            </a:r>
            <a:endParaRPr lang="en-US" sz="1333" dirty="0">
              <a:solidFill>
                <a:srgbClr val="FF0000"/>
              </a:solidFill>
            </a:endParaRPr>
          </a:p>
        </p:txBody>
      </p:sp>
      <p:sp>
        <p:nvSpPr>
          <p:cNvPr id="23" name="TextBox 22">
            <a:extLst>
              <a:ext uri="{FF2B5EF4-FFF2-40B4-BE49-F238E27FC236}">
                <a16:creationId xmlns:a16="http://schemas.microsoft.com/office/drawing/2014/main" id="{35CA9799-93ED-EEA4-B4D8-2DCCA9DD8525}"/>
              </a:ext>
            </a:extLst>
          </p:cNvPr>
          <p:cNvSpPr txBox="1"/>
          <p:nvPr/>
        </p:nvSpPr>
        <p:spPr>
          <a:xfrm>
            <a:off x="7686490" y="2514178"/>
            <a:ext cx="543739" cy="307777"/>
          </a:xfrm>
          <a:prstGeom prst="rect">
            <a:avLst/>
          </a:prstGeom>
          <a:noFill/>
        </p:spPr>
        <p:txBody>
          <a:bodyPr wrap="none" rtlCol="0">
            <a:spAutoFit/>
          </a:bodyPr>
          <a:lstStyle/>
          <a:p>
            <a:r>
              <a:rPr lang="en-US" sz="1400" b="1"/>
              <a:t>PLR</a:t>
            </a:r>
          </a:p>
        </p:txBody>
      </p:sp>
      <p:grpSp>
        <p:nvGrpSpPr>
          <p:cNvPr id="35" name="Group 34">
            <a:extLst>
              <a:ext uri="{FF2B5EF4-FFF2-40B4-BE49-F238E27FC236}">
                <a16:creationId xmlns:a16="http://schemas.microsoft.com/office/drawing/2014/main" id="{B36C71CA-6922-0CC1-C2DA-F494BB05A215}"/>
              </a:ext>
            </a:extLst>
          </p:cNvPr>
          <p:cNvGrpSpPr/>
          <p:nvPr/>
        </p:nvGrpSpPr>
        <p:grpSpPr>
          <a:xfrm>
            <a:off x="4684740" y="1871073"/>
            <a:ext cx="2607525" cy="429681"/>
            <a:chOff x="3579621" y="4000665"/>
            <a:chExt cx="1955644" cy="322261"/>
          </a:xfrm>
        </p:grpSpPr>
        <p:sp>
          <p:nvSpPr>
            <p:cNvPr id="25" name="Rectángulo redondeado 66">
              <a:extLst>
                <a:ext uri="{FF2B5EF4-FFF2-40B4-BE49-F238E27FC236}">
                  <a16:creationId xmlns:a16="http://schemas.microsoft.com/office/drawing/2014/main" id="{2C561B64-0BB1-E065-B289-50B52A54E3BC}"/>
                </a:ext>
              </a:extLst>
            </p:cNvPr>
            <p:cNvSpPr/>
            <p:nvPr/>
          </p:nvSpPr>
          <p:spPr>
            <a:xfrm rot="10800000">
              <a:off x="3579623" y="4161795"/>
              <a:ext cx="1955641" cy="161131"/>
            </a:xfrm>
            <a:prstGeom prst="round2SameRect">
              <a:avLst/>
            </a:prstGeom>
            <a:solidFill>
              <a:schemeClr val="bg2">
                <a:lumMod val="75000"/>
              </a:schemeClr>
            </a:solidFill>
            <a:ln w="25400" cap="flat" cmpd="sng" algn="ctr">
              <a:noFill/>
              <a:prstDash val="solid"/>
            </a:ln>
            <a:effectLst/>
          </p:spPr>
          <p:txBody>
            <a:bodyPr vert="horz" lIns="0" tIns="0" rIns="0" bIns="0" rtlCol="0" anchor="ctr"/>
            <a:lstStyle/>
            <a:p>
              <a:pPr algn="ctr" defTabSz="1219140">
                <a:defRPr/>
              </a:pPr>
              <a:endParaRPr lang="es-ES_tradnl" sz="933" kern="0">
                <a:solidFill>
                  <a:srgbClr val="005073"/>
                </a:solidFill>
                <a:latin typeface="CiscoSansTT ExtraLight"/>
              </a:endParaRPr>
            </a:p>
          </p:txBody>
        </p:sp>
        <p:sp>
          <p:nvSpPr>
            <p:cNvPr id="26" name="TextBox 25">
              <a:extLst>
                <a:ext uri="{FF2B5EF4-FFF2-40B4-BE49-F238E27FC236}">
                  <a16:creationId xmlns:a16="http://schemas.microsoft.com/office/drawing/2014/main" id="{D142CAA2-AD5F-0DF3-8563-EDD52AB8728C}"/>
                </a:ext>
              </a:extLst>
            </p:cNvPr>
            <p:cNvSpPr txBox="1"/>
            <p:nvPr/>
          </p:nvSpPr>
          <p:spPr>
            <a:xfrm>
              <a:off x="3579621" y="4161795"/>
              <a:ext cx="1955641" cy="161131"/>
            </a:xfrm>
            <a:prstGeom prst="rect">
              <a:avLst/>
            </a:prstGeom>
            <a:noFill/>
          </p:spPr>
          <p:txBody>
            <a:bodyPr wrap="square" lIns="0" tIns="0" rIns="0" bIns="0" rtlCol="0" anchor="ctr">
              <a:normAutofit/>
            </a:bodyPr>
            <a:lstStyle/>
            <a:p>
              <a:pPr algn="ctr" defTabSz="1219140">
                <a:defRPr/>
              </a:pPr>
              <a:r>
                <a:rPr lang="es-ES_tradnl" sz="933" kern="0">
                  <a:solidFill>
                    <a:schemeClr val="bg1"/>
                  </a:solidFill>
                  <a:latin typeface="CiscoSansTT ExtraLight"/>
                </a:rPr>
                <a:t>DATA</a:t>
              </a:r>
            </a:p>
          </p:txBody>
        </p:sp>
        <p:sp>
          <p:nvSpPr>
            <p:cNvPr id="27" name="Rectángulo redondeado 64">
              <a:extLst>
                <a:ext uri="{FF2B5EF4-FFF2-40B4-BE49-F238E27FC236}">
                  <a16:creationId xmlns:a16="http://schemas.microsoft.com/office/drawing/2014/main" id="{436C1DEB-76DC-BFE6-A30B-AA1795D8D88B}"/>
                </a:ext>
              </a:extLst>
            </p:cNvPr>
            <p:cNvSpPr/>
            <p:nvPr/>
          </p:nvSpPr>
          <p:spPr>
            <a:xfrm rot="16200000">
              <a:off x="3695035" y="3885712"/>
              <a:ext cx="161130" cy="391036"/>
            </a:xfrm>
            <a:prstGeom prst="round1Rect">
              <a:avLst/>
            </a:prstGeom>
            <a:solidFill>
              <a:schemeClr val="accent2"/>
            </a:solidFill>
            <a:ln w="25400" cap="flat" cmpd="sng" algn="ctr">
              <a:noFill/>
              <a:prstDash val="solid"/>
            </a:ln>
            <a:effectLst/>
          </p:spPr>
          <p:txBody>
            <a:bodyPr vert="vert" lIns="0" tIns="0" rIns="0" bIns="0" rtlCol="0" anchor="ctr"/>
            <a:lstStyle/>
            <a:p>
              <a:pPr algn="ctr" defTabSz="1219140">
                <a:defRPr/>
              </a:pPr>
              <a:r>
                <a:rPr lang="es-ES_tradnl" sz="933" kern="0">
                  <a:latin typeface="CiscoSansTT ExtraLight"/>
                </a:rPr>
                <a:t>IPv6</a:t>
              </a:r>
              <a:endParaRPr lang="es-ES_tradnl" sz="933" b="1" kern="0">
                <a:latin typeface="CiscoSansTT ExtraLight"/>
              </a:endParaRPr>
            </a:p>
          </p:txBody>
        </p:sp>
        <p:sp>
          <p:nvSpPr>
            <p:cNvPr id="28" name="Rectángulo redondeado 64">
              <a:extLst>
                <a:ext uri="{FF2B5EF4-FFF2-40B4-BE49-F238E27FC236}">
                  <a16:creationId xmlns:a16="http://schemas.microsoft.com/office/drawing/2014/main" id="{29A6212B-2BEC-CFAC-B47A-32EBF3596665}"/>
                </a:ext>
              </a:extLst>
            </p:cNvPr>
            <p:cNvSpPr/>
            <p:nvPr/>
          </p:nvSpPr>
          <p:spPr>
            <a:xfrm>
              <a:off x="3971116" y="4000666"/>
              <a:ext cx="1564149" cy="161131"/>
            </a:xfrm>
            <a:prstGeom prst="round1Rect">
              <a:avLst/>
            </a:prstGeom>
            <a:solidFill>
              <a:schemeClr val="accent2">
                <a:lumMod val="20000"/>
                <a:lumOff val="80000"/>
              </a:schemeClr>
            </a:solidFill>
            <a:ln w="25400" cap="flat" cmpd="sng" algn="ctr">
              <a:noFill/>
              <a:prstDash val="solid"/>
            </a:ln>
            <a:effectLst/>
          </p:spPr>
          <p:txBody>
            <a:bodyPr vert="horz" lIns="0" tIns="0" rIns="0" bIns="0" rtlCol="0" anchor="ctr"/>
            <a:lstStyle/>
            <a:p>
              <a:pPr algn="ctr" defTabSz="1219140">
                <a:defRPr/>
              </a:pPr>
              <a:r>
                <a:rPr lang="es-ES_tradnl" sz="933" kern="0" dirty="0">
                  <a:latin typeface="CiscoSansTT ExtraLight"/>
                </a:rPr>
                <a:t>SA = 1::1, DA = </a:t>
              </a:r>
              <a:r>
                <a:rPr lang="es-ES_tradnl" sz="933" b="1" kern="0" dirty="0" err="1">
                  <a:latin typeface="CiscoSansTT ExtraLight"/>
                </a:rPr>
                <a:t>fcbb:bb00:7:e000</a:t>
              </a:r>
              <a:r>
                <a:rPr lang="es-ES_tradnl" sz="933" b="1" kern="0" dirty="0">
                  <a:latin typeface="CiscoSansTT ExtraLight"/>
                </a:rPr>
                <a:t>::</a:t>
              </a:r>
            </a:p>
          </p:txBody>
        </p:sp>
      </p:grpSp>
      <p:cxnSp>
        <p:nvCxnSpPr>
          <p:cNvPr id="29" name="Straight Arrow Connector 28">
            <a:extLst>
              <a:ext uri="{FF2B5EF4-FFF2-40B4-BE49-F238E27FC236}">
                <a16:creationId xmlns:a16="http://schemas.microsoft.com/office/drawing/2014/main" id="{9FBF7D1C-CF1C-36EF-E68E-7D90EAA8BBB0}"/>
              </a:ext>
            </a:extLst>
          </p:cNvPr>
          <p:cNvCxnSpPr>
            <a:cxnSpLocks/>
          </p:cNvCxnSpPr>
          <p:nvPr/>
        </p:nvCxnSpPr>
        <p:spPr bwMode="auto">
          <a:xfrm>
            <a:off x="7962267" y="3078948"/>
            <a:ext cx="1850224" cy="0"/>
          </a:xfrm>
          <a:prstGeom prst="straightConnector1">
            <a:avLst/>
          </a:prstGeom>
          <a:solidFill>
            <a:srgbClr val="0183B7"/>
          </a:solidFill>
          <a:ln w="25400" cap="flat" cmpd="sng" algn="ctr">
            <a:solidFill>
              <a:schemeClr val="accent6"/>
            </a:solidFill>
            <a:prstDash val="solid"/>
            <a:round/>
            <a:headEnd type="none" w="med" len="med"/>
            <a:tailEnd type="none" w="med" len="med"/>
          </a:ln>
          <a:effectLst/>
        </p:spPr>
      </p:cxnSp>
      <p:sp>
        <p:nvSpPr>
          <p:cNvPr id="30" name="Explosion 1 142">
            <a:extLst>
              <a:ext uri="{FF2B5EF4-FFF2-40B4-BE49-F238E27FC236}">
                <a16:creationId xmlns:a16="http://schemas.microsoft.com/office/drawing/2014/main" id="{F769EAAC-B668-B2B5-1048-DD89CB89AF7E}"/>
              </a:ext>
            </a:extLst>
          </p:cNvPr>
          <p:cNvSpPr>
            <a:spLocks noChangeAspect="1"/>
          </p:cNvSpPr>
          <p:nvPr/>
        </p:nvSpPr>
        <p:spPr>
          <a:xfrm>
            <a:off x="8729158" y="2838316"/>
            <a:ext cx="481265" cy="481265"/>
          </a:xfrm>
          <a:prstGeom prst="irregularSeal1">
            <a:avLst/>
          </a:prstGeom>
          <a:solidFill>
            <a:schemeClr val="accent6"/>
          </a:solidFill>
          <a:ln w="15875" cap="flat">
            <a:solidFill>
              <a:schemeClr val="accent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fontAlgn="base">
              <a:spcBef>
                <a:spcPct val="0"/>
              </a:spcBef>
              <a:spcAft>
                <a:spcPct val="0"/>
              </a:spcAft>
              <a:defRPr/>
            </a:pPr>
            <a:endParaRPr lang="en-US" sz="2400">
              <a:solidFill>
                <a:schemeClr val="tx1"/>
              </a:solidFill>
              <a:latin typeface="+mj-lt"/>
            </a:endParaRPr>
          </a:p>
        </p:txBody>
      </p:sp>
      <p:sp>
        <p:nvSpPr>
          <p:cNvPr id="36" name="Freeform 15">
            <a:extLst>
              <a:ext uri="{FF2B5EF4-FFF2-40B4-BE49-F238E27FC236}">
                <a16:creationId xmlns:a16="http://schemas.microsoft.com/office/drawing/2014/main" id="{3AEFE76F-08AF-2819-2827-1D140508C350}"/>
              </a:ext>
            </a:extLst>
          </p:cNvPr>
          <p:cNvSpPr/>
          <p:nvPr/>
        </p:nvSpPr>
        <p:spPr>
          <a:xfrm rot="10800000" flipV="1">
            <a:off x="7107375" y="3347728"/>
            <a:ext cx="397248" cy="1749841"/>
          </a:xfrm>
          <a:custGeom>
            <a:avLst/>
            <a:gdLst>
              <a:gd name="connsiteX0" fmla="*/ 70338 w 2637692"/>
              <a:gd name="connsiteY0" fmla="*/ 422031 h 430893"/>
              <a:gd name="connsiteX1" fmla="*/ 140676 w 2637692"/>
              <a:gd name="connsiteY1" fmla="*/ 375139 h 430893"/>
              <a:gd name="connsiteX2" fmla="*/ 1336430 w 2637692"/>
              <a:gd name="connsiteY2" fmla="*/ 0 h 430893"/>
              <a:gd name="connsiteX3" fmla="*/ 2637692 w 2637692"/>
              <a:gd name="connsiteY3" fmla="*/ 375139 h 430893"/>
              <a:gd name="connsiteX0" fmla="*/ 70338 w 2375333"/>
              <a:gd name="connsiteY0" fmla="*/ 422031 h 1246517"/>
              <a:gd name="connsiteX1" fmla="*/ 140676 w 2375333"/>
              <a:gd name="connsiteY1" fmla="*/ 375139 h 1246517"/>
              <a:gd name="connsiteX2" fmla="*/ 1336430 w 2375333"/>
              <a:gd name="connsiteY2" fmla="*/ 0 h 1246517"/>
              <a:gd name="connsiteX3" fmla="*/ 2375333 w 2375333"/>
              <a:gd name="connsiteY3" fmla="*/ 1246517 h 1246517"/>
              <a:gd name="connsiteX0" fmla="*/ 70338 w 2375333"/>
              <a:gd name="connsiteY0" fmla="*/ 422031 h 1246517"/>
              <a:gd name="connsiteX1" fmla="*/ 140676 w 2375333"/>
              <a:gd name="connsiteY1" fmla="*/ 375139 h 1246517"/>
              <a:gd name="connsiteX2" fmla="*/ 1336430 w 2375333"/>
              <a:gd name="connsiteY2" fmla="*/ 0 h 1246517"/>
              <a:gd name="connsiteX3" fmla="*/ 2375333 w 2375333"/>
              <a:gd name="connsiteY3" fmla="*/ 1246517 h 1246517"/>
              <a:gd name="connsiteX0" fmla="*/ 140677 w 1639267"/>
              <a:gd name="connsiteY0" fmla="*/ 959140 h 4134904"/>
              <a:gd name="connsiteX1" fmla="*/ 211015 w 1639267"/>
              <a:gd name="connsiteY1" fmla="*/ 912248 h 4134904"/>
              <a:gd name="connsiteX2" fmla="*/ 1406769 w 1639267"/>
              <a:gd name="connsiteY2" fmla="*/ 537109 h 4134904"/>
              <a:gd name="connsiteX3" fmla="*/ 1605998 w 1639267"/>
              <a:gd name="connsiteY3" fmla="*/ 4134904 h 4134904"/>
              <a:gd name="connsiteX0" fmla="*/ 140677 w 1854144"/>
              <a:gd name="connsiteY0" fmla="*/ 959140 h 4134904"/>
              <a:gd name="connsiteX1" fmla="*/ 211015 w 1854144"/>
              <a:gd name="connsiteY1" fmla="*/ 912248 h 4134904"/>
              <a:gd name="connsiteX2" fmla="*/ 1406769 w 1854144"/>
              <a:gd name="connsiteY2" fmla="*/ 537109 h 4134904"/>
              <a:gd name="connsiteX3" fmla="*/ 1605998 w 1854144"/>
              <a:gd name="connsiteY3" fmla="*/ 4134904 h 4134904"/>
              <a:gd name="connsiteX0" fmla="*/ -1 w 1713466"/>
              <a:gd name="connsiteY0" fmla="*/ 951324 h 4127088"/>
              <a:gd name="connsiteX1" fmla="*/ 1266091 w 1713466"/>
              <a:gd name="connsiteY1" fmla="*/ 529293 h 4127088"/>
              <a:gd name="connsiteX2" fmla="*/ 1465320 w 1713466"/>
              <a:gd name="connsiteY2" fmla="*/ 4127088 h 4127088"/>
              <a:gd name="connsiteX0" fmla="*/ 1 w 1713468"/>
              <a:gd name="connsiteY0" fmla="*/ 87922 h 3263686"/>
              <a:gd name="connsiteX1" fmla="*/ 1347197 w 1713468"/>
              <a:gd name="connsiteY1" fmla="*/ 1079311 h 3263686"/>
              <a:gd name="connsiteX2" fmla="*/ 1465322 w 1713468"/>
              <a:gd name="connsiteY2" fmla="*/ 3263686 h 3263686"/>
              <a:gd name="connsiteX0" fmla="*/ -1 w 1713466"/>
              <a:gd name="connsiteY0" fmla="*/ 200569 h 3376333"/>
              <a:gd name="connsiteX1" fmla="*/ 1347195 w 1713466"/>
              <a:gd name="connsiteY1" fmla="*/ 1191958 h 3376333"/>
              <a:gd name="connsiteX2" fmla="*/ 1465320 w 1713466"/>
              <a:gd name="connsiteY2" fmla="*/ 3376333 h 3376333"/>
              <a:gd name="connsiteX0" fmla="*/ -1 w 1665672"/>
              <a:gd name="connsiteY0" fmla="*/ 200568 h 3155896"/>
              <a:gd name="connsiteX1" fmla="*/ 1299401 w 1665672"/>
              <a:gd name="connsiteY1" fmla="*/ 971521 h 3155896"/>
              <a:gd name="connsiteX2" fmla="*/ 1417526 w 1665672"/>
              <a:gd name="connsiteY2" fmla="*/ 3155896 h 3155896"/>
              <a:gd name="connsiteX0" fmla="*/ 1 w 1547551"/>
              <a:gd name="connsiteY0" fmla="*/ 200570 h 3155901"/>
              <a:gd name="connsiteX1" fmla="*/ 1299403 w 1547551"/>
              <a:gd name="connsiteY1" fmla="*/ 971523 h 3155901"/>
              <a:gd name="connsiteX2" fmla="*/ 1299405 w 1547551"/>
              <a:gd name="connsiteY2" fmla="*/ 3155901 h 3155901"/>
              <a:gd name="connsiteX0" fmla="*/ -1 w 1681908"/>
              <a:gd name="connsiteY0" fmla="*/ 200568 h 3155899"/>
              <a:gd name="connsiteX1" fmla="*/ 1299401 w 1681908"/>
              <a:gd name="connsiteY1" fmla="*/ 971521 h 3155899"/>
              <a:gd name="connsiteX2" fmla="*/ 1299403 w 1681908"/>
              <a:gd name="connsiteY2" fmla="*/ 3155899 h 3155899"/>
              <a:gd name="connsiteX0" fmla="*/ 1 w 1531899"/>
              <a:gd name="connsiteY0" fmla="*/ 200570 h 3401807"/>
              <a:gd name="connsiteX1" fmla="*/ 1299403 w 1531899"/>
              <a:gd name="connsiteY1" fmla="*/ 971523 h 3401807"/>
              <a:gd name="connsiteX2" fmla="*/ 19881 w 1531899"/>
              <a:gd name="connsiteY2" fmla="*/ 3401807 h 3401807"/>
              <a:gd name="connsiteX0" fmla="*/ -1 w 1531899"/>
              <a:gd name="connsiteY0" fmla="*/ 200568 h 3401805"/>
              <a:gd name="connsiteX1" fmla="*/ 1299401 w 1531899"/>
              <a:gd name="connsiteY1" fmla="*/ 971521 h 3401805"/>
              <a:gd name="connsiteX2" fmla="*/ 19879 w 1531899"/>
              <a:gd name="connsiteY2" fmla="*/ 3401805 h 3401805"/>
              <a:gd name="connsiteX0" fmla="*/ 1 w 798846"/>
              <a:gd name="connsiteY0" fmla="*/ 200570 h 3401807"/>
              <a:gd name="connsiteX1" fmla="*/ 566349 w 798846"/>
              <a:gd name="connsiteY1" fmla="*/ 971527 h 3401807"/>
              <a:gd name="connsiteX2" fmla="*/ 19881 w 798846"/>
              <a:gd name="connsiteY2" fmla="*/ 3401807 h 3401807"/>
              <a:gd name="connsiteX0" fmla="*/ -1 w 1031343"/>
              <a:gd name="connsiteY0" fmla="*/ 200568 h 3401805"/>
              <a:gd name="connsiteX1" fmla="*/ 798846 w 1031343"/>
              <a:gd name="connsiteY1" fmla="*/ 1613988 h 3401805"/>
              <a:gd name="connsiteX2" fmla="*/ 19879 w 1031343"/>
              <a:gd name="connsiteY2" fmla="*/ 3401805 h 3401805"/>
              <a:gd name="connsiteX0" fmla="*/ 1 w 827310"/>
              <a:gd name="connsiteY0" fmla="*/ 200570 h 3401807"/>
              <a:gd name="connsiteX1" fmla="*/ 798848 w 827310"/>
              <a:gd name="connsiteY1" fmla="*/ 1613990 h 3401807"/>
              <a:gd name="connsiteX2" fmla="*/ 19881 w 827310"/>
              <a:gd name="connsiteY2" fmla="*/ 3401807 h 3401807"/>
              <a:gd name="connsiteX0" fmla="*/ -1 w 827308"/>
              <a:gd name="connsiteY0" fmla="*/ 200568 h 3401805"/>
              <a:gd name="connsiteX1" fmla="*/ 798846 w 827308"/>
              <a:gd name="connsiteY1" fmla="*/ 1613988 h 3401805"/>
              <a:gd name="connsiteX2" fmla="*/ 19879 w 827308"/>
              <a:gd name="connsiteY2" fmla="*/ 3401805 h 3401805"/>
              <a:gd name="connsiteX0" fmla="*/ 1 w 827310"/>
              <a:gd name="connsiteY0" fmla="*/ 1 h 3201238"/>
              <a:gd name="connsiteX1" fmla="*/ 798848 w 827310"/>
              <a:gd name="connsiteY1" fmla="*/ 1413421 h 3201238"/>
              <a:gd name="connsiteX2" fmla="*/ 19881 w 827310"/>
              <a:gd name="connsiteY2" fmla="*/ 3201238 h 3201238"/>
            </a:gdLst>
            <a:ahLst/>
            <a:cxnLst>
              <a:cxn ang="0">
                <a:pos x="connsiteX0" y="connsiteY0"/>
              </a:cxn>
              <a:cxn ang="0">
                <a:pos x="connsiteX1" y="connsiteY1"/>
              </a:cxn>
              <a:cxn ang="0">
                <a:pos x="connsiteX2" y="connsiteY2"/>
              </a:cxn>
            </a:cxnLst>
            <a:rect l="l" t="t" r="r" b="b"/>
            <a:pathLst>
              <a:path w="827310" h="3201238">
                <a:moveTo>
                  <a:pt x="1" y="1"/>
                </a:moveTo>
                <a:cubicBezTo>
                  <a:pt x="577495" y="349083"/>
                  <a:pt x="744161" y="876647"/>
                  <a:pt x="798848" y="1413421"/>
                </a:cubicBezTo>
                <a:cubicBezTo>
                  <a:pt x="827310" y="1994343"/>
                  <a:pt x="663349" y="2821561"/>
                  <a:pt x="19881" y="3201238"/>
                </a:cubicBezTo>
              </a:path>
            </a:pathLst>
          </a:custGeom>
          <a:noFill/>
          <a:ln w="57150">
            <a:solidFill>
              <a:srgbClr val="7030A0"/>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lIns="91408" tIns="45705" rIns="91408" bIns="45705" rtlCol="0" anchor="ctr"/>
          <a:lstStyle/>
          <a:p>
            <a:pPr algn="ctr" defTabSz="609199"/>
            <a:endParaRPr lang="en-US" sz="2400">
              <a:solidFill>
                <a:schemeClr val="tx1"/>
              </a:solidFill>
              <a:latin typeface="Arial"/>
            </a:endParaRPr>
          </a:p>
        </p:txBody>
      </p:sp>
      <p:sp>
        <p:nvSpPr>
          <p:cNvPr id="37" name="Freeform 35">
            <a:extLst>
              <a:ext uri="{FF2B5EF4-FFF2-40B4-BE49-F238E27FC236}">
                <a16:creationId xmlns:a16="http://schemas.microsoft.com/office/drawing/2014/main" id="{6D5CD0AB-4D2C-2C3A-F00B-460DB4A0CF1D}"/>
              </a:ext>
            </a:extLst>
          </p:cNvPr>
          <p:cNvSpPr/>
          <p:nvPr/>
        </p:nvSpPr>
        <p:spPr>
          <a:xfrm rot="10800000" flipH="1">
            <a:off x="7858023" y="2362579"/>
            <a:ext cx="3026827" cy="3340656"/>
          </a:xfrm>
          <a:custGeom>
            <a:avLst/>
            <a:gdLst>
              <a:gd name="connsiteX0" fmla="*/ 70338 w 2637692"/>
              <a:gd name="connsiteY0" fmla="*/ 422031 h 430893"/>
              <a:gd name="connsiteX1" fmla="*/ 140676 w 2637692"/>
              <a:gd name="connsiteY1" fmla="*/ 375139 h 430893"/>
              <a:gd name="connsiteX2" fmla="*/ 1336430 w 2637692"/>
              <a:gd name="connsiteY2" fmla="*/ 0 h 430893"/>
              <a:gd name="connsiteX3" fmla="*/ 2637692 w 2637692"/>
              <a:gd name="connsiteY3" fmla="*/ 375139 h 430893"/>
              <a:gd name="connsiteX0" fmla="*/ 70338 w 2375333"/>
              <a:gd name="connsiteY0" fmla="*/ 422031 h 1246517"/>
              <a:gd name="connsiteX1" fmla="*/ 140676 w 2375333"/>
              <a:gd name="connsiteY1" fmla="*/ 375139 h 1246517"/>
              <a:gd name="connsiteX2" fmla="*/ 1336430 w 2375333"/>
              <a:gd name="connsiteY2" fmla="*/ 0 h 1246517"/>
              <a:gd name="connsiteX3" fmla="*/ 2375333 w 2375333"/>
              <a:gd name="connsiteY3" fmla="*/ 1246517 h 1246517"/>
              <a:gd name="connsiteX0" fmla="*/ 70338 w 2375333"/>
              <a:gd name="connsiteY0" fmla="*/ 422031 h 1246517"/>
              <a:gd name="connsiteX1" fmla="*/ 140676 w 2375333"/>
              <a:gd name="connsiteY1" fmla="*/ 375139 h 1246517"/>
              <a:gd name="connsiteX2" fmla="*/ 1336430 w 2375333"/>
              <a:gd name="connsiteY2" fmla="*/ 0 h 1246517"/>
              <a:gd name="connsiteX3" fmla="*/ 2375333 w 2375333"/>
              <a:gd name="connsiteY3" fmla="*/ 1246517 h 1246517"/>
              <a:gd name="connsiteX0" fmla="*/ 140677 w 1639267"/>
              <a:gd name="connsiteY0" fmla="*/ 959140 h 4134904"/>
              <a:gd name="connsiteX1" fmla="*/ 211015 w 1639267"/>
              <a:gd name="connsiteY1" fmla="*/ 912248 h 4134904"/>
              <a:gd name="connsiteX2" fmla="*/ 1406769 w 1639267"/>
              <a:gd name="connsiteY2" fmla="*/ 537109 h 4134904"/>
              <a:gd name="connsiteX3" fmla="*/ 1605998 w 1639267"/>
              <a:gd name="connsiteY3" fmla="*/ 4134904 h 4134904"/>
              <a:gd name="connsiteX0" fmla="*/ 140677 w 1854144"/>
              <a:gd name="connsiteY0" fmla="*/ 959140 h 4134904"/>
              <a:gd name="connsiteX1" fmla="*/ 211015 w 1854144"/>
              <a:gd name="connsiteY1" fmla="*/ 912248 h 4134904"/>
              <a:gd name="connsiteX2" fmla="*/ 1406769 w 1854144"/>
              <a:gd name="connsiteY2" fmla="*/ 537109 h 4134904"/>
              <a:gd name="connsiteX3" fmla="*/ 1605998 w 1854144"/>
              <a:gd name="connsiteY3" fmla="*/ 4134904 h 4134904"/>
              <a:gd name="connsiteX0" fmla="*/ -1 w 1713466"/>
              <a:gd name="connsiteY0" fmla="*/ 951324 h 4127088"/>
              <a:gd name="connsiteX1" fmla="*/ 1266091 w 1713466"/>
              <a:gd name="connsiteY1" fmla="*/ 529293 h 4127088"/>
              <a:gd name="connsiteX2" fmla="*/ 1465320 w 1713466"/>
              <a:gd name="connsiteY2" fmla="*/ 4127088 h 4127088"/>
              <a:gd name="connsiteX0" fmla="*/ 1 w 1713468"/>
              <a:gd name="connsiteY0" fmla="*/ 87922 h 3263686"/>
              <a:gd name="connsiteX1" fmla="*/ 1347197 w 1713468"/>
              <a:gd name="connsiteY1" fmla="*/ 1079311 h 3263686"/>
              <a:gd name="connsiteX2" fmla="*/ 1465322 w 1713468"/>
              <a:gd name="connsiteY2" fmla="*/ 3263686 h 3263686"/>
              <a:gd name="connsiteX0" fmla="*/ -1 w 1713466"/>
              <a:gd name="connsiteY0" fmla="*/ 200569 h 3376333"/>
              <a:gd name="connsiteX1" fmla="*/ 1347195 w 1713466"/>
              <a:gd name="connsiteY1" fmla="*/ 1191958 h 3376333"/>
              <a:gd name="connsiteX2" fmla="*/ 1465320 w 1713466"/>
              <a:gd name="connsiteY2" fmla="*/ 3376333 h 3376333"/>
              <a:gd name="connsiteX0" fmla="*/ -1 w 1665672"/>
              <a:gd name="connsiteY0" fmla="*/ 200568 h 3155896"/>
              <a:gd name="connsiteX1" fmla="*/ 1299401 w 1665672"/>
              <a:gd name="connsiteY1" fmla="*/ 971521 h 3155896"/>
              <a:gd name="connsiteX2" fmla="*/ 1417526 w 1665672"/>
              <a:gd name="connsiteY2" fmla="*/ 3155896 h 3155896"/>
              <a:gd name="connsiteX0" fmla="*/ 1 w 1547551"/>
              <a:gd name="connsiteY0" fmla="*/ 200570 h 3155901"/>
              <a:gd name="connsiteX1" fmla="*/ 1299403 w 1547551"/>
              <a:gd name="connsiteY1" fmla="*/ 971523 h 3155901"/>
              <a:gd name="connsiteX2" fmla="*/ 1299405 w 1547551"/>
              <a:gd name="connsiteY2" fmla="*/ 3155901 h 3155901"/>
              <a:gd name="connsiteX0" fmla="*/ -1 w 1681908"/>
              <a:gd name="connsiteY0" fmla="*/ 200568 h 3155899"/>
              <a:gd name="connsiteX1" fmla="*/ 1299401 w 1681908"/>
              <a:gd name="connsiteY1" fmla="*/ 971521 h 3155899"/>
              <a:gd name="connsiteX2" fmla="*/ 1299403 w 1681908"/>
              <a:gd name="connsiteY2" fmla="*/ 3155899 h 3155899"/>
              <a:gd name="connsiteX0" fmla="*/ 1 w 1531899"/>
              <a:gd name="connsiteY0" fmla="*/ 200570 h 3401807"/>
              <a:gd name="connsiteX1" fmla="*/ 1299403 w 1531899"/>
              <a:gd name="connsiteY1" fmla="*/ 971523 h 3401807"/>
              <a:gd name="connsiteX2" fmla="*/ 19881 w 1531899"/>
              <a:gd name="connsiteY2" fmla="*/ 3401807 h 3401807"/>
              <a:gd name="connsiteX0" fmla="*/ -1 w 1531899"/>
              <a:gd name="connsiteY0" fmla="*/ 200568 h 3401805"/>
              <a:gd name="connsiteX1" fmla="*/ 1299401 w 1531899"/>
              <a:gd name="connsiteY1" fmla="*/ 971521 h 3401805"/>
              <a:gd name="connsiteX2" fmla="*/ 19879 w 1531899"/>
              <a:gd name="connsiteY2" fmla="*/ 3401805 h 3401805"/>
              <a:gd name="connsiteX0" fmla="*/ 1 w 798846"/>
              <a:gd name="connsiteY0" fmla="*/ 200570 h 3401807"/>
              <a:gd name="connsiteX1" fmla="*/ 566349 w 798846"/>
              <a:gd name="connsiteY1" fmla="*/ 971527 h 3401807"/>
              <a:gd name="connsiteX2" fmla="*/ 19881 w 798846"/>
              <a:gd name="connsiteY2" fmla="*/ 3401807 h 3401807"/>
              <a:gd name="connsiteX0" fmla="*/ -1 w 1031343"/>
              <a:gd name="connsiteY0" fmla="*/ 200568 h 3401805"/>
              <a:gd name="connsiteX1" fmla="*/ 798846 w 1031343"/>
              <a:gd name="connsiteY1" fmla="*/ 1613988 h 3401805"/>
              <a:gd name="connsiteX2" fmla="*/ 19879 w 1031343"/>
              <a:gd name="connsiteY2" fmla="*/ 3401805 h 3401805"/>
              <a:gd name="connsiteX0" fmla="*/ 1 w 827310"/>
              <a:gd name="connsiteY0" fmla="*/ 200570 h 3401807"/>
              <a:gd name="connsiteX1" fmla="*/ 798848 w 827310"/>
              <a:gd name="connsiteY1" fmla="*/ 1613990 h 3401807"/>
              <a:gd name="connsiteX2" fmla="*/ 19881 w 827310"/>
              <a:gd name="connsiteY2" fmla="*/ 3401807 h 3401807"/>
              <a:gd name="connsiteX0" fmla="*/ -1 w 827308"/>
              <a:gd name="connsiteY0" fmla="*/ 200568 h 3401805"/>
              <a:gd name="connsiteX1" fmla="*/ 798846 w 827308"/>
              <a:gd name="connsiteY1" fmla="*/ 1613988 h 3401805"/>
              <a:gd name="connsiteX2" fmla="*/ 19879 w 827308"/>
              <a:gd name="connsiteY2" fmla="*/ 3401805 h 3401805"/>
              <a:gd name="connsiteX0" fmla="*/ 1 w 827310"/>
              <a:gd name="connsiteY0" fmla="*/ 1 h 3201238"/>
              <a:gd name="connsiteX1" fmla="*/ 798848 w 827310"/>
              <a:gd name="connsiteY1" fmla="*/ 1413421 h 3201238"/>
              <a:gd name="connsiteX2" fmla="*/ 19881 w 827310"/>
              <a:gd name="connsiteY2" fmla="*/ 3201238 h 3201238"/>
              <a:gd name="connsiteX0" fmla="*/ 177338 w 1004647"/>
              <a:gd name="connsiteY0" fmla="*/ 214661 h 3415898"/>
              <a:gd name="connsiteX1" fmla="*/ 133141 w 1004647"/>
              <a:gd name="connsiteY1" fmla="*/ 235570 h 3415898"/>
              <a:gd name="connsiteX2" fmla="*/ 976185 w 1004647"/>
              <a:gd name="connsiteY2" fmla="*/ 1628081 h 3415898"/>
              <a:gd name="connsiteX3" fmla="*/ 197218 w 1004647"/>
              <a:gd name="connsiteY3" fmla="*/ 3415898 h 3415898"/>
              <a:gd name="connsiteX0" fmla="*/ 7367 w 967817"/>
              <a:gd name="connsiteY0" fmla="*/ -1 h 3201236"/>
              <a:gd name="connsiteX1" fmla="*/ 834676 w 967817"/>
              <a:gd name="connsiteY1" fmla="*/ 717244 h 3201236"/>
              <a:gd name="connsiteX2" fmla="*/ 806214 w 967817"/>
              <a:gd name="connsiteY2" fmla="*/ 1413419 h 3201236"/>
              <a:gd name="connsiteX3" fmla="*/ 27247 w 967817"/>
              <a:gd name="connsiteY3" fmla="*/ 3201236 h 3201236"/>
              <a:gd name="connsiteX0" fmla="*/ 7366 w 5705500"/>
              <a:gd name="connsiteY0" fmla="*/ 0 h 3851126"/>
              <a:gd name="connsiteX1" fmla="*/ 4895546 w 5705500"/>
              <a:gd name="connsiteY1" fmla="*/ 1367134 h 3851126"/>
              <a:gd name="connsiteX2" fmla="*/ 4867084 w 5705500"/>
              <a:gd name="connsiteY2" fmla="*/ 2063309 h 3851126"/>
              <a:gd name="connsiteX3" fmla="*/ 4088117 w 5705500"/>
              <a:gd name="connsiteY3" fmla="*/ 3851126 h 3851126"/>
              <a:gd name="connsiteX0" fmla="*/ 7366 w 4895546"/>
              <a:gd name="connsiteY0" fmla="*/ 343886 h 4195012"/>
              <a:gd name="connsiteX1" fmla="*/ 3898311 w 4895546"/>
              <a:gd name="connsiteY1" fmla="*/ 343886 h 4195012"/>
              <a:gd name="connsiteX2" fmla="*/ 4867084 w 4895546"/>
              <a:gd name="connsiteY2" fmla="*/ 2407195 h 4195012"/>
              <a:gd name="connsiteX3" fmla="*/ 4088117 w 4895546"/>
              <a:gd name="connsiteY3" fmla="*/ 4195012 h 4195012"/>
              <a:gd name="connsiteX0" fmla="*/ 13 w 4861412"/>
              <a:gd name="connsiteY0" fmla="*/ 152067 h 5414692"/>
              <a:gd name="connsiteX1" fmla="*/ 3890958 w 4861412"/>
              <a:gd name="connsiteY1" fmla="*/ 152067 h 5414692"/>
              <a:gd name="connsiteX2" fmla="*/ 4859731 w 4861412"/>
              <a:gd name="connsiteY2" fmla="*/ 2215376 h 5414692"/>
              <a:gd name="connsiteX3" fmla="*/ 3911405 w 4861412"/>
              <a:gd name="connsiteY3" fmla="*/ 5414691 h 5414692"/>
              <a:gd name="connsiteX0" fmla="*/ 13 w 4861100"/>
              <a:gd name="connsiteY0" fmla="*/ 152067 h 5476062"/>
              <a:gd name="connsiteX1" fmla="*/ 3890958 w 4861100"/>
              <a:gd name="connsiteY1" fmla="*/ 152067 h 5476062"/>
              <a:gd name="connsiteX2" fmla="*/ 4859731 w 4861100"/>
              <a:gd name="connsiteY2" fmla="*/ 2215376 h 5476062"/>
              <a:gd name="connsiteX3" fmla="*/ 3826725 w 4861100"/>
              <a:gd name="connsiteY3" fmla="*/ 5476062 h 5476062"/>
              <a:gd name="connsiteX0" fmla="*/ 13 w 4891044"/>
              <a:gd name="connsiteY0" fmla="*/ 152067 h 5476062"/>
              <a:gd name="connsiteX1" fmla="*/ 3890958 w 4891044"/>
              <a:gd name="connsiteY1" fmla="*/ 152067 h 5476062"/>
              <a:gd name="connsiteX2" fmla="*/ 4859731 w 4891044"/>
              <a:gd name="connsiteY2" fmla="*/ 2215376 h 5476062"/>
              <a:gd name="connsiteX3" fmla="*/ 3826725 w 4891044"/>
              <a:gd name="connsiteY3" fmla="*/ 5476062 h 5476062"/>
              <a:gd name="connsiteX0" fmla="*/ 13 w 4857758"/>
              <a:gd name="connsiteY0" fmla="*/ 190706 h 5514701"/>
              <a:gd name="connsiteX1" fmla="*/ 3890958 w 4857758"/>
              <a:gd name="connsiteY1" fmla="*/ 190706 h 5514701"/>
              <a:gd name="connsiteX2" fmla="*/ 4817391 w 4857758"/>
              <a:gd name="connsiteY2" fmla="*/ 2775655 h 5514701"/>
              <a:gd name="connsiteX3" fmla="*/ 3826725 w 4857758"/>
              <a:gd name="connsiteY3" fmla="*/ 5514701 h 5514701"/>
              <a:gd name="connsiteX0" fmla="*/ 13 w 4767024"/>
              <a:gd name="connsiteY0" fmla="*/ 197523 h 5521518"/>
              <a:gd name="connsiteX1" fmla="*/ 3890958 w 4767024"/>
              <a:gd name="connsiteY1" fmla="*/ 197523 h 5521518"/>
              <a:gd name="connsiteX2" fmla="*/ 4690371 w 4767024"/>
              <a:gd name="connsiteY2" fmla="*/ 2874526 h 5521518"/>
              <a:gd name="connsiteX3" fmla="*/ 3826725 w 4767024"/>
              <a:gd name="connsiteY3" fmla="*/ 5521518 h 5521518"/>
              <a:gd name="connsiteX0" fmla="*/ 13 w 4695054"/>
              <a:gd name="connsiteY0" fmla="*/ 197525 h 5521520"/>
              <a:gd name="connsiteX1" fmla="*/ 3890958 w 4695054"/>
              <a:gd name="connsiteY1" fmla="*/ 197525 h 5521520"/>
              <a:gd name="connsiteX2" fmla="*/ 4690371 w 4695054"/>
              <a:gd name="connsiteY2" fmla="*/ 2874528 h 5521520"/>
              <a:gd name="connsiteX3" fmla="*/ 3826725 w 4695054"/>
              <a:gd name="connsiteY3" fmla="*/ 5521520 h 5521520"/>
            </a:gdLst>
            <a:ahLst/>
            <a:cxnLst>
              <a:cxn ang="0">
                <a:pos x="connsiteX0" y="connsiteY0"/>
              </a:cxn>
              <a:cxn ang="0">
                <a:pos x="connsiteX1" y="connsiteY1"/>
              </a:cxn>
              <a:cxn ang="0">
                <a:pos x="connsiteX2" y="connsiteY2"/>
              </a:cxn>
              <a:cxn ang="0">
                <a:pos x="connsiteX3" y="connsiteY3"/>
              </a:cxn>
            </a:cxnLst>
            <a:rect l="l" t="t" r="r" b="b"/>
            <a:pathLst>
              <a:path w="4695054" h="5521520">
                <a:moveTo>
                  <a:pt x="13" y="197525"/>
                </a:moveTo>
                <a:cubicBezTo>
                  <a:pt x="-7353" y="201010"/>
                  <a:pt x="3109232" y="-248642"/>
                  <a:pt x="3890958" y="197525"/>
                </a:cubicBezTo>
                <a:cubicBezTo>
                  <a:pt x="4672684" y="643692"/>
                  <a:pt x="4679692" y="2344473"/>
                  <a:pt x="4690371" y="2874528"/>
                </a:cubicBezTo>
                <a:cubicBezTo>
                  <a:pt x="4718833" y="3455450"/>
                  <a:pt x="4639553" y="4896365"/>
                  <a:pt x="3826725" y="5521520"/>
                </a:cubicBezTo>
              </a:path>
            </a:pathLst>
          </a:custGeom>
          <a:noFill/>
          <a:ln w="57150">
            <a:solidFill>
              <a:srgbClr val="7030A0"/>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lIns="91408" tIns="45705" rIns="91408" bIns="45705" rtlCol="0" anchor="ctr"/>
          <a:lstStyle/>
          <a:p>
            <a:pPr algn="ctr" defTabSz="609199"/>
            <a:endParaRPr lang="en-US" sz="2400">
              <a:solidFill>
                <a:schemeClr val="tx1"/>
              </a:solidFill>
              <a:latin typeface="Arial"/>
            </a:endParaRPr>
          </a:p>
        </p:txBody>
      </p:sp>
      <p:grpSp>
        <p:nvGrpSpPr>
          <p:cNvPr id="38" name="Group 37">
            <a:extLst>
              <a:ext uri="{FF2B5EF4-FFF2-40B4-BE49-F238E27FC236}">
                <a16:creationId xmlns:a16="http://schemas.microsoft.com/office/drawing/2014/main" id="{BDD5413E-1D9E-9714-7EE5-66D6B18AC446}"/>
              </a:ext>
            </a:extLst>
          </p:cNvPr>
          <p:cNvGrpSpPr/>
          <p:nvPr/>
        </p:nvGrpSpPr>
        <p:grpSpPr>
          <a:xfrm>
            <a:off x="10128792" y="5946603"/>
            <a:ext cx="1738709" cy="550273"/>
            <a:chOff x="7562305" y="4502662"/>
            <a:chExt cx="1304032" cy="412705"/>
          </a:xfrm>
        </p:grpSpPr>
        <p:grpSp>
          <p:nvGrpSpPr>
            <p:cNvPr id="39" name="Group 38">
              <a:extLst>
                <a:ext uri="{FF2B5EF4-FFF2-40B4-BE49-F238E27FC236}">
                  <a16:creationId xmlns:a16="http://schemas.microsoft.com/office/drawing/2014/main" id="{DB641616-681B-E1FA-E15E-8B581A5DC4EE}"/>
                </a:ext>
              </a:extLst>
            </p:cNvPr>
            <p:cNvGrpSpPr/>
            <p:nvPr/>
          </p:nvGrpSpPr>
          <p:grpSpPr>
            <a:xfrm>
              <a:off x="7562305" y="4502662"/>
              <a:ext cx="1304032" cy="223091"/>
              <a:chOff x="4207550" y="4284065"/>
              <a:chExt cx="1304032" cy="223091"/>
            </a:xfrm>
          </p:grpSpPr>
          <p:cxnSp>
            <p:nvCxnSpPr>
              <p:cNvPr id="43" name="Straight Connector 42">
                <a:extLst>
                  <a:ext uri="{FF2B5EF4-FFF2-40B4-BE49-F238E27FC236}">
                    <a16:creationId xmlns:a16="http://schemas.microsoft.com/office/drawing/2014/main" id="{C072AB94-F7BE-665E-8E58-2B6863412195}"/>
                  </a:ext>
                </a:extLst>
              </p:cNvPr>
              <p:cNvCxnSpPr/>
              <p:nvPr/>
            </p:nvCxnSpPr>
            <p:spPr>
              <a:xfrm flipV="1">
                <a:off x="4207550" y="4411326"/>
                <a:ext cx="324862" cy="7088"/>
              </a:xfrm>
              <a:prstGeom prst="line">
                <a:avLst/>
              </a:prstGeom>
              <a:noFill/>
              <a:ln w="38100">
                <a:solidFill>
                  <a:schemeClr val="accent4">
                    <a:alpha val="85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cxnSp>
          <p:sp>
            <p:nvSpPr>
              <p:cNvPr id="44" name="TextBox 43">
                <a:extLst>
                  <a:ext uri="{FF2B5EF4-FFF2-40B4-BE49-F238E27FC236}">
                    <a16:creationId xmlns:a16="http://schemas.microsoft.com/office/drawing/2014/main" id="{34332BC2-7089-AB85-BAFC-65822AD774A4}"/>
                  </a:ext>
                </a:extLst>
              </p:cNvPr>
              <p:cNvSpPr txBox="1"/>
              <p:nvPr/>
            </p:nvSpPr>
            <p:spPr>
              <a:xfrm>
                <a:off x="4497428" y="4284065"/>
                <a:ext cx="1014154" cy="223091"/>
              </a:xfrm>
              <a:prstGeom prst="rect">
                <a:avLst/>
              </a:prstGeom>
              <a:noFill/>
              <a:ln>
                <a:noFill/>
              </a:ln>
            </p:spPr>
            <p:txBody>
              <a:bodyPr wrap="none" lIns="96000" rIns="96000" rtlCol="0">
                <a:spAutoFit/>
              </a:bodyPr>
              <a:lstStyle/>
              <a:p>
                <a:pPr defTabSz="609585" fontAlgn="base">
                  <a:spcBef>
                    <a:spcPct val="0"/>
                  </a:spcBef>
                  <a:spcAft>
                    <a:spcPct val="0"/>
                  </a:spcAft>
                  <a:defRPr/>
                </a:pPr>
                <a:r>
                  <a:rPr lang="en-US" sz="1333">
                    <a:latin typeface="CiscoSansTT ExtraLight"/>
                    <a:ea typeface="ＭＳ Ｐゴシック" charset="0"/>
                  </a:rPr>
                  <a:t>Pre-convergence</a:t>
                </a:r>
              </a:p>
            </p:txBody>
          </p:sp>
        </p:grpSp>
        <p:grpSp>
          <p:nvGrpSpPr>
            <p:cNvPr id="40" name="Group 39">
              <a:extLst>
                <a:ext uri="{FF2B5EF4-FFF2-40B4-BE49-F238E27FC236}">
                  <a16:creationId xmlns:a16="http://schemas.microsoft.com/office/drawing/2014/main" id="{A2A315EF-E280-9D8B-28F5-4B3B626437DD}"/>
                </a:ext>
              </a:extLst>
            </p:cNvPr>
            <p:cNvGrpSpPr/>
            <p:nvPr/>
          </p:nvGrpSpPr>
          <p:grpSpPr>
            <a:xfrm>
              <a:off x="7562305" y="4692276"/>
              <a:ext cx="811157" cy="223091"/>
              <a:chOff x="4207550" y="4284065"/>
              <a:chExt cx="811157" cy="223091"/>
            </a:xfrm>
          </p:grpSpPr>
          <p:cxnSp>
            <p:nvCxnSpPr>
              <p:cNvPr id="41" name="Straight Connector 40">
                <a:extLst>
                  <a:ext uri="{FF2B5EF4-FFF2-40B4-BE49-F238E27FC236}">
                    <a16:creationId xmlns:a16="http://schemas.microsoft.com/office/drawing/2014/main" id="{B0A10A0D-B2F3-39D1-B986-214380060CF8}"/>
                  </a:ext>
                </a:extLst>
              </p:cNvPr>
              <p:cNvCxnSpPr/>
              <p:nvPr/>
            </p:nvCxnSpPr>
            <p:spPr>
              <a:xfrm flipV="1">
                <a:off x="4207550" y="4411326"/>
                <a:ext cx="324862" cy="7088"/>
              </a:xfrm>
              <a:prstGeom prst="line">
                <a:avLst/>
              </a:prstGeom>
              <a:noFill/>
              <a:ln w="38100">
                <a:solidFill>
                  <a:srgbClr val="7030A0">
                    <a:alpha val="85000"/>
                  </a:srgb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cxnSp>
          <p:sp>
            <p:nvSpPr>
              <p:cNvPr id="42" name="TextBox 41">
                <a:extLst>
                  <a:ext uri="{FF2B5EF4-FFF2-40B4-BE49-F238E27FC236}">
                    <a16:creationId xmlns:a16="http://schemas.microsoft.com/office/drawing/2014/main" id="{74BE2175-2C3F-C381-6E65-F5C26B57CE89}"/>
                  </a:ext>
                </a:extLst>
              </p:cNvPr>
              <p:cNvSpPr txBox="1"/>
              <p:nvPr/>
            </p:nvSpPr>
            <p:spPr>
              <a:xfrm>
                <a:off x="4497428" y="4284065"/>
                <a:ext cx="521279" cy="223091"/>
              </a:xfrm>
              <a:prstGeom prst="rect">
                <a:avLst/>
              </a:prstGeom>
              <a:noFill/>
              <a:ln>
                <a:noFill/>
              </a:ln>
            </p:spPr>
            <p:txBody>
              <a:bodyPr wrap="none" lIns="96000" rIns="96000" rtlCol="0">
                <a:spAutoFit/>
              </a:bodyPr>
              <a:lstStyle/>
              <a:p>
                <a:pPr defTabSz="609585" fontAlgn="base">
                  <a:spcBef>
                    <a:spcPct val="0"/>
                  </a:spcBef>
                  <a:spcAft>
                    <a:spcPct val="0"/>
                  </a:spcAft>
                  <a:defRPr/>
                </a:pPr>
                <a:r>
                  <a:rPr lang="en-US" sz="1333">
                    <a:latin typeface="CiscoSansTT ExtraLight"/>
                    <a:ea typeface="ＭＳ Ｐゴシック" charset="0"/>
                  </a:rPr>
                  <a:t>Backup</a:t>
                </a:r>
              </a:p>
            </p:txBody>
          </p:sp>
        </p:grpSp>
      </p:grpSp>
      <p:grpSp>
        <p:nvGrpSpPr>
          <p:cNvPr id="75" name="Group 74">
            <a:extLst>
              <a:ext uri="{FF2B5EF4-FFF2-40B4-BE49-F238E27FC236}">
                <a16:creationId xmlns:a16="http://schemas.microsoft.com/office/drawing/2014/main" id="{AE119726-8443-B6CE-E456-27429647C11F}"/>
              </a:ext>
            </a:extLst>
          </p:cNvPr>
          <p:cNvGrpSpPr/>
          <p:nvPr/>
        </p:nvGrpSpPr>
        <p:grpSpPr>
          <a:xfrm>
            <a:off x="5004614" y="5154449"/>
            <a:ext cx="2163853" cy="858252"/>
            <a:chOff x="3217913" y="4133493"/>
            <a:chExt cx="1953132" cy="643689"/>
          </a:xfrm>
        </p:grpSpPr>
        <p:sp>
          <p:nvSpPr>
            <p:cNvPr id="50" name="Rectángulo redondeado 66">
              <a:extLst>
                <a:ext uri="{FF2B5EF4-FFF2-40B4-BE49-F238E27FC236}">
                  <a16:creationId xmlns:a16="http://schemas.microsoft.com/office/drawing/2014/main" id="{84F3E92B-C5E8-6E6B-2F90-EA1A1E30FEE4}"/>
                </a:ext>
              </a:extLst>
            </p:cNvPr>
            <p:cNvSpPr/>
            <p:nvPr/>
          </p:nvSpPr>
          <p:spPr>
            <a:xfrm rot="10800000">
              <a:off x="3221754" y="4615516"/>
              <a:ext cx="1947866" cy="161131"/>
            </a:xfrm>
            <a:prstGeom prst="round2SameRect">
              <a:avLst/>
            </a:prstGeom>
            <a:solidFill>
              <a:schemeClr val="bg2">
                <a:lumMod val="75000"/>
              </a:schemeClr>
            </a:solidFill>
            <a:ln w="25400" cap="flat" cmpd="sng" algn="ctr">
              <a:noFill/>
              <a:prstDash val="solid"/>
            </a:ln>
            <a:effectLst/>
          </p:spPr>
          <p:txBody>
            <a:bodyPr vert="horz" lIns="0" tIns="0" rIns="0" bIns="0" rtlCol="0" anchor="ctr"/>
            <a:lstStyle/>
            <a:p>
              <a:pPr algn="ctr" defTabSz="1219140">
                <a:defRPr/>
              </a:pPr>
              <a:endParaRPr lang="es-ES_tradnl" sz="933" kern="0">
                <a:solidFill>
                  <a:srgbClr val="005073"/>
                </a:solidFill>
                <a:latin typeface="CiscoSansTT ExtraLight"/>
              </a:endParaRPr>
            </a:p>
          </p:txBody>
        </p:sp>
        <p:sp>
          <p:nvSpPr>
            <p:cNvPr id="51" name="TextBox 50">
              <a:extLst>
                <a:ext uri="{FF2B5EF4-FFF2-40B4-BE49-F238E27FC236}">
                  <a16:creationId xmlns:a16="http://schemas.microsoft.com/office/drawing/2014/main" id="{49FEF226-FB44-6C4B-7497-2DEE22A41342}"/>
                </a:ext>
              </a:extLst>
            </p:cNvPr>
            <p:cNvSpPr txBox="1"/>
            <p:nvPr/>
          </p:nvSpPr>
          <p:spPr>
            <a:xfrm>
              <a:off x="3217913" y="4616051"/>
              <a:ext cx="1947867" cy="161131"/>
            </a:xfrm>
            <a:prstGeom prst="rect">
              <a:avLst/>
            </a:prstGeom>
            <a:noFill/>
          </p:spPr>
          <p:txBody>
            <a:bodyPr wrap="square" lIns="0" tIns="0" rIns="0" bIns="0" rtlCol="0" anchor="ctr">
              <a:normAutofit/>
            </a:bodyPr>
            <a:lstStyle/>
            <a:p>
              <a:pPr algn="ctr" defTabSz="1219140">
                <a:defRPr/>
              </a:pPr>
              <a:r>
                <a:rPr lang="es-ES_tradnl" sz="933" kern="0">
                  <a:solidFill>
                    <a:schemeClr val="bg1"/>
                  </a:solidFill>
                  <a:latin typeface="CiscoSansTT ExtraLight"/>
                </a:rPr>
                <a:t>DATA</a:t>
              </a:r>
            </a:p>
          </p:txBody>
        </p:sp>
        <p:sp>
          <p:nvSpPr>
            <p:cNvPr id="52" name="Rectángulo redondeado 64">
              <a:extLst>
                <a:ext uri="{FF2B5EF4-FFF2-40B4-BE49-F238E27FC236}">
                  <a16:creationId xmlns:a16="http://schemas.microsoft.com/office/drawing/2014/main" id="{2FE2214B-7DD0-B472-671F-179E01333CFD}"/>
                </a:ext>
              </a:extLst>
            </p:cNvPr>
            <p:cNvSpPr/>
            <p:nvPr/>
          </p:nvSpPr>
          <p:spPr>
            <a:xfrm rot="16200000">
              <a:off x="3338132" y="4018540"/>
              <a:ext cx="161130" cy="391036"/>
            </a:xfrm>
            <a:prstGeom prst="round1Rect">
              <a:avLst/>
            </a:prstGeom>
            <a:solidFill>
              <a:schemeClr val="accent2"/>
            </a:solidFill>
            <a:ln w="25400" cap="flat" cmpd="sng" algn="ctr">
              <a:noFill/>
              <a:prstDash val="solid"/>
            </a:ln>
            <a:effectLst/>
          </p:spPr>
          <p:txBody>
            <a:bodyPr vert="vert" lIns="0" tIns="0" rIns="0" bIns="0" rtlCol="0" anchor="ctr"/>
            <a:lstStyle/>
            <a:p>
              <a:pPr algn="ctr" defTabSz="1219140">
                <a:defRPr/>
              </a:pPr>
              <a:r>
                <a:rPr lang="es-ES_tradnl" sz="933" kern="0">
                  <a:latin typeface="CiscoSansTT ExtraLight"/>
                </a:rPr>
                <a:t>IPv6</a:t>
              </a:r>
              <a:endParaRPr lang="es-ES_tradnl" sz="933" b="1" kern="0">
                <a:latin typeface="CiscoSansTT ExtraLight"/>
              </a:endParaRPr>
            </a:p>
          </p:txBody>
        </p:sp>
        <p:sp>
          <p:nvSpPr>
            <p:cNvPr id="53" name="Rectángulo redondeado 64">
              <a:extLst>
                <a:ext uri="{FF2B5EF4-FFF2-40B4-BE49-F238E27FC236}">
                  <a16:creationId xmlns:a16="http://schemas.microsoft.com/office/drawing/2014/main" id="{D69783DA-05C6-6C3D-4B78-48C2FF2787A2}"/>
                </a:ext>
              </a:extLst>
            </p:cNvPr>
            <p:cNvSpPr/>
            <p:nvPr/>
          </p:nvSpPr>
          <p:spPr>
            <a:xfrm>
              <a:off x="3614214" y="4133494"/>
              <a:ext cx="1553218" cy="161131"/>
            </a:xfrm>
            <a:prstGeom prst="round1Rect">
              <a:avLst/>
            </a:prstGeom>
            <a:solidFill>
              <a:schemeClr val="accent2">
                <a:lumMod val="20000"/>
                <a:lumOff val="80000"/>
              </a:schemeClr>
            </a:solidFill>
            <a:ln w="25400" cap="flat" cmpd="sng" algn="ctr">
              <a:noFill/>
              <a:prstDash val="solid"/>
            </a:ln>
            <a:effectLst/>
          </p:spPr>
          <p:txBody>
            <a:bodyPr vert="horz" lIns="0" tIns="0" rIns="0" bIns="0" rtlCol="0" anchor="ctr"/>
            <a:lstStyle/>
            <a:p>
              <a:pPr algn="ctr" defTabSz="1219140">
                <a:defRPr/>
              </a:pPr>
              <a:r>
                <a:rPr lang="es-ES_tradnl" sz="933" kern="0">
                  <a:latin typeface="CiscoSansTT ExtraLight"/>
                </a:rPr>
                <a:t>SA = 1::1, DA = </a:t>
              </a:r>
              <a:r>
                <a:rPr lang="es-ES_tradnl" sz="933" b="1" kern="0">
                  <a:solidFill>
                    <a:schemeClr val="accent5">
                      <a:lumMod val="75000"/>
                    </a:schemeClr>
                  </a:solidFill>
                  <a:latin typeface="CiscoSansTT ExtraLight"/>
                </a:rPr>
                <a:t>fcbb:bb00:5::</a:t>
              </a:r>
            </a:p>
          </p:txBody>
        </p:sp>
        <p:sp>
          <p:nvSpPr>
            <p:cNvPr id="67" name="Rectángulo redondeado 64">
              <a:extLst>
                <a:ext uri="{FF2B5EF4-FFF2-40B4-BE49-F238E27FC236}">
                  <a16:creationId xmlns:a16="http://schemas.microsoft.com/office/drawing/2014/main" id="{C6D50D14-0EFF-E33B-E79A-3DEE3AFDFBA5}"/>
                </a:ext>
              </a:extLst>
            </p:cNvPr>
            <p:cNvSpPr/>
            <p:nvPr/>
          </p:nvSpPr>
          <p:spPr>
            <a:xfrm>
              <a:off x="3610372" y="4294623"/>
              <a:ext cx="1560673" cy="161131"/>
            </a:xfrm>
            <a:prstGeom prst="round1Rect">
              <a:avLst>
                <a:gd name="adj" fmla="val 0"/>
              </a:avLst>
            </a:prstGeom>
            <a:solidFill>
              <a:schemeClr val="accent2">
                <a:lumMod val="40000"/>
                <a:lumOff val="60000"/>
              </a:schemeClr>
            </a:solidFill>
            <a:ln w="25400" cap="flat" cmpd="sng" algn="ctr">
              <a:noFill/>
              <a:prstDash val="solid"/>
            </a:ln>
            <a:effectLst/>
          </p:spPr>
          <p:txBody>
            <a:bodyPr vert="horz" lIns="0" tIns="0" rIns="0" bIns="0" rtlCol="0" anchor="ctr"/>
            <a:lstStyle/>
            <a:p>
              <a:pPr defTabSz="1219140">
                <a:defRPr/>
              </a:pPr>
              <a:r>
                <a:rPr lang="es-ES_tradnl" sz="933" kern="0">
                  <a:latin typeface="CiscoSansTT ExtraLight"/>
                </a:rPr>
                <a:t>SL=</a:t>
              </a:r>
              <a:r>
                <a:rPr lang="es-ES_tradnl" sz="933" kern="0">
                  <a:solidFill>
                    <a:schemeClr val="accent5"/>
                  </a:solidFill>
                  <a:latin typeface="CiscoSansTT ExtraLight"/>
                </a:rPr>
                <a:t>1</a:t>
              </a:r>
              <a:r>
                <a:rPr lang="es-ES_tradnl" sz="933" kern="0">
                  <a:latin typeface="CiscoSansTT ExtraLight"/>
                </a:rPr>
                <a:t>, NH=IPv4</a:t>
              </a:r>
              <a:endParaRPr lang="es-ES_tradnl" sz="933" b="1" kern="0">
                <a:solidFill>
                  <a:schemeClr val="accent5">
                    <a:lumMod val="75000"/>
                  </a:schemeClr>
                </a:solidFill>
                <a:latin typeface="CiscoSansTT ExtraLight"/>
              </a:endParaRPr>
            </a:p>
          </p:txBody>
        </p:sp>
        <p:sp>
          <p:nvSpPr>
            <p:cNvPr id="68" name="Rectángulo redondeado 64">
              <a:extLst>
                <a:ext uri="{FF2B5EF4-FFF2-40B4-BE49-F238E27FC236}">
                  <a16:creationId xmlns:a16="http://schemas.microsoft.com/office/drawing/2014/main" id="{B892E48E-E129-9836-D7C5-4EBF88955C33}"/>
                </a:ext>
              </a:extLst>
            </p:cNvPr>
            <p:cNvSpPr/>
            <p:nvPr/>
          </p:nvSpPr>
          <p:spPr>
            <a:xfrm>
              <a:off x="3610372" y="4453786"/>
              <a:ext cx="1560673" cy="161131"/>
            </a:xfrm>
            <a:prstGeom prst="round1Rect">
              <a:avLst>
                <a:gd name="adj" fmla="val 0"/>
              </a:avLst>
            </a:prstGeom>
            <a:solidFill>
              <a:schemeClr val="accent2">
                <a:lumMod val="40000"/>
                <a:lumOff val="60000"/>
              </a:schemeClr>
            </a:solidFill>
            <a:ln w="25400" cap="flat" cmpd="sng" algn="ctr">
              <a:noFill/>
              <a:prstDash val="solid"/>
            </a:ln>
            <a:effectLst/>
          </p:spPr>
          <p:txBody>
            <a:bodyPr vert="horz" lIns="0" tIns="0" rIns="0" bIns="0" rtlCol="0" anchor="ctr"/>
            <a:lstStyle/>
            <a:p>
              <a:pPr defTabSz="1219140">
                <a:defRPr/>
              </a:pPr>
              <a:r>
                <a:rPr lang="es-ES_tradnl" sz="933" b="1" kern="0" dirty="0">
                  <a:latin typeface="CiscoSansTT ExtraLight"/>
                </a:rPr>
                <a:t>[0] </a:t>
              </a:r>
              <a:r>
                <a:rPr lang="es-ES_tradnl" sz="933" b="1" kern="0" dirty="0" err="1">
                  <a:latin typeface="CiscoSansTT ExtraLight"/>
                </a:rPr>
                <a:t>fcbb:bb00:7:e000</a:t>
              </a:r>
              <a:r>
                <a:rPr lang="es-ES_tradnl" sz="933" b="1" kern="0" dirty="0">
                  <a:latin typeface="CiscoSansTT ExtraLight"/>
                </a:rPr>
                <a:t>::</a:t>
              </a:r>
            </a:p>
          </p:txBody>
        </p:sp>
        <p:sp>
          <p:nvSpPr>
            <p:cNvPr id="69" name="Rectángulo redondeado 64">
              <a:extLst>
                <a:ext uri="{FF2B5EF4-FFF2-40B4-BE49-F238E27FC236}">
                  <a16:creationId xmlns:a16="http://schemas.microsoft.com/office/drawing/2014/main" id="{E67BC5EF-D7B5-1A85-A132-D67A84DF4A54}"/>
                </a:ext>
              </a:extLst>
            </p:cNvPr>
            <p:cNvSpPr/>
            <p:nvPr/>
          </p:nvSpPr>
          <p:spPr>
            <a:xfrm rot="16200000">
              <a:off x="3256631" y="4261172"/>
              <a:ext cx="320294" cy="387195"/>
            </a:xfrm>
            <a:prstGeom prst="round1Rect">
              <a:avLst>
                <a:gd name="adj" fmla="val 0"/>
              </a:avLst>
            </a:prstGeom>
            <a:solidFill>
              <a:srgbClr val="00B050"/>
            </a:solidFill>
            <a:ln w="25400" cap="flat" cmpd="sng" algn="ctr">
              <a:noFill/>
              <a:prstDash val="solid"/>
            </a:ln>
            <a:effectLst/>
          </p:spPr>
          <p:txBody>
            <a:bodyPr vert="vert" lIns="0" tIns="0" rIns="0" bIns="0" rtlCol="0" anchor="ctr"/>
            <a:lstStyle/>
            <a:p>
              <a:pPr algn="ctr" defTabSz="1219140">
                <a:defRPr/>
              </a:pPr>
              <a:r>
                <a:rPr lang="es-ES_tradnl" sz="933" kern="0">
                  <a:latin typeface="CiscoSansTT ExtraLight"/>
                </a:rPr>
                <a:t>SRH</a:t>
              </a:r>
              <a:endParaRPr lang="es-ES_tradnl" sz="933" b="1" kern="0">
                <a:latin typeface="CiscoSansTT ExtraLight"/>
              </a:endParaRPr>
            </a:p>
          </p:txBody>
        </p:sp>
      </p:grpSp>
      <p:grpSp>
        <p:nvGrpSpPr>
          <p:cNvPr id="70" name="Group 69">
            <a:extLst>
              <a:ext uri="{FF2B5EF4-FFF2-40B4-BE49-F238E27FC236}">
                <a16:creationId xmlns:a16="http://schemas.microsoft.com/office/drawing/2014/main" id="{0076F9E9-FF5A-A810-B8EE-AE953D2E304C}"/>
              </a:ext>
            </a:extLst>
          </p:cNvPr>
          <p:cNvGrpSpPr/>
          <p:nvPr/>
        </p:nvGrpSpPr>
        <p:grpSpPr>
          <a:xfrm>
            <a:off x="9554870" y="4183546"/>
            <a:ext cx="2607525" cy="429681"/>
            <a:chOff x="3579621" y="4000665"/>
            <a:chExt cx="1955644" cy="322261"/>
          </a:xfrm>
        </p:grpSpPr>
        <p:sp>
          <p:nvSpPr>
            <p:cNvPr id="71" name="Rectángulo redondeado 66">
              <a:extLst>
                <a:ext uri="{FF2B5EF4-FFF2-40B4-BE49-F238E27FC236}">
                  <a16:creationId xmlns:a16="http://schemas.microsoft.com/office/drawing/2014/main" id="{A2975E9B-1EDF-44BC-F252-1CC4E8244B5F}"/>
                </a:ext>
              </a:extLst>
            </p:cNvPr>
            <p:cNvSpPr/>
            <p:nvPr/>
          </p:nvSpPr>
          <p:spPr>
            <a:xfrm rot="10800000">
              <a:off x="3579623" y="4161795"/>
              <a:ext cx="1955641" cy="161131"/>
            </a:xfrm>
            <a:prstGeom prst="round2SameRect">
              <a:avLst/>
            </a:prstGeom>
            <a:solidFill>
              <a:schemeClr val="bg2">
                <a:lumMod val="75000"/>
              </a:schemeClr>
            </a:solidFill>
            <a:ln w="25400" cap="flat" cmpd="sng" algn="ctr">
              <a:noFill/>
              <a:prstDash val="solid"/>
            </a:ln>
            <a:effectLst/>
          </p:spPr>
          <p:txBody>
            <a:bodyPr vert="horz" lIns="0" tIns="0" rIns="0" bIns="0" rtlCol="0" anchor="ctr"/>
            <a:lstStyle/>
            <a:p>
              <a:pPr algn="ctr" defTabSz="1219140">
                <a:defRPr/>
              </a:pPr>
              <a:endParaRPr lang="es-ES_tradnl" sz="933" kern="0">
                <a:solidFill>
                  <a:srgbClr val="005073"/>
                </a:solidFill>
                <a:latin typeface="CiscoSansTT ExtraLight"/>
              </a:endParaRPr>
            </a:p>
          </p:txBody>
        </p:sp>
        <p:sp>
          <p:nvSpPr>
            <p:cNvPr id="72" name="TextBox 71">
              <a:extLst>
                <a:ext uri="{FF2B5EF4-FFF2-40B4-BE49-F238E27FC236}">
                  <a16:creationId xmlns:a16="http://schemas.microsoft.com/office/drawing/2014/main" id="{98798B8A-3629-EA67-53C7-532D7DD7AAD8}"/>
                </a:ext>
              </a:extLst>
            </p:cNvPr>
            <p:cNvSpPr txBox="1"/>
            <p:nvPr/>
          </p:nvSpPr>
          <p:spPr>
            <a:xfrm>
              <a:off x="3579621" y="4161795"/>
              <a:ext cx="1955641" cy="161131"/>
            </a:xfrm>
            <a:prstGeom prst="rect">
              <a:avLst/>
            </a:prstGeom>
            <a:noFill/>
          </p:spPr>
          <p:txBody>
            <a:bodyPr wrap="square" lIns="0" tIns="0" rIns="0" bIns="0" rtlCol="0" anchor="ctr">
              <a:normAutofit/>
            </a:bodyPr>
            <a:lstStyle/>
            <a:p>
              <a:pPr algn="ctr" defTabSz="1219140">
                <a:defRPr/>
              </a:pPr>
              <a:r>
                <a:rPr lang="es-ES_tradnl" sz="933" kern="0">
                  <a:solidFill>
                    <a:schemeClr val="bg1"/>
                  </a:solidFill>
                  <a:latin typeface="CiscoSansTT ExtraLight"/>
                </a:rPr>
                <a:t>DATA</a:t>
              </a:r>
            </a:p>
          </p:txBody>
        </p:sp>
        <p:sp>
          <p:nvSpPr>
            <p:cNvPr id="73" name="Rectángulo redondeado 64">
              <a:extLst>
                <a:ext uri="{FF2B5EF4-FFF2-40B4-BE49-F238E27FC236}">
                  <a16:creationId xmlns:a16="http://schemas.microsoft.com/office/drawing/2014/main" id="{66E57249-1AAE-0E9F-5A26-3E29C344148B}"/>
                </a:ext>
              </a:extLst>
            </p:cNvPr>
            <p:cNvSpPr/>
            <p:nvPr/>
          </p:nvSpPr>
          <p:spPr>
            <a:xfrm rot="16200000">
              <a:off x="3695035" y="3885712"/>
              <a:ext cx="161130" cy="391036"/>
            </a:xfrm>
            <a:prstGeom prst="round1Rect">
              <a:avLst/>
            </a:prstGeom>
            <a:solidFill>
              <a:schemeClr val="accent2"/>
            </a:solidFill>
            <a:ln w="25400" cap="flat" cmpd="sng" algn="ctr">
              <a:noFill/>
              <a:prstDash val="solid"/>
            </a:ln>
            <a:effectLst/>
          </p:spPr>
          <p:txBody>
            <a:bodyPr vert="vert" lIns="0" tIns="0" rIns="0" bIns="0" rtlCol="0" anchor="ctr"/>
            <a:lstStyle/>
            <a:p>
              <a:pPr algn="ctr" defTabSz="1219140">
                <a:defRPr/>
              </a:pPr>
              <a:r>
                <a:rPr lang="es-ES_tradnl" sz="933" kern="0">
                  <a:latin typeface="CiscoSansTT ExtraLight"/>
                </a:rPr>
                <a:t>IPv6</a:t>
              </a:r>
              <a:endParaRPr lang="es-ES_tradnl" sz="933" b="1" kern="0">
                <a:latin typeface="CiscoSansTT ExtraLight"/>
              </a:endParaRPr>
            </a:p>
          </p:txBody>
        </p:sp>
        <p:sp>
          <p:nvSpPr>
            <p:cNvPr id="74" name="Rectángulo redondeado 64">
              <a:extLst>
                <a:ext uri="{FF2B5EF4-FFF2-40B4-BE49-F238E27FC236}">
                  <a16:creationId xmlns:a16="http://schemas.microsoft.com/office/drawing/2014/main" id="{3E9AC292-78D1-E8A3-5A95-88702035EB5E}"/>
                </a:ext>
              </a:extLst>
            </p:cNvPr>
            <p:cNvSpPr/>
            <p:nvPr/>
          </p:nvSpPr>
          <p:spPr>
            <a:xfrm>
              <a:off x="3971116" y="4000666"/>
              <a:ext cx="1564149" cy="161131"/>
            </a:xfrm>
            <a:prstGeom prst="round1Rect">
              <a:avLst/>
            </a:prstGeom>
            <a:solidFill>
              <a:schemeClr val="accent2">
                <a:lumMod val="20000"/>
                <a:lumOff val="80000"/>
              </a:schemeClr>
            </a:solidFill>
            <a:ln w="25400" cap="flat" cmpd="sng" algn="ctr">
              <a:noFill/>
              <a:prstDash val="solid"/>
            </a:ln>
            <a:effectLst/>
          </p:spPr>
          <p:txBody>
            <a:bodyPr vert="horz" lIns="0" tIns="0" rIns="0" bIns="0" rtlCol="0" anchor="ctr"/>
            <a:lstStyle/>
            <a:p>
              <a:pPr algn="ctr" defTabSz="1219140">
                <a:defRPr/>
              </a:pPr>
              <a:r>
                <a:rPr lang="es-ES_tradnl" sz="933" kern="0" dirty="0">
                  <a:latin typeface="CiscoSansTT ExtraLight"/>
                </a:rPr>
                <a:t>SA = 1::1, DA = </a:t>
              </a:r>
              <a:r>
                <a:rPr lang="es-ES_tradnl" sz="933" b="1" kern="0" dirty="0" err="1">
                  <a:latin typeface="CiscoSansTT ExtraLight"/>
                </a:rPr>
                <a:t>fcbb:bb00:7:e000</a:t>
              </a:r>
              <a:r>
                <a:rPr lang="es-ES_tradnl" sz="933" b="1" kern="0" dirty="0">
                  <a:latin typeface="CiscoSansTT ExtraLight"/>
                </a:rPr>
                <a:t>::</a:t>
              </a:r>
            </a:p>
          </p:txBody>
        </p:sp>
      </p:grpSp>
      <p:sp>
        <p:nvSpPr>
          <p:cNvPr id="20" name="TextBox 19">
            <a:extLst>
              <a:ext uri="{FF2B5EF4-FFF2-40B4-BE49-F238E27FC236}">
                <a16:creationId xmlns:a16="http://schemas.microsoft.com/office/drawing/2014/main" id="{A575CBA8-F85F-26E7-A559-643F36C03B92}"/>
              </a:ext>
            </a:extLst>
          </p:cNvPr>
          <p:cNvSpPr txBox="1"/>
          <p:nvPr/>
        </p:nvSpPr>
        <p:spPr>
          <a:xfrm>
            <a:off x="7292266" y="3321563"/>
            <a:ext cx="365806" cy="297454"/>
          </a:xfrm>
          <a:prstGeom prst="rect">
            <a:avLst/>
          </a:prstGeom>
          <a:noFill/>
        </p:spPr>
        <p:txBody>
          <a:bodyPr wrap="none" rtlCol="0">
            <a:spAutoFit/>
          </a:bodyPr>
          <a:lstStyle/>
          <a:p>
            <a:r>
              <a:rPr lang="en-US" sz="1333" dirty="0" err="1">
                <a:solidFill>
                  <a:srgbClr val="FA661C"/>
                </a:solidFill>
              </a:rPr>
              <a:t>if1</a:t>
            </a:r>
            <a:endParaRPr lang="en-US" sz="1333" dirty="0">
              <a:solidFill>
                <a:srgbClr val="FA661C"/>
              </a:solidFill>
            </a:endParaRPr>
          </a:p>
        </p:txBody>
      </p:sp>
    </p:spTree>
    <p:extLst>
      <p:ext uri="{BB962C8B-B14F-4D97-AF65-F5344CB8AC3E}">
        <p14:creationId xmlns:p14="http://schemas.microsoft.com/office/powerpoint/2010/main" val="374021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up)">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wipe(down)">
                                      <p:cBhvr>
                                        <p:cTn id="12" dur="500"/>
                                        <p:tgtEl>
                                          <p:spTgt spid="37"/>
                                        </p:tgtEl>
                                      </p:cBhvr>
                                    </p:animEffect>
                                  </p:childTnLst>
                                </p:cTn>
                              </p:par>
                              <p:par>
                                <p:cTn id="13" presetID="1" presetClass="entr" presetSubtype="0"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6C54E0F-2A2C-1D4F-8B01-FFAF4D1DEDE2}"/>
              </a:ext>
            </a:extLst>
          </p:cNvPr>
          <p:cNvSpPr>
            <a:spLocks noGrp="1"/>
          </p:cNvSpPr>
          <p:nvPr>
            <p:ph type="body" sz="quarter" idx="10"/>
          </p:nvPr>
        </p:nvSpPr>
        <p:spPr>
          <a:xfrm>
            <a:off x="873919" y="939338"/>
            <a:ext cx="6884792" cy="5345083"/>
          </a:xfrm>
        </p:spPr>
        <p:txBody>
          <a:bodyPr/>
          <a:lstStyle/>
          <a:p>
            <a:r>
              <a:rPr lang="en-US" sz="2400" dirty="0"/>
              <a:t>Based on the new topology, IGP re-converges</a:t>
            </a:r>
          </a:p>
          <a:p>
            <a:r>
              <a:rPr lang="en-US" sz="2400" dirty="0"/>
              <a:t>Updated primary and backup paths are programmed </a:t>
            </a:r>
          </a:p>
          <a:p>
            <a:endParaRPr lang="en-US" dirty="0"/>
          </a:p>
        </p:txBody>
      </p:sp>
      <p:sp>
        <p:nvSpPr>
          <p:cNvPr id="6" name="Text Placeholder 5">
            <a:extLst>
              <a:ext uri="{FF2B5EF4-FFF2-40B4-BE49-F238E27FC236}">
                <a16:creationId xmlns:a16="http://schemas.microsoft.com/office/drawing/2014/main" id="{12D3CFAE-0D7A-D1F7-6FA7-141F3DBA072F}"/>
              </a:ext>
            </a:extLst>
          </p:cNvPr>
          <p:cNvSpPr>
            <a:spLocks noGrp="1"/>
          </p:cNvSpPr>
          <p:nvPr>
            <p:ph type="body" sz="quarter" idx="11"/>
          </p:nvPr>
        </p:nvSpPr>
        <p:spPr/>
        <p:txBody>
          <a:bodyPr/>
          <a:lstStyle/>
          <a:p>
            <a:r>
              <a:rPr lang="en-US" dirty="0"/>
              <a:t>Post Convergence Path</a:t>
            </a:r>
          </a:p>
        </p:txBody>
      </p:sp>
      <p:sp>
        <p:nvSpPr>
          <p:cNvPr id="7" name="Elipse 6">
            <a:extLst>
              <a:ext uri="{FF2B5EF4-FFF2-40B4-BE49-F238E27FC236}">
                <a16:creationId xmlns:a16="http://schemas.microsoft.com/office/drawing/2014/main" id="{1F1F086D-0210-8973-9941-EC1867D57D8B}"/>
              </a:ext>
            </a:extLst>
          </p:cNvPr>
          <p:cNvSpPr/>
          <p:nvPr/>
        </p:nvSpPr>
        <p:spPr>
          <a:xfrm>
            <a:off x="7386267" y="3910749"/>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a:latin typeface="+mj-lt"/>
              </a:rPr>
              <a:t>4</a:t>
            </a:r>
          </a:p>
        </p:txBody>
      </p:sp>
      <p:sp>
        <p:nvSpPr>
          <p:cNvPr id="8" name="Elipse 6">
            <a:extLst>
              <a:ext uri="{FF2B5EF4-FFF2-40B4-BE49-F238E27FC236}">
                <a16:creationId xmlns:a16="http://schemas.microsoft.com/office/drawing/2014/main" id="{04FAA97D-66CB-1CFF-FA1E-CCB41BF117DF}"/>
              </a:ext>
            </a:extLst>
          </p:cNvPr>
          <p:cNvSpPr/>
          <p:nvPr/>
        </p:nvSpPr>
        <p:spPr>
          <a:xfrm>
            <a:off x="9812491" y="5030549"/>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a:latin typeface="+mj-lt"/>
              </a:rPr>
              <a:t>6</a:t>
            </a:r>
          </a:p>
        </p:txBody>
      </p:sp>
      <p:sp>
        <p:nvSpPr>
          <p:cNvPr id="9" name="Elipse 6">
            <a:extLst>
              <a:ext uri="{FF2B5EF4-FFF2-40B4-BE49-F238E27FC236}">
                <a16:creationId xmlns:a16="http://schemas.microsoft.com/office/drawing/2014/main" id="{8C5D90FA-B3DF-AC49-CCCF-738012A9D04D}"/>
              </a:ext>
            </a:extLst>
          </p:cNvPr>
          <p:cNvSpPr/>
          <p:nvPr/>
        </p:nvSpPr>
        <p:spPr>
          <a:xfrm>
            <a:off x="7386267" y="5030549"/>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dirty="0">
                <a:latin typeface="+mj-lt"/>
              </a:rPr>
              <a:t>5</a:t>
            </a:r>
          </a:p>
        </p:txBody>
      </p:sp>
      <p:sp>
        <p:nvSpPr>
          <p:cNvPr id="10" name="Elipse 6">
            <a:extLst>
              <a:ext uri="{FF2B5EF4-FFF2-40B4-BE49-F238E27FC236}">
                <a16:creationId xmlns:a16="http://schemas.microsoft.com/office/drawing/2014/main" id="{C15DFDE9-E09E-BA10-F8E0-ED05CB6AD5AA}"/>
              </a:ext>
            </a:extLst>
          </p:cNvPr>
          <p:cNvSpPr/>
          <p:nvPr/>
        </p:nvSpPr>
        <p:spPr>
          <a:xfrm>
            <a:off x="9812491" y="2790948"/>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a:latin typeface="+mj-lt"/>
              </a:rPr>
              <a:t>3</a:t>
            </a:r>
          </a:p>
        </p:txBody>
      </p:sp>
      <p:sp>
        <p:nvSpPr>
          <p:cNvPr id="11" name="Elipse 6">
            <a:extLst>
              <a:ext uri="{FF2B5EF4-FFF2-40B4-BE49-F238E27FC236}">
                <a16:creationId xmlns:a16="http://schemas.microsoft.com/office/drawing/2014/main" id="{2AB71C8B-EFD4-8A3A-C38C-1F01AB615FC5}"/>
              </a:ext>
            </a:extLst>
          </p:cNvPr>
          <p:cNvSpPr/>
          <p:nvPr/>
        </p:nvSpPr>
        <p:spPr>
          <a:xfrm>
            <a:off x="7386267" y="2790948"/>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a:latin typeface="+mj-lt"/>
              </a:rPr>
              <a:t>2</a:t>
            </a:r>
          </a:p>
        </p:txBody>
      </p:sp>
      <p:sp>
        <p:nvSpPr>
          <p:cNvPr id="12" name="Elipse 6">
            <a:extLst>
              <a:ext uri="{FF2B5EF4-FFF2-40B4-BE49-F238E27FC236}">
                <a16:creationId xmlns:a16="http://schemas.microsoft.com/office/drawing/2014/main" id="{DBB113AB-4851-F24C-8E8A-4C108D91615E}"/>
              </a:ext>
            </a:extLst>
          </p:cNvPr>
          <p:cNvSpPr/>
          <p:nvPr/>
        </p:nvSpPr>
        <p:spPr>
          <a:xfrm>
            <a:off x="7386267" y="1671147"/>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a:latin typeface="+mj-lt"/>
              </a:rPr>
              <a:t>1</a:t>
            </a:r>
          </a:p>
        </p:txBody>
      </p:sp>
      <p:cxnSp>
        <p:nvCxnSpPr>
          <p:cNvPr id="13" name="Straight Arrow Connector 12">
            <a:extLst>
              <a:ext uri="{FF2B5EF4-FFF2-40B4-BE49-F238E27FC236}">
                <a16:creationId xmlns:a16="http://schemas.microsoft.com/office/drawing/2014/main" id="{3D583F15-9406-FEA8-4FA0-41FA1793EB3F}"/>
              </a:ext>
            </a:extLst>
          </p:cNvPr>
          <p:cNvCxnSpPr>
            <a:cxnSpLocks/>
            <a:stCxn id="7" idx="0"/>
            <a:endCxn id="11" idx="4"/>
          </p:cNvCxnSpPr>
          <p:nvPr/>
        </p:nvCxnSpPr>
        <p:spPr bwMode="auto">
          <a:xfrm flipV="1">
            <a:off x="7674267" y="3366949"/>
            <a:ext cx="0" cy="543801"/>
          </a:xfrm>
          <a:prstGeom prst="straightConnector1">
            <a:avLst/>
          </a:prstGeom>
          <a:solidFill>
            <a:srgbClr val="0183B7"/>
          </a:solidFill>
          <a:ln w="25400" cap="flat" cmpd="sng" algn="ctr">
            <a:solidFill>
              <a:schemeClr val="accent2"/>
            </a:solidFill>
            <a:prstDash val="solid"/>
            <a:round/>
            <a:headEnd type="none" w="med" len="med"/>
            <a:tailEnd type="none" w="med" len="med"/>
          </a:ln>
          <a:effectLst/>
        </p:spPr>
      </p:cxnSp>
      <p:cxnSp>
        <p:nvCxnSpPr>
          <p:cNvPr id="15" name="Straight Arrow Connector 14">
            <a:extLst>
              <a:ext uri="{FF2B5EF4-FFF2-40B4-BE49-F238E27FC236}">
                <a16:creationId xmlns:a16="http://schemas.microsoft.com/office/drawing/2014/main" id="{41884E08-1617-8EBC-81BF-9336106FE8EC}"/>
              </a:ext>
            </a:extLst>
          </p:cNvPr>
          <p:cNvCxnSpPr>
            <a:cxnSpLocks/>
            <a:stCxn id="9" idx="6"/>
            <a:endCxn id="8" idx="2"/>
          </p:cNvCxnSpPr>
          <p:nvPr/>
        </p:nvCxnSpPr>
        <p:spPr bwMode="auto">
          <a:xfrm>
            <a:off x="7962267" y="5318549"/>
            <a:ext cx="1850224" cy="0"/>
          </a:xfrm>
          <a:prstGeom prst="straightConnector1">
            <a:avLst/>
          </a:prstGeom>
          <a:solidFill>
            <a:srgbClr val="0183B7"/>
          </a:solidFill>
          <a:ln w="25400" cap="flat" cmpd="sng" algn="ctr">
            <a:solidFill>
              <a:schemeClr val="accent2"/>
            </a:solidFill>
            <a:prstDash val="solid"/>
            <a:round/>
            <a:headEnd type="none" w="med" len="med"/>
            <a:tailEnd type="none" w="med" len="med"/>
          </a:ln>
          <a:effectLst/>
        </p:spPr>
      </p:cxnSp>
      <p:cxnSp>
        <p:nvCxnSpPr>
          <p:cNvPr id="16" name="Straight Arrow Connector 15">
            <a:extLst>
              <a:ext uri="{FF2B5EF4-FFF2-40B4-BE49-F238E27FC236}">
                <a16:creationId xmlns:a16="http://schemas.microsoft.com/office/drawing/2014/main" id="{0964AF5A-79FB-A4CD-8AEE-4063C3BA4F00}"/>
              </a:ext>
            </a:extLst>
          </p:cNvPr>
          <p:cNvCxnSpPr>
            <a:cxnSpLocks/>
            <a:stCxn id="7" idx="4"/>
          </p:cNvCxnSpPr>
          <p:nvPr/>
        </p:nvCxnSpPr>
        <p:spPr bwMode="auto">
          <a:xfrm>
            <a:off x="7674267" y="4486749"/>
            <a:ext cx="0" cy="543800"/>
          </a:xfrm>
          <a:prstGeom prst="straightConnector1">
            <a:avLst/>
          </a:prstGeom>
          <a:solidFill>
            <a:srgbClr val="0183B7"/>
          </a:solidFill>
          <a:ln w="25400" cap="flat" cmpd="sng" algn="ctr">
            <a:solidFill>
              <a:schemeClr val="accent2"/>
            </a:solidFill>
            <a:prstDash val="solid"/>
            <a:round/>
            <a:headEnd type="none" w="med" len="med"/>
            <a:tailEnd type="none" w="med" len="med"/>
          </a:ln>
          <a:effectLst/>
        </p:spPr>
      </p:cxnSp>
      <p:cxnSp>
        <p:nvCxnSpPr>
          <p:cNvPr id="17" name="Straight Arrow Connector 16">
            <a:extLst>
              <a:ext uri="{FF2B5EF4-FFF2-40B4-BE49-F238E27FC236}">
                <a16:creationId xmlns:a16="http://schemas.microsoft.com/office/drawing/2014/main" id="{D6754861-3435-2875-03B8-ECE0CB5BEF09}"/>
              </a:ext>
            </a:extLst>
          </p:cNvPr>
          <p:cNvCxnSpPr>
            <a:cxnSpLocks/>
            <a:stCxn id="10" idx="4"/>
            <a:endCxn id="8" idx="0"/>
          </p:cNvCxnSpPr>
          <p:nvPr/>
        </p:nvCxnSpPr>
        <p:spPr bwMode="auto">
          <a:xfrm>
            <a:off x="10100491" y="3366949"/>
            <a:ext cx="0" cy="1663601"/>
          </a:xfrm>
          <a:prstGeom prst="straightConnector1">
            <a:avLst/>
          </a:prstGeom>
          <a:solidFill>
            <a:srgbClr val="0183B7"/>
          </a:solidFill>
          <a:ln w="25400" cap="flat" cmpd="sng" algn="ctr">
            <a:solidFill>
              <a:schemeClr val="accent2"/>
            </a:solidFill>
            <a:prstDash val="solid"/>
            <a:round/>
            <a:headEnd type="none" w="med" len="med"/>
            <a:tailEnd type="none" w="med" len="med"/>
          </a:ln>
          <a:effectLst/>
        </p:spPr>
      </p:cxnSp>
      <p:cxnSp>
        <p:nvCxnSpPr>
          <p:cNvPr id="18" name="Straight Arrow Connector 17">
            <a:extLst>
              <a:ext uri="{FF2B5EF4-FFF2-40B4-BE49-F238E27FC236}">
                <a16:creationId xmlns:a16="http://schemas.microsoft.com/office/drawing/2014/main" id="{A305550D-5AB0-F39B-C092-C84E7B1D5660}"/>
              </a:ext>
            </a:extLst>
          </p:cNvPr>
          <p:cNvCxnSpPr>
            <a:cxnSpLocks/>
            <a:stCxn id="10" idx="0"/>
            <a:endCxn id="32" idx="4"/>
          </p:cNvCxnSpPr>
          <p:nvPr/>
        </p:nvCxnSpPr>
        <p:spPr bwMode="auto">
          <a:xfrm flipV="1">
            <a:off x="10100491" y="2247148"/>
            <a:ext cx="0" cy="543801"/>
          </a:xfrm>
          <a:prstGeom prst="straightConnector1">
            <a:avLst/>
          </a:prstGeom>
          <a:solidFill>
            <a:srgbClr val="0183B7"/>
          </a:solidFill>
          <a:ln w="25400" cap="flat" cmpd="sng" algn="ctr">
            <a:solidFill>
              <a:schemeClr val="accent2"/>
            </a:solidFill>
            <a:prstDash val="solid"/>
            <a:round/>
            <a:headEnd type="none" w="med" len="med"/>
            <a:tailEnd type="none" w="med" len="med"/>
          </a:ln>
          <a:effectLst/>
        </p:spPr>
      </p:cxnSp>
      <p:cxnSp>
        <p:nvCxnSpPr>
          <p:cNvPr id="19" name="Straight Arrow Connector 18">
            <a:extLst>
              <a:ext uri="{FF2B5EF4-FFF2-40B4-BE49-F238E27FC236}">
                <a16:creationId xmlns:a16="http://schemas.microsoft.com/office/drawing/2014/main" id="{BC99D32B-205B-39D9-3476-43291E43C486}"/>
              </a:ext>
            </a:extLst>
          </p:cNvPr>
          <p:cNvCxnSpPr>
            <a:cxnSpLocks/>
            <a:stCxn id="12" idx="4"/>
            <a:endCxn id="11" idx="0"/>
          </p:cNvCxnSpPr>
          <p:nvPr/>
        </p:nvCxnSpPr>
        <p:spPr bwMode="auto">
          <a:xfrm>
            <a:off x="7674267" y="2247148"/>
            <a:ext cx="0" cy="543801"/>
          </a:xfrm>
          <a:prstGeom prst="straightConnector1">
            <a:avLst/>
          </a:prstGeom>
          <a:solidFill>
            <a:srgbClr val="0183B7"/>
          </a:solidFill>
          <a:ln w="25400" cap="flat" cmpd="sng" algn="ctr">
            <a:solidFill>
              <a:schemeClr val="accent2"/>
            </a:solidFill>
            <a:prstDash val="solid"/>
            <a:round/>
            <a:headEnd type="none" w="med" len="med"/>
            <a:tailEnd type="none" w="med" len="med"/>
          </a:ln>
          <a:effectLst/>
        </p:spPr>
      </p:cxnSp>
      <p:sp>
        <p:nvSpPr>
          <p:cNvPr id="32" name="Elipse 6">
            <a:extLst>
              <a:ext uri="{FF2B5EF4-FFF2-40B4-BE49-F238E27FC236}">
                <a16:creationId xmlns:a16="http://schemas.microsoft.com/office/drawing/2014/main" id="{72450909-B5E8-864D-1D51-8F03EE633DF1}"/>
              </a:ext>
            </a:extLst>
          </p:cNvPr>
          <p:cNvSpPr/>
          <p:nvPr/>
        </p:nvSpPr>
        <p:spPr>
          <a:xfrm>
            <a:off x="9812491" y="1671147"/>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a:latin typeface="+mj-lt"/>
              </a:rPr>
              <a:t>7</a:t>
            </a:r>
          </a:p>
        </p:txBody>
      </p:sp>
      <p:sp>
        <p:nvSpPr>
          <p:cNvPr id="22" name="TextBox 21">
            <a:extLst>
              <a:ext uri="{FF2B5EF4-FFF2-40B4-BE49-F238E27FC236}">
                <a16:creationId xmlns:a16="http://schemas.microsoft.com/office/drawing/2014/main" id="{2909A656-BA62-7C2F-FD40-06BF14F35DCB}"/>
              </a:ext>
            </a:extLst>
          </p:cNvPr>
          <p:cNvSpPr txBox="1"/>
          <p:nvPr/>
        </p:nvSpPr>
        <p:spPr>
          <a:xfrm>
            <a:off x="7858023" y="6238714"/>
            <a:ext cx="2065416" cy="297423"/>
          </a:xfrm>
          <a:prstGeom prst="rect">
            <a:avLst/>
          </a:prstGeom>
          <a:noFill/>
        </p:spPr>
        <p:txBody>
          <a:bodyPr wrap="square" lIns="91408" tIns="45705" rIns="91408" bIns="45705" rtlCol="0">
            <a:spAutoFit/>
          </a:bodyPr>
          <a:lstStyle/>
          <a:p>
            <a:pPr algn="ctr" defTabSz="609199"/>
            <a:r>
              <a:rPr lang="en-US" sz="1333">
                <a:latin typeface="+mj-lt"/>
              </a:rPr>
              <a:t>Default metric: </a:t>
            </a:r>
            <a:r>
              <a:rPr lang="en-US" sz="1333" u="sng">
                <a:latin typeface="+mj-lt"/>
              </a:rPr>
              <a:t>10</a:t>
            </a:r>
          </a:p>
        </p:txBody>
      </p:sp>
      <p:sp>
        <p:nvSpPr>
          <p:cNvPr id="34" name="TextBox 33">
            <a:extLst>
              <a:ext uri="{FF2B5EF4-FFF2-40B4-BE49-F238E27FC236}">
                <a16:creationId xmlns:a16="http://schemas.microsoft.com/office/drawing/2014/main" id="{C9CBE1A5-BDCF-3349-E9E2-338130D8DAA6}"/>
              </a:ext>
            </a:extLst>
          </p:cNvPr>
          <p:cNvSpPr txBox="1"/>
          <p:nvPr/>
        </p:nvSpPr>
        <p:spPr>
          <a:xfrm>
            <a:off x="10232959" y="1332593"/>
            <a:ext cx="1285929" cy="461665"/>
          </a:xfrm>
          <a:prstGeom prst="rect">
            <a:avLst/>
          </a:prstGeom>
          <a:noFill/>
        </p:spPr>
        <p:txBody>
          <a:bodyPr wrap="none" rtlCol="0">
            <a:spAutoFit/>
          </a:bodyPr>
          <a:lstStyle/>
          <a:p>
            <a:r>
              <a:rPr lang="en-US" sz="1200" dirty="0"/>
              <a:t>Locator:</a:t>
            </a:r>
          </a:p>
          <a:p>
            <a:r>
              <a:rPr lang="en-US" sz="1200" dirty="0" err="1"/>
              <a:t>fcbb:bb00:7</a:t>
            </a:r>
            <a:r>
              <a:rPr lang="en-US" sz="1200" dirty="0"/>
              <a:t>::/48</a:t>
            </a:r>
          </a:p>
        </p:txBody>
      </p:sp>
      <p:sp>
        <p:nvSpPr>
          <p:cNvPr id="20" name="TextBox 19">
            <a:extLst>
              <a:ext uri="{FF2B5EF4-FFF2-40B4-BE49-F238E27FC236}">
                <a16:creationId xmlns:a16="http://schemas.microsoft.com/office/drawing/2014/main" id="{A575CBA8-F85F-26E7-A559-643F36C03B92}"/>
              </a:ext>
            </a:extLst>
          </p:cNvPr>
          <p:cNvSpPr txBox="1"/>
          <p:nvPr/>
        </p:nvSpPr>
        <p:spPr>
          <a:xfrm>
            <a:off x="7292266" y="3321563"/>
            <a:ext cx="365806" cy="297454"/>
          </a:xfrm>
          <a:prstGeom prst="rect">
            <a:avLst/>
          </a:prstGeom>
          <a:noFill/>
        </p:spPr>
        <p:txBody>
          <a:bodyPr wrap="none" rtlCol="0">
            <a:spAutoFit/>
          </a:bodyPr>
          <a:lstStyle/>
          <a:p>
            <a:r>
              <a:rPr lang="en-US" sz="1333"/>
              <a:t>if1</a:t>
            </a:r>
          </a:p>
        </p:txBody>
      </p:sp>
      <p:sp>
        <p:nvSpPr>
          <p:cNvPr id="23" name="TextBox 22">
            <a:extLst>
              <a:ext uri="{FF2B5EF4-FFF2-40B4-BE49-F238E27FC236}">
                <a16:creationId xmlns:a16="http://schemas.microsoft.com/office/drawing/2014/main" id="{35CA9799-93ED-EEA4-B4D8-2DCCA9DD8525}"/>
              </a:ext>
            </a:extLst>
          </p:cNvPr>
          <p:cNvSpPr txBox="1"/>
          <p:nvPr/>
        </p:nvSpPr>
        <p:spPr>
          <a:xfrm>
            <a:off x="7686490" y="2514178"/>
            <a:ext cx="543739" cy="307777"/>
          </a:xfrm>
          <a:prstGeom prst="rect">
            <a:avLst/>
          </a:prstGeom>
          <a:noFill/>
        </p:spPr>
        <p:txBody>
          <a:bodyPr wrap="none" rtlCol="0">
            <a:spAutoFit/>
          </a:bodyPr>
          <a:lstStyle/>
          <a:p>
            <a:r>
              <a:rPr lang="en-US" sz="1400" b="1"/>
              <a:t>PLR</a:t>
            </a:r>
          </a:p>
        </p:txBody>
      </p:sp>
      <p:grpSp>
        <p:nvGrpSpPr>
          <p:cNvPr id="35" name="Group 34">
            <a:extLst>
              <a:ext uri="{FF2B5EF4-FFF2-40B4-BE49-F238E27FC236}">
                <a16:creationId xmlns:a16="http://schemas.microsoft.com/office/drawing/2014/main" id="{B36C71CA-6922-0CC1-C2DA-F494BB05A215}"/>
              </a:ext>
            </a:extLst>
          </p:cNvPr>
          <p:cNvGrpSpPr/>
          <p:nvPr/>
        </p:nvGrpSpPr>
        <p:grpSpPr>
          <a:xfrm>
            <a:off x="7581464" y="4535622"/>
            <a:ext cx="2607525" cy="429681"/>
            <a:chOff x="3579621" y="4000665"/>
            <a:chExt cx="1955644" cy="322261"/>
          </a:xfrm>
        </p:grpSpPr>
        <p:sp>
          <p:nvSpPr>
            <p:cNvPr id="25" name="Rectángulo redondeado 66">
              <a:extLst>
                <a:ext uri="{FF2B5EF4-FFF2-40B4-BE49-F238E27FC236}">
                  <a16:creationId xmlns:a16="http://schemas.microsoft.com/office/drawing/2014/main" id="{2C561B64-0BB1-E065-B289-50B52A54E3BC}"/>
                </a:ext>
              </a:extLst>
            </p:cNvPr>
            <p:cNvSpPr/>
            <p:nvPr/>
          </p:nvSpPr>
          <p:spPr>
            <a:xfrm rot="10800000">
              <a:off x="3579623" y="4161795"/>
              <a:ext cx="1955641" cy="161131"/>
            </a:xfrm>
            <a:prstGeom prst="round2SameRect">
              <a:avLst/>
            </a:prstGeom>
            <a:solidFill>
              <a:schemeClr val="bg2">
                <a:lumMod val="75000"/>
              </a:schemeClr>
            </a:solidFill>
            <a:ln w="25400" cap="flat" cmpd="sng" algn="ctr">
              <a:noFill/>
              <a:prstDash val="solid"/>
            </a:ln>
            <a:effectLst/>
          </p:spPr>
          <p:txBody>
            <a:bodyPr vert="horz" lIns="0" tIns="0" rIns="0" bIns="0" rtlCol="0" anchor="ctr"/>
            <a:lstStyle/>
            <a:p>
              <a:pPr algn="ctr" defTabSz="1219140">
                <a:defRPr/>
              </a:pPr>
              <a:endParaRPr lang="es-ES_tradnl" sz="933" kern="0">
                <a:latin typeface="CiscoSansTT ExtraLight"/>
              </a:endParaRPr>
            </a:p>
          </p:txBody>
        </p:sp>
        <p:sp>
          <p:nvSpPr>
            <p:cNvPr id="26" name="TextBox 25">
              <a:extLst>
                <a:ext uri="{FF2B5EF4-FFF2-40B4-BE49-F238E27FC236}">
                  <a16:creationId xmlns:a16="http://schemas.microsoft.com/office/drawing/2014/main" id="{D142CAA2-AD5F-0DF3-8563-EDD52AB8728C}"/>
                </a:ext>
              </a:extLst>
            </p:cNvPr>
            <p:cNvSpPr txBox="1"/>
            <p:nvPr/>
          </p:nvSpPr>
          <p:spPr>
            <a:xfrm>
              <a:off x="3579621" y="4161795"/>
              <a:ext cx="1955641" cy="161131"/>
            </a:xfrm>
            <a:prstGeom prst="rect">
              <a:avLst/>
            </a:prstGeom>
            <a:noFill/>
          </p:spPr>
          <p:txBody>
            <a:bodyPr wrap="square" lIns="0" tIns="0" rIns="0" bIns="0" rtlCol="0" anchor="ctr">
              <a:normAutofit/>
            </a:bodyPr>
            <a:lstStyle/>
            <a:p>
              <a:pPr algn="ctr" defTabSz="1219140">
                <a:defRPr/>
              </a:pPr>
              <a:r>
                <a:rPr lang="es-ES_tradnl" sz="933" kern="0">
                  <a:latin typeface="CiscoSansTT ExtraLight"/>
                </a:rPr>
                <a:t>DATA</a:t>
              </a:r>
            </a:p>
          </p:txBody>
        </p:sp>
        <p:sp>
          <p:nvSpPr>
            <p:cNvPr id="27" name="Rectángulo redondeado 64">
              <a:extLst>
                <a:ext uri="{FF2B5EF4-FFF2-40B4-BE49-F238E27FC236}">
                  <a16:creationId xmlns:a16="http://schemas.microsoft.com/office/drawing/2014/main" id="{436C1DEB-76DC-BFE6-A30B-AA1795D8D88B}"/>
                </a:ext>
              </a:extLst>
            </p:cNvPr>
            <p:cNvSpPr/>
            <p:nvPr/>
          </p:nvSpPr>
          <p:spPr>
            <a:xfrm rot="16200000">
              <a:off x="3695035" y="3885712"/>
              <a:ext cx="161130" cy="391036"/>
            </a:xfrm>
            <a:prstGeom prst="round1Rect">
              <a:avLst/>
            </a:prstGeom>
            <a:solidFill>
              <a:schemeClr val="accent2"/>
            </a:solidFill>
            <a:ln w="25400" cap="flat" cmpd="sng" algn="ctr">
              <a:noFill/>
              <a:prstDash val="solid"/>
            </a:ln>
            <a:effectLst/>
          </p:spPr>
          <p:txBody>
            <a:bodyPr vert="vert" lIns="0" tIns="0" rIns="0" bIns="0" rtlCol="0" anchor="ctr"/>
            <a:lstStyle/>
            <a:p>
              <a:pPr algn="ctr" defTabSz="1219140">
                <a:defRPr/>
              </a:pPr>
              <a:r>
                <a:rPr lang="es-ES_tradnl" sz="933" kern="0">
                  <a:latin typeface="CiscoSansTT ExtraLight"/>
                </a:rPr>
                <a:t>IPv6</a:t>
              </a:r>
              <a:endParaRPr lang="es-ES_tradnl" sz="933" b="1" kern="0">
                <a:latin typeface="CiscoSansTT ExtraLight"/>
              </a:endParaRPr>
            </a:p>
          </p:txBody>
        </p:sp>
        <p:sp>
          <p:nvSpPr>
            <p:cNvPr id="28" name="Rectángulo redondeado 64">
              <a:extLst>
                <a:ext uri="{FF2B5EF4-FFF2-40B4-BE49-F238E27FC236}">
                  <a16:creationId xmlns:a16="http://schemas.microsoft.com/office/drawing/2014/main" id="{29A6212B-2BEC-CFAC-B47A-32EBF3596665}"/>
                </a:ext>
              </a:extLst>
            </p:cNvPr>
            <p:cNvSpPr/>
            <p:nvPr/>
          </p:nvSpPr>
          <p:spPr>
            <a:xfrm>
              <a:off x="3971116" y="4000666"/>
              <a:ext cx="1564149" cy="161131"/>
            </a:xfrm>
            <a:prstGeom prst="round1Rect">
              <a:avLst/>
            </a:prstGeom>
            <a:solidFill>
              <a:schemeClr val="accent2">
                <a:lumMod val="20000"/>
                <a:lumOff val="80000"/>
              </a:schemeClr>
            </a:solidFill>
            <a:ln w="25400" cap="flat" cmpd="sng" algn="ctr">
              <a:noFill/>
              <a:prstDash val="solid"/>
            </a:ln>
            <a:effectLst/>
          </p:spPr>
          <p:txBody>
            <a:bodyPr vert="horz" lIns="0" tIns="0" rIns="0" bIns="0" rtlCol="0" anchor="ctr"/>
            <a:lstStyle/>
            <a:p>
              <a:pPr algn="ctr" defTabSz="1219140">
                <a:defRPr/>
              </a:pPr>
              <a:r>
                <a:rPr lang="es-ES_tradnl" sz="933" kern="0">
                  <a:latin typeface="CiscoSansTT ExtraLight"/>
                </a:rPr>
                <a:t>SA = 1::1, DA = </a:t>
              </a:r>
              <a:r>
                <a:rPr lang="es-ES_tradnl" sz="933" b="1" kern="0">
                  <a:latin typeface="CiscoSansTT ExtraLight"/>
                </a:rPr>
                <a:t>fcbb:bb00:7:e000</a:t>
              </a:r>
            </a:p>
          </p:txBody>
        </p:sp>
      </p:grpSp>
      <p:sp>
        <p:nvSpPr>
          <p:cNvPr id="29" name="Freeform: Shape 30">
            <a:extLst>
              <a:ext uri="{FF2B5EF4-FFF2-40B4-BE49-F238E27FC236}">
                <a16:creationId xmlns:a16="http://schemas.microsoft.com/office/drawing/2014/main" id="{B6BB14E1-2971-FE31-F216-9F17A6C78DAB}"/>
              </a:ext>
            </a:extLst>
          </p:cNvPr>
          <p:cNvSpPr/>
          <p:nvPr/>
        </p:nvSpPr>
        <p:spPr>
          <a:xfrm>
            <a:off x="7037216" y="2183641"/>
            <a:ext cx="3696021" cy="3526467"/>
          </a:xfrm>
          <a:custGeom>
            <a:avLst/>
            <a:gdLst>
              <a:gd name="connsiteX0" fmla="*/ 244882 w 2772016"/>
              <a:gd name="connsiteY0" fmla="*/ 0 h 2644850"/>
              <a:gd name="connsiteX1" fmla="*/ 217587 w 2772016"/>
              <a:gd name="connsiteY1" fmla="*/ 2347415 h 2644850"/>
              <a:gd name="connsiteX2" fmla="*/ 2569551 w 2772016"/>
              <a:gd name="connsiteY2" fmla="*/ 2361063 h 2644850"/>
              <a:gd name="connsiteX3" fmla="*/ 2492213 w 2772016"/>
              <a:gd name="connsiteY3" fmla="*/ 59141 h 2644850"/>
            </a:gdLst>
            <a:ahLst/>
            <a:cxnLst>
              <a:cxn ang="0">
                <a:pos x="connsiteX0" y="connsiteY0"/>
              </a:cxn>
              <a:cxn ang="0">
                <a:pos x="connsiteX1" y="connsiteY1"/>
              </a:cxn>
              <a:cxn ang="0">
                <a:pos x="connsiteX2" y="connsiteY2"/>
              </a:cxn>
              <a:cxn ang="0">
                <a:pos x="connsiteX3" y="connsiteY3"/>
              </a:cxn>
            </a:cxnLst>
            <a:rect l="l" t="t" r="r" b="b"/>
            <a:pathLst>
              <a:path w="2772016" h="2644850">
                <a:moveTo>
                  <a:pt x="244882" y="0"/>
                </a:moveTo>
                <a:cubicBezTo>
                  <a:pt x="37512" y="976952"/>
                  <a:pt x="-169858" y="1953905"/>
                  <a:pt x="217587" y="2347415"/>
                </a:cubicBezTo>
                <a:cubicBezTo>
                  <a:pt x="605032" y="2740925"/>
                  <a:pt x="2190447" y="2742442"/>
                  <a:pt x="2569551" y="2361063"/>
                </a:cubicBezTo>
                <a:cubicBezTo>
                  <a:pt x="2948655" y="1979684"/>
                  <a:pt x="2720434" y="1019412"/>
                  <a:pt x="2492213" y="59141"/>
                </a:cubicBezTo>
              </a:path>
            </a:pathLst>
          </a:custGeom>
          <a:noFill/>
          <a:ln w="57150">
            <a:solidFill>
              <a:srgbClr val="00B050"/>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lIns="91408" tIns="45705" rIns="91408" bIns="45705" rtlCol="0" anchor="ctr"/>
          <a:lstStyle/>
          <a:p>
            <a:pPr algn="ctr" defTabSz="609199"/>
            <a:endParaRPr lang="en-US" sz="2400">
              <a:solidFill>
                <a:schemeClr val="tx1"/>
              </a:solidFill>
              <a:latin typeface="Arial"/>
            </a:endParaRPr>
          </a:p>
        </p:txBody>
      </p:sp>
      <p:grpSp>
        <p:nvGrpSpPr>
          <p:cNvPr id="30" name="Group 29">
            <a:extLst>
              <a:ext uri="{FF2B5EF4-FFF2-40B4-BE49-F238E27FC236}">
                <a16:creationId xmlns:a16="http://schemas.microsoft.com/office/drawing/2014/main" id="{0B68AB37-D041-3E90-725A-BEAE976CEE67}"/>
              </a:ext>
            </a:extLst>
          </p:cNvPr>
          <p:cNvGrpSpPr/>
          <p:nvPr/>
        </p:nvGrpSpPr>
        <p:grpSpPr>
          <a:xfrm>
            <a:off x="9926300" y="5606547"/>
            <a:ext cx="1806164" cy="803092"/>
            <a:chOff x="7562305" y="4502662"/>
            <a:chExt cx="1354623" cy="602319"/>
          </a:xfrm>
        </p:grpSpPr>
        <p:grpSp>
          <p:nvGrpSpPr>
            <p:cNvPr id="36" name="Group 35">
              <a:extLst>
                <a:ext uri="{FF2B5EF4-FFF2-40B4-BE49-F238E27FC236}">
                  <a16:creationId xmlns:a16="http://schemas.microsoft.com/office/drawing/2014/main" id="{03323FB8-ABF9-AB9C-CEEB-4ED5C249B930}"/>
                </a:ext>
              </a:extLst>
            </p:cNvPr>
            <p:cNvGrpSpPr/>
            <p:nvPr/>
          </p:nvGrpSpPr>
          <p:grpSpPr>
            <a:xfrm>
              <a:off x="7562305" y="4502662"/>
              <a:ext cx="1304032" cy="223091"/>
              <a:chOff x="4207550" y="4284065"/>
              <a:chExt cx="1304032" cy="223091"/>
            </a:xfrm>
          </p:grpSpPr>
          <p:cxnSp>
            <p:nvCxnSpPr>
              <p:cNvPr id="43" name="Straight Connector 42">
                <a:extLst>
                  <a:ext uri="{FF2B5EF4-FFF2-40B4-BE49-F238E27FC236}">
                    <a16:creationId xmlns:a16="http://schemas.microsoft.com/office/drawing/2014/main" id="{90E49882-CB00-A53F-2B3A-69EC1428432C}"/>
                  </a:ext>
                </a:extLst>
              </p:cNvPr>
              <p:cNvCxnSpPr/>
              <p:nvPr/>
            </p:nvCxnSpPr>
            <p:spPr>
              <a:xfrm flipV="1">
                <a:off x="4207550" y="4411326"/>
                <a:ext cx="324862" cy="7088"/>
              </a:xfrm>
              <a:prstGeom prst="line">
                <a:avLst/>
              </a:prstGeom>
              <a:noFill/>
              <a:ln w="38100">
                <a:solidFill>
                  <a:schemeClr val="accent4">
                    <a:alpha val="85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cxnSp>
          <p:sp>
            <p:nvSpPr>
              <p:cNvPr id="44" name="TextBox 43">
                <a:extLst>
                  <a:ext uri="{FF2B5EF4-FFF2-40B4-BE49-F238E27FC236}">
                    <a16:creationId xmlns:a16="http://schemas.microsoft.com/office/drawing/2014/main" id="{EBFB05B5-52D9-4D69-12CF-5F25F4D11661}"/>
                  </a:ext>
                </a:extLst>
              </p:cNvPr>
              <p:cNvSpPr txBox="1"/>
              <p:nvPr/>
            </p:nvSpPr>
            <p:spPr>
              <a:xfrm>
                <a:off x="4497428" y="4284065"/>
                <a:ext cx="1014154" cy="223091"/>
              </a:xfrm>
              <a:prstGeom prst="rect">
                <a:avLst/>
              </a:prstGeom>
              <a:noFill/>
              <a:ln>
                <a:noFill/>
              </a:ln>
            </p:spPr>
            <p:txBody>
              <a:bodyPr wrap="none" lIns="96000" rIns="96000" rtlCol="0">
                <a:spAutoFit/>
              </a:bodyPr>
              <a:lstStyle/>
              <a:p>
                <a:pPr defTabSz="609585" fontAlgn="base">
                  <a:spcBef>
                    <a:spcPct val="0"/>
                  </a:spcBef>
                  <a:spcAft>
                    <a:spcPct val="0"/>
                  </a:spcAft>
                  <a:defRPr/>
                </a:pPr>
                <a:r>
                  <a:rPr lang="en-US" sz="1333">
                    <a:latin typeface="CiscoSansTT ExtraLight"/>
                    <a:ea typeface="ＭＳ Ｐゴシック" charset="0"/>
                  </a:rPr>
                  <a:t>Pre-convergence</a:t>
                </a:r>
              </a:p>
            </p:txBody>
          </p:sp>
        </p:grpSp>
        <p:grpSp>
          <p:nvGrpSpPr>
            <p:cNvPr id="37" name="Group 36">
              <a:extLst>
                <a:ext uri="{FF2B5EF4-FFF2-40B4-BE49-F238E27FC236}">
                  <a16:creationId xmlns:a16="http://schemas.microsoft.com/office/drawing/2014/main" id="{CF7BFDF4-67EA-E8EF-12F8-493A765A8699}"/>
                </a:ext>
              </a:extLst>
            </p:cNvPr>
            <p:cNvGrpSpPr/>
            <p:nvPr/>
          </p:nvGrpSpPr>
          <p:grpSpPr>
            <a:xfrm>
              <a:off x="7562305" y="4881890"/>
              <a:ext cx="1354623" cy="223091"/>
              <a:chOff x="4207550" y="4284065"/>
              <a:chExt cx="1354623" cy="223091"/>
            </a:xfrm>
          </p:grpSpPr>
          <p:cxnSp>
            <p:nvCxnSpPr>
              <p:cNvPr id="41" name="Straight Connector 40">
                <a:extLst>
                  <a:ext uri="{FF2B5EF4-FFF2-40B4-BE49-F238E27FC236}">
                    <a16:creationId xmlns:a16="http://schemas.microsoft.com/office/drawing/2014/main" id="{6045CD64-5E8F-1AB8-C90F-8C39CD64C368}"/>
                  </a:ext>
                </a:extLst>
              </p:cNvPr>
              <p:cNvCxnSpPr/>
              <p:nvPr/>
            </p:nvCxnSpPr>
            <p:spPr>
              <a:xfrm flipV="1">
                <a:off x="4207550" y="4411326"/>
                <a:ext cx="324862" cy="7088"/>
              </a:xfrm>
              <a:prstGeom prst="line">
                <a:avLst/>
              </a:prstGeom>
              <a:noFill/>
              <a:ln w="38100">
                <a:solidFill>
                  <a:srgbClr val="00B050">
                    <a:alpha val="85000"/>
                  </a:srgb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cxnSp>
          <p:sp>
            <p:nvSpPr>
              <p:cNvPr id="42" name="TextBox 41">
                <a:extLst>
                  <a:ext uri="{FF2B5EF4-FFF2-40B4-BE49-F238E27FC236}">
                    <a16:creationId xmlns:a16="http://schemas.microsoft.com/office/drawing/2014/main" id="{A7C8854E-9C61-C9AE-325D-DFBCDE38239E}"/>
                  </a:ext>
                </a:extLst>
              </p:cNvPr>
              <p:cNvSpPr txBox="1"/>
              <p:nvPr/>
            </p:nvSpPr>
            <p:spPr>
              <a:xfrm>
                <a:off x="4497428" y="4284065"/>
                <a:ext cx="1064745" cy="223091"/>
              </a:xfrm>
              <a:prstGeom prst="rect">
                <a:avLst/>
              </a:prstGeom>
              <a:noFill/>
              <a:ln>
                <a:noFill/>
              </a:ln>
            </p:spPr>
            <p:txBody>
              <a:bodyPr wrap="none" lIns="96000" rIns="96000" rtlCol="0">
                <a:spAutoFit/>
              </a:bodyPr>
              <a:lstStyle/>
              <a:p>
                <a:pPr defTabSz="609585" fontAlgn="base">
                  <a:spcBef>
                    <a:spcPct val="0"/>
                  </a:spcBef>
                  <a:spcAft>
                    <a:spcPct val="0"/>
                  </a:spcAft>
                  <a:defRPr/>
                </a:pPr>
                <a:r>
                  <a:rPr lang="en-US" sz="1333">
                    <a:latin typeface="CiscoSansTT ExtraLight"/>
                    <a:ea typeface="ＭＳ Ｐゴシック" charset="0"/>
                  </a:rPr>
                  <a:t>Post-convergence</a:t>
                </a:r>
              </a:p>
            </p:txBody>
          </p:sp>
        </p:grpSp>
        <p:grpSp>
          <p:nvGrpSpPr>
            <p:cNvPr id="38" name="Group 37">
              <a:extLst>
                <a:ext uri="{FF2B5EF4-FFF2-40B4-BE49-F238E27FC236}">
                  <a16:creationId xmlns:a16="http://schemas.microsoft.com/office/drawing/2014/main" id="{0D5147FB-E569-1897-E8A3-4F5E3E3BB8FF}"/>
                </a:ext>
              </a:extLst>
            </p:cNvPr>
            <p:cNvGrpSpPr/>
            <p:nvPr/>
          </p:nvGrpSpPr>
          <p:grpSpPr>
            <a:xfrm>
              <a:off x="7562305" y="4692276"/>
              <a:ext cx="811157" cy="223091"/>
              <a:chOff x="4207550" y="4284065"/>
              <a:chExt cx="811157" cy="223091"/>
            </a:xfrm>
          </p:grpSpPr>
          <p:cxnSp>
            <p:nvCxnSpPr>
              <p:cNvPr id="39" name="Straight Connector 38">
                <a:extLst>
                  <a:ext uri="{FF2B5EF4-FFF2-40B4-BE49-F238E27FC236}">
                    <a16:creationId xmlns:a16="http://schemas.microsoft.com/office/drawing/2014/main" id="{53D0869B-36D6-17BD-EB21-540617226898}"/>
                  </a:ext>
                </a:extLst>
              </p:cNvPr>
              <p:cNvCxnSpPr/>
              <p:nvPr/>
            </p:nvCxnSpPr>
            <p:spPr>
              <a:xfrm flipV="1">
                <a:off x="4207550" y="4411326"/>
                <a:ext cx="324862" cy="7088"/>
              </a:xfrm>
              <a:prstGeom prst="line">
                <a:avLst/>
              </a:prstGeom>
              <a:noFill/>
              <a:ln w="38100">
                <a:solidFill>
                  <a:srgbClr val="7030A0">
                    <a:alpha val="85000"/>
                  </a:srgb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cxnSp>
          <p:sp>
            <p:nvSpPr>
              <p:cNvPr id="40" name="TextBox 39">
                <a:extLst>
                  <a:ext uri="{FF2B5EF4-FFF2-40B4-BE49-F238E27FC236}">
                    <a16:creationId xmlns:a16="http://schemas.microsoft.com/office/drawing/2014/main" id="{C4A7EAD0-D1F7-C66C-F362-9140DB147900}"/>
                  </a:ext>
                </a:extLst>
              </p:cNvPr>
              <p:cNvSpPr txBox="1"/>
              <p:nvPr/>
            </p:nvSpPr>
            <p:spPr>
              <a:xfrm>
                <a:off x="4497428" y="4284065"/>
                <a:ext cx="521279" cy="223091"/>
              </a:xfrm>
              <a:prstGeom prst="rect">
                <a:avLst/>
              </a:prstGeom>
              <a:noFill/>
              <a:ln>
                <a:noFill/>
              </a:ln>
            </p:spPr>
            <p:txBody>
              <a:bodyPr wrap="none" lIns="96000" rIns="96000" rtlCol="0">
                <a:spAutoFit/>
              </a:bodyPr>
              <a:lstStyle/>
              <a:p>
                <a:pPr defTabSz="609585" fontAlgn="base">
                  <a:spcBef>
                    <a:spcPct val="0"/>
                  </a:spcBef>
                  <a:spcAft>
                    <a:spcPct val="0"/>
                  </a:spcAft>
                  <a:defRPr/>
                </a:pPr>
                <a:r>
                  <a:rPr lang="en-US" sz="1333">
                    <a:latin typeface="CiscoSansTT ExtraLight"/>
                    <a:ea typeface="ＭＳ Ｐゴシック" charset="0"/>
                  </a:rPr>
                  <a:t>Backup</a:t>
                </a:r>
              </a:p>
            </p:txBody>
          </p:sp>
        </p:grpSp>
      </p:grpSp>
    </p:spTree>
    <p:extLst>
      <p:ext uri="{BB962C8B-B14F-4D97-AF65-F5344CB8AC3E}">
        <p14:creationId xmlns:p14="http://schemas.microsoft.com/office/powerpoint/2010/main" val="463674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0923F67-C773-B426-7750-36DF2CD3BBD6}"/>
              </a:ext>
            </a:extLst>
          </p:cNvPr>
          <p:cNvSpPr>
            <a:spLocks noGrp="1"/>
          </p:cNvSpPr>
          <p:nvPr>
            <p:ph type="body" sz="quarter" idx="10"/>
          </p:nvPr>
        </p:nvSpPr>
        <p:spPr>
          <a:xfrm>
            <a:off x="873918" y="939338"/>
            <a:ext cx="10444163" cy="5345083"/>
          </a:xfrm>
        </p:spPr>
        <p:txBody>
          <a:bodyPr/>
          <a:lstStyle/>
          <a:p>
            <a:endParaRPr lang="en-US" sz="2400" dirty="0"/>
          </a:p>
          <a:p>
            <a:endParaRPr lang="en-US" dirty="0"/>
          </a:p>
          <a:p>
            <a:endParaRPr lang="en-US" sz="2400" dirty="0"/>
          </a:p>
          <a:p>
            <a:r>
              <a:rPr lang="en-US" sz="2400" dirty="0"/>
              <a:t>In case of SRH packet is subject to TI-LFA</a:t>
            </a:r>
          </a:p>
          <a:p>
            <a:r>
              <a:rPr lang="en-US" sz="2400" dirty="0"/>
              <a:t>New SRH is inserted</a:t>
            </a:r>
          </a:p>
          <a:p>
            <a:endParaRPr lang="en-US" dirty="0"/>
          </a:p>
        </p:txBody>
      </p:sp>
      <p:sp>
        <p:nvSpPr>
          <p:cNvPr id="6" name="Text Placeholder 5">
            <a:extLst>
              <a:ext uri="{FF2B5EF4-FFF2-40B4-BE49-F238E27FC236}">
                <a16:creationId xmlns:a16="http://schemas.microsoft.com/office/drawing/2014/main" id="{AAB5AC40-2957-EF33-C918-C2241EDEA065}"/>
              </a:ext>
            </a:extLst>
          </p:cNvPr>
          <p:cNvSpPr>
            <a:spLocks noGrp="1"/>
          </p:cNvSpPr>
          <p:nvPr>
            <p:ph type="body" sz="quarter" idx="11"/>
          </p:nvPr>
        </p:nvSpPr>
        <p:spPr/>
        <p:txBody>
          <a:bodyPr/>
          <a:lstStyle/>
          <a:p>
            <a:r>
              <a:rPr lang="en-US" dirty="0"/>
              <a:t>TI-LFA for Traffic with SRH</a:t>
            </a:r>
          </a:p>
        </p:txBody>
      </p:sp>
      <p:sp>
        <p:nvSpPr>
          <p:cNvPr id="7" name="Elipse 6">
            <a:extLst>
              <a:ext uri="{FF2B5EF4-FFF2-40B4-BE49-F238E27FC236}">
                <a16:creationId xmlns:a16="http://schemas.microsoft.com/office/drawing/2014/main" id="{1F1F086D-0210-8973-9941-EC1867D57D8B}"/>
              </a:ext>
            </a:extLst>
          </p:cNvPr>
          <p:cNvSpPr/>
          <p:nvPr/>
        </p:nvSpPr>
        <p:spPr>
          <a:xfrm>
            <a:off x="7386267" y="3910749"/>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a:latin typeface="+mj-lt"/>
              </a:rPr>
              <a:t>4</a:t>
            </a:r>
          </a:p>
        </p:txBody>
      </p:sp>
      <p:sp>
        <p:nvSpPr>
          <p:cNvPr id="8" name="Elipse 6">
            <a:extLst>
              <a:ext uri="{FF2B5EF4-FFF2-40B4-BE49-F238E27FC236}">
                <a16:creationId xmlns:a16="http://schemas.microsoft.com/office/drawing/2014/main" id="{04FAA97D-66CB-1CFF-FA1E-CCB41BF117DF}"/>
              </a:ext>
            </a:extLst>
          </p:cNvPr>
          <p:cNvSpPr/>
          <p:nvPr/>
        </p:nvSpPr>
        <p:spPr>
          <a:xfrm>
            <a:off x="9812491" y="5030549"/>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a:latin typeface="+mj-lt"/>
              </a:rPr>
              <a:t>6</a:t>
            </a:r>
          </a:p>
        </p:txBody>
      </p:sp>
      <p:sp>
        <p:nvSpPr>
          <p:cNvPr id="9" name="Elipse 6">
            <a:extLst>
              <a:ext uri="{FF2B5EF4-FFF2-40B4-BE49-F238E27FC236}">
                <a16:creationId xmlns:a16="http://schemas.microsoft.com/office/drawing/2014/main" id="{8C5D90FA-B3DF-AC49-CCCF-738012A9D04D}"/>
              </a:ext>
            </a:extLst>
          </p:cNvPr>
          <p:cNvSpPr/>
          <p:nvPr/>
        </p:nvSpPr>
        <p:spPr>
          <a:xfrm>
            <a:off x="7386267" y="5030549"/>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dirty="0">
                <a:solidFill>
                  <a:schemeClr val="accent5"/>
                </a:solidFill>
                <a:latin typeface="+mj-lt"/>
              </a:rPr>
              <a:t>5</a:t>
            </a:r>
          </a:p>
        </p:txBody>
      </p:sp>
      <p:sp>
        <p:nvSpPr>
          <p:cNvPr id="10" name="Elipse 6">
            <a:extLst>
              <a:ext uri="{FF2B5EF4-FFF2-40B4-BE49-F238E27FC236}">
                <a16:creationId xmlns:a16="http://schemas.microsoft.com/office/drawing/2014/main" id="{C15DFDE9-E09E-BA10-F8E0-ED05CB6AD5AA}"/>
              </a:ext>
            </a:extLst>
          </p:cNvPr>
          <p:cNvSpPr/>
          <p:nvPr/>
        </p:nvSpPr>
        <p:spPr>
          <a:xfrm>
            <a:off x="9812491" y="2790948"/>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a:latin typeface="+mj-lt"/>
              </a:rPr>
              <a:t>3</a:t>
            </a:r>
          </a:p>
        </p:txBody>
      </p:sp>
      <p:sp>
        <p:nvSpPr>
          <p:cNvPr id="11" name="Elipse 6">
            <a:extLst>
              <a:ext uri="{FF2B5EF4-FFF2-40B4-BE49-F238E27FC236}">
                <a16:creationId xmlns:a16="http://schemas.microsoft.com/office/drawing/2014/main" id="{2AB71C8B-EFD4-8A3A-C38C-1F01AB615FC5}"/>
              </a:ext>
            </a:extLst>
          </p:cNvPr>
          <p:cNvSpPr/>
          <p:nvPr/>
        </p:nvSpPr>
        <p:spPr>
          <a:xfrm>
            <a:off x="7386267" y="2790948"/>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a:latin typeface="+mj-lt"/>
              </a:rPr>
              <a:t>2</a:t>
            </a:r>
          </a:p>
        </p:txBody>
      </p:sp>
      <p:sp>
        <p:nvSpPr>
          <p:cNvPr id="12" name="Elipse 6">
            <a:extLst>
              <a:ext uri="{FF2B5EF4-FFF2-40B4-BE49-F238E27FC236}">
                <a16:creationId xmlns:a16="http://schemas.microsoft.com/office/drawing/2014/main" id="{DBB113AB-4851-F24C-8E8A-4C108D91615E}"/>
              </a:ext>
            </a:extLst>
          </p:cNvPr>
          <p:cNvSpPr/>
          <p:nvPr/>
        </p:nvSpPr>
        <p:spPr>
          <a:xfrm>
            <a:off x="7386267" y="1671147"/>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a:latin typeface="+mj-lt"/>
              </a:rPr>
              <a:t>1</a:t>
            </a:r>
          </a:p>
        </p:txBody>
      </p:sp>
      <p:cxnSp>
        <p:nvCxnSpPr>
          <p:cNvPr id="13" name="Straight Arrow Connector 12">
            <a:extLst>
              <a:ext uri="{FF2B5EF4-FFF2-40B4-BE49-F238E27FC236}">
                <a16:creationId xmlns:a16="http://schemas.microsoft.com/office/drawing/2014/main" id="{3D583F15-9406-FEA8-4FA0-41FA1793EB3F}"/>
              </a:ext>
            </a:extLst>
          </p:cNvPr>
          <p:cNvCxnSpPr>
            <a:cxnSpLocks/>
            <a:stCxn id="7" idx="0"/>
            <a:endCxn id="11" idx="4"/>
          </p:cNvCxnSpPr>
          <p:nvPr/>
        </p:nvCxnSpPr>
        <p:spPr bwMode="auto">
          <a:xfrm flipV="1">
            <a:off x="7674267" y="3366949"/>
            <a:ext cx="0" cy="543801"/>
          </a:xfrm>
          <a:prstGeom prst="straightConnector1">
            <a:avLst/>
          </a:prstGeom>
          <a:solidFill>
            <a:srgbClr val="0183B7"/>
          </a:solidFill>
          <a:ln w="25400" cap="flat" cmpd="sng" algn="ctr">
            <a:solidFill>
              <a:schemeClr val="accent2"/>
            </a:solidFill>
            <a:prstDash val="solid"/>
            <a:round/>
            <a:headEnd type="none" w="med" len="med"/>
            <a:tailEnd type="none" w="med" len="med"/>
          </a:ln>
          <a:effectLst/>
        </p:spPr>
      </p:cxnSp>
      <p:cxnSp>
        <p:nvCxnSpPr>
          <p:cNvPr id="15" name="Straight Arrow Connector 14">
            <a:extLst>
              <a:ext uri="{FF2B5EF4-FFF2-40B4-BE49-F238E27FC236}">
                <a16:creationId xmlns:a16="http://schemas.microsoft.com/office/drawing/2014/main" id="{41884E08-1617-8EBC-81BF-9336106FE8EC}"/>
              </a:ext>
            </a:extLst>
          </p:cNvPr>
          <p:cNvCxnSpPr>
            <a:cxnSpLocks/>
            <a:stCxn id="9" idx="6"/>
            <a:endCxn id="8" idx="2"/>
          </p:cNvCxnSpPr>
          <p:nvPr/>
        </p:nvCxnSpPr>
        <p:spPr bwMode="auto">
          <a:xfrm>
            <a:off x="7962267" y="5318549"/>
            <a:ext cx="1850224" cy="0"/>
          </a:xfrm>
          <a:prstGeom prst="straightConnector1">
            <a:avLst/>
          </a:prstGeom>
          <a:solidFill>
            <a:srgbClr val="0183B7"/>
          </a:solidFill>
          <a:ln w="25400" cap="flat" cmpd="sng" algn="ctr">
            <a:solidFill>
              <a:schemeClr val="accent2"/>
            </a:solidFill>
            <a:prstDash val="solid"/>
            <a:round/>
            <a:headEnd type="none" w="med" len="med"/>
            <a:tailEnd type="none" w="med" len="med"/>
          </a:ln>
          <a:effectLst/>
        </p:spPr>
      </p:cxnSp>
      <p:cxnSp>
        <p:nvCxnSpPr>
          <p:cNvPr id="16" name="Straight Arrow Connector 15">
            <a:extLst>
              <a:ext uri="{FF2B5EF4-FFF2-40B4-BE49-F238E27FC236}">
                <a16:creationId xmlns:a16="http://schemas.microsoft.com/office/drawing/2014/main" id="{0964AF5A-79FB-A4CD-8AEE-4063C3BA4F00}"/>
              </a:ext>
            </a:extLst>
          </p:cNvPr>
          <p:cNvCxnSpPr>
            <a:cxnSpLocks/>
            <a:stCxn id="7" idx="4"/>
          </p:cNvCxnSpPr>
          <p:nvPr/>
        </p:nvCxnSpPr>
        <p:spPr bwMode="auto">
          <a:xfrm>
            <a:off x="7674267" y="4486749"/>
            <a:ext cx="0" cy="543800"/>
          </a:xfrm>
          <a:prstGeom prst="straightConnector1">
            <a:avLst/>
          </a:prstGeom>
          <a:solidFill>
            <a:srgbClr val="0183B7"/>
          </a:solidFill>
          <a:ln w="25400" cap="flat" cmpd="sng" algn="ctr">
            <a:solidFill>
              <a:schemeClr val="accent2"/>
            </a:solidFill>
            <a:prstDash val="solid"/>
            <a:round/>
            <a:headEnd type="none" w="med" len="med"/>
            <a:tailEnd type="none" w="med" len="med"/>
          </a:ln>
          <a:effectLst/>
        </p:spPr>
      </p:cxnSp>
      <p:cxnSp>
        <p:nvCxnSpPr>
          <p:cNvPr id="17" name="Straight Arrow Connector 16">
            <a:extLst>
              <a:ext uri="{FF2B5EF4-FFF2-40B4-BE49-F238E27FC236}">
                <a16:creationId xmlns:a16="http://schemas.microsoft.com/office/drawing/2014/main" id="{D6754861-3435-2875-03B8-ECE0CB5BEF09}"/>
              </a:ext>
            </a:extLst>
          </p:cNvPr>
          <p:cNvCxnSpPr>
            <a:cxnSpLocks/>
            <a:stCxn id="10" idx="4"/>
            <a:endCxn id="8" idx="0"/>
          </p:cNvCxnSpPr>
          <p:nvPr/>
        </p:nvCxnSpPr>
        <p:spPr bwMode="auto">
          <a:xfrm>
            <a:off x="10100491" y="3366949"/>
            <a:ext cx="0" cy="1663601"/>
          </a:xfrm>
          <a:prstGeom prst="straightConnector1">
            <a:avLst/>
          </a:prstGeom>
          <a:solidFill>
            <a:srgbClr val="0183B7"/>
          </a:solidFill>
          <a:ln w="25400" cap="flat" cmpd="sng" algn="ctr">
            <a:solidFill>
              <a:schemeClr val="accent2"/>
            </a:solidFill>
            <a:prstDash val="solid"/>
            <a:round/>
            <a:headEnd type="none" w="med" len="med"/>
            <a:tailEnd type="none" w="med" len="med"/>
          </a:ln>
          <a:effectLst/>
        </p:spPr>
      </p:cxnSp>
      <p:cxnSp>
        <p:nvCxnSpPr>
          <p:cNvPr id="18" name="Straight Arrow Connector 17">
            <a:extLst>
              <a:ext uri="{FF2B5EF4-FFF2-40B4-BE49-F238E27FC236}">
                <a16:creationId xmlns:a16="http://schemas.microsoft.com/office/drawing/2014/main" id="{A305550D-5AB0-F39B-C092-C84E7B1D5660}"/>
              </a:ext>
            </a:extLst>
          </p:cNvPr>
          <p:cNvCxnSpPr>
            <a:cxnSpLocks/>
            <a:stCxn id="10" idx="0"/>
            <a:endCxn id="32" idx="4"/>
          </p:cNvCxnSpPr>
          <p:nvPr/>
        </p:nvCxnSpPr>
        <p:spPr bwMode="auto">
          <a:xfrm flipV="1">
            <a:off x="10100491" y="2247148"/>
            <a:ext cx="0" cy="543801"/>
          </a:xfrm>
          <a:prstGeom prst="straightConnector1">
            <a:avLst/>
          </a:prstGeom>
          <a:solidFill>
            <a:srgbClr val="0183B7"/>
          </a:solidFill>
          <a:ln w="25400" cap="flat" cmpd="sng" algn="ctr">
            <a:solidFill>
              <a:schemeClr val="accent2"/>
            </a:solidFill>
            <a:prstDash val="solid"/>
            <a:round/>
            <a:headEnd type="none" w="med" len="med"/>
            <a:tailEnd type="none" w="med" len="med"/>
          </a:ln>
          <a:effectLst/>
        </p:spPr>
      </p:cxnSp>
      <p:cxnSp>
        <p:nvCxnSpPr>
          <p:cNvPr id="19" name="Straight Arrow Connector 18">
            <a:extLst>
              <a:ext uri="{FF2B5EF4-FFF2-40B4-BE49-F238E27FC236}">
                <a16:creationId xmlns:a16="http://schemas.microsoft.com/office/drawing/2014/main" id="{BC99D32B-205B-39D9-3476-43291E43C486}"/>
              </a:ext>
            </a:extLst>
          </p:cNvPr>
          <p:cNvCxnSpPr>
            <a:cxnSpLocks/>
            <a:stCxn id="12" idx="4"/>
            <a:endCxn id="11" idx="0"/>
          </p:cNvCxnSpPr>
          <p:nvPr/>
        </p:nvCxnSpPr>
        <p:spPr bwMode="auto">
          <a:xfrm>
            <a:off x="7674267" y="2247148"/>
            <a:ext cx="0" cy="543801"/>
          </a:xfrm>
          <a:prstGeom prst="straightConnector1">
            <a:avLst/>
          </a:prstGeom>
          <a:solidFill>
            <a:srgbClr val="0183B7"/>
          </a:solidFill>
          <a:ln w="25400" cap="flat" cmpd="sng" algn="ctr">
            <a:solidFill>
              <a:schemeClr val="accent2"/>
            </a:solidFill>
            <a:prstDash val="solid"/>
            <a:round/>
            <a:headEnd type="none" w="med" len="med"/>
            <a:tailEnd type="none" w="med" len="med"/>
          </a:ln>
          <a:effectLst/>
        </p:spPr>
      </p:cxnSp>
      <p:sp>
        <p:nvSpPr>
          <p:cNvPr id="32" name="Elipse 6">
            <a:extLst>
              <a:ext uri="{FF2B5EF4-FFF2-40B4-BE49-F238E27FC236}">
                <a16:creationId xmlns:a16="http://schemas.microsoft.com/office/drawing/2014/main" id="{72450909-B5E8-864D-1D51-8F03EE633DF1}"/>
              </a:ext>
            </a:extLst>
          </p:cNvPr>
          <p:cNvSpPr/>
          <p:nvPr/>
        </p:nvSpPr>
        <p:spPr>
          <a:xfrm>
            <a:off x="9812491" y="1671147"/>
            <a:ext cx="576000" cy="576000"/>
          </a:xfrm>
          <a:prstGeom prst="ellipse">
            <a:avLst/>
          </a:prstGeom>
          <a:solidFill>
            <a:schemeClr val="bg2"/>
          </a:solidFill>
          <a:ln w="25400" cap="flat" cmpd="sng" algn="ctr">
            <a:solidFill>
              <a:schemeClr val="accent2"/>
            </a:solidFill>
            <a:prstDash val="solid"/>
          </a:ln>
          <a:effectLst/>
        </p:spPr>
        <p:txBody>
          <a:bodyPr lIns="0" tIns="0" rIns="0" bIns="0" rtlCol="0" anchor="ctr">
            <a:noAutofit/>
          </a:bodyPr>
          <a:lstStyle/>
          <a:p>
            <a:pPr algn="ctr" defTabSz="1219140">
              <a:defRPr/>
            </a:pPr>
            <a:r>
              <a:rPr lang="es-ES_tradnl" sz="2133" b="1" kern="0">
                <a:latin typeface="+mj-lt"/>
              </a:rPr>
              <a:t>7</a:t>
            </a:r>
          </a:p>
        </p:txBody>
      </p:sp>
      <p:sp>
        <p:nvSpPr>
          <p:cNvPr id="21" name="Freeform: Shape 20">
            <a:extLst>
              <a:ext uri="{FF2B5EF4-FFF2-40B4-BE49-F238E27FC236}">
                <a16:creationId xmlns:a16="http://schemas.microsoft.com/office/drawing/2014/main" id="{714C1ED7-55C3-92EF-4CC2-EC87BCB8EA70}"/>
              </a:ext>
            </a:extLst>
          </p:cNvPr>
          <p:cNvSpPr/>
          <p:nvPr/>
        </p:nvSpPr>
        <p:spPr>
          <a:xfrm>
            <a:off x="7181754" y="2189709"/>
            <a:ext cx="3487761" cy="788537"/>
          </a:xfrm>
          <a:custGeom>
            <a:avLst/>
            <a:gdLst>
              <a:gd name="connsiteX0" fmla="*/ 211043 w 2708022"/>
              <a:gd name="connsiteY0" fmla="*/ 9098 h 674114"/>
              <a:gd name="connsiteX1" fmla="*/ 224691 w 2708022"/>
              <a:gd name="connsiteY1" fmla="*/ 582304 h 674114"/>
              <a:gd name="connsiteX2" fmla="*/ 2512966 w 2708022"/>
              <a:gd name="connsiteY2" fmla="*/ 614149 h 674114"/>
              <a:gd name="connsiteX3" fmla="*/ 2431079 w 2708022"/>
              <a:gd name="connsiteY3" fmla="*/ 0 h 674114"/>
            </a:gdLst>
            <a:ahLst/>
            <a:cxnLst>
              <a:cxn ang="0">
                <a:pos x="connsiteX0" y="connsiteY0"/>
              </a:cxn>
              <a:cxn ang="0">
                <a:pos x="connsiteX1" y="connsiteY1"/>
              </a:cxn>
              <a:cxn ang="0">
                <a:pos x="connsiteX2" y="connsiteY2"/>
              </a:cxn>
              <a:cxn ang="0">
                <a:pos x="connsiteX3" y="connsiteY3"/>
              </a:cxn>
            </a:cxnLst>
            <a:rect l="l" t="t" r="r" b="b"/>
            <a:pathLst>
              <a:path w="2708022" h="674114">
                <a:moveTo>
                  <a:pt x="211043" y="9098"/>
                </a:moveTo>
                <a:cubicBezTo>
                  <a:pt x="26040" y="245280"/>
                  <a:pt x="-158963" y="481462"/>
                  <a:pt x="224691" y="582304"/>
                </a:cubicBezTo>
                <a:cubicBezTo>
                  <a:pt x="608345" y="683146"/>
                  <a:pt x="2145235" y="711200"/>
                  <a:pt x="2512966" y="614149"/>
                </a:cubicBezTo>
                <a:cubicBezTo>
                  <a:pt x="2880697" y="517098"/>
                  <a:pt x="2655888" y="258549"/>
                  <a:pt x="2431079" y="0"/>
                </a:cubicBezTo>
              </a:path>
            </a:pathLst>
          </a:custGeom>
          <a:noFill/>
          <a:ln w="57150">
            <a:solidFill>
              <a:schemeClr val="accent4"/>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lIns="91408" tIns="45705" rIns="91408" bIns="45705" rtlCol="0" anchor="ctr"/>
          <a:lstStyle/>
          <a:p>
            <a:pPr algn="ctr" defTabSz="609199"/>
            <a:endParaRPr lang="en-US" sz="2400">
              <a:solidFill>
                <a:schemeClr val="tx1"/>
              </a:solidFill>
              <a:latin typeface="Arial"/>
            </a:endParaRPr>
          </a:p>
        </p:txBody>
      </p:sp>
      <p:sp>
        <p:nvSpPr>
          <p:cNvPr id="22" name="TextBox 21">
            <a:extLst>
              <a:ext uri="{FF2B5EF4-FFF2-40B4-BE49-F238E27FC236}">
                <a16:creationId xmlns:a16="http://schemas.microsoft.com/office/drawing/2014/main" id="{2909A656-BA62-7C2F-FD40-06BF14F35DCB}"/>
              </a:ext>
            </a:extLst>
          </p:cNvPr>
          <p:cNvSpPr txBox="1"/>
          <p:nvPr/>
        </p:nvSpPr>
        <p:spPr>
          <a:xfrm>
            <a:off x="7858023" y="6238714"/>
            <a:ext cx="2065416" cy="297423"/>
          </a:xfrm>
          <a:prstGeom prst="rect">
            <a:avLst/>
          </a:prstGeom>
          <a:noFill/>
        </p:spPr>
        <p:txBody>
          <a:bodyPr wrap="square" lIns="91408" tIns="45705" rIns="91408" bIns="45705" rtlCol="0">
            <a:spAutoFit/>
          </a:bodyPr>
          <a:lstStyle/>
          <a:p>
            <a:pPr algn="ctr" defTabSz="609199"/>
            <a:r>
              <a:rPr lang="en-US" sz="1333">
                <a:latin typeface="+mj-lt"/>
              </a:rPr>
              <a:t>Default metric: </a:t>
            </a:r>
            <a:r>
              <a:rPr lang="en-US" sz="1333" u="sng">
                <a:latin typeface="+mj-lt"/>
              </a:rPr>
              <a:t>10</a:t>
            </a:r>
          </a:p>
        </p:txBody>
      </p:sp>
      <p:sp>
        <p:nvSpPr>
          <p:cNvPr id="34" name="TextBox 33">
            <a:extLst>
              <a:ext uri="{FF2B5EF4-FFF2-40B4-BE49-F238E27FC236}">
                <a16:creationId xmlns:a16="http://schemas.microsoft.com/office/drawing/2014/main" id="{C9CBE1A5-BDCF-3349-E9E2-338130D8DAA6}"/>
              </a:ext>
            </a:extLst>
          </p:cNvPr>
          <p:cNvSpPr txBox="1"/>
          <p:nvPr/>
        </p:nvSpPr>
        <p:spPr>
          <a:xfrm>
            <a:off x="10232959" y="1332593"/>
            <a:ext cx="1285929" cy="461665"/>
          </a:xfrm>
          <a:prstGeom prst="rect">
            <a:avLst/>
          </a:prstGeom>
          <a:noFill/>
        </p:spPr>
        <p:txBody>
          <a:bodyPr wrap="none" rtlCol="0">
            <a:spAutoFit/>
          </a:bodyPr>
          <a:lstStyle/>
          <a:p>
            <a:r>
              <a:rPr lang="en-US" sz="1200" dirty="0"/>
              <a:t>Locator:</a:t>
            </a:r>
          </a:p>
          <a:p>
            <a:r>
              <a:rPr lang="en-US" sz="1200" dirty="0" err="1"/>
              <a:t>fcbb:bb00:7</a:t>
            </a:r>
            <a:r>
              <a:rPr lang="en-US" sz="1200" dirty="0"/>
              <a:t>::/48</a:t>
            </a:r>
          </a:p>
        </p:txBody>
      </p:sp>
      <p:sp>
        <p:nvSpPr>
          <p:cNvPr id="5" name="TextBox 4">
            <a:extLst>
              <a:ext uri="{FF2B5EF4-FFF2-40B4-BE49-F238E27FC236}">
                <a16:creationId xmlns:a16="http://schemas.microsoft.com/office/drawing/2014/main" id="{CB569A1E-8300-9FE6-7D04-099352142ABA}"/>
              </a:ext>
            </a:extLst>
          </p:cNvPr>
          <p:cNvSpPr txBox="1"/>
          <p:nvPr/>
        </p:nvSpPr>
        <p:spPr>
          <a:xfrm>
            <a:off x="7923648" y="3078948"/>
            <a:ext cx="365806" cy="297454"/>
          </a:xfrm>
          <a:prstGeom prst="rect">
            <a:avLst/>
          </a:prstGeom>
          <a:noFill/>
        </p:spPr>
        <p:txBody>
          <a:bodyPr wrap="none" rtlCol="0">
            <a:spAutoFit/>
          </a:bodyPr>
          <a:lstStyle/>
          <a:p>
            <a:r>
              <a:rPr lang="en-US" sz="1333"/>
              <a:t>if0</a:t>
            </a:r>
          </a:p>
        </p:txBody>
      </p:sp>
      <p:sp>
        <p:nvSpPr>
          <p:cNvPr id="20" name="TextBox 19">
            <a:extLst>
              <a:ext uri="{FF2B5EF4-FFF2-40B4-BE49-F238E27FC236}">
                <a16:creationId xmlns:a16="http://schemas.microsoft.com/office/drawing/2014/main" id="{A575CBA8-F85F-26E7-A559-643F36C03B92}"/>
              </a:ext>
            </a:extLst>
          </p:cNvPr>
          <p:cNvSpPr txBox="1"/>
          <p:nvPr/>
        </p:nvSpPr>
        <p:spPr>
          <a:xfrm>
            <a:off x="7292266" y="3321563"/>
            <a:ext cx="365806" cy="297454"/>
          </a:xfrm>
          <a:prstGeom prst="rect">
            <a:avLst/>
          </a:prstGeom>
          <a:noFill/>
        </p:spPr>
        <p:txBody>
          <a:bodyPr wrap="none" rtlCol="0">
            <a:spAutoFit/>
          </a:bodyPr>
          <a:lstStyle/>
          <a:p>
            <a:r>
              <a:rPr lang="en-US" sz="1333"/>
              <a:t>if1</a:t>
            </a:r>
          </a:p>
        </p:txBody>
      </p:sp>
      <p:sp>
        <p:nvSpPr>
          <p:cNvPr id="23" name="TextBox 22">
            <a:extLst>
              <a:ext uri="{FF2B5EF4-FFF2-40B4-BE49-F238E27FC236}">
                <a16:creationId xmlns:a16="http://schemas.microsoft.com/office/drawing/2014/main" id="{35CA9799-93ED-EEA4-B4D8-2DCCA9DD8525}"/>
              </a:ext>
            </a:extLst>
          </p:cNvPr>
          <p:cNvSpPr txBox="1"/>
          <p:nvPr/>
        </p:nvSpPr>
        <p:spPr>
          <a:xfrm>
            <a:off x="7686490" y="2514178"/>
            <a:ext cx="543739" cy="307777"/>
          </a:xfrm>
          <a:prstGeom prst="rect">
            <a:avLst/>
          </a:prstGeom>
          <a:noFill/>
        </p:spPr>
        <p:txBody>
          <a:bodyPr wrap="none" rtlCol="0">
            <a:spAutoFit/>
          </a:bodyPr>
          <a:lstStyle/>
          <a:p>
            <a:r>
              <a:rPr lang="en-US" sz="1400" b="1"/>
              <a:t>PLR</a:t>
            </a:r>
          </a:p>
        </p:txBody>
      </p:sp>
      <p:cxnSp>
        <p:nvCxnSpPr>
          <p:cNvPr id="29" name="Straight Arrow Connector 28">
            <a:extLst>
              <a:ext uri="{FF2B5EF4-FFF2-40B4-BE49-F238E27FC236}">
                <a16:creationId xmlns:a16="http://schemas.microsoft.com/office/drawing/2014/main" id="{9FBF7D1C-CF1C-36EF-E68E-7D90EAA8BBB0}"/>
              </a:ext>
            </a:extLst>
          </p:cNvPr>
          <p:cNvCxnSpPr>
            <a:cxnSpLocks/>
          </p:cNvCxnSpPr>
          <p:nvPr/>
        </p:nvCxnSpPr>
        <p:spPr bwMode="auto">
          <a:xfrm>
            <a:off x="7962267" y="3078948"/>
            <a:ext cx="1850224" cy="0"/>
          </a:xfrm>
          <a:prstGeom prst="straightConnector1">
            <a:avLst/>
          </a:prstGeom>
          <a:solidFill>
            <a:srgbClr val="0183B7"/>
          </a:solidFill>
          <a:ln w="25400" cap="flat" cmpd="sng" algn="ctr">
            <a:solidFill>
              <a:schemeClr val="accent6"/>
            </a:solidFill>
            <a:prstDash val="solid"/>
            <a:round/>
            <a:headEnd type="none" w="med" len="med"/>
            <a:tailEnd type="none" w="med" len="med"/>
          </a:ln>
          <a:effectLst/>
        </p:spPr>
      </p:cxnSp>
      <p:sp>
        <p:nvSpPr>
          <p:cNvPr id="30" name="Explosion 1 142">
            <a:extLst>
              <a:ext uri="{FF2B5EF4-FFF2-40B4-BE49-F238E27FC236}">
                <a16:creationId xmlns:a16="http://schemas.microsoft.com/office/drawing/2014/main" id="{F769EAAC-B668-B2B5-1048-DD89CB89AF7E}"/>
              </a:ext>
            </a:extLst>
          </p:cNvPr>
          <p:cNvSpPr>
            <a:spLocks noChangeAspect="1"/>
          </p:cNvSpPr>
          <p:nvPr/>
        </p:nvSpPr>
        <p:spPr>
          <a:xfrm>
            <a:off x="8729158" y="2838316"/>
            <a:ext cx="481265" cy="481265"/>
          </a:xfrm>
          <a:prstGeom prst="irregularSeal1">
            <a:avLst/>
          </a:prstGeom>
          <a:solidFill>
            <a:schemeClr val="accent6"/>
          </a:solidFill>
          <a:ln w="15875" cap="flat">
            <a:solidFill>
              <a:schemeClr val="accent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fontAlgn="base">
              <a:spcBef>
                <a:spcPct val="0"/>
              </a:spcBef>
              <a:spcAft>
                <a:spcPct val="0"/>
              </a:spcAft>
              <a:defRPr/>
            </a:pPr>
            <a:endParaRPr lang="en-US" sz="2400">
              <a:solidFill>
                <a:schemeClr val="tx1"/>
              </a:solidFill>
              <a:latin typeface="+mj-lt"/>
            </a:endParaRPr>
          </a:p>
        </p:txBody>
      </p:sp>
      <p:sp>
        <p:nvSpPr>
          <p:cNvPr id="36" name="Freeform 15">
            <a:extLst>
              <a:ext uri="{FF2B5EF4-FFF2-40B4-BE49-F238E27FC236}">
                <a16:creationId xmlns:a16="http://schemas.microsoft.com/office/drawing/2014/main" id="{3AEFE76F-08AF-2819-2827-1D140508C350}"/>
              </a:ext>
            </a:extLst>
          </p:cNvPr>
          <p:cNvSpPr/>
          <p:nvPr/>
        </p:nvSpPr>
        <p:spPr>
          <a:xfrm rot="10800000" flipV="1">
            <a:off x="7107375" y="3347729"/>
            <a:ext cx="397248" cy="1804294"/>
          </a:xfrm>
          <a:custGeom>
            <a:avLst/>
            <a:gdLst>
              <a:gd name="connsiteX0" fmla="*/ 70338 w 2637692"/>
              <a:gd name="connsiteY0" fmla="*/ 422031 h 430893"/>
              <a:gd name="connsiteX1" fmla="*/ 140676 w 2637692"/>
              <a:gd name="connsiteY1" fmla="*/ 375139 h 430893"/>
              <a:gd name="connsiteX2" fmla="*/ 1336430 w 2637692"/>
              <a:gd name="connsiteY2" fmla="*/ 0 h 430893"/>
              <a:gd name="connsiteX3" fmla="*/ 2637692 w 2637692"/>
              <a:gd name="connsiteY3" fmla="*/ 375139 h 430893"/>
              <a:gd name="connsiteX0" fmla="*/ 70338 w 2375333"/>
              <a:gd name="connsiteY0" fmla="*/ 422031 h 1246517"/>
              <a:gd name="connsiteX1" fmla="*/ 140676 w 2375333"/>
              <a:gd name="connsiteY1" fmla="*/ 375139 h 1246517"/>
              <a:gd name="connsiteX2" fmla="*/ 1336430 w 2375333"/>
              <a:gd name="connsiteY2" fmla="*/ 0 h 1246517"/>
              <a:gd name="connsiteX3" fmla="*/ 2375333 w 2375333"/>
              <a:gd name="connsiteY3" fmla="*/ 1246517 h 1246517"/>
              <a:gd name="connsiteX0" fmla="*/ 70338 w 2375333"/>
              <a:gd name="connsiteY0" fmla="*/ 422031 h 1246517"/>
              <a:gd name="connsiteX1" fmla="*/ 140676 w 2375333"/>
              <a:gd name="connsiteY1" fmla="*/ 375139 h 1246517"/>
              <a:gd name="connsiteX2" fmla="*/ 1336430 w 2375333"/>
              <a:gd name="connsiteY2" fmla="*/ 0 h 1246517"/>
              <a:gd name="connsiteX3" fmla="*/ 2375333 w 2375333"/>
              <a:gd name="connsiteY3" fmla="*/ 1246517 h 1246517"/>
              <a:gd name="connsiteX0" fmla="*/ 140677 w 1639267"/>
              <a:gd name="connsiteY0" fmla="*/ 959140 h 4134904"/>
              <a:gd name="connsiteX1" fmla="*/ 211015 w 1639267"/>
              <a:gd name="connsiteY1" fmla="*/ 912248 h 4134904"/>
              <a:gd name="connsiteX2" fmla="*/ 1406769 w 1639267"/>
              <a:gd name="connsiteY2" fmla="*/ 537109 h 4134904"/>
              <a:gd name="connsiteX3" fmla="*/ 1605998 w 1639267"/>
              <a:gd name="connsiteY3" fmla="*/ 4134904 h 4134904"/>
              <a:gd name="connsiteX0" fmla="*/ 140677 w 1854144"/>
              <a:gd name="connsiteY0" fmla="*/ 959140 h 4134904"/>
              <a:gd name="connsiteX1" fmla="*/ 211015 w 1854144"/>
              <a:gd name="connsiteY1" fmla="*/ 912248 h 4134904"/>
              <a:gd name="connsiteX2" fmla="*/ 1406769 w 1854144"/>
              <a:gd name="connsiteY2" fmla="*/ 537109 h 4134904"/>
              <a:gd name="connsiteX3" fmla="*/ 1605998 w 1854144"/>
              <a:gd name="connsiteY3" fmla="*/ 4134904 h 4134904"/>
              <a:gd name="connsiteX0" fmla="*/ -1 w 1713466"/>
              <a:gd name="connsiteY0" fmla="*/ 951324 h 4127088"/>
              <a:gd name="connsiteX1" fmla="*/ 1266091 w 1713466"/>
              <a:gd name="connsiteY1" fmla="*/ 529293 h 4127088"/>
              <a:gd name="connsiteX2" fmla="*/ 1465320 w 1713466"/>
              <a:gd name="connsiteY2" fmla="*/ 4127088 h 4127088"/>
              <a:gd name="connsiteX0" fmla="*/ 1 w 1713468"/>
              <a:gd name="connsiteY0" fmla="*/ 87922 h 3263686"/>
              <a:gd name="connsiteX1" fmla="*/ 1347197 w 1713468"/>
              <a:gd name="connsiteY1" fmla="*/ 1079311 h 3263686"/>
              <a:gd name="connsiteX2" fmla="*/ 1465322 w 1713468"/>
              <a:gd name="connsiteY2" fmla="*/ 3263686 h 3263686"/>
              <a:gd name="connsiteX0" fmla="*/ -1 w 1713466"/>
              <a:gd name="connsiteY0" fmla="*/ 200569 h 3376333"/>
              <a:gd name="connsiteX1" fmla="*/ 1347195 w 1713466"/>
              <a:gd name="connsiteY1" fmla="*/ 1191958 h 3376333"/>
              <a:gd name="connsiteX2" fmla="*/ 1465320 w 1713466"/>
              <a:gd name="connsiteY2" fmla="*/ 3376333 h 3376333"/>
              <a:gd name="connsiteX0" fmla="*/ -1 w 1665672"/>
              <a:gd name="connsiteY0" fmla="*/ 200568 h 3155896"/>
              <a:gd name="connsiteX1" fmla="*/ 1299401 w 1665672"/>
              <a:gd name="connsiteY1" fmla="*/ 971521 h 3155896"/>
              <a:gd name="connsiteX2" fmla="*/ 1417526 w 1665672"/>
              <a:gd name="connsiteY2" fmla="*/ 3155896 h 3155896"/>
              <a:gd name="connsiteX0" fmla="*/ 1 w 1547551"/>
              <a:gd name="connsiteY0" fmla="*/ 200570 h 3155901"/>
              <a:gd name="connsiteX1" fmla="*/ 1299403 w 1547551"/>
              <a:gd name="connsiteY1" fmla="*/ 971523 h 3155901"/>
              <a:gd name="connsiteX2" fmla="*/ 1299405 w 1547551"/>
              <a:gd name="connsiteY2" fmla="*/ 3155901 h 3155901"/>
              <a:gd name="connsiteX0" fmla="*/ -1 w 1681908"/>
              <a:gd name="connsiteY0" fmla="*/ 200568 h 3155899"/>
              <a:gd name="connsiteX1" fmla="*/ 1299401 w 1681908"/>
              <a:gd name="connsiteY1" fmla="*/ 971521 h 3155899"/>
              <a:gd name="connsiteX2" fmla="*/ 1299403 w 1681908"/>
              <a:gd name="connsiteY2" fmla="*/ 3155899 h 3155899"/>
              <a:gd name="connsiteX0" fmla="*/ 1 w 1531899"/>
              <a:gd name="connsiteY0" fmla="*/ 200570 h 3401807"/>
              <a:gd name="connsiteX1" fmla="*/ 1299403 w 1531899"/>
              <a:gd name="connsiteY1" fmla="*/ 971523 h 3401807"/>
              <a:gd name="connsiteX2" fmla="*/ 19881 w 1531899"/>
              <a:gd name="connsiteY2" fmla="*/ 3401807 h 3401807"/>
              <a:gd name="connsiteX0" fmla="*/ -1 w 1531899"/>
              <a:gd name="connsiteY0" fmla="*/ 200568 h 3401805"/>
              <a:gd name="connsiteX1" fmla="*/ 1299401 w 1531899"/>
              <a:gd name="connsiteY1" fmla="*/ 971521 h 3401805"/>
              <a:gd name="connsiteX2" fmla="*/ 19879 w 1531899"/>
              <a:gd name="connsiteY2" fmla="*/ 3401805 h 3401805"/>
              <a:gd name="connsiteX0" fmla="*/ 1 w 798846"/>
              <a:gd name="connsiteY0" fmla="*/ 200570 h 3401807"/>
              <a:gd name="connsiteX1" fmla="*/ 566349 w 798846"/>
              <a:gd name="connsiteY1" fmla="*/ 971527 h 3401807"/>
              <a:gd name="connsiteX2" fmla="*/ 19881 w 798846"/>
              <a:gd name="connsiteY2" fmla="*/ 3401807 h 3401807"/>
              <a:gd name="connsiteX0" fmla="*/ -1 w 1031343"/>
              <a:gd name="connsiteY0" fmla="*/ 200568 h 3401805"/>
              <a:gd name="connsiteX1" fmla="*/ 798846 w 1031343"/>
              <a:gd name="connsiteY1" fmla="*/ 1613988 h 3401805"/>
              <a:gd name="connsiteX2" fmla="*/ 19879 w 1031343"/>
              <a:gd name="connsiteY2" fmla="*/ 3401805 h 3401805"/>
              <a:gd name="connsiteX0" fmla="*/ 1 w 827310"/>
              <a:gd name="connsiteY0" fmla="*/ 200570 h 3401807"/>
              <a:gd name="connsiteX1" fmla="*/ 798848 w 827310"/>
              <a:gd name="connsiteY1" fmla="*/ 1613990 h 3401807"/>
              <a:gd name="connsiteX2" fmla="*/ 19881 w 827310"/>
              <a:gd name="connsiteY2" fmla="*/ 3401807 h 3401807"/>
              <a:gd name="connsiteX0" fmla="*/ -1 w 827308"/>
              <a:gd name="connsiteY0" fmla="*/ 200568 h 3401805"/>
              <a:gd name="connsiteX1" fmla="*/ 798846 w 827308"/>
              <a:gd name="connsiteY1" fmla="*/ 1613988 h 3401805"/>
              <a:gd name="connsiteX2" fmla="*/ 19879 w 827308"/>
              <a:gd name="connsiteY2" fmla="*/ 3401805 h 3401805"/>
              <a:gd name="connsiteX0" fmla="*/ 1 w 827310"/>
              <a:gd name="connsiteY0" fmla="*/ 1 h 3201238"/>
              <a:gd name="connsiteX1" fmla="*/ 798848 w 827310"/>
              <a:gd name="connsiteY1" fmla="*/ 1413421 h 3201238"/>
              <a:gd name="connsiteX2" fmla="*/ 19881 w 827310"/>
              <a:gd name="connsiteY2" fmla="*/ 3201238 h 3201238"/>
            </a:gdLst>
            <a:ahLst/>
            <a:cxnLst>
              <a:cxn ang="0">
                <a:pos x="connsiteX0" y="connsiteY0"/>
              </a:cxn>
              <a:cxn ang="0">
                <a:pos x="connsiteX1" y="connsiteY1"/>
              </a:cxn>
              <a:cxn ang="0">
                <a:pos x="connsiteX2" y="connsiteY2"/>
              </a:cxn>
            </a:cxnLst>
            <a:rect l="l" t="t" r="r" b="b"/>
            <a:pathLst>
              <a:path w="827310" h="3201238">
                <a:moveTo>
                  <a:pt x="1" y="1"/>
                </a:moveTo>
                <a:cubicBezTo>
                  <a:pt x="577495" y="349083"/>
                  <a:pt x="744161" y="876647"/>
                  <a:pt x="798848" y="1413421"/>
                </a:cubicBezTo>
                <a:cubicBezTo>
                  <a:pt x="827310" y="1994343"/>
                  <a:pt x="663349" y="2821561"/>
                  <a:pt x="19881" y="3201238"/>
                </a:cubicBezTo>
              </a:path>
            </a:pathLst>
          </a:custGeom>
          <a:noFill/>
          <a:ln w="57150">
            <a:solidFill>
              <a:srgbClr val="7030A0"/>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lIns="91408" tIns="45705" rIns="91408" bIns="45705" rtlCol="0" anchor="ctr"/>
          <a:lstStyle/>
          <a:p>
            <a:pPr algn="ctr" defTabSz="609199"/>
            <a:endParaRPr lang="en-US" sz="2400">
              <a:solidFill>
                <a:schemeClr val="tx1"/>
              </a:solidFill>
              <a:latin typeface="Arial"/>
            </a:endParaRPr>
          </a:p>
        </p:txBody>
      </p:sp>
      <p:sp>
        <p:nvSpPr>
          <p:cNvPr id="37" name="Freeform 35">
            <a:extLst>
              <a:ext uri="{FF2B5EF4-FFF2-40B4-BE49-F238E27FC236}">
                <a16:creationId xmlns:a16="http://schemas.microsoft.com/office/drawing/2014/main" id="{6D5CD0AB-4D2C-2C3A-F00B-460DB4A0CF1D}"/>
              </a:ext>
            </a:extLst>
          </p:cNvPr>
          <p:cNvSpPr/>
          <p:nvPr/>
        </p:nvSpPr>
        <p:spPr>
          <a:xfrm rot="10800000" flipH="1">
            <a:off x="7922029" y="2362579"/>
            <a:ext cx="2962821" cy="3332308"/>
          </a:xfrm>
          <a:custGeom>
            <a:avLst/>
            <a:gdLst>
              <a:gd name="connsiteX0" fmla="*/ 70338 w 2637692"/>
              <a:gd name="connsiteY0" fmla="*/ 422031 h 430893"/>
              <a:gd name="connsiteX1" fmla="*/ 140676 w 2637692"/>
              <a:gd name="connsiteY1" fmla="*/ 375139 h 430893"/>
              <a:gd name="connsiteX2" fmla="*/ 1336430 w 2637692"/>
              <a:gd name="connsiteY2" fmla="*/ 0 h 430893"/>
              <a:gd name="connsiteX3" fmla="*/ 2637692 w 2637692"/>
              <a:gd name="connsiteY3" fmla="*/ 375139 h 430893"/>
              <a:gd name="connsiteX0" fmla="*/ 70338 w 2375333"/>
              <a:gd name="connsiteY0" fmla="*/ 422031 h 1246517"/>
              <a:gd name="connsiteX1" fmla="*/ 140676 w 2375333"/>
              <a:gd name="connsiteY1" fmla="*/ 375139 h 1246517"/>
              <a:gd name="connsiteX2" fmla="*/ 1336430 w 2375333"/>
              <a:gd name="connsiteY2" fmla="*/ 0 h 1246517"/>
              <a:gd name="connsiteX3" fmla="*/ 2375333 w 2375333"/>
              <a:gd name="connsiteY3" fmla="*/ 1246517 h 1246517"/>
              <a:gd name="connsiteX0" fmla="*/ 70338 w 2375333"/>
              <a:gd name="connsiteY0" fmla="*/ 422031 h 1246517"/>
              <a:gd name="connsiteX1" fmla="*/ 140676 w 2375333"/>
              <a:gd name="connsiteY1" fmla="*/ 375139 h 1246517"/>
              <a:gd name="connsiteX2" fmla="*/ 1336430 w 2375333"/>
              <a:gd name="connsiteY2" fmla="*/ 0 h 1246517"/>
              <a:gd name="connsiteX3" fmla="*/ 2375333 w 2375333"/>
              <a:gd name="connsiteY3" fmla="*/ 1246517 h 1246517"/>
              <a:gd name="connsiteX0" fmla="*/ 140677 w 1639267"/>
              <a:gd name="connsiteY0" fmla="*/ 959140 h 4134904"/>
              <a:gd name="connsiteX1" fmla="*/ 211015 w 1639267"/>
              <a:gd name="connsiteY1" fmla="*/ 912248 h 4134904"/>
              <a:gd name="connsiteX2" fmla="*/ 1406769 w 1639267"/>
              <a:gd name="connsiteY2" fmla="*/ 537109 h 4134904"/>
              <a:gd name="connsiteX3" fmla="*/ 1605998 w 1639267"/>
              <a:gd name="connsiteY3" fmla="*/ 4134904 h 4134904"/>
              <a:gd name="connsiteX0" fmla="*/ 140677 w 1854144"/>
              <a:gd name="connsiteY0" fmla="*/ 959140 h 4134904"/>
              <a:gd name="connsiteX1" fmla="*/ 211015 w 1854144"/>
              <a:gd name="connsiteY1" fmla="*/ 912248 h 4134904"/>
              <a:gd name="connsiteX2" fmla="*/ 1406769 w 1854144"/>
              <a:gd name="connsiteY2" fmla="*/ 537109 h 4134904"/>
              <a:gd name="connsiteX3" fmla="*/ 1605998 w 1854144"/>
              <a:gd name="connsiteY3" fmla="*/ 4134904 h 4134904"/>
              <a:gd name="connsiteX0" fmla="*/ -1 w 1713466"/>
              <a:gd name="connsiteY0" fmla="*/ 951324 h 4127088"/>
              <a:gd name="connsiteX1" fmla="*/ 1266091 w 1713466"/>
              <a:gd name="connsiteY1" fmla="*/ 529293 h 4127088"/>
              <a:gd name="connsiteX2" fmla="*/ 1465320 w 1713466"/>
              <a:gd name="connsiteY2" fmla="*/ 4127088 h 4127088"/>
              <a:gd name="connsiteX0" fmla="*/ 1 w 1713468"/>
              <a:gd name="connsiteY0" fmla="*/ 87922 h 3263686"/>
              <a:gd name="connsiteX1" fmla="*/ 1347197 w 1713468"/>
              <a:gd name="connsiteY1" fmla="*/ 1079311 h 3263686"/>
              <a:gd name="connsiteX2" fmla="*/ 1465322 w 1713468"/>
              <a:gd name="connsiteY2" fmla="*/ 3263686 h 3263686"/>
              <a:gd name="connsiteX0" fmla="*/ -1 w 1713466"/>
              <a:gd name="connsiteY0" fmla="*/ 200569 h 3376333"/>
              <a:gd name="connsiteX1" fmla="*/ 1347195 w 1713466"/>
              <a:gd name="connsiteY1" fmla="*/ 1191958 h 3376333"/>
              <a:gd name="connsiteX2" fmla="*/ 1465320 w 1713466"/>
              <a:gd name="connsiteY2" fmla="*/ 3376333 h 3376333"/>
              <a:gd name="connsiteX0" fmla="*/ -1 w 1665672"/>
              <a:gd name="connsiteY0" fmla="*/ 200568 h 3155896"/>
              <a:gd name="connsiteX1" fmla="*/ 1299401 w 1665672"/>
              <a:gd name="connsiteY1" fmla="*/ 971521 h 3155896"/>
              <a:gd name="connsiteX2" fmla="*/ 1417526 w 1665672"/>
              <a:gd name="connsiteY2" fmla="*/ 3155896 h 3155896"/>
              <a:gd name="connsiteX0" fmla="*/ 1 w 1547551"/>
              <a:gd name="connsiteY0" fmla="*/ 200570 h 3155901"/>
              <a:gd name="connsiteX1" fmla="*/ 1299403 w 1547551"/>
              <a:gd name="connsiteY1" fmla="*/ 971523 h 3155901"/>
              <a:gd name="connsiteX2" fmla="*/ 1299405 w 1547551"/>
              <a:gd name="connsiteY2" fmla="*/ 3155901 h 3155901"/>
              <a:gd name="connsiteX0" fmla="*/ -1 w 1681908"/>
              <a:gd name="connsiteY0" fmla="*/ 200568 h 3155899"/>
              <a:gd name="connsiteX1" fmla="*/ 1299401 w 1681908"/>
              <a:gd name="connsiteY1" fmla="*/ 971521 h 3155899"/>
              <a:gd name="connsiteX2" fmla="*/ 1299403 w 1681908"/>
              <a:gd name="connsiteY2" fmla="*/ 3155899 h 3155899"/>
              <a:gd name="connsiteX0" fmla="*/ 1 w 1531899"/>
              <a:gd name="connsiteY0" fmla="*/ 200570 h 3401807"/>
              <a:gd name="connsiteX1" fmla="*/ 1299403 w 1531899"/>
              <a:gd name="connsiteY1" fmla="*/ 971523 h 3401807"/>
              <a:gd name="connsiteX2" fmla="*/ 19881 w 1531899"/>
              <a:gd name="connsiteY2" fmla="*/ 3401807 h 3401807"/>
              <a:gd name="connsiteX0" fmla="*/ -1 w 1531899"/>
              <a:gd name="connsiteY0" fmla="*/ 200568 h 3401805"/>
              <a:gd name="connsiteX1" fmla="*/ 1299401 w 1531899"/>
              <a:gd name="connsiteY1" fmla="*/ 971521 h 3401805"/>
              <a:gd name="connsiteX2" fmla="*/ 19879 w 1531899"/>
              <a:gd name="connsiteY2" fmla="*/ 3401805 h 3401805"/>
              <a:gd name="connsiteX0" fmla="*/ 1 w 798846"/>
              <a:gd name="connsiteY0" fmla="*/ 200570 h 3401807"/>
              <a:gd name="connsiteX1" fmla="*/ 566349 w 798846"/>
              <a:gd name="connsiteY1" fmla="*/ 971527 h 3401807"/>
              <a:gd name="connsiteX2" fmla="*/ 19881 w 798846"/>
              <a:gd name="connsiteY2" fmla="*/ 3401807 h 3401807"/>
              <a:gd name="connsiteX0" fmla="*/ -1 w 1031343"/>
              <a:gd name="connsiteY0" fmla="*/ 200568 h 3401805"/>
              <a:gd name="connsiteX1" fmla="*/ 798846 w 1031343"/>
              <a:gd name="connsiteY1" fmla="*/ 1613988 h 3401805"/>
              <a:gd name="connsiteX2" fmla="*/ 19879 w 1031343"/>
              <a:gd name="connsiteY2" fmla="*/ 3401805 h 3401805"/>
              <a:gd name="connsiteX0" fmla="*/ 1 w 827310"/>
              <a:gd name="connsiteY0" fmla="*/ 200570 h 3401807"/>
              <a:gd name="connsiteX1" fmla="*/ 798848 w 827310"/>
              <a:gd name="connsiteY1" fmla="*/ 1613990 h 3401807"/>
              <a:gd name="connsiteX2" fmla="*/ 19881 w 827310"/>
              <a:gd name="connsiteY2" fmla="*/ 3401807 h 3401807"/>
              <a:gd name="connsiteX0" fmla="*/ -1 w 827308"/>
              <a:gd name="connsiteY0" fmla="*/ 200568 h 3401805"/>
              <a:gd name="connsiteX1" fmla="*/ 798846 w 827308"/>
              <a:gd name="connsiteY1" fmla="*/ 1613988 h 3401805"/>
              <a:gd name="connsiteX2" fmla="*/ 19879 w 827308"/>
              <a:gd name="connsiteY2" fmla="*/ 3401805 h 3401805"/>
              <a:gd name="connsiteX0" fmla="*/ 1 w 827310"/>
              <a:gd name="connsiteY0" fmla="*/ 1 h 3201238"/>
              <a:gd name="connsiteX1" fmla="*/ 798848 w 827310"/>
              <a:gd name="connsiteY1" fmla="*/ 1413421 h 3201238"/>
              <a:gd name="connsiteX2" fmla="*/ 19881 w 827310"/>
              <a:gd name="connsiteY2" fmla="*/ 3201238 h 3201238"/>
              <a:gd name="connsiteX0" fmla="*/ 177338 w 1004647"/>
              <a:gd name="connsiteY0" fmla="*/ 214661 h 3415898"/>
              <a:gd name="connsiteX1" fmla="*/ 133141 w 1004647"/>
              <a:gd name="connsiteY1" fmla="*/ 235570 h 3415898"/>
              <a:gd name="connsiteX2" fmla="*/ 976185 w 1004647"/>
              <a:gd name="connsiteY2" fmla="*/ 1628081 h 3415898"/>
              <a:gd name="connsiteX3" fmla="*/ 197218 w 1004647"/>
              <a:gd name="connsiteY3" fmla="*/ 3415898 h 3415898"/>
              <a:gd name="connsiteX0" fmla="*/ 7367 w 967817"/>
              <a:gd name="connsiteY0" fmla="*/ -1 h 3201236"/>
              <a:gd name="connsiteX1" fmla="*/ 834676 w 967817"/>
              <a:gd name="connsiteY1" fmla="*/ 717244 h 3201236"/>
              <a:gd name="connsiteX2" fmla="*/ 806214 w 967817"/>
              <a:gd name="connsiteY2" fmla="*/ 1413419 h 3201236"/>
              <a:gd name="connsiteX3" fmla="*/ 27247 w 967817"/>
              <a:gd name="connsiteY3" fmla="*/ 3201236 h 3201236"/>
              <a:gd name="connsiteX0" fmla="*/ 7366 w 5705500"/>
              <a:gd name="connsiteY0" fmla="*/ 0 h 3851126"/>
              <a:gd name="connsiteX1" fmla="*/ 4895546 w 5705500"/>
              <a:gd name="connsiteY1" fmla="*/ 1367134 h 3851126"/>
              <a:gd name="connsiteX2" fmla="*/ 4867084 w 5705500"/>
              <a:gd name="connsiteY2" fmla="*/ 2063309 h 3851126"/>
              <a:gd name="connsiteX3" fmla="*/ 4088117 w 5705500"/>
              <a:gd name="connsiteY3" fmla="*/ 3851126 h 3851126"/>
              <a:gd name="connsiteX0" fmla="*/ 7366 w 4895546"/>
              <a:gd name="connsiteY0" fmla="*/ 343886 h 4195012"/>
              <a:gd name="connsiteX1" fmla="*/ 3898311 w 4895546"/>
              <a:gd name="connsiteY1" fmla="*/ 343886 h 4195012"/>
              <a:gd name="connsiteX2" fmla="*/ 4867084 w 4895546"/>
              <a:gd name="connsiteY2" fmla="*/ 2407195 h 4195012"/>
              <a:gd name="connsiteX3" fmla="*/ 4088117 w 4895546"/>
              <a:gd name="connsiteY3" fmla="*/ 4195012 h 4195012"/>
              <a:gd name="connsiteX0" fmla="*/ 13 w 4861412"/>
              <a:gd name="connsiteY0" fmla="*/ 152067 h 5414692"/>
              <a:gd name="connsiteX1" fmla="*/ 3890958 w 4861412"/>
              <a:gd name="connsiteY1" fmla="*/ 152067 h 5414692"/>
              <a:gd name="connsiteX2" fmla="*/ 4859731 w 4861412"/>
              <a:gd name="connsiteY2" fmla="*/ 2215376 h 5414692"/>
              <a:gd name="connsiteX3" fmla="*/ 3911405 w 4861412"/>
              <a:gd name="connsiteY3" fmla="*/ 5414691 h 5414692"/>
              <a:gd name="connsiteX0" fmla="*/ 13 w 4861100"/>
              <a:gd name="connsiteY0" fmla="*/ 152067 h 5476062"/>
              <a:gd name="connsiteX1" fmla="*/ 3890958 w 4861100"/>
              <a:gd name="connsiteY1" fmla="*/ 152067 h 5476062"/>
              <a:gd name="connsiteX2" fmla="*/ 4859731 w 4861100"/>
              <a:gd name="connsiteY2" fmla="*/ 2215376 h 5476062"/>
              <a:gd name="connsiteX3" fmla="*/ 3826725 w 4861100"/>
              <a:gd name="connsiteY3" fmla="*/ 5476062 h 5476062"/>
              <a:gd name="connsiteX0" fmla="*/ 13 w 4891044"/>
              <a:gd name="connsiteY0" fmla="*/ 152067 h 5476062"/>
              <a:gd name="connsiteX1" fmla="*/ 3890958 w 4891044"/>
              <a:gd name="connsiteY1" fmla="*/ 152067 h 5476062"/>
              <a:gd name="connsiteX2" fmla="*/ 4859731 w 4891044"/>
              <a:gd name="connsiteY2" fmla="*/ 2215376 h 5476062"/>
              <a:gd name="connsiteX3" fmla="*/ 3826725 w 4891044"/>
              <a:gd name="connsiteY3" fmla="*/ 5476062 h 5476062"/>
              <a:gd name="connsiteX0" fmla="*/ 13 w 4857758"/>
              <a:gd name="connsiteY0" fmla="*/ 190706 h 5514701"/>
              <a:gd name="connsiteX1" fmla="*/ 3890958 w 4857758"/>
              <a:gd name="connsiteY1" fmla="*/ 190706 h 5514701"/>
              <a:gd name="connsiteX2" fmla="*/ 4817391 w 4857758"/>
              <a:gd name="connsiteY2" fmla="*/ 2775655 h 5514701"/>
              <a:gd name="connsiteX3" fmla="*/ 3826725 w 4857758"/>
              <a:gd name="connsiteY3" fmla="*/ 5514701 h 5514701"/>
              <a:gd name="connsiteX0" fmla="*/ 13 w 4767024"/>
              <a:gd name="connsiteY0" fmla="*/ 197523 h 5521518"/>
              <a:gd name="connsiteX1" fmla="*/ 3890958 w 4767024"/>
              <a:gd name="connsiteY1" fmla="*/ 197523 h 5521518"/>
              <a:gd name="connsiteX2" fmla="*/ 4690371 w 4767024"/>
              <a:gd name="connsiteY2" fmla="*/ 2874526 h 5521518"/>
              <a:gd name="connsiteX3" fmla="*/ 3826725 w 4767024"/>
              <a:gd name="connsiteY3" fmla="*/ 5521518 h 5521518"/>
              <a:gd name="connsiteX0" fmla="*/ 13 w 4695054"/>
              <a:gd name="connsiteY0" fmla="*/ 197525 h 5521520"/>
              <a:gd name="connsiteX1" fmla="*/ 3890958 w 4695054"/>
              <a:gd name="connsiteY1" fmla="*/ 197525 h 5521520"/>
              <a:gd name="connsiteX2" fmla="*/ 4690371 w 4695054"/>
              <a:gd name="connsiteY2" fmla="*/ 2874528 h 5521520"/>
              <a:gd name="connsiteX3" fmla="*/ 3826725 w 4695054"/>
              <a:gd name="connsiteY3" fmla="*/ 5521520 h 5521520"/>
            </a:gdLst>
            <a:ahLst/>
            <a:cxnLst>
              <a:cxn ang="0">
                <a:pos x="connsiteX0" y="connsiteY0"/>
              </a:cxn>
              <a:cxn ang="0">
                <a:pos x="connsiteX1" y="connsiteY1"/>
              </a:cxn>
              <a:cxn ang="0">
                <a:pos x="connsiteX2" y="connsiteY2"/>
              </a:cxn>
              <a:cxn ang="0">
                <a:pos x="connsiteX3" y="connsiteY3"/>
              </a:cxn>
            </a:cxnLst>
            <a:rect l="l" t="t" r="r" b="b"/>
            <a:pathLst>
              <a:path w="4695054" h="5521520">
                <a:moveTo>
                  <a:pt x="13" y="197525"/>
                </a:moveTo>
                <a:cubicBezTo>
                  <a:pt x="-7353" y="201010"/>
                  <a:pt x="3109232" y="-248642"/>
                  <a:pt x="3890958" y="197525"/>
                </a:cubicBezTo>
                <a:cubicBezTo>
                  <a:pt x="4672684" y="643692"/>
                  <a:pt x="4679692" y="2344473"/>
                  <a:pt x="4690371" y="2874528"/>
                </a:cubicBezTo>
                <a:cubicBezTo>
                  <a:pt x="4718833" y="3455450"/>
                  <a:pt x="4639553" y="4896365"/>
                  <a:pt x="3826725" y="5521520"/>
                </a:cubicBezTo>
              </a:path>
            </a:pathLst>
          </a:custGeom>
          <a:noFill/>
          <a:ln w="57150">
            <a:solidFill>
              <a:srgbClr val="7030A0"/>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txBody>
          <a:bodyPr lIns="91408" tIns="45705" rIns="91408" bIns="45705" rtlCol="0" anchor="ctr"/>
          <a:lstStyle/>
          <a:p>
            <a:pPr algn="ctr" defTabSz="609199"/>
            <a:endParaRPr lang="en-US" sz="2400">
              <a:solidFill>
                <a:schemeClr val="tx1"/>
              </a:solidFill>
              <a:latin typeface="Arial"/>
            </a:endParaRPr>
          </a:p>
        </p:txBody>
      </p:sp>
      <p:grpSp>
        <p:nvGrpSpPr>
          <p:cNvPr id="38" name="Group 37">
            <a:extLst>
              <a:ext uri="{FF2B5EF4-FFF2-40B4-BE49-F238E27FC236}">
                <a16:creationId xmlns:a16="http://schemas.microsoft.com/office/drawing/2014/main" id="{BDD5413E-1D9E-9714-7EE5-66D6B18AC446}"/>
              </a:ext>
            </a:extLst>
          </p:cNvPr>
          <p:cNvGrpSpPr/>
          <p:nvPr/>
        </p:nvGrpSpPr>
        <p:grpSpPr>
          <a:xfrm>
            <a:off x="10128792" y="5946603"/>
            <a:ext cx="1738709" cy="550273"/>
            <a:chOff x="7562305" y="4502662"/>
            <a:chExt cx="1304032" cy="412705"/>
          </a:xfrm>
        </p:grpSpPr>
        <p:grpSp>
          <p:nvGrpSpPr>
            <p:cNvPr id="39" name="Group 38">
              <a:extLst>
                <a:ext uri="{FF2B5EF4-FFF2-40B4-BE49-F238E27FC236}">
                  <a16:creationId xmlns:a16="http://schemas.microsoft.com/office/drawing/2014/main" id="{DB641616-681B-E1FA-E15E-8B581A5DC4EE}"/>
                </a:ext>
              </a:extLst>
            </p:cNvPr>
            <p:cNvGrpSpPr/>
            <p:nvPr/>
          </p:nvGrpSpPr>
          <p:grpSpPr>
            <a:xfrm>
              <a:off x="7562305" y="4502662"/>
              <a:ext cx="1304032" cy="223091"/>
              <a:chOff x="4207550" y="4284065"/>
              <a:chExt cx="1304032" cy="223091"/>
            </a:xfrm>
          </p:grpSpPr>
          <p:cxnSp>
            <p:nvCxnSpPr>
              <p:cNvPr id="43" name="Straight Connector 42">
                <a:extLst>
                  <a:ext uri="{FF2B5EF4-FFF2-40B4-BE49-F238E27FC236}">
                    <a16:creationId xmlns:a16="http://schemas.microsoft.com/office/drawing/2014/main" id="{C072AB94-F7BE-665E-8E58-2B6863412195}"/>
                  </a:ext>
                </a:extLst>
              </p:cNvPr>
              <p:cNvCxnSpPr/>
              <p:nvPr/>
            </p:nvCxnSpPr>
            <p:spPr>
              <a:xfrm flipV="1">
                <a:off x="4207550" y="4411326"/>
                <a:ext cx="324862" cy="7088"/>
              </a:xfrm>
              <a:prstGeom prst="line">
                <a:avLst/>
              </a:prstGeom>
              <a:noFill/>
              <a:ln w="38100">
                <a:solidFill>
                  <a:schemeClr val="accent4">
                    <a:alpha val="85000"/>
                  </a:scheme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cxnSp>
          <p:sp>
            <p:nvSpPr>
              <p:cNvPr id="44" name="TextBox 43">
                <a:extLst>
                  <a:ext uri="{FF2B5EF4-FFF2-40B4-BE49-F238E27FC236}">
                    <a16:creationId xmlns:a16="http://schemas.microsoft.com/office/drawing/2014/main" id="{34332BC2-7089-AB85-BAFC-65822AD774A4}"/>
                  </a:ext>
                </a:extLst>
              </p:cNvPr>
              <p:cNvSpPr txBox="1"/>
              <p:nvPr/>
            </p:nvSpPr>
            <p:spPr>
              <a:xfrm>
                <a:off x="4497428" y="4284065"/>
                <a:ext cx="1014154" cy="223091"/>
              </a:xfrm>
              <a:prstGeom prst="rect">
                <a:avLst/>
              </a:prstGeom>
              <a:noFill/>
              <a:ln>
                <a:noFill/>
              </a:ln>
            </p:spPr>
            <p:txBody>
              <a:bodyPr wrap="none" lIns="96000" rIns="96000" rtlCol="0">
                <a:spAutoFit/>
              </a:bodyPr>
              <a:lstStyle/>
              <a:p>
                <a:pPr defTabSz="609585" fontAlgn="base">
                  <a:spcBef>
                    <a:spcPct val="0"/>
                  </a:spcBef>
                  <a:spcAft>
                    <a:spcPct val="0"/>
                  </a:spcAft>
                  <a:defRPr/>
                </a:pPr>
                <a:r>
                  <a:rPr lang="en-US" sz="1333">
                    <a:latin typeface="CiscoSansTT ExtraLight"/>
                    <a:ea typeface="ＭＳ Ｐゴシック" charset="0"/>
                  </a:rPr>
                  <a:t>Pre-convergence</a:t>
                </a:r>
              </a:p>
            </p:txBody>
          </p:sp>
        </p:grpSp>
        <p:grpSp>
          <p:nvGrpSpPr>
            <p:cNvPr id="40" name="Group 39">
              <a:extLst>
                <a:ext uri="{FF2B5EF4-FFF2-40B4-BE49-F238E27FC236}">
                  <a16:creationId xmlns:a16="http://schemas.microsoft.com/office/drawing/2014/main" id="{A2A315EF-E280-9D8B-28F5-4B3B626437DD}"/>
                </a:ext>
              </a:extLst>
            </p:cNvPr>
            <p:cNvGrpSpPr/>
            <p:nvPr/>
          </p:nvGrpSpPr>
          <p:grpSpPr>
            <a:xfrm>
              <a:off x="7562305" y="4692276"/>
              <a:ext cx="811157" cy="223091"/>
              <a:chOff x="4207550" y="4284065"/>
              <a:chExt cx="811157" cy="223091"/>
            </a:xfrm>
          </p:grpSpPr>
          <p:cxnSp>
            <p:nvCxnSpPr>
              <p:cNvPr id="41" name="Straight Connector 40">
                <a:extLst>
                  <a:ext uri="{FF2B5EF4-FFF2-40B4-BE49-F238E27FC236}">
                    <a16:creationId xmlns:a16="http://schemas.microsoft.com/office/drawing/2014/main" id="{B0A10A0D-B2F3-39D1-B986-214380060CF8}"/>
                  </a:ext>
                </a:extLst>
              </p:cNvPr>
              <p:cNvCxnSpPr/>
              <p:nvPr/>
            </p:nvCxnSpPr>
            <p:spPr>
              <a:xfrm flipV="1">
                <a:off x="4207550" y="4411326"/>
                <a:ext cx="324862" cy="7088"/>
              </a:xfrm>
              <a:prstGeom prst="line">
                <a:avLst/>
              </a:prstGeom>
              <a:noFill/>
              <a:ln w="38100">
                <a:solidFill>
                  <a:srgbClr val="7030A0">
                    <a:alpha val="85000"/>
                  </a:srgbClr>
                </a:solidFill>
                <a:headEnd type="none" w="med" len="med"/>
                <a:tailEnd type="triangle" w="med" len="med"/>
              </a:ln>
              <a:effectLst/>
            </p:spPr>
            <p:style>
              <a:lnRef idx="2">
                <a:schemeClr val="accent1">
                  <a:shade val="50000"/>
                </a:schemeClr>
              </a:lnRef>
              <a:fillRef idx="1">
                <a:schemeClr val="accent1"/>
              </a:fillRef>
              <a:effectRef idx="0">
                <a:schemeClr val="accent1"/>
              </a:effectRef>
              <a:fontRef idx="minor">
                <a:schemeClr val="lt1"/>
              </a:fontRef>
            </p:style>
          </p:cxnSp>
          <p:sp>
            <p:nvSpPr>
              <p:cNvPr id="42" name="TextBox 41">
                <a:extLst>
                  <a:ext uri="{FF2B5EF4-FFF2-40B4-BE49-F238E27FC236}">
                    <a16:creationId xmlns:a16="http://schemas.microsoft.com/office/drawing/2014/main" id="{74BE2175-2C3F-C381-6E65-F5C26B57CE89}"/>
                  </a:ext>
                </a:extLst>
              </p:cNvPr>
              <p:cNvSpPr txBox="1"/>
              <p:nvPr/>
            </p:nvSpPr>
            <p:spPr>
              <a:xfrm>
                <a:off x="4497428" y="4284065"/>
                <a:ext cx="521279" cy="223091"/>
              </a:xfrm>
              <a:prstGeom prst="rect">
                <a:avLst/>
              </a:prstGeom>
              <a:noFill/>
              <a:ln>
                <a:noFill/>
              </a:ln>
            </p:spPr>
            <p:txBody>
              <a:bodyPr wrap="none" lIns="96000" rIns="96000" rtlCol="0">
                <a:spAutoFit/>
              </a:bodyPr>
              <a:lstStyle/>
              <a:p>
                <a:pPr defTabSz="609585" fontAlgn="base">
                  <a:spcBef>
                    <a:spcPct val="0"/>
                  </a:spcBef>
                  <a:spcAft>
                    <a:spcPct val="0"/>
                  </a:spcAft>
                  <a:defRPr/>
                </a:pPr>
                <a:r>
                  <a:rPr lang="en-US" sz="1333">
                    <a:latin typeface="CiscoSansTT ExtraLight"/>
                    <a:ea typeface="ＭＳ Ｐゴシック" charset="0"/>
                  </a:rPr>
                  <a:t>Backup</a:t>
                </a:r>
              </a:p>
            </p:txBody>
          </p:sp>
        </p:grpSp>
      </p:grpSp>
      <p:grpSp>
        <p:nvGrpSpPr>
          <p:cNvPr id="75" name="Group 74">
            <a:extLst>
              <a:ext uri="{FF2B5EF4-FFF2-40B4-BE49-F238E27FC236}">
                <a16:creationId xmlns:a16="http://schemas.microsoft.com/office/drawing/2014/main" id="{AE119726-8443-B6CE-E456-27429647C11F}"/>
              </a:ext>
            </a:extLst>
          </p:cNvPr>
          <p:cNvGrpSpPr/>
          <p:nvPr/>
        </p:nvGrpSpPr>
        <p:grpSpPr>
          <a:xfrm>
            <a:off x="4802566" y="1368071"/>
            <a:ext cx="2219125" cy="858252"/>
            <a:chOff x="3217913" y="4133493"/>
            <a:chExt cx="1953132" cy="643689"/>
          </a:xfrm>
        </p:grpSpPr>
        <p:sp>
          <p:nvSpPr>
            <p:cNvPr id="50" name="Rectángulo redondeado 66">
              <a:extLst>
                <a:ext uri="{FF2B5EF4-FFF2-40B4-BE49-F238E27FC236}">
                  <a16:creationId xmlns:a16="http://schemas.microsoft.com/office/drawing/2014/main" id="{84F3E92B-C5E8-6E6B-2F90-EA1A1E30FEE4}"/>
                </a:ext>
              </a:extLst>
            </p:cNvPr>
            <p:cNvSpPr/>
            <p:nvPr/>
          </p:nvSpPr>
          <p:spPr>
            <a:xfrm rot="10800000">
              <a:off x="3221754" y="4615516"/>
              <a:ext cx="1947866" cy="161131"/>
            </a:xfrm>
            <a:prstGeom prst="round2SameRect">
              <a:avLst/>
            </a:prstGeom>
            <a:solidFill>
              <a:schemeClr val="bg2">
                <a:lumMod val="75000"/>
              </a:schemeClr>
            </a:solidFill>
            <a:ln w="25400" cap="flat" cmpd="sng" algn="ctr">
              <a:noFill/>
              <a:prstDash val="solid"/>
            </a:ln>
            <a:effectLst/>
          </p:spPr>
          <p:txBody>
            <a:bodyPr vert="horz" lIns="0" tIns="0" rIns="0" bIns="0" rtlCol="0" anchor="ctr"/>
            <a:lstStyle/>
            <a:p>
              <a:pPr algn="ctr" defTabSz="1219140">
                <a:defRPr/>
              </a:pPr>
              <a:endParaRPr lang="es-ES_tradnl" sz="933" kern="0">
                <a:solidFill>
                  <a:srgbClr val="005073"/>
                </a:solidFill>
                <a:latin typeface="CiscoSansTT ExtraLight"/>
              </a:endParaRPr>
            </a:p>
          </p:txBody>
        </p:sp>
        <p:sp>
          <p:nvSpPr>
            <p:cNvPr id="51" name="TextBox 50">
              <a:extLst>
                <a:ext uri="{FF2B5EF4-FFF2-40B4-BE49-F238E27FC236}">
                  <a16:creationId xmlns:a16="http://schemas.microsoft.com/office/drawing/2014/main" id="{49FEF226-FB44-6C4B-7497-2DEE22A41342}"/>
                </a:ext>
              </a:extLst>
            </p:cNvPr>
            <p:cNvSpPr txBox="1"/>
            <p:nvPr/>
          </p:nvSpPr>
          <p:spPr>
            <a:xfrm>
              <a:off x="3217913" y="4616051"/>
              <a:ext cx="1947867" cy="161131"/>
            </a:xfrm>
            <a:prstGeom prst="rect">
              <a:avLst/>
            </a:prstGeom>
            <a:noFill/>
          </p:spPr>
          <p:txBody>
            <a:bodyPr wrap="square" lIns="0" tIns="0" rIns="0" bIns="0" rtlCol="0" anchor="ctr">
              <a:normAutofit/>
            </a:bodyPr>
            <a:lstStyle/>
            <a:p>
              <a:pPr algn="ctr" defTabSz="1219140">
                <a:defRPr/>
              </a:pPr>
              <a:r>
                <a:rPr lang="es-ES_tradnl" sz="933" kern="0">
                  <a:solidFill>
                    <a:schemeClr val="bg1"/>
                  </a:solidFill>
                  <a:latin typeface="CiscoSansTT ExtraLight"/>
                </a:rPr>
                <a:t>DATA</a:t>
              </a:r>
            </a:p>
          </p:txBody>
        </p:sp>
        <p:sp>
          <p:nvSpPr>
            <p:cNvPr id="52" name="Rectángulo redondeado 64">
              <a:extLst>
                <a:ext uri="{FF2B5EF4-FFF2-40B4-BE49-F238E27FC236}">
                  <a16:creationId xmlns:a16="http://schemas.microsoft.com/office/drawing/2014/main" id="{2FE2214B-7DD0-B472-671F-179E01333CFD}"/>
                </a:ext>
              </a:extLst>
            </p:cNvPr>
            <p:cNvSpPr/>
            <p:nvPr/>
          </p:nvSpPr>
          <p:spPr>
            <a:xfrm rot="16200000">
              <a:off x="3338132" y="4018540"/>
              <a:ext cx="161130" cy="391036"/>
            </a:xfrm>
            <a:prstGeom prst="round1Rect">
              <a:avLst/>
            </a:prstGeom>
            <a:solidFill>
              <a:schemeClr val="accent2"/>
            </a:solidFill>
            <a:ln w="25400" cap="flat" cmpd="sng" algn="ctr">
              <a:noFill/>
              <a:prstDash val="solid"/>
            </a:ln>
            <a:effectLst/>
          </p:spPr>
          <p:txBody>
            <a:bodyPr vert="vert" lIns="0" tIns="0" rIns="0" bIns="0" rtlCol="0" anchor="ctr"/>
            <a:lstStyle/>
            <a:p>
              <a:pPr algn="ctr" defTabSz="1219140">
                <a:defRPr/>
              </a:pPr>
              <a:r>
                <a:rPr lang="es-ES_tradnl" sz="933" kern="0">
                  <a:latin typeface="CiscoSansTT ExtraLight"/>
                </a:rPr>
                <a:t>IPv6</a:t>
              </a:r>
              <a:endParaRPr lang="es-ES_tradnl" sz="933" b="1" kern="0">
                <a:latin typeface="CiscoSansTT ExtraLight"/>
              </a:endParaRPr>
            </a:p>
          </p:txBody>
        </p:sp>
        <p:sp>
          <p:nvSpPr>
            <p:cNvPr id="53" name="Rectángulo redondeado 64">
              <a:extLst>
                <a:ext uri="{FF2B5EF4-FFF2-40B4-BE49-F238E27FC236}">
                  <a16:creationId xmlns:a16="http://schemas.microsoft.com/office/drawing/2014/main" id="{D69783DA-05C6-6C3D-4B78-48C2FF2787A2}"/>
                </a:ext>
              </a:extLst>
            </p:cNvPr>
            <p:cNvSpPr/>
            <p:nvPr/>
          </p:nvSpPr>
          <p:spPr>
            <a:xfrm>
              <a:off x="3614214" y="4133494"/>
              <a:ext cx="1553218" cy="161131"/>
            </a:xfrm>
            <a:prstGeom prst="round1Rect">
              <a:avLst/>
            </a:prstGeom>
            <a:solidFill>
              <a:schemeClr val="accent2">
                <a:lumMod val="20000"/>
                <a:lumOff val="80000"/>
              </a:schemeClr>
            </a:solidFill>
            <a:ln w="25400" cap="flat" cmpd="sng" algn="ctr">
              <a:noFill/>
              <a:prstDash val="solid"/>
            </a:ln>
            <a:effectLst/>
          </p:spPr>
          <p:txBody>
            <a:bodyPr vert="horz" lIns="0" tIns="0" rIns="0" bIns="0" rtlCol="0" anchor="ctr"/>
            <a:lstStyle/>
            <a:p>
              <a:pPr algn="ctr" defTabSz="1219140">
                <a:defRPr/>
              </a:pPr>
              <a:r>
                <a:rPr lang="es-ES_tradnl" sz="933" kern="0">
                  <a:latin typeface="CiscoSansTT ExtraLight"/>
                </a:rPr>
                <a:t>SA = 1::1, DA = </a:t>
              </a:r>
              <a:r>
                <a:rPr lang="es-ES_tradnl" sz="933" b="1" kern="0">
                  <a:solidFill>
                    <a:schemeClr val="accent5">
                      <a:lumMod val="75000"/>
                    </a:schemeClr>
                  </a:solidFill>
                  <a:latin typeface="CiscoSansTT ExtraLight"/>
                </a:rPr>
                <a:t>fcbb:bb00:7::</a:t>
              </a:r>
            </a:p>
          </p:txBody>
        </p:sp>
        <p:sp>
          <p:nvSpPr>
            <p:cNvPr id="67" name="Rectángulo redondeado 64">
              <a:extLst>
                <a:ext uri="{FF2B5EF4-FFF2-40B4-BE49-F238E27FC236}">
                  <a16:creationId xmlns:a16="http://schemas.microsoft.com/office/drawing/2014/main" id="{C6D50D14-0EFF-E33B-E79A-3DEE3AFDFBA5}"/>
                </a:ext>
              </a:extLst>
            </p:cNvPr>
            <p:cNvSpPr/>
            <p:nvPr/>
          </p:nvSpPr>
          <p:spPr>
            <a:xfrm>
              <a:off x="3610372" y="4294623"/>
              <a:ext cx="1560673" cy="161131"/>
            </a:xfrm>
            <a:prstGeom prst="round1Rect">
              <a:avLst>
                <a:gd name="adj" fmla="val 0"/>
              </a:avLst>
            </a:prstGeom>
            <a:solidFill>
              <a:schemeClr val="accent2">
                <a:lumMod val="40000"/>
                <a:lumOff val="60000"/>
              </a:schemeClr>
            </a:solidFill>
            <a:ln w="25400" cap="flat" cmpd="sng" algn="ctr">
              <a:noFill/>
              <a:prstDash val="solid"/>
            </a:ln>
            <a:effectLst/>
          </p:spPr>
          <p:txBody>
            <a:bodyPr vert="horz" lIns="0" tIns="0" rIns="0" bIns="0" rtlCol="0" anchor="ctr"/>
            <a:lstStyle/>
            <a:p>
              <a:pPr defTabSz="1219140">
                <a:defRPr/>
              </a:pPr>
              <a:r>
                <a:rPr lang="es-ES_tradnl" sz="933" kern="0">
                  <a:latin typeface="CiscoSansTT ExtraLight"/>
                </a:rPr>
                <a:t>SL=</a:t>
              </a:r>
              <a:r>
                <a:rPr lang="es-ES_tradnl" sz="933" kern="0">
                  <a:solidFill>
                    <a:schemeClr val="accent5"/>
                  </a:solidFill>
                  <a:latin typeface="CiscoSansTT ExtraLight"/>
                </a:rPr>
                <a:t>1</a:t>
              </a:r>
              <a:r>
                <a:rPr lang="es-ES_tradnl" sz="933" kern="0">
                  <a:latin typeface="CiscoSansTT ExtraLight"/>
                </a:rPr>
                <a:t>, NH=IPv4</a:t>
              </a:r>
              <a:endParaRPr lang="es-ES_tradnl" sz="933" b="1" kern="0">
                <a:solidFill>
                  <a:schemeClr val="accent5">
                    <a:lumMod val="75000"/>
                  </a:schemeClr>
                </a:solidFill>
                <a:latin typeface="CiscoSansTT ExtraLight"/>
              </a:endParaRPr>
            </a:p>
          </p:txBody>
        </p:sp>
        <p:sp>
          <p:nvSpPr>
            <p:cNvPr id="68" name="Rectángulo redondeado 64">
              <a:extLst>
                <a:ext uri="{FF2B5EF4-FFF2-40B4-BE49-F238E27FC236}">
                  <a16:creationId xmlns:a16="http://schemas.microsoft.com/office/drawing/2014/main" id="{B892E48E-E129-9836-D7C5-4EBF88955C33}"/>
                </a:ext>
              </a:extLst>
            </p:cNvPr>
            <p:cNvSpPr/>
            <p:nvPr/>
          </p:nvSpPr>
          <p:spPr>
            <a:xfrm>
              <a:off x="3610372" y="4453786"/>
              <a:ext cx="1560673" cy="161131"/>
            </a:xfrm>
            <a:prstGeom prst="round1Rect">
              <a:avLst>
                <a:gd name="adj" fmla="val 0"/>
              </a:avLst>
            </a:prstGeom>
            <a:solidFill>
              <a:schemeClr val="accent2">
                <a:lumMod val="40000"/>
                <a:lumOff val="60000"/>
              </a:schemeClr>
            </a:solidFill>
            <a:ln w="25400" cap="flat" cmpd="sng" algn="ctr">
              <a:noFill/>
              <a:prstDash val="solid"/>
            </a:ln>
            <a:effectLst/>
          </p:spPr>
          <p:txBody>
            <a:bodyPr vert="horz" lIns="0" tIns="0" rIns="0" bIns="0" rtlCol="0" anchor="ctr"/>
            <a:lstStyle/>
            <a:p>
              <a:pPr defTabSz="1219140">
                <a:defRPr/>
              </a:pPr>
              <a:r>
                <a:rPr lang="es-ES_tradnl" sz="933" b="1" kern="0" dirty="0">
                  <a:latin typeface="CiscoSansTT ExtraLight"/>
                </a:rPr>
                <a:t>[0</a:t>
              </a:r>
              <a:r>
                <a:rPr lang="es-ES_tradnl" sz="933" b="1" kern="0" dirty="0">
                  <a:solidFill>
                    <a:srgbClr val="FFC000"/>
                  </a:solidFill>
                  <a:latin typeface="CiscoSansTT ExtraLight"/>
                </a:rPr>
                <a:t>] </a:t>
              </a:r>
              <a:r>
                <a:rPr lang="es-ES_tradnl" sz="933" b="1" kern="0" dirty="0" err="1">
                  <a:solidFill>
                    <a:srgbClr val="FFC000"/>
                  </a:solidFill>
                  <a:latin typeface="CiscoSansTT ExtraLight"/>
                </a:rPr>
                <a:t>fcbb:bb00:10:e001</a:t>
              </a:r>
              <a:r>
                <a:rPr lang="es-ES_tradnl" sz="933" b="1" kern="0" dirty="0">
                  <a:solidFill>
                    <a:srgbClr val="FFC000"/>
                  </a:solidFill>
                  <a:latin typeface="CiscoSansTT ExtraLight"/>
                </a:rPr>
                <a:t>::</a:t>
              </a:r>
            </a:p>
          </p:txBody>
        </p:sp>
        <p:sp>
          <p:nvSpPr>
            <p:cNvPr id="69" name="Rectángulo redondeado 64">
              <a:extLst>
                <a:ext uri="{FF2B5EF4-FFF2-40B4-BE49-F238E27FC236}">
                  <a16:creationId xmlns:a16="http://schemas.microsoft.com/office/drawing/2014/main" id="{E67BC5EF-D7B5-1A85-A132-D67A84DF4A54}"/>
                </a:ext>
              </a:extLst>
            </p:cNvPr>
            <p:cNvSpPr/>
            <p:nvPr/>
          </p:nvSpPr>
          <p:spPr>
            <a:xfrm rot="16200000">
              <a:off x="3256631" y="4261172"/>
              <a:ext cx="320294" cy="387195"/>
            </a:xfrm>
            <a:prstGeom prst="round1Rect">
              <a:avLst>
                <a:gd name="adj" fmla="val 0"/>
              </a:avLst>
            </a:prstGeom>
            <a:solidFill>
              <a:srgbClr val="00B050"/>
            </a:solidFill>
            <a:ln w="25400" cap="flat" cmpd="sng" algn="ctr">
              <a:noFill/>
              <a:prstDash val="solid"/>
            </a:ln>
            <a:effectLst/>
          </p:spPr>
          <p:txBody>
            <a:bodyPr vert="vert" lIns="0" tIns="0" rIns="0" bIns="0" rtlCol="0" anchor="ctr"/>
            <a:lstStyle/>
            <a:p>
              <a:pPr algn="ctr" defTabSz="1219140">
                <a:defRPr/>
              </a:pPr>
              <a:r>
                <a:rPr lang="es-ES_tradnl" sz="933" kern="0">
                  <a:latin typeface="CiscoSansTT ExtraLight"/>
                </a:rPr>
                <a:t>SRH</a:t>
              </a:r>
              <a:endParaRPr lang="es-ES_tradnl" sz="933" b="1" kern="0">
                <a:latin typeface="CiscoSansTT ExtraLight"/>
              </a:endParaRPr>
            </a:p>
          </p:txBody>
        </p:sp>
      </p:grpSp>
      <p:sp>
        <p:nvSpPr>
          <p:cNvPr id="24" name="Rectángulo redondeado 66">
            <a:extLst>
              <a:ext uri="{FF2B5EF4-FFF2-40B4-BE49-F238E27FC236}">
                <a16:creationId xmlns:a16="http://schemas.microsoft.com/office/drawing/2014/main" id="{84AD7DCD-6EB9-44C8-EC8B-443F28F8E6ED}"/>
              </a:ext>
            </a:extLst>
          </p:cNvPr>
          <p:cNvSpPr/>
          <p:nvPr/>
        </p:nvSpPr>
        <p:spPr>
          <a:xfrm rot="10800000">
            <a:off x="4916161" y="5792982"/>
            <a:ext cx="2213143" cy="214841"/>
          </a:xfrm>
          <a:prstGeom prst="round2SameRect">
            <a:avLst/>
          </a:prstGeom>
          <a:solidFill>
            <a:schemeClr val="bg2">
              <a:lumMod val="75000"/>
            </a:schemeClr>
          </a:solidFill>
          <a:ln w="25400" cap="flat" cmpd="sng" algn="ctr">
            <a:noFill/>
            <a:prstDash val="solid"/>
          </a:ln>
          <a:effectLst/>
        </p:spPr>
        <p:txBody>
          <a:bodyPr vert="horz" lIns="0" tIns="0" rIns="0" bIns="0" rtlCol="0" anchor="ctr"/>
          <a:lstStyle/>
          <a:p>
            <a:pPr algn="ctr" defTabSz="1219140">
              <a:defRPr/>
            </a:pPr>
            <a:endParaRPr lang="es-ES_tradnl" sz="933" kern="0">
              <a:solidFill>
                <a:srgbClr val="005073"/>
              </a:solidFill>
              <a:latin typeface="CiscoSansTT ExtraLight"/>
            </a:endParaRPr>
          </a:p>
        </p:txBody>
      </p:sp>
      <p:sp>
        <p:nvSpPr>
          <p:cNvPr id="31" name="TextBox 30">
            <a:extLst>
              <a:ext uri="{FF2B5EF4-FFF2-40B4-BE49-F238E27FC236}">
                <a16:creationId xmlns:a16="http://schemas.microsoft.com/office/drawing/2014/main" id="{CC014DB0-E837-8B13-B058-346F46CE6EBC}"/>
              </a:ext>
            </a:extLst>
          </p:cNvPr>
          <p:cNvSpPr txBox="1"/>
          <p:nvPr/>
        </p:nvSpPr>
        <p:spPr>
          <a:xfrm>
            <a:off x="4914831" y="5798977"/>
            <a:ext cx="2213143" cy="214841"/>
          </a:xfrm>
          <a:prstGeom prst="rect">
            <a:avLst/>
          </a:prstGeom>
          <a:noFill/>
        </p:spPr>
        <p:txBody>
          <a:bodyPr wrap="square" lIns="0" tIns="0" rIns="0" bIns="0" rtlCol="0" anchor="ctr">
            <a:normAutofit/>
          </a:bodyPr>
          <a:lstStyle/>
          <a:p>
            <a:pPr algn="ctr" defTabSz="1219140">
              <a:defRPr/>
            </a:pPr>
            <a:r>
              <a:rPr lang="es-ES_tradnl" sz="933" kern="0">
                <a:solidFill>
                  <a:schemeClr val="bg1"/>
                </a:solidFill>
                <a:latin typeface="CiscoSansTT ExtraLight"/>
              </a:rPr>
              <a:t>DATA</a:t>
            </a:r>
          </a:p>
        </p:txBody>
      </p:sp>
      <p:sp>
        <p:nvSpPr>
          <p:cNvPr id="33" name="Rectángulo redondeado 64">
            <a:extLst>
              <a:ext uri="{FF2B5EF4-FFF2-40B4-BE49-F238E27FC236}">
                <a16:creationId xmlns:a16="http://schemas.microsoft.com/office/drawing/2014/main" id="{2A43DB1B-E11C-3D79-B55F-37854FAB138C}"/>
              </a:ext>
            </a:extLst>
          </p:cNvPr>
          <p:cNvSpPr/>
          <p:nvPr/>
        </p:nvSpPr>
        <p:spPr>
          <a:xfrm rot="16200000">
            <a:off x="5030393" y="4607904"/>
            <a:ext cx="214840" cy="444291"/>
          </a:xfrm>
          <a:prstGeom prst="round1Rect">
            <a:avLst/>
          </a:prstGeom>
          <a:solidFill>
            <a:schemeClr val="accent2"/>
          </a:solidFill>
          <a:ln w="25400" cap="flat" cmpd="sng" algn="ctr">
            <a:noFill/>
            <a:prstDash val="solid"/>
          </a:ln>
          <a:effectLst/>
        </p:spPr>
        <p:txBody>
          <a:bodyPr vert="vert" lIns="0" tIns="0" rIns="0" bIns="0" rtlCol="0" anchor="ctr"/>
          <a:lstStyle/>
          <a:p>
            <a:pPr algn="ctr" defTabSz="1219140">
              <a:defRPr/>
            </a:pPr>
            <a:r>
              <a:rPr lang="es-ES_tradnl" sz="933" kern="0">
                <a:latin typeface="CiscoSansTT ExtraLight"/>
              </a:rPr>
              <a:t>IPv6</a:t>
            </a:r>
            <a:endParaRPr lang="es-ES_tradnl" sz="933" b="1" kern="0">
              <a:latin typeface="CiscoSansTT ExtraLight"/>
            </a:endParaRPr>
          </a:p>
        </p:txBody>
      </p:sp>
      <p:sp>
        <p:nvSpPr>
          <p:cNvPr id="45" name="Rectángulo redondeado 64">
            <a:extLst>
              <a:ext uri="{FF2B5EF4-FFF2-40B4-BE49-F238E27FC236}">
                <a16:creationId xmlns:a16="http://schemas.microsoft.com/office/drawing/2014/main" id="{884AE9C9-9026-C285-CE18-AC0FB0956C0A}"/>
              </a:ext>
            </a:extLst>
          </p:cNvPr>
          <p:cNvSpPr/>
          <p:nvPr/>
        </p:nvSpPr>
        <p:spPr>
          <a:xfrm>
            <a:off x="5359958" y="4722632"/>
            <a:ext cx="1764748" cy="214841"/>
          </a:xfrm>
          <a:prstGeom prst="round1Rect">
            <a:avLst/>
          </a:prstGeom>
          <a:solidFill>
            <a:schemeClr val="accent2">
              <a:lumMod val="20000"/>
              <a:lumOff val="80000"/>
            </a:schemeClr>
          </a:solidFill>
          <a:ln w="25400" cap="flat" cmpd="sng" algn="ctr">
            <a:noFill/>
            <a:prstDash val="solid"/>
          </a:ln>
          <a:effectLst/>
        </p:spPr>
        <p:txBody>
          <a:bodyPr vert="horz" lIns="0" tIns="0" rIns="0" bIns="0" rtlCol="0" anchor="ctr"/>
          <a:lstStyle/>
          <a:p>
            <a:pPr algn="ctr" defTabSz="1219140">
              <a:defRPr/>
            </a:pPr>
            <a:r>
              <a:rPr lang="es-ES_tradnl" sz="933" kern="0">
                <a:latin typeface="CiscoSansTT ExtraLight"/>
              </a:rPr>
              <a:t>SA = 1::1, DA = </a:t>
            </a:r>
            <a:r>
              <a:rPr lang="es-ES_tradnl" sz="933" b="1" kern="0">
                <a:solidFill>
                  <a:schemeClr val="accent5">
                    <a:lumMod val="75000"/>
                  </a:schemeClr>
                </a:solidFill>
                <a:latin typeface="CiscoSansTT ExtraLight"/>
              </a:rPr>
              <a:t>fcbb:bb00:5::</a:t>
            </a:r>
          </a:p>
        </p:txBody>
      </p:sp>
      <p:sp>
        <p:nvSpPr>
          <p:cNvPr id="47" name="Rectángulo redondeado 64">
            <a:extLst>
              <a:ext uri="{FF2B5EF4-FFF2-40B4-BE49-F238E27FC236}">
                <a16:creationId xmlns:a16="http://schemas.microsoft.com/office/drawing/2014/main" id="{53ECDD03-69C0-3739-2E9C-61DB268B9D8E}"/>
              </a:ext>
            </a:extLst>
          </p:cNvPr>
          <p:cNvSpPr/>
          <p:nvPr/>
        </p:nvSpPr>
        <p:spPr>
          <a:xfrm>
            <a:off x="5353425" y="5364477"/>
            <a:ext cx="1773219" cy="214841"/>
          </a:xfrm>
          <a:prstGeom prst="round1Rect">
            <a:avLst>
              <a:gd name="adj" fmla="val 0"/>
            </a:avLst>
          </a:prstGeom>
          <a:solidFill>
            <a:schemeClr val="accent2">
              <a:lumMod val="40000"/>
              <a:lumOff val="60000"/>
            </a:schemeClr>
          </a:solidFill>
          <a:ln w="25400" cap="flat" cmpd="sng" algn="ctr">
            <a:noFill/>
            <a:prstDash val="solid"/>
          </a:ln>
          <a:effectLst/>
        </p:spPr>
        <p:txBody>
          <a:bodyPr vert="horz" lIns="0" tIns="0" rIns="0" bIns="0" rtlCol="0" anchor="ctr"/>
          <a:lstStyle/>
          <a:p>
            <a:pPr defTabSz="1219140">
              <a:defRPr/>
            </a:pPr>
            <a:r>
              <a:rPr lang="es-ES_tradnl" sz="933" kern="0">
                <a:latin typeface="CiscoSansTT ExtraLight"/>
              </a:rPr>
              <a:t>SL=</a:t>
            </a:r>
            <a:r>
              <a:rPr lang="es-ES_tradnl" sz="933" kern="0">
                <a:solidFill>
                  <a:schemeClr val="accent5"/>
                </a:solidFill>
                <a:latin typeface="CiscoSansTT ExtraLight"/>
              </a:rPr>
              <a:t>1</a:t>
            </a:r>
            <a:r>
              <a:rPr lang="es-ES_tradnl" sz="933" kern="0">
                <a:latin typeface="CiscoSansTT ExtraLight"/>
              </a:rPr>
              <a:t>, NH=IPv4</a:t>
            </a:r>
            <a:endParaRPr lang="es-ES_tradnl" sz="933" b="1" kern="0">
              <a:solidFill>
                <a:schemeClr val="accent5">
                  <a:lumMod val="75000"/>
                </a:schemeClr>
              </a:solidFill>
              <a:latin typeface="CiscoSansTT ExtraLight"/>
            </a:endParaRPr>
          </a:p>
        </p:txBody>
      </p:sp>
      <p:sp>
        <p:nvSpPr>
          <p:cNvPr id="48" name="Rectángulo redondeado 64">
            <a:extLst>
              <a:ext uri="{FF2B5EF4-FFF2-40B4-BE49-F238E27FC236}">
                <a16:creationId xmlns:a16="http://schemas.microsoft.com/office/drawing/2014/main" id="{6ACB7784-8A1E-BB12-EE3E-4B32A324FA2B}"/>
              </a:ext>
            </a:extLst>
          </p:cNvPr>
          <p:cNvSpPr/>
          <p:nvPr/>
        </p:nvSpPr>
        <p:spPr>
          <a:xfrm>
            <a:off x="5353425" y="5576694"/>
            <a:ext cx="1773219" cy="214841"/>
          </a:xfrm>
          <a:prstGeom prst="round1Rect">
            <a:avLst>
              <a:gd name="adj" fmla="val 0"/>
            </a:avLst>
          </a:prstGeom>
          <a:solidFill>
            <a:schemeClr val="accent2">
              <a:lumMod val="40000"/>
              <a:lumOff val="60000"/>
            </a:schemeClr>
          </a:solidFill>
          <a:ln w="25400" cap="flat" cmpd="sng" algn="ctr">
            <a:noFill/>
            <a:prstDash val="solid"/>
          </a:ln>
          <a:effectLst/>
        </p:spPr>
        <p:txBody>
          <a:bodyPr vert="horz" lIns="0" tIns="0" rIns="0" bIns="0" rtlCol="0" anchor="ctr"/>
          <a:lstStyle/>
          <a:p>
            <a:pPr defTabSz="1219140">
              <a:defRPr/>
            </a:pPr>
            <a:r>
              <a:rPr lang="es-ES_tradnl" sz="933" b="1" kern="0" dirty="0">
                <a:latin typeface="CiscoSansTT ExtraLight"/>
              </a:rPr>
              <a:t>[0] </a:t>
            </a:r>
            <a:r>
              <a:rPr lang="es-ES_tradnl" sz="933" b="1" kern="0" dirty="0" err="1">
                <a:solidFill>
                  <a:srgbClr val="FFC000"/>
                </a:solidFill>
                <a:latin typeface="CiscoSansTT ExtraLight"/>
              </a:rPr>
              <a:t>fcbb:bb00:10:e001</a:t>
            </a:r>
            <a:r>
              <a:rPr lang="es-ES_tradnl" sz="933" b="1" kern="0" dirty="0">
                <a:solidFill>
                  <a:srgbClr val="FFC000"/>
                </a:solidFill>
                <a:latin typeface="CiscoSansTT ExtraLight"/>
              </a:rPr>
              <a:t>::</a:t>
            </a:r>
          </a:p>
        </p:txBody>
      </p:sp>
      <p:sp>
        <p:nvSpPr>
          <p:cNvPr id="49" name="Rectángulo redondeado 64">
            <a:extLst>
              <a:ext uri="{FF2B5EF4-FFF2-40B4-BE49-F238E27FC236}">
                <a16:creationId xmlns:a16="http://schemas.microsoft.com/office/drawing/2014/main" id="{1C7D1910-613C-7CD9-F0A0-EB83F965236E}"/>
              </a:ext>
            </a:extLst>
          </p:cNvPr>
          <p:cNvSpPr/>
          <p:nvPr/>
        </p:nvSpPr>
        <p:spPr>
          <a:xfrm rot="16200000">
            <a:off x="4919937" y="5358042"/>
            <a:ext cx="427059" cy="439927"/>
          </a:xfrm>
          <a:prstGeom prst="round1Rect">
            <a:avLst>
              <a:gd name="adj" fmla="val 0"/>
            </a:avLst>
          </a:prstGeom>
          <a:solidFill>
            <a:srgbClr val="00B050"/>
          </a:solidFill>
          <a:ln w="25400" cap="flat" cmpd="sng" algn="ctr">
            <a:noFill/>
            <a:prstDash val="solid"/>
          </a:ln>
          <a:effectLst/>
        </p:spPr>
        <p:txBody>
          <a:bodyPr vert="vert" lIns="0" tIns="0" rIns="0" bIns="0" rtlCol="0" anchor="ctr"/>
          <a:lstStyle/>
          <a:p>
            <a:pPr algn="ctr" defTabSz="1219140">
              <a:defRPr/>
            </a:pPr>
            <a:r>
              <a:rPr lang="es-ES_tradnl" sz="933" kern="0">
                <a:latin typeface="CiscoSansTT ExtraLight"/>
              </a:rPr>
              <a:t>SRH</a:t>
            </a:r>
            <a:endParaRPr lang="es-ES_tradnl" sz="933" b="1" kern="0">
              <a:latin typeface="CiscoSansTT ExtraLight"/>
            </a:endParaRPr>
          </a:p>
        </p:txBody>
      </p:sp>
      <p:grpSp>
        <p:nvGrpSpPr>
          <p:cNvPr id="54" name="Group 53">
            <a:extLst>
              <a:ext uri="{FF2B5EF4-FFF2-40B4-BE49-F238E27FC236}">
                <a16:creationId xmlns:a16="http://schemas.microsoft.com/office/drawing/2014/main" id="{25E8EC27-6D1E-8C91-A875-4A26F2D8DB2A}"/>
              </a:ext>
            </a:extLst>
          </p:cNvPr>
          <p:cNvGrpSpPr/>
          <p:nvPr/>
        </p:nvGrpSpPr>
        <p:grpSpPr>
          <a:xfrm>
            <a:off x="9918551" y="3790275"/>
            <a:ext cx="2219125" cy="858252"/>
            <a:chOff x="3217913" y="4133493"/>
            <a:chExt cx="1953132" cy="643689"/>
          </a:xfrm>
        </p:grpSpPr>
        <p:sp>
          <p:nvSpPr>
            <p:cNvPr id="55" name="Rectángulo redondeado 66">
              <a:extLst>
                <a:ext uri="{FF2B5EF4-FFF2-40B4-BE49-F238E27FC236}">
                  <a16:creationId xmlns:a16="http://schemas.microsoft.com/office/drawing/2014/main" id="{1D5A0873-B79B-580F-41E0-DC2A0AC9B8C1}"/>
                </a:ext>
              </a:extLst>
            </p:cNvPr>
            <p:cNvSpPr/>
            <p:nvPr/>
          </p:nvSpPr>
          <p:spPr>
            <a:xfrm rot="10800000">
              <a:off x="3221754" y="4615516"/>
              <a:ext cx="1947866" cy="161131"/>
            </a:xfrm>
            <a:prstGeom prst="round2SameRect">
              <a:avLst/>
            </a:prstGeom>
            <a:solidFill>
              <a:schemeClr val="bg2">
                <a:lumMod val="75000"/>
              </a:schemeClr>
            </a:solidFill>
            <a:ln w="25400" cap="flat" cmpd="sng" algn="ctr">
              <a:noFill/>
              <a:prstDash val="solid"/>
            </a:ln>
            <a:effectLst/>
          </p:spPr>
          <p:txBody>
            <a:bodyPr vert="horz" lIns="0" tIns="0" rIns="0" bIns="0" rtlCol="0" anchor="ctr"/>
            <a:lstStyle/>
            <a:p>
              <a:pPr algn="ctr" defTabSz="1219140">
                <a:defRPr/>
              </a:pPr>
              <a:endParaRPr lang="es-ES_tradnl" sz="933" kern="0">
                <a:latin typeface="CiscoSansTT ExtraLight"/>
              </a:endParaRPr>
            </a:p>
          </p:txBody>
        </p:sp>
        <p:sp>
          <p:nvSpPr>
            <p:cNvPr id="56" name="TextBox 55">
              <a:extLst>
                <a:ext uri="{FF2B5EF4-FFF2-40B4-BE49-F238E27FC236}">
                  <a16:creationId xmlns:a16="http://schemas.microsoft.com/office/drawing/2014/main" id="{F096D50A-24D0-6530-F243-F438D0E016F6}"/>
                </a:ext>
              </a:extLst>
            </p:cNvPr>
            <p:cNvSpPr txBox="1"/>
            <p:nvPr/>
          </p:nvSpPr>
          <p:spPr>
            <a:xfrm>
              <a:off x="3217913" y="4616051"/>
              <a:ext cx="1947867" cy="161131"/>
            </a:xfrm>
            <a:prstGeom prst="rect">
              <a:avLst/>
            </a:prstGeom>
            <a:noFill/>
          </p:spPr>
          <p:txBody>
            <a:bodyPr wrap="square" lIns="0" tIns="0" rIns="0" bIns="0" rtlCol="0" anchor="ctr">
              <a:normAutofit/>
            </a:bodyPr>
            <a:lstStyle/>
            <a:p>
              <a:pPr algn="ctr" defTabSz="1219140">
                <a:defRPr/>
              </a:pPr>
              <a:r>
                <a:rPr lang="es-ES_tradnl" sz="933" kern="0">
                  <a:latin typeface="CiscoSansTT ExtraLight"/>
                </a:rPr>
                <a:t>DATA</a:t>
              </a:r>
            </a:p>
          </p:txBody>
        </p:sp>
        <p:sp>
          <p:nvSpPr>
            <p:cNvPr id="57" name="Rectángulo redondeado 64">
              <a:extLst>
                <a:ext uri="{FF2B5EF4-FFF2-40B4-BE49-F238E27FC236}">
                  <a16:creationId xmlns:a16="http://schemas.microsoft.com/office/drawing/2014/main" id="{29D7DC56-810A-C386-FDB0-286DD9CCD2E8}"/>
                </a:ext>
              </a:extLst>
            </p:cNvPr>
            <p:cNvSpPr/>
            <p:nvPr/>
          </p:nvSpPr>
          <p:spPr>
            <a:xfrm rot="16200000">
              <a:off x="3338132" y="4018540"/>
              <a:ext cx="161130" cy="391036"/>
            </a:xfrm>
            <a:prstGeom prst="round1Rect">
              <a:avLst/>
            </a:prstGeom>
            <a:solidFill>
              <a:schemeClr val="accent2"/>
            </a:solidFill>
            <a:ln w="25400" cap="flat" cmpd="sng" algn="ctr">
              <a:noFill/>
              <a:prstDash val="solid"/>
            </a:ln>
            <a:effectLst/>
          </p:spPr>
          <p:txBody>
            <a:bodyPr vert="vert" lIns="0" tIns="0" rIns="0" bIns="0" rtlCol="0" anchor="ctr"/>
            <a:lstStyle/>
            <a:p>
              <a:pPr algn="ctr" defTabSz="1219140">
                <a:defRPr/>
              </a:pPr>
              <a:r>
                <a:rPr lang="es-ES_tradnl" sz="933" kern="0">
                  <a:latin typeface="CiscoSansTT ExtraLight"/>
                </a:rPr>
                <a:t>IPv6</a:t>
              </a:r>
              <a:endParaRPr lang="es-ES_tradnl" sz="933" b="1" kern="0">
                <a:latin typeface="CiscoSansTT ExtraLight"/>
              </a:endParaRPr>
            </a:p>
          </p:txBody>
        </p:sp>
        <p:sp>
          <p:nvSpPr>
            <p:cNvPr id="58" name="Rectángulo redondeado 64">
              <a:extLst>
                <a:ext uri="{FF2B5EF4-FFF2-40B4-BE49-F238E27FC236}">
                  <a16:creationId xmlns:a16="http://schemas.microsoft.com/office/drawing/2014/main" id="{5E19E806-4D4F-DADC-3E17-8FD0D3D03841}"/>
                </a:ext>
              </a:extLst>
            </p:cNvPr>
            <p:cNvSpPr/>
            <p:nvPr/>
          </p:nvSpPr>
          <p:spPr>
            <a:xfrm>
              <a:off x="3614214" y="4133494"/>
              <a:ext cx="1553218" cy="161131"/>
            </a:xfrm>
            <a:prstGeom prst="round1Rect">
              <a:avLst/>
            </a:prstGeom>
            <a:solidFill>
              <a:schemeClr val="accent2">
                <a:lumMod val="20000"/>
                <a:lumOff val="80000"/>
              </a:schemeClr>
            </a:solidFill>
            <a:ln w="25400" cap="flat" cmpd="sng" algn="ctr">
              <a:noFill/>
              <a:prstDash val="solid"/>
            </a:ln>
            <a:effectLst/>
          </p:spPr>
          <p:txBody>
            <a:bodyPr vert="horz" lIns="0" tIns="0" rIns="0" bIns="0" rtlCol="0" anchor="ctr"/>
            <a:lstStyle/>
            <a:p>
              <a:pPr algn="ctr" defTabSz="1219140">
                <a:defRPr/>
              </a:pPr>
              <a:r>
                <a:rPr lang="es-ES_tradnl" sz="933" kern="0">
                  <a:latin typeface="CiscoSansTT ExtraLight"/>
                </a:rPr>
                <a:t>SA = 1::1, DA = </a:t>
              </a:r>
              <a:r>
                <a:rPr lang="es-ES_tradnl" sz="933" b="1" kern="0">
                  <a:latin typeface="CiscoSansTT ExtraLight"/>
                </a:rPr>
                <a:t>fcbb:bb00:7::</a:t>
              </a:r>
            </a:p>
          </p:txBody>
        </p:sp>
        <p:sp>
          <p:nvSpPr>
            <p:cNvPr id="59" name="Rectángulo redondeado 64">
              <a:extLst>
                <a:ext uri="{FF2B5EF4-FFF2-40B4-BE49-F238E27FC236}">
                  <a16:creationId xmlns:a16="http://schemas.microsoft.com/office/drawing/2014/main" id="{977171DF-C1F1-5AE0-D547-D42257023050}"/>
                </a:ext>
              </a:extLst>
            </p:cNvPr>
            <p:cNvSpPr/>
            <p:nvPr/>
          </p:nvSpPr>
          <p:spPr>
            <a:xfrm>
              <a:off x="3610372" y="4294623"/>
              <a:ext cx="1560673" cy="161131"/>
            </a:xfrm>
            <a:prstGeom prst="round1Rect">
              <a:avLst>
                <a:gd name="adj" fmla="val 0"/>
              </a:avLst>
            </a:prstGeom>
            <a:solidFill>
              <a:schemeClr val="accent2">
                <a:lumMod val="40000"/>
                <a:lumOff val="60000"/>
              </a:schemeClr>
            </a:solidFill>
            <a:ln w="25400" cap="flat" cmpd="sng" algn="ctr">
              <a:noFill/>
              <a:prstDash val="solid"/>
            </a:ln>
            <a:effectLst/>
          </p:spPr>
          <p:txBody>
            <a:bodyPr vert="horz" lIns="0" tIns="0" rIns="0" bIns="0" rtlCol="0" anchor="ctr"/>
            <a:lstStyle/>
            <a:p>
              <a:pPr defTabSz="1219140">
                <a:defRPr/>
              </a:pPr>
              <a:r>
                <a:rPr lang="es-ES_tradnl" sz="933" kern="0">
                  <a:latin typeface="CiscoSansTT ExtraLight"/>
                </a:rPr>
                <a:t>SL=1, NH=IPv4</a:t>
              </a:r>
              <a:endParaRPr lang="es-ES_tradnl" sz="933" b="1" kern="0">
                <a:latin typeface="CiscoSansTT ExtraLight"/>
              </a:endParaRPr>
            </a:p>
          </p:txBody>
        </p:sp>
        <p:sp>
          <p:nvSpPr>
            <p:cNvPr id="60" name="Rectángulo redondeado 64">
              <a:extLst>
                <a:ext uri="{FF2B5EF4-FFF2-40B4-BE49-F238E27FC236}">
                  <a16:creationId xmlns:a16="http://schemas.microsoft.com/office/drawing/2014/main" id="{335CE0BC-8768-4B9F-54FB-ECCD35B11E16}"/>
                </a:ext>
              </a:extLst>
            </p:cNvPr>
            <p:cNvSpPr/>
            <p:nvPr/>
          </p:nvSpPr>
          <p:spPr>
            <a:xfrm>
              <a:off x="3610372" y="4453786"/>
              <a:ext cx="1560673" cy="161131"/>
            </a:xfrm>
            <a:prstGeom prst="round1Rect">
              <a:avLst>
                <a:gd name="adj" fmla="val 0"/>
              </a:avLst>
            </a:prstGeom>
            <a:solidFill>
              <a:schemeClr val="accent2">
                <a:lumMod val="40000"/>
                <a:lumOff val="60000"/>
              </a:schemeClr>
            </a:solidFill>
            <a:ln w="25400" cap="flat" cmpd="sng" algn="ctr">
              <a:noFill/>
              <a:prstDash val="solid"/>
            </a:ln>
            <a:effectLst/>
          </p:spPr>
          <p:txBody>
            <a:bodyPr vert="horz" lIns="0" tIns="0" rIns="0" bIns="0" rtlCol="0" anchor="ctr"/>
            <a:lstStyle/>
            <a:p>
              <a:pPr defTabSz="1219140">
                <a:defRPr/>
              </a:pPr>
              <a:r>
                <a:rPr lang="es-ES_tradnl" sz="933" b="1" kern="0" dirty="0">
                  <a:latin typeface="CiscoSansTT ExtraLight"/>
                </a:rPr>
                <a:t>[0] </a:t>
              </a:r>
              <a:r>
                <a:rPr lang="es-ES_tradnl" sz="933" b="1" kern="0" dirty="0" err="1">
                  <a:solidFill>
                    <a:srgbClr val="FFC000"/>
                  </a:solidFill>
                  <a:latin typeface="CiscoSansTT ExtraLight"/>
                </a:rPr>
                <a:t>fcbb:bb00:10:e001</a:t>
              </a:r>
              <a:r>
                <a:rPr lang="es-ES_tradnl" sz="933" b="1" kern="0" dirty="0">
                  <a:solidFill>
                    <a:srgbClr val="FFC000"/>
                  </a:solidFill>
                  <a:latin typeface="CiscoSansTT ExtraLight"/>
                </a:rPr>
                <a:t>::</a:t>
              </a:r>
            </a:p>
          </p:txBody>
        </p:sp>
        <p:sp>
          <p:nvSpPr>
            <p:cNvPr id="61" name="Rectángulo redondeado 64">
              <a:extLst>
                <a:ext uri="{FF2B5EF4-FFF2-40B4-BE49-F238E27FC236}">
                  <a16:creationId xmlns:a16="http://schemas.microsoft.com/office/drawing/2014/main" id="{8F6A66AD-4163-8B28-022D-A16D7FBE3423}"/>
                </a:ext>
              </a:extLst>
            </p:cNvPr>
            <p:cNvSpPr/>
            <p:nvPr/>
          </p:nvSpPr>
          <p:spPr>
            <a:xfrm rot="16200000">
              <a:off x="3256631" y="4261172"/>
              <a:ext cx="320294" cy="387195"/>
            </a:xfrm>
            <a:prstGeom prst="round1Rect">
              <a:avLst>
                <a:gd name="adj" fmla="val 0"/>
              </a:avLst>
            </a:prstGeom>
            <a:solidFill>
              <a:srgbClr val="00B050"/>
            </a:solidFill>
            <a:ln w="25400" cap="flat" cmpd="sng" algn="ctr">
              <a:noFill/>
              <a:prstDash val="solid"/>
            </a:ln>
            <a:effectLst/>
          </p:spPr>
          <p:txBody>
            <a:bodyPr vert="vert" lIns="0" tIns="0" rIns="0" bIns="0" rtlCol="0" anchor="ctr"/>
            <a:lstStyle/>
            <a:p>
              <a:pPr algn="ctr" defTabSz="1219140">
                <a:defRPr/>
              </a:pPr>
              <a:r>
                <a:rPr lang="es-ES_tradnl" sz="933" kern="0">
                  <a:latin typeface="CiscoSansTT ExtraLight"/>
                </a:rPr>
                <a:t>SRH</a:t>
              </a:r>
              <a:endParaRPr lang="es-ES_tradnl" sz="933" b="1" kern="0">
                <a:latin typeface="CiscoSansTT ExtraLight"/>
              </a:endParaRPr>
            </a:p>
          </p:txBody>
        </p:sp>
      </p:grpSp>
      <p:sp>
        <p:nvSpPr>
          <p:cNvPr id="62" name="Rectángulo redondeado 64">
            <a:extLst>
              <a:ext uri="{FF2B5EF4-FFF2-40B4-BE49-F238E27FC236}">
                <a16:creationId xmlns:a16="http://schemas.microsoft.com/office/drawing/2014/main" id="{6953407D-9AEB-AD74-92FF-F23D8F1724A5}"/>
              </a:ext>
            </a:extLst>
          </p:cNvPr>
          <p:cNvSpPr/>
          <p:nvPr/>
        </p:nvSpPr>
        <p:spPr>
          <a:xfrm>
            <a:off x="5355997" y="4937476"/>
            <a:ext cx="1773219" cy="214841"/>
          </a:xfrm>
          <a:prstGeom prst="round1Rect">
            <a:avLst>
              <a:gd name="adj" fmla="val 0"/>
            </a:avLst>
          </a:prstGeom>
          <a:solidFill>
            <a:schemeClr val="accent2">
              <a:lumMod val="40000"/>
              <a:lumOff val="60000"/>
            </a:schemeClr>
          </a:solidFill>
          <a:ln w="25400" cap="flat" cmpd="sng" algn="ctr">
            <a:noFill/>
            <a:prstDash val="solid"/>
          </a:ln>
          <a:effectLst/>
        </p:spPr>
        <p:txBody>
          <a:bodyPr vert="horz" lIns="0" tIns="0" rIns="0" bIns="0" rtlCol="0" anchor="ctr"/>
          <a:lstStyle/>
          <a:p>
            <a:pPr defTabSz="1219140">
              <a:defRPr/>
            </a:pPr>
            <a:r>
              <a:rPr lang="es-ES_tradnl" sz="933" kern="0">
                <a:latin typeface="CiscoSansTT ExtraLight"/>
              </a:rPr>
              <a:t>SL=</a:t>
            </a:r>
            <a:r>
              <a:rPr lang="es-ES_tradnl" sz="933" kern="0">
                <a:solidFill>
                  <a:schemeClr val="accent5"/>
                </a:solidFill>
                <a:latin typeface="CiscoSansTT ExtraLight"/>
              </a:rPr>
              <a:t>1</a:t>
            </a:r>
            <a:r>
              <a:rPr lang="es-ES_tradnl" sz="933" kern="0">
                <a:latin typeface="CiscoSansTT ExtraLight"/>
              </a:rPr>
              <a:t>, NH=IPv4</a:t>
            </a:r>
            <a:endParaRPr lang="es-ES_tradnl" sz="933" b="1" kern="0">
              <a:solidFill>
                <a:schemeClr val="accent5">
                  <a:lumMod val="75000"/>
                </a:schemeClr>
              </a:solidFill>
              <a:latin typeface="CiscoSansTT ExtraLight"/>
            </a:endParaRPr>
          </a:p>
        </p:txBody>
      </p:sp>
      <p:sp>
        <p:nvSpPr>
          <p:cNvPr id="63" name="Rectángulo redondeado 64">
            <a:extLst>
              <a:ext uri="{FF2B5EF4-FFF2-40B4-BE49-F238E27FC236}">
                <a16:creationId xmlns:a16="http://schemas.microsoft.com/office/drawing/2014/main" id="{7AB48AE3-5567-A788-2693-99821FC08709}"/>
              </a:ext>
            </a:extLst>
          </p:cNvPr>
          <p:cNvSpPr/>
          <p:nvPr/>
        </p:nvSpPr>
        <p:spPr>
          <a:xfrm>
            <a:off x="5355997" y="5149693"/>
            <a:ext cx="1773219" cy="214841"/>
          </a:xfrm>
          <a:prstGeom prst="round1Rect">
            <a:avLst>
              <a:gd name="adj" fmla="val 0"/>
            </a:avLst>
          </a:prstGeom>
          <a:solidFill>
            <a:schemeClr val="accent2">
              <a:lumMod val="40000"/>
              <a:lumOff val="60000"/>
            </a:schemeClr>
          </a:solidFill>
          <a:ln w="25400" cap="flat" cmpd="sng" algn="ctr">
            <a:noFill/>
            <a:prstDash val="solid"/>
          </a:ln>
          <a:effectLst/>
        </p:spPr>
        <p:txBody>
          <a:bodyPr vert="horz" lIns="0" tIns="0" rIns="0" bIns="0" rtlCol="0" anchor="ctr"/>
          <a:lstStyle/>
          <a:p>
            <a:pPr defTabSz="1219140">
              <a:defRPr/>
            </a:pPr>
            <a:r>
              <a:rPr lang="es-ES_tradnl" sz="933" b="1" kern="0" dirty="0">
                <a:latin typeface="CiscoSansTT ExtraLight"/>
              </a:rPr>
              <a:t>[0] </a:t>
            </a:r>
            <a:r>
              <a:rPr lang="es-ES_tradnl" sz="933" b="1" kern="0" dirty="0" err="1">
                <a:latin typeface="CiscoSansTT ExtraLight"/>
              </a:rPr>
              <a:t>fcbb:bb00:7</a:t>
            </a:r>
            <a:r>
              <a:rPr lang="es-ES_tradnl" sz="933" b="1" kern="0" dirty="0">
                <a:latin typeface="CiscoSansTT ExtraLight"/>
              </a:rPr>
              <a:t>::</a:t>
            </a:r>
          </a:p>
        </p:txBody>
      </p:sp>
      <p:sp>
        <p:nvSpPr>
          <p:cNvPr id="64" name="Rectángulo redondeado 64">
            <a:extLst>
              <a:ext uri="{FF2B5EF4-FFF2-40B4-BE49-F238E27FC236}">
                <a16:creationId xmlns:a16="http://schemas.microsoft.com/office/drawing/2014/main" id="{A3291C68-C7E5-CE9C-23E8-5BF7C03761A9}"/>
              </a:ext>
            </a:extLst>
          </p:cNvPr>
          <p:cNvSpPr/>
          <p:nvPr/>
        </p:nvSpPr>
        <p:spPr>
          <a:xfrm rot="16200000">
            <a:off x="4922509" y="4931041"/>
            <a:ext cx="427059" cy="439927"/>
          </a:xfrm>
          <a:prstGeom prst="round1Rect">
            <a:avLst>
              <a:gd name="adj" fmla="val 0"/>
            </a:avLst>
          </a:prstGeom>
          <a:solidFill>
            <a:srgbClr val="00B050"/>
          </a:solidFill>
          <a:ln w="25400" cap="flat" cmpd="sng" algn="ctr">
            <a:noFill/>
            <a:prstDash val="solid"/>
          </a:ln>
          <a:effectLst/>
        </p:spPr>
        <p:txBody>
          <a:bodyPr vert="vert" lIns="0" tIns="0" rIns="0" bIns="0" rtlCol="0" anchor="ctr"/>
          <a:lstStyle/>
          <a:p>
            <a:pPr algn="ctr" defTabSz="1219140">
              <a:defRPr/>
            </a:pPr>
            <a:r>
              <a:rPr lang="es-ES_tradnl" sz="933" kern="0">
                <a:latin typeface="CiscoSansTT ExtraLight"/>
              </a:rPr>
              <a:t>SRH</a:t>
            </a:r>
            <a:endParaRPr lang="es-ES_tradnl" sz="933" b="1" kern="0">
              <a:latin typeface="CiscoSansTT ExtraLight"/>
            </a:endParaRPr>
          </a:p>
        </p:txBody>
      </p:sp>
      <p:sp>
        <p:nvSpPr>
          <p:cNvPr id="25" name="Rectangle 24">
            <a:extLst>
              <a:ext uri="{FF2B5EF4-FFF2-40B4-BE49-F238E27FC236}">
                <a16:creationId xmlns:a16="http://schemas.microsoft.com/office/drawing/2014/main" id="{BFC0EC92-C8A5-C1B6-B7BA-1A70DAE71C7B}"/>
              </a:ext>
            </a:extLst>
          </p:cNvPr>
          <p:cNvSpPr/>
          <p:nvPr/>
        </p:nvSpPr>
        <p:spPr>
          <a:xfrm>
            <a:off x="1192696" y="2951569"/>
            <a:ext cx="2932043" cy="41537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4F515C5-214C-CE02-B256-B20E095CB1FC}"/>
              </a:ext>
            </a:extLst>
          </p:cNvPr>
          <p:cNvSpPr/>
          <p:nvPr/>
        </p:nvSpPr>
        <p:spPr>
          <a:xfrm>
            <a:off x="4802566" y="4954966"/>
            <a:ext cx="2374998" cy="41537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9298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up)">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wipe(down)">
                                      <p:cBhvr>
                                        <p:cTn id="12" dur="500"/>
                                        <p:tgtEl>
                                          <p:spTgt spid="37"/>
                                        </p:tgtEl>
                                      </p:cBhvr>
                                    </p:animEffect>
                                  </p:childTnLst>
                                </p:cTn>
                              </p:par>
                              <p:par>
                                <p:cTn id="13" presetID="1" presetClass="entr" presetSubtype="0"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DECB2BE-3588-63BA-C536-701ECC855728}"/>
              </a:ext>
            </a:extLst>
          </p:cNvPr>
          <p:cNvSpPr>
            <a:spLocks noGrp="1"/>
          </p:cNvSpPr>
          <p:nvPr>
            <p:ph type="body" sz="quarter" idx="11"/>
          </p:nvPr>
        </p:nvSpPr>
        <p:spPr/>
        <p:txBody>
          <a:bodyPr/>
          <a:lstStyle/>
          <a:p>
            <a:r>
              <a:rPr lang="en-US" dirty="0"/>
              <a:t>Ti-LFA – SRv6 - Single-Segment Example</a:t>
            </a:r>
          </a:p>
        </p:txBody>
      </p:sp>
      <p:pic>
        <p:nvPicPr>
          <p:cNvPr id="5" name="Picture 4" descr="A screenshot of a computer&#10;&#10;AI-generated content may be incorrect.">
            <a:extLst>
              <a:ext uri="{FF2B5EF4-FFF2-40B4-BE49-F238E27FC236}">
                <a16:creationId xmlns:a16="http://schemas.microsoft.com/office/drawing/2014/main" id="{462F2160-8CFC-3AB8-43D2-DB3C6354C1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141" y="1146595"/>
            <a:ext cx="11255715" cy="4930567"/>
          </a:xfrm>
          <a:prstGeom prst="rect">
            <a:avLst/>
          </a:prstGeom>
        </p:spPr>
      </p:pic>
    </p:spTree>
    <p:extLst>
      <p:ext uri="{BB962C8B-B14F-4D97-AF65-F5344CB8AC3E}">
        <p14:creationId xmlns:p14="http://schemas.microsoft.com/office/powerpoint/2010/main" val="542774270"/>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E742F71-CB14-F871-9BC6-E7148D874260}"/>
              </a:ext>
            </a:extLst>
          </p:cNvPr>
          <p:cNvSpPr>
            <a:spLocks noGrp="1"/>
          </p:cNvSpPr>
          <p:nvPr>
            <p:ph type="body" sz="quarter" idx="10"/>
          </p:nvPr>
        </p:nvSpPr>
        <p:spPr/>
        <p:txBody>
          <a:bodyPr/>
          <a:lstStyle/>
          <a:p>
            <a:r>
              <a:rPr lang="en-US" dirty="0"/>
              <a:t>Packet captured </a:t>
            </a:r>
            <a:r>
              <a:rPr lang="en-US" b="1" dirty="0"/>
              <a:t>on backup path</a:t>
            </a:r>
          </a:p>
        </p:txBody>
      </p:sp>
      <p:sp>
        <p:nvSpPr>
          <p:cNvPr id="3" name="Text Placeholder 2">
            <a:extLst>
              <a:ext uri="{FF2B5EF4-FFF2-40B4-BE49-F238E27FC236}">
                <a16:creationId xmlns:a16="http://schemas.microsoft.com/office/drawing/2014/main" id="{34AAF363-5A68-DD36-CF66-AB1E1414CEA6}"/>
              </a:ext>
            </a:extLst>
          </p:cNvPr>
          <p:cNvSpPr>
            <a:spLocks noGrp="1"/>
          </p:cNvSpPr>
          <p:nvPr>
            <p:ph type="body" sz="quarter" idx="11"/>
          </p:nvPr>
        </p:nvSpPr>
        <p:spPr/>
        <p:txBody>
          <a:bodyPr/>
          <a:lstStyle/>
          <a:p>
            <a:r>
              <a:rPr lang="en-US" dirty="0"/>
              <a:t>Ti-LFA – SRv6 - Single-Segment Example</a:t>
            </a:r>
          </a:p>
        </p:txBody>
      </p:sp>
      <p:pic>
        <p:nvPicPr>
          <p:cNvPr id="5" name="Picture 4" descr="A screenshot of a computer&#10;&#10;AI-generated content may be incorrect.">
            <a:extLst>
              <a:ext uri="{FF2B5EF4-FFF2-40B4-BE49-F238E27FC236}">
                <a16:creationId xmlns:a16="http://schemas.microsoft.com/office/drawing/2014/main" id="{2A8F2BDF-DE04-F2D1-55D6-6F6123C724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0571" y="1353886"/>
            <a:ext cx="10790855" cy="4564776"/>
          </a:xfrm>
          <a:prstGeom prst="rect">
            <a:avLst/>
          </a:prstGeom>
        </p:spPr>
      </p:pic>
    </p:spTree>
    <p:extLst>
      <p:ext uri="{BB962C8B-B14F-4D97-AF65-F5344CB8AC3E}">
        <p14:creationId xmlns:p14="http://schemas.microsoft.com/office/powerpoint/2010/main" val="416594493"/>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Description automatically generated">
            <a:extLst>
              <a:ext uri="{FF2B5EF4-FFF2-40B4-BE49-F238E27FC236}">
                <a16:creationId xmlns:a16="http://schemas.microsoft.com/office/drawing/2014/main" id="{AE0FAF0B-2136-F362-602F-FB2851AB0C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746" y="512769"/>
            <a:ext cx="11400508" cy="3894157"/>
          </a:xfrm>
          <a:prstGeom prst="rect">
            <a:avLst/>
          </a:prstGeom>
        </p:spPr>
      </p:pic>
      <p:sp>
        <p:nvSpPr>
          <p:cNvPr id="4" name="Text Placeholder 3">
            <a:extLst>
              <a:ext uri="{FF2B5EF4-FFF2-40B4-BE49-F238E27FC236}">
                <a16:creationId xmlns:a16="http://schemas.microsoft.com/office/drawing/2014/main" id="{17963E0C-DDF6-86A5-E716-5DDA08FEB1B6}"/>
              </a:ext>
            </a:extLst>
          </p:cNvPr>
          <p:cNvSpPr>
            <a:spLocks noGrp="1"/>
          </p:cNvSpPr>
          <p:nvPr>
            <p:ph type="body" sz="quarter" idx="10"/>
          </p:nvPr>
        </p:nvSpPr>
        <p:spPr>
          <a:xfrm>
            <a:off x="785446" y="4255477"/>
            <a:ext cx="5418503" cy="2074985"/>
          </a:xfrm>
        </p:spPr>
        <p:txBody>
          <a:bodyPr/>
          <a:lstStyle/>
          <a:p>
            <a:r>
              <a:rPr lang="en-US" sz="1800" b="1" dirty="0"/>
              <a:t>50msec Protection </a:t>
            </a:r>
            <a:r>
              <a:rPr lang="en-US" sz="1800" dirty="0"/>
              <a:t>upon local </a:t>
            </a:r>
            <a:r>
              <a:rPr lang="en-US" sz="1800" b="1" dirty="0"/>
              <a:t>link</a:t>
            </a:r>
            <a:r>
              <a:rPr lang="en-US" sz="1800" dirty="0"/>
              <a:t>, </a:t>
            </a:r>
            <a:r>
              <a:rPr lang="en-US" sz="1800" b="1" dirty="0"/>
              <a:t>node</a:t>
            </a:r>
            <a:r>
              <a:rPr lang="en-US" sz="1800" dirty="0"/>
              <a:t> or </a:t>
            </a:r>
            <a:r>
              <a:rPr lang="en-US" sz="1800" b="1" dirty="0"/>
              <a:t>SRLG</a:t>
            </a:r>
            <a:r>
              <a:rPr lang="en-US" sz="1800" dirty="0"/>
              <a:t> failure</a:t>
            </a:r>
          </a:p>
          <a:p>
            <a:r>
              <a:rPr lang="en-US" sz="1800" b="1" dirty="0"/>
              <a:t>Simple</a:t>
            </a:r>
            <a:r>
              <a:rPr lang="en-US" sz="1800" dirty="0"/>
              <a:t> to operate and understand</a:t>
            </a:r>
          </a:p>
          <a:p>
            <a:pPr lvl="1"/>
            <a:r>
              <a:rPr lang="en-US" sz="1800" dirty="0"/>
              <a:t>automatically computed by the router’s IGP process</a:t>
            </a:r>
          </a:p>
          <a:p>
            <a:pPr lvl="1"/>
            <a:r>
              <a:rPr lang="en-US" sz="1800" dirty="0"/>
              <a:t>100% coverage across any topology</a:t>
            </a:r>
          </a:p>
          <a:p>
            <a:pPr lvl="1"/>
            <a:r>
              <a:rPr lang="en-US" sz="1800" dirty="0"/>
              <a:t>predictable (backup = post-convergence)</a:t>
            </a:r>
          </a:p>
        </p:txBody>
      </p:sp>
      <p:sp>
        <p:nvSpPr>
          <p:cNvPr id="5" name="Text Placeholder 4">
            <a:extLst>
              <a:ext uri="{FF2B5EF4-FFF2-40B4-BE49-F238E27FC236}">
                <a16:creationId xmlns:a16="http://schemas.microsoft.com/office/drawing/2014/main" id="{64191239-B61F-1E98-9EE5-14BDCF039B5C}"/>
              </a:ext>
            </a:extLst>
          </p:cNvPr>
          <p:cNvSpPr>
            <a:spLocks noGrp="1"/>
          </p:cNvSpPr>
          <p:nvPr>
            <p:ph type="body" sz="quarter" idx="12"/>
          </p:nvPr>
        </p:nvSpPr>
        <p:spPr>
          <a:xfrm>
            <a:off x="6203950" y="4255477"/>
            <a:ext cx="5718420" cy="2356338"/>
          </a:xfrm>
        </p:spPr>
        <p:txBody>
          <a:bodyPr/>
          <a:lstStyle/>
          <a:p>
            <a:r>
              <a:rPr lang="en-US" sz="1800" b="1" dirty="0"/>
              <a:t>Optimum backup path</a:t>
            </a:r>
          </a:p>
          <a:p>
            <a:pPr marL="742950" lvl="1" indent="-285750">
              <a:buFont typeface="Arial" panose="020B0604020202020204" pitchFamily="34" charset="0"/>
              <a:buChar char="-"/>
            </a:pPr>
            <a:r>
              <a:rPr lang="en-US" sz="1800" dirty="0"/>
              <a:t>leverages the post-convergence path</a:t>
            </a:r>
          </a:p>
          <a:p>
            <a:pPr marL="742950" lvl="1" indent="-285750">
              <a:buFont typeface="Arial" panose="020B0604020202020204" pitchFamily="34" charset="0"/>
              <a:buChar char="-"/>
            </a:pPr>
            <a:r>
              <a:rPr lang="en-US" sz="1800" dirty="0"/>
              <a:t>avoid any intermediate flap via alternate path</a:t>
            </a:r>
          </a:p>
          <a:p>
            <a:r>
              <a:rPr lang="en-US" sz="1800" b="1" dirty="0"/>
              <a:t>Incremental deployment</a:t>
            </a:r>
          </a:p>
          <a:p>
            <a:r>
              <a:rPr lang="en-US" sz="1800" b="1" dirty="0"/>
              <a:t>Distributed and Automated Intelligence</a:t>
            </a:r>
          </a:p>
        </p:txBody>
      </p:sp>
      <p:sp>
        <p:nvSpPr>
          <p:cNvPr id="11" name="Rectangle 10">
            <a:extLst>
              <a:ext uri="{FF2B5EF4-FFF2-40B4-BE49-F238E27FC236}">
                <a16:creationId xmlns:a16="http://schemas.microsoft.com/office/drawing/2014/main" id="{DC537A04-BF3A-78FE-3528-74AF872B914D}"/>
              </a:ext>
            </a:extLst>
          </p:cNvPr>
          <p:cNvSpPr/>
          <p:nvPr/>
        </p:nvSpPr>
        <p:spPr>
          <a:xfrm>
            <a:off x="222738" y="726831"/>
            <a:ext cx="996462" cy="5627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163E9446-705E-48A3-5F8A-B7DD800CF513}"/>
              </a:ext>
            </a:extLst>
          </p:cNvPr>
          <p:cNvSpPr>
            <a:spLocks noGrp="1"/>
          </p:cNvSpPr>
          <p:nvPr>
            <p:ph type="body" sz="quarter" idx="11"/>
          </p:nvPr>
        </p:nvSpPr>
        <p:spPr>
          <a:xfrm>
            <a:off x="873918" y="138768"/>
            <a:ext cx="10444163" cy="773017"/>
          </a:xfrm>
        </p:spPr>
        <p:txBody>
          <a:bodyPr/>
          <a:lstStyle/>
          <a:p>
            <a:r>
              <a:rPr lang="en-US" dirty="0"/>
              <a:t>TI-LFA with uSID</a:t>
            </a:r>
          </a:p>
        </p:txBody>
      </p:sp>
    </p:spTree>
    <p:extLst>
      <p:ext uri="{BB962C8B-B14F-4D97-AF65-F5344CB8AC3E}">
        <p14:creationId xmlns:p14="http://schemas.microsoft.com/office/powerpoint/2010/main" val="102212293"/>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diagram&#10;&#10;Description automatically generated">
            <a:extLst>
              <a:ext uri="{FF2B5EF4-FFF2-40B4-BE49-F238E27FC236}">
                <a16:creationId xmlns:a16="http://schemas.microsoft.com/office/drawing/2014/main" id="{E8C4A6EA-A46A-C9AF-5CC6-C63C1C1DDC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70" y="864925"/>
            <a:ext cx="11911092" cy="4061812"/>
          </a:xfrm>
          <a:prstGeom prst="rect">
            <a:avLst/>
          </a:prstGeom>
        </p:spPr>
      </p:pic>
      <p:sp>
        <p:nvSpPr>
          <p:cNvPr id="4" name="Text Placeholder 3">
            <a:extLst>
              <a:ext uri="{FF2B5EF4-FFF2-40B4-BE49-F238E27FC236}">
                <a16:creationId xmlns:a16="http://schemas.microsoft.com/office/drawing/2014/main" id="{17963E0C-DDF6-86A5-E716-5DDA08FEB1B6}"/>
              </a:ext>
            </a:extLst>
          </p:cNvPr>
          <p:cNvSpPr>
            <a:spLocks noGrp="1"/>
          </p:cNvSpPr>
          <p:nvPr>
            <p:ph type="body" sz="quarter" idx="10"/>
          </p:nvPr>
        </p:nvSpPr>
        <p:spPr>
          <a:xfrm>
            <a:off x="873918" y="4495801"/>
            <a:ext cx="10444163" cy="2199740"/>
          </a:xfrm>
        </p:spPr>
        <p:txBody>
          <a:bodyPr/>
          <a:lstStyle/>
          <a:p>
            <a:r>
              <a:rPr lang="en-US" sz="1800" i="1" dirty="0"/>
              <a:t>Intuitive Reading:</a:t>
            </a:r>
          </a:p>
          <a:p>
            <a:pPr lvl="1"/>
            <a:r>
              <a:rPr lang="en-US" sz="1800" dirty="0"/>
              <a:t>FC00:0000:0005::/48 leads the packet along the shortest path to </a:t>
            </a:r>
            <a:r>
              <a:rPr lang="en-US" sz="1800" b="1" dirty="0"/>
              <a:t>5</a:t>
            </a:r>
          </a:p>
          <a:p>
            <a:pPr lvl="1"/>
            <a:r>
              <a:rPr lang="en-US" sz="1800" dirty="0"/>
              <a:t>FC00:0000:0006:0000::/64 leads the packet along the shortest path to </a:t>
            </a:r>
            <a:r>
              <a:rPr lang="en-US" sz="1800" b="1" dirty="0"/>
              <a:t>6</a:t>
            </a:r>
            <a:r>
              <a:rPr lang="en-US" sz="1800" dirty="0"/>
              <a:t> and finishes the micro-program in the DA</a:t>
            </a:r>
          </a:p>
          <a:p>
            <a:pPr lvl="1"/>
            <a:r>
              <a:rPr lang="en-US" sz="1800" dirty="0"/>
              <a:t>The next SID is then loaded from the SRH into the DA</a:t>
            </a:r>
          </a:p>
          <a:p>
            <a:pPr lvl="1"/>
            <a:r>
              <a:rPr lang="en-US" sz="1800" dirty="0"/>
              <a:t>The packet resumes its path to </a:t>
            </a:r>
            <a:r>
              <a:rPr lang="en-US" sz="1800" b="1" dirty="0"/>
              <a:t>2</a:t>
            </a:r>
            <a:r>
              <a:rPr lang="en-US" sz="1800" dirty="0"/>
              <a:t> with original DA = FC00:0000:0002:F009::</a:t>
            </a:r>
          </a:p>
        </p:txBody>
      </p:sp>
      <p:sp>
        <p:nvSpPr>
          <p:cNvPr id="3" name="Text Placeholder 2">
            <a:extLst>
              <a:ext uri="{FF2B5EF4-FFF2-40B4-BE49-F238E27FC236}">
                <a16:creationId xmlns:a16="http://schemas.microsoft.com/office/drawing/2014/main" id="{163E9446-705E-48A3-5F8A-B7DD800CF513}"/>
              </a:ext>
            </a:extLst>
          </p:cNvPr>
          <p:cNvSpPr>
            <a:spLocks noGrp="1"/>
          </p:cNvSpPr>
          <p:nvPr>
            <p:ph type="body" sz="quarter" idx="11"/>
          </p:nvPr>
        </p:nvSpPr>
        <p:spPr/>
        <p:txBody>
          <a:bodyPr/>
          <a:lstStyle/>
          <a:p>
            <a:r>
              <a:rPr lang="en-US" dirty="0"/>
              <a:t>TI-LFA with uSID (protection active)</a:t>
            </a:r>
          </a:p>
        </p:txBody>
      </p:sp>
      <p:sp>
        <p:nvSpPr>
          <p:cNvPr id="11" name="Rectangle 10">
            <a:extLst>
              <a:ext uri="{FF2B5EF4-FFF2-40B4-BE49-F238E27FC236}">
                <a16:creationId xmlns:a16="http://schemas.microsoft.com/office/drawing/2014/main" id="{DC537A04-BF3A-78FE-3528-74AF872B914D}"/>
              </a:ext>
            </a:extLst>
          </p:cNvPr>
          <p:cNvSpPr/>
          <p:nvPr/>
        </p:nvSpPr>
        <p:spPr>
          <a:xfrm>
            <a:off x="0" y="967140"/>
            <a:ext cx="1341744" cy="5627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 Placeholder 3">
            <a:extLst>
              <a:ext uri="{FF2B5EF4-FFF2-40B4-BE49-F238E27FC236}">
                <a16:creationId xmlns:a16="http://schemas.microsoft.com/office/drawing/2014/main" id="{EDFA3A01-F2B6-FFB5-AB0D-C8E4DEF1B258}"/>
              </a:ext>
            </a:extLst>
          </p:cNvPr>
          <p:cNvSpPr txBox="1">
            <a:spLocks/>
          </p:cNvSpPr>
          <p:nvPr/>
        </p:nvSpPr>
        <p:spPr>
          <a:xfrm>
            <a:off x="7072771" y="3149256"/>
            <a:ext cx="4896491" cy="1777481"/>
          </a:xfrm>
          <a:prstGeom prst="rect">
            <a:avLst/>
          </a:prstGeom>
        </p:spPr>
        <p:txBody>
          <a:bodyPr/>
          <a:lstStyle>
            <a:lvl1pPr marL="285750" indent="-285750" algn="l" defTabSz="914400" rtl="0" eaLnBrk="1" latinLnBrk="0" hangingPunct="1">
              <a:lnSpc>
                <a:spcPct val="100000"/>
              </a:lnSpc>
              <a:spcBef>
                <a:spcPts val="1000"/>
              </a:spcBef>
              <a:buClr>
                <a:schemeClr val="tx2"/>
              </a:buClr>
              <a:buFont typeface="Arial" panose="020B0604020202020204" pitchFamily="34" charset="0"/>
              <a:buChar char="•"/>
              <a:defRPr sz="2400" b="0" kern="1200">
                <a:solidFill>
                  <a:schemeClr val="tx1"/>
                </a:solidFill>
                <a:latin typeface="+mn-lt"/>
                <a:ea typeface="+mn-ea"/>
                <a:cs typeface="+mn-cs"/>
              </a:defRPr>
            </a:lvl1pPr>
            <a:lvl2pPr marL="800100" indent="-342900" algn="l" defTabSz="914400" rtl="0" eaLnBrk="1" latinLnBrk="0" hangingPunct="1">
              <a:lnSpc>
                <a:spcPct val="100000"/>
              </a:lnSpc>
              <a:spcBef>
                <a:spcPts val="500"/>
              </a:spcBef>
              <a:buClr>
                <a:schemeClr val="tx2"/>
              </a:buClr>
              <a:buFont typeface="Arial" panose="020B0604020202020204" pitchFamily="34" charset="0"/>
              <a:buChar char="–"/>
              <a:defRPr sz="2400" b="0" kern="1200">
                <a:solidFill>
                  <a:schemeClr val="tx1"/>
                </a:solidFill>
                <a:latin typeface="+mn-lt"/>
                <a:ea typeface="+mn-ea"/>
                <a:cs typeface="+mn-cs"/>
              </a:defRPr>
            </a:lvl2pPr>
            <a:lvl3pPr marL="1200150" indent="-285750" algn="l" defTabSz="914400" rtl="0" eaLnBrk="1" latinLnBrk="0" hangingPunct="1">
              <a:lnSpc>
                <a:spcPct val="100000"/>
              </a:lnSpc>
              <a:spcBef>
                <a:spcPts val="500"/>
              </a:spcBef>
              <a:buClr>
                <a:schemeClr val="tx2"/>
              </a:buClr>
              <a:buFont typeface="Wingdings" panose="05000000000000000000" pitchFamily="2" charset="2"/>
              <a:buChar char="§"/>
              <a:defRPr sz="2400" b="0" kern="1200">
                <a:solidFill>
                  <a:schemeClr val="tx1"/>
                </a:solidFill>
                <a:latin typeface="+mn-lt"/>
                <a:ea typeface="+mn-ea"/>
                <a:cs typeface="+mn-cs"/>
              </a:defRPr>
            </a:lvl3pPr>
            <a:lvl4pPr marL="1657350" indent="-285750" algn="l" defTabSz="914400" rtl="0" eaLnBrk="1" latinLnBrk="0" hangingPunct="1">
              <a:lnSpc>
                <a:spcPct val="100000"/>
              </a:lnSpc>
              <a:spcBef>
                <a:spcPts val="500"/>
              </a:spcBef>
              <a:buClr>
                <a:schemeClr val="tx2"/>
              </a:buClr>
              <a:buFont typeface="Courier New" panose="02070309020205020404" pitchFamily="49" charset="0"/>
              <a:buChar char="o"/>
              <a:defRPr sz="2400" b="0" kern="1200">
                <a:solidFill>
                  <a:schemeClr val="tx1"/>
                </a:solidFill>
                <a:latin typeface="+mn-lt"/>
                <a:ea typeface="+mn-ea"/>
                <a:cs typeface="+mn-cs"/>
              </a:defRPr>
            </a:lvl4pPr>
            <a:lvl5pPr marL="2114550" indent="-285750" algn="l" defTabSz="914400" rtl="0" eaLnBrk="1" latinLnBrk="0" hangingPunct="1">
              <a:lnSpc>
                <a:spcPct val="100000"/>
              </a:lnSpc>
              <a:spcBef>
                <a:spcPts val="500"/>
              </a:spcBef>
              <a:buClr>
                <a:schemeClr val="tx2"/>
              </a:buClr>
              <a:buFont typeface="Arial" panose="020B0604020202020204" pitchFamily="34" charset="0"/>
              <a:buChar char="•"/>
              <a:defRPr sz="2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Upon failure of its outgoing interface to destination FC00:0000:0002::/48, </a:t>
            </a:r>
            <a:r>
              <a:rPr lang="en-US" sz="1800" b="1" dirty="0"/>
              <a:t>3</a:t>
            </a:r>
            <a:r>
              <a:rPr lang="en-US" sz="1800" dirty="0"/>
              <a:t> does</a:t>
            </a:r>
          </a:p>
          <a:p>
            <a:pPr lvl="1"/>
            <a:r>
              <a:rPr lang="en-US" sz="1800" dirty="0"/>
              <a:t>Add an SRH with the received DA </a:t>
            </a:r>
            <a:r>
              <a:rPr lang="en-US" sz="1800" dirty="0">
                <a:solidFill>
                  <a:srgbClr val="00B0F0"/>
                </a:solidFill>
              </a:rPr>
              <a:t>FC00:0000:0002:F009::</a:t>
            </a:r>
          </a:p>
          <a:p>
            <a:pPr lvl="1"/>
            <a:r>
              <a:rPr lang="en-US" sz="1800" dirty="0"/>
              <a:t>Set DA to </a:t>
            </a:r>
            <a:r>
              <a:rPr lang="en-US" sz="1800" dirty="0">
                <a:solidFill>
                  <a:srgbClr val="00B050"/>
                </a:solidFill>
              </a:rPr>
              <a:t>FC00:0000:0005:</a:t>
            </a:r>
            <a:r>
              <a:rPr lang="en-US" sz="1800" dirty="0">
                <a:solidFill>
                  <a:srgbClr val="7030A0"/>
                </a:solidFill>
              </a:rPr>
              <a:t>0006</a:t>
            </a:r>
            <a:r>
              <a:rPr lang="en-US" sz="1800" dirty="0">
                <a:solidFill>
                  <a:srgbClr val="00B050"/>
                </a:solidFill>
              </a:rPr>
              <a:t>:</a:t>
            </a:r>
            <a:r>
              <a:rPr lang="en-US" sz="1800" dirty="0"/>
              <a:t>:</a:t>
            </a:r>
          </a:p>
        </p:txBody>
      </p:sp>
      <p:sp>
        <p:nvSpPr>
          <p:cNvPr id="13" name="Oval 12">
            <a:extLst>
              <a:ext uri="{FF2B5EF4-FFF2-40B4-BE49-F238E27FC236}">
                <a16:creationId xmlns:a16="http://schemas.microsoft.com/office/drawing/2014/main" id="{791549F4-ECDF-794D-DB5D-6FEAEE86B5FD}"/>
              </a:ext>
            </a:extLst>
          </p:cNvPr>
          <p:cNvSpPr/>
          <p:nvPr/>
        </p:nvSpPr>
        <p:spPr>
          <a:xfrm>
            <a:off x="4836318" y="6090549"/>
            <a:ext cx="360522" cy="365466"/>
          </a:xfrm>
          <a:prstGeom prst="ellipse">
            <a:avLst/>
          </a:prstGeom>
          <a:solidFill>
            <a:srgbClr val="FFFF00">
              <a:alpha val="25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4E58E02-1954-1D4C-7B2D-6D0F4B8D8051}"/>
              </a:ext>
            </a:extLst>
          </p:cNvPr>
          <p:cNvSpPr/>
          <p:nvPr/>
        </p:nvSpPr>
        <p:spPr>
          <a:xfrm>
            <a:off x="8801649" y="5219900"/>
            <a:ext cx="360522" cy="365466"/>
          </a:xfrm>
          <a:prstGeom prst="ellipse">
            <a:avLst/>
          </a:prstGeom>
          <a:solidFill>
            <a:srgbClr val="FFFF00">
              <a:alpha val="25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D957280-2409-7286-C8E4-FDC25C7B1B01}"/>
              </a:ext>
            </a:extLst>
          </p:cNvPr>
          <p:cNvSpPr/>
          <p:nvPr/>
        </p:nvSpPr>
        <p:spPr>
          <a:xfrm>
            <a:off x="8219598" y="4844792"/>
            <a:ext cx="360522" cy="365466"/>
          </a:xfrm>
          <a:prstGeom prst="ellipse">
            <a:avLst/>
          </a:prstGeom>
          <a:solidFill>
            <a:srgbClr val="FFFF00">
              <a:alpha val="25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C7C6164-43F2-26E1-C560-DDF997C29259}"/>
              </a:ext>
            </a:extLst>
          </p:cNvPr>
          <p:cNvSpPr/>
          <p:nvPr/>
        </p:nvSpPr>
        <p:spPr>
          <a:xfrm>
            <a:off x="10779918" y="3441823"/>
            <a:ext cx="360522" cy="365466"/>
          </a:xfrm>
          <a:prstGeom prst="ellipse">
            <a:avLst/>
          </a:prstGeom>
          <a:solidFill>
            <a:srgbClr val="FFFF00">
              <a:alpha val="25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6161175"/>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22851A4-4C87-E8EA-C674-0E18A6AB564E}"/>
              </a:ext>
            </a:extLst>
          </p:cNvPr>
          <p:cNvSpPr>
            <a:spLocks noGrp="1"/>
          </p:cNvSpPr>
          <p:nvPr>
            <p:ph type="body" sz="quarter" idx="10"/>
          </p:nvPr>
        </p:nvSpPr>
        <p:spPr/>
        <p:txBody>
          <a:bodyPr/>
          <a:lstStyle/>
          <a:p>
            <a:r>
              <a:rPr lang="en-US" dirty="0"/>
              <a:t>SRv6 configuration (locator + SRv6 Full SID / Micro SID config) </a:t>
            </a:r>
            <a:r>
              <a:rPr lang="en-US" sz="1600" dirty="0"/>
              <a:t>see above</a:t>
            </a:r>
          </a:p>
          <a:p>
            <a:pPr lvl="1"/>
            <a:r>
              <a:rPr lang="en-US" dirty="0"/>
              <a:t>ISIS routing for address-family ipv6 unicast</a:t>
            </a:r>
          </a:p>
          <a:p>
            <a:pPr lvl="1"/>
            <a:endParaRPr lang="en-US" dirty="0"/>
          </a:p>
          <a:p>
            <a:pPr lvl="1"/>
            <a:endParaRPr lang="en-US" dirty="0"/>
          </a:p>
          <a:p>
            <a:pPr lvl="1"/>
            <a:endParaRPr lang="en-US" dirty="0"/>
          </a:p>
          <a:p>
            <a:pPr lvl="1"/>
            <a:endParaRPr lang="en-US" dirty="0"/>
          </a:p>
          <a:p>
            <a:pPr lvl="1"/>
            <a:endParaRPr lang="en-US" dirty="0"/>
          </a:p>
          <a:p>
            <a:pPr lvl="2"/>
            <a:r>
              <a:rPr lang="en-US" dirty="0"/>
              <a:t>TI-LFA config per interface</a:t>
            </a:r>
          </a:p>
          <a:p>
            <a:endParaRPr lang="en-US" dirty="0"/>
          </a:p>
          <a:p>
            <a:endParaRPr lang="en-US" dirty="0"/>
          </a:p>
        </p:txBody>
      </p:sp>
      <p:sp>
        <p:nvSpPr>
          <p:cNvPr id="3" name="Text Placeholder 2">
            <a:extLst>
              <a:ext uri="{FF2B5EF4-FFF2-40B4-BE49-F238E27FC236}">
                <a16:creationId xmlns:a16="http://schemas.microsoft.com/office/drawing/2014/main" id="{94B8ED6C-7982-3897-7E1B-8084D5838EE0}"/>
              </a:ext>
            </a:extLst>
          </p:cNvPr>
          <p:cNvSpPr>
            <a:spLocks noGrp="1"/>
          </p:cNvSpPr>
          <p:nvPr>
            <p:ph type="body" sz="quarter" idx="11"/>
          </p:nvPr>
        </p:nvSpPr>
        <p:spPr/>
        <p:txBody>
          <a:bodyPr/>
          <a:lstStyle/>
          <a:p>
            <a:r>
              <a:rPr lang="en-US" dirty="0"/>
              <a:t>SRv6 ISIS TI-LFA</a:t>
            </a:r>
          </a:p>
        </p:txBody>
      </p:sp>
      <p:sp>
        <p:nvSpPr>
          <p:cNvPr id="4" name="Rectangle 3">
            <a:extLst>
              <a:ext uri="{FF2B5EF4-FFF2-40B4-BE49-F238E27FC236}">
                <a16:creationId xmlns:a16="http://schemas.microsoft.com/office/drawing/2014/main" id="{F98719AC-0EF2-C7E4-78EA-EFDFDB78EC6D}"/>
              </a:ext>
            </a:extLst>
          </p:cNvPr>
          <p:cNvSpPr/>
          <p:nvPr/>
        </p:nvSpPr>
        <p:spPr>
          <a:xfrm>
            <a:off x="2090846" y="4625287"/>
            <a:ext cx="6486305" cy="1384995"/>
          </a:xfrm>
          <a:prstGeom prst="rect">
            <a:avLst/>
          </a:prstGeom>
          <a:solidFill>
            <a:schemeClr val="bg1">
              <a:lumMod val="95000"/>
            </a:schemeClr>
          </a:solidFill>
          <a:ln>
            <a:solidFill>
              <a:schemeClr val="tx1"/>
            </a:solidFill>
          </a:ln>
          <a:effectLst/>
        </p:spPr>
        <p:txBody>
          <a:bodyPr wrap="square">
            <a:spAutoFit/>
          </a:bodyPr>
          <a:lstStyle/>
          <a:p>
            <a:r>
              <a:rPr lang="en-US" sz="1400" dirty="0">
                <a:latin typeface="Consolas" panose="020B0609020204030204" pitchFamily="49" charset="0"/>
              </a:rPr>
              <a:t>router isis 1</a:t>
            </a:r>
          </a:p>
          <a:p>
            <a:r>
              <a:rPr lang="en-US" sz="1400" dirty="0">
                <a:latin typeface="Consolas" panose="020B0609020204030204" pitchFamily="49" charset="0"/>
              </a:rPr>
              <a:t> </a:t>
            </a:r>
            <a:r>
              <a:rPr lang="en-US" sz="1400" b="1" dirty="0">
                <a:latin typeface="Consolas" panose="020B0609020204030204" pitchFamily="49" charset="0"/>
              </a:rPr>
              <a:t>interface</a:t>
            </a:r>
            <a:r>
              <a:rPr lang="en-US" sz="1400" dirty="0">
                <a:latin typeface="Consolas" panose="020B0609020204030204" pitchFamily="49" charset="0"/>
              </a:rPr>
              <a:t> </a:t>
            </a:r>
            <a:r>
              <a:rPr lang="en-US" sz="1400" i="1" dirty="0" err="1">
                <a:solidFill>
                  <a:schemeClr val="accent1"/>
                </a:solidFill>
                <a:latin typeface="Consolas" panose="020B0609020204030204" pitchFamily="49" charset="0"/>
              </a:rPr>
              <a:t>TenG0</a:t>
            </a:r>
            <a:r>
              <a:rPr lang="en-US" sz="1400" i="1" dirty="0">
                <a:solidFill>
                  <a:schemeClr val="accent1"/>
                </a:solidFill>
                <a:latin typeface="Consolas" panose="020B0609020204030204" pitchFamily="49" charset="0"/>
              </a:rPr>
              <a:t>/0/0/0</a:t>
            </a:r>
          </a:p>
          <a:p>
            <a:r>
              <a:rPr lang="en-US" sz="1400" dirty="0">
                <a:latin typeface="Consolas" panose="020B0609020204030204" pitchFamily="49" charset="0"/>
              </a:rPr>
              <a:t>  </a:t>
            </a:r>
            <a:r>
              <a:rPr lang="en-US" sz="1400" b="1" dirty="0">
                <a:latin typeface="Consolas" panose="020B0609020204030204" pitchFamily="49" charset="0"/>
              </a:rPr>
              <a:t>address-family ipv6 unicast</a:t>
            </a:r>
          </a:p>
          <a:p>
            <a:r>
              <a:rPr lang="en-US" sz="1400" b="1" dirty="0">
                <a:latin typeface="Consolas" panose="020B0609020204030204" pitchFamily="49" charset="0"/>
              </a:rPr>
              <a:t>   fast-reroute per-prefix</a:t>
            </a:r>
          </a:p>
          <a:p>
            <a:r>
              <a:rPr lang="en-US" sz="1400" b="1" dirty="0">
                <a:latin typeface="Consolas" panose="020B0609020204030204" pitchFamily="49" charset="0"/>
              </a:rPr>
              <a:t>   fast-reroute per-prefix ti-lfa</a:t>
            </a:r>
          </a:p>
          <a:p>
            <a:pPr marL="171450" indent="-171450">
              <a:buFont typeface="Wingdings" panose="05000000000000000000" pitchFamily="2" charset="2"/>
              <a:buChar char="n"/>
            </a:pPr>
            <a:endParaRPr lang="en-US" sz="1400" dirty="0">
              <a:latin typeface="Consolas" panose="020B0609020204030204" pitchFamily="49" charset="0"/>
            </a:endParaRPr>
          </a:p>
        </p:txBody>
      </p:sp>
      <p:sp>
        <p:nvSpPr>
          <p:cNvPr id="5" name="Rectangle 4">
            <a:extLst>
              <a:ext uri="{FF2B5EF4-FFF2-40B4-BE49-F238E27FC236}">
                <a16:creationId xmlns:a16="http://schemas.microsoft.com/office/drawing/2014/main" id="{8BE79CDC-CCF3-2F63-7199-90DB14AFFEDB}"/>
              </a:ext>
            </a:extLst>
          </p:cNvPr>
          <p:cNvSpPr/>
          <p:nvPr/>
        </p:nvSpPr>
        <p:spPr>
          <a:xfrm>
            <a:off x="2090846" y="1874805"/>
            <a:ext cx="6486305" cy="1815882"/>
          </a:xfrm>
          <a:prstGeom prst="rect">
            <a:avLst/>
          </a:prstGeom>
          <a:solidFill>
            <a:schemeClr val="bg1">
              <a:lumMod val="95000"/>
            </a:schemeClr>
          </a:solidFill>
          <a:ln>
            <a:solidFill>
              <a:schemeClr val="tx1"/>
            </a:solidFill>
          </a:ln>
          <a:effectLst/>
        </p:spPr>
        <p:txBody>
          <a:bodyPr wrap="square">
            <a:spAutoFit/>
          </a:bodyPr>
          <a:lstStyle/>
          <a:p>
            <a:r>
              <a:rPr lang="en-US" sz="1400" dirty="0">
                <a:latin typeface="Consolas" panose="020B0609020204030204" pitchFamily="49" charset="0"/>
              </a:rPr>
              <a:t>router isis 1</a:t>
            </a:r>
          </a:p>
          <a:p>
            <a:r>
              <a:rPr lang="en-US" sz="1400" dirty="0">
                <a:latin typeface="Consolas" panose="020B0609020204030204" pitchFamily="49" charset="0"/>
              </a:rPr>
              <a:t> </a:t>
            </a:r>
            <a:r>
              <a:rPr lang="en-US" sz="1400" b="1" dirty="0">
                <a:latin typeface="Consolas" panose="020B0609020204030204" pitchFamily="49" charset="0"/>
              </a:rPr>
              <a:t>address-family ipv6 unicast</a:t>
            </a:r>
          </a:p>
          <a:p>
            <a:r>
              <a:rPr lang="en-US" sz="1400" b="1" dirty="0">
                <a:latin typeface="Consolas" panose="020B0609020204030204" pitchFamily="49" charset="0"/>
              </a:rPr>
              <a:t>  metric-style wide</a:t>
            </a:r>
          </a:p>
          <a:p>
            <a:r>
              <a:rPr lang="en-US" sz="1400" dirty="0">
                <a:latin typeface="Consolas" panose="020B0609020204030204" pitchFamily="49" charset="0"/>
              </a:rPr>
              <a:t>  microloop avoidance segment-routing</a:t>
            </a:r>
          </a:p>
          <a:p>
            <a:r>
              <a:rPr lang="en-US" sz="1400" dirty="0">
                <a:latin typeface="Consolas" panose="020B0609020204030204" pitchFamily="49" charset="0"/>
              </a:rPr>
              <a:t>  </a:t>
            </a:r>
            <a:r>
              <a:rPr lang="en-US" sz="1400" b="1" dirty="0">
                <a:latin typeface="Consolas" panose="020B0609020204030204" pitchFamily="49" charset="0"/>
              </a:rPr>
              <a:t>segment-routing srv6</a:t>
            </a:r>
          </a:p>
          <a:p>
            <a:r>
              <a:rPr lang="en-US" sz="1400" b="1" dirty="0">
                <a:latin typeface="Consolas" panose="020B0609020204030204" pitchFamily="49" charset="0"/>
              </a:rPr>
              <a:t>   locator</a:t>
            </a:r>
            <a:r>
              <a:rPr lang="en-US" sz="1400" dirty="0">
                <a:latin typeface="Consolas" panose="020B0609020204030204" pitchFamily="49" charset="0"/>
              </a:rPr>
              <a:t> </a:t>
            </a:r>
            <a:r>
              <a:rPr lang="en-US" sz="1400" i="1" dirty="0" err="1">
                <a:solidFill>
                  <a:schemeClr val="accent1"/>
                </a:solidFill>
                <a:latin typeface="Consolas" panose="020B0609020204030204" pitchFamily="49" charset="0"/>
              </a:rPr>
              <a:t>Loc_uSID_Algo_0</a:t>
            </a:r>
            <a:endParaRPr lang="en-US" sz="1400" i="1" dirty="0">
              <a:solidFill>
                <a:schemeClr val="accent1"/>
              </a:solidFill>
              <a:latin typeface="Consolas" panose="020B0609020204030204" pitchFamily="49" charset="0"/>
            </a:endParaRPr>
          </a:p>
          <a:p>
            <a:r>
              <a:rPr lang="en-US" sz="1400" dirty="0">
                <a:latin typeface="Consolas" panose="020B0609020204030204" pitchFamily="49" charset="0"/>
              </a:rPr>
              <a:t>    </a:t>
            </a:r>
            <a:r>
              <a:rPr lang="en-US" sz="1400" i="1" dirty="0">
                <a:solidFill>
                  <a:schemeClr val="accent1"/>
                </a:solidFill>
                <a:latin typeface="Consolas" panose="020B0609020204030204" pitchFamily="49" charset="0"/>
              </a:rPr>
              <a:t>level 2</a:t>
            </a:r>
          </a:p>
          <a:p>
            <a:r>
              <a:rPr lang="en-US" sz="1400" dirty="0">
                <a:latin typeface="Consolas" panose="020B0609020204030204" pitchFamily="49" charset="0"/>
              </a:rPr>
              <a:t>   </a:t>
            </a:r>
          </a:p>
        </p:txBody>
      </p:sp>
    </p:spTree>
    <p:extLst>
      <p:ext uri="{BB962C8B-B14F-4D97-AF65-F5344CB8AC3E}">
        <p14:creationId xmlns:p14="http://schemas.microsoft.com/office/powerpoint/2010/main" val="898992339"/>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22851A4-4C87-E8EA-C674-0E18A6AB564E}"/>
              </a:ext>
            </a:extLst>
          </p:cNvPr>
          <p:cNvSpPr>
            <a:spLocks noGrp="1"/>
          </p:cNvSpPr>
          <p:nvPr>
            <p:ph type="body" sz="quarter" idx="10"/>
          </p:nvPr>
        </p:nvSpPr>
        <p:spPr/>
        <p:txBody>
          <a:bodyPr/>
          <a:lstStyle/>
          <a:p>
            <a:r>
              <a:rPr lang="en-US" dirty="0"/>
              <a:t>sh ipv6 route - </a:t>
            </a:r>
            <a:r>
              <a:rPr lang="en-US" dirty="0">
                <a:highlight>
                  <a:srgbClr val="FFFF00"/>
                </a:highlight>
              </a:rPr>
              <a:t>FRR backup path (!)</a:t>
            </a:r>
          </a:p>
          <a:p>
            <a:pPr lvl="1"/>
            <a:endParaRPr lang="en-US" dirty="0"/>
          </a:p>
          <a:p>
            <a:pPr lvl="1"/>
            <a:endParaRPr lang="en-US" dirty="0"/>
          </a:p>
          <a:p>
            <a:pPr lvl="1"/>
            <a:endParaRPr lang="en-US" dirty="0"/>
          </a:p>
          <a:p>
            <a:pPr lvl="1"/>
            <a:endParaRPr lang="en-US" dirty="0"/>
          </a:p>
          <a:p>
            <a:pPr lvl="1"/>
            <a:endParaRPr lang="en-US" dirty="0"/>
          </a:p>
          <a:p>
            <a:r>
              <a:rPr lang="en-US" dirty="0"/>
              <a:t>sh ipv6 route </a:t>
            </a:r>
            <a:r>
              <a:rPr lang="en-US" i="1" dirty="0" err="1"/>
              <a:t>X:X</a:t>
            </a:r>
            <a:r>
              <a:rPr lang="en-US" i="1" dirty="0"/>
              <a:t>::X/length</a:t>
            </a:r>
          </a:p>
          <a:p>
            <a:endParaRPr lang="en-US" dirty="0"/>
          </a:p>
        </p:txBody>
      </p:sp>
      <p:sp>
        <p:nvSpPr>
          <p:cNvPr id="3" name="Text Placeholder 2">
            <a:extLst>
              <a:ext uri="{FF2B5EF4-FFF2-40B4-BE49-F238E27FC236}">
                <a16:creationId xmlns:a16="http://schemas.microsoft.com/office/drawing/2014/main" id="{94B8ED6C-7982-3897-7E1B-8084D5838EE0}"/>
              </a:ext>
            </a:extLst>
          </p:cNvPr>
          <p:cNvSpPr>
            <a:spLocks noGrp="1"/>
          </p:cNvSpPr>
          <p:nvPr>
            <p:ph type="body" sz="quarter" idx="11"/>
          </p:nvPr>
        </p:nvSpPr>
        <p:spPr/>
        <p:txBody>
          <a:bodyPr/>
          <a:lstStyle/>
          <a:p>
            <a:r>
              <a:rPr lang="en-US" dirty="0"/>
              <a:t>SRv6 ISIS TI-LFA - monitoring</a:t>
            </a:r>
          </a:p>
        </p:txBody>
      </p:sp>
      <p:sp>
        <p:nvSpPr>
          <p:cNvPr id="4" name="Rectangle 3">
            <a:extLst>
              <a:ext uri="{FF2B5EF4-FFF2-40B4-BE49-F238E27FC236}">
                <a16:creationId xmlns:a16="http://schemas.microsoft.com/office/drawing/2014/main" id="{F98719AC-0EF2-C7E4-78EA-EFDFDB78EC6D}"/>
              </a:ext>
            </a:extLst>
          </p:cNvPr>
          <p:cNvSpPr/>
          <p:nvPr/>
        </p:nvSpPr>
        <p:spPr>
          <a:xfrm>
            <a:off x="1194042" y="4166842"/>
            <a:ext cx="9803914" cy="2462213"/>
          </a:xfrm>
          <a:prstGeom prst="rect">
            <a:avLst/>
          </a:prstGeom>
          <a:solidFill>
            <a:schemeClr val="bg1">
              <a:lumMod val="95000"/>
            </a:schemeClr>
          </a:solidFill>
          <a:ln>
            <a:solidFill>
              <a:schemeClr val="tx1"/>
            </a:solidFill>
          </a:ln>
          <a:effectLst/>
        </p:spPr>
        <p:txBody>
          <a:bodyPr wrap="square">
            <a:spAutoFit/>
          </a:bodyPr>
          <a:lstStyle/>
          <a:p>
            <a:r>
              <a:rPr lang="en-US" sz="1400" dirty="0">
                <a:latin typeface="Consolas" panose="020B0609020204030204" pitchFamily="49" charset="0"/>
              </a:rPr>
              <a:t>RP/0/RP0/</a:t>
            </a:r>
            <a:r>
              <a:rPr lang="en-US" sz="1400" dirty="0" err="1">
                <a:latin typeface="Consolas" panose="020B0609020204030204" pitchFamily="49" charset="0"/>
              </a:rPr>
              <a:t>CPU0:R01#</a:t>
            </a:r>
            <a:r>
              <a:rPr lang="en-US" sz="1400" b="1" dirty="0" err="1">
                <a:latin typeface="Consolas" panose="020B0609020204030204" pitchFamily="49" charset="0"/>
              </a:rPr>
              <a:t>sh</a:t>
            </a:r>
            <a:r>
              <a:rPr lang="en-US" sz="1400" b="1" dirty="0">
                <a:latin typeface="Consolas" panose="020B0609020204030204" pitchFamily="49" charset="0"/>
              </a:rPr>
              <a:t> route ipv6 2001:9999::2/128                  </a:t>
            </a:r>
          </a:p>
          <a:p>
            <a:r>
              <a:rPr lang="en-US" sz="1400" dirty="0">
                <a:latin typeface="Consolas" panose="020B0609020204030204" pitchFamily="49" charset="0"/>
              </a:rPr>
              <a:t>Routing entry for 2001:9999::2/128</a:t>
            </a:r>
          </a:p>
          <a:p>
            <a:r>
              <a:rPr lang="en-US" sz="1400" dirty="0">
                <a:latin typeface="Consolas" panose="020B0609020204030204" pitchFamily="49" charset="0"/>
              </a:rPr>
              <a:t>  Known via "isis 1", distance 115, metric 10, type level-2</a:t>
            </a:r>
          </a:p>
          <a:p>
            <a:r>
              <a:rPr lang="en-US" sz="1400" dirty="0">
                <a:latin typeface="Consolas" panose="020B0609020204030204" pitchFamily="49" charset="0"/>
              </a:rPr>
              <a:t>  Installed Jun  7 13:12:49.214 for </a:t>
            </a:r>
            <a:r>
              <a:rPr lang="en-US" sz="1400" dirty="0" err="1">
                <a:latin typeface="Consolas" panose="020B0609020204030204" pitchFamily="49" charset="0"/>
              </a:rPr>
              <a:t>1d21h</a:t>
            </a:r>
            <a:endParaRPr lang="en-US" sz="1400" dirty="0">
              <a:latin typeface="Consolas" panose="020B0609020204030204" pitchFamily="49" charset="0"/>
            </a:endParaRPr>
          </a:p>
          <a:p>
            <a:r>
              <a:rPr lang="en-US" sz="1400" dirty="0">
                <a:latin typeface="Consolas" panose="020B0609020204030204" pitchFamily="49" charset="0"/>
              </a:rPr>
              <a:t>  Routing Descriptor Blocks</a:t>
            </a:r>
          </a:p>
          <a:p>
            <a:r>
              <a:rPr lang="en-US" sz="1400" dirty="0">
                <a:latin typeface="Consolas" panose="020B0609020204030204" pitchFamily="49" charset="0"/>
              </a:rPr>
              <a:t>    </a:t>
            </a:r>
            <a:r>
              <a:rPr lang="en-US" sz="1400" dirty="0" err="1">
                <a:latin typeface="Consolas" panose="020B0609020204030204" pitchFamily="49" charset="0"/>
              </a:rPr>
              <a:t>fe80</a:t>
            </a:r>
            <a:r>
              <a:rPr lang="en-US" sz="1400" dirty="0">
                <a:latin typeface="Consolas" panose="020B0609020204030204" pitchFamily="49" charset="0"/>
              </a:rPr>
              <a:t>::</a:t>
            </a:r>
            <a:r>
              <a:rPr lang="en-US" sz="1400" dirty="0" err="1">
                <a:latin typeface="Consolas" panose="020B0609020204030204" pitchFamily="49" charset="0"/>
              </a:rPr>
              <a:t>5054:ff:fead:9c45</a:t>
            </a:r>
            <a:r>
              <a:rPr lang="en-US" sz="1400" dirty="0">
                <a:latin typeface="Consolas" panose="020B0609020204030204" pitchFamily="49" charset="0"/>
              </a:rPr>
              <a:t>, from 2001:9999::2, via </a:t>
            </a:r>
            <a:r>
              <a:rPr lang="en-US" sz="1400" dirty="0" err="1">
                <a:latin typeface="Consolas" panose="020B0609020204030204" pitchFamily="49" charset="0"/>
              </a:rPr>
              <a:t>GigabitEthernet0</a:t>
            </a:r>
            <a:r>
              <a:rPr lang="en-US" sz="1400" dirty="0">
                <a:latin typeface="Consolas" panose="020B0609020204030204" pitchFamily="49" charset="0"/>
              </a:rPr>
              <a:t>/0/0/0, Protected</a:t>
            </a:r>
          </a:p>
          <a:p>
            <a:r>
              <a:rPr lang="en-US" sz="1400" dirty="0">
                <a:latin typeface="Consolas" panose="020B0609020204030204" pitchFamily="49" charset="0"/>
              </a:rPr>
              <a:t>      Route metric is 10</a:t>
            </a:r>
          </a:p>
          <a:p>
            <a:r>
              <a:rPr lang="en-US" sz="1400" dirty="0">
                <a:latin typeface="Consolas" panose="020B0609020204030204" pitchFamily="49" charset="0"/>
              </a:rPr>
              <a:t>    </a:t>
            </a:r>
            <a:r>
              <a:rPr lang="en-US" sz="1400" dirty="0" err="1">
                <a:highlight>
                  <a:srgbClr val="FFFF00"/>
                </a:highlight>
                <a:latin typeface="Consolas" panose="020B0609020204030204" pitchFamily="49" charset="0"/>
              </a:rPr>
              <a:t>fe80</a:t>
            </a:r>
            <a:r>
              <a:rPr lang="en-US" sz="1400" dirty="0">
                <a:highlight>
                  <a:srgbClr val="FFFF00"/>
                </a:highlight>
                <a:latin typeface="Consolas" panose="020B0609020204030204" pitchFamily="49" charset="0"/>
              </a:rPr>
              <a:t>::</a:t>
            </a:r>
            <a:r>
              <a:rPr lang="en-US" sz="1400" dirty="0" err="1">
                <a:highlight>
                  <a:srgbClr val="FFFF00"/>
                </a:highlight>
                <a:latin typeface="Consolas" panose="020B0609020204030204" pitchFamily="49" charset="0"/>
              </a:rPr>
              <a:t>5054:ff:fe0c:6a4f</a:t>
            </a:r>
            <a:r>
              <a:rPr lang="en-US" sz="1400" dirty="0">
                <a:highlight>
                  <a:srgbClr val="FFFF00"/>
                </a:highlight>
                <a:latin typeface="Consolas" panose="020B0609020204030204" pitchFamily="49" charset="0"/>
              </a:rPr>
              <a:t>, from 2001:9999::2, via </a:t>
            </a:r>
            <a:r>
              <a:rPr lang="en-US" sz="1400" dirty="0" err="1">
                <a:highlight>
                  <a:srgbClr val="FFFF00"/>
                </a:highlight>
                <a:latin typeface="Consolas" panose="020B0609020204030204" pitchFamily="49" charset="0"/>
              </a:rPr>
              <a:t>GigabitEthernet0</a:t>
            </a:r>
            <a:r>
              <a:rPr lang="en-US" sz="1400" dirty="0">
                <a:highlight>
                  <a:srgbClr val="FFFF00"/>
                </a:highlight>
                <a:latin typeface="Consolas" panose="020B0609020204030204" pitchFamily="49" charset="0"/>
              </a:rPr>
              <a:t>/0/0/5, Backup (Local-LFA)</a:t>
            </a:r>
          </a:p>
          <a:p>
            <a:r>
              <a:rPr lang="en-US" sz="1400" dirty="0">
                <a:highlight>
                  <a:srgbClr val="FFFF00"/>
                </a:highlight>
                <a:latin typeface="Consolas" panose="020B0609020204030204" pitchFamily="49" charset="0"/>
              </a:rPr>
              <a:t>      Route metric is 1030</a:t>
            </a:r>
          </a:p>
          <a:p>
            <a:r>
              <a:rPr lang="en-US" sz="1400" dirty="0">
                <a:latin typeface="Consolas" panose="020B0609020204030204" pitchFamily="49" charset="0"/>
              </a:rPr>
              <a:t>  No advertising protos. </a:t>
            </a:r>
          </a:p>
          <a:p>
            <a:r>
              <a:rPr lang="en-US" sz="1400" dirty="0">
                <a:latin typeface="Consolas" panose="020B0609020204030204" pitchFamily="49" charset="0"/>
              </a:rPr>
              <a:t>RP/0/RP0/</a:t>
            </a:r>
            <a:r>
              <a:rPr lang="en-US" sz="1400" dirty="0" err="1">
                <a:latin typeface="Consolas" panose="020B0609020204030204" pitchFamily="49" charset="0"/>
              </a:rPr>
              <a:t>CPU0:R01</a:t>
            </a:r>
            <a:r>
              <a:rPr lang="en-US" sz="1400" dirty="0">
                <a:latin typeface="Consolas" panose="020B0609020204030204" pitchFamily="49" charset="0"/>
              </a:rPr>
              <a:t>#</a:t>
            </a:r>
          </a:p>
        </p:txBody>
      </p:sp>
      <p:sp>
        <p:nvSpPr>
          <p:cNvPr id="5" name="Rectangle 4">
            <a:extLst>
              <a:ext uri="{FF2B5EF4-FFF2-40B4-BE49-F238E27FC236}">
                <a16:creationId xmlns:a16="http://schemas.microsoft.com/office/drawing/2014/main" id="{8BE79CDC-CCF3-2F63-7199-90DB14AFFEDB}"/>
              </a:ext>
            </a:extLst>
          </p:cNvPr>
          <p:cNvSpPr/>
          <p:nvPr/>
        </p:nvSpPr>
        <p:spPr>
          <a:xfrm>
            <a:off x="2017103" y="1460051"/>
            <a:ext cx="8157792" cy="2031325"/>
          </a:xfrm>
          <a:prstGeom prst="rect">
            <a:avLst/>
          </a:prstGeom>
          <a:solidFill>
            <a:schemeClr val="bg1">
              <a:lumMod val="95000"/>
            </a:schemeClr>
          </a:solidFill>
          <a:ln>
            <a:solidFill>
              <a:schemeClr val="tx1"/>
            </a:solidFill>
          </a:ln>
          <a:effectLst/>
        </p:spPr>
        <p:txBody>
          <a:bodyPr wrap="square">
            <a:spAutoFit/>
          </a:bodyPr>
          <a:lstStyle/>
          <a:p>
            <a:r>
              <a:rPr lang="en-US" sz="1400" dirty="0">
                <a:latin typeface="Consolas" panose="020B0609020204030204" pitchFamily="49" charset="0"/>
              </a:rPr>
              <a:t>RP/0/RP0/</a:t>
            </a:r>
            <a:r>
              <a:rPr lang="en-US" sz="1400" dirty="0" err="1">
                <a:latin typeface="Consolas" panose="020B0609020204030204" pitchFamily="49" charset="0"/>
              </a:rPr>
              <a:t>CPU0:R01#</a:t>
            </a:r>
            <a:r>
              <a:rPr lang="en-US" sz="1400" b="1" dirty="0" err="1">
                <a:latin typeface="Consolas" panose="020B0609020204030204" pitchFamily="49" charset="0"/>
              </a:rPr>
              <a:t>sh</a:t>
            </a:r>
            <a:r>
              <a:rPr lang="en-US" sz="1400" b="1" dirty="0">
                <a:latin typeface="Consolas" panose="020B0609020204030204" pitchFamily="49" charset="0"/>
              </a:rPr>
              <a:t> route ipv6</a:t>
            </a:r>
          </a:p>
          <a:p>
            <a:r>
              <a:rPr lang="en-US" sz="1400" dirty="0">
                <a:latin typeface="Consolas" panose="020B0609020204030204" pitchFamily="49" charset="0"/>
              </a:rPr>
              <a:t>-- cut --</a:t>
            </a:r>
          </a:p>
          <a:p>
            <a:r>
              <a:rPr lang="en-US" sz="1400" dirty="0" err="1">
                <a:latin typeface="Consolas" panose="020B0609020204030204" pitchFamily="49" charset="0"/>
              </a:rPr>
              <a:t>i</a:t>
            </a:r>
            <a:r>
              <a:rPr lang="en-US" sz="1400" dirty="0">
                <a:latin typeface="Consolas" panose="020B0609020204030204" pitchFamily="49" charset="0"/>
              </a:rPr>
              <a:t> L2 2001:9999::2/128 </a:t>
            </a:r>
          </a:p>
          <a:p>
            <a:r>
              <a:rPr lang="en-US" sz="1400" dirty="0">
                <a:latin typeface="Consolas" panose="020B0609020204030204" pitchFamily="49" charset="0"/>
              </a:rPr>
              <a:t>      [115/10] via </a:t>
            </a:r>
            <a:r>
              <a:rPr lang="en-US" sz="1400" dirty="0" err="1">
                <a:latin typeface="Consolas" panose="020B0609020204030204" pitchFamily="49" charset="0"/>
              </a:rPr>
              <a:t>fe80</a:t>
            </a:r>
            <a:r>
              <a:rPr lang="en-US" sz="1400" dirty="0">
                <a:latin typeface="Consolas" panose="020B0609020204030204" pitchFamily="49" charset="0"/>
              </a:rPr>
              <a:t>::</a:t>
            </a:r>
            <a:r>
              <a:rPr lang="en-US" sz="1400" dirty="0" err="1">
                <a:latin typeface="Consolas" panose="020B0609020204030204" pitchFamily="49" charset="0"/>
              </a:rPr>
              <a:t>5054:ff:fead:9c45</a:t>
            </a:r>
            <a:r>
              <a:rPr lang="en-US" sz="1400" dirty="0">
                <a:latin typeface="Consolas" panose="020B0609020204030204" pitchFamily="49" charset="0"/>
              </a:rPr>
              <a:t>, </a:t>
            </a:r>
            <a:r>
              <a:rPr lang="en-US" sz="1400" dirty="0" err="1">
                <a:latin typeface="Consolas" panose="020B0609020204030204" pitchFamily="49" charset="0"/>
              </a:rPr>
              <a:t>1d19h</a:t>
            </a:r>
            <a:r>
              <a:rPr lang="en-US" sz="1400" dirty="0">
                <a:latin typeface="Consolas" panose="020B0609020204030204" pitchFamily="49" charset="0"/>
              </a:rPr>
              <a:t>, </a:t>
            </a:r>
            <a:r>
              <a:rPr lang="en-US" sz="1400" dirty="0" err="1">
                <a:latin typeface="Consolas" panose="020B0609020204030204" pitchFamily="49" charset="0"/>
              </a:rPr>
              <a:t>GigabitEthernet0</a:t>
            </a:r>
            <a:r>
              <a:rPr lang="en-US" sz="1400" dirty="0">
                <a:latin typeface="Consolas" panose="020B0609020204030204" pitchFamily="49" charset="0"/>
              </a:rPr>
              <a:t>/0/0/0</a:t>
            </a:r>
          </a:p>
          <a:p>
            <a:r>
              <a:rPr lang="en-US" sz="1400" dirty="0">
                <a:latin typeface="Consolas" panose="020B0609020204030204" pitchFamily="49" charset="0"/>
              </a:rPr>
              <a:t>      </a:t>
            </a:r>
            <a:r>
              <a:rPr lang="en-US" sz="1400" dirty="0">
                <a:highlight>
                  <a:srgbClr val="FFFF00"/>
                </a:highlight>
                <a:latin typeface="Consolas" panose="020B0609020204030204" pitchFamily="49" charset="0"/>
              </a:rPr>
              <a:t>[115/1030] via </a:t>
            </a:r>
            <a:r>
              <a:rPr lang="en-US" sz="1400" dirty="0" err="1">
                <a:highlight>
                  <a:srgbClr val="FFFF00"/>
                </a:highlight>
                <a:latin typeface="Consolas" panose="020B0609020204030204" pitchFamily="49" charset="0"/>
              </a:rPr>
              <a:t>fe80</a:t>
            </a:r>
            <a:r>
              <a:rPr lang="en-US" sz="1400" dirty="0">
                <a:highlight>
                  <a:srgbClr val="FFFF00"/>
                </a:highlight>
                <a:latin typeface="Consolas" panose="020B0609020204030204" pitchFamily="49" charset="0"/>
              </a:rPr>
              <a:t>::</a:t>
            </a:r>
            <a:r>
              <a:rPr lang="en-US" sz="1400" dirty="0" err="1">
                <a:highlight>
                  <a:srgbClr val="FFFF00"/>
                </a:highlight>
                <a:latin typeface="Consolas" panose="020B0609020204030204" pitchFamily="49" charset="0"/>
              </a:rPr>
              <a:t>5054:ff:fe0c:6a4f</a:t>
            </a:r>
            <a:r>
              <a:rPr lang="en-US" sz="1400" dirty="0">
                <a:highlight>
                  <a:srgbClr val="FFFF00"/>
                </a:highlight>
                <a:latin typeface="Consolas" panose="020B0609020204030204" pitchFamily="49" charset="0"/>
              </a:rPr>
              <a:t>, </a:t>
            </a:r>
            <a:r>
              <a:rPr lang="en-US" sz="1400" dirty="0" err="1">
                <a:highlight>
                  <a:srgbClr val="FFFF00"/>
                </a:highlight>
                <a:latin typeface="Consolas" panose="020B0609020204030204" pitchFamily="49" charset="0"/>
              </a:rPr>
              <a:t>1d19h</a:t>
            </a:r>
            <a:r>
              <a:rPr lang="en-US" sz="1400" dirty="0">
                <a:highlight>
                  <a:srgbClr val="FFFF00"/>
                </a:highlight>
                <a:latin typeface="Consolas" panose="020B0609020204030204" pitchFamily="49" charset="0"/>
              </a:rPr>
              <a:t>, </a:t>
            </a:r>
            <a:r>
              <a:rPr lang="en-US" sz="1400" dirty="0" err="1">
                <a:highlight>
                  <a:srgbClr val="FFFF00"/>
                </a:highlight>
                <a:latin typeface="Consolas" panose="020B0609020204030204" pitchFamily="49" charset="0"/>
              </a:rPr>
              <a:t>GigabitEthernet0</a:t>
            </a:r>
            <a:r>
              <a:rPr lang="en-US" sz="1400" dirty="0">
                <a:highlight>
                  <a:srgbClr val="FFFF00"/>
                </a:highlight>
                <a:latin typeface="Consolas" panose="020B0609020204030204" pitchFamily="49" charset="0"/>
              </a:rPr>
              <a:t>/0/0/5 </a:t>
            </a:r>
            <a:r>
              <a:rPr lang="en-US" sz="1400" b="1" dirty="0">
                <a:highlight>
                  <a:srgbClr val="FFFF00"/>
                </a:highlight>
                <a:latin typeface="Consolas" panose="020B0609020204030204" pitchFamily="49" charset="0"/>
              </a:rPr>
              <a:t>(!)</a:t>
            </a:r>
          </a:p>
          <a:p>
            <a:r>
              <a:rPr lang="en-US" sz="1400" dirty="0" err="1">
                <a:latin typeface="Consolas" panose="020B0609020204030204" pitchFamily="49" charset="0"/>
              </a:rPr>
              <a:t>i</a:t>
            </a:r>
            <a:r>
              <a:rPr lang="en-US" sz="1400" dirty="0">
                <a:latin typeface="Consolas" panose="020B0609020204030204" pitchFamily="49" charset="0"/>
              </a:rPr>
              <a:t> L2 2001:9999::3/128 </a:t>
            </a:r>
          </a:p>
          <a:p>
            <a:r>
              <a:rPr lang="en-US" sz="1400" dirty="0">
                <a:latin typeface="Consolas" panose="020B0609020204030204" pitchFamily="49" charset="0"/>
              </a:rPr>
              <a:t>      [115/20] via </a:t>
            </a:r>
            <a:r>
              <a:rPr lang="en-US" sz="1400" dirty="0" err="1">
                <a:latin typeface="Consolas" panose="020B0609020204030204" pitchFamily="49" charset="0"/>
              </a:rPr>
              <a:t>fe80</a:t>
            </a:r>
            <a:r>
              <a:rPr lang="en-US" sz="1400" dirty="0">
                <a:latin typeface="Consolas" panose="020B0609020204030204" pitchFamily="49" charset="0"/>
              </a:rPr>
              <a:t>::</a:t>
            </a:r>
            <a:r>
              <a:rPr lang="en-US" sz="1400" dirty="0" err="1">
                <a:latin typeface="Consolas" panose="020B0609020204030204" pitchFamily="49" charset="0"/>
              </a:rPr>
              <a:t>5054:ff:fead:9c45</a:t>
            </a:r>
            <a:r>
              <a:rPr lang="en-US" sz="1400" dirty="0">
                <a:latin typeface="Consolas" panose="020B0609020204030204" pitchFamily="49" charset="0"/>
              </a:rPr>
              <a:t>, </a:t>
            </a:r>
            <a:r>
              <a:rPr lang="en-US" sz="1400" dirty="0" err="1">
                <a:latin typeface="Consolas" panose="020B0609020204030204" pitchFamily="49" charset="0"/>
              </a:rPr>
              <a:t>1d19h</a:t>
            </a:r>
            <a:r>
              <a:rPr lang="en-US" sz="1400" dirty="0">
                <a:latin typeface="Consolas" panose="020B0609020204030204" pitchFamily="49" charset="0"/>
              </a:rPr>
              <a:t>, </a:t>
            </a:r>
            <a:r>
              <a:rPr lang="en-US" sz="1400" dirty="0" err="1">
                <a:latin typeface="Consolas" panose="020B0609020204030204" pitchFamily="49" charset="0"/>
              </a:rPr>
              <a:t>GigabitEthernet0</a:t>
            </a:r>
            <a:r>
              <a:rPr lang="en-US" sz="1400" dirty="0">
                <a:latin typeface="Consolas" panose="020B0609020204030204" pitchFamily="49" charset="0"/>
              </a:rPr>
              <a:t>/0/0/0</a:t>
            </a:r>
          </a:p>
          <a:p>
            <a:r>
              <a:rPr lang="en-US" sz="1400" dirty="0">
                <a:latin typeface="Consolas" panose="020B0609020204030204" pitchFamily="49" charset="0"/>
              </a:rPr>
              <a:t>      </a:t>
            </a:r>
            <a:r>
              <a:rPr lang="en-US" sz="1400" dirty="0">
                <a:highlight>
                  <a:srgbClr val="FFFF00"/>
                </a:highlight>
                <a:latin typeface="Consolas" panose="020B0609020204030204" pitchFamily="49" charset="0"/>
              </a:rPr>
              <a:t>[115/1020] via </a:t>
            </a:r>
            <a:r>
              <a:rPr lang="en-US" sz="1400" dirty="0" err="1">
                <a:highlight>
                  <a:srgbClr val="FFFF00"/>
                </a:highlight>
                <a:latin typeface="Consolas" panose="020B0609020204030204" pitchFamily="49" charset="0"/>
              </a:rPr>
              <a:t>fe80</a:t>
            </a:r>
            <a:r>
              <a:rPr lang="en-US" sz="1400" dirty="0">
                <a:highlight>
                  <a:srgbClr val="FFFF00"/>
                </a:highlight>
                <a:latin typeface="Consolas" panose="020B0609020204030204" pitchFamily="49" charset="0"/>
              </a:rPr>
              <a:t>::</a:t>
            </a:r>
            <a:r>
              <a:rPr lang="en-US" sz="1400" dirty="0" err="1">
                <a:highlight>
                  <a:srgbClr val="FFFF00"/>
                </a:highlight>
                <a:latin typeface="Consolas" panose="020B0609020204030204" pitchFamily="49" charset="0"/>
              </a:rPr>
              <a:t>5054:ff:fe0c:6a4f</a:t>
            </a:r>
            <a:r>
              <a:rPr lang="en-US" sz="1400" dirty="0">
                <a:highlight>
                  <a:srgbClr val="FFFF00"/>
                </a:highlight>
                <a:latin typeface="Consolas" panose="020B0609020204030204" pitchFamily="49" charset="0"/>
              </a:rPr>
              <a:t>, </a:t>
            </a:r>
            <a:r>
              <a:rPr lang="en-US" sz="1400" dirty="0" err="1">
                <a:highlight>
                  <a:srgbClr val="FFFF00"/>
                </a:highlight>
                <a:latin typeface="Consolas" panose="020B0609020204030204" pitchFamily="49" charset="0"/>
              </a:rPr>
              <a:t>1d19h</a:t>
            </a:r>
            <a:r>
              <a:rPr lang="en-US" sz="1400" dirty="0">
                <a:highlight>
                  <a:srgbClr val="FFFF00"/>
                </a:highlight>
                <a:latin typeface="Consolas" panose="020B0609020204030204" pitchFamily="49" charset="0"/>
              </a:rPr>
              <a:t>, </a:t>
            </a:r>
            <a:r>
              <a:rPr lang="en-US" sz="1400" dirty="0" err="1">
                <a:highlight>
                  <a:srgbClr val="FFFF00"/>
                </a:highlight>
                <a:latin typeface="Consolas" panose="020B0609020204030204" pitchFamily="49" charset="0"/>
              </a:rPr>
              <a:t>GigabitEthernet0</a:t>
            </a:r>
            <a:r>
              <a:rPr lang="en-US" sz="1400" dirty="0">
                <a:highlight>
                  <a:srgbClr val="FFFF00"/>
                </a:highlight>
                <a:latin typeface="Consolas" panose="020B0609020204030204" pitchFamily="49" charset="0"/>
              </a:rPr>
              <a:t>/0/0/5 </a:t>
            </a:r>
            <a:r>
              <a:rPr lang="en-US" sz="1400" b="1" dirty="0">
                <a:highlight>
                  <a:srgbClr val="FFFF00"/>
                </a:highlight>
                <a:latin typeface="Consolas" panose="020B0609020204030204" pitchFamily="49" charset="0"/>
              </a:rPr>
              <a:t>(!)</a:t>
            </a:r>
          </a:p>
          <a:p>
            <a:r>
              <a:rPr lang="en-US" sz="1400" dirty="0">
                <a:latin typeface="Consolas" panose="020B0609020204030204" pitchFamily="49" charset="0"/>
              </a:rPr>
              <a:t>-- cut--</a:t>
            </a:r>
          </a:p>
        </p:txBody>
      </p:sp>
    </p:spTree>
    <p:extLst>
      <p:ext uri="{BB962C8B-B14F-4D97-AF65-F5344CB8AC3E}">
        <p14:creationId xmlns:p14="http://schemas.microsoft.com/office/powerpoint/2010/main" val="2334649406"/>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4B8ED6C-7982-3897-7E1B-8084D5838EE0}"/>
              </a:ext>
            </a:extLst>
          </p:cNvPr>
          <p:cNvSpPr>
            <a:spLocks noGrp="1"/>
          </p:cNvSpPr>
          <p:nvPr>
            <p:ph type="body" sz="quarter" idx="11"/>
          </p:nvPr>
        </p:nvSpPr>
        <p:spPr/>
        <p:txBody>
          <a:bodyPr/>
          <a:lstStyle/>
          <a:p>
            <a:r>
              <a:rPr lang="en-US" dirty="0"/>
              <a:t>SRv6 ISIS TI-LFA - monitoring</a:t>
            </a:r>
          </a:p>
        </p:txBody>
      </p:sp>
      <p:sp>
        <p:nvSpPr>
          <p:cNvPr id="4" name="Rectangle 3">
            <a:extLst>
              <a:ext uri="{FF2B5EF4-FFF2-40B4-BE49-F238E27FC236}">
                <a16:creationId xmlns:a16="http://schemas.microsoft.com/office/drawing/2014/main" id="{F98719AC-0EF2-C7E4-78EA-EFDFDB78EC6D}"/>
              </a:ext>
            </a:extLst>
          </p:cNvPr>
          <p:cNvSpPr/>
          <p:nvPr/>
        </p:nvSpPr>
        <p:spPr>
          <a:xfrm>
            <a:off x="737419" y="877413"/>
            <a:ext cx="10717160" cy="3785652"/>
          </a:xfrm>
          <a:prstGeom prst="rect">
            <a:avLst/>
          </a:prstGeom>
          <a:solidFill>
            <a:schemeClr val="bg1">
              <a:lumMod val="95000"/>
            </a:schemeClr>
          </a:solidFill>
          <a:ln>
            <a:solidFill>
              <a:schemeClr val="tx1"/>
            </a:solidFill>
          </a:ln>
          <a:effectLst/>
        </p:spPr>
        <p:txBody>
          <a:bodyPr wrap="square">
            <a:spAutoFit/>
          </a:bodyPr>
          <a:lstStyle/>
          <a:p>
            <a:r>
              <a:rPr lang="en-US" sz="1200" dirty="0">
                <a:latin typeface="Consolas" panose="020B0609020204030204" pitchFamily="49" charset="0"/>
              </a:rPr>
              <a:t>RP/0/RP0/</a:t>
            </a:r>
            <a:r>
              <a:rPr lang="en-US" sz="1200" dirty="0" err="1">
                <a:latin typeface="Consolas" panose="020B0609020204030204" pitchFamily="49" charset="0"/>
              </a:rPr>
              <a:t>CPU0:R01#</a:t>
            </a:r>
            <a:r>
              <a:rPr lang="en-US" sz="1200" b="1" dirty="0" err="1">
                <a:latin typeface="Consolas" panose="020B0609020204030204" pitchFamily="49" charset="0"/>
              </a:rPr>
              <a:t>sh</a:t>
            </a:r>
            <a:r>
              <a:rPr lang="en-US" sz="1200" b="1" dirty="0">
                <a:latin typeface="Consolas" panose="020B0609020204030204" pitchFamily="49" charset="0"/>
              </a:rPr>
              <a:t> isis </a:t>
            </a:r>
            <a:r>
              <a:rPr lang="en-US" sz="1200" b="1" dirty="0">
                <a:highlight>
                  <a:srgbClr val="FFFF00"/>
                </a:highlight>
                <a:latin typeface="Consolas" panose="020B0609020204030204" pitchFamily="49" charset="0"/>
              </a:rPr>
              <a:t>ipv6</a:t>
            </a:r>
            <a:r>
              <a:rPr lang="en-US" sz="1200" b="1" dirty="0">
                <a:latin typeface="Consolas" panose="020B0609020204030204" pitchFamily="49" charset="0"/>
              </a:rPr>
              <a:t> fast-reroute                       </a:t>
            </a:r>
          </a:p>
          <a:p>
            <a:r>
              <a:rPr lang="en-US" sz="1200" dirty="0">
                <a:latin typeface="Consolas" panose="020B0609020204030204" pitchFamily="49" charset="0"/>
              </a:rPr>
              <a:t>IS-IS 1 IPv6 Unicast FRR backups</a:t>
            </a:r>
          </a:p>
          <a:p>
            <a:endParaRPr lang="en-US" sz="1200" dirty="0">
              <a:latin typeface="Consolas" panose="020B0609020204030204" pitchFamily="49" charset="0"/>
            </a:endParaRPr>
          </a:p>
          <a:p>
            <a:r>
              <a:rPr lang="en-US" sz="1200" dirty="0">
                <a:latin typeface="Consolas" panose="020B0609020204030204" pitchFamily="49" charset="0"/>
              </a:rPr>
              <a:t>Codes: </a:t>
            </a:r>
            <a:r>
              <a:rPr lang="en-US" sz="1200" dirty="0" err="1">
                <a:latin typeface="Consolas" panose="020B0609020204030204" pitchFamily="49" charset="0"/>
              </a:rPr>
              <a:t>L1</a:t>
            </a:r>
            <a:r>
              <a:rPr lang="en-US" sz="1200" dirty="0">
                <a:latin typeface="Consolas" panose="020B0609020204030204" pitchFamily="49" charset="0"/>
              </a:rPr>
              <a:t> - level 1, L2 - level 2, </a:t>
            </a:r>
            <a:r>
              <a:rPr lang="en-US" sz="1200" dirty="0" err="1">
                <a:latin typeface="Consolas" panose="020B0609020204030204" pitchFamily="49" charset="0"/>
              </a:rPr>
              <a:t>ia</a:t>
            </a:r>
            <a:r>
              <a:rPr lang="en-US" sz="1200" dirty="0">
                <a:latin typeface="Consolas" panose="020B0609020204030204" pitchFamily="49" charset="0"/>
              </a:rPr>
              <a:t> - interarea (leaked into level 1)</a:t>
            </a:r>
          </a:p>
          <a:p>
            <a:r>
              <a:rPr lang="en-US" sz="1200" dirty="0">
                <a:latin typeface="Consolas" panose="020B0609020204030204" pitchFamily="49" charset="0"/>
              </a:rPr>
              <a:t>       </a:t>
            </a:r>
            <a:r>
              <a:rPr lang="en-US" sz="1200" dirty="0" err="1">
                <a:latin typeface="Consolas" panose="020B0609020204030204" pitchFamily="49" charset="0"/>
              </a:rPr>
              <a:t>df</a:t>
            </a:r>
            <a:r>
              <a:rPr lang="en-US" sz="1200" dirty="0">
                <a:latin typeface="Consolas" panose="020B0609020204030204" pitchFamily="49" charset="0"/>
              </a:rPr>
              <a:t> - level 1 default (closest attached router), su - summary null</a:t>
            </a:r>
          </a:p>
          <a:p>
            <a:r>
              <a:rPr lang="en-US" sz="1200" dirty="0">
                <a:latin typeface="Consolas" panose="020B0609020204030204" pitchFamily="49" charset="0"/>
              </a:rPr>
              <a:t>       C - connected, S - static, R - RIP, B - BGP, O - OSPF</a:t>
            </a:r>
          </a:p>
          <a:p>
            <a:r>
              <a:rPr lang="en-US" sz="1200" dirty="0">
                <a:latin typeface="Consolas" panose="020B0609020204030204" pitchFamily="49" charset="0"/>
              </a:rPr>
              <a:t>       E - EIGRP, A - access/subscriber, M - mobile, a - application</a:t>
            </a:r>
          </a:p>
          <a:p>
            <a:r>
              <a:rPr lang="en-US" sz="1200" dirty="0">
                <a:latin typeface="Consolas" panose="020B0609020204030204" pitchFamily="49" charset="0"/>
              </a:rPr>
              <a:t>       </a:t>
            </a:r>
            <a:r>
              <a:rPr lang="en-US" sz="1200" dirty="0" err="1">
                <a:latin typeface="Consolas" panose="020B0609020204030204" pitchFamily="49" charset="0"/>
              </a:rPr>
              <a:t>i</a:t>
            </a:r>
            <a:r>
              <a:rPr lang="en-US" sz="1200" dirty="0">
                <a:latin typeface="Consolas" panose="020B0609020204030204" pitchFamily="49" charset="0"/>
              </a:rPr>
              <a:t> - IS-IS (redistributed from another instance)</a:t>
            </a:r>
          </a:p>
          <a:p>
            <a:r>
              <a:rPr lang="en-US" sz="1200" dirty="0">
                <a:latin typeface="Consolas" panose="020B0609020204030204" pitchFamily="49" charset="0"/>
              </a:rPr>
              <a:t>       D - Downstream, LC - Line card disjoint, NP - Node protecting</a:t>
            </a:r>
          </a:p>
          <a:p>
            <a:r>
              <a:rPr lang="en-US" sz="1200" dirty="0">
                <a:latin typeface="Consolas" panose="020B0609020204030204" pitchFamily="49" charset="0"/>
              </a:rPr>
              <a:t>       P - Primary path, </a:t>
            </a:r>
            <a:r>
              <a:rPr lang="en-US" sz="1200" dirty="0" err="1">
                <a:latin typeface="Consolas" panose="020B0609020204030204" pitchFamily="49" charset="0"/>
              </a:rPr>
              <a:t>SRLG</a:t>
            </a:r>
            <a:r>
              <a:rPr lang="en-US" sz="1200" dirty="0">
                <a:latin typeface="Consolas" panose="020B0609020204030204" pitchFamily="49" charset="0"/>
              </a:rPr>
              <a:t> - </a:t>
            </a:r>
            <a:r>
              <a:rPr lang="en-US" sz="1200" dirty="0" err="1">
                <a:latin typeface="Consolas" panose="020B0609020204030204" pitchFamily="49" charset="0"/>
              </a:rPr>
              <a:t>SRLG</a:t>
            </a:r>
            <a:r>
              <a:rPr lang="en-US" sz="1200" dirty="0">
                <a:latin typeface="Consolas" panose="020B0609020204030204" pitchFamily="49" charset="0"/>
              </a:rPr>
              <a:t> disjoint, TM - Total metric via backup</a:t>
            </a:r>
          </a:p>
          <a:p>
            <a:endParaRPr lang="en-US" sz="1200" dirty="0">
              <a:latin typeface="Consolas" panose="020B0609020204030204" pitchFamily="49" charset="0"/>
            </a:endParaRPr>
          </a:p>
          <a:p>
            <a:r>
              <a:rPr lang="en-US" sz="1200" dirty="0">
                <a:latin typeface="Consolas" panose="020B0609020204030204" pitchFamily="49" charset="0"/>
              </a:rPr>
              <a:t>Maximum parallel path count: 8</a:t>
            </a:r>
          </a:p>
          <a:p>
            <a:endParaRPr lang="en-US" sz="1200" dirty="0">
              <a:latin typeface="Consolas" panose="020B0609020204030204" pitchFamily="49" charset="0"/>
            </a:endParaRPr>
          </a:p>
          <a:p>
            <a:r>
              <a:rPr lang="en-US" sz="1200" dirty="0">
                <a:latin typeface="Consolas" panose="020B0609020204030204" pitchFamily="49" charset="0"/>
              </a:rPr>
              <a:t>L2 2001:9999::2/128 [10/115]</a:t>
            </a:r>
          </a:p>
          <a:p>
            <a:r>
              <a:rPr lang="en-US" sz="1200" dirty="0">
                <a:latin typeface="Consolas" panose="020B0609020204030204" pitchFamily="49" charset="0"/>
              </a:rPr>
              <a:t>     via </a:t>
            </a:r>
            <a:r>
              <a:rPr lang="en-US" sz="1200" dirty="0" err="1">
                <a:latin typeface="Consolas" panose="020B0609020204030204" pitchFamily="49" charset="0"/>
              </a:rPr>
              <a:t>fe80</a:t>
            </a:r>
            <a:r>
              <a:rPr lang="en-US" sz="1200" dirty="0">
                <a:latin typeface="Consolas" panose="020B0609020204030204" pitchFamily="49" charset="0"/>
              </a:rPr>
              <a:t>::</a:t>
            </a:r>
            <a:r>
              <a:rPr lang="en-US" sz="1200" dirty="0" err="1">
                <a:latin typeface="Consolas" panose="020B0609020204030204" pitchFamily="49" charset="0"/>
              </a:rPr>
              <a:t>5054:ff:fead:9c45</a:t>
            </a:r>
            <a:r>
              <a:rPr lang="en-US" sz="1200" dirty="0">
                <a:latin typeface="Consolas" panose="020B0609020204030204" pitchFamily="49" charset="0"/>
              </a:rPr>
              <a:t>, </a:t>
            </a:r>
            <a:r>
              <a:rPr lang="en-US" sz="1200" dirty="0" err="1">
                <a:latin typeface="Consolas" panose="020B0609020204030204" pitchFamily="49" charset="0"/>
              </a:rPr>
              <a:t>GigabitEthernet0</a:t>
            </a:r>
            <a:r>
              <a:rPr lang="en-US" sz="1200" dirty="0">
                <a:latin typeface="Consolas" panose="020B0609020204030204" pitchFamily="49" charset="0"/>
              </a:rPr>
              <a:t>/0/0/0, </a:t>
            </a:r>
            <a:r>
              <a:rPr lang="en-US" sz="1200" dirty="0" err="1">
                <a:latin typeface="Consolas" panose="020B0609020204030204" pitchFamily="49" charset="0"/>
              </a:rPr>
              <a:t>R02</a:t>
            </a:r>
            <a:r>
              <a:rPr lang="en-US" sz="1200" dirty="0">
                <a:latin typeface="Consolas" panose="020B0609020204030204" pitchFamily="49" charset="0"/>
              </a:rPr>
              <a:t>, SRGB Base: 16000, Weight: 0</a:t>
            </a:r>
          </a:p>
          <a:p>
            <a:r>
              <a:rPr lang="en-US" sz="1200" dirty="0">
                <a:highlight>
                  <a:srgbClr val="FFFF00"/>
                </a:highlight>
                <a:latin typeface="Consolas" panose="020B0609020204030204" pitchFamily="49" charset="0"/>
              </a:rPr>
              <a:t>       Backup path: LFA, via </a:t>
            </a:r>
            <a:r>
              <a:rPr lang="en-US" sz="1200" dirty="0" err="1">
                <a:highlight>
                  <a:srgbClr val="FFFF00"/>
                </a:highlight>
                <a:latin typeface="Consolas" panose="020B0609020204030204" pitchFamily="49" charset="0"/>
              </a:rPr>
              <a:t>fe80</a:t>
            </a:r>
            <a:r>
              <a:rPr lang="en-US" sz="1200" dirty="0">
                <a:highlight>
                  <a:srgbClr val="FFFF00"/>
                </a:highlight>
                <a:latin typeface="Consolas" panose="020B0609020204030204" pitchFamily="49" charset="0"/>
              </a:rPr>
              <a:t>::</a:t>
            </a:r>
            <a:r>
              <a:rPr lang="en-US" sz="1200" dirty="0" err="1">
                <a:highlight>
                  <a:srgbClr val="FFFF00"/>
                </a:highlight>
                <a:latin typeface="Consolas" panose="020B0609020204030204" pitchFamily="49" charset="0"/>
              </a:rPr>
              <a:t>5054:ff:fe0c:6a4f</a:t>
            </a:r>
            <a:r>
              <a:rPr lang="en-US" sz="1200" dirty="0">
                <a:highlight>
                  <a:srgbClr val="FFFF00"/>
                </a:highlight>
                <a:latin typeface="Consolas" panose="020B0609020204030204" pitchFamily="49" charset="0"/>
              </a:rPr>
              <a:t>, </a:t>
            </a:r>
            <a:r>
              <a:rPr lang="en-US" sz="1200" dirty="0" err="1">
                <a:highlight>
                  <a:srgbClr val="FFFF00"/>
                </a:highlight>
                <a:latin typeface="Consolas" panose="020B0609020204030204" pitchFamily="49" charset="0"/>
              </a:rPr>
              <a:t>GigabitEthernet0</a:t>
            </a:r>
            <a:r>
              <a:rPr lang="en-US" sz="1200" dirty="0">
                <a:highlight>
                  <a:srgbClr val="FFFF00"/>
                </a:highlight>
                <a:latin typeface="Consolas" panose="020B0609020204030204" pitchFamily="49" charset="0"/>
              </a:rPr>
              <a:t>/0/0/5, </a:t>
            </a:r>
            <a:r>
              <a:rPr lang="en-US" sz="1200" dirty="0" err="1">
                <a:highlight>
                  <a:srgbClr val="FFFF00"/>
                </a:highlight>
                <a:latin typeface="Consolas" panose="020B0609020204030204" pitchFamily="49" charset="0"/>
              </a:rPr>
              <a:t>R12</a:t>
            </a:r>
            <a:r>
              <a:rPr lang="en-US" sz="1200" dirty="0">
                <a:highlight>
                  <a:srgbClr val="FFFF00"/>
                </a:highlight>
                <a:latin typeface="Consolas" panose="020B0609020204030204" pitchFamily="49" charset="0"/>
              </a:rPr>
              <a:t>, SRGB Base: 16000, Weight: 0, Metric: 1030</a:t>
            </a:r>
          </a:p>
          <a:p>
            <a:r>
              <a:rPr lang="en-US" sz="1200" dirty="0">
                <a:latin typeface="Consolas" panose="020B0609020204030204" pitchFamily="49" charset="0"/>
              </a:rPr>
              <a:t>L2 2001:9999::3/128 [20/115]</a:t>
            </a:r>
          </a:p>
          <a:p>
            <a:r>
              <a:rPr lang="en-US" sz="1200" dirty="0">
                <a:latin typeface="Consolas" panose="020B0609020204030204" pitchFamily="49" charset="0"/>
              </a:rPr>
              <a:t>     via </a:t>
            </a:r>
            <a:r>
              <a:rPr lang="en-US" sz="1200" dirty="0" err="1">
                <a:latin typeface="Consolas" panose="020B0609020204030204" pitchFamily="49" charset="0"/>
              </a:rPr>
              <a:t>fe80</a:t>
            </a:r>
            <a:r>
              <a:rPr lang="en-US" sz="1200" dirty="0">
                <a:latin typeface="Consolas" panose="020B0609020204030204" pitchFamily="49" charset="0"/>
              </a:rPr>
              <a:t>::</a:t>
            </a:r>
            <a:r>
              <a:rPr lang="en-US" sz="1200" dirty="0" err="1">
                <a:latin typeface="Consolas" panose="020B0609020204030204" pitchFamily="49" charset="0"/>
              </a:rPr>
              <a:t>5054:ff:fead:9c45</a:t>
            </a:r>
            <a:r>
              <a:rPr lang="en-US" sz="1200" dirty="0">
                <a:latin typeface="Consolas" panose="020B0609020204030204" pitchFamily="49" charset="0"/>
              </a:rPr>
              <a:t>, </a:t>
            </a:r>
            <a:r>
              <a:rPr lang="en-US" sz="1200" dirty="0" err="1">
                <a:latin typeface="Consolas" panose="020B0609020204030204" pitchFamily="49" charset="0"/>
              </a:rPr>
              <a:t>GigabitEthernet0</a:t>
            </a:r>
            <a:r>
              <a:rPr lang="en-US" sz="1200" dirty="0">
                <a:latin typeface="Consolas" panose="020B0609020204030204" pitchFamily="49" charset="0"/>
              </a:rPr>
              <a:t>/0/0/0, </a:t>
            </a:r>
            <a:r>
              <a:rPr lang="en-US" sz="1200" dirty="0" err="1">
                <a:latin typeface="Consolas" panose="020B0609020204030204" pitchFamily="49" charset="0"/>
              </a:rPr>
              <a:t>R02</a:t>
            </a:r>
            <a:r>
              <a:rPr lang="en-US" sz="1200" dirty="0">
                <a:latin typeface="Consolas" panose="020B0609020204030204" pitchFamily="49" charset="0"/>
              </a:rPr>
              <a:t>, SRGB Base: 16000, Weight: 0</a:t>
            </a:r>
          </a:p>
          <a:p>
            <a:r>
              <a:rPr lang="en-US" sz="1200" dirty="0">
                <a:latin typeface="Consolas" panose="020B0609020204030204" pitchFamily="49" charset="0"/>
              </a:rPr>
              <a:t>       Backup path: LFA, via </a:t>
            </a:r>
            <a:r>
              <a:rPr lang="en-US" sz="1200" dirty="0" err="1">
                <a:latin typeface="Consolas" panose="020B0609020204030204" pitchFamily="49" charset="0"/>
              </a:rPr>
              <a:t>fe80</a:t>
            </a:r>
            <a:r>
              <a:rPr lang="en-US" sz="1200" dirty="0">
                <a:latin typeface="Consolas" panose="020B0609020204030204" pitchFamily="49" charset="0"/>
              </a:rPr>
              <a:t>::</a:t>
            </a:r>
            <a:r>
              <a:rPr lang="en-US" sz="1200" dirty="0" err="1">
                <a:latin typeface="Consolas" panose="020B0609020204030204" pitchFamily="49" charset="0"/>
              </a:rPr>
              <a:t>5054:ff:fe0c:6a4f</a:t>
            </a:r>
            <a:r>
              <a:rPr lang="en-US" sz="1200" dirty="0">
                <a:latin typeface="Consolas" panose="020B0609020204030204" pitchFamily="49" charset="0"/>
              </a:rPr>
              <a:t>, </a:t>
            </a:r>
            <a:r>
              <a:rPr lang="en-US" sz="1200" dirty="0" err="1">
                <a:latin typeface="Consolas" panose="020B0609020204030204" pitchFamily="49" charset="0"/>
              </a:rPr>
              <a:t>GigabitEthernet0</a:t>
            </a:r>
            <a:r>
              <a:rPr lang="en-US" sz="1200" dirty="0">
                <a:latin typeface="Consolas" panose="020B0609020204030204" pitchFamily="49" charset="0"/>
              </a:rPr>
              <a:t>/0/0/5, </a:t>
            </a:r>
            <a:r>
              <a:rPr lang="en-US" sz="1200" dirty="0" err="1">
                <a:latin typeface="Consolas" panose="020B0609020204030204" pitchFamily="49" charset="0"/>
              </a:rPr>
              <a:t>R12</a:t>
            </a:r>
            <a:r>
              <a:rPr lang="en-US" sz="1200" dirty="0">
                <a:latin typeface="Consolas" panose="020B0609020204030204" pitchFamily="49" charset="0"/>
              </a:rPr>
              <a:t>, SRGB Base: 16000, Weight: 0, Metric: 1020</a:t>
            </a:r>
          </a:p>
          <a:p>
            <a:r>
              <a:rPr lang="en-US" sz="1200" dirty="0">
                <a:latin typeface="Consolas" panose="020B0609020204030204" pitchFamily="49" charset="0"/>
              </a:rPr>
              <a:t>-- cut --</a:t>
            </a:r>
          </a:p>
        </p:txBody>
      </p:sp>
      <p:sp>
        <p:nvSpPr>
          <p:cNvPr id="6" name="Rectangle 5">
            <a:extLst>
              <a:ext uri="{FF2B5EF4-FFF2-40B4-BE49-F238E27FC236}">
                <a16:creationId xmlns:a16="http://schemas.microsoft.com/office/drawing/2014/main" id="{7FBF4EFC-4568-E84E-12DB-05C19D68424B}"/>
              </a:ext>
            </a:extLst>
          </p:cNvPr>
          <p:cNvSpPr/>
          <p:nvPr/>
        </p:nvSpPr>
        <p:spPr>
          <a:xfrm>
            <a:off x="737419" y="4755000"/>
            <a:ext cx="10717160" cy="1569660"/>
          </a:xfrm>
          <a:prstGeom prst="rect">
            <a:avLst/>
          </a:prstGeom>
          <a:solidFill>
            <a:schemeClr val="bg1">
              <a:lumMod val="95000"/>
            </a:schemeClr>
          </a:solidFill>
          <a:ln>
            <a:solidFill>
              <a:schemeClr val="tx1"/>
            </a:solidFill>
          </a:ln>
          <a:effectLst/>
        </p:spPr>
        <p:txBody>
          <a:bodyPr wrap="square">
            <a:spAutoFit/>
          </a:bodyPr>
          <a:lstStyle/>
          <a:p>
            <a:r>
              <a:rPr lang="en-US" sz="1200" dirty="0">
                <a:latin typeface="Consolas" panose="020B0609020204030204" pitchFamily="49" charset="0"/>
              </a:rPr>
              <a:t>RP/0/RP0/</a:t>
            </a:r>
            <a:r>
              <a:rPr lang="en-US" sz="1200" dirty="0" err="1">
                <a:latin typeface="Consolas" panose="020B0609020204030204" pitchFamily="49" charset="0"/>
              </a:rPr>
              <a:t>CPU0:R01#</a:t>
            </a:r>
            <a:r>
              <a:rPr lang="en-US" sz="1200" b="1" dirty="0" err="1">
                <a:latin typeface="Consolas" panose="020B0609020204030204" pitchFamily="49" charset="0"/>
              </a:rPr>
              <a:t>sh</a:t>
            </a:r>
            <a:r>
              <a:rPr lang="en-US" sz="1200" b="1" dirty="0">
                <a:latin typeface="Consolas" panose="020B0609020204030204" pitchFamily="49" charset="0"/>
              </a:rPr>
              <a:t> isis ipv6 fast-reroute </a:t>
            </a:r>
            <a:r>
              <a:rPr lang="en-US" sz="1200" i="1" dirty="0">
                <a:latin typeface="Consolas" panose="020B0609020204030204" pitchFamily="49" charset="0"/>
              </a:rPr>
              <a:t>2001:9999::2/128  </a:t>
            </a:r>
            <a:r>
              <a:rPr lang="en-US" sz="1200" b="1" dirty="0">
                <a:latin typeface="Consolas" panose="020B0609020204030204" pitchFamily="49" charset="0"/>
              </a:rPr>
              <a:t>detail </a:t>
            </a:r>
          </a:p>
          <a:p>
            <a:r>
              <a:rPr lang="en-US" sz="1200" dirty="0">
                <a:latin typeface="Consolas" panose="020B0609020204030204" pitchFamily="49" charset="0"/>
              </a:rPr>
              <a:t>L2 2001:9999::2/128 [10/115] Label: None, medium priority</a:t>
            </a:r>
          </a:p>
          <a:p>
            <a:r>
              <a:rPr lang="en-US" sz="1200" dirty="0">
                <a:latin typeface="Consolas" panose="020B0609020204030204" pitchFamily="49" charset="0"/>
              </a:rPr>
              <a:t>   Installed Jun 07 13:12:49.214 for </a:t>
            </a:r>
            <a:r>
              <a:rPr lang="en-US" sz="1200" dirty="0" err="1">
                <a:latin typeface="Consolas" panose="020B0609020204030204" pitchFamily="49" charset="0"/>
              </a:rPr>
              <a:t>1d21h</a:t>
            </a:r>
            <a:endParaRPr lang="en-US" sz="1200" dirty="0">
              <a:latin typeface="Consolas" panose="020B0609020204030204" pitchFamily="49" charset="0"/>
            </a:endParaRPr>
          </a:p>
          <a:p>
            <a:r>
              <a:rPr lang="en-US" sz="1200" dirty="0">
                <a:latin typeface="Consolas" panose="020B0609020204030204" pitchFamily="49" charset="0"/>
              </a:rPr>
              <a:t>     via </a:t>
            </a:r>
            <a:r>
              <a:rPr lang="en-US" sz="1200" dirty="0" err="1">
                <a:latin typeface="Consolas" panose="020B0609020204030204" pitchFamily="49" charset="0"/>
              </a:rPr>
              <a:t>fe80</a:t>
            </a:r>
            <a:r>
              <a:rPr lang="en-US" sz="1200" dirty="0">
                <a:latin typeface="Consolas" panose="020B0609020204030204" pitchFamily="49" charset="0"/>
              </a:rPr>
              <a:t>::</a:t>
            </a:r>
            <a:r>
              <a:rPr lang="en-US" sz="1200" dirty="0" err="1">
                <a:latin typeface="Consolas" panose="020B0609020204030204" pitchFamily="49" charset="0"/>
              </a:rPr>
              <a:t>5054:ff:fead:9c45</a:t>
            </a:r>
            <a:r>
              <a:rPr lang="en-US" sz="1200" dirty="0">
                <a:latin typeface="Consolas" panose="020B0609020204030204" pitchFamily="49" charset="0"/>
              </a:rPr>
              <a:t>, </a:t>
            </a:r>
            <a:r>
              <a:rPr lang="en-US" sz="1200" dirty="0" err="1">
                <a:latin typeface="Consolas" panose="020B0609020204030204" pitchFamily="49" charset="0"/>
              </a:rPr>
              <a:t>GigabitEthernet0</a:t>
            </a:r>
            <a:r>
              <a:rPr lang="en-US" sz="1200" dirty="0">
                <a:latin typeface="Consolas" panose="020B0609020204030204" pitchFamily="49" charset="0"/>
              </a:rPr>
              <a:t>/0/0/0, </a:t>
            </a:r>
            <a:r>
              <a:rPr lang="en-US" sz="1200" dirty="0" err="1">
                <a:latin typeface="Consolas" panose="020B0609020204030204" pitchFamily="49" charset="0"/>
              </a:rPr>
              <a:t>R02</a:t>
            </a:r>
            <a:r>
              <a:rPr lang="en-US" sz="1200" dirty="0">
                <a:latin typeface="Consolas" panose="020B0609020204030204" pitchFamily="49" charset="0"/>
              </a:rPr>
              <a:t>, SRGB Base: 16000, Weight: 0</a:t>
            </a:r>
          </a:p>
          <a:p>
            <a:r>
              <a:rPr lang="en-US" sz="1200" dirty="0">
                <a:latin typeface="Consolas" panose="020B0609020204030204" pitchFamily="49" charset="0"/>
              </a:rPr>
              <a:t>       Backup path: LFA, via </a:t>
            </a:r>
            <a:r>
              <a:rPr lang="en-US" sz="1200" dirty="0" err="1">
                <a:latin typeface="Consolas" panose="020B0609020204030204" pitchFamily="49" charset="0"/>
              </a:rPr>
              <a:t>fe80</a:t>
            </a:r>
            <a:r>
              <a:rPr lang="en-US" sz="1200" dirty="0">
                <a:latin typeface="Consolas" panose="020B0609020204030204" pitchFamily="49" charset="0"/>
              </a:rPr>
              <a:t>::</a:t>
            </a:r>
            <a:r>
              <a:rPr lang="en-US" sz="1200" dirty="0" err="1">
                <a:latin typeface="Consolas" panose="020B0609020204030204" pitchFamily="49" charset="0"/>
              </a:rPr>
              <a:t>5054:ff:fe0c:6a4f</a:t>
            </a:r>
            <a:r>
              <a:rPr lang="en-US" sz="1200" dirty="0">
                <a:latin typeface="Consolas" panose="020B0609020204030204" pitchFamily="49" charset="0"/>
              </a:rPr>
              <a:t>, </a:t>
            </a:r>
            <a:r>
              <a:rPr lang="en-US" sz="1200" dirty="0" err="1">
                <a:latin typeface="Consolas" panose="020B0609020204030204" pitchFamily="49" charset="0"/>
              </a:rPr>
              <a:t>GigabitEthernet0</a:t>
            </a:r>
            <a:r>
              <a:rPr lang="en-US" sz="1200" dirty="0">
                <a:latin typeface="Consolas" panose="020B0609020204030204" pitchFamily="49" charset="0"/>
              </a:rPr>
              <a:t>/0/0/5, </a:t>
            </a:r>
            <a:r>
              <a:rPr lang="en-US" sz="1200" dirty="0" err="1">
                <a:latin typeface="Consolas" panose="020B0609020204030204" pitchFamily="49" charset="0"/>
              </a:rPr>
              <a:t>R12</a:t>
            </a:r>
            <a:r>
              <a:rPr lang="en-US" sz="1200" dirty="0">
                <a:latin typeface="Consolas" panose="020B0609020204030204" pitchFamily="49" charset="0"/>
              </a:rPr>
              <a:t>, SRGB Base: 16000, Weight: 0, Metric: 1030</a:t>
            </a:r>
          </a:p>
          <a:p>
            <a:r>
              <a:rPr lang="en-US" sz="1200" dirty="0">
                <a:latin typeface="Consolas" panose="020B0609020204030204" pitchFamily="49" charset="0"/>
              </a:rPr>
              <a:t>       P: No, TM: 1030, LC: No, NP: No, D: No, </a:t>
            </a:r>
            <a:r>
              <a:rPr lang="en-US" sz="1200" dirty="0" err="1">
                <a:latin typeface="Consolas" panose="020B0609020204030204" pitchFamily="49" charset="0"/>
              </a:rPr>
              <a:t>SRLG</a:t>
            </a:r>
            <a:r>
              <a:rPr lang="en-US" sz="1200" dirty="0">
                <a:latin typeface="Consolas" panose="020B0609020204030204" pitchFamily="49" charset="0"/>
              </a:rPr>
              <a:t>: Yes</a:t>
            </a:r>
          </a:p>
          <a:p>
            <a:r>
              <a:rPr lang="en-US" sz="1200" dirty="0">
                <a:latin typeface="Consolas" panose="020B0609020204030204" pitchFamily="49" charset="0"/>
              </a:rPr>
              <a:t>     </a:t>
            </a:r>
            <a:r>
              <a:rPr lang="en-US" sz="1200" dirty="0" err="1">
                <a:latin typeface="Consolas" panose="020B0609020204030204" pitchFamily="49" charset="0"/>
              </a:rPr>
              <a:t>src</a:t>
            </a:r>
            <a:r>
              <a:rPr lang="en-US" sz="1200" dirty="0">
                <a:latin typeface="Consolas" panose="020B0609020204030204" pitchFamily="49" charset="0"/>
              </a:rPr>
              <a:t> </a:t>
            </a:r>
            <a:r>
              <a:rPr lang="en-US" sz="1200" dirty="0" err="1">
                <a:latin typeface="Consolas" panose="020B0609020204030204" pitchFamily="49" charset="0"/>
              </a:rPr>
              <a:t>R02.00</a:t>
            </a:r>
            <a:r>
              <a:rPr lang="en-US" sz="1200" dirty="0">
                <a:latin typeface="Consolas" panose="020B0609020204030204" pitchFamily="49" charset="0"/>
              </a:rPr>
              <a:t>-00, 2001:9999::2</a:t>
            </a:r>
          </a:p>
          <a:p>
            <a:r>
              <a:rPr lang="en-US" sz="1200" dirty="0">
                <a:latin typeface="Consolas" panose="020B0609020204030204" pitchFamily="49" charset="0"/>
              </a:rPr>
              <a:t>RP/0/RP0/</a:t>
            </a:r>
            <a:r>
              <a:rPr lang="en-US" sz="1200" dirty="0" err="1">
                <a:latin typeface="Consolas" panose="020B0609020204030204" pitchFamily="49" charset="0"/>
              </a:rPr>
              <a:t>CPU0:R01</a:t>
            </a:r>
            <a:r>
              <a:rPr lang="en-US" sz="1200" dirty="0">
                <a:latin typeface="Consolas" panose="020B0609020204030204" pitchFamily="49" charset="0"/>
              </a:rPr>
              <a:t>#</a:t>
            </a:r>
          </a:p>
        </p:txBody>
      </p:sp>
    </p:spTree>
    <p:extLst>
      <p:ext uri="{BB962C8B-B14F-4D97-AF65-F5344CB8AC3E}">
        <p14:creationId xmlns:p14="http://schemas.microsoft.com/office/powerpoint/2010/main" val="3184830891"/>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4B8ED6C-7982-3897-7E1B-8084D5838EE0}"/>
              </a:ext>
            </a:extLst>
          </p:cNvPr>
          <p:cNvSpPr>
            <a:spLocks noGrp="1"/>
          </p:cNvSpPr>
          <p:nvPr>
            <p:ph type="body" sz="quarter" idx="11"/>
          </p:nvPr>
        </p:nvSpPr>
        <p:spPr/>
        <p:txBody>
          <a:bodyPr/>
          <a:lstStyle/>
          <a:p>
            <a:r>
              <a:rPr lang="en-US" dirty="0"/>
              <a:t>SRv6 ISIS TI-LFA - monitoring flex-algo aware</a:t>
            </a:r>
          </a:p>
        </p:txBody>
      </p:sp>
      <p:sp>
        <p:nvSpPr>
          <p:cNvPr id="4" name="Rectangle 3">
            <a:extLst>
              <a:ext uri="{FF2B5EF4-FFF2-40B4-BE49-F238E27FC236}">
                <a16:creationId xmlns:a16="http://schemas.microsoft.com/office/drawing/2014/main" id="{F98719AC-0EF2-C7E4-78EA-EFDFDB78EC6D}"/>
              </a:ext>
            </a:extLst>
          </p:cNvPr>
          <p:cNvSpPr/>
          <p:nvPr/>
        </p:nvSpPr>
        <p:spPr>
          <a:xfrm>
            <a:off x="737419" y="877413"/>
            <a:ext cx="10717160" cy="3785652"/>
          </a:xfrm>
          <a:prstGeom prst="rect">
            <a:avLst/>
          </a:prstGeom>
          <a:solidFill>
            <a:schemeClr val="bg1">
              <a:lumMod val="95000"/>
            </a:schemeClr>
          </a:solidFill>
          <a:ln>
            <a:solidFill>
              <a:schemeClr val="tx1"/>
            </a:solidFill>
          </a:ln>
          <a:effectLst/>
        </p:spPr>
        <p:txBody>
          <a:bodyPr wrap="square">
            <a:spAutoFit/>
          </a:bodyPr>
          <a:lstStyle/>
          <a:p>
            <a:r>
              <a:rPr lang="en-US" sz="1200" dirty="0">
                <a:latin typeface="Consolas" panose="020B0609020204030204" pitchFamily="49" charset="0"/>
              </a:rPr>
              <a:t>RP/0/RP0/</a:t>
            </a:r>
            <a:r>
              <a:rPr lang="en-US" sz="1200" dirty="0" err="1">
                <a:latin typeface="Consolas" panose="020B0609020204030204" pitchFamily="49" charset="0"/>
              </a:rPr>
              <a:t>CPU0:R01#</a:t>
            </a:r>
            <a:r>
              <a:rPr lang="en-US" sz="1200" b="1" dirty="0" err="1">
                <a:latin typeface="Consolas" panose="020B0609020204030204" pitchFamily="49" charset="0"/>
              </a:rPr>
              <a:t>sh</a:t>
            </a:r>
            <a:r>
              <a:rPr lang="en-US" sz="1200" b="1" dirty="0">
                <a:latin typeface="Consolas" panose="020B0609020204030204" pitchFamily="49" charset="0"/>
              </a:rPr>
              <a:t> isis ipv6 fast-reroute flex-algo </a:t>
            </a:r>
            <a:r>
              <a:rPr lang="en-US" sz="1200" i="1" dirty="0">
                <a:latin typeface="Consolas" panose="020B0609020204030204" pitchFamily="49" charset="0"/>
              </a:rPr>
              <a:t>128 </a:t>
            </a:r>
            <a:r>
              <a:rPr lang="en-US" sz="1200" dirty="0">
                <a:latin typeface="Consolas" panose="020B0609020204030204" pitchFamily="49" charset="0"/>
              </a:rPr>
              <a:t>           </a:t>
            </a:r>
          </a:p>
          <a:p>
            <a:r>
              <a:rPr lang="en-US" sz="1200" dirty="0">
                <a:latin typeface="Consolas" panose="020B0609020204030204" pitchFamily="49" charset="0"/>
              </a:rPr>
              <a:t>IS-IS 1 IPv6 Unicast FRR backups Flex-Algo 128</a:t>
            </a:r>
          </a:p>
          <a:p>
            <a:r>
              <a:rPr lang="en-US" sz="1200" dirty="0">
                <a:latin typeface="Consolas" panose="020B0609020204030204" pitchFamily="49" charset="0"/>
              </a:rPr>
              <a:t>Codes: </a:t>
            </a:r>
            <a:r>
              <a:rPr lang="en-US" sz="1200" dirty="0" err="1">
                <a:latin typeface="Consolas" panose="020B0609020204030204" pitchFamily="49" charset="0"/>
              </a:rPr>
              <a:t>L1</a:t>
            </a:r>
            <a:r>
              <a:rPr lang="en-US" sz="1200" dirty="0">
                <a:latin typeface="Consolas" panose="020B0609020204030204" pitchFamily="49" charset="0"/>
              </a:rPr>
              <a:t> - level 1, L2 - level 2, </a:t>
            </a:r>
            <a:r>
              <a:rPr lang="en-US" sz="1200" dirty="0" err="1">
                <a:latin typeface="Consolas" panose="020B0609020204030204" pitchFamily="49" charset="0"/>
              </a:rPr>
              <a:t>ia</a:t>
            </a:r>
            <a:r>
              <a:rPr lang="en-US" sz="1200" dirty="0">
                <a:latin typeface="Consolas" panose="020B0609020204030204" pitchFamily="49" charset="0"/>
              </a:rPr>
              <a:t> - interarea (leaked into level 1)</a:t>
            </a:r>
          </a:p>
          <a:p>
            <a:r>
              <a:rPr lang="en-US" sz="1200" dirty="0">
                <a:latin typeface="Consolas" panose="020B0609020204030204" pitchFamily="49" charset="0"/>
              </a:rPr>
              <a:t>       </a:t>
            </a:r>
            <a:r>
              <a:rPr lang="en-US" sz="1200" dirty="0" err="1">
                <a:latin typeface="Consolas" panose="020B0609020204030204" pitchFamily="49" charset="0"/>
              </a:rPr>
              <a:t>df</a:t>
            </a:r>
            <a:r>
              <a:rPr lang="en-US" sz="1200" dirty="0">
                <a:latin typeface="Consolas" panose="020B0609020204030204" pitchFamily="49" charset="0"/>
              </a:rPr>
              <a:t> - level 1 default (closest attached router), su - summary null</a:t>
            </a:r>
          </a:p>
          <a:p>
            <a:r>
              <a:rPr lang="en-US" sz="1200" dirty="0">
                <a:latin typeface="Consolas" panose="020B0609020204030204" pitchFamily="49" charset="0"/>
              </a:rPr>
              <a:t>       C - connected, S - static, R - RIP, B - BGP, O - OSPF</a:t>
            </a:r>
          </a:p>
          <a:p>
            <a:r>
              <a:rPr lang="en-US" sz="1200" dirty="0">
                <a:latin typeface="Consolas" panose="020B0609020204030204" pitchFamily="49" charset="0"/>
              </a:rPr>
              <a:t>       E - EIGRP, A - access/subscriber, M - mobile, a - application</a:t>
            </a:r>
          </a:p>
          <a:p>
            <a:r>
              <a:rPr lang="en-US" sz="1200" dirty="0">
                <a:latin typeface="Consolas" panose="020B0609020204030204" pitchFamily="49" charset="0"/>
              </a:rPr>
              <a:t>       </a:t>
            </a:r>
            <a:r>
              <a:rPr lang="en-US" sz="1200" dirty="0" err="1">
                <a:latin typeface="Consolas" panose="020B0609020204030204" pitchFamily="49" charset="0"/>
              </a:rPr>
              <a:t>i</a:t>
            </a:r>
            <a:r>
              <a:rPr lang="en-US" sz="1200" dirty="0">
                <a:latin typeface="Consolas" panose="020B0609020204030204" pitchFamily="49" charset="0"/>
              </a:rPr>
              <a:t> - IS-IS (redistributed from another instance)</a:t>
            </a:r>
          </a:p>
          <a:p>
            <a:r>
              <a:rPr lang="en-US" sz="1200" dirty="0">
                <a:latin typeface="Consolas" panose="020B0609020204030204" pitchFamily="49" charset="0"/>
              </a:rPr>
              <a:t>       D - Downstream, LC - Line card disjoint, NP - Node protecting</a:t>
            </a:r>
          </a:p>
          <a:p>
            <a:r>
              <a:rPr lang="en-US" sz="1200" dirty="0">
                <a:latin typeface="Consolas" panose="020B0609020204030204" pitchFamily="49" charset="0"/>
              </a:rPr>
              <a:t>       P - Primary path, </a:t>
            </a:r>
            <a:r>
              <a:rPr lang="en-US" sz="1200" dirty="0" err="1">
                <a:latin typeface="Consolas" panose="020B0609020204030204" pitchFamily="49" charset="0"/>
              </a:rPr>
              <a:t>SRLG</a:t>
            </a:r>
            <a:r>
              <a:rPr lang="en-US" sz="1200" dirty="0">
                <a:latin typeface="Consolas" panose="020B0609020204030204" pitchFamily="49" charset="0"/>
              </a:rPr>
              <a:t> - </a:t>
            </a:r>
            <a:r>
              <a:rPr lang="en-US" sz="1200" dirty="0" err="1">
                <a:latin typeface="Consolas" panose="020B0609020204030204" pitchFamily="49" charset="0"/>
              </a:rPr>
              <a:t>SRLG</a:t>
            </a:r>
            <a:r>
              <a:rPr lang="en-US" sz="1200" dirty="0">
                <a:latin typeface="Consolas" panose="020B0609020204030204" pitchFamily="49" charset="0"/>
              </a:rPr>
              <a:t> disjoint, TM - Total metric via backup</a:t>
            </a:r>
          </a:p>
          <a:p>
            <a:r>
              <a:rPr lang="en-US" sz="1200" dirty="0">
                <a:latin typeface="Consolas" panose="020B0609020204030204" pitchFamily="49" charset="0"/>
              </a:rPr>
              <a:t>Maximum parallel path count: 8</a:t>
            </a:r>
          </a:p>
          <a:p>
            <a:endParaRPr lang="en-US" sz="1200" dirty="0">
              <a:latin typeface="Consolas" panose="020B0609020204030204" pitchFamily="49" charset="0"/>
            </a:endParaRPr>
          </a:p>
          <a:p>
            <a:r>
              <a:rPr lang="en-US" sz="1200" dirty="0">
                <a:latin typeface="Consolas" panose="020B0609020204030204" pitchFamily="49" charset="0"/>
              </a:rPr>
              <a:t>C  </a:t>
            </a:r>
            <a:r>
              <a:rPr lang="en-US" sz="1200" dirty="0" err="1">
                <a:latin typeface="Consolas" panose="020B0609020204030204" pitchFamily="49" charset="0"/>
              </a:rPr>
              <a:t>fc00:ab01:1</a:t>
            </a:r>
            <a:r>
              <a:rPr lang="en-US" sz="1200" dirty="0">
                <a:latin typeface="Consolas" panose="020B0609020204030204" pitchFamily="49" charset="0"/>
              </a:rPr>
              <a:t>::/48</a:t>
            </a:r>
          </a:p>
          <a:p>
            <a:r>
              <a:rPr lang="en-US" sz="1200" dirty="0">
                <a:latin typeface="Consolas" panose="020B0609020204030204" pitchFamily="49" charset="0"/>
              </a:rPr>
              <a:t>     is directly connected, </a:t>
            </a:r>
            <a:r>
              <a:rPr lang="en-US" sz="1200" dirty="0" err="1">
                <a:latin typeface="Consolas" panose="020B0609020204030204" pitchFamily="49" charset="0"/>
              </a:rPr>
              <a:t>SRv6Locator</a:t>
            </a:r>
            <a:endParaRPr lang="en-US" sz="1200" dirty="0">
              <a:latin typeface="Consolas" panose="020B0609020204030204" pitchFamily="49" charset="0"/>
            </a:endParaRPr>
          </a:p>
          <a:p>
            <a:r>
              <a:rPr lang="en-US" sz="1200" dirty="0">
                <a:latin typeface="Consolas" panose="020B0609020204030204" pitchFamily="49" charset="0"/>
              </a:rPr>
              <a:t>L2 </a:t>
            </a:r>
            <a:r>
              <a:rPr lang="en-US" sz="1200" dirty="0" err="1">
                <a:latin typeface="Consolas" panose="020B0609020204030204" pitchFamily="49" charset="0"/>
              </a:rPr>
              <a:t>fc00:ab01:2</a:t>
            </a:r>
            <a:r>
              <a:rPr lang="en-US" sz="1200" dirty="0">
                <a:latin typeface="Consolas" panose="020B0609020204030204" pitchFamily="49" charset="0"/>
              </a:rPr>
              <a:t>::/48 [41/115]</a:t>
            </a:r>
          </a:p>
          <a:p>
            <a:r>
              <a:rPr lang="en-US" sz="1200" dirty="0">
                <a:latin typeface="Consolas" panose="020B0609020204030204" pitchFamily="49" charset="0"/>
              </a:rPr>
              <a:t>     via </a:t>
            </a:r>
            <a:r>
              <a:rPr lang="en-US" sz="1200" dirty="0" err="1">
                <a:latin typeface="Consolas" panose="020B0609020204030204" pitchFamily="49" charset="0"/>
              </a:rPr>
              <a:t>fe80</a:t>
            </a:r>
            <a:r>
              <a:rPr lang="en-US" sz="1200" dirty="0">
                <a:latin typeface="Consolas" panose="020B0609020204030204" pitchFamily="49" charset="0"/>
              </a:rPr>
              <a:t>::</a:t>
            </a:r>
            <a:r>
              <a:rPr lang="en-US" sz="1200" dirty="0" err="1">
                <a:latin typeface="Consolas" panose="020B0609020204030204" pitchFamily="49" charset="0"/>
              </a:rPr>
              <a:t>5054:ff:fe0c:6a4f</a:t>
            </a:r>
            <a:r>
              <a:rPr lang="en-US" sz="1200" dirty="0">
                <a:latin typeface="Consolas" panose="020B0609020204030204" pitchFamily="49" charset="0"/>
              </a:rPr>
              <a:t>, </a:t>
            </a:r>
            <a:r>
              <a:rPr lang="en-US" sz="1200" dirty="0" err="1">
                <a:latin typeface="Consolas" panose="020B0609020204030204" pitchFamily="49" charset="0"/>
              </a:rPr>
              <a:t>GigabitEthernet0</a:t>
            </a:r>
            <a:r>
              <a:rPr lang="en-US" sz="1200" dirty="0">
                <a:latin typeface="Consolas" panose="020B0609020204030204" pitchFamily="49" charset="0"/>
              </a:rPr>
              <a:t>/0/0/5, </a:t>
            </a:r>
            <a:r>
              <a:rPr lang="en-US" sz="1200" dirty="0" err="1">
                <a:latin typeface="Consolas" panose="020B0609020204030204" pitchFamily="49" charset="0"/>
              </a:rPr>
              <a:t>R12</a:t>
            </a:r>
            <a:r>
              <a:rPr lang="en-US" sz="1200" dirty="0">
                <a:latin typeface="Consolas" panose="020B0609020204030204" pitchFamily="49" charset="0"/>
              </a:rPr>
              <a:t>, SRGB Base: 16000, Weight: 0</a:t>
            </a:r>
          </a:p>
          <a:p>
            <a:r>
              <a:rPr lang="en-US" sz="1200" dirty="0">
                <a:latin typeface="Consolas" panose="020B0609020204030204" pitchFamily="49" charset="0"/>
              </a:rPr>
              <a:t>       Backup path: LFA, via </a:t>
            </a:r>
            <a:r>
              <a:rPr lang="en-US" sz="1200" dirty="0" err="1">
                <a:latin typeface="Consolas" panose="020B0609020204030204" pitchFamily="49" charset="0"/>
              </a:rPr>
              <a:t>fe80</a:t>
            </a:r>
            <a:r>
              <a:rPr lang="en-US" sz="1200" dirty="0">
                <a:latin typeface="Consolas" panose="020B0609020204030204" pitchFamily="49" charset="0"/>
              </a:rPr>
              <a:t>::</a:t>
            </a:r>
            <a:r>
              <a:rPr lang="en-US" sz="1200" dirty="0" err="1">
                <a:latin typeface="Consolas" panose="020B0609020204030204" pitchFamily="49" charset="0"/>
              </a:rPr>
              <a:t>5054:ff:fead:9c45</a:t>
            </a:r>
            <a:r>
              <a:rPr lang="en-US" sz="1200" dirty="0">
                <a:latin typeface="Consolas" panose="020B0609020204030204" pitchFamily="49" charset="0"/>
              </a:rPr>
              <a:t>, </a:t>
            </a:r>
            <a:r>
              <a:rPr lang="en-US" sz="1200" dirty="0" err="1">
                <a:latin typeface="Consolas" panose="020B0609020204030204" pitchFamily="49" charset="0"/>
              </a:rPr>
              <a:t>GigabitEthernet0</a:t>
            </a:r>
            <a:r>
              <a:rPr lang="en-US" sz="1200" dirty="0">
                <a:latin typeface="Consolas" panose="020B0609020204030204" pitchFamily="49" charset="0"/>
              </a:rPr>
              <a:t>/0/0/0, </a:t>
            </a:r>
            <a:r>
              <a:rPr lang="en-US" sz="1200" dirty="0" err="1">
                <a:latin typeface="Consolas" panose="020B0609020204030204" pitchFamily="49" charset="0"/>
              </a:rPr>
              <a:t>R02</a:t>
            </a:r>
            <a:r>
              <a:rPr lang="en-US" sz="1200" dirty="0">
                <a:latin typeface="Consolas" panose="020B0609020204030204" pitchFamily="49" charset="0"/>
              </a:rPr>
              <a:t>, SRGB Base: 16000, Weight: 0, Metric: 101</a:t>
            </a:r>
          </a:p>
          <a:p>
            <a:r>
              <a:rPr lang="en-US" sz="1200" dirty="0">
                <a:latin typeface="Consolas" panose="020B0609020204030204" pitchFamily="49" charset="0"/>
              </a:rPr>
              <a:t>L2 </a:t>
            </a:r>
            <a:r>
              <a:rPr lang="en-US" sz="1200" dirty="0" err="1">
                <a:latin typeface="Consolas" panose="020B0609020204030204" pitchFamily="49" charset="0"/>
              </a:rPr>
              <a:t>fc00:ab01:3</a:t>
            </a:r>
            <a:r>
              <a:rPr lang="en-US" sz="1200" dirty="0">
                <a:latin typeface="Consolas" panose="020B0609020204030204" pitchFamily="49" charset="0"/>
              </a:rPr>
              <a:t>::/48 [81/115]</a:t>
            </a:r>
          </a:p>
          <a:p>
            <a:r>
              <a:rPr lang="en-US" sz="1200" dirty="0">
                <a:latin typeface="Consolas" panose="020B0609020204030204" pitchFamily="49" charset="0"/>
              </a:rPr>
              <a:t>     via </a:t>
            </a:r>
            <a:r>
              <a:rPr lang="en-US" sz="1200" dirty="0" err="1">
                <a:latin typeface="Consolas" panose="020B0609020204030204" pitchFamily="49" charset="0"/>
              </a:rPr>
              <a:t>fe80</a:t>
            </a:r>
            <a:r>
              <a:rPr lang="en-US" sz="1200" dirty="0">
                <a:latin typeface="Consolas" panose="020B0609020204030204" pitchFamily="49" charset="0"/>
              </a:rPr>
              <a:t>::</a:t>
            </a:r>
            <a:r>
              <a:rPr lang="en-US" sz="1200" dirty="0" err="1">
                <a:latin typeface="Consolas" panose="020B0609020204030204" pitchFamily="49" charset="0"/>
              </a:rPr>
              <a:t>5054:ff:fe0c:6a4f</a:t>
            </a:r>
            <a:r>
              <a:rPr lang="en-US" sz="1200" dirty="0">
                <a:latin typeface="Consolas" panose="020B0609020204030204" pitchFamily="49" charset="0"/>
              </a:rPr>
              <a:t>, </a:t>
            </a:r>
            <a:r>
              <a:rPr lang="en-US" sz="1200" dirty="0" err="1">
                <a:latin typeface="Consolas" panose="020B0609020204030204" pitchFamily="49" charset="0"/>
              </a:rPr>
              <a:t>GigabitEthernet0</a:t>
            </a:r>
            <a:r>
              <a:rPr lang="en-US" sz="1200" dirty="0">
                <a:latin typeface="Consolas" panose="020B0609020204030204" pitchFamily="49" charset="0"/>
              </a:rPr>
              <a:t>/0/0/5, </a:t>
            </a:r>
            <a:r>
              <a:rPr lang="en-US" sz="1200" dirty="0" err="1">
                <a:latin typeface="Consolas" panose="020B0609020204030204" pitchFamily="49" charset="0"/>
              </a:rPr>
              <a:t>R12</a:t>
            </a:r>
            <a:r>
              <a:rPr lang="en-US" sz="1200" dirty="0">
                <a:latin typeface="Consolas" panose="020B0609020204030204" pitchFamily="49" charset="0"/>
              </a:rPr>
              <a:t>, SRGB Base: 16000, Weight: 0</a:t>
            </a:r>
          </a:p>
          <a:p>
            <a:r>
              <a:rPr lang="en-US" sz="1200" dirty="0">
                <a:latin typeface="Consolas" panose="020B0609020204030204" pitchFamily="49" charset="0"/>
              </a:rPr>
              <a:t>       Backup path: LFA, via </a:t>
            </a:r>
            <a:r>
              <a:rPr lang="en-US" sz="1200" dirty="0" err="1">
                <a:latin typeface="Consolas" panose="020B0609020204030204" pitchFamily="49" charset="0"/>
              </a:rPr>
              <a:t>fe80</a:t>
            </a:r>
            <a:r>
              <a:rPr lang="en-US" sz="1200" dirty="0">
                <a:latin typeface="Consolas" panose="020B0609020204030204" pitchFamily="49" charset="0"/>
              </a:rPr>
              <a:t>::</a:t>
            </a:r>
            <a:r>
              <a:rPr lang="en-US" sz="1200" dirty="0" err="1">
                <a:latin typeface="Consolas" panose="020B0609020204030204" pitchFamily="49" charset="0"/>
              </a:rPr>
              <a:t>5054:ff:fead:9c45</a:t>
            </a:r>
            <a:r>
              <a:rPr lang="en-US" sz="1200" dirty="0">
                <a:latin typeface="Consolas" panose="020B0609020204030204" pitchFamily="49" charset="0"/>
              </a:rPr>
              <a:t>, </a:t>
            </a:r>
            <a:r>
              <a:rPr lang="en-US" sz="1200" dirty="0" err="1">
                <a:latin typeface="Consolas" panose="020B0609020204030204" pitchFamily="49" charset="0"/>
              </a:rPr>
              <a:t>GigabitEthernet0</a:t>
            </a:r>
            <a:r>
              <a:rPr lang="en-US" sz="1200" dirty="0">
                <a:latin typeface="Consolas" panose="020B0609020204030204" pitchFamily="49" charset="0"/>
              </a:rPr>
              <a:t>/0/0/0, </a:t>
            </a:r>
            <a:r>
              <a:rPr lang="en-US" sz="1200" dirty="0" err="1">
                <a:latin typeface="Consolas" panose="020B0609020204030204" pitchFamily="49" charset="0"/>
              </a:rPr>
              <a:t>R02</a:t>
            </a:r>
            <a:r>
              <a:rPr lang="en-US" sz="1200" dirty="0">
                <a:latin typeface="Consolas" panose="020B0609020204030204" pitchFamily="49" charset="0"/>
              </a:rPr>
              <a:t>, SRGB Base: 16000, Weight: 0, Metric: 141-- -- cut --</a:t>
            </a:r>
          </a:p>
        </p:txBody>
      </p:sp>
      <p:sp>
        <p:nvSpPr>
          <p:cNvPr id="6" name="Rectangle 5">
            <a:extLst>
              <a:ext uri="{FF2B5EF4-FFF2-40B4-BE49-F238E27FC236}">
                <a16:creationId xmlns:a16="http://schemas.microsoft.com/office/drawing/2014/main" id="{7FBF4EFC-4568-E84E-12DB-05C19D68424B}"/>
              </a:ext>
            </a:extLst>
          </p:cNvPr>
          <p:cNvSpPr/>
          <p:nvPr/>
        </p:nvSpPr>
        <p:spPr>
          <a:xfrm>
            <a:off x="737419" y="4755000"/>
            <a:ext cx="10717160" cy="1569660"/>
          </a:xfrm>
          <a:prstGeom prst="rect">
            <a:avLst/>
          </a:prstGeom>
          <a:solidFill>
            <a:schemeClr val="bg1">
              <a:lumMod val="95000"/>
            </a:schemeClr>
          </a:solidFill>
          <a:ln>
            <a:solidFill>
              <a:schemeClr val="tx1"/>
            </a:solidFill>
          </a:ln>
          <a:effectLst/>
        </p:spPr>
        <p:txBody>
          <a:bodyPr wrap="square">
            <a:spAutoFit/>
          </a:bodyPr>
          <a:lstStyle/>
          <a:p>
            <a:r>
              <a:rPr lang="en-US" sz="1200" dirty="0">
                <a:latin typeface="Consolas" panose="020B0609020204030204" pitchFamily="49" charset="0"/>
              </a:rPr>
              <a:t>RP/0/RP0/</a:t>
            </a:r>
            <a:r>
              <a:rPr lang="en-US" sz="1200" dirty="0" err="1">
                <a:latin typeface="Consolas" panose="020B0609020204030204" pitchFamily="49" charset="0"/>
              </a:rPr>
              <a:t>CPU0:R01#</a:t>
            </a:r>
            <a:r>
              <a:rPr lang="en-US" sz="1200" b="1" dirty="0" err="1">
                <a:latin typeface="Consolas" panose="020B0609020204030204" pitchFamily="49" charset="0"/>
              </a:rPr>
              <a:t>sh</a:t>
            </a:r>
            <a:r>
              <a:rPr lang="en-US" sz="1200" b="1" dirty="0">
                <a:latin typeface="Consolas" panose="020B0609020204030204" pitchFamily="49" charset="0"/>
              </a:rPr>
              <a:t> isis ipv6 fast-reroute flex-algo </a:t>
            </a:r>
            <a:r>
              <a:rPr lang="en-US" sz="1200" i="1" dirty="0">
                <a:latin typeface="Consolas" panose="020B0609020204030204" pitchFamily="49" charset="0"/>
              </a:rPr>
              <a:t>128 </a:t>
            </a:r>
            <a:r>
              <a:rPr lang="en-US" sz="1200" i="1" dirty="0" err="1">
                <a:latin typeface="Consolas" panose="020B0609020204030204" pitchFamily="49" charset="0"/>
              </a:rPr>
              <a:t>fc00:ab01:2</a:t>
            </a:r>
            <a:r>
              <a:rPr lang="en-US" sz="1200" i="1" dirty="0">
                <a:latin typeface="Consolas" panose="020B0609020204030204" pitchFamily="49" charset="0"/>
              </a:rPr>
              <a:t>::/48 </a:t>
            </a:r>
            <a:r>
              <a:rPr lang="en-US" sz="1200" b="1" dirty="0">
                <a:latin typeface="Consolas" panose="020B0609020204030204" pitchFamily="49" charset="0"/>
              </a:rPr>
              <a:t>detail</a:t>
            </a:r>
          </a:p>
          <a:p>
            <a:r>
              <a:rPr lang="en-US" sz="1200" dirty="0">
                <a:latin typeface="Consolas" panose="020B0609020204030204" pitchFamily="49" charset="0"/>
              </a:rPr>
              <a:t>L2 </a:t>
            </a:r>
            <a:r>
              <a:rPr lang="en-US" sz="1200" dirty="0" err="1">
                <a:latin typeface="Consolas" panose="020B0609020204030204" pitchFamily="49" charset="0"/>
              </a:rPr>
              <a:t>fc00:ab01:2</a:t>
            </a:r>
            <a:r>
              <a:rPr lang="en-US" sz="1200" dirty="0">
                <a:latin typeface="Consolas" panose="020B0609020204030204" pitchFamily="49" charset="0"/>
              </a:rPr>
              <a:t>::/48 [41/115] Label: None, low priority</a:t>
            </a:r>
          </a:p>
          <a:p>
            <a:r>
              <a:rPr lang="en-US" sz="1200" dirty="0">
                <a:latin typeface="Consolas" panose="020B0609020204030204" pitchFamily="49" charset="0"/>
              </a:rPr>
              <a:t>   Installed Jun 07 13:12:49.214 for </a:t>
            </a:r>
            <a:r>
              <a:rPr lang="en-US" sz="1200" dirty="0" err="1">
                <a:latin typeface="Consolas" panose="020B0609020204030204" pitchFamily="49" charset="0"/>
              </a:rPr>
              <a:t>1d21h</a:t>
            </a:r>
            <a:endParaRPr lang="en-US" sz="1200" dirty="0">
              <a:latin typeface="Consolas" panose="020B0609020204030204" pitchFamily="49" charset="0"/>
            </a:endParaRPr>
          </a:p>
          <a:p>
            <a:r>
              <a:rPr lang="en-US" sz="1200" dirty="0">
                <a:latin typeface="Consolas" panose="020B0609020204030204" pitchFamily="49" charset="0"/>
              </a:rPr>
              <a:t>     via </a:t>
            </a:r>
            <a:r>
              <a:rPr lang="en-US" sz="1200" dirty="0" err="1">
                <a:latin typeface="Consolas" panose="020B0609020204030204" pitchFamily="49" charset="0"/>
              </a:rPr>
              <a:t>fe80</a:t>
            </a:r>
            <a:r>
              <a:rPr lang="en-US" sz="1200" dirty="0">
                <a:latin typeface="Consolas" panose="020B0609020204030204" pitchFamily="49" charset="0"/>
              </a:rPr>
              <a:t>::</a:t>
            </a:r>
            <a:r>
              <a:rPr lang="en-US" sz="1200" dirty="0" err="1">
                <a:latin typeface="Consolas" panose="020B0609020204030204" pitchFamily="49" charset="0"/>
              </a:rPr>
              <a:t>5054:ff:fe0c:6a4f</a:t>
            </a:r>
            <a:r>
              <a:rPr lang="en-US" sz="1200" dirty="0">
                <a:latin typeface="Consolas" panose="020B0609020204030204" pitchFamily="49" charset="0"/>
              </a:rPr>
              <a:t>, </a:t>
            </a:r>
            <a:r>
              <a:rPr lang="en-US" sz="1200" dirty="0" err="1">
                <a:latin typeface="Consolas" panose="020B0609020204030204" pitchFamily="49" charset="0"/>
              </a:rPr>
              <a:t>GigabitEthernet0</a:t>
            </a:r>
            <a:r>
              <a:rPr lang="en-US" sz="1200" dirty="0">
                <a:latin typeface="Consolas" panose="020B0609020204030204" pitchFamily="49" charset="0"/>
              </a:rPr>
              <a:t>/0/0/5, </a:t>
            </a:r>
            <a:r>
              <a:rPr lang="en-US" sz="1200" dirty="0" err="1">
                <a:latin typeface="Consolas" panose="020B0609020204030204" pitchFamily="49" charset="0"/>
              </a:rPr>
              <a:t>R12</a:t>
            </a:r>
            <a:r>
              <a:rPr lang="en-US" sz="1200" dirty="0">
                <a:latin typeface="Consolas" panose="020B0609020204030204" pitchFamily="49" charset="0"/>
              </a:rPr>
              <a:t>, SRGB Base: 16000, Weight: 0</a:t>
            </a:r>
          </a:p>
          <a:p>
            <a:r>
              <a:rPr lang="en-US" sz="1200" dirty="0">
                <a:latin typeface="Consolas" panose="020B0609020204030204" pitchFamily="49" charset="0"/>
              </a:rPr>
              <a:t>       Backup path: LFA, via </a:t>
            </a:r>
            <a:r>
              <a:rPr lang="en-US" sz="1200" dirty="0" err="1">
                <a:latin typeface="Consolas" panose="020B0609020204030204" pitchFamily="49" charset="0"/>
              </a:rPr>
              <a:t>fe80</a:t>
            </a:r>
            <a:r>
              <a:rPr lang="en-US" sz="1200" dirty="0">
                <a:latin typeface="Consolas" panose="020B0609020204030204" pitchFamily="49" charset="0"/>
              </a:rPr>
              <a:t>::</a:t>
            </a:r>
            <a:r>
              <a:rPr lang="en-US" sz="1200" dirty="0" err="1">
                <a:latin typeface="Consolas" panose="020B0609020204030204" pitchFamily="49" charset="0"/>
              </a:rPr>
              <a:t>5054:ff:fead:9c45</a:t>
            </a:r>
            <a:r>
              <a:rPr lang="en-US" sz="1200" dirty="0">
                <a:latin typeface="Consolas" panose="020B0609020204030204" pitchFamily="49" charset="0"/>
              </a:rPr>
              <a:t>, </a:t>
            </a:r>
            <a:r>
              <a:rPr lang="en-US" sz="1200" dirty="0" err="1">
                <a:latin typeface="Consolas" panose="020B0609020204030204" pitchFamily="49" charset="0"/>
              </a:rPr>
              <a:t>GigabitEthernet0</a:t>
            </a:r>
            <a:r>
              <a:rPr lang="en-US" sz="1200" dirty="0">
                <a:latin typeface="Consolas" panose="020B0609020204030204" pitchFamily="49" charset="0"/>
              </a:rPr>
              <a:t>/0/0/0, </a:t>
            </a:r>
            <a:r>
              <a:rPr lang="en-US" sz="1200" dirty="0" err="1">
                <a:latin typeface="Consolas" panose="020B0609020204030204" pitchFamily="49" charset="0"/>
              </a:rPr>
              <a:t>R02</a:t>
            </a:r>
            <a:r>
              <a:rPr lang="en-US" sz="1200" dirty="0">
                <a:latin typeface="Consolas" panose="020B0609020204030204" pitchFamily="49" charset="0"/>
              </a:rPr>
              <a:t>, SRGB Base: 16000, Weight: 0, Metric: 101</a:t>
            </a:r>
          </a:p>
          <a:p>
            <a:r>
              <a:rPr lang="en-US" sz="1200" dirty="0">
                <a:latin typeface="Consolas" panose="020B0609020204030204" pitchFamily="49" charset="0"/>
              </a:rPr>
              <a:t>       P: No, TM: 101, LC: No, NP: Yes, D: Yes, </a:t>
            </a:r>
            <a:r>
              <a:rPr lang="en-US" sz="1200" dirty="0" err="1">
                <a:latin typeface="Consolas" panose="020B0609020204030204" pitchFamily="49" charset="0"/>
              </a:rPr>
              <a:t>SRLG</a:t>
            </a:r>
            <a:r>
              <a:rPr lang="en-US" sz="1200" dirty="0">
                <a:latin typeface="Consolas" panose="020B0609020204030204" pitchFamily="49" charset="0"/>
              </a:rPr>
              <a:t>: Yes</a:t>
            </a:r>
          </a:p>
          <a:p>
            <a:r>
              <a:rPr lang="en-US" sz="1200" dirty="0">
                <a:latin typeface="Consolas" panose="020B0609020204030204" pitchFamily="49" charset="0"/>
              </a:rPr>
              <a:t>     </a:t>
            </a:r>
            <a:r>
              <a:rPr lang="en-US" sz="1200" dirty="0" err="1">
                <a:latin typeface="Consolas" panose="020B0609020204030204" pitchFamily="49" charset="0"/>
              </a:rPr>
              <a:t>src</a:t>
            </a:r>
            <a:r>
              <a:rPr lang="en-US" sz="1200" dirty="0">
                <a:latin typeface="Consolas" panose="020B0609020204030204" pitchFamily="49" charset="0"/>
              </a:rPr>
              <a:t> </a:t>
            </a:r>
            <a:r>
              <a:rPr lang="en-US" sz="1200" dirty="0" err="1">
                <a:latin typeface="Consolas" panose="020B0609020204030204" pitchFamily="49" charset="0"/>
              </a:rPr>
              <a:t>R02.00</a:t>
            </a:r>
            <a:r>
              <a:rPr lang="en-US" sz="1200" dirty="0">
                <a:latin typeface="Consolas" panose="020B0609020204030204" pitchFamily="49" charset="0"/>
              </a:rPr>
              <a:t>-00, 2001:9999::2</a:t>
            </a:r>
          </a:p>
          <a:p>
            <a:r>
              <a:rPr lang="en-US" sz="1200" dirty="0">
                <a:latin typeface="Consolas" panose="020B0609020204030204" pitchFamily="49" charset="0"/>
              </a:rPr>
              <a:t>RP/0/RP0/</a:t>
            </a:r>
            <a:r>
              <a:rPr lang="en-US" sz="1200" dirty="0" err="1">
                <a:latin typeface="Consolas" panose="020B0609020204030204" pitchFamily="49" charset="0"/>
              </a:rPr>
              <a:t>CPU0:R01</a:t>
            </a:r>
            <a:r>
              <a:rPr lang="en-US" sz="1200" dirty="0">
                <a:latin typeface="Consolas" panose="020B0609020204030204" pitchFamily="49" charset="0"/>
              </a:rPr>
              <a:t>#</a:t>
            </a:r>
          </a:p>
        </p:txBody>
      </p:sp>
    </p:spTree>
    <p:extLst>
      <p:ext uri="{BB962C8B-B14F-4D97-AF65-F5344CB8AC3E}">
        <p14:creationId xmlns:p14="http://schemas.microsoft.com/office/powerpoint/2010/main" val="4256493641"/>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4B8ED6C-7982-3897-7E1B-8084D5838EE0}"/>
              </a:ext>
            </a:extLst>
          </p:cNvPr>
          <p:cNvSpPr>
            <a:spLocks noGrp="1"/>
          </p:cNvSpPr>
          <p:nvPr>
            <p:ph type="body" sz="quarter" idx="11"/>
          </p:nvPr>
        </p:nvSpPr>
        <p:spPr/>
        <p:txBody>
          <a:bodyPr/>
          <a:lstStyle/>
          <a:p>
            <a:r>
              <a:rPr lang="en-US" dirty="0"/>
              <a:t>SRv6 ISIS TI-LFA - monitoring</a:t>
            </a:r>
          </a:p>
        </p:txBody>
      </p:sp>
      <p:sp>
        <p:nvSpPr>
          <p:cNvPr id="4" name="Rectangle 3">
            <a:extLst>
              <a:ext uri="{FF2B5EF4-FFF2-40B4-BE49-F238E27FC236}">
                <a16:creationId xmlns:a16="http://schemas.microsoft.com/office/drawing/2014/main" id="{F98719AC-0EF2-C7E4-78EA-EFDFDB78EC6D}"/>
              </a:ext>
            </a:extLst>
          </p:cNvPr>
          <p:cNvSpPr/>
          <p:nvPr/>
        </p:nvSpPr>
        <p:spPr>
          <a:xfrm>
            <a:off x="84276" y="785478"/>
            <a:ext cx="9905027" cy="4493538"/>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RP/0/RP0/</a:t>
            </a:r>
            <a:r>
              <a:rPr lang="en-US" sz="1100" dirty="0" err="1">
                <a:latin typeface="Consolas" panose="020B0609020204030204" pitchFamily="49" charset="0"/>
              </a:rPr>
              <a:t>CPU0:R01#</a:t>
            </a:r>
            <a:r>
              <a:rPr lang="en-US" sz="1100" b="1" dirty="0" err="1">
                <a:latin typeface="Consolas" panose="020B0609020204030204" pitchFamily="49" charset="0"/>
              </a:rPr>
              <a:t>sh</a:t>
            </a:r>
            <a:r>
              <a:rPr lang="en-US" sz="1100" b="1" dirty="0">
                <a:latin typeface="Consolas" panose="020B0609020204030204" pitchFamily="49" charset="0"/>
              </a:rPr>
              <a:t> cef ipv6  </a:t>
            </a:r>
            <a:r>
              <a:rPr lang="en-US" sz="1100" i="1" dirty="0">
                <a:latin typeface="Consolas" panose="020B0609020204030204" pitchFamily="49" charset="0"/>
              </a:rPr>
              <a:t>2001:9999::2/128 </a:t>
            </a:r>
            <a:r>
              <a:rPr lang="en-US" sz="1100" b="1" dirty="0">
                <a:latin typeface="Consolas" panose="020B0609020204030204" pitchFamily="49" charset="0"/>
              </a:rPr>
              <a:t>detail </a:t>
            </a:r>
          </a:p>
          <a:p>
            <a:r>
              <a:rPr lang="en-US" sz="1100" dirty="0">
                <a:latin typeface="Consolas" panose="020B0609020204030204" pitchFamily="49" charset="0"/>
              </a:rPr>
              <a:t>Mon Jun  9 10:24:17.320 UTC</a:t>
            </a:r>
          </a:p>
          <a:p>
            <a:r>
              <a:rPr lang="en-US" sz="1100" dirty="0">
                <a:latin typeface="Consolas" panose="020B0609020204030204" pitchFamily="49" charset="0"/>
              </a:rPr>
              <a:t>2001:9999::2/128, version 17028, internal </a:t>
            </a:r>
            <a:r>
              <a:rPr lang="en-US" sz="1100" dirty="0" err="1">
                <a:latin typeface="Consolas" panose="020B0609020204030204" pitchFamily="49" charset="0"/>
              </a:rPr>
              <a:t>0x1000001</a:t>
            </a:r>
            <a:r>
              <a:rPr lang="en-US" sz="1100" dirty="0">
                <a:latin typeface="Consolas" panose="020B0609020204030204" pitchFamily="49" charset="0"/>
              </a:rPr>
              <a:t> </a:t>
            </a:r>
            <a:r>
              <a:rPr lang="en-US" sz="1100" dirty="0" err="1">
                <a:latin typeface="Consolas" panose="020B0609020204030204" pitchFamily="49" charset="0"/>
              </a:rPr>
              <a:t>0x210</a:t>
            </a:r>
            <a:r>
              <a:rPr lang="en-US" sz="1100" dirty="0">
                <a:latin typeface="Consolas" panose="020B0609020204030204" pitchFamily="49" charset="0"/>
              </a:rPr>
              <a:t> (</a:t>
            </a:r>
            <a:r>
              <a:rPr lang="en-US" sz="1100" dirty="0" err="1">
                <a:latin typeface="Consolas" panose="020B0609020204030204" pitchFamily="49" charset="0"/>
              </a:rPr>
              <a:t>ptr</a:t>
            </a:r>
            <a:r>
              <a:rPr lang="en-US" sz="1100" dirty="0">
                <a:latin typeface="Consolas" panose="020B0609020204030204" pitchFamily="49" charset="0"/>
              </a:rPr>
              <a:t> </a:t>
            </a:r>
            <a:r>
              <a:rPr lang="en-US" sz="1100" dirty="0" err="1">
                <a:latin typeface="Consolas" panose="020B0609020204030204" pitchFamily="49" charset="0"/>
              </a:rPr>
              <a:t>0xe64cde0</a:t>
            </a:r>
            <a:r>
              <a:rPr lang="en-US" sz="1100" dirty="0">
                <a:latin typeface="Consolas" panose="020B0609020204030204" pitchFamily="49" charset="0"/>
              </a:rPr>
              <a:t>) [1], </a:t>
            </a:r>
            <a:r>
              <a:rPr lang="en-US" sz="1100" dirty="0" err="1">
                <a:latin typeface="Consolas" panose="020B0609020204030204" pitchFamily="49" charset="0"/>
              </a:rPr>
              <a:t>0x400</a:t>
            </a:r>
            <a:r>
              <a:rPr lang="en-US" sz="1100" dirty="0">
                <a:latin typeface="Consolas" panose="020B0609020204030204" pitchFamily="49" charset="0"/>
              </a:rPr>
              <a:t> (</a:t>
            </a:r>
            <a:r>
              <a:rPr lang="en-US" sz="1100" dirty="0" err="1">
                <a:latin typeface="Consolas" panose="020B0609020204030204" pitchFamily="49" charset="0"/>
              </a:rPr>
              <a:t>0xe7be4d8</a:t>
            </a:r>
            <a:r>
              <a:rPr lang="en-US" sz="1100" dirty="0">
                <a:latin typeface="Consolas" panose="020B0609020204030204" pitchFamily="49" charset="0"/>
              </a:rPr>
              <a:t>), </a:t>
            </a:r>
            <a:r>
              <a:rPr lang="en-US" sz="1100" dirty="0" err="1">
                <a:latin typeface="Consolas" panose="020B0609020204030204" pitchFamily="49" charset="0"/>
              </a:rPr>
              <a:t>0x0</a:t>
            </a:r>
            <a:r>
              <a:rPr lang="en-US" sz="1100" dirty="0">
                <a:latin typeface="Consolas" panose="020B0609020204030204" pitchFamily="49" charset="0"/>
              </a:rPr>
              <a:t> (</a:t>
            </a:r>
            <a:r>
              <a:rPr lang="en-US" sz="1100" dirty="0" err="1">
                <a:latin typeface="Consolas" panose="020B0609020204030204" pitchFamily="49" charset="0"/>
              </a:rPr>
              <a:t>0x0</a:t>
            </a:r>
            <a:r>
              <a:rPr lang="en-US" sz="1100" dirty="0">
                <a:latin typeface="Consolas" panose="020B0609020204030204" pitchFamily="49" charset="0"/>
              </a:rPr>
              <a:t>)</a:t>
            </a:r>
          </a:p>
          <a:p>
            <a:r>
              <a:rPr lang="en-US" sz="1100" dirty="0">
                <a:latin typeface="Consolas" panose="020B0609020204030204" pitchFamily="49" charset="0"/>
              </a:rPr>
              <a:t> Updated Jun  7 13:12:49.226 </a:t>
            </a:r>
          </a:p>
          <a:p>
            <a:r>
              <a:rPr lang="en-US" sz="1100" dirty="0">
                <a:latin typeface="Consolas" panose="020B0609020204030204" pitchFamily="49" charset="0"/>
              </a:rPr>
              <a:t> remote adjacency to </a:t>
            </a:r>
            <a:r>
              <a:rPr lang="en-US" sz="1100" dirty="0" err="1">
                <a:latin typeface="Consolas" panose="020B0609020204030204" pitchFamily="49" charset="0"/>
              </a:rPr>
              <a:t>GigabitEthernet0</a:t>
            </a:r>
            <a:r>
              <a:rPr lang="en-US" sz="1100" dirty="0">
                <a:latin typeface="Consolas" panose="020B0609020204030204" pitchFamily="49" charset="0"/>
              </a:rPr>
              <a:t>/0/0/0</a:t>
            </a:r>
          </a:p>
          <a:p>
            <a:r>
              <a:rPr lang="en-US" sz="1100" dirty="0">
                <a:latin typeface="Consolas" panose="020B0609020204030204" pitchFamily="49" charset="0"/>
              </a:rPr>
              <a:t> Prefix Len 128, traffic index 0, precedence n/a, priority 1</a:t>
            </a:r>
          </a:p>
          <a:p>
            <a:r>
              <a:rPr lang="en-US" sz="1100" dirty="0">
                <a:latin typeface="Consolas" panose="020B0609020204030204" pitchFamily="49" charset="0"/>
              </a:rPr>
              <a:t>  gateway array (</a:t>
            </a:r>
            <a:r>
              <a:rPr lang="en-US" sz="1100" dirty="0" err="1">
                <a:latin typeface="Consolas" panose="020B0609020204030204" pitchFamily="49" charset="0"/>
              </a:rPr>
              <a:t>0xe651098</a:t>
            </a:r>
            <a:r>
              <a:rPr lang="en-US" sz="1100" dirty="0">
                <a:latin typeface="Consolas" panose="020B0609020204030204" pitchFamily="49" charset="0"/>
              </a:rPr>
              <a:t>) reference count 36, flags </a:t>
            </a:r>
            <a:r>
              <a:rPr lang="en-US" sz="1100" dirty="0" err="1">
                <a:latin typeface="Consolas" panose="020B0609020204030204" pitchFamily="49" charset="0"/>
              </a:rPr>
              <a:t>0x500000</a:t>
            </a:r>
            <a:r>
              <a:rPr lang="en-US" sz="1100" dirty="0">
                <a:latin typeface="Consolas" panose="020B0609020204030204" pitchFamily="49" charset="0"/>
              </a:rPr>
              <a:t>, source rib (7), 0 backups</a:t>
            </a:r>
          </a:p>
          <a:p>
            <a:r>
              <a:rPr lang="en-US" sz="1100" dirty="0">
                <a:latin typeface="Consolas" panose="020B0609020204030204" pitchFamily="49" charset="0"/>
              </a:rPr>
              <a:t>                [37 type 3 flags </a:t>
            </a:r>
            <a:r>
              <a:rPr lang="en-US" sz="1100" dirty="0" err="1">
                <a:latin typeface="Consolas" panose="020B0609020204030204" pitchFamily="49" charset="0"/>
              </a:rPr>
              <a:t>0x8401</a:t>
            </a:r>
            <a:r>
              <a:rPr lang="en-US" sz="1100" dirty="0">
                <a:latin typeface="Consolas" panose="020B0609020204030204" pitchFamily="49" charset="0"/>
              </a:rPr>
              <a:t> (</a:t>
            </a:r>
            <a:r>
              <a:rPr lang="en-US" sz="1100" dirty="0" err="1">
                <a:latin typeface="Consolas" panose="020B0609020204030204" pitchFamily="49" charset="0"/>
              </a:rPr>
              <a:t>0xe6f55c0</a:t>
            </a:r>
            <a:r>
              <a:rPr lang="en-US" sz="1100" dirty="0">
                <a:latin typeface="Consolas" panose="020B0609020204030204" pitchFamily="49" charset="0"/>
              </a:rPr>
              <a:t>) </a:t>
            </a:r>
            <a:r>
              <a:rPr lang="en-US" sz="1100" dirty="0" err="1">
                <a:latin typeface="Consolas" panose="020B0609020204030204" pitchFamily="49" charset="0"/>
              </a:rPr>
              <a:t>ext</a:t>
            </a:r>
            <a:r>
              <a:rPr lang="en-US" sz="1100" dirty="0">
                <a:latin typeface="Consolas" panose="020B0609020204030204" pitchFamily="49" charset="0"/>
              </a:rPr>
              <a:t> </a:t>
            </a:r>
            <a:r>
              <a:rPr lang="en-US" sz="1100" dirty="0" err="1">
                <a:latin typeface="Consolas" panose="020B0609020204030204" pitchFamily="49" charset="0"/>
              </a:rPr>
              <a:t>0x0</a:t>
            </a:r>
            <a:r>
              <a:rPr lang="en-US" sz="1100" dirty="0">
                <a:latin typeface="Consolas" panose="020B0609020204030204" pitchFamily="49" charset="0"/>
              </a:rPr>
              <a:t> (</a:t>
            </a:r>
            <a:r>
              <a:rPr lang="en-US" sz="1100" dirty="0" err="1">
                <a:latin typeface="Consolas" panose="020B0609020204030204" pitchFamily="49" charset="0"/>
              </a:rPr>
              <a:t>0x0</a:t>
            </a:r>
            <a:r>
              <a:rPr lang="en-US" sz="1100" dirty="0">
                <a:latin typeface="Consolas" panose="020B0609020204030204" pitchFamily="49" charset="0"/>
              </a:rPr>
              <a:t>)]</a:t>
            </a:r>
          </a:p>
          <a:p>
            <a:r>
              <a:rPr lang="en-US" sz="1100" dirty="0">
                <a:latin typeface="Consolas" panose="020B0609020204030204" pitchFamily="49" charset="0"/>
              </a:rPr>
              <a:t>  LW-</a:t>
            </a:r>
            <a:r>
              <a:rPr lang="en-US" sz="1100" dirty="0" err="1">
                <a:latin typeface="Consolas" panose="020B0609020204030204" pitchFamily="49" charset="0"/>
              </a:rPr>
              <a:t>LDI</a:t>
            </a:r>
            <a:r>
              <a:rPr lang="en-US" sz="1100" dirty="0">
                <a:latin typeface="Consolas" panose="020B0609020204030204" pitchFamily="49" charset="0"/>
              </a:rPr>
              <a:t>[type=3, </a:t>
            </a:r>
            <a:r>
              <a:rPr lang="en-US" sz="1100" dirty="0" err="1">
                <a:latin typeface="Consolas" panose="020B0609020204030204" pitchFamily="49" charset="0"/>
              </a:rPr>
              <a:t>refc</a:t>
            </a:r>
            <a:r>
              <a:rPr lang="en-US" sz="1100" dirty="0">
                <a:latin typeface="Consolas" panose="020B0609020204030204" pitchFamily="49" charset="0"/>
              </a:rPr>
              <a:t>=1, </a:t>
            </a:r>
            <a:r>
              <a:rPr lang="en-US" sz="1100" dirty="0" err="1">
                <a:latin typeface="Consolas" panose="020B0609020204030204" pitchFamily="49" charset="0"/>
              </a:rPr>
              <a:t>ptr</a:t>
            </a:r>
            <a:r>
              <a:rPr lang="en-US" sz="1100" dirty="0">
                <a:latin typeface="Consolas" panose="020B0609020204030204" pitchFamily="49" charset="0"/>
              </a:rPr>
              <a:t>=</a:t>
            </a:r>
            <a:r>
              <a:rPr lang="en-US" sz="1100" dirty="0" err="1">
                <a:latin typeface="Consolas" panose="020B0609020204030204" pitchFamily="49" charset="0"/>
              </a:rPr>
              <a:t>0xe7be4d8</a:t>
            </a:r>
            <a:r>
              <a:rPr lang="en-US" sz="1100" dirty="0">
                <a:latin typeface="Consolas" panose="020B0609020204030204" pitchFamily="49" charset="0"/>
              </a:rPr>
              <a:t>, sh-</a:t>
            </a:r>
            <a:r>
              <a:rPr lang="en-US" sz="1100" dirty="0" err="1">
                <a:latin typeface="Consolas" panose="020B0609020204030204" pitchFamily="49" charset="0"/>
              </a:rPr>
              <a:t>ldi</a:t>
            </a:r>
            <a:r>
              <a:rPr lang="en-US" sz="1100" dirty="0">
                <a:latin typeface="Consolas" panose="020B0609020204030204" pitchFamily="49" charset="0"/>
              </a:rPr>
              <a:t>=</a:t>
            </a:r>
            <a:r>
              <a:rPr lang="en-US" sz="1100" dirty="0" err="1">
                <a:latin typeface="Consolas" panose="020B0609020204030204" pitchFamily="49" charset="0"/>
              </a:rPr>
              <a:t>0xe6f55c0</a:t>
            </a:r>
            <a:r>
              <a:rPr lang="en-US" sz="1100" dirty="0">
                <a:latin typeface="Consolas" panose="020B0609020204030204" pitchFamily="49" charset="0"/>
              </a:rPr>
              <a:t>]</a:t>
            </a:r>
          </a:p>
          <a:p>
            <a:r>
              <a:rPr lang="en-US" sz="1100" dirty="0">
                <a:latin typeface="Consolas" panose="020B0609020204030204" pitchFamily="49" charset="0"/>
              </a:rPr>
              <a:t>  gateway array update type-time 1 Jun  7 13:12:49.226</a:t>
            </a:r>
          </a:p>
          <a:p>
            <a:r>
              <a:rPr lang="en-US" sz="1100" dirty="0">
                <a:latin typeface="Consolas" panose="020B0609020204030204" pitchFamily="49" charset="0"/>
              </a:rPr>
              <a:t> </a:t>
            </a:r>
            <a:r>
              <a:rPr lang="en-US" sz="1100" dirty="0" err="1">
                <a:latin typeface="Consolas" panose="020B0609020204030204" pitchFamily="49" charset="0"/>
              </a:rPr>
              <a:t>LDI</a:t>
            </a:r>
            <a:r>
              <a:rPr lang="en-US" sz="1100" dirty="0">
                <a:latin typeface="Consolas" panose="020B0609020204030204" pitchFamily="49" charset="0"/>
              </a:rPr>
              <a:t> Update time Jun  7 13:12:49.226</a:t>
            </a:r>
          </a:p>
          <a:p>
            <a:r>
              <a:rPr lang="en-US" sz="1100" dirty="0">
                <a:latin typeface="Consolas" panose="020B0609020204030204" pitchFamily="49" charset="0"/>
              </a:rPr>
              <a:t> LW-</a:t>
            </a:r>
            <a:r>
              <a:rPr lang="en-US" sz="1100" dirty="0" err="1">
                <a:latin typeface="Consolas" panose="020B0609020204030204" pitchFamily="49" charset="0"/>
              </a:rPr>
              <a:t>LDI</a:t>
            </a:r>
            <a:r>
              <a:rPr lang="en-US" sz="1100" dirty="0">
                <a:latin typeface="Consolas" panose="020B0609020204030204" pitchFamily="49" charset="0"/>
              </a:rPr>
              <a:t>-TS Jun  7 13:12:49.226</a:t>
            </a:r>
          </a:p>
          <a:p>
            <a:r>
              <a:rPr lang="en-US" sz="1100" dirty="0">
                <a:latin typeface="Consolas" panose="020B0609020204030204" pitchFamily="49" charset="0"/>
              </a:rPr>
              <a:t> Accounting: Disabled</a:t>
            </a:r>
          </a:p>
          <a:p>
            <a:r>
              <a:rPr lang="en-US" sz="1100" dirty="0">
                <a:latin typeface="Consolas" panose="020B0609020204030204" pitchFamily="49" charset="0"/>
              </a:rPr>
              <a:t>   via </a:t>
            </a:r>
            <a:r>
              <a:rPr lang="en-US" sz="1100" dirty="0" err="1">
                <a:latin typeface="Consolas" panose="020B0609020204030204" pitchFamily="49" charset="0"/>
              </a:rPr>
              <a:t>fe80</a:t>
            </a:r>
            <a:r>
              <a:rPr lang="en-US" sz="1100" dirty="0">
                <a:latin typeface="Consolas" panose="020B0609020204030204" pitchFamily="49" charset="0"/>
              </a:rPr>
              <a:t>::</a:t>
            </a:r>
            <a:r>
              <a:rPr lang="en-US" sz="1100" dirty="0" err="1">
                <a:latin typeface="Consolas" panose="020B0609020204030204" pitchFamily="49" charset="0"/>
              </a:rPr>
              <a:t>5054:ff:fead:9c45</a:t>
            </a:r>
            <a:r>
              <a:rPr lang="en-US" sz="1100" dirty="0">
                <a:latin typeface="Consolas" panose="020B0609020204030204" pitchFamily="49" charset="0"/>
              </a:rPr>
              <a:t>/128, </a:t>
            </a:r>
            <a:r>
              <a:rPr lang="en-US" sz="1100" dirty="0" err="1">
                <a:latin typeface="Consolas" panose="020B0609020204030204" pitchFamily="49" charset="0"/>
              </a:rPr>
              <a:t>GigabitEthernet0</a:t>
            </a:r>
            <a:r>
              <a:rPr lang="en-US" sz="1100" dirty="0">
                <a:latin typeface="Consolas" panose="020B0609020204030204" pitchFamily="49" charset="0"/>
              </a:rPr>
              <a:t>/0/0/0, 4 dependencies, weight 0, class 0, protected [flags </a:t>
            </a:r>
            <a:r>
              <a:rPr lang="en-US" sz="1100" dirty="0" err="1">
                <a:latin typeface="Consolas" panose="020B0609020204030204" pitchFamily="49" charset="0"/>
              </a:rPr>
              <a:t>0x400</a:t>
            </a:r>
            <a:r>
              <a:rPr lang="en-US" sz="1100" dirty="0">
                <a:latin typeface="Consolas" panose="020B0609020204030204" pitchFamily="49" charset="0"/>
              </a:rPr>
              <a:t>]</a:t>
            </a:r>
          </a:p>
          <a:p>
            <a:r>
              <a:rPr lang="en-US" sz="1100" dirty="0">
                <a:latin typeface="Consolas" panose="020B0609020204030204" pitchFamily="49" charset="0"/>
              </a:rPr>
              <a:t>    path-</a:t>
            </a:r>
            <a:r>
              <a:rPr lang="en-US" sz="1100" dirty="0" err="1">
                <a:latin typeface="Consolas" panose="020B0609020204030204" pitchFamily="49" charset="0"/>
              </a:rPr>
              <a:t>idx</a:t>
            </a:r>
            <a:r>
              <a:rPr lang="en-US" sz="1100" dirty="0">
                <a:latin typeface="Consolas" panose="020B0609020204030204" pitchFamily="49" charset="0"/>
              </a:rPr>
              <a:t> 0 </a:t>
            </a:r>
            <a:r>
              <a:rPr lang="en-US" sz="1100" dirty="0" err="1">
                <a:latin typeface="Consolas" panose="020B0609020204030204" pitchFamily="49" charset="0"/>
              </a:rPr>
              <a:t>bkup-idx</a:t>
            </a:r>
            <a:r>
              <a:rPr lang="en-US" sz="1100" dirty="0">
                <a:latin typeface="Consolas" panose="020B0609020204030204" pitchFamily="49" charset="0"/>
              </a:rPr>
              <a:t> 1 </a:t>
            </a:r>
            <a:r>
              <a:rPr lang="en-US" sz="1100" dirty="0" err="1">
                <a:latin typeface="Consolas" panose="020B0609020204030204" pitchFamily="49" charset="0"/>
              </a:rPr>
              <a:t>NHID</a:t>
            </a:r>
            <a:r>
              <a:rPr lang="en-US" sz="1100" dirty="0">
                <a:latin typeface="Consolas" panose="020B0609020204030204" pitchFamily="49" charset="0"/>
              </a:rPr>
              <a:t> </a:t>
            </a:r>
            <a:r>
              <a:rPr lang="en-US" sz="1100" dirty="0" err="1">
                <a:latin typeface="Consolas" panose="020B0609020204030204" pitchFamily="49" charset="0"/>
              </a:rPr>
              <a:t>0x0</a:t>
            </a:r>
            <a:r>
              <a:rPr lang="en-US" sz="1100" dirty="0">
                <a:latin typeface="Consolas" panose="020B0609020204030204" pitchFamily="49" charset="0"/>
              </a:rPr>
              <a:t> [</a:t>
            </a:r>
            <a:r>
              <a:rPr lang="en-US" sz="1100" dirty="0" err="1">
                <a:latin typeface="Consolas" panose="020B0609020204030204" pitchFamily="49" charset="0"/>
              </a:rPr>
              <a:t>0x100df0a0</a:t>
            </a:r>
            <a:r>
              <a:rPr lang="en-US" sz="1100" dirty="0">
                <a:latin typeface="Consolas" panose="020B0609020204030204" pitchFamily="49" charset="0"/>
              </a:rPr>
              <a:t> </a:t>
            </a:r>
            <a:r>
              <a:rPr lang="en-US" sz="1100" dirty="0" err="1">
                <a:latin typeface="Consolas" panose="020B0609020204030204" pitchFamily="49" charset="0"/>
              </a:rPr>
              <a:t>0x0</a:t>
            </a:r>
            <a:r>
              <a:rPr lang="en-US" sz="1100" dirty="0">
                <a:latin typeface="Consolas" panose="020B0609020204030204" pitchFamily="49" charset="0"/>
              </a:rPr>
              <a:t>]</a:t>
            </a:r>
          </a:p>
          <a:p>
            <a:r>
              <a:rPr lang="en-US" sz="1100" dirty="0">
                <a:latin typeface="Consolas" panose="020B0609020204030204" pitchFamily="49" charset="0"/>
              </a:rPr>
              <a:t>    next hop </a:t>
            </a:r>
            <a:r>
              <a:rPr lang="en-US" sz="1100" dirty="0" err="1">
                <a:latin typeface="Consolas" panose="020B0609020204030204" pitchFamily="49" charset="0"/>
              </a:rPr>
              <a:t>fe80</a:t>
            </a:r>
            <a:r>
              <a:rPr lang="en-US" sz="1100" dirty="0">
                <a:latin typeface="Consolas" panose="020B0609020204030204" pitchFamily="49" charset="0"/>
              </a:rPr>
              <a:t>::</a:t>
            </a:r>
            <a:r>
              <a:rPr lang="en-US" sz="1100" dirty="0" err="1">
                <a:latin typeface="Consolas" panose="020B0609020204030204" pitchFamily="49" charset="0"/>
              </a:rPr>
              <a:t>5054:ff:fead:9c45</a:t>
            </a:r>
            <a:r>
              <a:rPr lang="en-US" sz="1100" dirty="0">
                <a:latin typeface="Consolas" panose="020B0609020204030204" pitchFamily="49" charset="0"/>
              </a:rPr>
              <a:t>/128</a:t>
            </a:r>
          </a:p>
          <a:p>
            <a:r>
              <a:rPr lang="en-US" sz="1100" dirty="0">
                <a:latin typeface="Consolas" panose="020B0609020204030204" pitchFamily="49" charset="0"/>
              </a:rPr>
              <a:t>   via </a:t>
            </a:r>
            <a:r>
              <a:rPr lang="en-US" sz="1100" dirty="0" err="1">
                <a:latin typeface="Consolas" panose="020B0609020204030204" pitchFamily="49" charset="0"/>
              </a:rPr>
              <a:t>fe80</a:t>
            </a:r>
            <a:r>
              <a:rPr lang="en-US" sz="1100" dirty="0">
                <a:latin typeface="Consolas" panose="020B0609020204030204" pitchFamily="49" charset="0"/>
              </a:rPr>
              <a:t>::</a:t>
            </a:r>
            <a:r>
              <a:rPr lang="en-US" sz="1100" dirty="0" err="1">
                <a:latin typeface="Consolas" panose="020B0609020204030204" pitchFamily="49" charset="0"/>
              </a:rPr>
              <a:t>5054:ff:fe0c:6a4f</a:t>
            </a:r>
            <a:r>
              <a:rPr lang="en-US" sz="1100" dirty="0">
                <a:latin typeface="Consolas" panose="020B0609020204030204" pitchFamily="49" charset="0"/>
              </a:rPr>
              <a:t>/128, </a:t>
            </a:r>
            <a:r>
              <a:rPr lang="en-US" sz="1100" dirty="0" err="1">
                <a:latin typeface="Consolas" panose="020B0609020204030204" pitchFamily="49" charset="0"/>
              </a:rPr>
              <a:t>GigabitEthernet0</a:t>
            </a:r>
            <a:r>
              <a:rPr lang="en-US" sz="1100" dirty="0">
                <a:latin typeface="Consolas" panose="020B0609020204030204" pitchFamily="49" charset="0"/>
              </a:rPr>
              <a:t>/0/0/5, 8 dependencies, weight 0, class 0, backup (Local-LFA) [flags </a:t>
            </a:r>
            <a:r>
              <a:rPr lang="en-US" sz="1100" dirty="0" err="1">
                <a:latin typeface="Consolas" panose="020B0609020204030204" pitchFamily="49" charset="0"/>
              </a:rPr>
              <a:t>0x300</a:t>
            </a:r>
            <a:r>
              <a:rPr lang="en-US" sz="1100" dirty="0">
                <a:latin typeface="Consolas" panose="020B0609020204030204" pitchFamily="49" charset="0"/>
              </a:rPr>
              <a:t>]</a:t>
            </a:r>
          </a:p>
          <a:p>
            <a:r>
              <a:rPr lang="en-US" sz="1100" dirty="0">
                <a:latin typeface="Consolas" panose="020B0609020204030204" pitchFamily="49" charset="0"/>
              </a:rPr>
              <a:t>    path-</a:t>
            </a:r>
            <a:r>
              <a:rPr lang="en-US" sz="1100" dirty="0" err="1">
                <a:latin typeface="Consolas" panose="020B0609020204030204" pitchFamily="49" charset="0"/>
              </a:rPr>
              <a:t>idx</a:t>
            </a:r>
            <a:r>
              <a:rPr lang="en-US" sz="1100" dirty="0">
                <a:latin typeface="Consolas" panose="020B0609020204030204" pitchFamily="49" charset="0"/>
              </a:rPr>
              <a:t> 1 </a:t>
            </a:r>
            <a:r>
              <a:rPr lang="en-US" sz="1100" dirty="0" err="1">
                <a:latin typeface="Consolas" panose="020B0609020204030204" pitchFamily="49" charset="0"/>
              </a:rPr>
              <a:t>NHID</a:t>
            </a:r>
            <a:r>
              <a:rPr lang="en-US" sz="1100" dirty="0">
                <a:latin typeface="Consolas" panose="020B0609020204030204" pitchFamily="49" charset="0"/>
              </a:rPr>
              <a:t> </a:t>
            </a:r>
            <a:r>
              <a:rPr lang="en-US" sz="1100" dirty="0" err="1">
                <a:latin typeface="Consolas" panose="020B0609020204030204" pitchFamily="49" charset="0"/>
              </a:rPr>
              <a:t>0x0</a:t>
            </a:r>
            <a:r>
              <a:rPr lang="en-US" sz="1100" dirty="0">
                <a:latin typeface="Consolas" panose="020B0609020204030204" pitchFamily="49" charset="0"/>
              </a:rPr>
              <a:t> [</a:t>
            </a:r>
            <a:r>
              <a:rPr lang="en-US" sz="1100" dirty="0" err="1">
                <a:latin typeface="Consolas" panose="020B0609020204030204" pitchFamily="49" charset="0"/>
              </a:rPr>
              <a:t>0xe032280</a:t>
            </a:r>
            <a:r>
              <a:rPr lang="en-US" sz="1100" dirty="0">
                <a:latin typeface="Consolas" panose="020B0609020204030204" pitchFamily="49" charset="0"/>
              </a:rPr>
              <a:t> </a:t>
            </a:r>
            <a:r>
              <a:rPr lang="en-US" sz="1100" dirty="0" err="1">
                <a:latin typeface="Consolas" panose="020B0609020204030204" pitchFamily="49" charset="0"/>
              </a:rPr>
              <a:t>0x0</a:t>
            </a:r>
            <a:r>
              <a:rPr lang="en-US" sz="1100" dirty="0">
                <a:latin typeface="Consolas" panose="020B0609020204030204" pitchFamily="49" charset="0"/>
              </a:rPr>
              <a:t>]</a:t>
            </a:r>
          </a:p>
          <a:p>
            <a:r>
              <a:rPr lang="en-US" sz="1100" dirty="0">
                <a:latin typeface="Consolas" panose="020B0609020204030204" pitchFamily="49" charset="0"/>
              </a:rPr>
              <a:t>    next hop </a:t>
            </a:r>
            <a:r>
              <a:rPr lang="en-US" sz="1100" dirty="0" err="1">
                <a:latin typeface="Consolas" panose="020B0609020204030204" pitchFamily="49" charset="0"/>
              </a:rPr>
              <a:t>fe80</a:t>
            </a:r>
            <a:r>
              <a:rPr lang="en-US" sz="1100" dirty="0">
                <a:latin typeface="Consolas" panose="020B0609020204030204" pitchFamily="49" charset="0"/>
              </a:rPr>
              <a:t>::</a:t>
            </a:r>
            <a:r>
              <a:rPr lang="en-US" sz="1100" dirty="0" err="1">
                <a:latin typeface="Consolas" panose="020B0609020204030204" pitchFamily="49" charset="0"/>
              </a:rPr>
              <a:t>5054:ff:fe0c:6a4f</a:t>
            </a:r>
            <a:r>
              <a:rPr lang="en-US" sz="1100" dirty="0">
                <a:latin typeface="Consolas" panose="020B0609020204030204" pitchFamily="49" charset="0"/>
              </a:rPr>
              <a:t>/128</a:t>
            </a:r>
          </a:p>
          <a:p>
            <a:r>
              <a:rPr lang="en-US" sz="1100" dirty="0">
                <a:latin typeface="Consolas" panose="020B0609020204030204" pitchFamily="49" charset="0"/>
              </a:rPr>
              <a:t>    remote adjacency</a:t>
            </a:r>
          </a:p>
          <a:p>
            <a:endParaRPr lang="en-US" sz="1100" dirty="0">
              <a:latin typeface="Consolas" panose="020B0609020204030204" pitchFamily="49" charset="0"/>
            </a:endParaRPr>
          </a:p>
          <a:p>
            <a:r>
              <a:rPr lang="en-US" sz="1100" dirty="0">
                <a:latin typeface="Consolas" panose="020B0609020204030204" pitchFamily="49" charset="0"/>
              </a:rPr>
              <a:t>    Load distribution: 0 (refcount 37)</a:t>
            </a:r>
          </a:p>
          <a:p>
            <a:endParaRPr lang="en-US" sz="1100" dirty="0">
              <a:latin typeface="Consolas" panose="020B0609020204030204" pitchFamily="49" charset="0"/>
            </a:endParaRPr>
          </a:p>
          <a:p>
            <a:r>
              <a:rPr lang="en-US" sz="1100" dirty="0">
                <a:latin typeface="Consolas" panose="020B0609020204030204" pitchFamily="49" charset="0"/>
              </a:rPr>
              <a:t>    Hash  OK  Interface                 Address</a:t>
            </a:r>
          </a:p>
          <a:p>
            <a:r>
              <a:rPr lang="en-US" sz="1100" dirty="0">
                <a:latin typeface="Consolas" panose="020B0609020204030204" pitchFamily="49" charset="0"/>
              </a:rPr>
              <a:t>    0     Y   </a:t>
            </a:r>
            <a:r>
              <a:rPr lang="en-US" sz="1100" dirty="0" err="1">
                <a:latin typeface="Consolas" panose="020B0609020204030204" pitchFamily="49" charset="0"/>
              </a:rPr>
              <a:t>GigabitEthernet0</a:t>
            </a:r>
            <a:r>
              <a:rPr lang="en-US" sz="1100" dirty="0">
                <a:latin typeface="Consolas" panose="020B0609020204030204" pitchFamily="49" charset="0"/>
              </a:rPr>
              <a:t>/0/0/0    remote         </a:t>
            </a:r>
          </a:p>
          <a:p>
            <a:r>
              <a:rPr lang="en-US" sz="1100" dirty="0">
                <a:latin typeface="Consolas" panose="020B0609020204030204" pitchFamily="49" charset="0"/>
              </a:rPr>
              <a:t>RP/0/RP0/</a:t>
            </a:r>
            <a:r>
              <a:rPr lang="en-US" sz="1100" dirty="0" err="1">
                <a:latin typeface="Consolas" panose="020B0609020204030204" pitchFamily="49" charset="0"/>
              </a:rPr>
              <a:t>CPU0:R01</a:t>
            </a:r>
            <a:r>
              <a:rPr lang="en-US" sz="1100" dirty="0">
                <a:latin typeface="Consolas" panose="020B0609020204030204" pitchFamily="49" charset="0"/>
              </a:rPr>
              <a:t>#</a:t>
            </a:r>
          </a:p>
        </p:txBody>
      </p:sp>
      <p:sp>
        <p:nvSpPr>
          <p:cNvPr id="2" name="Rectangle 1">
            <a:extLst>
              <a:ext uri="{FF2B5EF4-FFF2-40B4-BE49-F238E27FC236}">
                <a16:creationId xmlns:a16="http://schemas.microsoft.com/office/drawing/2014/main" id="{2E0FC511-1C53-C796-F81A-9A05E20B358F}"/>
              </a:ext>
            </a:extLst>
          </p:cNvPr>
          <p:cNvSpPr/>
          <p:nvPr/>
        </p:nvSpPr>
        <p:spPr>
          <a:xfrm>
            <a:off x="2286973" y="2346833"/>
            <a:ext cx="9905027" cy="4493538"/>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RP/0/RP0/</a:t>
            </a:r>
            <a:r>
              <a:rPr lang="en-US" sz="1100" dirty="0" err="1">
                <a:latin typeface="Consolas" panose="020B0609020204030204" pitchFamily="49" charset="0"/>
              </a:rPr>
              <a:t>CPU0:R01#</a:t>
            </a:r>
            <a:r>
              <a:rPr lang="en-US" sz="1100" b="1" dirty="0" err="1">
                <a:latin typeface="Consolas" panose="020B0609020204030204" pitchFamily="49" charset="0"/>
              </a:rPr>
              <a:t>sh</a:t>
            </a:r>
            <a:r>
              <a:rPr lang="en-US" sz="1100" b="1" dirty="0">
                <a:latin typeface="Consolas" panose="020B0609020204030204" pitchFamily="49" charset="0"/>
              </a:rPr>
              <a:t> cef ipv6 </a:t>
            </a:r>
            <a:r>
              <a:rPr lang="en-US" sz="1100" i="1" dirty="0" err="1">
                <a:latin typeface="Consolas" panose="020B0609020204030204" pitchFamily="49" charset="0"/>
              </a:rPr>
              <a:t>fc00:ab01:2</a:t>
            </a:r>
            <a:r>
              <a:rPr lang="en-US" sz="1100" i="1" dirty="0">
                <a:latin typeface="Consolas" panose="020B0609020204030204" pitchFamily="49" charset="0"/>
              </a:rPr>
              <a:t>::/48         </a:t>
            </a:r>
          </a:p>
          <a:p>
            <a:r>
              <a:rPr lang="en-US" sz="1100" dirty="0">
                <a:latin typeface="Consolas" panose="020B0609020204030204" pitchFamily="49" charset="0"/>
              </a:rPr>
              <a:t>Mon Jun  9 10:24:20.401 UTC</a:t>
            </a:r>
          </a:p>
          <a:p>
            <a:r>
              <a:rPr lang="en-US" sz="1100" dirty="0" err="1">
                <a:latin typeface="Consolas" panose="020B0609020204030204" pitchFamily="49" charset="0"/>
              </a:rPr>
              <a:t>fc00:ab01:2</a:t>
            </a:r>
            <a:r>
              <a:rPr lang="en-US" sz="1100" dirty="0">
                <a:latin typeface="Consolas" panose="020B0609020204030204" pitchFamily="49" charset="0"/>
              </a:rPr>
              <a:t>::/48, version 17034, internal </a:t>
            </a:r>
            <a:r>
              <a:rPr lang="en-US" sz="1100" dirty="0" err="1">
                <a:latin typeface="Consolas" panose="020B0609020204030204" pitchFamily="49" charset="0"/>
              </a:rPr>
              <a:t>0x1000001</a:t>
            </a:r>
            <a:r>
              <a:rPr lang="en-US" sz="1100" dirty="0">
                <a:latin typeface="Consolas" panose="020B0609020204030204" pitchFamily="49" charset="0"/>
              </a:rPr>
              <a:t> </a:t>
            </a:r>
            <a:r>
              <a:rPr lang="en-US" sz="1100" dirty="0" err="1">
                <a:latin typeface="Consolas" panose="020B0609020204030204" pitchFamily="49" charset="0"/>
              </a:rPr>
              <a:t>0x220</a:t>
            </a:r>
            <a:r>
              <a:rPr lang="en-US" sz="1100" dirty="0">
                <a:latin typeface="Consolas" panose="020B0609020204030204" pitchFamily="49" charset="0"/>
              </a:rPr>
              <a:t> (</a:t>
            </a:r>
            <a:r>
              <a:rPr lang="en-US" sz="1100" dirty="0" err="1">
                <a:latin typeface="Consolas" panose="020B0609020204030204" pitchFamily="49" charset="0"/>
              </a:rPr>
              <a:t>ptr</a:t>
            </a:r>
            <a:r>
              <a:rPr lang="en-US" sz="1100" dirty="0">
                <a:latin typeface="Consolas" panose="020B0609020204030204" pitchFamily="49" charset="0"/>
              </a:rPr>
              <a:t> </a:t>
            </a:r>
            <a:r>
              <a:rPr lang="en-US" sz="1100" dirty="0" err="1">
                <a:latin typeface="Consolas" panose="020B0609020204030204" pitchFamily="49" charset="0"/>
              </a:rPr>
              <a:t>0xe64be08</a:t>
            </a:r>
            <a:r>
              <a:rPr lang="en-US" sz="1100" dirty="0">
                <a:latin typeface="Consolas" panose="020B0609020204030204" pitchFamily="49" charset="0"/>
              </a:rPr>
              <a:t>) [1], </a:t>
            </a:r>
            <a:r>
              <a:rPr lang="en-US" sz="1100" dirty="0" err="1">
                <a:latin typeface="Consolas" panose="020B0609020204030204" pitchFamily="49" charset="0"/>
              </a:rPr>
              <a:t>0x400</a:t>
            </a:r>
            <a:r>
              <a:rPr lang="en-US" sz="1100" dirty="0">
                <a:latin typeface="Consolas" panose="020B0609020204030204" pitchFamily="49" charset="0"/>
              </a:rPr>
              <a:t> (</a:t>
            </a:r>
            <a:r>
              <a:rPr lang="en-US" sz="1100" dirty="0" err="1">
                <a:latin typeface="Consolas" panose="020B0609020204030204" pitchFamily="49" charset="0"/>
              </a:rPr>
              <a:t>0xe7bdc98</a:t>
            </a:r>
            <a:r>
              <a:rPr lang="en-US" sz="1100" dirty="0">
                <a:latin typeface="Consolas" panose="020B0609020204030204" pitchFamily="49" charset="0"/>
              </a:rPr>
              <a:t>), </a:t>
            </a:r>
            <a:r>
              <a:rPr lang="en-US" sz="1100" dirty="0" err="1">
                <a:latin typeface="Consolas" panose="020B0609020204030204" pitchFamily="49" charset="0"/>
              </a:rPr>
              <a:t>0x0</a:t>
            </a:r>
            <a:r>
              <a:rPr lang="en-US" sz="1100" dirty="0">
                <a:latin typeface="Consolas" panose="020B0609020204030204" pitchFamily="49" charset="0"/>
              </a:rPr>
              <a:t> (</a:t>
            </a:r>
            <a:r>
              <a:rPr lang="en-US" sz="1100" dirty="0" err="1">
                <a:latin typeface="Consolas" panose="020B0609020204030204" pitchFamily="49" charset="0"/>
              </a:rPr>
              <a:t>0x0</a:t>
            </a:r>
            <a:r>
              <a:rPr lang="en-US" sz="1100" dirty="0">
                <a:latin typeface="Consolas" panose="020B0609020204030204" pitchFamily="49" charset="0"/>
              </a:rPr>
              <a:t>)</a:t>
            </a:r>
          </a:p>
          <a:p>
            <a:r>
              <a:rPr lang="en-US" sz="1100" dirty="0">
                <a:latin typeface="Consolas" panose="020B0609020204030204" pitchFamily="49" charset="0"/>
              </a:rPr>
              <a:t> Updated Jun  7 13:12:49.226 </a:t>
            </a:r>
          </a:p>
          <a:p>
            <a:r>
              <a:rPr lang="en-US" sz="1100" dirty="0">
                <a:latin typeface="Consolas" panose="020B0609020204030204" pitchFamily="49" charset="0"/>
              </a:rPr>
              <a:t> remote adjacency to </a:t>
            </a:r>
            <a:r>
              <a:rPr lang="en-US" sz="1100" dirty="0" err="1">
                <a:latin typeface="Consolas" panose="020B0609020204030204" pitchFamily="49" charset="0"/>
              </a:rPr>
              <a:t>GigabitEthernet0</a:t>
            </a:r>
            <a:r>
              <a:rPr lang="en-US" sz="1100" dirty="0">
                <a:latin typeface="Consolas" panose="020B0609020204030204" pitchFamily="49" charset="0"/>
              </a:rPr>
              <a:t>/0/0/5</a:t>
            </a:r>
          </a:p>
          <a:p>
            <a:r>
              <a:rPr lang="en-US" sz="1100" dirty="0">
                <a:latin typeface="Consolas" panose="020B0609020204030204" pitchFamily="49" charset="0"/>
              </a:rPr>
              <a:t> Prefix Len 48, traffic index 0, precedence n/a, priority 2</a:t>
            </a:r>
          </a:p>
          <a:p>
            <a:r>
              <a:rPr lang="en-US" sz="1100" dirty="0">
                <a:latin typeface="Consolas" panose="020B0609020204030204" pitchFamily="49" charset="0"/>
              </a:rPr>
              <a:t>  gateway array (</a:t>
            </a:r>
            <a:r>
              <a:rPr lang="en-US" sz="1100" dirty="0" err="1">
                <a:latin typeface="Consolas" panose="020B0609020204030204" pitchFamily="49" charset="0"/>
              </a:rPr>
              <a:t>0xe652d98</a:t>
            </a:r>
            <a:r>
              <a:rPr lang="en-US" sz="1100" dirty="0">
                <a:latin typeface="Consolas" panose="020B0609020204030204" pitchFamily="49" charset="0"/>
              </a:rPr>
              <a:t>) reference count 6, flags </a:t>
            </a:r>
            <a:r>
              <a:rPr lang="en-US" sz="1100" dirty="0" err="1">
                <a:latin typeface="Consolas" panose="020B0609020204030204" pitchFamily="49" charset="0"/>
              </a:rPr>
              <a:t>0x500000</a:t>
            </a:r>
            <a:r>
              <a:rPr lang="en-US" sz="1100" dirty="0">
                <a:latin typeface="Consolas" panose="020B0609020204030204" pitchFamily="49" charset="0"/>
              </a:rPr>
              <a:t>, source rib (7), 0 backups</a:t>
            </a:r>
          </a:p>
          <a:p>
            <a:r>
              <a:rPr lang="en-US" sz="1100" dirty="0">
                <a:latin typeface="Consolas" panose="020B0609020204030204" pitchFamily="49" charset="0"/>
              </a:rPr>
              <a:t>                [7 type 3 flags </a:t>
            </a:r>
            <a:r>
              <a:rPr lang="en-US" sz="1100" dirty="0" err="1">
                <a:latin typeface="Consolas" panose="020B0609020204030204" pitchFamily="49" charset="0"/>
              </a:rPr>
              <a:t>0x8401</a:t>
            </a:r>
            <a:r>
              <a:rPr lang="en-US" sz="1100" dirty="0">
                <a:latin typeface="Consolas" panose="020B0609020204030204" pitchFamily="49" charset="0"/>
              </a:rPr>
              <a:t> (</a:t>
            </a:r>
            <a:r>
              <a:rPr lang="en-US" sz="1100" dirty="0" err="1">
                <a:latin typeface="Consolas" panose="020B0609020204030204" pitchFamily="49" charset="0"/>
              </a:rPr>
              <a:t>0xe6f5eb0</a:t>
            </a:r>
            <a:r>
              <a:rPr lang="en-US" sz="1100" dirty="0">
                <a:latin typeface="Consolas" panose="020B0609020204030204" pitchFamily="49" charset="0"/>
              </a:rPr>
              <a:t>) </a:t>
            </a:r>
            <a:r>
              <a:rPr lang="en-US" sz="1100" dirty="0" err="1">
                <a:latin typeface="Consolas" panose="020B0609020204030204" pitchFamily="49" charset="0"/>
              </a:rPr>
              <a:t>ext</a:t>
            </a:r>
            <a:r>
              <a:rPr lang="en-US" sz="1100" dirty="0">
                <a:latin typeface="Consolas" panose="020B0609020204030204" pitchFamily="49" charset="0"/>
              </a:rPr>
              <a:t> </a:t>
            </a:r>
            <a:r>
              <a:rPr lang="en-US" sz="1100" dirty="0" err="1">
                <a:latin typeface="Consolas" panose="020B0609020204030204" pitchFamily="49" charset="0"/>
              </a:rPr>
              <a:t>0x0</a:t>
            </a:r>
            <a:r>
              <a:rPr lang="en-US" sz="1100" dirty="0">
                <a:latin typeface="Consolas" panose="020B0609020204030204" pitchFamily="49" charset="0"/>
              </a:rPr>
              <a:t> (</a:t>
            </a:r>
            <a:r>
              <a:rPr lang="en-US" sz="1100" dirty="0" err="1">
                <a:latin typeface="Consolas" panose="020B0609020204030204" pitchFamily="49" charset="0"/>
              </a:rPr>
              <a:t>0x0</a:t>
            </a:r>
            <a:r>
              <a:rPr lang="en-US" sz="1100" dirty="0">
                <a:latin typeface="Consolas" panose="020B0609020204030204" pitchFamily="49" charset="0"/>
              </a:rPr>
              <a:t>)]</a:t>
            </a:r>
          </a:p>
          <a:p>
            <a:r>
              <a:rPr lang="en-US" sz="1100" dirty="0">
                <a:latin typeface="Consolas" panose="020B0609020204030204" pitchFamily="49" charset="0"/>
              </a:rPr>
              <a:t>  LW-</a:t>
            </a:r>
            <a:r>
              <a:rPr lang="en-US" sz="1100" dirty="0" err="1">
                <a:latin typeface="Consolas" panose="020B0609020204030204" pitchFamily="49" charset="0"/>
              </a:rPr>
              <a:t>LDI</a:t>
            </a:r>
            <a:r>
              <a:rPr lang="en-US" sz="1100" dirty="0">
                <a:latin typeface="Consolas" panose="020B0609020204030204" pitchFamily="49" charset="0"/>
              </a:rPr>
              <a:t>[type=3, </a:t>
            </a:r>
            <a:r>
              <a:rPr lang="en-US" sz="1100" dirty="0" err="1">
                <a:latin typeface="Consolas" panose="020B0609020204030204" pitchFamily="49" charset="0"/>
              </a:rPr>
              <a:t>refc</a:t>
            </a:r>
            <a:r>
              <a:rPr lang="en-US" sz="1100" dirty="0">
                <a:latin typeface="Consolas" panose="020B0609020204030204" pitchFamily="49" charset="0"/>
              </a:rPr>
              <a:t>=1, </a:t>
            </a:r>
            <a:r>
              <a:rPr lang="en-US" sz="1100" dirty="0" err="1">
                <a:latin typeface="Consolas" panose="020B0609020204030204" pitchFamily="49" charset="0"/>
              </a:rPr>
              <a:t>ptr</a:t>
            </a:r>
            <a:r>
              <a:rPr lang="en-US" sz="1100" dirty="0">
                <a:latin typeface="Consolas" panose="020B0609020204030204" pitchFamily="49" charset="0"/>
              </a:rPr>
              <a:t>=</a:t>
            </a:r>
            <a:r>
              <a:rPr lang="en-US" sz="1100" dirty="0" err="1">
                <a:latin typeface="Consolas" panose="020B0609020204030204" pitchFamily="49" charset="0"/>
              </a:rPr>
              <a:t>0xe7bdc98</a:t>
            </a:r>
            <a:r>
              <a:rPr lang="en-US" sz="1100" dirty="0">
                <a:latin typeface="Consolas" panose="020B0609020204030204" pitchFamily="49" charset="0"/>
              </a:rPr>
              <a:t>, sh-</a:t>
            </a:r>
            <a:r>
              <a:rPr lang="en-US" sz="1100" dirty="0" err="1">
                <a:latin typeface="Consolas" panose="020B0609020204030204" pitchFamily="49" charset="0"/>
              </a:rPr>
              <a:t>ldi</a:t>
            </a:r>
            <a:r>
              <a:rPr lang="en-US" sz="1100" dirty="0">
                <a:latin typeface="Consolas" panose="020B0609020204030204" pitchFamily="49" charset="0"/>
              </a:rPr>
              <a:t>=</a:t>
            </a:r>
            <a:r>
              <a:rPr lang="en-US" sz="1100" dirty="0" err="1">
                <a:latin typeface="Consolas" panose="020B0609020204030204" pitchFamily="49" charset="0"/>
              </a:rPr>
              <a:t>0xe6f5eb0</a:t>
            </a:r>
            <a:r>
              <a:rPr lang="en-US" sz="1100" dirty="0">
                <a:latin typeface="Consolas" panose="020B0609020204030204" pitchFamily="49" charset="0"/>
              </a:rPr>
              <a:t>]</a:t>
            </a:r>
          </a:p>
          <a:p>
            <a:r>
              <a:rPr lang="en-US" sz="1100" dirty="0">
                <a:latin typeface="Consolas" panose="020B0609020204030204" pitchFamily="49" charset="0"/>
              </a:rPr>
              <a:t>  gateway array update type-time 1 Jun  7 13:12:49.226</a:t>
            </a:r>
          </a:p>
          <a:p>
            <a:r>
              <a:rPr lang="en-US" sz="1100" dirty="0">
                <a:latin typeface="Consolas" panose="020B0609020204030204" pitchFamily="49" charset="0"/>
              </a:rPr>
              <a:t> </a:t>
            </a:r>
            <a:r>
              <a:rPr lang="en-US" sz="1100" dirty="0" err="1">
                <a:latin typeface="Consolas" panose="020B0609020204030204" pitchFamily="49" charset="0"/>
              </a:rPr>
              <a:t>LDI</a:t>
            </a:r>
            <a:r>
              <a:rPr lang="en-US" sz="1100" dirty="0">
                <a:latin typeface="Consolas" panose="020B0609020204030204" pitchFamily="49" charset="0"/>
              </a:rPr>
              <a:t> Update time Jun  7 13:12:49.226</a:t>
            </a:r>
          </a:p>
          <a:p>
            <a:r>
              <a:rPr lang="en-US" sz="1100" dirty="0">
                <a:latin typeface="Consolas" panose="020B0609020204030204" pitchFamily="49" charset="0"/>
              </a:rPr>
              <a:t> LW-</a:t>
            </a:r>
            <a:r>
              <a:rPr lang="en-US" sz="1100" dirty="0" err="1">
                <a:latin typeface="Consolas" panose="020B0609020204030204" pitchFamily="49" charset="0"/>
              </a:rPr>
              <a:t>LDI</a:t>
            </a:r>
            <a:r>
              <a:rPr lang="en-US" sz="1100" dirty="0">
                <a:latin typeface="Consolas" panose="020B0609020204030204" pitchFamily="49" charset="0"/>
              </a:rPr>
              <a:t>-TS Jun  7 13:12:49.226</a:t>
            </a:r>
          </a:p>
          <a:p>
            <a:r>
              <a:rPr lang="en-US" sz="1100" dirty="0">
                <a:latin typeface="Consolas" panose="020B0609020204030204" pitchFamily="49" charset="0"/>
              </a:rPr>
              <a:t> Accounting: Disabled</a:t>
            </a:r>
          </a:p>
          <a:p>
            <a:r>
              <a:rPr lang="en-US" sz="1100" dirty="0">
                <a:latin typeface="Consolas" panose="020B0609020204030204" pitchFamily="49" charset="0"/>
              </a:rPr>
              <a:t>   via </a:t>
            </a:r>
            <a:r>
              <a:rPr lang="en-US" sz="1100" dirty="0" err="1">
                <a:latin typeface="Consolas" panose="020B0609020204030204" pitchFamily="49" charset="0"/>
              </a:rPr>
              <a:t>fe80</a:t>
            </a:r>
            <a:r>
              <a:rPr lang="en-US" sz="1100" dirty="0">
                <a:latin typeface="Consolas" panose="020B0609020204030204" pitchFamily="49" charset="0"/>
              </a:rPr>
              <a:t>::</a:t>
            </a:r>
            <a:r>
              <a:rPr lang="en-US" sz="1100" dirty="0" err="1">
                <a:latin typeface="Consolas" panose="020B0609020204030204" pitchFamily="49" charset="0"/>
              </a:rPr>
              <a:t>5054:ff:fead:9c45</a:t>
            </a:r>
            <a:r>
              <a:rPr lang="en-US" sz="1100" dirty="0">
                <a:latin typeface="Consolas" panose="020B0609020204030204" pitchFamily="49" charset="0"/>
              </a:rPr>
              <a:t>/128, </a:t>
            </a:r>
            <a:r>
              <a:rPr lang="en-US" sz="1100" dirty="0" err="1">
                <a:latin typeface="Consolas" panose="020B0609020204030204" pitchFamily="49" charset="0"/>
              </a:rPr>
              <a:t>GigabitEthernet0</a:t>
            </a:r>
            <a:r>
              <a:rPr lang="en-US" sz="1100" dirty="0">
                <a:latin typeface="Consolas" panose="020B0609020204030204" pitchFamily="49" charset="0"/>
              </a:rPr>
              <a:t>/0/0/0, 8 dependencies, weight 0, class 0, backup (Local-LFA) [flags </a:t>
            </a:r>
            <a:r>
              <a:rPr lang="en-US" sz="1100" dirty="0" err="1">
                <a:latin typeface="Consolas" panose="020B0609020204030204" pitchFamily="49" charset="0"/>
              </a:rPr>
              <a:t>0x300</a:t>
            </a:r>
            <a:r>
              <a:rPr lang="en-US" sz="1100" dirty="0">
                <a:latin typeface="Consolas" panose="020B0609020204030204" pitchFamily="49" charset="0"/>
              </a:rPr>
              <a:t>]</a:t>
            </a:r>
          </a:p>
          <a:p>
            <a:r>
              <a:rPr lang="en-US" sz="1100" dirty="0">
                <a:latin typeface="Consolas" panose="020B0609020204030204" pitchFamily="49" charset="0"/>
              </a:rPr>
              <a:t>    path-</a:t>
            </a:r>
            <a:r>
              <a:rPr lang="en-US" sz="1100" dirty="0" err="1">
                <a:latin typeface="Consolas" panose="020B0609020204030204" pitchFamily="49" charset="0"/>
              </a:rPr>
              <a:t>idx</a:t>
            </a:r>
            <a:r>
              <a:rPr lang="en-US" sz="1100" dirty="0">
                <a:latin typeface="Consolas" panose="020B0609020204030204" pitchFamily="49" charset="0"/>
              </a:rPr>
              <a:t> 0 </a:t>
            </a:r>
            <a:r>
              <a:rPr lang="en-US" sz="1100" dirty="0" err="1">
                <a:latin typeface="Consolas" panose="020B0609020204030204" pitchFamily="49" charset="0"/>
              </a:rPr>
              <a:t>NHID</a:t>
            </a:r>
            <a:r>
              <a:rPr lang="en-US" sz="1100" dirty="0">
                <a:latin typeface="Consolas" panose="020B0609020204030204" pitchFamily="49" charset="0"/>
              </a:rPr>
              <a:t> </a:t>
            </a:r>
            <a:r>
              <a:rPr lang="en-US" sz="1100" dirty="0" err="1">
                <a:latin typeface="Consolas" panose="020B0609020204030204" pitchFamily="49" charset="0"/>
              </a:rPr>
              <a:t>0x0</a:t>
            </a:r>
            <a:r>
              <a:rPr lang="en-US" sz="1100" dirty="0">
                <a:latin typeface="Consolas" panose="020B0609020204030204" pitchFamily="49" charset="0"/>
              </a:rPr>
              <a:t> [</a:t>
            </a:r>
            <a:r>
              <a:rPr lang="en-US" sz="1100" dirty="0" err="1">
                <a:latin typeface="Consolas" panose="020B0609020204030204" pitchFamily="49" charset="0"/>
              </a:rPr>
              <a:t>0xe0321e0</a:t>
            </a:r>
            <a:r>
              <a:rPr lang="en-US" sz="1100" dirty="0">
                <a:latin typeface="Consolas" panose="020B0609020204030204" pitchFamily="49" charset="0"/>
              </a:rPr>
              <a:t> </a:t>
            </a:r>
            <a:r>
              <a:rPr lang="en-US" sz="1100" dirty="0" err="1">
                <a:latin typeface="Consolas" panose="020B0609020204030204" pitchFamily="49" charset="0"/>
              </a:rPr>
              <a:t>0x0</a:t>
            </a:r>
            <a:r>
              <a:rPr lang="en-US" sz="1100" dirty="0">
                <a:latin typeface="Consolas" panose="020B0609020204030204" pitchFamily="49" charset="0"/>
              </a:rPr>
              <a:t>]</a:t>
            </a:r>
          </a:p>
          <a:p>
            <a:r>
              <a:rPr lang="en-US" sz="1100" dirty="0">
                <a:latin typeface="Consolas" panose="020B0609020204030204" pitchFamily="49" charset="0"/>
              </a:rPr>
              <a:t>    next hop </a:t>
            </a:r>
            <a:r>
              <a:rPr lang="en-US" sz="1100" dirty="0" err="1">
                <a:latin typeface="Consolas" panose="020B0609020204030204" pitchFamily="49" charset="0"/>
              </a:rPr>
              <a:t>fe80</a:t>
            </a:r>
            <a:r>
              <a:rPr lang="en-US" sz="1100" dirty="0">
                <a:latin typeface="Consolas" panose="020B0609020204030204" pitchFamily="49" charset="0"/>
              </a:rPr>
              <a:t>::</a:t>
            </a:r>
            <a:r>
              <a:rPr lang="en-US" sz="1100" dirty="0" err="1">
                <a:latin typeface="Consolas" panose="020B0609020204030204" pitchFamily="49" charset="0"/>
              </a:rPr>
              <a:t>5054:ff:fead:9c45</a:t>
            </a:r>
            <a:r>
              <a:rPr lang="en-US" sz="1100" dirty="0">
                <a:latin typeface="Consolas" panose="020B0609020204030204" pitchFamily="49" charset="0"/>
              </a:rPr>
              <a:t>/128</a:t>
            </a:r>
          </a:p>
          <a:p>
            <a:r>
              <a:rPr lang="en-US" sz="1100" dirty="0">
                <a:latin typeface="Consolas" panose="020B0609020204030204" pitchFamily="49" charset="0"/>
              </a:rPr>
              <a:t>    remote adjacency</a:t>
            </a:r>
          </a:p>
          <a:p>
            <a:r>
              <a:rPr lang="en-US" sz="1100" dirty="0">
                <a:latin typeface="Consolas" panose="020B0609020204030204" pitchFamily="49" charset="0"/>
              </a:rPr>
              <a:t>   via </a:t>
            </a:r>
            <a:r>
              <a:rPr lang="en-US" sz="1100" dirty="0" err="1">
                <a:latin typeface="Consolas" panose="020B0609020204030204" pitchFamily="49" charset="0"/>
              </a:rPr>
              <a:t>fe80</a:t>
            </a:r>
            <a:r>
              <a:rPr lang="en-US" sz="1100" dirty="0">
                <a:latin typeface="Consolas" panose="020B0609020204030204" pitchFamily="49" charset="0"/>
              </a:rPr>
              <a:t>::</a:t>
            </a:r>
            <a:r>
              <a:rPr lang="en-US" sz="1100" dirty="0" err="1">
                <a:latin typeface="Consolas" panose="020B0609020204030204" pitchFamily="49" charset="0"/>
              </a:rPr>
              <a:t>5054:ff:fe0c:6a4f</a:t>
            </a:r>
            <a:r>
              <a:rPr lang="en-US" sz="1100" dirty="0">
                <a:latin typeface="Consolas" panose="020B0609020204030204" pitchFamily="49" charset="0"/>
              </a:rPr>
              <a:t>/128, </a:t>
            </a:r>
            <a:r>
              <a:rPr lang="en-US" sz="1100" dirty="0" err="1">
                <a:latin typeface="Consolas" panose="020B0609020204030204" pitchFamily="49" charset="0"/>
              </a:rPr>
              <a:t>GigabitEthernet0</a:t>
            </a:r>
            <a:r>
              <a:rPr lang="en-US" sz="1100" dirty="0">
                <a:latin typeface="Consolas" panose="020B0609020204030204" pitchFamily="49" charset="0"/>
              </a:rPr>
              <a:t>/0/0/5, 4 dependencies, weight 0, class 0, protected [flags </a:t>
            </a:r>
            <a:r>
              <a:rPr lang="en-US" sz="1100" dirty="0" err="1">
                <a:latin typeface="Consolas" panose="020B0609020204030204" pitchFamily="49" charset="0"/>
              </a:rPr>
              <a:t>0x400</a:t>
            </a:r>
            <a:r>
              <a:rPr lang="en-US" sz="1100" dirty="0">
                <a:latin typeface="Consolas" panose="020B0609020204030204" pitchFamily="49" charset="0"/>
              </a:rPr>
              <a:t>]</a:t>
            </a:r>
          </a:p>
          <a:p>
            <a:r>
              <a:rPr lang="en-US" sz="1100" dirty="0">
                <a:latin typeface="Consolas" panose="020B0609020204030204" pitchFamily="49" charset="0"/>
              </a:rPr>
              <a:t>    path-</a:t>
            </a:r>
            <a:r>
              <a:rPr lang="en-US" sz="1100" dirty="0" err="1">
                <a:latin typeface="Consolas" panose="020B0609020204030204" pitchFamily="49" charset="0"/>
              </a:rPr>
              <a:t>idx</a:t>
            </a:r>
            <a:r>
              <a:rPr lang="en-US" sz="1100" dirty="0">
                <a:latin typeface="Consolas" panose="020B0609020204030204" pitchFamily="49" charset="0"/>
              </a:rPr>
              <a:t> 1 </a:t>
            </a:r>
            <a:r>
              <a:rPr lang="en-US" sz="1100" dirty="0" err="1">
                <a:latin typeface="Consolas" panose="020B0609020204030204" pitchFamily="49" charset="0"/>
              </a:rPr>
              <a:t>bkup-idx</a:t>
            </a:r>
            <a:r>
              <a:rPr lang="en-US" sz="1100" dirty="0">
                <a:latin typeface="Consolas" panose="020B0609020204030204" pitchFamily="49" charset="0"/>
              </a:rPr>
              <a:t> 0 </a:t>
            </a:r>
            <a:r>
              <a:rPr lang="en-US" sz="1100" dirty="0" err="1">
                <a:latin typeface="Consolas" panose="020B0609020204030204" pitchFamily="49" charset="0"/>
              </a:rPr>
              <a:t>NHID</a:t>
            </a:r>
            <a:r>
              <a:rPr lang="en-US" sz="1100" dirty="0">
                <a:latin typeface="Consolas" panose="020B0609020204030204" pitchFamily="49" charset="0"/>
              </a:rPr>
              <a:t> </a:t>
            </a:r>
            <a:r>
              <a:rPr lang="en-US" sz="1100" dirty="0" err="1">
                <a:latin typeface="Consolas" panose="020B0609020204030204" pitchFamily="49" charset="0"/>
              </a:rPr>
              <a:t>0x0</a:t>
            </a:r>
            <a:r>
              <a:rPr lang="en-US" sz="1100" dirty="0">
                <a:latin typeface="Consolas" panose="020B0609020204030204" pitchFamily="49" charset="0"/>
              </a:rPr>
              <a:t> [</a:t>
            </a:r>
            <a:r>
              <a:rPr lang="en-US" sz="1100" dirty="0" err="1">
                <a:latin typeface="Consolas" panose="020B0609020204030204" pitchFamily="49" charset="0"/>
              </a:rPr>
              <a:t>0x100df190</a:t>
            </a:r>
            <a:r>
              <a:rPr lang="en-US" sz="1100" dirty="0">
                <a:latin typeface="Consolas" panose="020B0609020204030204" pitchFamily="49" charset="0"/>
              </a:rPr>
              <a:t> </a:t>
            </a:r>
            <a:r>
              <a:rPr lang="en-US" sz="1100" dirty="0" err="1">
                <a:latin typeface="Consolas" panose="020B0609020204030204" pitchFamily="49" charset="0"/>
              </a:rPr>
              <a:t>0x0</a:t>
            </a:r>
            <a:r>
              <a:rPr lang="en-US" sz="1100" dirty="0">
                <a:latin typeface="Consolas" panose="020B0609020204030204" pitchFamily="49" charset="0"/>
              </a:rPr>
              <a:t>]</a:t>
            </a:r>
          </a:p>
          <a:p>
            <a:r>
              <a:rPr lang="en-US" sz="1100" dirty="0">
                <a:latin typeface="Consolas" panose="020B0609020204030204" pitchFamily="49" charset="0"/>
              </a:rPr>
              <a:t>    next hop </a:t>
            </a:r>
            <a:r>
              <a:rPr lang="en-US" sz="1100" dirty="0" err="1">
                <a:latin typeface="Consolas" panose="020B0609020204030204" pitchFamily="49" charset="0"/>
              </a:rPr>
              <a:t>fe80</a:t>
            </a:r>
            <a:r>
              <a:rPr lang="en-US" sz="1100" dirty="0">
                <a:latin typeface="Consolas" panose="020B0609020204030204" pitchFamily="49" charset="0"/>
              </a:rPr>
              <a:t>::</a:t>
            </a:r>
            <a:r>
              <a:rPr lang="en-US" sz="1100" dirty="0" err="1">
                <a:latin typeface="Consolas" panose="020B0609020204030204" pitchFamily="49" charset="0"/>
              </a:rPr>
              <a:t>5054:ff:fe0c:6a4f</a:t>
            </a:r>
            <a:r>
              <a:rPr lang="en-US" sz="1100" dirty="0">
                <a:latin typeface="Consolas" panose="020B0609020204030204" pitchFamily="49" charset="0"/>
              </a:rPr>
              <a:t>/128</a:t>
            </a:r>
          </a:p>
          <a:p>
            <a:endParaRPr lang="en-US" sz="1100" dirty="0">
              <a:latin typeface="Consolas" panose="020B0609020204030204" pitchFamily="49" charset="0"/>
            </a:endParaRPr>
          </a:p>
          <a:p>
            <a:r>
              <a:rPr lang="en-US" sz="1100" dirty="0">
                <a:latin typeface="Consolas" panose="020B0609020204030204" pitchFamily="49" charset="0"/>
              </a:rPr>
              <a:t>    Load distribution: 0 (refcount 7)</a:t>
            </a:r>
          </a:p>
          <a:p>
            <a:endParaRPr lang="en-US" sz="1100" dirty="0">
              <a:latin typeface="Consolas" panose="020B0609020204030204" pitchFamily="49" charset="0"/>
            </a:endParaRPr>
          </a:p>
          <a:p>
            <a:r>
              <a:rPr lang="en-US" sz="1100" dirty="0">
                <a:latin typeface="Consolas" panose="020B0609020204030204" pitchFamily="49" charset="0"/>
              </a:rPr>
              <a:t>    Hash  OK  Interface                 Address</a:t>
            </a:r>
          </a:p>
          <a:p>
            <a:r>
              <a:rPr lang="en-US" sz="1100" dirty="0">
                <a:latin typeface="Consolas" panose="020B0609020204030204" pitchFamily="49" charset="0"/>
              </a:rPr>
              <a:t>    0     Y   </a:t>
            </a:r>
            <a:r>
              <a:rPr lang="en-US" sz="1100" dirty="0" err="1">
                <a:latin typeface="Consolas" panose="020B0609020204030204" pitchFamily="49" charset="0"/>
              </a:rPr>
              <a:t>GigabitEthernet0</a:t>
            </a:r>
            <a:r>
              <a:rPr lang="en-US" sz="1100" dirty="0">
                <a:latin typeface="Consolas" panose="020B0609020204030204" pitchFamily="49" charset="0"/>
              </a:rPr>
              <a:t>/0/0/5    remote         </a:t>
            </a:r>
          </a:p>
          <a:p>
            <a:r>
              <a:rPr lang="en-US" sz="1100" dirty="0">
                <a:latin typeface="Consolas" panose="020B0609020204030204" pitchFamily="49" charset="0"/>
              </a:rPr>
              <a:t>RP/0/RP0/</a:t>
            </a:r>
            <a:r>
              <a:rPr lang="en-US" sz="1100" dirty="0" err="1">
                <a:latin typeface="Consolas" panose="020B0609020204030204" pitchFamily="49" charset="0"/>
              </a:rPr>
              <a:t>CPU0:R01</a:t>
            </a:r>
            <a:r>
              <a:rPr lang="en-US" sz="1100" dirty="0">
                <a:latin typeface="Consolas" panose="020B0609020204030204" pitchFamily="49" charset="0"/>
              </a:rPr>
              <a:t>#</a:t>
            </a:r>
          </a:p>
        </p:txBody>
      </p:sp>
      <p:sp>
        <p:nvSpPr>
          <p:cNvPr id="5" name="Callout: Line 4">
            <a:extLst>
              <a:ext uri="{FF2B5EF4-FFF2-40B4-BE49-F238E27FC236}">
                <a16:creationId xmlns:a16="http://schemas.microsoft.com/office/drawing/2014/main" id="{8631EB30-4BAD-E966-C95A-82E77E022A64}"/>
              </a:ext>
            </a:extLst>
          </p:cNvPr>
          <p:cNvSpPr/>
          <p:nvPr/>
        </p:nvSpPr>
        <p:spPr>
          <a:xfrm>
            <a:off x="10482123" y="104551"/>
            <a:ext cx="1625600" cy="396240"/>
          </a:xfrm>
          <a:prstGeom prst="borderCallout1">
            <a:avLst>
              <a:gd name="adj1" fmla="val 18750"/>
              <a:gd name="adj2" fmla="val -8333"/>
              <a:gd name="adj3" fmla="val 204872"/>
              <a:gd name="adj4" fmla="val -195518"/>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global ipv6</a:t>
            </a:r>
          </a:p>
        </p:txBody>
      </p:sp>
      <p:sp>
        <p:nvSpPr>
          <p:cNvPr id="7" name="Callout: Line 6">
            <a:extLst>
              <a:ext uri="{FF2B5EF4-FFF2-40B4-BE49-F238E27FC236}">
                <a16:creationId xmlns:a16="http://schemas.microsoft.com/office/drawing/2014/main" id="{9730C5B9-344F-37E9-E98B-D9D00E648B8B}"/>
              </a:ext>
            </a:extLst>
          </p:cNvPr>
          <p:cNvSpPr/>
          <p:nvPr/>
        </p:nvSpPr>
        <p:spPr>
          <a:xfrm>
            <a:off x="10482123" y="639913"/>
            <a:ext cx="1625600" cy="396240"/>
          </a:xfrm>
          <a:prstGeom prst="borderCallout1">
            <a:avLst>
              <a:gd name="adj1" fmla="val 18750"/>
              <a:gd name="adj2" fmla="val -8333"/>
              <a:gd name="adj3" fmla="val 470381"/>
              <a:gd name="adj4" fmla="val -236042"/>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flex-algo</a:t>
            </a:r>
          </a:p>
        </p:txBody>
      </p:sp>
    </p:spTree>
    <p:extLst>
      <p:ext uri="{BB962C8B-B14F-4D97-AF65-F5344CB8AC3E}">
        <p14:creationId xmlns:p14="http://schemas.microsoft.com/office/powerpoint/2010/main" val="2220876504"/>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4B8ED6C-7982-3897-7E1B-8084D5838EE0}"/>
              </a:ext>
            </a:extLst>
          </p:cNvPr>
          <p:cNvSpPr>
            <a:spLocks noGrp="1"/>
          </p:cNvSpPr>
          <p:nvPr>
            <p:ph type="body" sz="quarter" idx="11"/>
          </p:nvPr>
        </p:nvSpPr>
        <p:spPr/>
        <p:txBody>
          <a:bodyPr/>
          <a:lstStyle/>
          <a:p>
            <a:r>
              <a:rPr lang="en-US" dirty="0"/>
              <a:t>SRv6 ISIS TI-LFA - monitoring - SRv6 policy</a:t>
            </a:r>
          </a:p>
        </p:txBody>
      </p:sp>
      <p:sp>
        <p:nvSpPr>
          <p:cNvPr id="4" name="Rectangle 3">
            <a:extLst>
              <a:ext uri="{FF2B5EF4-FFF2-40B4-BE49-F238E27FC236}">
                <a16:creationId xmlns:a16="http://schemas.microsoft.com/office/drawing/2014/main" id="{F98719AC-0EF2-C7E4-78EA-EFDFDB78EC6D}"/>
              </a:ext>
            </a:extLst>
          </p:cNvPr>
          <p:cNvSpPr/>
          <p:nvPr/>
        </p:nvSpPr>
        <p:spPr>
          <a:xfrm>
            <a:off x="84276" y="785478"/>
            <a:ext cx="9905027" cy="6017032"/>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RP/0/RP0/</a:t>
            </a:r>
            <a:r>
              <a:rPr lang="en-US" sz="1100" dirty="0" err="1">
                <a:latin typeface="Consolas" panose="020B0609020204030204" pitchFamily="49" charset="0"/>
              </a:rPr>
              <a:t>CPU0:R33#</a:t>
            </a:r>
            <a:r>
              <a:rPr lang="en-US" sz="1100" b="1" dirty="0" err="1">
                <a:latin typeface="Consolas" panose="020B0609020204030204" pitchFamily="49" charset="0"/>
              </a:rPr>
              <a:t>sh</a:t>
            </a:r>
            <a:r>
              <a:rPr lang="en-US" sz="1100" b="1" dirty="0">
                <a:latin typeface="Consolas" panose="020B0609020204030204" pitchFamily="49" charset="0"/>
              </a:rPr>
              <a:t> segment-routing traffic-</a:t>
            </a:r>
            <a:r>
              <a:rPr lang="en-US" sz="1100" b="1" dirty="0" err="1">
                <a:latin typeface="Consolas" panose="020B0609020204030204" pitchFamily="49" charset="0"/>
              </a:rPr>
              <a:t>eng</a:t>
            </a:r>
            <a:r>
              <a:rPr lang="en-US" sz="1100" b="1" dirty="0">
                <a:latin typeface="Consolas" panose="020B0609020204030204" pitchFamily="49" charset="0"/>
              </a:rPr>
              <a:t> policy name </a:t>
            </a:r>
            <a:r>
              <a:rPr lang="en-US" sz="1100" i="1" dirty="0" err="1">
                <a:latin typeface="Consolas" panose="020B0609020204030204" pitchFamily="49" charset="0"/>
              </a:rPr>
              <a:t>srte_c_208_ep_fc00:ab00:4</a:t>
            </a:r>
            <a:r>
              <a:rPr lang="en-US" sz="1100" i="1" dirty="0">
                <a:latin typeface="Consolas" panose="020B0609020204030204" pitchFamily="49" charset="0"/>
              </a:rPr>
              <a:t>:: </a:t>
            </a:r>
            <a:r>
              <a:rPr lang="en-US" sz="1100" b="1" dirty="0">
                <a:latin typeface="Consolas" panose="020B0609020204030204" pitchFamily="49" charset="0"/>
              </a:rPr>
              <a:t>private</a:t>
            </a:r>
          </a:p>
          <a:p>
            <a:r>
              <a:rPr lang="en-US" sz="1100" dirty="0">
                <a:latin typeface="Consolas" panose="020B0609020204030204" pitchFamily="49" charset="0"/>
              </a:rPr>
              <a:t>SR-TE policy database</a:t>
            </a:r>
          </a:p>
          <a:p>
            <a:r>
              <a:rPr lang="en-US" sz="1100" dirty="0">
                <a:latin typeface="Consolas" panose="020B0609020204030204" pitchFamily="49" charset="0"/>
              </a:rPr>
              <a:t>---------------------</a:t>
            </a:r>
          </a:p>
          <a:p>
            <a:endParaRPr lang="en-US" sz="1100" dirty="0">
              <a:latin typeface="Consolas" panose="020B0609020204030204" pitchFamily="49" charset="0"/>
            </a:endParaRPr>
          </a:p>
          <a:p>
            <a:r>
              <a:rPr lang="en-US" sz="1100" dirty="0">
                <a:latin typeface="Consolas" panose="020B0609020204030204" pitchFamily="49" charset="0"/>
              </a:rPr>
              <a:t>Color: 208, End-point: </a:t>
            </a:r>
            <a:r>
              <a:rPr lang="en-US" sz="1100" dirty="0" err="1">
                <a:latin typeface="Consolas" panose="020B0609020204030204" pitchFamily="49" charset="0"/>
              </a:rPr>
              <a:t>fc00:ab00:4</a:t>
            </a:r>
            <a:r>
              <a:rPr lang="en-US" sz="1100" dirty="0">
                <a:latin typeface="Consolas" panose="020B0609020204030204" pitchFamily="49" charset="0"/>
              </a:rPr>
              <a:t>:: ID: 4</a:t>
            </a:r>
          </a:p>
          <a:p>
            <a:r>
              <a:rPr lang="en-US" sz="1100" dirty="0">
                <a:latin typeface="Consolas" panose="020B0609020204030204" pitchFamily="49" charset="0"/>
              </a:rPr>
              <a:t>  Name: </a:t>
            </a:r>
            <a:r>
              <a:rPr lang="en-US" sz="1100" dirty="0" err="1">
                <a:latin typeface="Consolas" panose="020B0609020204030204" pitchFamily="49" charset="0"/>
              </a:rPr>
              <a:t>srte_c_208_ep_fc00:ab00:4</a:t>
            </a:r>
            <a:r>
              <a:rPr lang="en-US" sz="1100" dirty="0">
                <a:latin typeface="Consolas" panose="020B0609020204030204" pitchFamily="49" charset="0"/>
              </a:rPr>
              <a:t>::</a:t>
            </a:r>
          </a:p>
          <a:p>
            <a:r>
              <a:rPr lang="en-US" sz="1100" dirty="0">
                <a:latin typeface="Consolas" panose="020B0609020204030204" pitchFamily="49" charset="0"/>
              </a:rPr>
              <a:t>  Status:</a:t>
            </a:r>
          </a:p>
          <a:p>
            <a:r>
              <a:rPr lang="en-US" sz="1100" dirty="0">
                <a:latin typeface="Consolas" panose="020B0609020204030204" pitchFamily="49" charset="0"/>
              </a:rPr>
              <a:t>    Admin: up  Operational: up for </a:t>
            </a:r>
            <a:r>
              <a:rPr lang="en-US" sz="1100" dirty="0" err="1">
                <a:latin typeface="Consolas" panose="020B0609020204030204" pitchFamily="49" charset="0"/>
              </a:rPr>
              <a:t>1w5d</a:t>
            </a:r>
            <a:r>
              <a:rPr lang="en-US" sz="1100" dirty="0">
                <a:latin typeface="Consolas" panose="020B0609020204030204" pitchFamily="49" charset="0"/>
              </a:rPr>
              <a:t> (since May 27 13:26:57.321)</a:t>
            </a:r>
          </a:p>
          <a:p>
            <a:r>
              <a:rPr lang="en-US" sz="1100" dirty="0">
                <a:latin typeface="Consolas" panose="020B0609020204030204" pitchFamily="49" charset="0"/>
              </a:rPr>
              <a:t>  Candidate-paths:</a:t>
            </a:r>
          </a:p>
          <a:p>
            <a:r>
              <a:rPr lang="en-US" sz="1100" dirty="0">
                <a:latin typeface="Consolas" panose="020B0609020204030204" pitchFamily="49" charset="0"/>
              </a:rPr>
              <a:t>    Preference: 1000 (configuration) (active)</a:t>
            </a:r>
          </a:p>
          <a:p>
            <a:r>
              <a:rPr lang="en-US" sz="1100" dirty="0">
                <a:latin typeface="Consolas" panose="020B0609020204030204" pitchFamily="49" charset="0"/>
              </a:rPr>
              <a:t>      Originator: ASN 0 node-address &lt;None&gt; discriminator: 1000</a:t>
            </a:r>
          </a:p>
          <a:p>
            <a:r>
              <a:rPr lang="en-US" sz="1100" dirty="0">
                <a:latin typeface="Consolas" panose="020B0609020204030204" pitchFamily="49" charset="0"/>
              </a:rPr>
              <a:t>      Name: long-path-to-</a:t>
            </a:r>
            <a:r>
              <a:rPr lang="en-US" sz="1100" dirty="0" err="1">
                <a:latin typeface="Consolas" panose="020B0609020204030204" pitchFamily="49" charset="0"/>
              </a:rPr>
              <a:t>R04</a:t>
            </a:r>
            <a:endParaRPr lang="en-US" sz="1100" dirty="0">
              <a:latin typeface="Consolas" panose="020B0609020204030204" pitchFamily="49" charset="0"/>
            </a:endParaRPr>
          </a:p>
          <a:p>
            <a:r>
              <a:rPr lang="en-US" sz="1100" dirty="0">
                <a:latin typeface="Consolas" panose="020B0609020204030204" pitchFamily="49" charset="0"/>
              </a:rPr>
              <a:t>      Requested </a:t>
            </a:r>
            <a:r>
              <a:rPr lang="en-US" sz="1100" dirty="0" err="1">
                <a:latin typeface="Consolas" panose="020B0609020204030204" pitchFamily="49" charset="0"/>
              </a:rPr>
              <a:t>BSID</a:t>
            </a:r>
            <a:r>
              <a:rPr lang="en-US" sz="1100" dirty="0">
                <a:latin typeface="Consolas" panose="020B0609020204030204" pitchFamily="49" charset="0"/>
              </a:rPr>
              <a:t>: dynamic</a:t>
            </a:r>
          </a:p>
          <a:p>
            <a:r>
              <a:rPr lang="en-US" sz="1100" dirty="0">
                <a:latin typeface="Consolas" panose="020B0609020204030204" pitchFamily="49" charset="0"/>
              </a:rPr>
              <a:t>      Constraints:</a:t>
            </a:r>
          </a:p>
          <a:p>
            <a:r>
              <a:rPr lang="en-US" sz="1100" dirty="0">
                <a:latin typeface="Consolas" panose="020B0609020204030204" pitchFamily="49" charset="0"/>
              </a:rPr>
              <a:t>        Protection Type: protected-preferred</a:t>
            </a:r>
          </a:p>
          <a:p>
            <a:r>
              <a:rPr lang="en-US" sz="1100" dirty="0">
                <a:latin typeface="Consolas" panose="020B0609020204030204" pitchFamily="49" charset="0"/>
              </a:rPr>
              <a:t>        Maximum SID Depth: 13 </a:t>
            </a:r>
          </a:p>
          <a:p>
            <a:r>
              <a:rPr lang="en-US" sz="1100" dirty="0">
                <a:latin typeface="Consolas" panose="020B0609020204030204" pitchFamily="49" charset="0"/>
              </a:rPr>
              <a:t>      ID: 1</a:t>
            </a:r>
          </a:p>
          <a:p>
            <a:r>
              <a:rPr lang="en-US" sz="1100" dirty="0">
                <a:latin typeface="Consolas" panose="020B0609020204030204" pitchFamily="49" charset="0"/>
              </a:rPr>
              <a:t>      Source: </a:t>
            </a:r>
            <a:r>
              <a:rPr lang="en-US" sz="1100" dirty="0" err="1">
                <a:latin typeface="Consolas" panose="020B0609020204030204" pitchFamily="49" charset="0"/>
              </a:rPr>
              <a:t>fc00:ab00:33</a:t>
            </a:r>
            <a:r>
              <a:rPr lang="en-US" sz="1100" dirty="0">
                <a:latin typeface="Consolas" panose="020B0609020204030204" pitchFamily="49" charset="0"/>
              </a:rPr>
              <a:t>::1</a:t>
            </a:r>
          </a:p>
          <a:p>
            <a:r>
              <a:rPr lang="en-US" sz="1100" dirty="0">
                <a:latin typeface="Consolas" panose="020B0609020204030204" pitchFamily="49" charset="0"/>
              </a:rPr>
              <a:t>      Stale: no</a:t>
            </a:r>
          </a:p>
          <a:p>
            <a:r>
              <a:rPr lang="en-US" sz="1100" dirty="0">
                <a:latin typeface="Consolas" panose="020B0609020204030204" pitchFamily="49" charset="0"/>
              </a:rPr>
              <a:t>      Checkpoint flags: </a:t>
            </a:r>
            <a:r>
              <a:rPr lang="en-US" sz="1100" dirty="0" err="1">
                <a:latin typeface="Consolas" panose="020B0609020204030204" pitchFamily="49" charset="0"/>
              </a:rPr>
              <a:t>0x00000000</a:t>
            </a:r>
            <a:endParaRPr lang="en-US" sz="1100" dirty="0">
              <a:latin typeface="Consolas" panose="020B0609020204030204" pitchFamily="49" charset="0"/>
            </a:endParaRPr>
          </a:p>
          <a:p>
            <a:r>
              <a:rPr lang="en-US" sz="1100" dirty="0">
                <a:latin typeface="Consolas" panose="020B0609020204030204" pitchFamily="49" charset="0"/>
              </a:rPr>
              <a:t>      Path Type: SRV6</a:t>
            </a:r>
          </a:p>
          <a:p>
            <a:r>
              <a:rPr lang="en-US" sz="1100" dirty="0">
                <a:latin typeface="Consolas" panose="020B0609020204030204" pitchFamily="49" charset="0"/>
              </a:rPr>
              <a:t>      Performance-measurement:</a:t>
            </a:r>
          </a:p>
          <a:p>
            <a:r>
              <a:rPr lang="en-US" sz="1100" dirty="0">
                <a:latin typeface="Consolas" panose="020B0609020204030204" pitchFamily="49" charset="0"/>
              </a:rPr>
              <a:t>        Reverse-path segment-list: </a:t>
            </a:r>
          </a:p>
          <a:p>
            <a:r>
              <a:rPr lang="en-US" sz="1100" dirty="0">
                <a:latin typeface="Consolas" panose="020B0609020204030204" pitchFamily="49" charset="0"/>
              </a:rPr>
              <a:t>        Delay-measurement: Disabled</a:t>
            </a:r>
          </a:p>
          <a:p>
            <a:r>
              <a:rPr lang="en-US" sz="1100" dirty="0">
                <a:latin typeface="Consolas" panose="020B0609020204030204" pitchFamily="49" charset="0"/>
              </a:rPr>
              <a:t>        Liveness-detection: Disabled</a:t>
            </a:r>
          </a:p>
          <a:p>
            <a:r>
              <a:rPr lang="en-US" sz="1100" dirty="0">
                <a:latin typeface="Consolas" panose="020B0609020204030204" pitchFamily="49" charset="0"/>
              </a:rPr>
              <a:t>      Explicit: segment-list SL-long-path-</a:t>
            </a:r>
            <a:r>
              <a:rPr lang="en-US" sz="1100" dirty="0" err="1">
                <a:latin typeface="Consolas" panose="020B0609020204030204" pitchFamily="49" charset="0"/>
              </a:rPr>
              <a:t>R04</a:t>
            </a:r>
            <a:r>
              <a:rPr lang="en-US" sz="1100" dirty="0">
                <a:latin typeface="Consolas" panose="020B0609020204030204" pitchFamily="49" charset="0"/>
              </a:rPr>
              <a:t> (valid)</a:t>
            </a:r>
          </a:p>
          <a:p>
            <a:r>
              <a:rPr lang="en-US" sz="1100" dirty="0">
                <a:latin typeface="Consolas" panose="020B0609020204030204" pitchFamily="49" charset="0"/>
              </a:rPr>
              <a:t>        Weight: 4, Metric Type: TE</a:t>
            </a:r>
          </a:p>
          <a:p>
            <a:r>
              <a:rPr lang="en-US" sz="1100" dirty="0">
                <a:latin typeface="Consolas" panose="020B0609020204030204" pitchFamily="49" charset="0"/>
              </a:rPr>
              <a:t>        IGP area: 0</a:t>
            </a:r>
          </a:p>
          <a:p>
            <a:r>
              <a:rPr lang="en-US" sz="1100" dirty="0">
                <a:latin typeface="Consolas" panose="020B0609020204030204" pitchFamily="49" charset="0"/>
              </a:rPr>
              <a:t>          SID[0]: </a:t>
            </a:r>
            <a:r>
              <a:rPr lang="en-US" sz="1100" dirty="0" err="1">
                <a:latin typeface="Consolas" panose="020B0609020204030204" pitchFamily="49" charset="0"/>
              </a:rPr>
              <a:t>fc00:ab00:21</a:t>
            </a:r>
            <a:r>
              <a:rPr lang="en-US" sz="1100" dirty="0">
                <a:latin typeface="Consolas" panose="020B0609020204030204" pitchFamily="49" charset="0"/>
              </a:rPr>
              <a:t>::/48</a:t>
            </a:r>
          </a:p>
          <a:p>
            <a:r>
              <a:rPr lang="en-US" sz="1100" dirty="0">
                <a:latin typeface="Consolas" panose="020B0609020204030204" pitchFamily="49" charset="0"/>
              </a:rPr>
              <a:t>                  Format: </a:t>
            </a:r>
            <a:r>
              <a:rPr lang="en-US" sz="1100" dirty="0" err="1">
                <a:latin typeface="Consolas" panose="020B0609020204030204" pitchFamily="49" charset="0"/>
              </a:rPr>
              <a:t>f3216</a:t>
            </a:r>
            <a:endParaRPr lang="en-US" sz="1100" dirty="0">
              <a:latin typeface="Consolas" panose="020B0609020204030204" pitchFamily="49" charset="0"/>
            </a:endParaRPr>
          </a:p>
          <a:p>
            <a:r>
              <a:rPr lang="en-US" sz="1100" dirty="0">
                <a:latin typeface="Consolas" panose="020B0609020204030204" pitchFamily="49" charset="0"/>
              </a:rPr>
              <a:t>                  </a:t>
            </a:r>
            <a:r>
              <a:rPr lang="en-US" sz="1100" dirty="0" err="1">
                <a:latin typeface="Consolas" panose="020B0609020204030204" pitchFamily="49" charset="0"/>
              </a:rPr>
              <a:t>LBL:32</a:t>
            </a:r>
            <a:r>
              <a:rPr lang="en-US" sz="1100" dirty="0">
                <a:latin typeface="Consolas" panose="020B0609020204030204" pitchFamily="49" charset="0"/>
              </a:rPr>
              <a:t> </a:t>
            </a:r>
            <a:r>
              <a:rPr lang="en-US" sz="1100" dirty="0" err="1">
                <a:latin typeface="Consolas" panose="020B0609020204030204" pitchFamily="49" charset="0"/>
              </a:rPr>
              <a:t>LNL:16</a:t>
            </a:r>
            <a:r>
              <a:rPr lang="en-US" sz="1100" dirty="0">
                <a:latin typeface="Consolas" panose="020B0609020204030204" pitchFamily="49" charset="0"/>
              </a:rPr>
              <a:t> </a:t>
            </a:r>
            <a:r>
              <a:rPr lang="en-US" sz="1100" dirty="0" err="1">
                <a:latin typeface="Consolas" panose="020B0609020204030204" pitchFamily="49" charset="0"/>
              </a:rPr>
              <a:t>FL:0</a:t>
            </a:r>
            <a:r>
              <a:rPr lang="en-US" sz="1100" dirty="0">
                <a:latin typeface="Consolas" panose="020B0609020204030204" pitchFamily="49" charset="0"/>
              </a:rPr>
              <a:t> </a:t>
            </a:r>
            <a:r>
              <a:rPr lang="en-US" sz="1100" dirty="0" err="1">
                <a:latin typeface="Consolas" panose="020B0609020204030204" pitchFamily="49" charset="0"/>
              </a:rPr>
              <a:t>AL:80</a:t>
            </a:r>
            <a:endParaRPr lang="en-US" sz="1100" dirty="0">
              <a:latin typeface="Consolas" panose="020B0609020204030204" pitchFamily="49" charset="0"/>
            </a:endParaRPr>
          </a:p>
          <a:p>
            <a:r>
              <a:rPr lang="en-US" sz="1100" dirty="0">
                <a:latin typeface="Consolas" panose="020B0609020204030204" pitchFamily="49" charset="0"/>
              </a:rPr>
              <a:t>          SID[1]: </a:t>
            </a:r>
            <a:r>
              <a:rPr lang="en-US" sz="1100" dirty="0" err="1">
                <a:latin typeface="Consolas" panose="020B0609020204030204" pitchFamily="49" charset="0"/>
              </a:rPr>
              <a:t>fc00:ab00:31</a:t>
            </a:r>
            <a:r>
              <a:rPr lang="en-US" sz="1100" dirty="0">
                <a:latin typeface="Consolas" panose="020B0609020204030204" pitchFamily="49" charset="0"/>
              </a:rPr>
              <a:t>::/48</a:t>
            </a:r>
          </a:p>
          <a:p>
            <a:r>
              <a:rPr lang="en-US" sz="1100" dirty="0">
                <a:latin typeface="Consolas" panose="020B0609020204030204" pitchFamily="49" charset="0"/>
              </a:rPr>
              <a:t>                  Format: </a:t>
            </a:r>
            <a:r>
              <a:rPr lang="en-US" sz="1100" dirty="0" err="1">
                <a:latin typeface="Consolas" panose="020B0609020204030204" pitchFamily="49" charset="0"/>
              </a:rPr>
              <a:t>f3216</a:t>
            </a:r>
            <a:endParaRPr lang="en-US" sz="1100" dirty="0">
              <a:latin typeface="Consolas" panose="020B0609020204030204" pitchFamily="49" charset="0"/>
            </a:endParaRPr>
          </a:p>
          <a:p>
            <a:r>
              <a:rPr lang="en-US" sz="1100" dirty="0">
                <a:latin typeface="Consolas" panose="020B0609020204030204" pitchFamily="49" charset="0"/>
              </a:rPr>
              <a:t>                  </a:t>
            </a:r>
            <a:r>
              <a:rPr lang="en-US" sz="1100" dirty="0" err="1">
                <a:latin typeface="Consolas" panose="020B0609020204030204" pitchFamily="49" charset="0"/>
              </a:rPr>
              <a:t>LBL:32</a:t>
            </a:r>
            <a:r>
              <a:rPr lang="en-US" sz="1100" dirty="0">
                <a:latin typeface="Consolas" panose="020B0609020204030204" pitchFamily="49" charset="0"/>
              </a:rPr>
              <a:t> </a:t>
            </a:r>
            <a:r>
              <a:rPr lang="en-US" sz="1100" dirty="0" err="1">
                <a:latin typeface="Consolas" panose="020B0609020204030204" pitchFamily="49" charset="0"/>
              </a:rPr>
              <a:t>LNL:16</a:t>
            </a:r>
            <a:r>
              <a:rPr lang="en-US" sz="1100" dirty="0">
                <a:latin typeface="Consolas" panose="020B0609020204030204" pitchFamily="49" charset="0"/>
              </a:rPr>
              <a:t> </a:t>
            </a:r>
            <a:r>
              <a:rPr lang="en-US" sz="1100" dirty="0" err="1">
                <a:latin typeface="Consolas" panose="020B0609020204030204" pitchFamily="49" charset="0"/>
              </a:rPr>
              <a:t>FL:0</a:t>
            </a:r>
            <a:r>
              <a:rPr lang="en-US" sz="1100" dirty="0">
                <a:latin typeface="Consolas" panose="020B0609020204030204" pitchFamily="49" charset="0"/>
              </a:rPr>
              <a:t> </a:t>
            </a:r>
            <a:r>
              <a:rPr lang="en-US" sz="1100" dirty="0" err="1">
                <a:latin typeface="Consolas" panose="020B0609020204030204" pitchFamily="49" charset="0"/>
              </a:rPr>
              <a:t>AL:80</a:t>
            </a:r>
            <a:endParaRPr lang="en-US" sz="1100" dirty="0">
              <a:latin typeface="Consolas" panose="020B0609020204030204" pitchFamily="49" charset="0"/>
            </a:endParaRPr>
          </a:p>
          <a:p>
            <a:r>
              <a:rPr lang="en-US" sz="1100" dirty="0">
                <a:latin typeface="Consolas" panose="020B0609020204030204" pitchFamily="49" charset="0"/>
              </a:rPr>
              <a:t>-- cut --          </a:t>
            </a:r>
          </a:p>
        </p:txBody>
      </p:sp>
      <p:sp>
        <p:nvSpPr>
          <p:cNvPr id="6" name="Rectangle 5">
            <a:extLst>
              <a:ext uri="{FF2B5EF4-FFF2-40B4-BE49-F238E27FC236}">
                <a16:creationId xmlns:a16="http://schemas.microsoft.com/office/drawing/2014/main" id="{D75FBA8B-4321-34AC-4141-E4B75F252704}"/>
              </a:ext>
            </a:extLst>
          </p:cNvPr>
          <p:cNvSpPr/>
          <p:nvPr/>
        </p:nvSpPr>
        <p:spPr>
          <a:xfrm>
            <a:off x="5417573" y="1124032"/>
            <a:ext cx="6381137" cy="5678478"/>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 cut --</a:t>
            </a:r>
          </a:p>
          <a:p>
            <a:r>
              <a:rPr lang="en-US" sz="1100" dirty="0">
                <a:latin typeface="Consolas" panose="020B0609020204030204" pitchFamily="49" charset="0"/>
              </a:rPr>
              <a:t>      SLs:</a:t>
            </a:r>
          </a:p>
          <a:p>
            <a:r>
              <a:rPr lang="en-US" sz="1100" dirty="0">
                <a:latin typeface="Consolas" panose="020B0609020204030204" pitchFamily="49" charset="0"/>
              </a:rPr>
              <a:t>        SL[0]:</a:t>
            </a:r>
          </a:p>
          <a:p>
            <a:r>
              <a:rPr lang="en-US" sz="1100" dirty="0">
                <a:latin typeface="Consolas" panose="020B0609020204030204" pitchFamily="49" charset="0"/>
              </a:rPr>
              <a:t>          Name: SL-long-path-</a:t>
            </a:r>
            <a:r>
              <a:rPr lang="en-US" sz="1100" dirty="0" err="1">
                <a:latin typeface="Consolas" panose="020B0609020204030204" pitchFamily="49" charset="0"/>
              </a:rPr>
              <a:t>R04</a:t>
            </a:r>
            <a:endParaRPr lang="en-US" sz="1100" dirty="0">
              <a:latin typeface="Consolas" panose="020B0609020204030204" pitchFamily="49" charset="0"/>
            </a:endParaRPr>
          </a:p>
          <a:p>
            <a:r>
              <a:rPr lang="en-US" sz="1100" dirty="0">
                <a:latin typeface="Consolas" panose="020B0609020204030204" pitchFamily="49" charset="0"/>
              </a:rPr>
              <a:t>          Type: Explicit</a:t>
            </a:r>
          </a:p>
          <a:p>
            <a:r>
              <a:rPr lang="en-US" sz="1100" dirty="0">
                <a:latin typeface="Consolas" panose="020B0609020204030204" pitchFamily="49" charset="0"/>
              </a:rPr>
              <a:t>          Checkpoint id: 134</a:t>
            </a:r>
          </a:p>
          <a:p>
            <a:r>
              <a:rPr lang="en-US" sz="1100" dirty="0">
                <a:latin typeface="Consolas" panose="020B0609020204030204" pitchFamily="49" charset="0"/>
              </a:rPr>
              <a:t>          NH SRV6 SID: </a:t>
            </a:r>
            <a:r>
              <a:rPr lang="en-US" sz="1100" dirty="0" err="1">
                <a:latin typeface="Consolas" panose="020B0609020204030204" pitchFamily="49" charset="0"/>
              </a:rPr>
              <a:t>fc00:ab00:21</a:t>
            </a:r>
            <a:r>
              <a:rPr lang="en-US" sz="1100" dirty="0">
                <a:latin typeface="Consolas" panose="020B0609020204030204" pitchFamily="49" charset="0"/>
              </a:rPr>
              <a:t>::</a:t>
            </a:r>
          </a:p>
          <a:p>
            <a:r>
              <a:rPr lang="en-US" sz="1100" dirty="0">
                <a:latin typeface="Consolas" panose="020B0609020204030204" pitchFamily="49" charset="0"/>
              </a:rPr>
              <a:t>          SL ID: </a:t>
            </a:r>
            <a:r>
              <a:rPr lang="en-US" sz="1100" dirty="0" err="1">
                <a:latin typeface="Consolas" panose="020B0609020204030204" pitchFamily="49" charset="0"/>
              </a:rPr>
              <a:t>0xa000003</a:t>
            </a:r>
            <a:endParaRPr lang="en-US" sz="1100" dirty="0">
              <a:latin typeface="Consolas" panose="020B0609020204030204" pitchFamily="49" charset="0"/>
            </a:endParaRPr>
          </a:p>
          <a:p>
            <a:r>
              <a:rPr lang="en-US" sz="1100" dirty="0">
                <a:latin typeface="Consolas" panose="020B0609020204030204" pitchFamily="49" charset="0"/>
              </a:rPr>
              <a:t>          Flags:</a:t>
            </a:r>
          </a:p>
          <a:p>
            <a:r>
              <a:rPr lang="en-US" sz="1100" dirty="0">
                <a:latin typeface="Consolas" panose="020B0609020204030204" pitchFamily="49" charset="0"/>
              </a:rPr>
              <a:t>          Normalized Weight: 4</a:t>
            </a:r>
          </a:p>
          <a:p>
            <a:r>
              <a:rPr lang="en-US" sz="1100" dirty="0">
                <a:latin typeface="Consolas" panose="020B0609020204030204" pitchFamily="49" charset="0"/>
              </a:rPr>
              <a:t>          ENS: 1</a:t>
            </a:r>
          </a:p>
          <a:p>
            <a:r>
              <a:rPr lang="en-US" sz="1100" dirty="0">
                <a:latin typeface="Consolas" panose="020B0609020204030204" pitchFamily="49" charset="0"/>
              </a:rPr>
              <a:t>          Paths:</a:t>
            </a:r>
          </a:p>
          <a:p>
            <a:r>
              <a:rPr lang="en-US" sz="1100" dirty="0">
                <a:latin typeface="Consolas" panose="020B0609020204030204" pitchFamily="49" charset="0"/>
              </a:rPr>
              <a:t>            Path[0]:</a:t>
            </a:r>
          </a:p>
          <a:p>
            <a:r>
              <a:rPr lang="en-US" sz="1100" dirty="0">
                <a:latin typeface="Consolas" panose="020B0609020204030204" pitchFamily="49" charset="0"/>
              </a:rPr>
              <a:t>              Interface version: 2</a:t>
            </a:r>
          </a:p>
          <a:p>
            <a:r>
              <a:rPr lang="en-US" sz="1100" dirty="0">
                <a:latin typeface="Consolas" panose="020B0609020204030204" pitchFamily="49" charset="0"/>
              </a:rPr>
              <a:t>              Flags:</a:t>
            </a:r>
          </a:p>
          <a:p>
            <a:r>
              <a:rPr lang="en-US" sz="1100" dirty="0">
                <a:latin typeface="Consolas" panose="020B0609020204030204" pitchFamily="49" charset="0"/>
              </a:rPr>
              <a:t>              Outgoing interface: Gi0/0/0/4</a:t>
            </a:r>
          </a:p>
          <a:p>
            <a:r>
              <a:rPr lang="en-US" sz="1100" dirty="0">
                <a:latin typeface="Consolas" panose="020B0609020204030204" pitchFamily="49" charset="0"/>
              </a:rPr>
              <a:t>              Weight: 4</a:t>
            </a:r>
          </a:p>
          <a:p>
            <a:r>
              <a:rPr lang="en-US" sz="1100" dirty="0">
                <a:latin typeface="Consolas" panose="020B0609020204030204" pitchFamily="49" charset="0"/>
              </a:rPr>
              <a:t>              SID stack: </a:t>
            </a:r>
            <a:r>
              <a:rPr lang="en-US" sz="1100" dirty="0" err="1">
                <a:latin typeface="Consolas" panose="020B0609020204030204" pitchFamily="49" charset="0"/>
              </a:rPr>
              <a:t>fc00:ab00:21</a:t>
            </a:r>
            <a:r>
              <a:rPr lang="en-US" sz="1100" dirty="0">
                <a:latin typeface="Consolas" panose="020B0609020204030204" pitchFamily="49" charset="0"/>
              </a:rPr>
              <a:t>::/48, </a:t>
            </a:r>
            <a:r>
              <a:rPr lang="en-US" sz="1100" dirty="0" err="1">
                <a:latin typeface="Consolas" panose="020B0609020204030204" pitchFamily="49" charset="0"/>
              </a:rPr>
              <a:t>fc00:ab00:31</a:t>
            </a:r>
            <a:r>
              <a:rPr lang="en-US" sz="1100" dirty="0">
                <a:latin typeface="Consolas" panose="020B0609020204030204" pitchFamily="49" charset="0"/>
              </a:rPr>
              <a:t>::/48, </a:t>
            </a:r>
            <a:r>
              <a:rPr lang="en-US" sz="1100" dirty="0" err="1">
                <a:latin typeface="Consolas" panose="020B0609020204030204" pitchFamily="49" charset="0"/>
              </a:rPr>
              <a:t>fc00:ab00:13</a:t>
            </a:r>
            <a:r>
              <a:rPr lang="en-US" sz="1100" dirty="0">
                <a:latin typeface="Consolas" panose="020B0609020204030204" pitchFamily="49" charset="0"/>
              </a:rPr>
              <a:t>::/48,</a:t>
            </a:r>
          </a:p>
          <a:p>
            <a:r>
              <a:rPr lang="en-US" sz="1100" dirty="0">
                <a:latin typeface="Consolas" panose="020B0609020204030204" pitchFamily="49" charset="0"/>
              </a:rPr>
              <a:t>                         </a:t>
            </a:r>
            <a:r>
              <a:rPr lang="en-US" sz="1100" dirty="0" err="1">
                <a:latin typeface="Consolas" panose="020B0609020204030204" pitchFamily="49" charset="0"/>
              </a:rPr>
              <a:t>fc00:ab00:1</a:t>
            </a:r>
            <a:r>
              <a:rPr lang="en-US" sz="1100" dirty="0">
                <a:latin typeface="Consolas" panose="020B0609020204030204" pitchFamily="49" charset="0"/>
              </a:rPr>
              <a:t>::/48, </a:t>
            </a:r>
            <a:r>
              <a:rPr lang="en-US" sz="1100" dirty="0" err="1">
                <a:latin typeface="Consolas" panose="020B0609020204030204" pitchFamily="49" charset="0"/>
              </a:rPr>
              <a:t>fc00:ab00:3</a:t>
            </a:r>
            <a:r>
              <a:rPr lang="en-US" sz="1100" dirty="0">
                <a:latin typeface="Consolas" panose="020B0609020204030204" pitchFamily="49" charset="0"/>
              </a:rPr>
              <a:t>::/48, </a:t>
            </a:r>
            <a:r>
              <a:rPr lang="en-US" sz="1100" dirty="0" err="1">
                <a:latin typeface="Consolas" panose="020B0609020204030204" pitchFamily="49" charset="0"/>
              </a:rPr>
              <a:t>fc00:ab00:12</a:t>
            </a:r>
            <a:r>
              <a:rPr lang="en-US" sz="1100" dirty="0">
                <a:latin typeface="Consolas" panose="020B0609020204030204" pitchFamily="49" charset="0"/>
              </a:rPr>
              <a:t>::/48,</a:t>
            </a:r>
          </a:p>
          <a:p>
            <a:r>
              <a:rPr lang="en-US" sz="1100" dirty="0">
                <a:latin typeface="Consolas" panose="020B0609020204030204" pitchFamily="49" charset="0"/>
              </a:rPr>
              <a:t>                         </a:t>
            </a:r>
            <a:r>
              <a:rPr lang="en-US" sz="1100" dirty="0" err="1">
                <a:latin typeface="Consolas" panose="020B0609020204030204" pitchFamily="49" charset="0"/>
              </a:rPr>
              <a:t>fc00:ab00:2</a:t>
            </a:r>
            <a:r>
              <a:rPr lang="en-US" sz="1100" dirty="0">
                <a:latin typeface="Consolas" panose="020B0609020204030204" pitchFamily="49" charset="0"/>
              </a:rPr>
              <a:t>::/48, </a:t>
            </a:r>
            <a:r>
              <a:rPr lang="en-US" sz="1100" dirty="0" err="1">
                <a:latin typeface="Consolas" panose="020B0609020204030204" pitchFamily="49" charset="0"/>
              </a:rPr>
              <a:t>fc00:ab00:22</a:t>
            </a:r>
            <a:r>
              <a:rPr lang="en-US" sz="1100" dirty="0">
                <a:latin typeface="Consolas" panose="020B0609020204030204" pitchFamily="49" charset="0"/>
              </a:rPr>
              <a:t>::/48</a:t>
            </a:r>
          </a:p>
          <a:p>
            <a:r>
              <a:rPr lang="en-US" sz="1100" dirty="0">
                <a:latin typeface="Consolas" panose="020B0609020204030204" pitchFamily="49" charset="0"/>
              </a:rPr>
              <a:t>              Total SID count: 8</a:t>
            </a:r>
          </a:p>
          <a:p>
            <a:r>
              <a:rPr lang="en-US" sz="1100" dirty="0">
                <a:latin typeface="Consolas" panose="020B0609020204030204" pitchFamily="49" charset="0"/>
              </a:rPr>
              <a:t>              Underlay Normalized Weight: 1</a:t>
            </a:r>
          </a:p>
          <a:p>
            <a:r>
              <a:rPr lang="en-US" sz="1100" dirty="0">
                <a:latin typeface="Consolas" panose="020B0609020204030204" pitchFamily="49" charset="0"/>
              </a:rPr>
              <a:t>            Path[1]:</a:t>
            </a:r>
          </a:p>
          <a:p>
            <a:r>
              <a:rPr lang="en-US" sz="1100" dirty="0">
                <a:latin typeface="Consolas" panose="020B0609020204030204" pitchFamily="49" charset="0"/>
              </a:rPr>
              <a:t>              Interface version: 2</a:t>
            </a:r>
          </a:p>
          <a:p>
            <a:r>
              <a:rPr lang="en-US" sz="1100" dirty="0">
                <a:latin typeface="Consolas" panose="020B0609020204030204" pitchFamily="49" charset="0"/>
              </a:rPr>
              <a:t>              Flags:</a:t>
            </a:r>
          </a:p>
          <a:p>
            <a:r>
              <a:rPr lang="en-US" sz="1100" dirty="0">
                <a:latin typeface="Consolas" panose="020B0609020204030204" pitchFamily="49" charset="0"/>
              </a:rPr>
              <a:t>              Outgoing interface: Gi0/0/0/2</a:t>
            </a:r>
          </a:p>
          <a:p>
            <a:r>
              <a:rPr lang="en-US" sz="1100" dirty="0">
                <a:latin typeface="Consolas" panose="020B0609020204030204" pitchFamily="49" charset="0"/>
              </a:rPr>
              <a:t>              Weight: 4</a:t>
            </a:r>
          </a:p>
          <a:p>
            <a:r>
              <a:rPr lang="en-US" sz="1100" dirty="0">
                <a:latin typeface="Consolas" panose="020B0609020204030204" pitchFamily="49" charset="0"/>
              </a:rPr>
              <a:t>              SID stack: </a:t>
            </a:r>
            <a:r>
              <a:rPr lang="en-US" sz="1100" dirty="0" err="1">
                <a:latin typeface="Consolas" panose="020B0609020204030204" pitchFamily="49" charset="0"/>
              </a:rPr>
              <a:t>fc00:ab00:21</a:t>
            </a:r>
            <a:r>
              <a:rPr lang="en-US" sz="1100" dirty="0">
                <a:latin typeface="Consolas" panose="020B0609020204030204" pitchFamily="49" charset="0"/>
              </a:rPr>
              <a:t>::/48, </a:t>
            </a:r>
            <a:r>
              <a:rPr lang="en-US" sz="1100" dirty="0" err="1">
                <a:latin typeface="Consolas" panose="020B0609020204030204" pitchFamily="49" charset="0"/>
              </a:rPr>
              <a:t>fc00:ab00:31</a:t>
            </a:r>
            <a:r>
              <a:rPr lang="en-US" sz="1100" dirty="0">
                <a:latin typeface="Consolas" panose="020B0609020204030204" pitchFamily="49" charset="0"/>
              </a:rPr>
              <a:t>::/48, </a:t>
            </a:r>
            <a:r>
              <a:rPr lang="en-US" sz="1100" dirty="0" err="1">
                <a:latin typeface="Consolas" panose="020B0609020204030204" pitchFamily="49" charset="0"/>
              </a:rPr>
              <a:t>fc00:ab00:13</a:t>
            </a:r>
            <a:r>
              <a:rPr lang="en-US" sz="1100" dirty="0">
                <a:latin typeface="Consolas" panose="020B0609020204030204" pitchFamily="49" charset="0"/>
              </a:rPr>
              <a:t>::/48,</a:t>
            </a:r>
          </a:p>
          <a:p>
            <a:r>
              <a:rPr lang="en-US" sz="1100" dirty="0">
                <a:latin typeface="Consolas" panose="020B0609020204030204" pitchFamily="49" charset="0"/>
              </a:rPr>
              <a:t>                         </a:t>
            </a:r>
            <a:r>
              <a:rPr lang="en-US" sz="1100" dirty="0" err="1">
                <a:latin typeface="Consolas" panose="020B0609020204030204" pitchFamily="49" charset="0"/>
              </a:rPr>
              <a:t>fc00:ab00:1</a:t>
            </a:r>
            <a:r>
              <a:rPr lang="en-US" sz="1100" dirty="0">
                <a:latin typeface="Consolas" panose="020B0609020204030204" pitchFamily="49" charset="0"/>
              </a:rPr>
              <a:t>::/48, </a:t>
            </a:r>
            <a:r>
              <a:rPr lang="en-US" sz="1100" dirty="0" err="1">
                <a:latin typeface="Consolas" panose="020B0609020204030204" pitchFamily="49" charset="0"/>
              </a:rPr>
              <a:t>fc00:ab00:3</a:t>
            </a:r>
            <a:r>
              <a:rPr lang="en-US" sz="1100" dirty="0">
                <a:latin typeface="Consolas" panose="020B0609020204030204" pitchFamily="49" charset="0"/>
              </a:rPr>
              <a:t>::/48, </a:t>
            </a:r>
            <a:r>
              <a:rPr lang="en-US" sz="1100" dirty="0" err="1">
                <a:latin typeface="Consolas" panose="020B0609020204030204" pitchFamily="49" charset="0"/>
              </a:rPr>
              <a:t>fc00:ab00:12</a:t>
            </a:r>
            <a:r>
              <a:rPr lang="en-US" sz="1100" dirty="0">
                <a:latin typeface="Consolas" panose="020B0609020204030204" pitchFamily="49" charset="0"/>
              </a:rPr>
              <a:t>::/48,</a:t>
            </a:r>
          </a:p>
          <a:p>
            <a:r>
              <a:rPr lang="en-US" sz="1100" dirty="0">
                <a:latin typeface="Consolas" panose="020B0609020204030204" pitchFamily="49" charset="0"/>
              </a:rPr>
              <a:t>                         </a:t>
            </a:r>
            <a:r>
              <a:rPr lang="en-US" sz="1100" dirty="0" err="1">
                <a:latin typeface="Consolas" panose="020B0609020204030204" pitchFamily="49" charset="0"/>
              </a:rPr>
              <a:t>fc00:ab00:2</a:t>
            </a:r>
            <a:r>
              <a:rPr lang="en-US" sz="1100" dirty="0">
                <a:latin typeface="Consolas" panose="020B0609020204030204" pitchFamily="49" charset="0"/>
              </a:rPr>
              <a:t>::/48, </a:t>
            </a:r>
            <a:r>
              <a:rPr lang="en-US" sz="1100" dirty="0" err="1">
                <a:latin typeface="Consolas" panose="020B0609020204030204" pitchFamily="49" charset="0"/>
              </a:rPr>
              <a:t>fc00:ab00:22</a:t>
            </a:r>
            <a:r>
              <a:rPr lang="en-US" sz="1100" dirty="0">
                <a:latin typeface="Consolas" panose="020B0609020204030204" pitchFamily="49" charset="0"/>
              </a:rPr>
              <a:t>::/48</a:t>
            </a:r>
          </a:p>
          <a:p>
            <a:r>
              <a:rPr lang="en-US" sz="1100" dirty="0">
                <a:latin typeface="Consolas" panose="020B0609020204030204" pitchFamily="49" charset="0"/>
              </a:rPr>
              <a:t>              Total SID count: 8</a:t>
            </a:r>
          </a:p>
          <a:p>
            <a:r>
              <a:rPr lang="en-US" sz="1100" dirty="0">
                <a:latin typeface="Consolas" panose="020B0609020204030204" pitchFamily="49" charset="0"/>
              </a:rPr>
              <a:t>              Underlay Normalized Weight: 1</a:t>
            </a:r>
          </a:p>
          <a:p>
            <a:r>
              <a:rPr lang="en-US" sz="1100" dirty="0">
                <a:latin typeface="Consolas" panose="020B0609020204030204" pitchFamily="49" charset="0"/>
              </a:rPr>
              <a:t>  -- cut --</a:t>
            </a:r>
          </a:p>
        </p:txBody>
      </p:sp>
      <p:sp>
        <p:nvSpPr>
          <p:cNvPr id="5" name="Callout: Line 4">
            <a:extLst>
              <a:ext uri="{FF2B5EF4-FFF2-40B4-BE49-F238E27FC236}">
                <a16:creationId xmlns:a16="http://schemas.microsoft.com/office/drawing/2014/main" id="{8631EB30-4BAD-E966-C95A-82E77E022A64}"/>
              </a:ext>
            </a:extLst>
          </p:cNvPr>
          <p:cNvSpPr/>
          <p:nvPr/>
        </p:nvSpPr>
        <p:spPr>
          <a:xfrm>
            <a:off x="10116127" y="4892861"/>
            <a:ext cx="1075129" cy="396240"/>
          </a:xfrm>
          <a:prstGeom prst="borderCallout1">
            <a:avLst>
              <a:gd name="adj1" fmla="val 18750"/>
              <a:gd name="adj2" fmla="val -8333"/>
              <a:gd name="adj3" fmla="val 137875"/>
              <a:gd name="adj4" fmla="val -116869"/>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Primary</a:t>
            </a:r>
          </a:p>
        </p:txBody>
      </p:sp>
      <p:sp>
        <p:nvSpPr>
          <p:cNvPr id="8" name="Callout: Line 7">
            <a:extLst>
              <a:ext uri="{FF2B5EF4-FFF2-40B4-BE49-F238E27FC236}">
                <a16:creationId xmlns:a16="http://schemas.microsoft.com/office/drawing/2014/main" id="{B12DA5B4-02A7-EBB3-18FC-84576CFCBD89}"/>
              </a:ext>
            </a:extLst>
          </p:cNvPr>
          <p:cNvSpPr/>
          <p:nvPr/>
        </p:nvSpPr>
        <p:spPr>
          <a:xfrm>
            <a:off x="10069735" y="3197126"/>
            <a:ext cx="1434007" cy="396240"/>
          </a:xfrm>
          <a:prstGeom prst="borderCallout1">
            <a:avLst>
              <a:gd name="adj1" fmla="val 18750"/>
              <a:gd name="adj2" fmla="val -8333"/>
              <a:gd name="adj3" fmla="val 150281"/>
              <a:gd name="adj4" fmla="val -79643"/>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LFA Backup</a:t>
            </a:r>
          </a:p>
        </p:txBody>
      </p:sp>
    </p:spTree>
    <p:extLst>
      <p:ext uri="{BB962C8B-B14F-4D97-AF65-F5344CB8AC3E}">
        <p14:creationId xmlns:p14="http://schemas.microsoft.com/office/powerpoint/2010/main" val="3408237799"/>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721DBD-20FD-469F-DC45-C9C2BDC8B199}"/>
              </a:ext>
            </a:extLst>
          </p:cNvPr>
          <p:cNvSpPr>
            <a:spLocks noGrp="1"/>
          </p:cNvSpPr>
          <p:nvPr>
            <p:ph type="body" sz="quarter" idx="10"/>
          </p:nvPr>
        </p:nvSpPr>
        <p:spPr/>
        <p:txBody>
          <a:bodyPr/>
          <a:lstStyle/>
          <a:p>
            <a:r>
              <a:rPr lang="pt-BR" dirty="0"/>
              <a:t>LAB6a - TI-LFA Zero segment</a:t>
            </a:r>
            <a:endParaRPr lang="en-US" dirty="0"/>
          </a:p>
          <a:p>
            <a:r>
              <a:rPr lang="it-IT" dirty="0"/>
              <a:t>LAB6b - TI-LFA Single segment</a:t>
            </a:r>
          </a:p>
          <a:p>
            <a:r>
              <a:rPr lang="fr-FR" dirty="0" err="1"/>
              <a:t>LAB6c</a:t>
            </a:r>
            <a:r>
              <a:rPr lang="fr-FR" dirty="0"/>
              <a:t> - TI-LFA Double segment</a:t>
            </a:r>
          </a:p>
          <a:p>
            <a:r>
              <a:rPr lang="en-US" dirty="0" err="1"/>
              <a:t>LAB6d</a:t>
            </a:r>
            <a:r>
              <a:rPr lang="en-US" dirty="0"/>
              <a:t> - TI-LFA IOS-XE</a:t>
            </a:r>
          </a:p>
          <a:p>
            <a:r>
              <a:rPr lang="en-US" dirty="0" err="1"/>
              <a:t>LAB6e</a:t>
            </a:r>
            <a:r>
              <a:rPr lang="en-US" dirty="0"/>
              <a:t> - Deploy TI-LFA in whole LAB + adjust metric for IPv6 be same as for IPv4 was</a:t>
            </a:r>
          </a:p>
        </p:txBody>
      </p:sp>
      <p:sp>
        <p:nvSpPr>
          <p:cNvPr id="3" name="Text Placeholder 2">
            <a:extLst>
              <a:ext uri="{FF2B5EF4-FFF2-40B4-BE49-F238E27FC236}">
                <a16:creationId xmlns:a16="http://schemas.microsoft.com/office/drawing/2014/main" id="{78E53C79-C587-9DEB-BB18-FF32CF2366D9}"/>
              </a:ext>
            </a:extLst>
          </p:cNvPr>
          <p:cNvSpPr>
            <a:spLocks noGrp="1"/>
          </p:cNvSpPr>
          <p:nvPr>
            <p:ph type="body" sz="quarter" idx="11"/>
          </p:nvPr>
        </p:nvSpPr>
        <p:spPr/>
        <p:txBody>
          <a:bodyPr/>
          <a:lstStyle/>
          <a:p>
            <a:r>
              <a:rPr lang="en-US" sz="2800" dirty="0"/>
              <a:t>LAB 6 – SRv6 TI-LFA</a:t>
            </a:r>
          </a:p>
        </p:txBody>
      </p:sp>
    </p:spTree>
    <p:extLst>
      <p:ext uri="{BB962C8B-B14F-4D97-AF65-F5344CB8AC3E}">
        <p14:creationId xmlns:p14="http://schemas.microsoft.com/office/powerpoint/2010/main" val="3457483901"/>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7DF76D3A-5E3E-4BC8-8F39-771134FF4322}"/>
              </a:ext>
            </a:extLst>
          </p:cNvPr>
          <p:cNvSpPr>
            <a:spLocks noGrp="1"/>
          </p:cNvSpPr>
          <p:nvPr>
            <p:ph type="body" idx="1"/>
          </p:nvPr>
        </p:nvSpPr>
        <p:spPr/>
        <p:txBody>
          <a:bodyPr/>
          <a:lstStyle/>
          <a:p>
            <a:r>
              <a:rPr lang="en-US" dirty="0"/>
              <a:t>SRv6 TE and Flex-Algo</a:t>
            </a:r>
            <a:endParaRPr lang="en-US" noProof="0" dirty="0"/>
          </a:p>
        </p:txBody>
      </p:sp>
      <p:sp>
        <p:nvSpPr>
          <p:cNvPr id="5" name="Zástupný text 4">
            <a:extLst>
              <a:ext uri="{FF2B5EF4-FFF2-40B4-BE49-F238E27FC236}">
                <a16:creationId xmlns:a16="http://schemas.microsoft.com/office/drawing/2014/main" id="{CA46CB7B-0002-4873-B253-4D2438CC3611}"/>
              </a:ext>
            </a:extLst>
          </p:cNvPr>
          <p:cNvSpPr>
            <a:spLocks noGrp="1"/>
          </p:cNvSpPr>
          <p:nvPr>
            <p:ph type="body" sz="quarter" idx="13"/>
          </p:nvPr>
        </p:nvSpPr>
        <p:spPr/>
        <p:txBody>
          <a:bodyPr/>
          <a:lstStyle/>
          <a:p>
            <a:r>
              <a:rPr lang="en-US" dirty="0"/>
              <a:t>SRv6</a:t>
            </a:r>
          </a:p>
        </p:txBody>
      </p:sp>
      <p:sp>
        <p:nvSpPr>
          <p:cNvPr id="6" name="Zástupný text 5">
            <a:extLst>
              <a:ext uri="{FF2B5EF4-FFF2-40B4-BE49-F238E27FC236}">
                <a16:creationId xmlns:a16="http://schemas.microsoft.com/office/drawing/2014/main" id="{955FA430-FA92-4EB5-849C-E3D05AB9B217}"/>
              </a:ext>
            </a:extLst>
          </p:cNvPr>
          <p:cNvSpPr>
            <a:spLocks noGrp="1"/>
          </p:cNvSpPr>
          <p:nvPr>
            <p:ph type="body" sz="quarter" idx="14"/>
          </p:nvPr>
        </p:nvSpPr>
        <p:spPr/>
        <p:txBody>
          <a:bodyPr/>
          <a:lstStyle/>
          <a:p>
            <a:endParaRPr lang="en-US" dirty="0"/>
          </a:p>
        </p:txBody>
      </p:sp>
      <p:sp>
        <p:nvSpPr>
          <p:cNvPr id="2" name="Text Placeholder 1">
            <a:extLst>
              <a:ext uri="{FF2B5EF4-FFF2-40B4-BE49-F238E27FC236}">
                <a16:creationId xmlns:a16="http://schemas.microsoft.com/office/drawing/2014/main" id="{B367786B-A4DD-DB9E-9087-78A451525AAC}"/>
              </a:ext>
            </a:extLst>
          </p:cNvPr>
          <p:cNvSpPr>
            <a:spLocks noGrp="1"/>
          </p:cNvSpPr>
          <p:nvPr>
            <p:ph type="body" sz="quarter" idx="15"/>
          </p:nvPr>
        </p:nvSpPr>
        <p:spPr/>
        <p:txBody>
          <a:bodyPr/>
          <a:lstStyle/>
          <a:p>
            <a:r>
              <a:rPr lang="en-US" dirty="0">
                <a:cs typeface="Calibri" pitchFamily="34" charset="0"/>
              </a:rPr>
              <a:t>SRv6 and service migration</a:t>
            </a:r>
            <a:endParaRPr lang="cs-CZ" dirty="0"/>
          </a:p>
        </p:txBody>
      </p:sp>
    </p:spTree>
    <p:extLst>
      <p:ext uri="{BB962C8B-B14F-4D97-AF65-F5344CB8AC3E}">
        <p14:creationId xmlns:p14="http://schemas.microsoft.com/office/powerpoint/2010/main" val="1632551978"/>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5D4E7DAF-A31B-C48F-C67C-078451AC437D}"/>
              </a:ext>
            </a:extLst>
          </p:cNvPr>
          <p:cNvSpPr>
            <a:spLocks noGrp="1"/>
          </p:cNvSpPr>
          <p:nvPr>
            <p:ph type="body" sz="quarter" idx="10"/>
          </p:nvPr>
        </p:nvSpPr>
        <p:spPr/>
        <p:txBody>
          <a:bodyPr/>
          <a:lstStyle/>
          <a:p>
            <a:r>
              <a:rPr lang="en-US" dirty="0"/>
              <a:t>SR TE over SRv6 can be accomplished in the following ways:</a:t>
            </a:r>
          </a:p>
          <a:p>
            <a:pPr lvl="1"/>
            <a:r>
              <a:rPr lang="en-US" dirty="0"/>
              <a:t>End-to-End Flexible Algorithm: </a:t>
            </a:r>
          </a:p>
          <a:p>
            <a:pPr lvl="2"/>
            <a:r>
              <a:rPr lang="en-US" dirty="0"/>
              <a:t>This is used for traffic engineering intents achieved with Flexible Algorithm, including low latency, multi-plane </a:t>
            </a:r>
            <a:r>
              <a:rPr lang="en-US" dirty="0" err="1"/>
              <a:t>disjointness</a:t>
            </a:r>
            <a:r>
              <a:rPr lang="en-US" dirty="0"/>
              <a:t>, affinity inclusion/exclusion, and </a:t>
            </a:r>
            <a:r>
              <a:rPr lang="en-US" dirty="0" err="1"/>
              <a:t>SRLG</a:t>
            </a:r>
            <a:r>
              <a:rPr lang="en-US" dirty="0"/>
              <a:t> exclusion.</a:t>
            </a:r>
          </a:p>
          <a:p>
            <a:pPr lvl="1"/>
            <a:r>
              <a:rPr lang="en-US" dirty="0"/>
              <a:t>SRv6-TE Policy: </a:t>
            </a:r>
          </a:p>
          <a:p>
            <a:pPr lvl="2"/>
            <a:r>
              <a:rPr lang="en-US" dirty="0"/>
              <a:t>This is used for traffic engineering intents </a:t>
            </a:r>
            <a:r>
              <a:rPr lang="en-US" i="1" dirty="0"/>
              <a:t>beyond Flex Algo capabilities</a:t>
            </a:r>
            <a:r>
              <a:rPr lang="en-US" dirty="0"/>
              <a:t>, such as path </a:t>
            </a:r>
            <a:r>
              <a:rPr lang="en-US" dirty="0" err="1"/>
              <a:t>disjointness</a:t>
            </a:r>
            <a:r>
              <a:rPr lang="en-US" dirty="0"/>
              <a:t> that rely on path computation by a PCE. In addition, this is used for user-configured explicit paths.</a:t>
            </a:r>
          </a:p>
          <a:p>
            <a:endParaRPr lang="en-US" dirty="0"/>
          </a:p>
        </p:txBody>
      </p:sp>
      <p:sp>
        <p:nvSpPr>
          <p:cNvPr id="7" name="Text Placeholder 6">
            <a:extLst>
              <a:ext uri="{FF2B5EF4-FFF2-40B4-BE49-F238E27FC236}">
                <a16:creationId xmlns:a16="http://schemas.microsoft.com/office/drawing/2014/main" id="{50F49A98-7294-A287-1638-35D01A8F4D93}"/>
              </a:ext>
            </a:extLst>
          </p:cNvPr>
          <p:cNvSpPr>
            <a:spLocks noGrp="1"/>
          </p:cNvSpPr>
          <p:nvPr>
            <p:ph type="body" sz="quarter" idx="11"/>
          </p:nvPr>
        </p:nvSpPr>
        <p:spPr/>
        <p:txBody>
          <a:bodyPr/>
          <a:lstStyle/>
          <a:p>
            <a:r>
              <a:rPr lang="en-US" dirty="0"/>
              <a:t>Overview</a:t>
            </a:r>
          </a:p>
        </p:txBody>
      </p:sp>
    </p:spTree>
    <p:extLst>
      <p:ext uri="{BB962C8B-B14F-4D97-AF65-F5344CB8AC3E}">
        <p14:creationId xmlns:p14="http://schemas.microsoft.com/office/powerpoint/2010/main" val="1444431682"/>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7DF76D3A-5E3E-4BC8-8F39-771134FF4322}"/>
              </a:ext>
            </a:extLst>
          </p:cNvPr>
          <p:cNvSpPr>
            <a:spLocks noGrp="1"/>
          </p:cNvSpPr>
          <p:nvPr>
            <p:ph type="body" idx="1"/>
          </p:nvPr>
        </p:nvSpPr>
        <p:spPr/>
        <p:txBody>
          <a:bodyPr/>
          <a:lstStyle/>
          <a:p>
            <a:r>
              <a:rPr lang="en-US" dirty="0"/>
              <a:t>SRv6 TE and Flex-Algo</a:t>
            </a:r>
            <a:endParaRPr lang="en-US" noProof="0" dirty="0"/>
          </a:p>
        </p:txBody>
      </p:sp>
      <p:sp>
        <p:nvSpPr>
          <p:cNvPr id="2" name="Text Placeholder 1">
            <a:extLst>
              <a:ext uri="{FF2B5EF4-FFF2-40B4-BE49-F238E27FC236}">
                <a16:creationId xmlns:a16="http://schemas.microsoft.com/office/drawing/2014/main" id="{B367786B-A4DD-DB9E-9087-78A451525AAC}"/>
              </a:ext>
            </a:extLst>
          </p:cNvPr>
          <p:cNvSpPr>
            <a:spLocks noGrp="1"/>
          </p:cNvSpPr>
          <p:nvPr>
            <p:ph type="body" sz="quarter" idx="15"/>
          </p:nvPr>
        </p:nvSpPr>
        <p:spPr/>
        <p:txBody>
          <a:bodyPr/>
          <a:lstStyle/>
          <a:p>
            <a:r>
              <a:rPr lang="en-US" dirty="0">
                <a:cs typeface="Calibri" pitchFamily="34" charset="0"/>
              </a:rPr>
              <a:t>SRv6 and service migration</a:t>
            </a:r>
            <a:endParaRPr lang="cs-CZ" dirty="0"/>
          </a:p>
        </p:txBody>
      </p:sp>
      <p:sp>
        <p:nvSpPr>
          <p:cNvPr id="5" name="Zástupný text 4">
            <a:extLst>
              <a:ext uri="{FF2B5EF4-FFF2-40B4-BE49-F238E27FC236}">
                <a16:creationId xmlns:a16="http://schemas.microsoft.com/office/drawing/2014/main" id="{CA46CB7B-0002-4873-B253-4D2438CC3611}"/>
              </a:ext>
            </a:extLst>
          </p:cNvPr>
          <p:cNvSpPr>
            <a:spLocks noGrp="1"/>
          </p:cNvSpPr>
          <p:nvPr>
            <p:ph type="body" sz="quarter" idx="13"/>
          </p:nvPr>
        </p:nvSpPr>
        <p:spPr/>
        <p:txBody>
          <a:bodyPr/>
          <a:lstStyle/>
          <a:p>
            <a:r>
              <a:rPr lang="en-US" dirty="0"/>
              <a:t>SRv6</a:t>
            </a:r>
          </a:p>
        </p:txBody>
      </p:sp>
      <p:sp>
        <p:nvSpPr>
          <p:cNvPr id="3" name="Text Placeholder 2">
            <a:extLst>
              <a:ext uri="{FF2B5EF4-FFF2-40B4-BE49-F238E27FC236}">
                <a16:creationId xmlns:a16="http://schemas.microsoft.com/office/drawing/2014/main" id="{D2A99C0A-9767-D306-4C2B-66493DAE0728}"/>
              </a:ext>
            </a:extLst>
          </p:cNvPr>
          <p:cNvSpPr>
            <a:spLocks noGrp="1"/>
          </p:cNvSpPr>
          <p:nvPr>
            <p:ph type="body" sz="quarter" idx="14"/>
          </p:nvPr>
        </p:nvSpPr>
        <p:spPr/>
        <p:txBody>
          <a:bodyPr/>
          <a:lstStyle/>
          <a:p>
            <a:r>
              <a:rPr lang="en-US" dirty="0"/>
              <a:t>Flex-Algo</a:t>
            </a:r>
          </a:p>
        </p:txBody>
      </p:sp>
    </p:spTree>
    <p:extLst>
      <p:ext uri="{BB962C8B-B14F-4D97-AF65-F5344CB8AC3E}">
        <p14:creationId xmlns:p14="http://schemas.microsoft.com/office/powerpoint/2010/main" val="1371998624"/>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721DBD-20FD-469F-DC45-C9C2BDC8B199}"/>
              </a:ext>
            </a:extLst>
          </p:cNvPr>
          <p:cNvSpPr>
            <a:spLocks noGrp="1"/>
          </p:cNvSpPr>
          <p:nvPr>
            <p:ph type="body" sz="quarter" idx="10"/>
          </p:nvPr>
        </p:nvSpPr>
        <p:spPr/>
        <p:txBody>
          <a:bodyPr/>
          <a:lstStyle/>
          <a:p>
            <a:r>
              <a:rPr lang="en-US" dirty="0"/>
              <a:t>We call “Flex-Algo”</a:t>
            </a:r>
          </a:p>
          <a:p>
            <a:pPr lvl="1"/>
            <a:r>
              <a:rPr lang="en-US" dirty="0"/>
              <a:t>The algorithm is defined by the operator, on a per-deployment basis</a:t>
            </a:r>
          </a:p>
          <a:p>
            <a:r>
              <a:rPr lang="en-US" dirty="0"/>
              <a:t>Flex-Algo </a:t>
            </a:r>
            <a:r>
              <a:rPr lang="en-US" b="1" dirty="0"/>
              <a:t>K</a:t>
            </a:r>
            <a:r>
              <a:rPr lang="en-US" dirty="0"/>
              <a:t> is defined as</a:t>
            </a:r>
          </a:p>
          <a:p>
            <a:pPr lvl="1"/>
            <a:r>
              <a:rPr lang="en-US" dirty="0"/>
              <a:t>The minimization of a specified metric: IGP, delay, …</a:t>
            </a:r>
          </a:p>
          <a:p>
            <a:pPr lvl="1"/>
            <a:r>
              <a:rPr lang="en-US" dirty="0"/>
              <a:t>The exclusion of certain link properties: link-affinity, </a:t>
            </a:r>
            <a:r>
              <a:rPr lang="en-US" dirty="0" err="1"/>
              <a:t>SRLG</a:t>
            </a:r>
            <a:r>
              <a:rPr lang="en-US" dirty="0"/>
              <a:t>, …</a:t>
            </a:r>
          </a:p>
          <a:p>
            <a:r>
              <a:rPr lang="en-US" dirty="0"/>
              <a:t>Example</a:t>
            </a:r>
          </a:p>
          <a:p>
            <a:pPr lvl="1"/>
            <a:r>
              <a:rPr lang="en-US" dirty="0" err="1"/>
              <a:t>Operator1</a:t>
            </a:r>
            <a:r>
              <a:rPr lang="en-US" dirty="0"/>
              <a:t> defines Flex-Algo 128 as “minimize IGP metric and avoid link-affinity “green”</a:t>
            </a:r>
          </a:p>
          <a:p>
            <a:pPr lvl="1"/>
            <a:r>
              <a:rPr lang="en-US" dirty="0" err="1"/>
              <a:t>Operator2</a:t>
            </a:r>
            <a:r>
              <a:rPr lang="en-US" dirty="0"/>
              <a:t> defines Flex-Algo 128 as “minimize delay metric and avoid link-affinity “blue”</a:t>
            </a:r>
            <a:endParaRPr lang="it-IT" dirty="0"/>
          </a:p>
        </p:txBody>
      </p:sp>
      <p:sp>
        <p:nvSpPr>
          <p:cNvPr id="3" name="Text Placeholder 2">
            <a:extLst>
              <a:ext uri="{FF2B5EF4-FFF2-40B4-BE49-F238E27FC236}">
                <a16:creationId xmlns:a16="http://schemas.microsoft.com/office/drawing/2014/main" id="{78E53C79-C587-9DEB-BB18-FF32CF2366D9}"/>
              </a:ext>
            </a:extLst>
          </p:cNvPr>
          <p:cNvSpPr>
            <a:spLocks noGrp="1"/>
          </p:cNvSpPr>
          <p:nvPr>
            <p:ph type="body" sz="quarter" idx="11"/>
          </p:nvPr>
        </p:nvSpPr>
        <p:spPr/>
        <p:txBody>
          <a:bodyPr/>
          <a:lstStyle/>
          <a:p>
            <a:r>
              <a:rPr lang="en-US" sz="2800" dirty="0"/>
              <a:t>Flexible Algorithm</a:t>
            </a:r>
          </a:p>
        </p:txBody>
      </p:sp>
    </p:spTree>
    <p:extLst>
      <p:ext uri="{BB962C8B-B14F-4D97-AF65-F5344CB8AC3E}">
        <p14:creationId xmlns:p14="http://schemas.microsoft.com/office/powerpoint/2010/main" val="2333932095"/>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DAEB570-4AD6-BC58-25B1-CB9ABAD2E1FB}"/>
              </a:ext>
            </a:extLst>
          </p:cNvPr>
          <p:cNvSpPr>
            <a:spLocks noGrp="1"/>
          </p:cNvSpPr>
          <p:nvPr>
            <p:ph type="body" sz="quarter" idx="11"/>
          </p:nvPr>
        </p:nvSpPr>
        <p:spPr/>
        <p:txBody>
          <a:bodyPr/>
          <a:lstStyle/>
          <a:p>
            <a:r>
              <a:rPr lang="en-US" dirty="0"/>
              <a:t>SRv6 Flex Algo IGP</a:t>
            </a:r>
          </a:p>
        </p:txBody>
      </p:sp>
      <p:pic>
        <p:nvPicPr>
          <p:cNvPr id="5" name="Picture 4" descr="A diagram of a cloud with text&#10;&#10;AI-generated content may be incorrect.">
            <a:extLst>
              <a:ext uri="{FF2B5EF4-FFF2-40B4-BE49-F238E27FC236}">
                <a16:creationId xmlns:a16="http://schemas.microsoft.com/office/drawing/2014/main" id="{FC12B26F-C5E0-AE37-98A6-4AFA786CA4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019" y="1965833"/>
            <a:ext cx="10165961" cy="2926334"/>
          </a:xfrm>
          <a:prstGeom prst="rect">
            <a:avLst/>
          </a:prstGeom>
        </p:spPr>
      </p:pic>
    </p:spTree>
    <p:extLst>
      <p:ext uri="{BB962C8B-B14F-4D97-AF65-F5344CB8AC3E}">
        <p14:creationId xmlns:p14="http://schemas.microsoft.com/office/powerpoint/2010/main" val="988927875"/>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9945D28-D7D3-DB80-7017-ED48B1AE13E9}"/>
              </a:ext>
            </a:extLst>
          </p:cNvPr>
          <p:cNvSpPr>
            <a:spLocks noGrp="1"/>
          </p:cNvSpPr>
          <p:nvPr>
            <p:ph type="body" sz="quarter" idx="11"/>
          </p:nvPr>
        </p:nvSpPr>
        <p:spPr/>
        <p:txBody>
          <a:bodyPr/>
          <a:lstStyle/>
          <a:p>
            <a:r>
              <a:rPr lang="en-US" dirty="0"/>
              <a:t>BGP – SRv6</a:t>
            </a:r>
          </a:p>
        </p:txBody>
      </p:sp>
      <p:pic>
        <p:nvPicPr>
          <p:cNvPr id="5" name="Picture 4" descr="A diagram of a brain&#10;&#10;AI-generated content may be incorrect.">
            <a:extLst>
              <a:ext uri="{FF2B5EF4-FFF2-40B4-BE49-F238E27FC236}">
                <a16:creationId xmlns:a16="http://schemas.microsoft.com/office/drawing/2014/main" id="{B3017C67-9DF3-358F-8D72-E78CF2998E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6879" y="1475817"/>
            <a:ext cx="10181202" cy="4442845"/>
          </a:xfrm>
          <a:prstGeom prst="rect">
            <a:avLst/>
          </a:prstGeom>
          <a:solidFill>
            <a:schemeClr val="bg1"/>
          </a:solidFill>
        </p:spPr>
      </p:pic>
      <p:sp>
        <p:nvSpPr>
          <p:cNvPr id="2" name="Text Placeholder 1">
            <a:extLst>
              <a:ext uri="{FF2B5EF4-FFF2-40B4-BE49-F238E27FC236}">
                <a16:creationId xmlns:a16="http://schemas.microsoft.com/office/drawing/2014/main" id="{0223D944-AC41-332B-B512-03ED6DAB260A}"/>
              </a:ext>
            </a:extLst>
          </p:cNvPr>
          <p:cNvSpPr>
            <a:spLocks noGrp="1"/>
          </p:cNvSpPr>
          <p:nvPr>
            <p:ph type="body" sz="quarter" idx="10"/>
          </p:nvPr>
        </p:nvSpPr>
        <p:spPr>
          <a:xfrm>
            <a:off x="873918" y="939339"/>
            <a:ext cx="5418727" cy="1135268"/>
          </a:xfrm>
          <a:solidFill>
            <a:schemeClr val="bg1"/>
          </a:solidFill>
        </p:spPr>
        <p:txBody>
          <a:bodyPr/>
          <a:lstStyle/>
          <a:p>
            <a:r>
              <a:rPr lang="en-US" dirty="0"/>
              <a:t>No color advertised</a:t>
            </a:r>
          </a:p>
          <a:p>
            <a:r>
              <a:rPr lang="en-US" dirty="0"/>
              <a:t>No color-algo mapping configured</a:t>
            </a:r>
          </a:p>
        </p:txBody>
      </p:sp>
    </p:spTree>
    <p:extLst>
      <p:ext uri="{BB962C8B-B14F-4D97-AF65-F5344CB8AC3E}">
        <p14:creationId xmlns:p14="http://schemas.microsoft.com/office/powerpoint/2010/main" val="3038733166"/>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A569043-C924-450D-8BCB-3337170AC396}"/>
              </a:ext>
            </a:extLst>
          </p:cNvPr>
          <p:cNvSpPr>
            <a:spLocks noGrp="1"/>
          </p:cNvSpPr>
          <p:nvPr>
            <p:ph type="body" sz="quarter" idx="11"/>
          </p:nvPr>
        </p:nvSpPr>
        <p:spPr/>
        <p:txBody>
          <a:bodyPr/>
          <a:lstStyle/>
          <a:p>
            <a:r>
              <a:rPr lang="en-US" dirty="0"/>
              <a:t>SRv6 DATAPLANE</a:t>
            </a:r>
          </a:p>
        </p:txBody>
      </p:sp>
      <p:pic>
        <p:nvPicPr>
          <p:cNvPr id="5" name="Picture 4" descr="A diagram of a cloud with text&#10;&#10;AI-generated content may be incorrect.">
            <a:extLst>
              <a:ext uri="{FF2B5EF4-FFF2-40B4-BE49-F238E27FC236}">
                <a16:creationId xmlns:a16="http://schemas.microsoft.com/office/drawing/2014/main" id="{25536DD2-466D-B8B1-90FE-24861AD9E7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209" y="1264732"/>
            <a:ext cx="10173582" cy="4328535"/>
          </a:xfrm>
          <a:prstGeom prst="rect">
            <a:avLst/>
          </a:prstGeom>
        </p:spPr>
      </p:pic>
    </p:spTree>
    <p:extLst>
      <p:ext uri="{BB962C8B-B14F-4D97-AF65-F5344CB8AC3E}">
        <p14:creationId xmlns:p14="http://schemas.microsoft.com/office/powerpoint/2010/main" val="3319807043"/>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20F2B60-53D5-CDA5-F697-D15C3763A251}"/>
              </a:ext>
            </a:extLst>
          </p:cNvPr>
          <p:cNvSpPr>
            <a:spLocks noGrp="1"/>
          </p:cNvSpPr>
          <p:nvPr>
            <p:ph type="body" sz="quarter" idx="10"/>
          </p:nvPr>
        </p:nvSpPr>
        <p:spPr/>
        <p:txBody>
          <a:bodyPr/>
          <a:lstStyle/>
          <a:p>
            <a:r>
              <a:rPr lang="en-US" sz="1800" dirty="0"/>
              <a:t>Locator is advertised + Flex-Algo definition</a:t>
            </a:r>
          </a:p>
          <a:p>
            <a:r>
              <a:rPr lang="en-US" sz="1800" dirty="0" err="1"/>
              <a:t>uN</a:t>
            </a:r>
            <a:r>
              <a:rPr lang="en-US" sz="1800" dirty="0"/>
              <a:t> function is advertised - for Flex-Algo</a:t>
            </a:r>
          </a:p>
          <a:p>
            <a:r>
              <a:rPr lang="en-US" sz="1800" dirty="0" err="1"/>
              <a:t>uA</a:t>
            </a:r>
            <a:r>
              <a:rPr lang="en-US" sz="1800" dirty="0"/>
              <a:t> for each ISIS interface is allocated and advertised for Flex-Algo</a:t>
            </a:r>
          </a:p>
        </p:txBody>
      </p:sp>
      <p:sp>
        <p:nvSpPr>
          <p:cNvPr id="3" name="Text Placeholder 2">
            <a:extLst>
              <a:ext uri="{FF2B5EF4-FFF2-40B4-BE49-F238E27FC236}">
                <a16:creationId xmlns:a16="http://schemas.microsoft.com/office/drawing/2014/main" id="{C169A3D8-3A5B-5238-ECA2-99F67EE1A792}"/>
              </a:ext>
            </a:extLst>
          </p:cNvPr>
          <p:cNvSpPr>
            <a:spLocks noGrp="1"/>
          </p:cNvSpPr>
          <p:nvPr>
            <p:ph type="body" sz="quarter" idx="11"/>
          </p:nvPr>
        </p:nvSpPr>
        <p:spPr/>
        <p:txBody>
          <a:bodyPr/>
          <a:lstStyle/>
          <a:p>
            <a:r>
              <a:rPr lang="en-US" dirty="0"/>
              <a:t>SRv6 Flex Algo - IGP config</a:t>
            </a:r>
          </a:p>
        </p:txBody>
      </p:sp>
      <p:sp>
        <p:nvSpPr>
          <p:cNvPr id="4" name="Rectangle 3">
            <a:extLst>
              <a:ext uri="{FF2B5EF4-FFF2-40B4-BE49-F238E27FC236}">
                <a16:creationId xmlns:a16="http://schemas.microsoft.com/office/drawing/2014/main" id="{18CF0161-A390-D81E-1891-114E033EB0C3}"/>
              </a:ext>
            </a:extLst>
          </p:cNvPr>
          <p:cNvSpPr/>
          <p:nvPr/>
        </p:nvSpPr>
        <p:spPr>
          <a:xfrm>
            <a:off x="1846277" y="2185358"/>
            <a:ext cx="6486305" cy="4154984"/>
          </a:xfrm>
          <a:prstGeom prst="rect">
            <a:avLst/>
          </a:prstGeom>
          <a:solidFill>
            <a:schemeClr val="bg1">
              <a:lumMod val="95000"/>
            </a:schemeClr>
          </a:solidFill>
          <a:ln>
            <a:solidFill>
              <a:schemeClr val="tx1"/>
            </a:solidFill>
          </a:ln>
          <a:effectLst/>
        </p:spPr>
        <p:txBody>
          <a:bodyPr wrap="square">
            <a:spAutoFit/>
          </a:bodyPr>
          <a:lstStyle/>
          <a:p>
            <a:r>
              <a:rPr lang="en-US" sz="1200" dirty="0">
                <a:latin typeface="Consolas" panose="020B0609020204030204" pitchFamily="49" charset="0"/>
              </a:rPr>
              <a:t> srv6</a:t>
            </a:r>
          </a:p>
          <a:p>
            <a:r>
              <a:rPr lang="en-US" sz="1200" dirty="0">
                <a:latin typeface="Consolas" panose="020B0609020204030204" pitchFamily="49" charset="0"/>
              </a:rPr>
              <a:t>  locators</a:t>
            </a:r>
          </a:p>
          <a:p>
            <a:r>
              <a:rPr lang="en-US" sz="1200" dirty="0">
                <a:latin typeface="Consolas" panose="020B0609020204030204" pitchFamily="49" charset="0"/>
              </a:rPr>
              <a:t>   locator </a:t>
            </a:r>
            <a:r>
              <a:rPr lang="en-US" sz="1200" b="1" dirty="0">
                <a:solidFill>
                  <a:srgbClr val="00B050"/>
                </a:solidFill>
                <a:latin typeface="Consolas" panose="020B0609020204030204" pitchFamily="49" charset="0"/>
              </a:rPr>
              <a:t>LATENCY</a:t>
            </a:r>
          </a:p>
          <a:p>
            <a:r>
              <a:rPr lang="en-US" sz="1200" dirty="0">
                <a:latin typeface="Consolas" panose="020B0609020204030204" pitchFamily="49" charset="0"/>
              </a:rPr>
              <a:t>    micro-segment behavior </a:t>
            </a:r>
            <a:r>
              <a:rPr lang="en-US" sz="1200" dirty="0" err="1">
                <a:latin typeface="Consolas" panose="020B0609020204030204" pitchFamily="49" charset="0"/>
              </a:rPr>
              <a:t>unode</a:t>
            </a:r>
            <a:r>
              <a:rPr lang="en-US" sz="1200" dirty="0">
                <a:latin typeface="Consolas" panose="020B0609020204030204" pitchFamily="49" charset="0"/>
              </a:rPr>
              <a:t> </a:t>
            </a:r>
            <a:r>
              <a:rPr lang="en-US" sz="1200" dirty="0" err="1">
                <a:latin typeface="Consolas" panose="020B0609020204030204" pitchFamily="49" charset="0"/>
              </a:rPr>
              <a:t>psp-usd</a:t>
            </a:r>
            <a:endParaRPr lang="en-US" sz="1200" dirty="0">
              <a:latin typeface="Consolas" panose="020B0609020204030204" pitchFamily="49" charset="0"/>
            </a:endParaRPr>
          </a:p>
          <a:p>
            <a:r>
              <a:rPr lang="en-US" sz="1200" dirty="0">
                <a:latin typeface="Consolas" panose="020B0609020204030204" pitchFamily="49" charset="0"/>
              </a:rPr>
              <a:t>    prefix </a:t>
            </a:r>
            <a:r>
              <a:rPr lang="en-US" sz="1200" b="1" dirty="0" err="1">
                <a:solidFill>
                  <a:srgbClr val="7030A0"/>
                </a:solidFill>
                <a:latin typeface="Consolas" panose="020B0609020204030204" pitchFamily="49" charset="0"/>
              </a:rPr>
              <a:t>fc00:ab0</a:t>
            </a:r>
            <a:r>
              <a:rPr lang="en-US" sz="1200" b="1" dirty="0" err="1">
                <a:solidFill>
                  <a:srgbClr val="FF0000"/>
                </a:solidFill>
                <a:highlight>
                  <a:srgbClr val="FFFF00"/>
                </a:highlight>
                <a:latin typeface="Consolas" panose="020B0609020204030204" pitchFamily="49" charset="0"/>
              </a:rPr>
              <a:t>1</a:t>
            </a:r>
            <a:r>
              <a:rPr lang="en-US" sz="1200" b="1" dirty="0" err="1">
                <a:solidFill>
                  <a:srgbClr val="7030A0"/>
                </a:solidFill>
                <a:latin typeface="Consolas" panose="020B0609020204030204" pitchFamily="49" charset="0"/>
              </a:rPr>
              <a:t>:33</a:t>
            </a:r>
            <a:r>
              <a:rPr lang="en-US" sz="1200" b="1" dirty="0">
                <a:solidFill>
                  <a:srgbClr val="7030A0"/>
                </a:solidFill>
                <a:latin typeface="Consolas" panose="020B0609020204030204" pitchFamily="49" charset="0"/>
              </a:rPr>
              <a:t>::/48</a:t>
            </a:r>
          </a:p>
          <a:p>
            <a:r>
              <a:rPr lang="en-US" sz="1200" dirty="0">
                <a:latin typeface="Consolas" panose="020B0609020204030204" pitchFamily="49" charset="0"/>
              </a:rPr>
              <a:t>    algorithm </a:t>
            </a:r>
            <a:r>
              <a:rPr lang="en-US" sz="1200" b="1" dirty="0">
                <a:solidFill>
                  <a:srgbClr val="0070C0"/>
                </a:solidFill>
                <a:latin typeface="Consolas" panose="020B0609020204030204" pitchFamily="49" charset="0"/>
              </a:rPr>
              <a:t>128</a:t>
            </a:r>
          </a:p>
          <a:p>
            <a:r>
              <a:rPr lang="en-US" sz="1200" dirty="0">
                <a:latin typeface="Consolas" panose="020B0609020204030204" pitchFamily="49" charset="0"/>
              </a:rPr>
              <a:t>   !</a:t>
            </a:r>
          </a:p>
          <a:p>
            <a:r>
              <a:rPr lang="en-US" sz="1200" dirty="0">
                <a:latin typeface="Consolas" panose="020B0609020204030204" pitchFamily="49" charset="0"/>
              </a:rPr>
              <a:t>  !</a:t>
            </a:r>
          </a:p>
          <a:p>
            <a:r>
              <a:rPr lang="en-US" sz="1200" dirty="0">
                <a:latin typeface="Consolas" panose="020B0609020204030204" pitchFamily="49" charset="0"/>
              </a:rPr>
              <a:t>router isis 1</a:t>
            </a:r>
          </a:p>
          <a:p>
            <a:r>
              <a:rPr lang="en-US" sz="1200" dirty="0">
                <a:latin typeface="Consolas" panose="020B0609020204030204" pitchFamily="49" charset="0"/>
              </a:rPr>
              <a:t> address-family ipv6 unicast</a:t>
            </a:r>
          </a:p>
          <a:p>
            <a:r>
              <a:rPr lang="en-US" sz="1200" dirty="0">
                <a:latin typeface="Consolas" panose="020B0609020204030204" pitchFamily="49" charset="0"/>
              </a:rPr>
              <a:t>  metric-style wide</a:t>
            </a:r>
          </a:p>
          <a:p>
            <a:r>
              <a:rPr lang="en-US" sz="1200" dirty="0">
                <a:latin typeface="Consolas" panose="020B0609020204030204" pitchFamily="49" charset="0"/>
              </a:rPr>
              <a:t>  microloop avoidance segment-routing</a:t>
            </a:r>
          </a:p>
          <a:p>
            <a:r>
              <a:rPr lang="en-US" sz="1200" dirty="0">
                <a:latin typeface="Consolas" panose="020B0609020204030204" pitchFamily="49" charset="0"/>
              </a:rPr>
              <a:t>  segment-routing srv6</a:t>
            </a:r>
          </a:p>
          <a:p>
            <a:r>
              <a:rPr lang="en-US" sz="1200" dirty="0">
                <a:latin typeface="Consolas" panose="020B0609020204030204" pitchFamily="49" charset="0"/>
              </a:rPr>
              <a:t>   locator LATENCY</a:t>
            </a:r>
          </a:p>
          <a:p>
            <a:r>
              <a:rPr lang="en-US" sz="1200" dirty="0">
                <a:latin typeface="Consolas" panose="020B0609020204030204" pitchFamily="49" charset="0"/>
              </a:rPr>
              <a:t>    level 2</a:t>
            </a:r>
          </a:p>
          <a:p>
            <a:r>
              <a:rPr lang="en-US" sz="1200" dirty="0">
                <a:latin typeface="Consolas" panose="020B0609020204030204" pitchFamily="49" charset="0"/>
              </a:rPr>
              <a:t>   !</a:t>
            </a:r>
          </a:p>
          <a:p>
            <a:r>
              <a:rPr lang="en-US" sz="1200" dirty="0">
                <a:latin typeface="Consolas" panose="020B0609020204030204" pitchFamily="49" charset="0"/>
              </a:rPr>
              <a:t>  !</a:t>
            </a:r>
          </a:p>
          <a:p>
            <a:r>
              <a:rPr lang="en-US" sz="1200" dirty="0">
                <a:latin typeface="Consolas" panose="020B0609020204030204" pitchFamily="49" charset="0"/>
              </a:rPr>
              <a:t> !</a:t>
            </a:r>
          </a:p>
          <a:p>
            <a:r>
              <a:rPr lang="en-US" sz="1200" dirty="0">
                <a:latin typeface="Consolas" panose="020B0609020204030204" pitchFamily="49" charset="0"/>
              </a:rPr>
              <a:t> flex-algo </a:t>
            </a:r>
            <a:r>
              <a:rPr lang="en-US" sz="1200" b="1" dirty="0">
                <a:solidFill>
                  <a:srgbClr val="0070C0"/>
                </a:solidFill>
                <a:latin typeface="Consolas" panose="020B0609020204030204" pitchFamily="49" charset="0"/>
              </a:rPr>
              <a:t>128</a:t>
            </a:r>
          </a:p>
          <a:p>
            <a:r>
              <a:rPr lang="en-US" sz="1200" dirty="0">
                <a:latin typeface="Consolas" panose="020B0609020204030204" pitchFamily="49" charset="0"/>
              </a:rPr>
              <a:t>  </a:t>
            </a:r>
            <a:r>
              <a:rPr lang="en-US" sz="1200" b="1" dirty="0">
                <a:solidFill>
                  <a:srgbClr val="FA661C"/>
                </a:solidFill>
                <a:latin typeface="Consolas" panose="020B0609020204030204" pitchFamily="49" charset="0"/>
              </a:rPr>
              <a:t>metric-type delay</a:t>
            </a:r>
          </a:p>
          <a:p>
            <a:r>
              <a:rPr lang="en-US" sz="1200" dirty="0">
                <a:latin typeface="Consolas" panose="020B0609020204030204" pitchFamily="49" charset="0"/>
              </a:rPr>
              <a:t>  </a:t>
            </a:r>
            <a:r>
              <a:rPr lang="en-US" sz="1200" b="1" dirty="0">
                <a:solidFill>
                  <a:schemeClr val="accent6"/>
                </a:solidFill>
                <a:latin typeface="Consolas" panose="020B0609020204030204" pitchFamily="49" charset="0"/>
              </a:rPr>
              <a:t>advertise-definition</a:t>
            </a:r>
          </a:p>
          <a:p>
            <a:r>
              <a:rPr lang="en-US" sz="1200" dirty="0">
                <a:latin typeface="Consolas" panose="020B0609020204030204" pitchFamily="49" charset="0"/>
              </a:rPr>
              <a:t> !</a:t>
            </a:r>
          </a:p>
        </p:txBody>
      </p:sp>
      <p:sp>
        <p:nvSpPr>
          <p:cNvPr id="5" name="Callout: Line 4">
            <a:extLst>
              <a:ext uri="{FF2B5EF4-FFF2-40B4-BE49-F238E27FC236}">
                <a16:creationId xmlns:a16="http://schemas.microsoft.com/office/drawing/2014/main" id="{3F7D8F16-79A1-0B51-A9CF-8DCAFBD403F5}"/>
              </a:ext>
            </a:extLst>
          </p:cNvPr>
          <p:cNvSpPr/>
          <p:nvPr/>
        </p:nvSpPr>
        <p:spPr>
          <a:xfrm>
            <a:off x="8711381" y="1789118"/>
            <a:ext cx="3352800" cy="396240"/>
          </a:xfrm>
          <a:prstGeom prst="borderCallout1">
            <a:avLst>
              <a:gd name="adj1" fmla="val 18750"/>
              <a:gd name="adj2" fmla="val -8333"/>
              <a:gd name="adj3" fmla="val 229686"/>
              <a:gd name="adj4" fmla="val -156518"/>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B050"/>
                </a:solidFill>
              </a:rPr>
              <a:t>New Locator Name</a:t>
            </a:r>
          </a:p>
        </p:txBody>
      </p:sp>
      <p:sp>
        <p:nvSpPr>
          <p:cNvPr id="6" name="Callout: Line 5">
            <a:extLst>
              <a:ext uri="{FF2B5EF4-FFF2-40B4-BE49-F238E27FC236}">
                <a16:creationId xmlns:a16="http://schemas.microsoft.com/office/drawing/2014/main" id="{78383B05-6C62-242A-52D8-2361F361F87C}"/>
              </a:ext>
            </a:extLst>
          </p:cNvPr>
          <p:cNvSpPr/>
          <p:nvPr/>
        </p:nvSpPr>
        <p:spPr>
          <a:xfrm>
            <a:off x="8711381" y="2339218"/>
            <a:ext cx="3352800" cy="396240"/>
          </a:xfrm>
          <a:prstGeom prst="borderCallout1">
            <a:avLst>
              <a:gd name="adj1" fmla="val 18750"/>
              <a:gd name="adj2" fmla="val -8333"/>
              <a:gd name="adj3" fmla="val 185020"/>
              <a:gd name="adj4" fmla="val -13012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Locator Prefix (Different)</a:t>
            </a:r>
          </a:p>
        </p:txBody>
      </p:sp>
      <p:sp>
        <p:nvSpPr>
          <p:cNvPr id="7" name="Callout: Line 6">
            <a:extLst>
              <a:ext uri="{FF2B5EF4-FFF2-40B4-BE49-F238E27FC236}">
                <a16:creationId xmlns:a16="http://schemas.microsoft.com/office/drawing/2014/main" id="{E765B456-3301-8A95-7E56-A001F146AEDC}"/>
              </a:ext>
            </a:extLst>
          </p:cNvPr>
          <p:cNvSpPr/>
          <p:nvPr/>
        </p:nvSpPr>
        <p:spPr>
          <a:xfrm>
            <a:off x="8711381" y="2889318"/>
            <a:ext cx="3352800" cy="396240"/>
          </a:xfrm>
          <a:prstGeom prst="borderCallout1">
            <a:avLst>
              <a:gd name="adj1" fmla="val 18750"/>
              <a:gd name="adj2" fmla="val -8333"/>
              <a:gd name="adj3" fmla="val 93209"/>
              <a:gd name="adj4" fmla="val -15710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Flex Algo number (128-255)</a:t>
            </a:r>
          </a:p>
        </p:txBody>
      </p:sp>
      <p:sp>
        <p:nvSpPr>
          <p:cNvPr id="8" name="Callout: Line 7">
            <a:extLst>
              <a:ext uri="{FF2B5EF4-FFF2-40B4-BE49-F238E27FC236}">
                <a16:creationId xmlns:a16="http://schemas.microsoft.com/office/drawing/2014/main" id="{34B227EF-8AAD-0EBE-30E2-41A372F89AF5}"/>
              </a:ext>
            </a:extLst>
          </p:cNvPr>
          <p:cNvSpPr/>
          <p:nvPr/>
        </p:nvSpPr>
        <p:spPr>
          <a:xfrm>
            <a:off x="8711381" y="3439417"/>
            <a:ext cx="3352800" cy="572143"/>
          </a:xfrm>
          <a:prstGeom prst="borderCallout1">
            <a:avLst>
              <a:gd name="adj1" fmla="val 18750"/>
              <a:gd name="adj2" fmla="val -8333"/>
              <a:gd name="adj3" fmla="val 411083"/>
              <a:gd name="adj4" fmla="val -151533"/>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661C"/>
                </a:solidFill>
              </a:rPr>
              <a:t>Definition of specific Flex Algo</a:t>
            </a:r>
          </a:p>
          <a:p>
            <a:pPr algn="ctr"/>
            <a:r>
              <a:rPr lang="en-US" dirty="0">
                <a:solidFill>
                  <a:srgbClr val="FA661C"/>
                </a:solidFill>
              </a:rPr>
              <a:t>Latency metric for 128</a:t>
            </a:r>
          </a:p>
        </p:txBody>
      </p:sp>
      <p:sp>
        <p:nvSpPr>
          <p:cNvPr id="9" name="Callout: Line 8">
            <a:extLst>
              <a:ext uri="{FF2B5EF4-FFF2-40B4-BE49-F238E27FC236}">
                <a16:creationId xmlns:a16="http://schemas.microsoft.com/office/drawing/2014/main" id="{5C3A47AF-CAA6-A164-6DC6-C90FF0C8E706}"/>
              </a:ext>
            </a:extLst>
          </p:cNvPr>
          <p:cNvSpPr/>
          <p:nvPr/>
        </p:nvSpPr>
        <p:spPr>
          <a:xfrm>
            <a:off x="8711381" y="4246228"/>
            <a:ext cx="3352800" cy="572143"/>
          </a:xfrm>
          <a:prstGeom prst="borderCallout1">
            <a:avLst>
              <a:gd name="adj1" fmla="val 18750"/>
              <a:gd name="adj2" fmla="val -8333"/>
              <a:gd name="adj3" fmla="val 304536"/>
              <a:gd name="adj4" fmla="val -144788"/>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solidFill>
              </a:rPr>
              <a:t>This Router will advertise Flex Algo within the domain</a:t>
            </a:r>
          </a:p>
        </p:txBody>
      </p:sp>
      <p:cxnSp>
        <p:nvCxnSpPr>
          <p:cNvPr id="11" name="Straight Connector 10">
            <a:extLst>
              <a:ext uri="{FF2B5EF4-FFF2-40B4-BE49-F238E27FC236}">
                <a16:creationId xmlns:a16="http://schemas.microsoft.com/office/drawing/2014/main" id="{B34CD6D4-4EBA-566C-3B19-1DF19AC78809}"/>
              </a:ext>
            </a:extLst>
          </p:cNvPr>
          <p:cNvCxnSpPr>
            <a:cxnSpLocks/>
          </p:cNvCxnSpPr>
          <p:nvPr/>
        </p:nvCxnSpPr>
        <p:spPr>
          <a:xfrm flipV="1">
            <a:off x="3215148" y="2959510"/>
            <a:ext cx="5220929" cy="2615380"/>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7031415"/>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20F2B60-53D5-CDA5-F697-D15C3763A251}"/>
              </a:ext>
            </a:extLst>
          </p:cNvPr>
          <p:cNvSpPr>
            <a:spLocks noGrp="1"/>
          </p:cNvSpPr>
          <p:nvPr>
            <p:ph type="body" sz="quarter" idx="10"/>
          </p:nvPr>
        </p:nvSpPr>
        <p:spPr/>
        <p:txBody>
          <a:bodyPr/>
          <a:lstStyle/>
          <a:p>
            <a:r>
              <a:rPr lang="en-US" sz="1800" dirty="0" err="1"/>
              <a:t>uDT4</a:t>
            </a:r>
            <a:r>
              <a:rPr lang="en-US" sz="1800" dirty="0"/>
              <a:t> function is allocated from </a:t>
            </a:r>
            <a:r>
              <a:rPr lang="en-US" sz="1800" b="1" dirty="0">
                <a:solidFill>
                  <a:srgbClr val="00B050"/>
                </a:solidFill>
              </a:rPr>
              <a:t>LATENCY</a:t>
            </a:r>
            <a:r>
              <a:rPr lang="en-US" sz="1800" dirty="0"/>
              <a:t> locator</a:t>
            </a:r>
          </a:p>
          <a:p>
            <a:r>
              <a:rPr lang="en-US" sz="1800" dirty="0"/>
              <a:t>All prefixes in VRF are advertised with </a:t>
            </a:r>
            <a:r>
              <a:rPr lang="en-US" sz="1800" b="1" dirty="0" err="1">
                <a:solidFill>
                  <a:srgbClr val="7030A0"/>
                </a:solidFill>
              </a:rPr>
              <a:t>uDT4</a:t>
            </a:r>
            <a:r>
              <a:rPr lang="en-US" sz="1800" dirty="0"/>
              <a:t> function</a:t>
            </a:r>
          </a:p>
        </p:txBody>
      </p:sp>
      <p:sp>
        <p:nvSpPr>
          <p:cNvPr id="3" name="Text Placeholder 2">
            <a:extLst>
              <a:ext uri="{FF2B5EF4-FFF2-40B4-BE49-F238E27FC236}">
                <a16:creationId xmlns:a16="http://schemas.microsoft.com/office/drawing/2014/main" id="{C169A3D8-3A5B-5238-ECA2-99F67EE1A792}"/>
              </a:ext>
            </a:extLst>
          </p:cNvPr>
          <p:cNvSpPr>
            <a:spLocks noGrp="1"/>
          </p:cNvSpPr>
          <p:nvPr>
            <p:ph type="body" sz="quarter" idx="11"/>
          </p:nvPr>
        </p:nvSpPr>
        <p:spPr/>
        <p:txBody>
          <a:bodyPr/>
          <a:lstStyle/>
          <a:p>
            <a:r>
              <a:rPr lang="en-US" dirty="0"/>
              <a:t>SRv6 Flex Algo - IGP config</a:t>
            </a:r>
          </a:p>
        </p:txBody>
      </p:sp>
      <p:sp>
        <p:nvSpPr>
          <p:cNvPr id="4" name="Rectangle 3">
            <a:extLst>
              <a:ext uri="{FF2B5EF4-FFF2-40B4-BE49-F238E27FC236}">
                <a16:creationId xmlns:a16="http://schemas.microsoft.com/office/drawing/2014/main" id="{18CF0161-A390-D81E-1891-114E033EB0C3}"/>
              </a:ext>
            </a:extLst>
          </p:cNvPr>
          <p:cNvSpPr/>
          <p:nvPr/>
        </p:nvSpPr>
        <p:spPr>
          <a:xfrm>
            <a:off x="1846277" y="2185358"/>
            <a:ext cx="6486305" cy="2062103"/>
          </a:xfrm>
          <a:prstGeom prst="rect">
            <a:avLst/>
          </a:prstGeom>
          <a:solidFill>
            <a:schemeClr val="bg1">
              <a:lumMod val="95000"/>
            </a:schemeClr>
          </a:solidFill>
          <a:ln>
            <a:solidFill>
              <a:schemeClr val="tx1"/>
            </a:solidFill>
          </a:ln>
          <a:effectLst/>
        </p:spPr>
        <p:txBody>
          <a:bodyPr wrap="square">
            <a:spAutoFit/>
          </a:bodyPr>
          <a:lstStyle/>
          <a:p>
            <a:r>
              <a:rPr lang="en-US" sz="1600" dirty="0">
                <a:latin typeface="Consolas" panose="020B0609020204030204" pitchFamily="49" charset="0"/>
              </a:rPr>
              <a:t> router bgp 1</a:t>
            </a:r>
          </a:p>
          <a:p>
            <a:r>
              <a:rPr lang="en-US" sz="1600" dirty="0">
                <a:latin typeface="Consolas" panose="020B0609020204030204" pitchFamily="49" charset="0"/>
              </a:rPr>
              <a:t>  address-family </a:t>
            </a:r>
            <a:r>
              <a:rPr lang="en-US" sz="1600" dirty="0" err="1">
                <a:latin typeface="Consolas" panose="020B0609020204030204" pitchFamily="49" charset="0"/>
              </a:rPr>
              <a:t>vpnv4</a:t>
            </a:r>
            <a:r>
              <a:rPr lang="en-US" sz="1600" dirty="0">
                <a:latin typeface="Consolas" panose="020B0609020204030204" pitchFamily="49" charset="0"/>
              </a:rPr>
              <a:t> unicast</a:t>
            </a:r>
          </a:p>
          <a:p>
            <a:r>
              <a:rPr lang="en-US" sz="1600" dirty="0">
                <a:latin typeface="Consolas" panose="020B0609020204030204" pitchFamily="49" charset="0"/>
              </a:rPr>
              <a:t>   vrf </a:t>
            </a:r>
            <a:r>
              <a:rPr lang="en-US" sz="1600" dirty="0" err="1">
                <a:latin typeface="Consolas" panose="020B0609020204030204" pitchFamily="49" charset="0"/>
              </a:rPr>
              <a:t>LowLatency</a:t>
            </a:r>
            <a:endParaRPr lang="en-US" sz="1600" dirty="0">
              <a:latin typeface="Consolas" panose="020B0609020204030204" pitchFamily="49" charset="0"/>
            </a:endParaRPr>
          </a:p>
          <a:p>
            <a:r>
              <a:rPr lang="en-US" sz="1600" dirty="0">
                <a:latin typeface="Consolas" panose="020B0609020204030204" pitchFamily="49" charset="0"/>
              </a:rPr>
              <a:t>    rd 1:2</a:t>
            </a:r>
          </a:p>
          <a:p>
            <a:r>
              <a:rPr lang="en-US" sz="1600" dirty="0">
                <a:latin typeface="Consolas" panose="020B0609020204030204" pitchFamily="49" charset="0"/>
              </a:rPr>
              <a:t>    address-family </a:t>
            </a:r>
            <a:r>
              <a:rPr lang="en-US" sz="1600" dirty="0" err="1">
                <a:latin typeface="Consolas" panose="020B0609020204030204" pitchFamily="49" charset="0"/>
              </a:rPr>
              <a:t>ipv4</a:t>
            </a:r>
            <a:r>
              <a:rPr lang="en-US" sz="1600" dirty="0">
                <a:latin typeface="Consolas" panose="020B0609020204030204" pitchFamily="49" charset="0"/>
              </a:rPr>
              <a:t> unicast</a:t>
            </a:r>
          </a:p>
          <a:p>
            <a:r>
              <a:rPr lang="en-US" sz="1600" dirty="0">
                <a:latin typeface="Consolas" panose="020B0609020204030204" pitchFamily="49" charset="0"/>
              </a:rPr>
              <a:t>     segment-routing srv6</a:t>
            </a:r>
          </a:p>
          <a:p>
            <a:r>
              <a:rPr lang="en-US" sz="1600" dirty="0">
                <a:latin typeface="Consolas" panose="020B0609020204030204" pitchFamily="49" charset="0"/>
              </a:rPr>
              <a:t>      locator </a:t>
            </a:r>
            <a:r>
              <a:rPr lang="en-US" sz="1600" b="1" dirty="0">
                <a:solidFill>
                  <a:srgbClr val="00B050"/>
                </a:solidFill>
                <a:latin typeface="Consolas" panose="020B0609020204030204" pitchFamily="49" charset="0"/>
              </a:rPr>
              <a:t>LATENCY</a:t>
            </a:r>
          </a:p>
          <a:p>
            <a:r>
              <a:rPr lang="en-US" sz="1600" dirty="0">
                <a:latin typeface="Consolas" panose="020B0609020204030204" pitchFamily="49" charset="0"/>
              </a:rPr>
              <a:t>      </a:t>
            </a:r>
            <a:r>
              <a:rPr lang="en-US" sz="1600" dirty="0" err="1">
                <a:latin typeface="Consolas" panose="020B0609020204030204" pitchFamily="49" charset="0"/>
              </a:rPr>
              <a:t>alloc</a:t>
            </a:r>
            <a:r>
              <a:rPr lang="en-US" sz="1600" dirty="0">
                <a:latin typeface="Consolas" panose="020B0609020204030204" pitchFamily="49" charset="0"/>
              </a:rPr>
              <a:t> mode </a:t>
            </a:r>
            <a:r>
              <a:rPr lang="en-US" sz="1600" b="1" dirty="0">
                <a:solidFill>
                  <a:srgbClr val="7030A0"/>
                </a:solidFill>
                <a:latin typeface="Consolas" panose="020B0609020204030204" pitchFamily="49" charset="0"/>
              </a:rPr>
              <a:t>per-vrf</a:t>
            </a:r>
          </a:p>
        </p:txBody>
      </p:sp>
      <p:sp>
        <p:nvSpPr>
          <p:cNvPr id="5" name="Callout: Line 4">
            <a:extLst>
              <a:ext uri="{FF2B5EF4-FFF2-40B4-BE49-F238E27FC236}">
                <a16:creationId xmlns:a16="http://schemas.microsoft.com/office/drawing/2014/main" id="{3F7D8F16-79A1-0B51-A9CF-8DCAFBD403F5}"/>
              </a:ext>
            </a:extLst>
          </p:cNvPr>
          <p:cNvSpPr/>
          <p:nvPr/>
        </p:nvSpPr>
        <p:spPr>
          <a:xfrm>
            <a:off x="8711381" y="1789118"/>
            <a:ext cx="3352800" cy="396240"/>
          </a:xfrm>
          <a:prstGeom prst="borderCallout1">
            <a:avLst>
              <a:gd name="adj1" fmla="val 18750"/>
              <a:gd name="adj2" fmla="val -8333"/>
              <a:gd name="adj3" fmla="val 515046"/>
              <a:gd name="adj4" fmla="val -127779"/>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B050"/>
                </a:solidFill>
              </a:rPr>
              <a:t>Locator Name</a:t>
            </a:r>
          </a:p>
        </p:txBody>
      </p:sp>
      <p:sp>
        <p:nvSpPr>
          <p:cNvPr id="6" name="Callout: Line 5">
            <a:extLst>
              <a:ext uri="{FF2B5EF4-FFF2-40B4-BE49-F238E27FC236}">
                <a16:creationId xmlns:a16="http://schemas.microsoft.com/office/drawing/2014/main" id="{78383B05-6C62-242A-52D8-2361F361F87C}"/>
              </a:ext>
            </a:extLst>
          </p:cNvPr>
          <p:cNvSpPr/>
          <p:nvPr/>
        </p:nvSpPr>
        <p:spPr>
          <a:xfrm>
            <a:off x="8711381" y="2339218"/>
            <a:ext cx="3352800" cy="849780"/>
          </a:xfrm>
          <a:prstGeom prst="borderCallout1">
            <a:avLst>
              <a:gd name="adj1" fmla="val 18750"/>
              <a:gd name="adj2" fmla="val -8333"/>
              <a:gd name="adj3" fmla="val 203076"/>
              <a:gd name="adj4" fmla="val -120448"/>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Single DT function is allocated per VRF </a:t>
            </a:r>
          </a:p>
          <a:p>
            <a:pPr algn="ctr"/>
            <a:r>
              <a:rPr lang="en-US" dirty="0">
                <a:solidFill>
                  <a:srgbClr val="7030A0"/>
                </a:solidFill>
              </a:rPr>
              <a:t>per address-family</a:t>
            </a:r>
          </a:p>
        </p:txBody>
      </p:sp>
    </p:spTree>
    <p:extLst>
      <p:ext uri="{BB962C8B-B14F-4D97-AF65-F5344CB8AC3E}">
        <p14:creationId xmlns:p14="http://schemas.microsoft.com/office/powerpoint/2010/main" val="1841963770"/>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169A3D8-3A5B-5238-ECA2-99F67EE1A792}"/>
              </a:ext>
            </a:extLst>
          </p:cNvPr>
          <p:cNvSpPr>
            <a:spLocks noGrp="1"/>
          </p:cNvSpPr>
          <p:nvPr>
            <p:ph type="body" sz="quarter" idx="11"/>
          </p:nvPr>
        </p:nvSpPr>
        <p:spPr/>
        <p:txBody>
          <a:bodyPr/>
          <a:lstStyle/>
          <a:p>
            <a:r>
              <a:rPr lang="en-US" sz="3200" dirty="0"/>
              <a:t>SRv6 L3 VPN Multiple Algorithms in VRF - config</a:t>
            </a:r>
          </a:p>
        </p:txBody>
      </p:sp>
      <p:sp>
        <p:nvSpPr>
          <p:cNvPr id="4" name="Rectangle 3">
            <a:extLst>
              <a:ext uri="{FF2B5EF4-FFF2-40B4-BE49-F238E27FC236}">
                <a16:creationId xmlns:a16="http://schemas.microsoft.com/office/drawing/2014/main" id="{18CF0161-A390-D81E-1891-114E033EB0C3}"/>
              </a:ext>
            </a:extLst>
          </p:cNvPr>
          <p:cNvSpPr/>
          <p:nvPr/>
        </p:nvSpPr>
        <p:spPr>
          <a:xfrm>
            <a:off x="1846277" y="2185358"/>
            <a:ext cx="6486305" cy="3046988"/>
          </a:xfrm>
          <a:prstGeom prst="rect">
            <a:avLst/>
          </a:prstGeom>
          <a:solidFill>
            <a:schemeClr val="bg1">
              <a:lumMod val="95000"/>
            </a:schemeClr>
          </a:solidFill>
          <a:ln>
            <a:solidFill>
              <a:schemeClr val="tx1"/>
            </a:solidFill>
          </a:ln>
          <a:effectLst/>
        </p:spPr>
        <p:txBody>
          <a:bodyPr wrap="square">
            <a:spAutoFit/>
          </a:bodyPr>
          <a:lstStyle/>
          <a:p>
            <a:r>
              <a:rPr lang="en-US" sz="1600" dirty="0">
                <a:latin typeface="Consolas" panose="020B0609020204030204" pitchFamily="49" charset="0"/>
              </a:rPr>
              <a:t> route-policy </a:t>
            </a:r>
            <a:r>
              <a:rPr lang="en-US" sz="1600" b="1" dirty="0">
                <a:solidFill>
                  <a:srgbClr val="FF0000"/>
                </a:solidFill>
                <a:latin typeface="Consolas" panose="020B0609020204030204" pitchFamily="49" charset="0"/>
              </a:rPr>
              <a:t>MIX</a:t>
            </a:r>
          </a:p>
          <a:p>
            <a:r>
              <a:rPr lang="en-US" sz="1600" dirty="0">
                <a:latin typeface="Consolas" panose="020B0609020204030204" pitchFamily="49" charset="0"/>
              </a:rPr>
              <a:t>   if destination in (</a:t>
            </a:r>
            <a:r>
              <a:rPr lang="en-US" sz="1600" dirty="0">
                <a:solidFill>
                  <a:srgbClr val="00B050"/>
                </a:solidFill>
                <a:latin typeface="Consolas" panose="020B0609020204030204" pitchFamily="49" charset="0"/>
              </a:rPr>
              <a:t>1.1.1.1/32</a:t>
            </a:r>
            <a:r>
              <a:rPr lang="en-US" sz="1600" dirty="0">
                <a:latin typeface="Consolas" panose="020B0609020204030204" pitchFamily="49" charset="0"/>
              </a:rPr>
              <a:t>) then</a:t>
            </a:r>
          </a:p>
          <a:p>
            <a:r>
              <a:rPr lang="en-US" sz="1600" dirty="0">
                <a:latin typeface="Consolas" panose="020B0609020204030204" pitchFamily="49" charset="0"/>
              </a:rPr>
              <a:t>     set srv6-</a:t>
            </a:r>
            <a:r>
              <a:rPr lang="en-US" sz="1600" dirty="0" err="1">
                <a:latin typeface="Consolas" panose="020B0609020204030204" pitchFamily="49" charset="0"/>
              </a:rPr>
              <a:t>alloc</a:t>
            </a:r>
            <a:r>
              <a:rPr lang="en-US" sz="1600" dirty="0">
                <a:latin typeface="Consolas" panose="020B0609020204030204" pitchFamily="49" charset="0"/>
              </a:rPr>
              <a:t>-mode per-vrf locator </a:t>
            </a:r>
            <a:r>
              <a:rPr lang="en-US" sz="1600" dirty="0">
                <a:solidFill>
                  <a:srgbClr val="00B050"/>
                </a:solidFill>
                <a:latin typeface="Consolas" panose="020B0609020204030204" pitchFamily="49" charset="0"/>
              </a:rPr>
              <a:t>LATENCY</a:t>
            </a:r>
          </a:p>
          <a:p>
            <a:r>
              <a:rPr lang="en-US" sz="1600" dirty="0">
                <a:latin typeface="Consolas" panose="020B0609020204030204" pitchFamily="49" charset="0"/>
              </a:rPr>
              <a:t>   else</a:t>
            </a:r>
          </a:p>
          <a:p>
            <a:r>
              <a:rPr lang="en-US" sz="1600" dirty="0">
                <a:latin typeface="Consolas" panose="020B0609020204030204" pitchFamily="49" charset="0"/>
              </a:rPr>
              <a:t>     set srv6-</a:t>
            </a:r>
            <a:r>
              <a:rPr lang="en-US" sz="1600" dirty="0" err="1">
                <a:latin typeface="Consolas" panose="020B0609020204030204" pitchFamily="49" charset="0"/>
              </a:rPr>
              <a:t>alloc</a:t>
            </a:r>
            <a:r>
              <a:rPr lang="en-US" sz="1600" dirty="0">
                <a:latin typeface="Consolas" panose="020B0609020204030204" pitchFamily="49" charset="0"/>
              </a:rPr>
              <a:t>-mode per-vrf locator </a:t>
            </a:r>
            <a:r>
              <a:rPr lang="en-US" sz="1600" dirty="0">
                <a:solidFill>
                  <a:srgbClr val="00B0F0"/>
                </a:solidFill>
                <a:latin typeface="Consolas" panose="020B0609020204030204" pitchFamily="49" charset="0"/>
              </a:rPr>
              <a:t>MAIN</a:t>
            </a:r>
          </a:p>
          <a:p>
            <a:r>
              <a:rPr lang="en-US" sz="1600" dirty="0">
                <a:latin typeface="Consolas" panose="020B0609020204030204" pitchFamily="49" charset="0"/>
              </a:rPr>
              <a:t>  endif</a:t>
            </a:r>
          </a:p>
          <a:p>
            <a:r>
              <a:rPr lang="en-US" sz="1600" dirty="0">
                <a:latin typeface="Consolas" panose="020B0609020204030204" pitchFamily="49" charset="0"/>
              </a:rPr>
              <a:t> end-policy</a:t>
            </a:r>
          </a:p>
          <a:p>
            <a:r>
              <a:rPr lang="en-US" sz="1600" dirty="0">
                <a:latin typeface="Consolas" panose="020B0609020204030204" pitchFamily="49" charset="0"/>
              </a:rPr>
              <a:t>router bgp 1</a:t>
            </a:r>
          </a:p>
          <a:p>
            <a:r>
              <a:rPr lang="en-US" sz="1600" dirty="0">
                <a:latin typeface="Consolas" panose="020B0609020204030204" pitchFamily="49" charset="0"/>
              </a:rPr>
              <a:t>  vrf Both</a:t>
            </a:r>
          </a:p>
          <a:p>
            <a:r>
              <a:rPr lang="en-US" sz="1600" dirty="0">
                <a:latin typeface="Consolas" panose="020B0609020204030204" pitchFamily="49" charset="0"/>
              </a:rPr>
              <a:t>    address-family </a:t>
            </a:r>
            <a:r>
              <a:rPr lang="en-US" sz="1600" dirty="0" err="1">
                <a:latin typeface="Consolas" panose="020B0609020204030204" pitchFamily="49" charset="0"/>
              </a:rPr>
              <a:t>ipv4</a:t>
            </a:r>
            <a:r>
              <a:rPr lang="en-US" sz="1600" dirty="0">
                <a:latin typeface="Consolas" panose="020B0609020204030204" pitchFamily="49" charset="0"/>
              </a:rPr>
              <a:t> unicast</a:t>
            </a:r>
          </a:p>
          <a:p>
            <a:r>
              <a:rPr lang="en-US" sz="1600" dirty="0">
                <a:latin typeface="Consolas" panose="020B0609020204030204" pitchFamily="49" charset="0"/>
              </a:rPr>
              <a:t>      segment-routing srv6</a:t>
            </a:r>
          </a:p>
          <a:p>
            <a:r>
              <a:rPr lang="en-US" sz="1600" dirty="0">
                <a:latin typeface="Consolas" panose="020B0609020204030204" pitchFamily="49" charset="0"/>
              </a:rPr>
              <a:t>        </a:t>
            </a:r>
            <a:r>
              <a:rPr lang="en-US" sz="1600" dirty="0" err="1">
                <a:latin typeface="Consolas" panose="020B0609020204030204" pitchFamily="49" charset="0"/>
              </a:rPr>
              <a:t>alloc</a:t>
            </a:r>
            <a:r>
              <a:rPr lang="en-US" sz="1600" dirty="0">
                <a:latin typeface="Consolas" panose="020B0609020204030204" pitchFamily="49" charset="0"/>
              </a:rPr>
              <a:t> mode route-policy </a:t>
            </a:r>
            <a:r>
              <a:rPr lang="en-US" sz="1600" b="1" dirty="0">
                <a:solidFill>
                  <a:srgbClr val="FF0000"/>
                </a:solidFill>
                <a:latin typeface="Consolas" panose="020B0609020204030204" pitchFamily="49" charset="0"/>
              </a:rPr>
              <a:t>MIX</a:t>
            </a:r>
          </a:p>
        </p:txBody>
      </p:sp>
      <p:sp>
        <p:nvSpPr>
          <p:cNvPr id="5" name="Callout: Line 4">
            <a:extLst>
              <a:ext uri="{FF2B5EF4-FFF2-40B4-BE49-F238E27FC236}">
                <a16:creationId xmlns:a16="http://schemas.microsoft.com/office/drawing/2014/main" id="{3F7D8F16-79A1-0B51-A9CF-8DCAFBD403F5}"/>
              </a:ext>
            </a:extLst>
          </p:cNvPr>
          <p:cNvSpPr/>
          <p:nvPr/>
        </p:nvSpPr>
        <p:spPr>
          <a:xfrm>
            <a:off x="8711381" y="1789117"/>
            <a:ext cx="3352800" cy="550959"/>
          </a:xfrm>
          <a:prstGeom prst="borderCallout1">
            <a:avLst>
              <a:gd name="adj1" fmla="val 18750"/>
              <a:gd name="adj2" fmla="val -8333"/>
              <a:gd name="adj3" fmla="val 186685"/>
              <a:gd name="adj4" fmla="val -4097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B050"/>
                </a:solidFill>
              </a:rPr>
              <a:t>For prefix 1.1.1.1 we will</a:t>
            </a:r>
          </a:p>
          <a:p>
            <a:pPr algn="ctr"/>
            <a:r>
              <a:rPr lang="en-US" dirty="0">
                <a:solidFill>
                  <a:srgbClr val="00B050"/>
                </a:solidFill>
              </a:rPr>
              <a:t>allocate </a:t>
            </a:r>
            <a:r>
              <a:rPr lang="en-US" dirty="0" err="1">
                <a:solidFill>
                  <a:srgbClr val="00B050"/>
                </a:solidFill>
              </a:rPr>
              <a:t>uDT</a:t>
            </a:r>
            <a:r>
              <a:rPr lang="en-US" dirty="0">
                <a:solidFill>
                  <a:srgbClr val="00B050"/>
                </a:solidFill>
              </a:rPr>
              <a:t> from LATENCY</a:t>
            </a:r>
          </a:p>
        </p:txBody>
      </p:sp>
      <p:sp>
        <p:nvSpPr>
          <p:cNvPr id="6" name="Callout: Line 5">
            <a:extLst>
              <a:ext uri="{FF2B5EF4-FFF2-40B4-BE49-F238E27FC236}">
                <a16:creationId xmlns:a16="http://schemas.microsoft.com/office/drawing/2014/main" id="{78383B05-6C62-242A-52D8-2361F361F87C}"/>
              </a:ext>
            </a:extLst>
          </p:cNvPr>
          <p:cNvSpPr/>
          <p:nvPr/>
        </p:nvSpPr>
        <p:spPr>
          <a:xfrm>
            <a:off x="8711381" y="2547644"/>
            <a:ext cx="3352800" cy="569928"/>
          </a:xfrm>
          <a:prstGeom prst="borderCallout1">
            <a:avLst>
              <a:gd name="adj1" fmla="val 18750"/>
              <a:gd name="adj2" fmla="val -8333"/>
              <a:gd name="adj3" fmla="val 135794"/>
              <a:gd name="adj4" fmla="val -49187"/>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B0F0"/>
                </a:solidFill>
              </a:rPr>
              <a:t>For all others </a:t>
            </a:r>
            <a:r>
              <a:rPr lang="en-US" dirty="0" err="1">
                <a:solidFill>
                  <a:srgbClr val="00B0F0"/>
                </a:solidFill>
              </a:rPr>
              <a:t>uDT</a:t>
            </a:r>
            <a:r>
              <a:rPr lang="en-US" dirty="0">
                <a:solidFill>
                  <a:srgbClr val="00B0F0"/>
                </a:solidFill>
              </a:rPr>
              <a:t> from</a:t>
            </a:r>
          </a:p>
          <a:p>
            <a:pPr algn="ctr"/>
            <a:r>
              <a:rPr lang="en-US" dirty="0">
                <a:solidFill>
                  <a:srgbClr val="00B0F0"/>
                </a:solidFill>
              </a:rPr>
              <a:t>MAIN</a:t>
            </a:r>
          </a:p>
        </p:txBody>
      </p:sp>
      <p:sp>
        <p:nvSpPr>
          <p:cNvPr id="7" name="Callout: Line 6">
            <a:extLst>
              <a:ext uri="{FF2B5EF4-FFF2-40B4-BE49-F238E27FC236}">
                <a16:creationId xmlns:a16="http://schemas.microsoft.com/office/drawing/2014/main" id="{DB020D2F-CC22-0846-87EC-C9D457BB1C7F}"/>
              </a:ext>
            </a:extLst>
          </p:cNvPr>
          <p:cNvSpPr/>
          <p:nvPr/>
        </p:nvSpPr>
        <p:spPr>
          <a:xfrm>
            <a:off x="8711381" y="1009506"/>
            <a:ext cx="3352800" cy="569928"/>
          </a:xfrm>
          <a:prstGeom prst="borderCallout1">
            <a:avLst>
              <a:gd name="adj1" fmla="val 18750"/>
              <a:gd name="adj2" fmla="val -8333"/>
              <a:gd name="adj3" fmla="val 230679"/>
              <a:gd name="adj4" fmla="val -14273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Route-Policy definition</a:t>
            </a:r>
          </a:p>
        </p:txBody>
      </p:sp>
      <p:sp>
        <p:nvSpPr>
          <p:cNvPr id="8" name="Callout: Line 7">
            <a:extLst>
              <a:ext uri="{FF2B5EF4-FFF2-40B4-BE49-F238E27FC236}">
                <a16:creationId xmlns:a16="http://schemas.microsoft.com/office/drawing/2014/main" id="{75CE1F7F-2A7C-E26C-B105-88FE4BEC3B8A}"/>
              </a:ext>
            </a:extLst>
          </p:cNvPr>
          <p:cNvSpPr/>
          <p:nvPr/>
        </p:nvSpPr>
        <p:spPr>
          <a:xfrm>
            <a:off x="8711381" y="3325140"/>
            <a:ext cx="3352800" cy="569928"/>
          </a:xfrm>
          <a:prstGeom prst="borderCallout1">
            <a:avLst>
              <a:gd name="adj1" fmla="val 18750"/>
              <a:gd name="adj2" fmla="val -8333"/>
              <a:gd name="adj3" fmla="val 297961"/>
              <a:gd name="adj4" fmla="val -81151"/>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Route-Policy application</a:t>
            </a:r>
          </a:p>
        </p:txBody>
      </p:sp>
    </p:spTree>
    <p:extLst>
      <p:ext uri="{BB962C8B-B14F-4D97-AF65-F5344CB8AC3E}">
        <p14:creationId xmlns:p14="http://schemas.microsoft.com/office/powerpoint/2010/main" val="2894397693"/>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169A3D8-3A5B-5238-ECA2-99F67EE1A792}"/>
              </a:ext>
            </a:extLst>
          </p:cNvPr>
          <p:cNvSpPr>
            <a:spLocks noGrp="1"/>
          </p:cNvSpPr>
          <p:nvPr>
            <p:ph type="body" sz="quarter" idx="11"/>
          </p:nvPr>
        </p:nvSpPr>
        <p:spPr/>
        <p:txBody>
          <a:bodyPr/>
          <a:lstStyle/>
          <a:p>
            <a:r>
              <a:rPr lang="en-US" sz="3200" dirty="0"/>
              <a:t>Latency Configuration</a:t>
            </a:r>
          </a:p>
        </p:txBody>
      </p:sp>
      <p:sp>
        <p:nvSpPr>
          <p:cNvPr id="4" name="Rectangle 3">
            <a:extLst>
              <a:ext uri="{FF2B5EF4-FFF2-40B4-BE49-F238E27FC236}">
                <a16:creationId xmlns:a16="http://schemas.microsoft.com/office/drawing/2014/main" id="{18CF0161-A390-D81E-1891-114E033EB0C3}"/>
              </a:ext>
            </a:extLst>
          </p:cNvPr>
          <p:cNvSpPr/>
          <p:nvPr/>
        </p:nvSpPr>
        <p:spPr>
          <a:xfrm>
            <a:off x="558251" y="1733074"/>
            <a:ext cx="6486305" cy="1077218"/>
          </a:xfrm>
          <a:prstGeom prst="rect">
            <a:avLst/>
          </a:prstGeom>
          <a:solidFill>
            <a:schemeClr val="bg1">
              <a:lumMod val="95000"/>
            </a:schemeClr>
          </a:solidFill>
          <a:ln>
            <a:solidFill>
              <a:schemeClr val="tx1"/>
            </a:solidFill>
          </a:ln>
          <a:effectLst/>
        </p:spPr>
        <p:txBody>
          <a:bodyPr wrap="square">
            <a:spAutoFit/>
          </a:bodyPr>
          <a:lstStyle/>
          <a:p>
            <a:r>
              <a:rPr lang="en-US" sz="1600" dirty="0">
                <a:latin typeface="Consolas" panose="020B0609020204030204" pitchFamily="49" charset="0"/>
              </a:rPr>
              <a:t>performance-measurement</a:t>
            </a:r>
          </a:p>
          <a:p>
            <a:r>
              <a:rPr lang="en-US" sz="1600" dirty="0">
                <a:latin typeface="Consolas" panose="020B0609020204030204" pitchFamily="49" charset="0"/>
              </a:rPr>
              <a:t>  interface </a:t>
            </a:r>
            <a:r>
              <a:rPr lang="en-US" sz="1600" dirty="0" err="1">
                <a:latin typeface="Consolas" panose="020B0609020204030204" pitchFamily="49" charset="0"/>
              </a:rPr>
              <a:t>Gig0</a:t>
            </a:r>
            <a:r>
              <a:rPr lang="en-US" sz="1600" dirty="0">
                <a:latin typeface="Consolas" panose="020B0609020204030204" pitchFamily="49" charset="0"/>
              </a:rPr>
              <a:t>/0/0/0</a:t>
            </a:r>
          </a:p>
          <a:p>
            <a:r>
              <a:rPr lang="en-US" sz="1600" dirty="0">
                <a:latin typeface="Consolas" panose="020B0609020204030204" pitchFamily="49" charset="0"/>
              </a:rPr>
              <a:t>    delay-measurement</a:t>
            </a:r>
          </a:p>
          <a:p>
            <a:r>
              <a:rPr lang="en-US" sz="1600" dirty="0">
                <a:latin typeface="Consolas" panose="020B0609020204030204" pitchFamily="49" charset="0"/>
              </a:rPr>
              <a:t>      advertise-delay </a:t>
            </a:r>
            <a:r>
              <a:rPr lang="en-US" sz="1600" dirty="0">
                <a:solidFill>
                  <a:srgbClr val="FF0000"/>
                </a:solidFill>
                <a:latin typeface="Consolas" panose="020B0609020204030204" pitchFamily="49" charset="0"/>
              </a:rPr>
              <a:t>8253</a:t>
            </a:r>
            <a:endParaRPr lang="en-US" sz="1600" b="1" dirty="0">
              <a:solidFill>
                <a:srgbClr val="FF0000"/>
              </a:solidFill>
              <a:latin typeface="Consolas" panose="020B0609020204030204" pitchFamily="49" charset="0"/>
            </a:endParaRPr>
          </a:p>
        </p:txBody>
      </p:sp>
      <p:sp>
        <p:nvSpPr>
          <p:cNvPr id="8" name="Callout: Line 7">
            <a:extLst>
              <a:ext uri="{FF2B5EF4-FFF2-40B4-BE49-F238E27FC236}">
                <a16:creationId xmlns:a16="http://schemas.microsoft.com/office/drawing/2014/main" id="{75CE1F7F-2A7C-E26C-B105-88FE4BEC3B8A}"/>
              </a:ext>
            </a:extLst>
          </p:cNvPr>
          <p:cNvSpPr/>
          <p:nvPr/>
        </p:nvSpPr>
        <p:spPr>
          <a:xfrm>
            <a:off x="8298425" y="955450"/>
            <a:ext cx="3559278" cy="773017"/>
          </a:xfrm>
          <a:prstGeom prst="borderCallout1">
            <a:avLst>
              <a:gd name="adj1" fmla="val 18750"/>
              <a:gd name="adj2" fmla="val -8333"/>
              <a:gd name="adj3" fmla="val 215285"/>
              <a:gd name="adj4" fmla="val -127284"/>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This will set latency of the link to</a:t>
            </a:r>
          </a:p>
          <a:p>
            <a:pPr algn="ctr"/>
            <a:r>
              <a:rPr lang="en-US" dirty="0">
                <a:solidFill>
                  <a:srgbClr val="FF0000"/>
                </a:solidFill>
              </a:rPr>
              <a:t>8253 </a:t>
            </a:r>
            <a:r>
              <a:rPr lang="en-US" b="1" dirty="0">
                <a:solidFill>
                  <a:srgbClr val="FF0000"/>
                </a:solidFill>
              </a:rPr>
              <a:t>microseconds</a:t>
            </a:r>
          </a:p>
        </p:txBody>
      </p:sp>
    </p:spTree>
    <p:extLst>
      <p:ext uri="{BB962C8B-B14F-4D97-AF65-F5344CB8AC3E}">
        <p14:creationId xmlns:p14="http://schemas.microsoft.com/office/powerpoint/2010/main" val="4118521898"/>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169A3D8-3A5B-5238-ECA2-99F67EE1A792}"/>
              </a:ext>
            </a:extLst>
          </p:cNvPr>
          <p:cNvSpPr>
            <a:spLocks noGrp="1"/>
          </p:cNvSpPr>
          <p:nvPr>
            <p:ph type="body" sz="quarter" idx="11"/>
          </p:nvPr>
        </p:nvSpPr>
        <p:spPr/>
        <p:txBody>
          <a:bodyPr/>
          <a:lstStyle/>
          <a:p>
            <a:r>
              <a:rPr lang="en-US" sz="3200" dirty="0"/>
              <a:t>Performance Measurement</a:t>
            </a:r>
          </a:p>
        </p:txBody>
      </p:sp>
      <p:sp>
        <p:nvSpPr>
          <p:cNvPr id="4" name="Rectangle 3">
            <a:extLst>
              <a:ext uri="{FF2B5EF4-FFF2-40B4-BE49-F238E27FC236}">
                <a16:creationId xmlns:a16="http://schemas.microsoft.com/office/drawing/2014/main" id="{18CF0161-A390-D81E-1891-114E033EB0C3}"/>
              </a:ext>
            </a:extLst>
          </p:cNvPr>
          <p:cNvSpPr/>
          <p:nvPr/>
        </p:nvSpPr>
        <p:spPr>
          <a:xfrm>
            <a:off x="381271" y="5351345"/>
            <a:ext cx="6486305" cy="830997"/>
          </a:xfrm>
          <a:prstGeom prst="rect">
            <a:avLst/>
          </a:prstGeom>
          <a:solidFill>
            <a:schemeClr val="bg1">
              <a:lumMod val="95000"/>
            </a:schemeClr>
          </a:solidFill>
          <a:ln>
            <a:solidFill>
              <a:schemeClr val="tx1"/>
            </a:solidFill>
          </a:ln>
          <a:effectLst/>
        </p:spPr>
        <p:txBody>
          <a:bodyPr wrap="square">
            <a:spAutoFit/>
          </a:bodyPr>
          <a:lstStyle/>
          <a:p>
            <a:r>
              <a:rPr lang="en-US" sz="1600" dirty="0">
                <a:latin typeface="Consolas" panose="020B0609020204030204" pitchFamily="49" charset="0"/>
              </a:rPr>
              <a:t>performance-measurement</a:t>
            </a:r>
          </a:p>
          <a:p>
            <a:r>
              <a:rPr lang="en-US" sz="1600" dirty="0">
                <a:latin typeface="Consolas" panose="020B0609020204030204" pitchFamily="49" charset="0"/>
              </a:rPr>
              <a:t>  interface </a:t>
            </a:r>
            <a:r>
              <a:rPr lang="en-US" sz="1600" dirty="0" err="1">
                <a:latin typeface="Consolas" panose="020B0609020204030204" pitchFamily="49" charset="0"/>
              </a:rPr>
              <a:t>Gig0</a:t>
            </a:r>
            <a:r>
              <a:rPr lang="en-US" sz="1600" dirty="0">
                <a:latin typeface="Consolas" panose="020B0609020204030204" pitchFamily="49" charset="0"/>
              </a:rPr>
              <a:t>/0/0/0</a:t>
            </a:r>
          </a:p>
          <a:p>
            <a:r>
              <a:rPr lang="en-US" sz="1600" dirty="0">
                <a:latin typeface="Consolas" panose="020B0609020204030204" pitchFamily="49" charset="0"/>
              </a:rPr>
              <a:t>    delay-measurement</a:t>
            </a:r>
          </a:p>
        </p:txBody>
      </p:sp>
      <p:sp>
        <p:nvSpPr>
          <p:cNvPr id="2" name="Callout: Line 1">
            <a:extLst>
              <a:ext uri="{FF2B5EF4-FFF2-40B4-BE49-F238E27FC236}">
                <a16:creationId xmlns:a16="http://schemas.microsoft.com/office/drawing/2014/main" id="{9FA6E9F2-899A-4990-06ED-6CE90CE93769}"/>
              </a:ext>
            </a:extLst>
          </p:cNvPr>
          <p:cNvSpPr/>
          <p:nvPr/>
        </p:nvSpPr>
        <p:spPr>
          <a:xfrm>
            <a:off x="7103550" y="4768218"/>
            <a:ext cx="4990127" cy="1414124"/>
          </a:xfrm>
          <a:prstGeom prst="borderCallout1">
            <a:avLst>
              <a:gd name="adj1" fmla="val 18750"/>
              <a:gd name="adj2" fmla="val -8333"/>
              <a:gd name="adj3" fmla="val 55368"/>
              <a:gd name="adj4" fmla="val -77040"/>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This will:</a:t>
            </a:r>
          </a:p>
          <a:p>
            <a:r>
              <a:rPr lang="en-US" dirty="0">
                <a:solidFill>
                  <a:schemeClr val="tx1"/>
                </a:solidFill>
              </a:rPr>
              <a:t>• Start PM probes on interface</a:t>
            </a:r>
          </a:p>
          <a:p>
            <a:r>
              <a:rPr lang="en-US" dirty="0">
                <a:solidFill>
                  <a:schemeClr val="tx1"/>
                </a:solidFill>
              </a:rPr>
              <a:t>• Provide Dynamic measurement values to IGP</a:t>
            </a:r>
          </a:p>
          <a:p>
            <a:r>
              <a:rPr lang="en-US" dirty="0">
                <a:solidFill>
                  <a:schemeClr val="tx1"/>
                </a:solidFill>
              </a:rPr>
              <a:t>• </a:t>
            </a:r>
            <a:r>
              <a:rPr lang="en-US" dirty="0">
                <a:solidFill>
                  <a:srgbClr val="FF0000"/>
                </a:solidFill>
              </a:rPr>
              <a:t>Both ends must be PM capable (provide HW based timestamping)</a:t>
            </a:r>
            <a:endParaRPr lang="en-US" b="1" dirty="0">
              <a:solidFill>
                <a:srgbClr val="FF0000"/>
              </a:solidFill>
            </a:endParaRPr>
          </a:p>
        </p:txBody>
      </p:sp>
      <p:pic>
        <p:nvPicPr>
          <p:cNvPr id="10" name="Picture 9" descr="A diagram of a diagram&#10;&#10;AI-generated content may be incorrect.">
            <a:extLst>
              <a:ext uri="{FF2B5EF4-FFF2-40B4-BE49-F238E27FC236}">
                <a16:creationId xmlns:a16="http://schemas.microsoft.com/office/drawing/2014/main" id="{75408BAF-3F66-3B94-09B9-6218ABC1D3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3918" y="1257207"/>
            <a:ext cx="10181202" cy="3459780"/>
          </a:xfrm>
          <a:prstGeom prst="rect">
            <a:avLst/>
          </a:prstGeom>
        </p:spPr>
      </p:pic>
    </p:spTree>
    <p:extLst>
      <p:ext uri="{BB962C8B-B14F-4D97-AF65-F5344CB8AC3E}">
        <p14:creationId xmlns:p14="http://schemas.microsoft.com/office/powerpoint/2010/main" val="4151803324"/>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721DBD-20FD-469F-DC45-C9C2BDC8B199}"/>
              </a:ext>
            </a:extLst>
          </p:cNvPr>
          <p:cNvSpPr>
            <a:spLocks noGrp="1"/>
          </p:cNvSpPr>
          <p:nvPr>
            <p:ph type="body" sz="quarter" idx="10"/>
          </p:nvPr>
        </p:nvSpPr>
        <p:spPr/>
        <p:txBody>
          <a:bodyPr/>
          <a:lstStyle/>
          <a:p>
            <a:r>
              <a:rPr lang="pt-BR" dirty="0"/>
              <a:t>LAB7a - SRv6 Flex Algo</a:t>
            </a:r>
            <a:endParaRPr lang="it-IT" dirty="0"/>
          </a:p>
          <a:p>
            <a:r>
              <a:rPr lang="en-US" dirty="0" err="1"/>
              <a:t>LAB7b</a:t>
            </a:r>
            <a:r>
              <a:rPr lang="en-US" dirty="0"/>
              <a:t> - SRv6 Flex Algo with L3VPN</a:t>
            </a:r>
            <a:endParaRPr lang="it-IT" dirty="0"/>
          </a:p>
          <a:p>
            <a:r>
              <a:rPr lang="en-US" dirty="0" err="1"/>
              <a:t>LAB7c</a:t>
            </a:r>
            <a:r>
              <a:rPr lang="en-US" dirty="0"/>
              <a:t> - SRv6 Flex Algo with L3VPN - Multiple Algo in VRF</a:t>
            </a:r>
            <a:endParaRPr lang="it-IT" dirty="0"/>
          </a:p>
          <a:p>
            <a:endParaRPr lang="it-IT" dirty="0"/>
          </a:p>
        </p:txBody>
      </p:sp>
      <p:sp>
        <p:nvSpPr>
          <p:cNvPr id="3" name="Text Placeholder 2">
            <a:extLst>
              <a:ext uri="{FF2B5EF4-FFF2-40B4-BE49-F238E27FC236}">
                <a16:creationId xmlns:a16="http://schemas.microsoft.com/office/drawing/2014/main" id="{78E53C79-C587-9DEB-BB18-FF32CF2366D9}"/>
              </a:ext>
            </a:extLst>
          </p:cNvPr>
          <p:cNvSpPr>
            <a:spLocks noGrp="1"/>
          </p:cNvSpPr>
          <p:nvPr>
            <p:ph type="body" sz="quarter" idx="11"/>
          </p:nvPr>
        </p:nvSpPr>
        <p:spPr/>
        <p:txBody>
          <a:bodyPr/>
          <a:lstStyle/>
          <a:p>
            <a:r>
              <a:rPr lang="en-US" sz="2800" dirty="0"/>
              <a:t>LAB 7 – SRv6 Flex Algo</a:t>
            </a:r>
          </a:p>
        </p:txBody>
      </p:sp>
    </p:spTree>
    <p:extLst>
      <p:ext uri="{BB962C8B-B14F-4D97-AF65-F5344CB8AC3E}">
        <p14:creationId xmlns:p14="http://schemas.microsoft.com/office/powerpoint/2010/main" val="1519978239"/>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7DF76D3A-5E3E-4BC8-8F39-771134FF4322}"/>
              </a:ext>
            </a:extLst>
          </p:cNvPr>
          <p:cNvSpPr>
            <a:spLocks noGrp="1"/>
          </p:cNvSpPr>
          <p:nvPr>
            <p:ph type="body" idx="1"/>
          </p:nvPr>
        </p:nvSpPr>
        <p:spPr/>
        <p:txBody>
          <a:bodyPr/>
          <a:lstStyle/>
          <a:p>
            <a:r>
              <a:rPr lang="en-US" dirty="0"/>
              <a:t>SRv6 TE and Flex-Algo</a:t>
            </a:r>
            <a:endParaRPr lang="en-US" noProof="0" dirty="0"/>
          </a:p>
        </p:txBody>
      </p:sp>
      <p:sp>
        <p:nvSpPr>
          <p:cNvPr id="2" name="Text Placeholder 1">
            <a:extLst>
              <a:ext uri="{FF2B5EF4-FFF2-40B4-BE49-F238E27FC236}">
                <a16:creationId xmlns:a16="http://schemas.microsoft.com/office/drawing/2014/main" id="{B367786B-A4DD-DB9E-9087-78A451525AAC}"/>
              </a:ext>
            </a:extLst>
          </p:cNvPr>
          <p:cNvSpPr>
            <a:spLocks noGrp="1"/>
          </p:cNvSpPr>
          <p:nvPr>
            <p:ph type="body" sz="quarter" idx="15"/>
          </p:nvPr>
        </p:nvSpPr>
        <p:spPr/>
        <p:txBody>
          <a:bodyPr/>
          <a:lstStyle/>
          <a:p>
            <a:r>
              <a:rPr lang="en-US" dirty="0">
                <a:cs typeface="Calibri" pitchFamily="34" charset="0"/>
              </a:rPr>
              <a:t>SRv6 and service migration</a:t>
            </a:r>
            <a:endParaRPr lang="cs-CZ" dirty="0"/>
          </a:p>
        </p:txBody>
      </p:sp>
      <p:sp>
        <p:nvSpPr>
          <p:cNvPr id="5" name="Zástupný text 4">
            <a:extLst>
              <a:ext uri="{FF2B5EF4-FFF2-40B4-BE49-F238E27FC236}">
                <a16:creationId xmlns:a16="http://schemas.microsoft.com/office/drawing/2014/main" id="{CA46CB7B-0002-4873-B253-4D2438CC3611}"/>
              </a:ext>
            </a:extLst>
          </p:cNvPr>
          <p:cNvSpPr>
            <a:spLocks noGrp="1"/>
          </p:cNvSpPr>
          <p:nvPr>
            <p:ph type="body" sz="quarter" idx="13"/>
          </p:nvPr>
        </p:nvSpPr>
        <p:spPr/>
        <p:txBody>
          <a:bodyPr/>
          <a:lstStyle/>
          <a:p>
            <a:r>
              <a:rPr lang="en-US" dirty="0"/>
              <a:t>SRv6</a:t>
            </a:r>
          </a:p>
        </p:txBody>
      </p:sp>
      <p:sp>
        <p:nvSpPr>
          <p:cNvPr id="3" name="Text Placeholder 2">
            <a:extLst>
              <a:ext uri="{FF2B5EF4-FFF2-40B4-BE49-F238E27FC236}">
                <a16:creationId xmlns:a16="http://schemas.microsoft.com/office/drawing/2014/main" id="{D2A99C0A-9767-D306-4C2B-66493DAE0728}"/>
              </a:ext>
            </a:extLst>
          </p:cNvPr>
          <p:cNvSpPr>
            <a:spLocks noGrp="1"/>
          </p:cNvSpPr>
          <p:nvPr>
            <p:ph type="body" sz="quarter" idx="14"/>
          </p:nvPr>
        </p:nvSpPr>
        <p:spPr/>
        <p:txBody>
          <a:bodyPr/>
          <a:lstStyle/>
          <a:p>
            <a:r>
              <a:rPr lang="en-US" dirty="0"/>
              <a:t>SRv6 TE</a:t>
            </a:r>
          </a:p>
        </p:txBody>
      </p:sp>
    </p:spTree>
    <p:extLst>
      <p:ext uri="{BB962C8B-B14F-4D97-AF65-F5344CB8AC3E}">
        <p14:creationId xmlns:p14="http://schemas.microsoft.com/office/powerpoint/2010/main" val="1390204334"/>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0C4DE83-9298-809E-261F-86F4D10717BC}"/>
              </a:ext>
            </a:extLst>
          </p:cNvPr>
          <p:cNvSpPr>
            <a:spLocks noGrp="1"/>
          </p:cNvSpPr>
          <p:nvPr>
            <p:ph type="body" sz="quarter" idx="10"/>
          </p:nvPr>
        </p:nvSpPr>
        <p:spPr/>
        <p:txBody>
          <a:bodyPr/>
          <a:lstStyle/>
          <a:p>
            <a:r>
              <a:rPr lang="en-US" dirty="0"/>
              <a:t>An SR Policy is identified through the following tuple:</a:t>
            </a:r>
          </a:p>
          <a:p>
            <a:pPr lvl="1"/>
            <a:r>
              <a:rPr lang="en-US" dirty="0"/>
              <a:t>The head end where the policy is instantiated/implemented</a:t>
            </a:r>
          </a:p>
          <a:p>
            <a:pPr lvl="1"/>
            <a:r>
              <a:rPr lang="en-US" dirty="0"/>
              <a:t>The endpoint (i.e. the destination of the policy)</a:t>
            </a:r>
          </a:p>
          <a:p>
            <a:pPr lvl="1"/>
            <a:r>
              <a:rPr lang="en-US" dirty="0"/>
              <a:t>The color (an arbitrary numerical value)</a:t>
            </a:r>
          </a:p>
          <a:p>
            <a:r>
              <a:rPr lang="en-US" dirty="0"/>
              <a:t>At a given head end, an SR Policy is fully identified by the &lt;color, endpoint&gt; tuple</a:t>
            </a:r>
          </a:p>
          <a:p>
            <a:r>
              <a:rPr lang="en-US" dirty="0"/>
              <a:t>An end point can be specified as an IPv4 or </a:t>
            </a:r>
            <a:r>
              <a:rPr lang="en-US" b="1" dirty="0"/>
              <a:t>IPv6</a:t>
            </a:r>
            <a:r>
              <a:rPr lang="en-US" dirty="0"/>
              <a:t> address</a:t>
            </a:r>
          </a:p>
          <a:p>
            <a:r>
              <a:rPr lang="en-US" dirty="0"/>
              <a:t>The result of path computation is always a list of segments, so SR labels</a:t>
            </a:r>
          </a:p>
          <a:p>
            <a:r>
              <a:rPr lang="en-US" dirty="0"/>
              <a:t>Automated color-based steering</a:t>
            </a:r>
          </a:p>
          <a:p>
            <a:r>
              <a:rPr lang="en-US" dirty="0"/>
              <a:t>PCE/PCC is possible (multi-domain) MPLS, it is a must for SRv6</a:t>
            </a:r>
          </a:p>
        </p:txBody>
      </p:sp>
      <p:sp>
        <p:nvSpPr>
          <p:cNvPr id="7" name="Text Placeholder 6">
            <a:extLst>
              <a:ext uri="{FF2B5EF4-FFF2-40B4-BE49-F238E27FC236}">
                <a16:creationId xmlns:a16="http://schemas.microsoft.com/office/drawing/2014/main" id="{6B0DEB13-3EF7-67DA-5148-FF05E855D34F}"/>
              </a:ext>
            </a:extLst>
          </p:cNvPr>
          <p:cNvSpPr>
            <a:spLocks noGrp="1"/>
          </p:cNvSpPr>
          <p:nvPr>
            <p:ph type="body" sz="quarter" idx="11"/>
          </p:nvPr>
        </p:nvSpPr>
        <p:spPr/>
        <p:txBody>
          <a:bodyPr/>
          <a:lstStyle/>
          <a:p>
            <a:r>
              <a:rPr lang="en-US" dirty="0"/>
              <a:t>SR Policy</a:t>
            </a:r>
          </a:p>
        </p:txBody>
      </p:sp>
    </p:spTree>
    <p:extLst>
      <p:ext uri="{BB962C8B-B14F-4D97-AF65-F5344CB8AC3E}">
        <p14:creationId xmlns:p14="http://schemas.microsoft.com/office/powerpoint/2010/main" val="2414286213"/>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0C4DE83-9298-809E-261F-86F4D10717BC}"/>
              </a:ext>
            </a:extLst>
          </p:cNvPr>
          <p:cNvSpPr>
            <a:spLocks noGrp="1"/>
          </p:cNvSpPr>
          <p:nvPr>
            <p:ph type="body" sz="quarter" idx="10"/>
          </p:nvPr>
        </p:nvSpPr>
        <p:spPr/>
        <p:txBody>
          <a:bodyPr/>
          <a:lstStyle/>
          <a:p>
            <a:r>
              <a:rPr lang="en-US" dirty="0"/>
              <a:t>Dynamic path computation </a:t>
            </a:r>
            <a:r>
              <a:rPr lang="en-US" b="1" dirty="0"/>
              <a:t>is not supported on the headend router </a:t>
            </a:r>
            <a:r>
              <a:rPr lang="en-US" dirty="0"/>
              <a:t>for an SRv6 policy. You would need to either configure an explicit path or configure a PCE that would perform the computation on behalf of the headend router. Use explicit path or PCE</a:t>
            </a:r>
          </a:p>
        </p:txBody>
      </p:sp>
      <p:sp>
        <p:nvSpPr>
          <p:cNvPr id="7" name="Text Placeholder 6">
            <a:extLst>
              <a:ext uri="{FF2B5EF4-FFF2-40B4-BE49-F238E27FC236}">
                <a16:creationId xmlns:a16="http://schemas.microsoft.com/office/drawing/2014/main" id="{6B0DEB13-3EF7-67DA-5148-FF05E855D34F}"/>
              </a:ext>
            </a:extLst>
          </p:cNvPr>
          <p:cNvSpPr>
            <a:spLocks noGrp="1"/>
          </p:cNvSpPr>
          <p:nvPr>
            <p:ph type="body" sz="quarter" idx="11"/>
          </p:nvPr>
        </p:nvSpPr>
        <p:spPr/>
        <p:txBody>
          <a:bodyPr/>
          <a:lstStyle/>
          <a:p>
            <a:r>
              <a:rPr lang="en-US" dirty="0"/>
              <a:t>SRv6 TE restriction</a:t>
            </a:r>
          </a:p>
        </p:txBody>
      </p:sp>
      <p:sp>
        <p:nvSpPr>
          <p:cNvPr id="8" name="Rectangle 7">
            <a:extLst>
              <a:ext uri="{FF2B5EF4-FFF2-40B4-BE49-F238E27FC236}">
                <a16:creationId xmlns:a16="http://schemas.microsoft.com/office/drawing/2014/main" id="{D22F8B01-6D02-D13E-6456-8B9B4FC1AEA8}"/>
              </a:ext>
            </a:extLst>
          </p:cNvPr>
          <p:cNvSpPr/>
          <p:nvPr/>
        </p:nvSpPr>
        <p:spPr>
          <a:xfrm>
            <a:off x="2337889" y="2765461"/>
            <a:ext cx="6486305" cy="3477875"/>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RP/0/RP0/</a:t>
            </a:r>
            <a:r>
              <a:rPr lang="en-US" sz="1100" dirty="0" err="1">
                <a:latin typeface="Consolas" panose="020B0609020204030204" pitchFamily="49" charset="0"/>
              </a:rPr>
              <a:t>CPU0:R33#sh</a:t>
            </a:r>
            <a:r>
              <a:rPr lang="en-US" sz="1100" dirty="0">
                <a:latin typeface="Consolas" panose="020B0609020204030204" pitchFamily="49" charset="0"/>
              </a:rPr>
              <a:t> segment-routing traffic-</a:t>
            </a:r>
            <a:r>
              <a:rPr lang="en-US" sz="1100" dirty="0" err="1">
                <a:latin typeface="Consolas" panose="020B0609020204030204" pitchFamily="49" charset="0"/>
              </a:rPr>
              <a:t>eng</a:t>
            </a:r>
            <a:r>
              <a:rPr lang="en-US" sz="1100" dirty="0">
                <a:latin typeface="Consolas" panose="020B0609020204030204" pitchFamily="49" charset="0"/>
              </a:rPr>
              <a:t> policy color 300</a:t>
            </a:r>
          </a:p>
          <a:p>
            <a:r>
              <a:rPr lang="en-US" sz="1100" dirty="0">
                <a:latin typeface="Consolas" panose="020B0609020204030204" pitchFamily="49" charset="0"/>
              </a:rPr>
              <a:t>Tue May 27 11:48:21.987 UTC</a:t>
            </a:r>
          </a:p>
          <a:p>
            <a:endParaRPr lang="en-US" sz="1100" dirty="0">
              <a:latin typeface="Consolas" panose="020B0609020204030204" pitchFamily="49" charset="0"/>
            </a:endParaRPr>
          </a:p>
          <a:p>
            <a:r>
              <a:rPr lang="en-US" sz="1100" dirty="0">
                <a:latin typeface="Consolas" panose="020B0609020204030204" pitchFamily="49" charset="0"/>
              </a:rPr>
              <a:t>SR-TE policy database</a:t>
            </a:r>
          </a:p>
          <a:p>
            <a:r>
              <a:rPr lang="en-US" sz="1100" dirty="0">
                <a:latin typeface="Consolas" panose="020B0609020204030204" pitchFamily="49" charset="0"/>
              </a:rPr>
              <a:t>---------------------</a:t>
            </a:r>
          </a:p>
          <a:p>
            <a:endParaRPr lang="en-US" sz="1100" dirty="0">
              <a:latin typeface="Consolas" panose="020B0609020204030204" pitchFamily="49" charset="0"/>
            </a:endParaRPr>
          </a:p>
          <a:p>
            <a:r>
              <a:rPr lang="en-US" sz="1100" dirty="0">
                <a:latin typeface="Consolas" panose="020B0609020204030204" pitchFamily="49" charset="0"/>
              </a:rPr>
              <a:t>Color: 300, End-point: 2001:9999::4</a:t>
            </a:r>
          </a:p>
          <a:p>
            <a:r>
              <a:rPr lang="en-US" sz="1100" dirty="0">
                <a:latin typeface="Consolas" panose="020B0609020204030204" pitchFamily="49" charset="0"/>
              </a:rPr>
              <a:t>  Name: </a:t>
            </a:r>
            <a:r>
              <a:rPr lang="en-US" sz="1100" dirty="0" err="1">
                <a:latin typeface="Consolas" panose="020B0609020204030204" pitchFamily="49" charset="0"/>
              </a:rPr>
              <a:t>srte_c_300_ep_2001:9999</a:t>
            </a:r>
            <a:r>
              <a:rPr lang="en-US" sz="1100" dirty="0">
                <a:latin typeface="Consolas" panose="020B0609020204030204" pitchFamily="49" charset="0"/>
              </a:rPr>
              <a:t>::4</a:t>
            </a:r>
          </a:p>
          <a:p>
            <a:r>
              <a:rPr lang="en-US" sz="1100" dirty="0">
                <a:latin typeface="Consolas" panose="020B0609020204030204" pitchFamily="49" charset="0"/>
              </a:rPr>
              <a:t>  Status:</a:t>
            </a:r>
          </a:p>
          <a:p>
            <a:r>
              <a:rPr lang="en-US" sz="1100" dirty="0">
                <a:latin typeface="Consolas" panose="020B0609020204030204" pitchFamily="49" charset="0"/>
              </a:rPr>
              <a:t>    Admin: up  Operational: up for 00:01:14 (since May 27 11:47:07.268)</a:t>
            </a:r>
          </a:p>
          <a:p>
            <a:r>
              <a:rPr lang="en-US" sz="1100" dirty="0">
                <a:latin typeface="Consolas" panose="020B0609020204030204" pitchFamily="49" charset="0"/>
              </a:rPr>
              <a:t>  Candidate-paths:</a:t>
            </a:r>
          </a:p>
          <a:p>
            <a:r>
              <a:rPr lang="en-US" sz="1100" dirty="0">
                <a:latin typeface="Consolas" panose="020B0609020204030204" pitchFamily="49" charset="0"/>
              </a:rPr>
              <a:t>    Preference: 200 (BGP </a:t>
            </a:r>
            <a:r>
              <a:rPr lang="en-US" sz="1100" dirty="0" err="1">
                <a:latin typeface="Consolas" panose="020B0609020204030204" pitchFamily="49" charset="0"/>
              </a:rPr>
              <a:t>ODN</a:t>
            </a:r>
            <a:r>
              <a:rPr lang="en-US" sz="1100" dirty="0">
                <a:latin typeface="Consolas" panose="020B0609020204030204" pitchFamily="49" charset="0"/>
              </a:rPr>
              <a:t>) (inactive) (shutdown)</a:t>
            </a:r>
          </a:p>
          <a:p>
            <a:r>
              <a:rPr lang="en-US" sz="1100" dirty="0">
                <a:latin typeface="Consolas" panose="020B0609020204030204" pitchFamily="49" charset="0"/>
              </a:rPr>
              <a:t>      Requested </a:t>
            </a:r>
            <a:r>
              <a:rPr lang="en-US" sz="1100" dirty="0" err="1">
                <a:latin typeface="Consolas" panose="020B0609020204030204" pitchFamily="49" charset="0"/>
              </a:rPr>
              <a:t>BSID</a:t>
            </a:r>
            <a:r>
              <a:rPr lang="en-US" sz="1100" dirty="0">
                <a:latin typeface="Consolas" panose="020B0609020204030204" pitchFamily="49" charset="0"/>
              </a:rPr>
              <a:t>: dynamic</a:t>
            </a:r>
          </a:p>
          <a:p>
            <a:r>
              <a:rPr lang="en-US" sz="1100" dirty="0">
                <a:latin typeface="Consolas" panose="020B0609020204030204" pitchFamily="49" charset="0"/>
              </a:rPr>
              <a:t>      Constraints:</a:t>
            </a:r>
          </a:p>
          <a:p>
            <a:r>
              <a:rPr lang="en-US" sz="1100" dirty="0">
                <a:latin typeface="Consolas" panose="020B0609020204030204" pitchFamily="49" charset="0"/>
              </a:rPr>
              <a:t>        Protection Type: protected-preferred</a:t>
            </a:r>
          </a:p>
          <a:p>
            <a:r>
              <a:rPr lang="en-US" sz="1100" dirty="0">
                <a:latin typeface="Consolas" panose="020B0609020204030204" pitchFamily="49" charset="0"/>
              </a:rPr>
              <a:t>        Maximum SID Depth: 13 </a:t>
            </a:r>
          </a:p>
          <a:p>
            <a:r>
              <a:rPr lang="en-US" sz="1100" dirty="0">
                <a:latin typeface="Consolas" panose="020B0609020204030204" pitchFamily="49" charset="0"/>
              </a:rPr>
              <a:t>      Dynamic (inactive)</a:t>
            </a:r>
          </a:p>
          <a:p>
            <a:r>
              <a:rPr lang="en-US" sz="1100" dirty="0">
                <a:latin typeface="Consolas" panose="020B0609020204030204" pitchFamily="49" charset="0"/>
              </a:rPr>
              <a:t>      </a:t>
            </a:r>
            <a:r>
              <a:rPr lang="en-US" sz="1100" b="1" dirty="0">
                <a:solidFill>
                  <a:srgbClr val="FF0000"/>
                </a:solidFill>
                <a:latin typeface="Consolas" panose="020B0609020204030204" pitchFamily="49" charset="0"/>
              </a:rPr>
              <a:t>Last error: HE computation not supported for SRV6 policy</a:t>
            </a:r>
          </a:p>
          <a:p>
            <a:r>
              <a:rPr lang="en-US" sz="1100" dirty="0">
                <a:latin typeface="Consolas" panose="020B0609020204030204" pitchFamily="49" charset="0"/>
              </a:rPr>
              <a:t>        Metric Type: </a:t>
            </a:r>
            <a:r>
              <a:rPr lang="en-US" sz="1100" dirty="0" err="1">
                <a:latin typeface="Consolas" panose="020B0609020204030204" pitchFamily="49" charset="0"/>
              </a:rPr>
              <a:t>HOPCOUNT</a:t>
            </a:r>
            <a:r>
              <a:rPr lang="en-US" sz="1100" dirty="0">
                <a:latin typeface="Consolas" panose="020B0609020204030204" pitchFamily="49" charset="0"/>
              </a:rPr>
              <a:t>,   Path Accumulated Metric: 0 </a:t>
            </a:r>
          </a:p>
          <a:p>
            <a:r>
              <a:rPr lang="en-US" sz="1100" dirty="0">
                <a:latin typeface="Consolas" panose="020B0609020204030204" pitchFamily="49" charset="0"/>
              </a:rPr>
              <a:t>-- cut --</a:t>
            </a:r>
          </a:p>
        </p:txBody>
      </p:sp>
    </p:spTree>
    <p:extLst>
      <p:ext uri="{BB962C8B-B14F-4D97-AF65-F5344CB8AC3E}">
        <p14:creationId xmlns:p14="http://schemas.microsoft.com/office/powerpoint/2010/main" val="2401520378"/>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0C4DE83-9298-809E-261F-86F4D10717BC}"/>
              </a:ext>
            </a:extLst>
          </p:cNvPr>
          <p:cNvSpPr>
            <a:spLocks noGrp="1"/>
          </p:cNvSpPr>
          <p:nvPr>
            <p:ph type="body" sz="quarter" idx="10"/>
          </p:nvPr>
        </p:nvSpPr>
        <p:spPr/>
        <p:txBody>
          <a:bodyPr/>
          <a:lstStyle/>
          <a:p>
            <a:r>
              <a:rPr lang="en-US" sz="1800" dirty="0"/>
              <a:t>Use SRv6 TE policy</a:t>
            </a:r>
          </a:p>
          <a:p>
            <a:r>
              <a:rPr lang="en-US" sz="1800" dirty="0"/>
              <a:t>use "distribute link-state" in ISIS config</a:t>
            </a:r>
          </a:p>
          <a:p>
            <a:r>
              <a:rPr lang="en-US" sz="1800" dirty="0"/>
              <a:t>most common steering is using BGP color </a:t>
            </a:r>
            <a:r>
              <a:rPr lang="en-US" sz="1800" dirty="0" err="1"/>
              <a:t>ext</a:t>
            </a:r>
            <a:r>
              <a:rPr lang="en-US" sz="1800" dirty="0"/>
              <a:t>-community</a:t>
            </a:r>
          </a:p>
        </p:txBody>
      </p:sp>
      <p:sp>
        <p:nvSpPr>
          <p:cNvPr id="7" name="Text Placeholder 6">
            <a:extLst>
              <a:ext uri="{FF2B5EF4-FFF2-40B4-BE49-F238E27FC236}">
                <a16:creationId xmlns:a16="http://schemas.microsoft.com/office/drawing/2014/main" id="{6B0DEB13-3EF7-67DA-5148-FF05E855D34F}"/>
              </a:ext>
            </a:extLst>
          </p:cNvPr>
          <p:cNvSpPr>
            <a:spLocks noGrp="1"/>
          </p:cNvSpPr>
          <p:nvPr>
            <p:ph type="body" sz="quarter" idx="11"/>
          </p:nvPr>
        </p:nvSpPr>
        <p:spPr/>
        <p:txBody>
          <a:bodyPr/>
          <a:lstStyle/>
          <a:p>
            <a:r>
              <a:rPr lang="en-US" dirty="0"/>
              <a:t>SRv6 TE</a:t>
            </a:r>
          </a:p>
        </p:txBody>
      </p:sp>
      <p:sp>
        <p:nvSpPr>
          <p:cNvPr id="8" name="Rectangle 7">
            <a:extLst>
              <a:ext uri="{FF2B5EF4-FFF2-40B4-BE49-F238E27FC236}">
                <a16:creationId xmlns:a16="http://schemas.microsoft.com/office/drawing/2014/main" id="{D22F8B01-6D02-D13E-6456-8B9B4FC1AEA8}"/>
              </a:ext>
            </a:extLst>
          </p:cNvPr>
          <p:cNvSpPr/>
          <p:nvPr/>
        </p:nvSpPr>
        <p:spPr>
          <a:xfrm>
            <a:off x="135462" y="2146029"/>
            <a:ext cx="2735557" cy="4493538"/>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router isis 1</a:t>
            </a:r>
          </a:p>
          <a:p>
            <a:r>
              <a:rPr lang="en-US" sz="1100" b="1" dirty="0">
                <a:latin typeface="Consolas" panose="020B0609020204030204" pitchFamily="49" charset="0"/>
              </a:rPr>
              <a:t>distribute link-state</a:t>
            </a:r>
          </a:p>
          <a:p>
            <a:r>
              <a:rPr lang="en-US" sz="1100" dirty="0">
                <a:latin typeface="Consolas" panose="020B0609020204030204" pitchFamily="49" charset="0"/>
              </a:rPr>
              <a:t> !</a:t>
            </a:r>
          </a:p>
          <a:p>
            <a:r>
              <a:rPr lang="en-US" sz="1100" b="1" dirty="0">
                <a:latin typeface="Consolas" panose="020B0609020204030204" pitchFamily="49" charset="0"/>
              </a:rPr>
              <a:t>segment-routing</a:t>
            </a:r>
          </a:p>
          <a:p>
            <a:r>
              <a:rPr lang="en-US" sz="1100" b="1" dirty="0">
                <a:latin typeface="Consolas" panose="020B0609020204030204" pitchFamily="49" charset="0"/>
              </a:rPr>
              <a:t> traffic-</a:t>
            </a:r>
            <a:r>
              <a:rPr lang="en-US" sz="1100" b="1" dirty="0" err="1">
                <a:latin typeface="Consolas" panose="020B0609020204030204" pitchFamily="49" charset="0"/>
              </a:rPr>
              <a:t>eng</a:t>
            </a:r>
            <a:endParaRPr lang="en-US" sz="1100" b="1" dirty="0">
              <a:latin typeface="Consolas" panose="020B0609020204030204" pitchFamily="49" charset="0"/>
            </a:endParaRPr>
          </a:p>
          <a:p>
            <a:r>
              <a:rPr lang="en-US" sz="1100" b="1" dirty="0">
                <a:latin typeface="Consolas" panose="020B0609020204030204" pitchFamily="49" charset="0"/>
              </a:rPr>
              <a:t>  srv6</a:t>
            </a:r>
          </a:p>
          <a:p>
            <a:r>
              <a:rPr lang="en-US" sz="1100" b="1" dirty="0">
                <a:latin typeface="Consolas" panose="020B0609020204030204" pitchFamily="49" charset="0"/>
              </a:rPr>
              <a:t>  !</a:t>
            </a:r>
          </a:p>
          <a:p>
            <a:r>
              <a:rPr lang="en-US" sz="1100" b="1" dirty="0">
                <a:latin typeface="Consolas" panose="020B0609020204030204" pitchFamily="49" charset="0"/>
              </a:rPr>
              <a:t>  segment-lists</a:t>
            </a:r>
          </a:p>
          <a:p>
            <a:r>
              <a:rPr lang="en-US" sz="1100" b="1" dirty="0">
                <a:latin typeface="Consolas" panose="020B0609020204030204" pitchFamily="49" charset="0"/>
              </a:rPr>
              <a:t>   srv6</a:t>
            </a:r>
          </a:p>
          <a:p>
            <a:r>
              <a:rPr lang="en-US" sz="1100" b="1" dirty="0">
                <a:latin typeface="Consolas" panose="020B0609020204030204" pitchFamily="49" charset="0"/>
              </a:rPr>
              <a:t>    </a:t>
            </a:r>
            <a:r>
              <a:rPr lang="en-US" sz="1100" b="1" dirty="0" err="1">
                <a:latin typeface="Consolas" panose="020B0609020204030204" pitchFamily="49" charset="0"/>
              </a:rPr>
              <a:t>sid</a:t>
            </a:r>
            <a:r>
              <a:rPr lang="en-US" sz="1100" b="1" dirty="0">
                <a:latin typeface="Consolas" panose="020B0609020204030204" pitchFamily="49" charset="0"/>
              </a:rPr>
              <a:t>-format </a:t>
            </a:r>
            <a:r>
              <a:rPr lang="en-US" sz="1100" b="1" dirty="0" err="1">
                <a:latin typeface="Consolas" panose="020B0609020204030204" pitchFamily="49" charset="0"/>
              </a:rPr>
              <a:t>usid-f3216</a:t>
            </a:r>
            <a:endParaRPr lang="en-US" sz="1100" b="1" dirty="0">
              <a:latin typeface="Consolas" panose="020B0609020204030204" pitchFamily="49" charset="0"/>
            </a:endParaRPr>
          </a:p>
          <a:p>
            <a:r>
              <a:rPr lang="en-US" sz="1100" dirty="0">
                <a:latin typeface="Consolas" panose="020B0609020204030204" pitchFamily="49" charset="0"/>
              </a:rPr>
              <a:t>   !</a:t>
            </a:r>
          </a:p>
          <a:p>
            <a:r>
              <a:rPr lang="en-US" sz="1100" dirty="0">
                <a:latin typeface="Consolas" panose="020B0609020204030204" pitchFamily="49" charset="0"/>
              </a:rPr>
              <a:t>   </a:t>
            </a:r>
            <a:r>
              <a:rPr lang="en-US" sz="1100" dirty="0">
                <a:solidFill>
                  <a:srgbClr val="7030A0"/>
                </a:solidFill>
                <a:latin typeface="Consolas" panose="020B0609020204030204" pitchFamily="49" charset="0"/>
              </a:rPr>
              <a:t>segment-list SL-long-path-</a:t>
            </a:r>
            <a:r>
              <a:rPr lang="en-US" sz="1100" dirty="0" err="1">
                <a:solidFill>
                  <a:srgbClr val="7030A0"/>
                </a:solidFill>
                <a:latin typeface="Consolas" panose="020B0609020204030204" pitchFamily="49" charset="0"/>
              </a:rPr>
              <a:t>R04</a:t>
            </a:r>
            <a:endParaRPr lang="en-US" sz="1100" dirty="0">
              <a:solidFill>
                <a:srgbClr val="7030A0"/>
              </a:solidFill>
              <a:latin typeface="Consolas" panose="020B0609020204030204" pitchFamily="49" charset="0"/>
            </a:endParaRPr>
          </a:p>
          <a:p>
            <a:r>
              <a:rPr lang="en-US" sz="1100" dirty="0">
                <a:solidFill>
                  <a:srgbClr val="7030A0"/>
                </a:solidFill>
                <a:latin typeface="Consolas" panose="020B0609020204030204" pitchFamily="49" charset="0"/>
              </a:rPr>
              <a:t>    srv6</a:t>
            </a:r>
          </a:p>
          <a:p>
            <a:r>
              <a:rPr lang="en-US" sz="1100" dirty="0">
                <a:solidFill>
                  <a:srgbClr val="7030A0"/>
                </a:solidFill>
                <a:latin typeface="Consolas" panose="020B0609020204030204" pitchFamily="49" charset="0"/>
              </a:rPr>
              <a:t>     index 10 </a:t>
            </a:r>
            <a:r>
              <a:rPr lang="en-US" sz="1100" dirty="0" err="1">
                <a:solidFill>
                  <a:srgbClr val="7030A0"/>
                </a:solidFill>
                <a:latin typeface="Consolas" panose="020B0609020204030204" pitchFamily="49" charset="0"/>
              </a:rPr>
              <a:t>sid</a:t>
            </a:r>
            <a:r>
              <a:rPr lang="en-US" sz="1100" dirty="0">
                <a:solidFill>
                  <a:srgbClr val="7030A0"/>
                </a:solidFill>
                <a:latin typeface="Consolas" panose="020B0609020204030204" pitchFamily="49" charset="0"/>
              </a:rPr>
              <a:t> </a:t>
            </a:r>
            <a:r>
              <a:rPr lang="en-US" sz="1100" dirty="0" err="1">
                <a:solidFill>
                  <a:srgbClr val="7030A0"/>
                </a:solidFill>
                <a:latin typeface="Consolas" panose="020B0609020204030204" pitchFamily="49" charset="0"/>
              </a:rPr>
              <a:t>fc00:ab00:21</a:t>
            </a:r>
            <a:r>
              <a:rPr lang="en-US" sz="1100" dirty="0">
                <a:solidFill>
                  <a:srgbClr val="7030A0"/>
                </a:solidFill>
                <a:latin typeface="Consolas" panose="020B0609020204030204" pitchFamily="49" charset="0"/>
              </a:rPr>
              <a:t>::</a:t>
            </a:r>
          </a:p>
          <a:p>
            <a:r>
              <a:rPr lang="en-US" sz="1100" dirty="0">
                <a:solidFill>
                  <a:srgbClr val="7030A0"/>
                </a:solidFill>
                <a:latin typeface="Consolas" panose="020B0609020204030204" pitchFamily="49" charset="0"/>
              </a:rPr>
              <a:t>     index 20 </a:t>
            </a:r>
            <a:r>
              <a:rPr lang="en-US" sz="1100" dirty="0" err="1">
                <a:solidFill>
                  <a:srgbClr val="7030A0"/>
                </a:solidFill>
                <a:latin typeface="Consolas" panose="020B0609020204030204" pitchFamily="49" charset="0"/>
              </a:rPr>
              <a:t>sid</a:t>
            </a:r>
            <a:r>
              <a:rPr lang="en-US" sz="1100" dirty="0">
                <a:solidFill>
                  <a:srgbClr val="7030A0"/>
                </a:solidFill>
                <a:latin typeface="Consolas" panose="020B0609020204030204" pitchFamily="49" charset="0"/>
              </a:rPr>
              <a:t> </a:t>
            </a:r>
            <a:r>
              <a:rPr lang="en-US" sz="1100" dirty="0" err="1">
                <a:solidFill>
                  <a:srgbClr val="7030A0"/>
                </a:solidFill>
                <a:latin typeface="Consolas" panose="020B0609020204030204" pitchFamily="49" charset="0"/>
              </a:rPr>
              <a:t>fc00:ab00:31</a:t>
            </a:r>
            <a:r>
              <a:rPr lang="en-US" sz="1100" dirty="0">
                <a:solidFill>
                  <a:srgbClr val="7030A0"/>
                </a:solidFill>
                <a:latin typeface="Consolas" panose="020B0609020204030204" pitchFamily="49" charset="0"/>
              </a:rPr>
              <a:t>::</a:t>
            </a:r>
          </a:p>
          <a:p>
            <a:r>
              <a:rPr lang="en-US" sz="1100" dirty="0">
                <a:solidFill>
                  <a:srgbClr val="7030A0"/>
                </a:solidFill>
                <a:latin typeface="Consolas" panose="020B0609020204030204" pitchFamily="49" charset="0"/>
              </a:rPr>
              <a:t>     index 30 </a:t>
            </a:r>
            <a:r>
              <a:rPr lang="en-US" sz="1100" dirty="0" err="1">
                <a:solidFill>
                  <a:srgbClr val="7030A0"/>
                </a:solidFill>
                <a:latin typeface="Consolas" panose="020B0609020204030204" pitchFamily="49" charset="0"/>
              </a:rPr>
              <a:t>sid</a:t>
            </a:r>
            <a:r>
              <a:rPr lang="en-US" sz="1100" dirty="0">
                <a:solidFill>
                  <a:srgbClr val="7030A0"/>
                </a:solidFill>
                <a:latin typeface="Consolas" panose="020B0609020204030204" pitchFamily="49" charset="0"/>
              </a:rPr>
              <a:t> </a:t>
            </a:r>
            <a:r>
              <a:rPr lang="en-US" sz="1100" dirty="0" err="1">
                <a:solidFill>
                  <a:srgbClr val="7030A0"/>
                </a:solidFill>
                <a:latin typeface="Consolas" panose="020B0609020204030204" pitchFamily="49" charset="0"/>
              </a:rPr>
              <a:t>fc00:ab00:13</a:t>
            </a:r>
            <a:r>
              <a:rPr lang="en-US" sz="1100" dirty="0">
                <a:solidFill>
                  <a:srgbClr val="7030A0"/>
                </a:solidFill>
                <a:latin typeface="Consolas" panose="020B0609020204030204" pitchFamily="49" charset="0"/>
              </a:rPr>
              <a:t>::</a:t>
            </a:r>
          </a:p>
          <a:p>
            <a:r>
              <a:rPr lang="en-US" sz="1100" dirty="0">
                <a:solidFill>
                  <a:srgbClr val="7030A0"/>
                </a:solidFill>
                <a:latin typeface="Consolas" panose="020B0609020204030204" pitchFamily="49" charset="0"/>
              </a:rPr>
              <a:t>     index 40 </a:t>
            </a:r>
            <a:r>
              <a:rPr lang="en-US" sz="1100" dirty="0" err="1">
                <a:solidFill>
                  <a:srgbClr val="7030A0"/>
                </a:solidFill>
                <a:latin typeface="Consolas" panose="020B0609020204030204" pitchFamily="49" charset="0"/>
              </a:rPr>
              <a:t>sid</a:t>
            </a:r>
            <a:r>
              <a:rPr lang="en-US" sz="1100" dirty="0">
                <a:solidFill>
                  <a:srgbClr val="7030A0"/>
                </a:solidFill>
                <a:latin typeface="Consolas" panose="020B0609020204030204" pitchFamily="49" charset="0"/>
              </a:rPr>
              <a:t> </a:t>
            </a:r>
            <a:r>
              <a:rPr lang="en-US" sz="1100" dirty="0" err="1">
                <a:solidFill>
                  <a:srgbClr val="7030A0"/>
                </a:solidFill>
                <a:latin typeface="Consolas" panose="020B0609020204030204" pitchFamily="49" charset="0"/>
              </a:rPr>
              <a:t>fc00:ab00:1</a:t>
            </a:r>
            <a:r>
              <a:rPr lang="en-US" sz="1100" dirty="0">
                <a:solidFill>
                  <a:srgbClr val="7030A0"/>
                </a:solidFill>
                <a:latin typeface="Consolas" panose="020B0609020204030204" pitchFamily="49" charset="0"/>
              </a:rPr>
              <a:t>::</a:t>
            </a:r>
          </a:p>
          <a:p>
            <a:r>
              <a:rPr lang="en-US" sz="1100" dirty="0">
                <a:solidFill>
                  <a:srgbClr val="7030A0"/>
                </a:solidFill>
                <a:latin typeface="Consolas" panose="020B0609020204030204" pitchFamily="49" charset="0"/>
              </a:rPr>
              <a:t>     index 50 </a:t>
            </a:r>
            <a:r>
              <a:rPr lang="en-US" sz="1100" dirty="0" err="1">
                <a:solidFill>
                  <a:srgbClr val="7030A0"/>
                </a:solidFill>
                <a:latin typeface="Consolas" panose="020B0609020204030204" pitchFamily="49" charset="0"/>
              </a:rPr>
              <a:t>sid</a:t>
            </a:r>
            <a:r>
              <a:rPr lang="en-US" sz="1100" dirty="0">
                <a:solidFill>
                  <a:srgbClr val="7030A0"/>
                </a:solidFill>
                <a:latin typeface="Consolas" panose="020B0609020204030204" pitchFamily="49" charset="0"/>
              </a:rPr>
              <a:t> </a:t>
            </a:r>
            <a:r>
              <a:rPr lang="en-US" sz="1100" dirty="0" err="1">
                <a:solidFill>
                  <a:srgbClr val="7030A0"/>
                </a:solidFill>
                <a:latin typeface="Consolas" panose="020B0609020204030204" pitchFamily="49" charset="0"/>
              </a:rPr>
              <a:t>fc00:ab00:3</a:t>
            </a:r>
            <a:r>
              <a:rPr lang="en-US" sz="1100" dirty="0">
                <a:solidFill>
                  <a:srgbClr val="7030A0"/>
                </a:solidFill>
                <a:latin typeface="Consolas" panose="020B0609020204030204" pitchFamily="49" charset="0"/>
              </a:rPr>
              <a:t>::</a:t>
            </a:r>
          </a:p>
          <a:p>
            <a:r>
              <a:rPr lang="en-US" sz="1100" dirty="0">
                <a:solidFill>
                  <a:srgbClr val="7030A0"/>
                </a:solidFill>
                <a:latin typeface="Consolas" panose="020B0609020204030204" pitchFamily="49" charset="0"/>
              </a:rPr>
              <a:t>     index 60 </a:t>
            </a:r>
            <a:r>
              <a:rPr lang="en-US" sz="1100" dirty="0" err="1">
                <a:solidFill>
                  <a:srgbClr val="7030A0"/>
                </a:solidFill>
                <a:latin typeface="Consolas" panose="020B0609020204030204" pitchFamily="49" charset="0"/>
              </a:rPr>
              <a:t>sid</a:t>
            </a:r>
            <a:r>
              <a:rPr lang="en-US" sz="1100" dirty="0">
                <a:solidFill>
                  <a:srgbClr val="7030A0"/>
                </a:solidFill>
                <a:latin typeface="Consolas" panose="020B0609020204030204" pitchFamily="49" charset="0"/>
              </a:rPr>
              <a:t> </a:t>
            </a:r>
            <a:r>
              <a:rPr lang="en-US" sz="1100" dirty="0" err="1">
                <a:solidFill>
                  <a:srgbClr val="7030A0"/>
                </a:solidFill>
                <a:latin typeface="Consolas" panose="020B0609020204030204" pitchFamily="49" charset="0"/>
              </a:rPr>
              <a:t>fc00:ab00:12</a:t>
            </a:r>
            <a:r>
              <a:rPr lang="en-US" sz="1100" dirty="0">
                <a:solidFill>
                  <a:srgbClr val="7030A0"/>
                </a:solidFill>
                <a:latin typeface="Consolas" panose="020B0609020204030204" pitchFamily="49" charset="0"/>
              </a:rPr>
              <a:t>::</a:t>
            </a:r>
          </a:p>
          <a:p>
            <a:r>
              <a:rPr lang="en-US" sz="1100" dirty="0">
                <a:solidFill>
                  <a:srgbClr val="7030A0"/>
                </a:solidFill>
                <a:latin typeface="Consolas" panose="020B0609020204030204" pitchFamily="49" charset="0"/>
              </a:rPr>
              <a:t>     index 70 </a:t>
            </a:r>
            <a:r>
              <a:rPr lang="en-US" sz="1100" dirty="0" err="1">
                <a:solidFill>
                  <a:srgbClr val="7030A0"/>
                </a:solidFill>
                <a:latin typeface="Consolas" panose="020B0609020204030204" pitchFamily="49" charset="0"/>
              </a:rPr>
              <a:t>sid</a:t>
            </a:r>
            <a:r>
              <a:rPr lang="en-US" sz="1100" dirty="0">
                <a:solidFill>
                  <a:srgbClr val="7030A0"/>
                </a:solidFill>
                <a:latin typeface="Consolas" panose="020B0609020204030204" pitchFamily="49" charset="0"/>
              </a:rPr>
              <a:t> </a:t>
            </a:r>
            <a:r>
              <a:rPr lang="en-US" sz="1100" dirty="0" err="1">
                <a:solidFill>
                  <a:srgbClr val="7030A0"/>
                </a:solidFill>
                <a:latin typeface="Consolas" panose="020B0609020204030204" pitchFamily="49" charset="0"/>
              </a:rPr>
              <a:t>fc00:ab00:2</a:t>
            </a:r>
            <a:r>
              <a:rPr lang="en-US" sz="1100" dirty="0">
                <a:solidFill>
                  <a:srgbClr val="7030A0"/>
                </a:solidFill>
                <a:latin typeface="Consolas" panose="020B0609020204030204" pitchFamily="49" charset="0"/>
              </a:rPr>
              <a:t>::</a:t>
            </a:r>
          </a:p>
          <a:p>
            <a:r>
              <a:rPr lang="en-US" sz="1100" dirty="0">
                <a:solidFill>
                  <a:srgbClr val="7030A0"/>
                </a:solidFill>
                <a:latin typeface="Consolas" panose="020B0609020204030204" pitchFamily="49" charset="0"/>
              </a:rPr>
              <a:t>     index 80 </a:t>
            </a:r>
            <a:r>
              <a:rPr lang="en-US" sz="1100" dirty="0" err="1">
                <a:solidFill>
                  <a:srgbClr val="7030A0"/>
                </a:solidFill>
                <a:latin typeface="Consolas" panose="020B0609020204030204" pitchFamily="49" charset="0"/>
              </a:rPr>
              <a:t>sid</a:t>
            </a:r>
            <a:r>
              <a:rPr lang="en-US" sz="1100" dirty="0">
                <a:solidFill>
                  <a:srgbClr val="7030A0"/>
                </a:solidFill>
                <a:latin typeface="Consolas" panose="020B0609020204030204" pitchFamily="49" charset="0"/>
              </a:rPr>
              <a:t> </a:t>
            </a:r>
            <a:r>
              <a:rPr lang="en-US" sz="1100" dirty="0" err="1">
                <a:solidFill>
                  <a:srgbClr val="7030A0"/>
                </a:solidFill>
                <a:latin typeface="Consolas" panose="020B0609020204030204" pitchFamily="49" charset="0"/>
              </a:rPr>
              <a:t>fc00:ab00:22</a:t>
            </a:r>
            <a:r>
              <a:rPr lang="en-US" sz="1100" dirty="0">
                <a:solidFill>
                  <a:srgbClr val="7030A0"/>
                </a:solidFill>
                <a:latin typeface="Consolas" panose="020B0609020204030204" pitchFamily="49" charset="0"/>
              </a:rPr>
              <a:t>::</a:t>
            </a:r>
          </a:p>
          <a:p>
            <a:r>
              <a:rPr lang="en-US" sz="1100" dirty="0">
                <a:solidFill>
                  <a:srgbClr val="7030A0"/>
                </a:solidFill>
                <a:latin typeface="Consolas" panose="020B0609020204030204" pitchFamily="49" charset="0"/>
              </a:rPr>
              <a:t>     index 100 </a:t>
            </a:r>
            <a:r>
              <a:rPr lang="en-US" sz="1100" dirty="0" err="1">
                <a:solidFill>
                  <a:srgbClr val="7030A0"/>
                </a:solidFill>
                <a:latin typeface="Consolas" panose="020B0609020204030204" pitchFamily="49" charset="0"/>
              </a:rPr>
              <a:t>sid</a:t>
            </a:r>
            <a:r>
              <a:rPr lang="en-US" sz="1100" dirty="0">
                <a:solidFill>
                  <a:srgbClr val="7030A0"/>
                </a:solidFill>
                <a:latin typeface="Consolas" panose="020B0609020204030204" pitchFamily="49" charset="0"/>
              </a:rPr>
              <a:t> </a:t>
            </a:r>
            <a:r>
              <a:rPr lang="en-US" sz="1100" dirty="0" err="1">
                <a:solidFill>
                  <a:srgbClr val="7030A0"/>
                </a:solidFill>
                <a:latin typeface="Consolas" panose="020B0609020204030204" pitchFamily="49" charset="0"/>
              </a:rPr>
              <a:t>fc00:ab00:4</a:t>
            </a:r>
            <a:r>
              <a:rPr lang="en-US" sz="1100" dirty="0">
                <a:solidFill>
                  <a:srgbClr val="7030A0"/>
                </a:solidFill>
                <a:latin typeface="Consolas" panose="020B0609020204030204" pitchFamily="49" charset="0"/>
              </a:rPr>
              <a:t>::</a:t>
            </a:r>
          </a:p>
          <a:p>
            <a:r>
              <a:rPr lang="en-US" sz="1100" dirty="0">
                <a:latin typeface="Consolas" panose="020B0609020204030204" pitchFamily="49" charset="0"/>
              </a:rPr>
              <a:t>    !</a:t>
            </a:r>
          </a:p>
          <a:p>
            <a:r>
              <a:rPr lang="en-US" sz="1100" dirty="0">
                <a:latin typeface="Consolas" panose="020B0609020204030204" pitchFamily="49" charset="0"/>
              </a:rPr>
              <a:t>   !</a:t>
            </a:r>
          </a:p>
          <a:p>
            <a:r>
              <a:rPr lang="en-US" sz="1100" dirty="0">
                <a:latin typeface="Consolas" panose="020B0609020204030204" pitchFamily="49" charset="0"/>
              </a:rPr>
              <a:t>  !</a:t>
            </a:r>
          </a:p>
          <a:p>
            <a:r>
              <a:rPr lang="en-US" sz="1100" dirty="0">
                <a:latin typeface="Consolas" panose="020B0609020204030204" pitchFamily="49" charset="0"/>
              </a:rPr>
              <a:t>-- continue --  </a:t>
            </a:r>
          </a:p>
        </p:txBody>
      </p:sp>
      <p:sp>
        <p:nvSpPr>
          <p:cNvPr id="2" name="Rectangle 1">
            <a:extLst>
              <a:ext uri="{FF2B5EF4-FFF2-40B4-BE49-F238E27FC236}">
                <a16:creationId xmlns:a16="http://schemas.microsoft.com/office/drawing/2014/main" id="{16B50DA3-B4D6-AB2D-4814-04A62870928B}"/>
              </a:ext>
            </a:extLst>
          </p:cNvPr>
          <p:cNvSpPr/>
          <p:nvPr/>
        </p:nvSpPr>
        <p:spPr>
          <a:xfrm>
            <a:off x="3011398" y="2153542"/>
            <a:ext cx="5926126" cy="4324261"/>
          </a:xfrm>
          <a:prstGeom prst="rect">
            <a:avLst/>
          </a:prstGeom>
          <a:solidFill>
            <a:schemeClr val="bg1">
              <a:lumMod val="95000"/>
            </a:schemeClr>
          </a:solidFill>
          <a:ln>
            <a:solidFill>
              <a:schemeClr val="tx1"/>
            </a:solidFill>
          </a:ln>
          <a:effectLst/>
        </p:spPr>
        <p:txBody>
          <a:bodyPr wrap="square">
            <a:spAutoFit/>
          </a:bodyPr>
          <a:lstStyle/>
          <a:p>
            <a:r>
              <a:rPr lang="en-US" sz="1100" dirty="0">
                <a:latin typeface="Consolas" panose="020B0609020204030204" pitchFamily="49" charset="0"/>
              </a:rPr>
              <a:t>  on-demand color 300</a:t>
            </a:r>
          </a:p>
          <a:p>
            <a:r>
              <a:rPr lang="en-US" sz="1100" dirty="0">
                <a:latin typeface="Consolas" panose="020B0609020204030204" pitchFamily="49" charset="0"/>
              </a:rPr>
              <a:t>   srv6</a:t>
            </a:r>
          </a:p>
          <a:p>
            <a:r>
              <a:rPr lang="en-US" sz="1100" dirty="0">
                <a:latin typeface="Consolas" panose="020B0609020204030204" pitchFamily="49" charset="0"/>
              </a:rPr>
              <a:t>    locator </a:t>
            </a:r>
            <a:r>
              <a:rPr lang="en-US" sz="1100" dirty="0" err="1">
                <a:latin typeface="Consolas" panose="020B0609020204030204" pitchFamily="49" charset="0"/>
              </a:rPr>
              <a:t>Loc_uSID_Algo_0</a:t>
            </a:r>
            <a:r>
              <a:rPr lang="en-US" sz="1100" dirty="0">
                <a:latin typeface="Consolas" panose="020B0609020204030204" pitchFamily="49" charset="0"/>
              </a:rPr>
              <a:t> binding-</a:t>
            </a:r>
            <a:r>
              <a:rPr lang="en-US" sz="1100" dirty="0" err="1">
                <a:latin typeface="Consolas" panose="020B0609020204030204" pitchFamily="49" charset="0"/>
              </a:rPr>
              <a:t>sid</a:t>
            </a:r>
            <a:r>
              <a:rPr lang="en-US" sz="1100" dirty="0">
                <a:latin typeface="Consolas" panose="020B0609020204030204" pitchFamily="49" charset="0"/>
              </a:rPr>
              <a:t> dynamic behavior </a:t>
            </a:r>
            <a:r>
              <a:rPr lang="en-US" sz="1100" dirty="0" err="1">
                <a:latin typeface="Consolas" panose="020B0609020204030204" pitchFamily="49" charset="0"/>
              </a:rPr>
              <a:t>ub6</a:t>
            </a:r>
            <a:r>
              <a:rPr lang="en-US" sz="1100" dirty="0">
                <a:latin typeface="Consolas" panose="020B0609020204030204" pitchFamily="49" charset="0"/>
              </a:rPr>
              <a:t>-insert-reduced</a:t>
            </a:r>
          </a:p>
          <a:p>
            <a:r>
              <a:rPr lang="en-US" sz="1100" dirty="0">
                <a:latin typeface="Consolas" panose="020B0609020204030204" pitchFamily="49" charset="0"/>
              </a:rPr>
              <a:t>   !</a:t>
            </a:r>
          </a:p>
          <a:p>
            <a:r>
              <a:rPr lang="en-US" sz="1100" dirty="0">
                <a:latin typeface="Consolas" panose="020B0609020204030204" pitchFamily="49" charset="0"/>
              </a:rPr>
              <a:t>   source-address ipv6 </a:t>
            </a:r>
            <a:r>
              <a:rPr lang="en-US" sz="1100" dirty="0" err="1">
                <a:latin typeface="Consolas" panose="020B0609020204030204" pitchFamily="49" charset="0"/>
              </a:rPr>
              <a:t>fc00:ab00:33</a:t>
            </a:r>
            <a:r>
              <a:rPr lang="en-US" sz="1100" dirty="0">
                <a:latin typeface="Consolas" panose="020B0609020204030204" pitchFamily="49" charset="0"/>
              </a:rPr>
              <a:t>::1</a:t>
            </a:r>
          </a:p>
          <a:p>
            <a:r>
              <a:rPr lang="en-US" sz="1100" dirty="0">
                <a:latin typeface="Consolas" panose="020B0609020204030204" pitchFamily="49" charset="0"/>
              </a:rPr>
              <a:t>   dynamic</a:t>
            </a:r>
          </a:p>
          <a:p>
            <a:r>
              <a:rPr lang="en-US" sz="1100" dirty="0">
                <a:latin typeface="Consolas" panose="020B0609020204030204" pitchFamily="49" charset="0"/>
              </a:rPr>
              <a:t>    </a:t>
            </a:r>
            <a:r>
              <a:rPr lang="en-US" sz="1100" dirty="0" err="1">
                <a:latin typeface="Consolas" panose="020B0609020204030204" pitchFamily="49" charset="0"/>
              </a:rPr>
              <a:t>pcep</a:t>
            </a:r>
            <a:endParaRPr lang="en-US" sz="1100" dirty="0">
              <a:latin typeface="Consolas" panose="020B0609020204030204" pitchFamily="49" charset="0"/>
            </a:endParaRPr>
          </a:p>
          <a:p>
            <a:r>
              <a:rPr lang="en-US" sz="1100" dirty="0">
                <a:latin typeface="Consolas" panose="020B0609020204030204" pitchFamily="49" charset="0"/>
              </a:rPr>
              <a:t>    !</a:t>
            </a:r>
          </a:p>
          <a:p>
            <a:r>
              <a:rPr lang="en-US" sz="1100" dirty="0">
                <a:latin typeface="Consolas" panose="020B0609020204030204" pitchFamily="49" charset="0"/>
              </a:rPr>
              <a:t>    metric</a:t>
            </a:r>
          </a:p>
          <a:p>
            <a:r>
              <a:rPr lang="en-US" sz="1100" dirty="0">
                <a:latin typeface="Consolas" panose="020B0609020204030204" pitchFamily="49" charset="0"/>
              </a:rPr>
              <a:t>     type </a:t>
            </a:r>
            <a:r>
              <a:rPr lang="en-US" sz="1100" dirty="0" err="1">
                <a:latin typeface="Consolas" panose="020B0609020204030204" pitchFamily="49" charset="0"/>
              </a:rPr>
              <a:t>hopcount</a:t>
            </a:r>
            <a:endParaRPr lang="en-US" sz="1100" dirty="0">
              <a:latin typeface="Consolas" panose="020B0609020204030204" pitchFamily="49" charset="0"/>
            </a:endParaRPr>
          </a:p>
          <a:p>
            <a:r>
              <a:rPr lang="en-US" sz="1100" dirty="0">
                <a:latin typeface="Consolas" panose="020B0609020204030204" pitchFamily="49" charset="0"/>
              </a:rPr>
              <a:t>    !</a:t>
            </a:r>
          </a:p>
          <a:p>
            <a:r>
              <a:rPr lang="en-US" sz="1100" dirty="0">
                <a:latin typeface="Consolas" panose="020B0609020204030204" pitchFamily="49" charset="0"/>
              </a:rPr>
              <a:t>  policy long-path-to-</a:t>
            </a:r>
            <a:r>
              <a:rPr lang="en-US" sz="1100" dirty="0" err="1">
                <a:latin typeface="Consolas" panose="020B0609020204030204" pitchFamily="49" charset="0"/>
              </a:rPr>
              <a:t>R04</a:t>
            </a:r>
            <a:endParaRPr lang="en-US" sz="1100" dirty="0">
              <a:latin typeface="Consolas" panose="020B0609020204030204" pitchFamily="49" charset="0"/>
            </a:endParaRPr>
          </a:p>
          <a:p>
            <a:r>
              <a:rPr lang="en-US" sz="1100" dirty="0">
                <a:latin typeface="Consolas" panose="020B0609020204030204" pitchFamily="49" charset="0"/>
              </a:rPr>
              <a:t>   srv6</a:t>
            </a:r>
          </a:p>
          <a:p>
            <a:r>
              <a:rPr lang="en-US" sz="1100" dirty="0">
                <a:latin typeface="Consolas" panose="020B0609020204030204" pitchFamily="49" charset="0"/>
              </a:rPr>
              <a:t>    locator </a:t>
            </a:r>
            <a:r>
              <a:rPr lang="en-US" sz="1100" dirty="0" err="1">
                <a:latin typeface="Consolas" panose="020B0609020204030204" pitchFamily="49" charset="0"/>
              </a:rPr>
              <a:t>Loc_uSID_Algo_0</a:t>
            </a:r>
            <a:r>
              <a:rPr lang="en-US" sz="1100" dirty="0">
                <a:latin typeface="Consolas" panose="020B0609020204030204" pitchFamily="49" charset="0"/>
              </a:rPr>
              <a:t> binding-</a:t>
            </a:r>
            <a:r>
              <a:rPr lang="en-US" sz="1100" dirty="0" err="1">
                <a:latin typeface="Consolas" panose="020B0609020204030204" pitchFamily="49" charset="0"/>
              </a:rPr>
              <a:t>sid</a:t>
            </a:r>
            <a:r>
              <a:rPr lang="en-US" sz="1100" dirty="0">
                <a:latin typeface="Consolas" panose="020B0609020204030204" pitchFamily="49" charset="0"/>
              </a:rPr>
              <a:t> dynamic behavior </a:t>
            </a:r>
            <a:r>
              <a:rPr lang="en-US" sz="1100" dirty="0" err="1">
                <a:latin typeface="Consolas" panose="020B0609020204030204" pitchFamily="49" charset="0"/>
              </a:rPr>
              <a:t>ub6</a:t>
            </a:r>
            <a:r>
              <a:rPr lang="en-US" sz="1100" dirty="0">
                <a:latin typeface="Consolas" panose="020B0609020204030204" pitchFamily="49" charset="0"/>
              </a:rPr>
              <a:t>-insert-reduced</a:t>
            </a:r>
          </a:p>
          <a:p>
            <a:r>
              <a:rPr lang="en-US" sz="1100" dirty="0">
                <a:latin typeface="Consolas" panose="020B0609020204030204" pitchFamily="49" charset="0"/>
              </a:rPr>
              <a:t>   !</a:t>
            </a:r>
          </a:p>
          <a:p>
            <a:r>
              <a:rPr lang="en-US" sz="1100" dirty="0">
                <a:latin typeface="Consolas" panose="020B0609020204030204" pitchFamily="49" charset="0"/>
              </a:rPr>
              <a:t>   source-address ipv6 </a:t>
            </a:r>
            <a:r>
              <a:rPr lang="en-US" sz="1100" dirty="0" err="1">
                <a:latin typeface="Consolas" panose="020B0609020204030204" pitchFamily="49" charset="0"/>
              </a:rPr>
              <a:t>fc00:ab00:33</a:t>
            </a:r>
            <a:r>
              <a:rPr lang="en-US" sz="1100" dirty="0">
                <a:latin typeface="Consolas" panose="020B0609020204030204" pitchFamily="49" charset="0"/>
              </a:rPr>
              <a:t>::1</a:t>
            </a:r>
          </a:p>
          <a:p>
            <a:r>
              <a:rPr lang="en-US" sz="1100" dirty="0">
                <a:latin typeface="Consolas" panose="020B0609020204030204" pitchFamily="49" charset="0"/>
              </a:rPr>
              <a:t>   color 208 end-point ipv6 </a:t>
            </a:r>
            <a:r>
              <a:rPr lang="en-US" sz="1100" dirty="0" err="1">
                <a:latin typeface="Consolas" panose="020B0609020204030204" pitchFamily="49" charset="0"/>
              </a:rPr>
              <a:t>fc00:ab00:4</a:t>
            </a:r>
            <a:r>
              <a:rPr lang="en-US" sz="1100" dirty="0">
                <a:latin typeface="Consolas" panose="020B0609020204030204" pitchFamily="49" charset="0"/>
              </a:rPr>
              <a:t>::</a:t>
            </a:r>
          </a:p>
          <a:p>
            <a:r>
              <a:rPr lang="en-US" sz="1100" dirty="0">
                <a:latin typeface="Consolas" panose="020B0609020204030204" pitchFamily="49" charset="0"/>
              </a:rPr>
              <a:t>   candidate-paths</a:t>
            </a:r>
          </a:p>
          <a:p>
            <a:r>
              <a:rPr lang="en-US" sz="1100" dirty="0">
                <a:latin typeface="Consolas" panose="020B0609020204030204" pitchFamily="49" charset="0"/>
              </a:rPr>
              <a:t>    preference 1000</a:t>
            </a:r>
          </a:p>
          <a:p>
            <a:r>
              <a:rPr lang="en-US" sz="1100" dirty="0">
                <a:latin typeface="Consolas" panose="020B0609020204030204" pitchFamily="49" charset="0"/>
              </a:rPr>
              <a:t>     explicit segment-list </a:t>
            </a:r>
            <a:r>
              <a:rPr lang="en-US" sz="1100" b="1" dirty="0">
                <a:solidFill>
                  <a:srgbClr val="7030A0"/>
                </a:solidFill>
                <a:latin typeface="Consolas" panose="020B0609020204030204" pitchFamily="49" charset="0"/>
              </a:rPr>
              <a:t>SL-long-path-</a:t>
            </a:r>
            <a:r>
              <a:rPr lang="en-US" sz="1100" b="1" dirty="0" err="1">
                <a:solidFill>
                  <a:srgbClr val="7030A0"/>
                </a:solidFill>
                <a:latin typeface="Consolas" panose="020B0609020204030204" pitchFamily="49" charset="0"/>
              </a:rPr>
              <a:t>R04</a:t>
            </a:r>
            <a:endParaRPr lang="en-US" sz="1100" b="1" dirty="0">
              <a:solidFill>
                <a:srgbClr val="7030A0"/>
              </a:solidFill>
              <a:latin typeface="Consolas" panose="020B0609020204030204" pitchFamily="49" charset="0"/>
            </a:endParaRPr>
          </a:p>
          <a:p>
            <a:r>
              <a:rPr lang="en-US" sz="1100" dirty="0">
                <a:latin typeface="Consolas" panose="020B0609020204030204" pitchFamily="49" charset="0"/>
              </a:rPr>
              <a:t>      weight 4</a:t>
            </a:r>
          </a:p>
          <a:p>
            <a:r>
              <a:rPr lang="en-US" sz="1100" dirty="0">
                <a:latin typeface="Consolas" panose="020B0609020204030204" pitchFamily="49" charset="0"/>
              </a:rPr>
              <a:t>     !</a:t>
            </a:r>
          </a:p>
          <a:p>
            <a:r>
              <a:rPr lang="en-US" sz="1100" dirty="0">
                <a:latin typeface="Consolas" panose="020B0609020204030204" pitchFamily="49" charset="0"/>
              </a:rPr>
              <a:t>    !</a:t>
            </a:r>
          </a:p>
          <a:p>
            <a:r>
              <a:rPr lang="en-US" sz="1100" dirty="0">
                <a:latin typeface="Consolas" panose="020B0609020204030204" pitchFamily="49" charset="0"/>
              </a:rPr>
              <a:t>  </a:t>
            </a:r>
            <a:r>
              <a:rPr lang="en-US" sz="1100" b="1" dirty="0" err="1">
                <a:latin typeface="Consolas" panose="020B0609020204030204" pitchFamily="49" charset="0"/>
              </a:rPr>
              <a:t>pcc</a:t>
            </a:r>
            <a:endParaRPr lang="en-US" sz="1100" b="1" dirty="0">
              <a:latin typeface="Consolas" panose="020B0609020204030204" pitchFamily="49" charset="0"/>
            </a:endParaRPr>
          </a:p>
          <a:p>
            <a:r>
              <a:rPr lang="en-US" sz="1100" b="1" dirty="0">
                <a:latin typeface="Consolas" panose="020B0609020204030204" pitchFamily="49" charset="0"/>
              </a:rPr>
              <a:t>   </a:t>
            </a:r>
            <a:r>
              <a:rPr lang="en-US" sz="1100" b="1" dirty="0" err="1">
                <a:latin typeface="Consolas" panose="020B0609020204030204" pitchFamily="49" charset="0"/>
              </a:rPr>
              <a:t>pce</a:t>
            </a:r>
            <a:r>
              <a:rPr lang="en-US" sz="1100" b="1" dirty="0">
                <a:latin typeface="Consolas" panose="020B0609020204030204" pitchFamily="49" charset="0"/>
              </a:rPr>
              <a:t> address ipv6 </a:t>
            </a:r>
            <a:r>
              <a:rPr lang="en-US" sz="1100" dirty="0">
                <a:latin typeface="Consolas" panose="020B0609020204030204" pitchFamily="49" charset="0"/>
              </a:rPr>
              <a:t>2001:9999::13</a:t>
            </a:r>
          </a:p>
        </p:txBody>
      </p:sp>
      <p:cxnSp>
        <p:nvCxnSpPr>
          <p:cNvPr id="4" name="Straight Arrow Connector 3">
            <a:extLst>
              <a:ext uri="{FF2B5EF4-FFF2-40B4-BE49-F238E27FC236}">
                <a16:creationId xmlns:a16="http://schemas.microsoft.com/office/drawing/2014/main" id="{88746C4A-3BD0-B5CF-3DE5-434F75110AA2}"/>
              </a:ext>
            </a:extLst>
          </p:cNvPr>
          <p:cNvCxnSpPr/>
          <p:nvPr/>
        </p:nvCxnSpPr>
        <p:spPr>
          <a:xfrm flipV="1">
            <a:off x="2458065" y="2300748"/>
            <a:ext cx="668593" cy="41197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Callout: Line 4">
            <a:extLst>
              <a:ext uri="{FF2B5EF4-FFF2-40B4-BE49-F238E27FC236}">
                <a16:creationId xmlns:a16="http://schemas.microsoft.com/office/drawing/2014/main" id="{E186C7B4-915D-B4E8-A754-EE1900C02468}"/>
              </a:ext>
            </a:extLst>
          </p:cNvPr>
          <p:cNvSpPr/>
          <p:nvPr/>
        </p:nvSpPr>
        <p:spPr>
          <a:xfrm>
            <a:off x="7575498" y="207026"/>
            <a:ext cx="4459185" cy="383885"/>
          </a:xfrm>
          <a:prstGeom prst="borderCallout1">
            <a:avLst>
              <a:gd name="adj1" fmla="val 18750"/>
              <a:gd name="adj2" fmla="val -8333"/>
              <a:gd name="adj3" fmla="val 531761"/>
              <a:gd name="adj4" fmla="val -62046"/>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FF0000"/>
                </a:solidFill>
              </a:rPr>
              <a:t>color 300 </a:t>
            </a:r>
            <a:r>
              <a:rPr lang="en-US" dirty="0">
                <a:solidFill>
                  <a:schemeClr val="tx1"/>
                </a:solidFill>
              </a:rPr>
              <a:t>- minimum HOP COUNT metric</a:t>
            </a:r>
          </a:p>
        </p:txBody>
      </p:sp>
      <p:sp>
        <p:nvSpPr>
          <p:cNvPr id="9" name="Rectangle 8">
            <a:extLst>
              <a:ext uri="{FF2B5EF4-FFF2-40B4-BE49-F238E27FC236}">
                <a16:creationId xmlns:a16="http://schemas.microsoft.com/office/drawing/2014/main" id="{1A4E0CD8-BA37-DC54-B1BC-185B390E7C73}"/>
              </a:ext>
            </a:extLst>
          </p:cNvPr>
          <p:cNvSpPr/>
          <p:nvPr/>
        </p:nvSpPr>
        <p:spPr>
          <a:xfrm>
            <a:off x="3170903" y="2051390"/>
            <a:ext cx="5894441" cy="1960172"/>
          </a:xfrm>
          <a:prstGeom prst="rect">
            <a:avLst/>
          </a:prstGeom>
          <a:noFill/>
          <a:ln w="254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allout: Line 9">
            <a:extLst>
              <a:ext uri="{FF2B5EF4-FFF2-40B4-BE49-F238E27FC236}">
                <a16:creationId xmlns:a16="http://schemas.microsoft.com/office/drawing/2014/main" id="{943FDE8C-551F-0529-3A9B-E4CEA6C79002}"/>
              </a:ext>
            </a:extLst>
          </p:cNvPr>
          <p:cNvSpPr/>
          <p:nvPr/>
        </p:nvSpPr>
        <p:spPr>
          <a:xfrm>
            <a:off x="7575497" y="803294"/>
            <a:ext cx="4459185" cy="558711"/>
          </a:xfrm>
          <a:prstGeom prst="borderCallout1">
            <a:avLst>
              <a:gd name="adj1" fmla="val 18750"/>
              <a:gd name="adj2" fmla="val -8333"/>
              <a:gd name="adj3" fmla="val 621511"/>
              <a:gd name="adj4" fmla="val -37130"/>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00B050"/>
                </a:solidFill>
              </a:rPr>
              <a:t>color 208 </a:t>
            </a:r>
            <a:r>
              <a:rPr lang="en-US" dirty="0">
                <a:solidFill>
                  <a:schemeClr val="tx1"/>
                </a:solidFill>
              </a:rPr>
              <a:t>- </a:t>
            </a:r>
            <a:r>
              <a:rPr lang="en-US" dirty="0" err="1">
                <a:solidFill>
                  <a:schemeClr val="tx1"/>
                </a:solidFill>
              </a:rPr>
              <a:t>SRv6TE</a:t>
            </a:r>
            <a:r>
              <a:rPr lang="en-US" dirty="0">
                <a:solidFill>
                  <a:schemeClr val="tx1"/>
                </a:solidFill>
              </a:rPr>
              <a:t> to </a:t>
            </a:r>
            <a:r>
              <a:rPr lang="en-US" dirty="0" err="1">
                <a:solidFill>
                  <a:schemeClr val="tx1"/>
                </a:solidFill>
              </a:rPr>
              <a:t>fc00:ab00:4</a:t>
            </a:r>
            <a:r>
              <a:rPr lang="en-US" dirty="0">
                <a:solidFill>
                  <a:schemeClr val="tx1"/>
                </a:solidFill>
              </a:rPr>
              <a:t>:: explicit path  </a:t>
            </a:r>
            <a:r>
              <a:rPr lang="en-US" dirty="0">
                <a:solidFill>
                  <a:srgbClr val="7030A0"/>
                </a:solidFill>
              </a:rPr>
              <a:t>SL-long-path-</a:t>
            </a:r>
            <a:r>
              <a:rPr lang="en-US" dirty="0" err="1">
                <a:solidFill>
                  <a:srgbClr val="7030A0"/>
                </a:solidFill>
              </a:rPr>
              <a:t>R04</a:t>
            </a:r>
            <a:endParaRPr lang="en-US" dirty="0">
              <a:solidFill>
                <a:srgbClr val="7030A0"/>
              </a:solidFill>
            </a:endParaRPr>
          </a:p>
        </p:txBody>
      </p:sp>
      <p:sp>
        <p:nvSpPr>
          <p:cNvPr id="11" name="Rectangle 10">
            <a:extLst>
              <a:ext uri="{FF2B5EF4-FFF2-40B4-BE49-F238E27FC236}">
                <a16:creationId xmlns:a16="http://schemas.microsoft.com/office/drawing/2014/main" id="{9A360ACA-CA88-5128-AB2D-5006B2BC0765}"/>
              </a:ext>
            </a:extLst>
          </p:cNvPr>
          <p:cNvSpPr/>
          <p:nvPr/>
        </p:nvSpPr>
        <p:spPr>
          <a:xfrm>
            <a:off x="353961" y="4047755"/>
            <a:ext cx="8711383" cy="1870907"/>
          </a:xfrm>
          <a:prstGeom prst="rect">
            <a:avLst/>
          </a:prstGeom>
          <a:noFill/>
          <a:ln w="254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allout: Line 11">
            <a:extLst>
              <a:ext uri="{FF2B5EF4-FFF2-40B4-BE49-F238E27FC236}">
                <a16:creationId xmlns:a16="http://schemas.microsoft.com/office/drawing/2014/main" id="{0D8A2FCF-5C62-3592-6735-E3A9B626C569}"/>
              </a:ext>
            </a:extLst>
          </p:cNvPr>
          <p:cNvSpPr/>
          <p:nvPr/>
        </p:nvSpPr>
        <p:spPr>
          <a:xfrm>
            <a:off x="6961240" y="6100278"/>
            <a:ext cx="5073442" cy="338003"/>
          </a:xfrm>
          <a:prstGeom prst="borderCallout1">
            <a:avLst>
              <a:gd name="adj1" fmla="val 18750"/>
              <a:gd name="adj2" fmla="val -8333"/>
              <a:gd name="adj3" fmla="val 28517"/>
              <a:gd name="adj4" fmla="val -60689"/>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PCE is used to compute dynamic SRv6 TE path</a:t>
            </a:r>
          </a:p>
        </p:txBody>
      </p:sp>
    </p:spTree>
    <p:extLst>
      <p:ext uri="{BB962C8B-B14F-4D97-AF65-F5344CB8AC3E}">
        <p14:creationId xmlns:p14="http://schemas.microsoft.com/office/powerpoint/2010/main" val="2486384576"/>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BFD5F2B-4ED0-06A1-C5D9-3347DF0A09AD}"/>
              </a:ext>
            </a:extLst>
          </p:cNvPr>
          <p:cNvSpPr>
            <a:spLocks noGrp="1"/>
          </p:cNvSpPr>
          <p:nvPr>
            <p:ph type="body" sz="quarter" idx="10"/>
          </p:nvPr>
        </p:nvSpPr>
        <p:spPr/>
        <p:txBody>
          <a:bodyPr/>
          <a:lstStyle/>
          <a:p>
            <a:endParaRPr lang="en-US" dirty="0"/>
          </a:p>
        </p:txBody>
      </p:sp>
      <p:sp>
        <p:nvSpPr>
          <p:cNvPr id="7" name="Text Placeholder 6">
            <a:extLst>
              <a:ext uri="{FF2B5EF4-FFF2-40B4-BE49-F238E27FC236}">
                <a16:creationId xmlns:a16="http://schemas.microsoft.com/office/drawing/2014/main" id="{F4B17F16-EABD-D214-AAF7-C4BC3B1E9F5A}"/>
              </a:ext>
            </a:extLst>
          </p:cNvPr>
          <p:cNvSpPr>
            <a:spLocks noGrp="1"/>
          </p:cNvSpPr>
          <p:nvPr>
            <p:ph type="body" sz="quarter" idx="11"/>
          </p:nvPr>
        </p:nvSpPr>
        <p:spPr/>
        <p:txBody>
          <a:bodyPr/>
          <a:lstStyle/>
          <a:p>
            <a:r>
              <a:rPr lang="en-US" dirty="0"/>
              <a:t>SRv6 Policy - example</a:t>
            </a:r>
          </a:p>
        </p:txBody>
      </p:sp>
      <p:pic>
        <p:nvPicPr>
          <p:cNvPr id="9" name="Picture 8" descr="A screenshot of a computer screen&#10;&#10;AI-generated content may be incorrect.">
            <a:extLst>
              <a:ext uri="{FF2B5EF4-FFF2-40B4-BE49-F238E27FC236}">
                <a16:creationId xmlns:a16="http://schemas.microsoft.com/office/drawing/2014/main" id="{F749514C-9727-1C3A-FBBD-6AB6A84168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0140" y="864648"/>
            <a:ext cx="10371719" cy="5128704"/>
          </a:xfrm>
          <a:prstGeom prst="rect">
            <a:avLst/>
          </a:prstGeom>
        </p:spPr>
      </p:pic>
    </p:spTree>
    <p:extLst>
      <p:ext uri="{BB962C8B-B14F-4D97-AF65-F5344CB8AC3E}">
        <p14:creationId xmlns:p14="http://schemas.microsoft.com/office/powerpoint/2010/main" val="963705985"/>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819AB1-6A95-9DE6-DF8C-80437AA1DA3F}"/>
              </a:ext>
            </a:extLst>
          </p:cNvPr>
          <p:cNvSpPr>
            <a:spLocks noGrp="1"/>
          </p:cNvSpPr>
          <p:nvPr>
            <p:ph type="body" sz="quarter" idx="10"/>
          </p:nvPr>
        </p:nvSpPr>
        <p:spPr/>
        <p:txBody>
          <a:bodyPr/>
          <a:lstStyle/>
          <a:p>
            <a:r>
              <a:rPr lang="en-US" dirty="0"/>
              <a:t>Supported options:</a:t>
            </a:r>
          </a:p>
          <a:p>
            <a:r>
              <a:rPr lang="en-US" b="1" dirty="0"/>
              <a:t>End-to-End Flexible Algorithm</a:t>
            </a:r>
            <a:r>
              <a:rPr lang="en-US" dirty="0"/>
              <a:t>: This is used for traffic engineering intents achieved with Flexible Algorithm, including low latency, multi-plane </a:t>
            </a:r>
            <a:r>
              <a:rPr lang="en-US" dirty="0" err="1"/>
              <a:t>disjointness</a:t>
            </a:r>
            <a:r>
              <a:rPr lang="en-US" dirty="0"/>
              <a:t>, affinity inclusion/exclusion, and </a:t>
            </a:r>
            <a:r>
              <a:rPr lang="en-US" dirty="0" err="1"/>
              <a:t>SRLG</a:t>
            </a:r>
            <a:r>
              <a:rPr lang="en-US" dirty="0"/>
              <a:t> exclusion.</a:t>
            </a:r>
          </a:p>
          <a:p>
            <a:endParaRPr lang="en-US" dirty="0"/>
          </a:p>
          <a:p>
            <a:r>
              <a:rPr lang="en-US" b="1" dirty="0" err="1"/>
              <a:t>SRv6</a:t>
            </a:r>
            <a:r>
              <a:rPr lang="en-US" b="1" dirty="0"/>
              <a:t>-TE Policy</a:t>
            </a:r>
            <a:r>
              <a:rPr lang="en-US" dirty="0"/>
              <a:t>: This is used for traffic engineering intents beyond Flex Algo capabilities, such as path </a:t>
            </a:r>
            <a:r>
              <a:rPr lang="en-US" dirty="0" err="1"/>
              <a:t>disjointness</a:t>
            </a:r>
            <a:r>
              <a:rPr lang="en-US" dirty="0"/>
              <a:t> that rely on path computation by a PCE. In addition, this is used for user-configured explicit paths.</a:t>
            </a:r>
          </a:p>
          <a:p>
            <a:endParaRPr lang="en-US" dirty="0"/>
          </a:p>
          <a:p>
            <a:r>
              <a:rPr lang="en-US" dirty="0"/>
              <a:t>unsupported features  - verify documentation:</a:t>
            </a:r>
          </a:p>
          <a:p>
            <a:r>
              <a:rPr lang="en-US" sz="1800" dirty="0">
                <a:hlinkClick r:id="rId3"/>
              </a:rPr>
              <a:t>https://</a:t>
            </a:r>
            <a:r>
              <a:rPr lang="en-US" sz="1800" dirty="0" err="1">
                <a:hlinkClick r:id="rId3"/>
              </a:rPr>
              <a:t>www.cisco.com</a:t>
            </a:r>
            <a:r>
              <a:rPr lang="en-US" sz="1800" dirty="0">
                <a:hlinkClick r:id="rId3"/>
              </a:rPr>
              <a:t>/c/</a:t>
            </a:r>
            <a:r>
              <a:rPr lang="en-US" sz="1800" dirty="0" err="1">
                <a:hlinkClick r:id="rId3"/>
              </a:rPr>
              <a:t>en</a:t>
            </a:r>
            <a:r>
              <a:rPr lang="en-US" sz="1800" dirty="0">
                <a:hlinkClick r:id="rId3"/>
              </a:rPr>
              <a:t>/us/td/docs/routers/</a:t>
            </a:r>
            <a:r>
              <a:rPr lang="en-US" sz="1800" dirty="0" err="1">
                <a:hlinkClick r:id="rId3"/>
              </a:rPr>
              <a:t>asr9000</a:t>
            </a:r>
            <a:r>
              <a:rPr lang="en-US" sz="1800" dirty="0">
                <a:hlinkClick r:id="rId3"/>
              </a:rPr>
              <a:t>/software/</a:t>
            </a:r>
            <a:r>
              <a:rPr lang="en-US" sz="1800" dirty="0" err="1">
                <a:hlinkClick r:id="rId3"/>
              </a:rPr>
              <a:t>24xx</a:t>
            </a:r>
            <a:r>
              <a:rPr lang="en-US" sz="1800" dirty="0">
                <a:hlinkClick r:id="rId3"/>
              </a:rPr>
              <a:t>/segment-routing/configuration/guide/b-segment-routing-cg-</a:t>
            </a:r>
            <a:r>
              <a:rPr lang="en-US" sz="1800" dirty="0" err="1">
                <a:hlinkClick r:id="rId3"/>
              </a:rPr>
              <a:t>asr9000</a:t>
            </a:r>
            <a:r>
              <a:rPr lang="en-US" sz="1800" dirty="0">
                <a:hlinkClick r:id="rId3"/>
              </a:rPr>
              <a:t>-</a:t>
            </a:r>
            <a:r>
              <a:rPr lang="en-US" sz="1800" dirty="0" err="1">
                <a:hlinkClick r:id="rId3"/>
              </a:rPr>
              <a:t>24xx</a:t>
            </a:r>
            <a:r>
              <a:rPr lang="en-US" sz="1800" dirty="0">
                <a:hlinkClick r:id="rId3"/>
              </a:rPr>
              <a:t>/configure-</a:t>
            </a:r>
            <a:r>
              <a:rPr lang="en-US" sz="1800" dirty="0" err="1">
                <a:hlinkClick r:id="rId3"/>
              </a:rPr>
              <a:t>srv6</a:t>
            </a:r>
            <a:r>
              <a:rPr lang="en-US" sz="1800" dirty="0">
                <a:hlinkClick r:id="rId3"/>
              </a:rPr>
              <a:t>-traffic-</a:t>
            </a:r>
            <a:r>
              <a:rPr lang="en-US" sz="1800" dirty="0" err="1">
                <a:hlinkClick r:id="rId3"/>
              </a:rPr>
              <a:t>engineering.html</a:t>
            </a:r>
            <a:r>
              <a:rPr lang="en-US" sz="1800" dirty="0"/>
              <a:t> “Usage Guidelines and Limitations”</a:t>
            </a:r>
          </a:p>
          <a:p>
            <a:endParaRPr lang="en-US" dirty="0"/>
          </a:p>
        </p:txBody>
      </p:sp>
      <p:sp>
        <p:nvSpPr>
          <p:cNvPr id="7" name="Text Placeholder 6">
            <a:extLst>
              <a:ext uri="{FF2B5EF4-FFF2-40B4-BE49-F238E27FC236}">
                <a16:creationId xmlns:a16="http://schemas.microsoft.com/office/drawing/2014/main" id="{EEB10E7C-0C69-0F38-EB04-A34EA117E8B4}"/>
              </a:ext>
            </a:extLst>
          </p:cNvPr>
          <p:cNvSpPr>
            <a:spLocks noGrp="1"/>
          </p:cNvSpPr>
          <p:nvPr>
            <p:ph type="body" sz="quarter" idx="11"/>
          </p:nvPr>
        </p:nvSpPr>
        <p:spPr/>
        <p:txBody>
          <a:bodyPr/>
          <a:lstStyle/>
          <a:p>
            <a:r>
              <a:rPr lang="en-US" dirty="0"/>
              <a:t>SRv6 Traffic Engineering</a:t>
            </a:r>
          </a:p>
        </p:txBody>
      </p:sp>
    </p:spTree>
    <p:extLst>
      <p:ext uri="{BB962C8B-B14F-4D97-AF65-F5344CB8AC3E}">
        <p14:creationId xmlns:p14="http://schemas.microsoft.com/office/powerpoint/2010/main" val="3281329228"/>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2C4EFB9-A080-E59B-0E10-0E2C2DF81CB1}"/>
              </a:ext>
            </a:extLst>
          </p:cNvPr>
          <p:cNvSpPr>
            <a:spLocks noGrp="1"/>
          </p:cNvSpPr>
          <p:nvPr>
            <p:ph type="body" sz="quarter" idx="10"/>
          </p:nvPr>
        </p:nvSpPr>
        <p:spPr/>
        <p:txBody>
          <a:bodyPr/>
          <a:lstStyle/>
          <a:p>
            <a:r>
              <a:rPr lang="en-US" sz="2000" dirty="0"/>
              <a:t>HW Programming errors</a:t>
            </a:r>
          </a:p>
          <a:p>
            <a:pPr lvl="1"/>
            <a:r>
              <a:rPr lang="en-US" sz="2000" dirty="0"/>
              <a:t>Out of Resource condition (</a:t>
            </a:r>
            <a:r>
              <a:rPr lang="en-US" sz="2000" dirty="0" err="1"/>
              <a:t>TCAM</a:t>
            </a:r>
            <a:r>
              <a:rPr lang="en-US" sz="2000" dirty="0"/>
              <a:t>, FEC, </a:t>
            </a:r>
            <a:r>
              <a:rPr lang="en-US" sz="2000" dirty="0" err="1"/>
              <a:t>Encap</a:t>
            </a:r>
            <a:r>
              <a:rPr lang="en-US" sz="2000" dirty="0"/>
              <a:t>)</a:t>
            </a:r>
          </a:p>
          <a:p>
            <a:pPr lvl="1"/>
            <a:r>
              <a:rPr lang="en-US" sz="2000" dirty="0"/>
              <a:t>Mis programming</a:t>
            </a:r>
          </a:p>
          <a:p>
            <a:pPr lvl="1"/>
            <a:r>
              <a:rPr lang="en-US" sz="2000" dirty="0"/>
              <a:t>Stale entries</a:t>
            </a:r>
          </a:p>
          <a:p>
            <a:r>
              <a:rPr lang="en-US" sz="2000" dirty="0"/>
              <a:t>Traffic drop</a:t>
            </a:r>
          </a:p>
          <a:p>
            <a:r>
              <a:rPr lang="en-US" sz="2000" dirty="0"/>
              <a:t>Unexpected SID</a:t>
            </a:r>
          </a:p>
          <a:p>
            <a:r>
              <a:rPr lang="en-US" sz="2000" dirty="0"/>
              <a:t>Platform specific CEF hardware troubleshooting</a:t>
            </a:r>
          </a:p>
          <a:p>
            <a:r>
              <a:rPr lang="en-US" sz="2000" dirty="0"/>
              <a:t>Some of the Platforms (</a:t>
            </a:r>
            <a:r>
              <a:rPr lang="en-US" sz="2000" dirty="0" err="1"/>
              <a:t>NCS5xx</a:t>
            </a:r>
            <a:r>
              <a:rPr lang="en-US" sz="2000" dirty="0"/>
              <a:t>, </a:t>
            </a:r>
            <a:r>
              <a:rPr lang="en-US" sz="2000" dirty="0" err="1"/>
              <a:t>NCS55xx</a:t>
            </a:r>
            <a:r>
              <a:rPr lang="en-US" sz="2000" dirty="0"/>
              <a:t>) need enabling SRv6 </a:t>
            </a:r>
            <a:r>
              <a:rPr lang="en-US" sz="2000" dirty="0" err="1"/>
              <a:t>uSID</a:t>
            </a:r>
            <a:endParaRPr lang="en-US" sz="2000" dirty="0"/>
          </a:p>
          <a:p>
            <a:endParaRPr lang="en-US" sz="2000" dirty="0"/>
          </a:p>
          <a:p>
            <a:endParaRPr lang="en-US" sz="2000" dirty="0"/>
          </a:p>
          <a:p>
            <a:r>
              <a:rPr lang="en-US" sz="2000" dirty="0"/>
              <a:t>Find out actual HW resource going to Out Of Resource (SID/FEC/</a:t>
            </a:r>
            <a:r>
              <a:rPr lang="en-US" sz="2000" dirty="0" err="1"/>
              <a:t>Encap</a:t>
            </a:r>
            <a:r>
              <a:rPr lang="en-US" sz="2000" dirty="0"/>
              <a:t>) state</a:t>
            </a:r>
          </a:p>
        </p:txBody>
      </p:sp>
      <p:sp>
        <p:nvSpPr>
          <p:cNvPr id="3" name="Text Placeholder 2">
            <a:extLst>
              <a:ext uri="{FF2B5EF4-FFF2-40B4-BE49-F238E27FC236}">
                <a16:creationId xmlns:a16="http://schemas.microsoft.com/office/drawing/2014/main" id="{46F0499E-0754-94BD-B164-D68121C1DA55}"/>
              </a:ext>
            </a:extLst>
          </p:cNvPr>
          <p:cNvSpPr>
            <a:spLocks noGrp="1"/>
          </p:cNvSpPr>
          <p:nvPr>
            <p:ph type="body" sz="quarter" idx="11"/>
          </p:nvPr>
        </p:nvSpPr>
        <p:spPr/>
        <p:txBody>
          <a:bodyPr/>
          <a:lstStyle/>
          <a:p>
            <a:r>
              <a:rPr lang="en-US" dirty="0"/>
              <a:t>SRv6/ SRv6 SR-TE </a:t>
            </a:r>
            <a:r>
              <a:rPr lang="en-US" dirty="0" err="1"/>
              <a:t>Verifycation</a:t>
            </a:r>
            <a:endParaRPr lang="en-US" dirty="0"/>
          </a:p>
        </p:txBody>
      </p:sp>
      <p:sp>
        <p:nvSpPr>
          <p:cNvPr id="4" name="Rectangle 3">
            <a:extLst>
              <a:ext uri="{FF2B5EF4-FFF2-40B4-BE49-F238E27FC236}">
                <a16:creationId xmlns:a16="http://schemas.microsoft.com/office/drawing/2014/main" id="{91458E8D-9A53-34ED-D8DC-8EEAEDF10074}"/>
              </a:ext>
            </a:extLst>
          </p:cNvPr>
          <p:cNvSpPr/>
          <p:nvPr/>
        </p:nvSpPr>
        <p:spPr>
          <a:xfrm>
            <a:off x="1310417" y="4456609"/>
            <a:ext cx="8320279" cy="307777"/>
          </a:xfrm>
          <a:prstGeom prst="rect">
            <a:avLst/>
          </a:prstGeom>
          <a:solidFill>
            <a:schemeClr val="bg1">
              <a:lumMod val="95000"/>
            </a:schemeClr>
          </a:solidFill>
          <a:ln>
            <a:solidFill>
              <a:schemeClr val="tx1"/>
            </a:solidFill>
          </a:ln>
          <a:effectLst/>
        </p:spPr>
        <p:txBody>
          <a:bodyPr wrap="square">
            <a:spAutoFit/>
          </a:bodyPr>
          <a:lstStyle/>
          <a:p>
            <a:r>
              <a:rPr lang="en-US" sz="1400" dirty="0" err="1">
                <a:latin typeface="Consolas" panose="020B0609020204030204" pitchFamily="49" charset="0"/>
              </a:rPr>
              <a:t>PE1</a:t>
            </a:r>
            <a:r>
              <a:rPr lang="en-US" sz="1400" dirty="0">
                <a:latin typeface="Consolas" panose="020B0609020204030204" pitchFamily="49" charset="0"/>
              </a:rPr>
              <a:t>(config)#</a:t>
            </a:r>
            <a:r>
              <a:rPr lang="en-US" sz="1400" b="1" dirty="0" err="1">
                <a:latin typeface="Consolas" panose="020B0609020204030204" pitchFamily="49" charset="0"/>
              </a:rPr>
              <a:t>hw</a:t>
            </a:r>
            <a:r>
              <a:rPr lang="en-US" sz="1400" b="1" dirty="0">
                <a:latin typeface="Consolas" panose="020B0609020204030204" pitchFamily="49" charset="0"/>
              </a:rPr>
              <a:t>-module profile segment-routing </a:t>
            </a:r>
            <a:r>
              <a:rPr lang="en-US" sz="1400" b="1" dirty="0" err="1">
                <a:latin typeface="Consolas" panose="020B0609020204030204" pitchFamily="49" charset="0"/>
              </a:rPr>
              <a:t>srv6</a:t>
            </a:r>
            <a:r>
              <a:rPr lang="en-US" sz="1400" b="1" dirty="0">
                <a:latin typeface="Consolas" panose="020B0609020204030204" pitchFamily="49" charset="0"/>
              </a:rPr>
              <a:t> mode micro-segment format </a:t>
            </a:r>
            <a:r>
              <a:rPr lang="en-US" sz="1400" b="1" dirty="0" err="1">
                <a:latin typeface="Consolas" panose="020B0609020204030204" pitchFamily="49" charset="0"/>
              </a:rPr>
              <a:t>f3216</a:t>
            </a:r>
            <a:endParaRPr lang="en-US" sz="1400" b="1" dirty="0">
              <a:latin typeface="Consolas" panose="020B0609020204030204" pitchFamily="49" charset="0"/>
            </a:endParaRPr>
          </a:p>
        </p:txBody>
      </p:sp>
      <p:sp>
        <p:nvSpPr>
          <p:cNvPr id="5" name="Rectangle 4">
            <a:extLst>
              <a:ext uri="{FF2B5EF4-FFF2-40B4-BE49-F238E27FC236}">
                <a16:creationId xmlns:a16="http://schemas.microsoft.com/office/drawing/2014/main" id="{299226D4-5BD6-ECDF-30BF-662FB56C7837}"/>
              </a:ext>
            </a:extLst>
          </p:cNvPr>
          <p:cNvSpPr/>
          <p:nvPr/>
        </p:nvSpPr>
        <p:spPr>
          <a:xfrm>
            <a:off x="1310417" y="5610885"/>
            <a:ext cx="8320279" cy="307777"/>
          </a:xfrm>
          <a:prstGeom prst="rect">
            <a:avLst/>
          </a:prstGeom>
          <a:solidFill>
            <a:schemeClr val="bg1">
              <a:lumMod val="95000"/>
            </a:schemeClr>
          </a:solidFill>
          <a:ln>
            <a:solidFill>
              <a:schemeClr val="tx1"/>
            </a:solidFill>
          </a:ln>
          <a:effectLst/>
        </p:spPr>
        <p:txBody>
          <a:bodyPr wrap="square">
            <a:spAutoFit/>
          </a:bodyPr>
          <a:lstStyle/>
          <a:p>
            <a:r>
              <a:rPr lang="en-US" sz="1400" dirty="0" err="1">
                <a:latin typeface="Consolas" panose="020B0609020204030204" pitchFamily="49" charset="0"/>
              </a:rPr>
              <a:t>PE1#</a:t>
            </a:r>
            <a:r>
              <a:rPr lang="en-US" sz="1400" b="1" dirty="0" err="1">
                <a:latin typeface="Consolas" panose="020B0609020204030204" pitchFamily="49" charset="0"/>
              </a:rPr>
              <a:t>show</a:t>
            </a:r>
            <a:r>
              <a:rPr lang="en-US" sz="1400" b="1" dirty="0">
                <a:latin typeface="Consolas" panose="020B0609020204030204" pitchFamily="49" charset="0"/>
              </a:rPr>
              <a:t> controllers </a:t>
            </a:r>
            <a:r>
              <a:rPr lang="en-US" sz="1400" b="1" dirty="0" err="1">
                <a:latin typeface="Consolas" panose="020B0609020204030204" pitchFamily="49" charset="0"/>
              </a:rPr>
              <a:t>npu</a:t>
            </a:r>
            <a:r>
              <a:rPr lang="en-US" sz="1400" b="1" dirty="0">
                <a:latin typeface="Consolas" panose="020B0609020204030204" pitchFamily="49" charset="0"/>
              </a:rPr>
              <a:t> resources all location &lt;&gt;</a:t>
            </a:r>
          </a:p>
        </p:txBody>
      </p:sp>
    </p:spTree>
    <p:extLst>
      <p:ext uri="{BB962C8B-B14F-4D97-AF65-F5344CB8AC3E}">
        <p14:creationId xmlns:p14="http://schemas.microsoft.com/office/powerpoint/2010/main" val="4237656585"/>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721DBD-20FD-469F-DC45-C9C2BDC8B199}"/>
              </a:ext>
            </a:extLst>
          </p:cNvPr>
          <p:cNvSpPr>
            <a:spLocks noGrp="1"/>
          </p:cNvSpPr>
          <p:nvPr>
            <p:ph type="body" sz="quarter" idx="10"/>
          </p:nvPr>
        </p:nvSpPr>
        <p:spPr/>
        <p:txBody>
          <a:bodyPr/>
          <a:lstStyle/>
          <a:p>
            <a:r>
              <a:rPr lang="pt-BR" dirty="0"/>
              <a:t>LAB7a - SRv6 Flex Algo</a:t>
            </a:r>
            <a:endParaRPr lang="it-IT" dirty="0"/>
          </a:p>
          <a:p>
            <a:r>
              <a:rPr lang="en-US" dirty="0" err="1"/>
              <a:t>LAB7b</a:t>
            </a:r>
            <a:r>
              <a:rPr lang="en-US" dirty="0"/>
              <a:t> - SRv6 Flex Algo with L3VPN</a:t>
            </a:r>
            <a:endParaRPr lang="it-IT" dirty="0"/>
          </a:p>
          <a:p>
            <a:r>
              <a:rPr lang="en-US" dirty="0" err="1"/>
              <a:t>LAB7c</a:t>
            </a:r>
            <a:r>
              <a:rPr lang="en-US" dirty="0"/>
              <a:t> - SRv6 Flex Algo with L3VPN - Multiple Algo in VRF</a:t>
            </a:r>
            <a:endParaRPr lang="it-IT" dirty="0"/>
          </a:p>
          <a:p>
            <a:endParaRPr lang="it-IT" dirty="0"/>
          </a:p>
        </p:txBody>
      </p:sp>
      <p:sp>
        <p:nvSpPr>
          <p:cNvPr id="3" name="Text Placeholder 2">
            <a:extLst>
              <a:ext uri="{FF2B5EF4-FFF2-40B4-BE49-F238E27FC236}">
                <a16:creationId xmlns:a16="http://schemas.microsoft.com/office/drawing/2014/main" id="{78E53C79-C587-9DEB-BB18-FF32CF2366D9}"/>
              </a:ext>
            </a:extLst>
          </p:cNvPr>
          <p:cNvSpPr>
            <a:spLocks noGrp="1"/>
          </p:cNvSpPr>
          <p:nvPr>
            <p:ph type="body" sz="quarter" idx="11"/>
          </p:nvPr>
        </p:nvSpPr>
        <p:spPr/>
        <p:txBody>
          <a:bodyPr/>
          <a:lstStyle/>
          <a:p>
            <a:r>
              <a:rPr lang="en-US" sz="2800" dirty="0"/>
              <a:t>LAB 8 – SRv6 TE</a:t>
            </a:r>
          </a:p>
        </p:txBody>
      </p:sp>
    </p:spTree>
    <p:extLst>
      <p:ext uri="{BB962C8B-B14F-4D97-AF65-F5344CB8AC3E}">
        <p14:creationId xmlns:p14="http://schemas.microsoft.com/office/powerpoint/2010/main" val="3677975884"/>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7DF76D3A-5E3E-4BC8-8F39-771134FF4322}"/>
              </a:ext>
            </a:extLst>
          </p:cNvPr>
          <p:cNvSpPr>
            <a:spLocks noGrp="1"/>
          </p:cNvSpPr>
          <p:nvPr>
            <p:ph type="body" idx="1"/>
          </p:nvPr>
        </p:nvSpPr>
        <p:spPr/>
        <p:txBody>
          <a:bodyPr/>
          <a:lstStyle/>
          <a:p>
            <a:r>
              <a:rPr lang="en-US" noProof="0" dirty="0"/>
              <a:t>SRv6 Design</a:t>
            </a:r>
          </a:p>
        </p:txBody>
      </p:sp>
      <p:sp>
        <p:nvSpPr>
          <p:cNvPr id="5" name="Zástupný text 4">
            <a:extLst>
              <a:ext uri="{FF2B5EF4-FFF2-40B4-BE49-F238E27FC236}">
                <a16:creationId xmlns:a16="http://schemas.microsoft.com/office/drawing/2014/main" id="{CA46CB7B-0002-4873-B253-4D2438CC3611}"/>
              </a:ext>
            </a:extLst>
          </p:cNvPr>
          <p:cNvSpPr>
            <a:spLocks noGrp="1"/>
          </p:cNvSpPr>
          <p:nvPr>
            <p:ph type="body" sz="quarter" idx="13"/>
          </p:nvPr>
        </p:nvSpPr>
        <p:spPr/>
        <p:txBody>
          <a:bodyPr/>
          <a:lstStyle/>
          <a:p>
            <a:r>
              <a:rPr lang="en-US" dirty="0"/>
              <a:t>Segment Routing MPLS and SRv6</a:t>
            </a:r>
          </a:p>
        </p:txBody>
      </p:sp>
      <p:sp>
        <p:nvSpPr>
          <p:cNvPr id="6" name="Zástupný text 5">
            <a:extLst>
              <a:ext uri="{FF2B5EF4-FFF2-40B4-BE49-F238E27FC236}">
                <a16:creationId xmlns:a16="http://schemas.microsoft.com/office/drawing/2014/main" id="{955FA430-FA92-4EB5-849C-E3D05AB9B217}"/>
              </a:ext>
            </a:extLst>
          </p:cNvPr>
          <p:cNvSpPr>
            <a:spLocks noGrp="1"/>
          </p:cNvSpPr>
          <p:nvPr>
            <p:ph type="body" sz="quarter" idx="14"/>
          </p:nvPr>
        </p:nvSpPr>
        <p:spPr/>
        <p:txBody>
          <a:bodyPr/>
          <a:lstStyle/>
          <a:p>
            <a:r>
              <a:rPr lang="en-US" dirty="0"/>
              <a:t>Best Practices</a:t>
            </a:r>
          </a:p>
        </p:txBody>
      </p:sp>
      <p:sp>
        <p:nvSpPr>
          <p:cNvPr id="2" name="Text Placeholder 1">
            <a:extLst>
              <a:ext uri="{FF2B5EF4-FFF2-40B4-BE49-F238E27FC236}">
                <a16:creationId xmlns:a16="http://schemas.microsoft.com/office/drawing/2014/main" id="{B367786B-A4DD-DB9E-9087-78A451525AAC}"/>
              </a:ext>
            </a:extLst>
          </p:cNvPr>
          <p:cNvSpPr>
            <a:spLocks noGrp="1"/>
          </p:cNvSpPr>
          <p:nvPr>
            <p:ph type="body" sz="quarter" idx="15"/>
          </p:nvPr>
        </p:nvSpPr>
        <p:spPr/>
        <p:txBody>
          <a:bodyPr/>
          <a:lstStyle/>
          <a:p>
            <a:r>
              <a:rPr lang="en-US" dirty="0">
                <a:cs typeface="Calibri" pitchFamily="34" charset="0"/>
              </a:rPr>
              <a:t>SRv6 and service migration</a:t>
            </a:r>
            <a:endParaRPr lang="cs-CZ" dirty="0"/>
          </a:p>
        </p:txBody>
      </p:sp>
    </p:spTree>
    <p:extLst>
      <p:ext uri="{BB962C8B-B14F-4D97-AF65-F5344CB8AC3E}">
        <p14:creationId xmlns:p14="http://schemas.microsoft.com/office/powerpoint/2010/main" val="2656531898"/>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5473C98-B96C-9177-DCEB-B305BCE18495}"/>
              </a:ext>
            </a:extLst>
          </p:cNvPr>
          <p:cNvSpPr>
            <a:spLocks noGrp="1"/>
          </p:cNvSpPr>
          <p:nvPr>
            <p:ph type="body" sz="quarter" idx="10"/>
          </p:nvPr>
        </p:nvSpPr>
        <p:spPr/>
        <p:txBody>
          <a:bodyPr/>
          <a:lstStyle/>
          <a:p>
            <a:r>
              <a:rPr lang="en-US" dirty="0"/>
              <a:t>Infrastructure addressing and SRv6 SID allocation belong to two different planes and </a:t>
            </a:r>
            <a:r>
              <a:rPr lang="en-US" b="1" dirty="0"/>
              <a:t>are different</a:t>
            </a:r>
          </a:p>
          <a:p>
            <a:pPr lvl="1"/>
            <a:r>
              <a:rPr lang="en-US" dirty="0"/>
              <a:t>Infrastructure IP addresses (e.g., link interfaces, loopbacks) are allocated on the management plane</a:t>
            </a:r>
          </a:p>
          <a:p>
            <a:pPr lvl="1"/>
            <a:r>
              <a:rPr lang="en-US" dirty="0"/>
              <a:t>SRv6 </a:t>
            </a:r>
            <a:r>
              <a:rPr lang="en-US" dirty="0" err="1"/>
              <a:t>SIDs</a:t>
            </a:r>
            <a:r>
              <a:rPr lang="en-US" dirty="0"/>
              <a:t> are allocated on the service plane</a:t>
            </a:r>
          </a:p>
          <a:p>
            <a:r>
              <a:rPr lang="en-US" dirty="0"/>
              <a:t>SRv6 </a:t>
            </a:r>
            <a:r>
              <a:rPr lang="en-US" dirty="0" err="1"/>
              <a:t>SIDs</a:t>
            </a:r>
            <a:r>
              <a:rPr lang="en-US" dirty="0"/>
              <a:t> are assigned to a node independently from the IP addressing of that node</a:t>
            </a:r>
          </a:p>
          <a:p>
            <a:r>
              <a:rPr lang="en-US" dirty="0"/>
              <a:t>Even if they are both represented as IPv6 addresses, infrastructure addresses and </a:t>
            </a:r>
            <a:r>
              <a:rPr lang="en-US" dirty="0" err="1"/>
              <a:t>SIDs</a:t>
            </a:r>
            <a:r>
              <a:rPr lang="en-US" dirty="0"/>
              <a:t> cannot be merged and should be allocated off different blocks.</a:t>
            </a:r>
          </a:p>
        </p:txBody>
      </p:sp>
      <p:sp>
        <p:nvSpPr>
          <p:cNvPr id="7" name="Text Placeholder 6">
            <a:extLst>
              <a:ext uri="{FF2B5EF4-FFF2-40B4-BE49-F238E27FC236}">
                <a16:creationId xmlns:a16="http://schemas.microsoft.com/office/drawing/2014/main" id="{32B4E1B9-DA9B-5CDE-8609-C1AB7120372B}"/>
              </a:ext>
            </a:extLst>
          </p:cNvPr>
          <p:cNvSpPr>
            <a:spLocks noGrp="1"/>
          </p:cNvSpPr>
          <p:nvPr>
            <p:ph type="body" sz="quarter" idx="11"/>
          </p:nvPr>
        </p:nvSpPr>
        <p:spPr/>
        <p:txBody>
          <a:bodyPr/>
          <a:lstStyle/>
          <a:p>
            <a:r>
              <a:rPr lang="en-US" dirty="0"/>
              <a:t>Separation between </a:t>
            </a:r>
            <a:r>
              <a:rPr lang="en-US" dirty="0" err="1"/>
              <a:t>SIDs</a:t>
            </a:r>
            <a:r>
              <a:rPr lang="en-US" dirty="0"/>
              <a:t> and addresses</a:t>
            </a:r>
          </a:p>
        </p:txBody>
      </p:sp>
      <p:sp>
        <p:nvSpPr>
          <p:cNvPr id="8" name="TextBox 7">
            <a:extLst>
              <a:ext uri="{FF2B5EF4-FFF2-40B4-BE49-F238E27FC236}">
                <a16:creationId xmlns:a16="http://schemas.microsoft.com/office/drawing/2014/main" id="{5E36D16D-17AF-0DAB-4435-57CD1DB6B5ED}"/>
              </a:ext>
            </a:extLst>
          </p:cNvPr>
          <p:cNvSpPr txBox="1"/>
          <p:nvPr/>
        </p:nvSpPr>
        <p:spPr>
          <a:xfrm>
            <a:off x="2423650" y="5461462"/>
            <a:ext cx="7344697" cy="914400"/>
          </a:xfrm>
          <a:prstGeom prst="rect">
            <a:avLst/>
          </a:prstGeom>
        </p:spPr>
        <p:txBody>
          <a:bodyPr vert="horz" wrap="none" lIns="91440" tIns="45720" rIns="91440" bIns="45720" rtlCol="0">
            <a:noAutofit/>
          </a:bodyPr>
          <a:lstStyle/>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rgbClr val="04AB5D"/>
                </a:solidFill>
                <a:effectLst/>
                <a:uLnTx/>
                <a:uFillTx/>
                <a:latin typeface="Arial" panose="020B0604020202020204"/>
                <a:ea typeface="+mn-ea"/>
                <a:cs typeface="+mn-cs"/>
              </a:rPr>
              <a:t>An existing IPv6 address plan is not a constraint</a:t>
            </a:r>
          </a:p>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solidFill>
                  <a:srgbClr val="04AB5D"/>
                </a:solidFill>
                <a:effectLst/>
                <a:uLnTx/>
                <a:uFillTx/>
                <a:latin typeface="Arial" panose="020B0604020202020204"/>
                <a:ea typeface="+mn-ea"/>
                <a:cs typeface="+mn-cs"/>
              </a:rPr>
              <a:t>for a future SRv6 SID allocation plan.</a:t>
            </a:r>
          </a:p>
        </p:txBody>
      </p:sp>
    </p:spTree>
    <p:extLst>
      <p:ext uri="{BB962C8B-B14F-4D97-AF65-F5344CB8AC3E}">
        <p14:creationId xmlns:p14="http://schemas.microsoft.com/office/powerpoint/2010/main" val="422620033"/>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E9C37D3-4356-6EDB-5788-BA044CF4F502}"/>
              </a:ext>
            </a:extLst>
          </p:cNvPr>
          <p:cNvSpPr>
            <a:spLocks noGrp="1"/>
          </p:cNvSpPr>
          <p:nvPr>
            <p:ph type="body" sz="quarter" idx="10"/>
          </p:nvPr>
        </p:nvSpPr>
        <p:spPr/>
        <p:txBody>
          <a:bodyPr/>
          <a:lstStyle/>
          <a:p>
            <a:r>
              <a:rPr lang="en-US" sz="2000" b="1" dirty="0"/>
              <a:t>Private range allocation</a:t>
            </a:r>
          </a:p>
          <a:p>
            <a:pPr lvl="1"/>
            <a:r>
              <a:rPr lang="en-US" sz="2000" b="1" dirty="0"/>
              <a:t>Recommended allocation</a:t>
            </a:r>
          </a:p>
          <a:p>
            <a:pPr lvl="1"/>
            <a:r>
              <a:rPr lang="en-US" sz="2000" dirty="0"/>
              <a:t>Use /24 sub-range from ULA </a:t>
            </a:r>
            <a:r>
              <a:rPr lang="en-US" sz="2000" dirty="0">
                <a:latin typeface="Consolas" panose="020B0609020204030204" pitchFamily="49" charset="0"/>
              </a:rPr>
              <a:t>FC00::/8 </a:t>
            </a:r>
            <a:r>
              <a:rPr lang="en-US" sz="2000" dirty="0"/>
              <a:t>space</a:t>
            </a:r>
          </a:p>
          <a:p>
            <a:pPr lvl="1"/>
            <a:r>
              <a:rPr lang="en-US" sz="2000" dirty="0">
                <a:latin typeface="Consolas" panose="020B0609020204030204" pitchFamily="49" charset="0"/>
              </a:rPr>
              <a:t>FC</a:t>
            </a:r>
            <a:r>
              <a:rPr lang="en-US" sz="2000" dirty="0">
                <a:highlight>
                  <a:srgbClr val="FFFF00"/>
                </a:highlight>
                <a:latin typeface="Consolas" panose="020B0609020204030204" pitchFamily="49" charset="0"/>
              </a:rPr>
              <a:t>BB</a:t>
            </a:r>
            <a:r>
              <a:rPr lang="en-US" sz="2000" dirty="0">
                <a:latin typeface="Consolas" panose="020B0609020204030204" pitchFamily="49" charset="0"/>
              </a:rPr>
              <a:t>:</a:t>
            </a:r>
            <a:r>
              <a:rPr lang="en-US" sz="2000" dirty="0">
                <a:highlight>
                  <a:srgbClr val="FFFF00"/>
                </a:highlight>
                <a:latin typeface="Consolas" panose="020B0609020204030204" pitchFamily="49" charset="0"/>
              </a:rPr>
              <a:t>BB</a:t>
            </a:r>
            <a:r>
              <a:rPr lang="en-US" sz="2000" dirty="0">
                <a:solidFill>
                  <a:srgbClr val="00B0F0"/>
                </a:solidFill>
                <a:latin typeface="Consolas" panose="020B0609020204030204" pitchFamily="49" charset="0"/>
              </a:rPr>
              <a:t>00</a:t>
            </a:r>
            <a:r>
              <a:rPr lang="en-US" sz="2000" dirty="0">
                <a:latin typeface="Consolas" panose="020B0609020204030204" pitchFamily="49" charset="0"/>
              </a:rPr>
              <a:t>::/24</a:t>
            </a:r>
            <a:r>
              <a:rPr lang="en-US" sz="2000" dirty="0"/>
              <a:t>, with </a:t>
            </a:r>
            <a:r>
              <a:rPr lang="en-US" sz="2000" dirty="0">
                <a:highlight>
                  <a:srgbClr val="FFFF00"/>
                </a:highlight>
                <a:latin typeface="Consolas" panose="020B0609020204030204" pitchFamily="49" charset="0"/>
              </a:rPr>
              <a:t>B</a:t>
            </a:r>
            <a:r>
              <a:rPr lang="en-US" sz="2000" dirty="0"/>
              <a:t> indicating a nibble value picked by operator</a:t>
            </a:r>
          </a:p>
          <a:p>
            <a:endParaRPr lang="en-US" sz="2000" dirty="0"/>
          </a:p>
          <a:p>
            <a:r>
              <a:rPr lang="en-US" sz="2000" dirty="0"/>
              <a:t>Public range allocation</a:t>
            </a:r>
          </a:p>
          <a:p>
            <a:pPr lvl="1"/>
            <a:r>
              <a:rPr lang="en-US" sz="2000" dirty="0">
                <a:solidFill>
                  <a:srgbClr val="FF0000"/>
                </a:solidFill>
              </a:rPr>
              <a:t>Supported, not advised</a:t>
            </a:r>
          </a:p>
          <a:p>
            <a:pPr lvl="1"/>
            <a:r>
              <a:rPr lang="en-US" sz="2000" dirty="0"/>
              <a:t>From allocated public GUA range</a:t>
            </a:r>
          </a:p>
          <a:p>
            <a:pPr lvl="1"/>
            <a:endParaRPr lang="en-US" sz="2000" dirty="0"/>
          </a:p>
          <a:p>
            <a:pPr lvl="1"/>
            <a:r>
              <a:rPr lang="en-US" sz="2000" dirty="0"/>
              <a:t>SID Space (</a:t>
            </a:r>
            <a:r>
              <a:rPr lang="en-US" sz="2000" dirty="0" err="1"/>
              <a:t>5f00</a:t>
            </a:r>
            <a:r>
              <a:rPr lang="en-US" sz="2000" dirty="0"/>
              <a:t>::/16) Inter-domain Addressing Recommendations</a:t>
            </a:r>
          </a:p>
          <a:p>
            <a:pPr lvl="2"/>
            <a:r>
              <a:rPr lang="en-US" sz="2000" dirty="0"/>
              <a:t>draft-</a:t>
            </a:r>
            <a:r>
              <a:rPr lang="en-US" sz="2000" dirty="0" err="1"/>
              <a:t>eknb</a:t>
            </a:r>
            <a:r>
              <a:rPr lang="en-US" sz="2000" dirty="0"/>
              <a:t>-</a:t>
            </a:r>
            <a:r>
              <a:rPr lang="en-US" sz="2000" dirty="0" err="1"/>
              <a:t>srv6ops</a:t>
            </a:r>
            <a:r>
              <a:rPr lang="en-US" sz="2000" dirty="0"/>
              <a:t>-interdomain-</a:t>
            </a:r>
            <a:r>
              <a:rPr lang="en-US" sz="2000" dirty="0" err="1"/>
              <a:t>sidspace</a:t>
            </a:r>
            <a:r>
              <a:rPr lang="en-US" sz="2000" dirty="0"/>
              <a:t>-00</a:t>
            </a:r>
          </a:p>
          <a:p>
            <a:pPr lvl="2"/>
            <a:r>
              <a:rPr lang="en-US" sz="1600" dirty="0">
                <a:solidFill>
                  <a:srgbClr val="0066FF"/>
                </a:solidFill>
              </a:rPr>
              <a:t>https://</a:t>
            </a:r>
            <a:r>
              <a:rPr lang="en-US" sz="1600" dirty="0" err="1">
                <a:solidFill>
                  <a:srgbClr val="0066FF"/>
                </a:solidFill>
              </a:rPr>
              <a:t>www.iana.org</a:t>
            </a:r>
            <a:r>
              <a:rPr lang="en-US" sz="1600" dirty="0">
                <a:solidFill>
                  <a:srgbClr val="0066FF"/>
                </a:solidFill>
              </a:rPr>
              <a:t>/assignments/</a:t>
            </a:r>
            <a:r>
              <a:rPr lang="en-US" sz="1600" dirty="0" err="1">
                <a:solidFill>
                  <a:srgbClr val="0066FF"/>
                </a:solidFill>
              </a:rPr>
              <a:t>iana</a:t>
            </a:r>
            <a:r>
              <a:rPr lang="en-US" sz="1600" dirty="0">
                <a:solidFill>
                  <a:srgbClr val="0066FF"/>
                </a:solidFill>
              </a:rPr>
              <a:t>-ipv6-special-registry/</a:t>
            </a:r>
            <a:r>
              <a:rPr lang="en-US" sz="1600" dirty="0" err="1">
                <a:solidFill>
                  <a:srgbClr val="0066FF"/>
                </a:solidFill>
              </a:rPr>
              <a:t>iana</a:t>
            </a:r>
            <a:r>
              <a:rPr lang="en-US" sz="1600" dirty="0">
                <a:solidFill>
                  <a:srgbClr val="0066FF"/>
                </a:solidFill>
              </a:rPr>
              <a:t>-ipv6-special-</a:t>
            </a:r>
            <a:r>
              <a:rPr lang="en-US" sz="1600" dirty="0" err="1">
                <a:solidFill>
                  <a:srgbClr val="0066FF"/>
                </a:solidFill>
              </a:rPr>
              <a:t>registry.xhtml</a:t>
            </a:r>
            <a:endParaRPr lang="en-US" sz="1600" dirty="0">
              <a:solidFill>
                <a:srgbClr val="0066FF"/>
              </a:solidFill>
            </a:endParaRPr>
          </a:p>
        </p:txBody>
      </p:sp>
      <p:sp>
        <p:nvSpPr>
          <p:cNvPr id="7" name="Text Placeholder 6">
            <a:extLst>
              <a:ext uri="{FF2B5EF4-FFF2-40B4-BE49-F238E27FC236}">
                <a16:creationId xmlns:a16="http://schemas.microsoft.com/office/drawing/2014/main" id="{C5A20EF4-47DC-7EDA-B533-3FF2C9C1BA68}"/>
              </a:ext>
            </a:extLst>
          </p:cNvPr>
          <p:cNvSpPr>
            <a:spLocks noGrp="1"/>
          </p:cNvSpPr>
          <p:nvPr>
            <p:ph type="body" sz="quarter" idx="11"/>
          </p:nvPr>
        </p:nvSpPr>
        <p:spPr/>
        <p:txBody>
          <a:bodyPr/>
          <a:lstStyle/>
          <a:p>
            <a:r>
              <a:rPr lang="en-US" dirty="0"/>
              <a:t>SRv6 Space allocation recommendation</a:t>
            </a:r>
          </a:p>
        </p:txBody>
      </p:sp>
      <p:pic>
        <p:nvPicPr>
          <p:cNvPr id="3" name="Picture 2">
            <a:extLst>
              <a:ext uri="{FF2B5EF4-FFF2-40B4-BE49-F238E27FC236}">
                <a16:creationId xmlns:a16="http://schemas.microsoft.com/office/drawing/2014/main" id="{37770043-0E0A-84D7-A868-105A49A6EE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77" y="6197772"/>
            <a:ext cx="11331922" cy="190517"/>
          </a:xfrm>
          <a:prstGeom prst="rect">
            <a:avLst/>
          </a:prstGeom>
        </p:spPr>
      </p:pic>
      <p:pic>
        <p:nvPicPr>
          <p:cNvPr id="5" name="Picture 4">
            <a:extLst>
              <a:ext uri="{FF2B5EF4-FFF2-40B4-BE49-F238E27FC236}">
                <a16:creationId xmlns:a16="http://schemas.microsoft.com/office/drawing/2014/main" id="{097E252E-49FE-C899-0A45-A9C06E28F1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677" y="5793271"/>
            <a:ext cx="12040643" cy="403895"/>
          </a:xfrm>
          <a:prstGeom prst="rect">
            <a:avLst/>
          </a:prstGeom>
        </p:spPr>
      </p:pic>
    </p:spTree>
    <p:extLst>
      <p:ext uri="{BB962C8B-B14F-4D97-AF65-F5344CB8AC3E}">
        <p14:creationId xmlns:p14="http://schemas.microsoft.com/office/powerpoint/2010/main" val="3971566516"/>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E9C37D3-4356-6EDB-5788-BA044CF4F502}"/>
              </a:ext>
            </a:extLst>
          </p:cNvPr>
          <p:cNvSpPr>
            <a:spLocks noGrp="1"/>
          </p:cNvSpPr>
          <p:nvPr>
            <p:ph type="body" sz="quarter" idx="10"/>
          </p:nvPr>
        </p:nvSpPr>
        <p:spPr/>
        <p:txBody>
          <a:bodyPr/>
          <a:lstStyle/>
          <a:p>
            <a:pPr marL="0" indent="0">
              <a:buNone/>
            </a:pPr>
            <a:endParaRPr lang="en-US" dirty="0"/>
          </a:p>
          <a:p>
            <a:pPr marL="0" indent="0">
              <a:buNone/>
            </a:pPr>
            <a:endParaRPr lang="en-US" dirty="0"/>
          </a:p>
          <a:p>
            <a:r>
              <a:rPr lang="en-US" dirty="0"/>
              <a:t>Allocate a loopback address within the </a:t>
            </a:r>
            <a:r>
              <a:rPr lang="en-US" dirty="0" err="1"/>
              <a:t>uSID</a:t>
            </a:r>
            <a:r>
              <a:rPr lang="en-US" dirty="0"/>
              <a:t> locator prefix</a:t>
            </a:r>
          </a:p>
          <a:p>
            <a:pPr lvl="1"/>
            <a:r>
              <a:rPr lang="en-US" dirty="0"/>
              <a:t>E.g. </a:t>
            </a:r>
            <a:r>
              <a:rPr lang="en-US" dirty="0" err="1"/>
              <a:t>uSID</a:t>
            </a:r>
            <a:r>
              <a:rPr lang="en-US" dirty="0"/>
              <a:t> locator </a:t>
            </a:r>
            <a:r>
              <a:rPr lang="en-US" dirty="0" err="1"/>
              <a:t>BBBB:BB00:0001</a:t>
            </a:r>
            <a:r>
              <a:rPr lang="en-US" dirty="0"/>
              <a:t>/48</a:t>
            </a:r>
          </a:p>
          <a:p>
            <a:pPr lvl="1"/>
            <a:r>
              <a:rPr lang="en-US" dirty="0"/>
              <a:t>→ loopback address can be </a:t>
            </a:r>
            <a:r>
              <a:rPr lang="en-US" dirty="0" err="1"/>
              <a:t>BBBB:BB00:0001</a:t>
            </a:r>
            <a:r>
              <a:rPr lang="en-US" dirty="0"/>
              <a:t>::</a:t>
            </a:r>
            <a:r>
              <a:rPr lang="en-US" b="1" dirty="0"/>
              <a:t>L</a:t>
            </a:r>
            <a:r>
              <a:rPr lang="en-US" dirty="0"/>
              <a:t>/128 with </a:t>
            </a:r>
            <a:r>
              <a:rPr lang="en-US" b="1" dirty="0"/>
              <a:t>L=</a:t>
            </a:r>
            <a:r>
              <a:rPr lang="en-US" b="1" dirty="0" err="1"/>
              <a:t>1..F</a:t>
            </a:r>
            <a:endParaRPr lang="en-US" b="1" dirty="0"/>
          </a:p>
          <a:p>
            <a:r>
              <a:rPr lang="en-US" dirty="0"/>
              <a:t>ISIS advertises locator (locator + prefix for algo 0)</a:t>
            </a:r>
          </a:p>
          <a:p>
            <a:r>
              <a:rPr lang="en-US" dirty="0"/>
              <a:t>Loopback under locator can be reachable via locator prefix, does not have to be separately advertised as /128 prefix</a:t>
            </a:r>
          </a:p>
        </p:txBody>
      </p:sp>
      <p:sp>
        <p:nvSpPr>
          <p:cNvPr id="7" name="Text Placeholder 6">
            <a:extLst>
              <a:ext uri="{FF2B5EF4-FFF2-40B4-BE49-F238E27FC236}">
                <a16:creationId xmlns:a16="http://schemas.microsoft.com/office/drawing/2014/main" id="{C5A20EF4-47DC-7EDA-B533-3FF2C9C1BA68}"/>
              </a:ext>
            </a:extLst>
          </p:cNvPr>
          <p:cNvSpPr>
            <a:spLocks noGrp="1"/>
          </p:cNvSpPr>
          <p:nvPr>
            <p:ph type="body" sz="quarter" idx="11"/>
          </p:nvPr>
        </p:nvSpPr>
        <p:spPr/>
        <p:txBody>
          <a:bodyPr/>
          <a:lstStyle/>
          <a:p>
            <a:r>
              <a:rPr lang="en-US" dirty="0"/>
              <a:t>Loopback from </a:t>
            </a:r>
            <a:r>
              <a:rPr lang="en-US" dirty="0" err="1"/>
              <a:t>uSID</a:t>
            </a:r>
            <a:r>
              <a:rPr lang="en-US" dirty="0"/>
              <a:t> Locator</a:t>
            </a:r>
          </a:p>
        </p:txBody>
      </p:sp>
    </p:spTree>
    <p:extLst>
      <p:ext uri="{BB962C8B-B14F-4D97-AF65-F5344CB8AC3E}">
        <p14:creationId xmlns:p14="http://schemas.microsoft.com/office/powerpoint/2010/main" val="3052705442"/>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E9C37D3-4356-6EDB-5788-BA044CF4F502}"/>
              </a:ext>
            </a:extLst>
          </p:cNvPr>
          <p:cNvSpPr>
            <a:spLocks noGrp="1"/>
          </p:cNvSpPr>
          <p:nvPr>
            <p:ph type="body" sz="quarter" idx="10"/>
          </p:nvPr>
        </p:nvSpPr>
        <p:spPr/>
        <p:txBody>
          <a:bodyPr/>
          <a:lstStyle/>
          <a:p>
            <a:r>
              <a:rPr lang="en-US" dirty="0">
                <a:solidFill>
                  <a:srgbClr val="00B050"/>
                </a:solidFill>
              </a:rPr>
              <a:t>no config</a:t>
            </a:r>
          </a:p>
          <a:p>
            <a:r>
              <a:rPr lang="en-US" dirty="0">
                <a:solidFill>
                  <a:srgbClr val="00B050"/>
                </a:solidFill>
              </a:rPr>
              <a:t>no address planning</a:t>
            </a:r>
          </a:p>
          <a:p>
            <a:r>
              <a:rPr lang="en-US" dirty="0">
                <a:solidFill>
                  <a:srgbClr val="00B050"/>
                </a:solidFill>
              </a:rPr>
              <a:t>new device insertion</a:t>
            </a:r>
          </a:p>
          <a:p>
            <a:r>
              <a:rPr lang="en-US" dirty="0">
                <a:solidFill>
                  <a:srgbClr val="00B050"/>
                </a:solidFill>
              </a:rPr>
              <a:t>smaller LSP</a:t>
            </a:r>
          </a:p>
          <a:p>
            <a:r>
              <a:rPr lang="en-US" dirty="0">
                <a:solidFill>
                  <a:srgbClr val="FFC000"/>
                </a:solidFill>
              </a:rPr>
              <a:t>interfaces not remotely reachable</a:t>
            </a:r>
          </a:p>
          <a:p>
            <a:r>
              <a:rPr lang="en-US" dirty="0" err="1">
                <a:solidFill>
                  <a:srgbClr val="FFC000"/>
                </a:solidFill>
              </a:rPr>
              <a:t>uA</a:t>
            </a:r>
            <a:r>
              <a:rPr lang="en-US" dirty="0">
                <a:solidFill>
                  <a:srgbClr val="FFC000"/>
                </a:solidFill>
              </a:rPr>
              <a:t> can be used instead for ping</a:t>
            </a:r>
          </a:p>
        </p:txBody>
      </p:sp>
      <p:sp>
        <p:nvSpPr>
          <p:cNvPr id="7" name="Text Placeholder 6">
            <a:extLst>
              <a:ext uri="{FF2B5EF4-FFF2-40B4-BE49-F238E27FC236}">
                <a16:creationId xmlns:a16="http://schemas.microsoft.com/office/drawing/2014/main" id="{C5A20EF4-47DC-7EDA-B533-3FF2C9C1BA68}"/>
              </a:ext>
            </a:extLst>
          </p:cNvPr>
          <p:cNvSpPr>
            <a:spLocks noGrp="1"/>
          </p:cNvSpPr>
          <p:nvPr>
            <p:ph type="body" sz="quarter" idx="11"/>
          </p:nvPr>
        </p:nvSpPr>
        <p:spPr/>
        <p:txBody>
          <a:bodyPr/>
          <a:lstStyle/>
          <a:p>
            <a:r>
              <a:rPr lang="en-US" dirty="0"/>
              <a:t>Interface Addressing</a:t>
            </a:r>
          </a:p>
        </p:txBody>
      </p:sp>
      <p:sp>
        <p:nvSpPr>
          <p:cNvPr id="2" name="Text Placeholder 1">
            <a:extLst>
              <a:ext uri="{FF2B5EF4-FFF2-40B4-BE49-F238E27FC236}">
                <a16:creationId xmlns:a16="http://schemas.microsoft.com/office/drawing/2014/main" id="{8C72FB98-BBD0-3FE4-0BFC-477979B11C7B}"/>
              </a:ext>
            </a:extLst>
          </p:cNvPr>
          <p:cNvSpPr>
            <a:spLocks noGrp="1"/>
          </p:cNvSpPr>
          <p:nvPr>
            <p:ph type="body" sz="quarter" idx="12"/>
          </p:nvPr>
        </p:nvSpPr>
        <p:spPr/>
        <p:txBody>
          <a:bodyPr/>
          <a:lstStyle/>
          <a:p>
            <a:r>
              <a:rPr lang="en-US" dirty="0">
                <a:solidFill>
                  <a:srgbClr val="FFC000"/>
                </a:solidFill>
              </a:rPr>
              <a:t>Must be configured</a:t>
            </a:r>
          </a:p>
          <a:p>
            <a:r>
              <a:rPr lang="en-US" dirty="0">
                <a:solidFill>
                  <a:srgbClr val="FFC000"/>
                </a:solidFill>
              </a:rPr>
              <a:t>Must be planned and maintained</a:t>
            </a:r>
          </a:p>
          <a:p>
            <a:r>
              <a:rPr lang="en-US" dirty="0">
                <a:solidFill>
                  <a:srgbClr val="00B050"/>
                </a:solidFill>
              </a:rPr>
              <a:t>Interfaces remotely reachable</a:t>
            </a:r>
          </a:p>
        </p:txBody>
      </p:sp>
      <p:sp>
        <p:nvSpPr>
          <p:cNvPr id="3" name="Text Placeholder 2">
            <a:extLst>
              <a:ext uri="{FF2B5EF4-FFF2-40B4-BE49-F238E27FC236}">
                <a16:creationId xmlns:a16="http://schemas.microsoft.com/office/drawing/2014/main" id="{C9B92216-20F3-43A3-EB0E-F72D58F32ABA}"/>
              </a:ext>
            </a:extLst>
          </p:cNvPr>
          <p:cNvSpPr>
            <a:spLocks noGrp="1"/>
          </p:cNvSpPr>
          <p:nvPr>
            <p:ph type="body" sz="quarter" idx="17"/>
          </p:nvPr>
        </p:nvSpPr>
        <p:spPr/>
        <p:txBody>
          <a:bodyPr/>
          <a:lstStyle/>
          <a:p>
            <a:r>
              <a:rPr lang="en-US" dirty="0"/>
              <a:t>Link Local Only	</a:t>
            </a:r>
          </a:p>
        </p:txBody>
      </p:sp>
      <p:sp>
        <p:nvSpPr>
          <p:cNvPr id="4" name="Text Placeholder 3">
            <a:extLst>
              <a:ext uri="{FF2B5EF4-FFF2-40B4-BE49-F238E27FC236}">
                <a16:creationId xmlns:a16="http://schemas.microsoft.com/office/drawing/2014/main" id="{2FFFE956-66CE-2BC7-BD05-4DE5797534F2}"/>
              </a:ext>
            </a:extLst>
          </p:cNvPr>
          <p:cNvSpPr>
            <a:spLocks noGrp="1"/>
          </p:cNvSpPr>
          <p:nvPr>
            <p:ph type="body" sz="quarter" idx="18"/>
          </p:nvPr>
        </p:nvSpPr>
        <p:spPr/>
        <p:txBody>
          <a:bodyPr/>
          <a:lstStyle/>
          <a:p>
            <a:r>
              <a:rPr lang="en-US" dirty="0"/>
              <a:t>Global (ULA/GUA)</a:t>
            </a:r>
          </a:p>
        </p:txBody>
      </p:sp>
      <p:pic>
        <p:nvPicPr>
          <p:cNvPr id="10" name="Picture 9" descr="A blue circles with black numbers&#10;&#10;AI-generated content may be incorrect.">
            <a:extLst>
              <a:ext uri="{FF2B5EF4-FFF2-40B4-BE49-F238E27FC236}">
                <a16:creationId xmlns:a16="http://schemas.microsoft.com/office/drawing/2014/main" id="{337FB276-B3BB-91E7-9866-A6B02343D5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9308" y="4743347"/>
            <a:ext cx="9685859" cy="1699407"/>
          </a:xfrm>
          <a:prstGeom prst="rect">
            <a:avLst/>
          </a:prstGeom>
        </p:spPr>
      </p:pic>
    </p:spTree>
    <p:extLst>
      <p:ext uri="{BB962C8B-B14F-4D97-AF65-F5344CB8AC3E}">
        <p14:creationId xmlns:p14="http://schemas.microsoft.com/office/powerpoint/2010/main" val="2636274499"/>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up of a diagram&#10;&#10;Description automatically generated">
            <a:extLst>
              <a:ext uri="{FF2B5EF4-FFF2-40B4-BE49-F238E27FC236}">
                <a16:creationId xmlns:a16="http://schemas.microsoft.com/office/drawing/2014/main" id="{45077BCA-0E9C-A4E1-F774-8E407CB58B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31412" y="1924313"/>
            <a:ext cx="4755292" cy="1394581"/>
          </a:xfrm>
          <a:prstGeom prst="rect">
            <a:avLst/>
          </a:prstGeom>
        </p:spPr>
      </p:pic>
      <p:sp>
        <p:nvSpPr>
          <p:cNvPr id="6" name="Text Placeholder 5">
            <a:extLst>
              <a:ext uri="{FF2B5EF4-FFF2-40B4-BE49-F238E27FC236}">
                <a16:creationId xmlns:a16="http://schemas.microsoft.com/office/drawing/2014/main" id="{EE9C37D3-4356-6EDB-5788-BA044CF4F502}"/>
              </a:ext>
            </a:extLst>
          </p:cNvPr>
          <p:cNvSpPr>
            <a:spLocks noGrp="1"/>
          </p:cNvSpPr>
          <p:nvPr>
            <p:ph type="body" sz="quarter" idx="10"/>
          </p:nvPr>
        </p:nvSpPr>
        <p:spPr/>
        <p:txBody>
          <a:bodyPr/>
          <a:lstStyle/>
          <a:p>
            <a:r>
              <a:rPr lang="en-US" sz="2000" dirty="0"/>
              <a:t>More effective (less overhead)</a:t>
            </a:r>
          </a:p>
          <a:p>
            <a:r>
              <a:rPr lang="en-US" sz="2000" dirty="0"/>
              <a:t>Up to 6 uSID  - no SRH is used</a:t>
            </a:r>
          </a:p>
          <a:p>
            <a:r>
              <a:rPr lang="en-US" sz="2000" dirty="0"/>
              <a:t>HW / SW support (e.g. IOS-XE supports only uSID, not full SID)</a:t>
            </a:r>
          </a:p>
          <a:p>
            <a:r>
              <a:rPr lang="en-US" sz="2000" b="1" dirty="0"/>
              <a:t>uSID F3216 </a:t>
            </a:r>
            <a:r>
              <a:rPr lang="en-US" sz="2000" dirty="0"/>
              <a:t>“Industry Standard”</a:t>
            </a:r>
          </a:p>
          <a:p>
            <a:pPr lvl="1"/>
            <a:r>
              <a:rPr lang="en-US" sz="2000" dirty="0"/>
              <a:t>uSID format with</a:t>
            </a:r>
          </a:p>
          <a:p>
            <a:pPr lvl="2"/>
            <a:r>
              <a:rPr lang="en-US" sz="2000" dirty="0"/>
              <a:t>uSID Block size: 32 bits / ID size: 16 bits</a:t>
            </a:r>
          </a:p>
          <a:p>
            <a:pPr lvl="3"/>
            <a:r>
              <a:rPr lang="en-US" sz="2000" b="1" dirty="0"/>
              <a:t>SID Space</a:t>
            </a:r>
            <a:r>
              <a:rPr lang="en-US" sz="2000" dirty="0"/>
              <a:t> Identify a SRv6 uSID</a:t>
            </a:r>
          </a:p>
          <a:p>
            <a:pPr lvl="3"/>
            <a:r>
              <a:rPr lang="en-US" sz="2000" b="1" dirty="0">
                <a:solidFill>
                  <a:srgbClr val="0066FF"/>
                </a:solidFill>
              </a:rPr>
              <a:t>Block ID </a:t>
            </a:r>
            <a:r>
              <a:rPr lang="en-US" sz="2000" dirty="0"/>
              <a:t>Identify the Flex Algo (Slice)</a:t>
            </a:r>
          </a:p>
          <a:p>
            <a:pPr lvl="3"/>
            <a:r>
              <a:rPr lang="en-US" sz="2000" b="1" dirty="0">
                <a:solidFill>
                  <a:srgbClr val="71BF4B"/>
                </a:solidFill>
              </a:rPr>
              <a:t>Set ID </a:t>
            </a:r>
            <a:r>
              <a:rPr lang="en-US" sz="2000" dirty="0"/>
              <a:t>Identify the IGP domain / process</a:t>
            </a:r>
          </a:p>
          <a:p>
            <a:pPr lvl="3"/>
            <a:r>
              <a:rPr lang="en-US" sz="2000" b="1" dirty="0">
                <a:solidFill>
                  <a:srgbClr val="7030A0"/>
                </a:solidFill>
              </a:rPr>
              <a:t>Node ID </a:t>
            </a:r>
            <a:r>
              <a:rPr lang="en-US" sz="2000" dirty="0"/>
              <a:t>Identify the node</a:t>
            </a:r>
          </a:p>
          <a:p>
            <a:pPr lvl="2"/>
            <a:r>
              <a:rPr lang="en-US" sz="2000" dirty="0"/>
              <a:t>Examples:</a:t>
            </a:r>
          </a:p>
          <a:p>
            <a:pPr lvl="3"/>
            <a:r>
              <a:rPr lang="en-US" sz="2000" dirty="0">
                <a:latin typeface="Consolas" panose="020B0609020204030204" pitchFamily="49" charset="0"/>
              </a:rPr>
              <a:t>fcdd:dd</a:t>
            </a:r>
            <a:r>
              <a:rPr lang="en-US" sz="2000" b="1" dirty="0">
                <a:solidFill>
                  <a:srgbClr val="0066FF"/>
                </a:solidFill>
                <a:latin typeface="Consolas" panose="020B0609020204030204" pitchFamily="49" charset="0"/>
              </a:rPr>
              <a:t>00</a:t>
            </a:r>
            <a:r>
              <a:rPr lang="en-US" sz="2000" dirty="0">
                <a:latin typeface="Consolas" panose="020B0609020204030204" pitchFamily="49" charset="0"/>
              </a:rPr>
              <a:t>:</a:t>
            </a:r>
            <a:r>
              <a:rPr lang="en-US" sz="2000" b="1" dirty="0">
                <a:solidFill>
                  <a:srgbClr val="73BF4A"/>
                </a:solidFill>
                <a:latin typeface="Consolas" panose="020B0609020204030204" pitchFamily="49" charset="0"/>
              </a:rPr>
              <a:t>01</a:t>
            </a:r>
            <a:r>
              <a:rPr lang="en-US" sz="2000" b="1" dirty="0">
                <a:solidFill>
                  <a:srgbClr val="7030A0"/>
                </a:solidFill>
                <a:latin typeface="Consolas" panose="020B0609020204030204" pitchFamily="49" charset="0"/>
              </a:rPr>
              <a:t>12</a:t>
            </a:r>
            <a:r>
              <a:rPr lang="en-US" sz="2000" dirty="0">
                <a:latin typeface="Consolas" panose="020B0609020204030204" pitchFamily="49" charset="0"/>
              </a:rPr>
              <a:t>::/48 </a:t>
            </a:r>
            <a:r>
              <a:rPr lang="en-US" sz="2000" dirty="0"/>
              <a:t>Locator for node </a:t>
            </a:r>
            <a:r>
              <a:rPr lang="en-US" sz="2000" dirty="0">
                <a:solidFill>
                  <a:srgbClr val="7030A0"/>
                </a:solidFill>
              </a:rPr>
              <a:t>12</a:t>
            </a:r>
            <a:r>
              <a:rPr lang="en-US" sz="2000" dirty="0"/>
              <a:t> in IGP domain </a:t>
            </a:r>
            <a:r>
              <a:rPr lang="en-US" sz="2000" dirty="0">
                <a:solidFill>
                  <a:srgbClr val="73BF4A"/>
                </a:solidFill>
              </a:rPr>
              <a:t>1</a:t>
            </a:r>
            <a:r>
              <a:rPr lang="en-US" sz="2000" dirty="0"/>
              <a:t>, algo </a:t>
            </a:r>
            <a:r>
              <a:rPr lang="en-US" sz="2000" dirty="0">
                <a:solidFill>
                  <a:srgbClr val="0066FF"/>
                </a:solidFill>
              </a:rPr>
              <a:t>0</a:t>
            </a:r>
          </a:p>
          <a:p>
            <a:pPr lvl="3"/>
            <a:r>
              <a:rPr lang="en-US" sz="2000" dirty="0" err="1">
                <a:latin typeface="Consolas" panose="020B0609020204030204" pitchFamily="49" charset="0"/>
              </a:rPr>
              <a:t>fcdd:dd</a:t>
            </a:r>
            <a:r>
              <a:rPr lang="en-US" sz="2000" b="1" dirty="0" err="1">
                <a:solidFill>
                  <a:srgbClr val="0066FF"/>
                </a:solidFill>
                <a:latin typeface="Consolas" panose="020B0609020204030204" pitchFamily="49" charset="0"/>
              </a:rPr>
              <a:t>01</a:t>
            </a:r>
            <a:r>
              <a:rPr lang="en-US" sz="2000" dirty="0" err="1">
                <a:latin typeface="Consolas" panose="020B0609020204030204" pitchFamily="49" charset="0"/>
              </a:rPr>
              <a:t>:</a:t>
            </a:r>
            <a:r>
              <a:rPr lang="en-US" sz="2000" b="1" dirty="0" err="1">
                <a:solidFill>
                  <a:srgbClr val="73BF4A"/>
                </a:solidFill>
                <a:latin typeface="Consolas" panose="020B0609020204030204" pitchFamily="49" charset="0"/>
              </a:rPr>
              <a:t>01</a:t>
            </a:r>
            <a:r>
              <a:rPr lang="en-US" sz="2000" b="1" dirty="0" err="1">
                <a:solidFill>
                  <a:srgbClr val="7030A0"/>
                </a:solidFill>
                <a:latin typeface="Consolas" panose="020B0609020204030204" pitchFamily="49" charset="0"/>
              </a:rPr>
              <a:t>12</a:t>
            </a:r>
            <a:r>
              <a:rPr lang="en-US" sz="2000" dirty="0">
                <a:latin typeface="Consolas" panose="020B0609020204030204" pitchFamily="49" charset="0"/>
              </a:rPr>
              <a:t>::/48 </a:t>
            </a:r>
            <a:r>
              <a:rPr lang="en-US" sz="2000" dirty="0"/>
              <a:t>Locator for node </a:t>
            </a:r>
            <a:r>
              <a:rPr lang="en-US" sz="2000" dirty="0">
                <a:solidFill>
                  <a:srgbClr val="7030A0"/>
                </a:solidFill>
              </a:rPr>
              <a:t>12</a:t>
            </a:r>
            <a:r>
              <a:rPr lang="en-US" sz="2000" dirty="0"/>
              <a:t> in IGP domain </a:t>
            </a:r>
            <a:r>
              <a:rPr lang="en-US" sz="2000" dirty="0">
                <a:solidFill>
                  <a:srgbClr val="73BF4A"/>
                </a:solidFill>
              </a:rPr>
              <a:t>1</a:t>
            </a:r>
            <a:r>
              <a:rPr lang="en-US" sz="2000" dirty="0"/>
              <a:t>, algo </a:t>
            </a:r>
            <a:r>
              <a:rPr lang="en-US" sz="2000" dirty="0">
                <a:solidFill>
                  <a:srgbClr val="0066FF"/>
                </a:solidFill>
              </a:rPr>
              <a:t>128</a:t>
            </a:r>
          </a:p>
          <a:p>
            <a:pPr lvl="3"/>
            <a:r>
              <a:rPr lang="en-US" sz="2000" dirty="0" err="1">
                <a:latin typeface="Consolas" panose="020B0609020204030204" pitchFamily="49" charset="0"/>
              </a:rPr>
              <a:t>fcdd:dd</a:t>
            </a:r>
            <a:r>
              <a:rPr lang="en-US" sz="2000" b="1" dirty="0" err="1">
                <a:solidFill>
                  <a:srgbClr val="0066FF"/>
                </a:solidFill>
                <a:latin typeface="Consolas" panose="020B0609020204030204" pitchFamily="49" charset="0"/>
              </a:rPr>
              <a:t>00</a:t>
            </a:r>
            <a:r>
              <a:rPr lang="en-US" sz="2000" dirty="0" err="1">
                <a:latin typeface="Consolas" panose="020B0609020204030204" pitchFamily="49" charset="0"/>
              </a:rPr>
              <a:t>:</a:t>
            </a:r>
            <a:r>
              <a:rPr lang="en-US" sz="2000" b="1" dirty="0" err="1">
                <a:solidFill>
                  <a:srgbClr val="73BF4A"/>
                </a:solidFill>
                <a:latin typeface="Consolas" panose="020B0609020204030204" pitchFamily="49" charset="0"/>
              </a:rPr>
              <a:t>02</a:t>
            </a:r>
            <a:r>
              <a:rPr lang="en-US" sz="2000" b="1" dirty="0" err="1">
                <a:solidFill>
                  <a:srgbClr val="7030A0"/>
                </a:solidFill>
                <a:latin typeface="Consolas" panose="020B0609020204030204" pitchFamily="49" charset="0"/>
              </a:rPr>
              <a:t>33</a:t>
            </a:r>
            <a:r>
              <a:rPr lang="en-US" sz="2000" dirty="0">
                <a:latin typeface="Consolas" panose="020B0609020204030204" pitchFamily="49" charset="0"/>
              </a:rPr>
              <a:t>::/48 </a:t>
            </a:r>
            <a:r>
              <a:rPr lang="en-US" sz="2000" dirty="0"/>
              <a:t>Locator for node </a:t>
            </a:r>
            <a:r>
              <a:rPr lang="en-US" sz="2000" dirty="0">
                <a:solidFill>
                  <a:srgbClr val="7030A0"/>
                </a:solidFill>
              </a:rPr>
              <a:t>33</a:t>
            </a:r>
            <a:r>
              <a:rPr lang="en-US" sz="2000" dirty="0"/>
              <a:t> in IGP domain </a:t>
            </a:r>
            <a:r>
              <a:rPr lang="en-US" sz="2000" dirty="0">
                <a:solidFill>
                  <a:srgbClr val="73BF4A"/>
                </a:solidFill>
              </a:rPr>
              <a:t>2</a:t>
            </a:r>
            <a:r>
              <a:rPr lang="en-US" sz="2000" dirty="0"/>
              <a:t>, algo </a:t>
            </a:r>
            <a:r>
              <a:rPr lang="en-US" sz="2000" dirty="0">
                <a:solidFill>
                  <a:srgbClr val="0066FF"/>
                </a:solidFill>
              </a:rPr>
              <a:t>0</a:t>
            </a:r>
          </a:p>
        </p:txBody>
      </p:sp>
      <p:sp>
        <p:nvSpPr>
          <p:cNvPr id="7" name="Text Placeholder 6">
            <a:extLst>
              <a:ext uri="{FF2B5EF4-FFF2-40B4-BE49-F238E27FC236}">
                <a16:creationId xmlns:a16="http://schemas.microsoft.com/office/drawing/2014/main" id="{C5A20EF4-47DC-7EDA-B533-3FF2C9C1BA68}"/>
              </a:ext>
            </a:extLst>
          </p:cNvPr>
          <p:cNvSpPr>
            <a:spLocks noGrp="1"/>
          </p:cNvSpPr>
          <p:nvPr>
            <p:ph type="body" sz="quarter" idx="11"/>
          </p:nvPr>
        </p:nvSpPr>
        <p:spPr/>
        <p:txBody>
          <a:bodyPr/>
          <a:lstStyle/>
          <a:p>
            <a:r>
              <a:rPr lang="en-US" dirty="0"/>
              <a:t>Best practice - use uSID (no full SID)</a:t>
            </a:r>
          </a:p>
        </p:txBody>
      </p:sp>
      <p:sp>
        <p:nvSpPr>
          <p:cNvPr id="4" name="Right Brace 3">
            <a:extLst>
              <a:ext uri="{FF2B5EF4-FFF2-40B4-BE49-F238E27FC236}">
                <a16:creationId xmlns:a16="http://schemas.microsoft.com/office/drawing/2014/main" id="{0FE57F90-34F6-7036-74CC-F8799E70EE51}"/>
              </a:ext>
            </a:extLst>
          </p:cNvPr>
          <p:cNvSpPr/>
          <p:nvPr/>
        </p:nvSpPr>
        <p:spPr>
          <a:xfrm rot="5400000">
            <a:off x="8820113" y="1979808"/>
            <a:ext cx="229481" cy="2889117"/>
          </a:xfrm>
          <a:prstGeom prst="righ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Right Brace 4">
            <a:extLst>
              <a:ext uri="{FF2B5EF4-FFF2-40B4-BE49-F238E27FC236}">
                <a16:creationId xmlns:a16="http://schemas.microsoft.com/office/drawing/2014/main" id="{BB7E29F4-3740-EF52-8F26-DD471406C668}"/>
              </a:ext>
            </a:extLst>
          </p:cNvPr>
          <p:cNvSpPr/>
          <p:nvPr/>
        </p:nvSpPr>
        <p:spPr>
          <a:xfrm rot="16200000" flipH="1">
            <a:off x="11203340" y="2810576"/>
            <a:ext cx="229481" cy="1269533"/>
          </a:xfrm>
          <a:prstGeom prst="rightBrace">
            <a:avLst>
              <a:gd name="adj1" fmla="val 8333"/>
              <a:gd name="adj2" fmla="val 50783"/>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36D2DC85-2EFE-B28E-EEF0-9A2B558D9027}"/>
              </a:ext>
            </a:extLst>
          </p:cNvPr>
          <p:cNvSpPr txBox="1"/>
          <p:nvPr/>
        </p:nvSpPr>
        <p:spPr>
          <a:xfrm>
            <a:off x="8160026" y="4154557"/>
            <a:ext cx="914400" cy="914400"/>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endParaRPr kumimoji="0" lang="en-US" sz="2400" b="1" i="0" u="none" strike="noStrike" kern="1200" cap="none" spc="0" normalizeH="0" baseline="0" noProof="0" dirty="0" err="1">
              <a:ln>
                <a:noFill/>
              </a:ln>
              <a:solidFill>
                <a:schemeClr val="tx1"/>
              </a:solidFill>
              <a:effectLst/>
              <a:uLnTx/>
              <a:uFillTx/>
              <a:latin typeface="Arial" panose="020B0604020202020204"/>
              <a:ea typeface="+mn-ea"/>
              <a:cs typeface="+mn-cs"/>
            </a:endParaRPr>
          </a:p>
        </p:txBody>
      </p:sp>
      <p:sp>
        <p:nvSpPr>
          <p:cNvPr id="9" name="TextBox 8">
            <a:extLst>
              <a:ext uri="{FF2B5EF4-FFF2-40B4-BE49-F238E27FC236}">
                <a16:creationId xmlns:a16="http://schemas.microsoft.com/office/drawing/2014/main" id="{BD242522-E3AB-AB85-6676-51065C31D46C}"/>
              </a:ext>
            </a:extLst>
          </p:cNvPr>
          <p:cNvSpPr txBox="1"/>
          <p:nvPr/>
        </p:nvSpPr>
        <p:spPr>
          <a:xfrm>
            <a:off x="8845826" y="4154557"/>
            <a:ext cx="914400" cy="914400"/>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endParaRPr kumimoji="0" lang="en-US" sz="2400" b="1" i="0" u="none" strike="noStrike" kern="1200" cap="none" spc="0" normalizeH="0" baseline="0" noProof="0" dirty="0" err="1">
              <a:ln>
                <a:noFill/>
              </a:ln>
              <a:solidFill>
                <a:schemeClr val="tx1"/>
              </a:solidFill>
              <a:effectLst/>
              <a:uLnTx/>
              <a:uFillTx/>
              <a:latin typeface="Arial" panose="020B0604020202020204"/>
              <a:ea typeface="+mn-ea"/>
              <a:cs typeface="+mn-cs"/>
            </a:endParaRPr>
          </a:p>
        </p:txBody>
      </p:sp>
      <p:sp>
        <p:nvSpPr>
          <p:cNvPr id="11" name="TextBox 10">
            <a:extLst>
              <a:ext uri="{FF2B5EF4-FFF2-40B4-BE49-F238E27FC236}">
                <a16:creationId xmlns:a16="http://schemas.microsoft.com/office/drawing/2014/main" id="{2A12A358-8C18-899B-D96B-68BF74BC25AA}"/>
              </a:ext>
            </a:extLst>
          </p:cNvPr>
          <p:cNvSpPr txBox="1"/>
          <p:nvPr/>
        </p:nvSpPr>
        <p:spPr>
          <a:xfrm>
            <a:off x="7996030" y="3543753"/>
            <a:ext cx="1764196" cy="801525"/>
          </a:xfrm>
          <a:prstGeom prst="rect">
            <a:avLst/>
          </a:prstGeom>
        </p:spPr>
        <p:txBody>
          <a:bodyPr vert="horz" wrap="none" lIns="91440" tIns="45720" rIns="91440" bIns="45720" rtlCol="0">
            <a:noAutofit/>
          </a:bodyPr>
          <a:lstStyle/>
          <a:p>
            <a:pPr algn="ctr">
              <a:lnSpc>
                <a:spcPct val="90000"/>
              </a:lnSpc>
              <a:spcBef>
                <a:spcPts val="1000"/>
              </a:spcBef>
            </a:pPr>
            <a:r>
              <a:rPr lang="en-US" dirty="0"/>
              <a:t>uSID Block size: </a:t>
            </a:r>
          </a:p>
          <a:p>
            <a:pPr algn="ctr">
              <a:lnSpc>
                <a:spcPct val="90000"/>
              </a:lnSpc>
              <a:spcBef>
                <a:spcPts val="1000"/>
              </a:spcBef>
            </a:pPr>
            <a:r>
              <a:rPr lang="en-US" dirty="0"/>
              <a:t>32 bits </a:t>
            </a:r>
          </a:p>
          <a:p>
            <a:pPr algn="ctr">
              <a:lnSpc>
                <a:spcPct val="90000"/>
              </a:lnSpc>
              <a:spcBef>
                <a:spcPts val="1000"/>
              </a:spcBef>
            </a:pPr>
            <a:endParaRPr lang="en-US" dirty="0"/>
          </a:p>
          <a:p>
            <a: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pPr>
            <a:endParaRPr kumimoji="0" lang="en-US" b="1" i="0" u="none" strike="noStrike" kern="1200" cap="none" spc="0" normalizeH="0" baseline="0" noProof="0" dirty="0" err="1">
              <a:ln>
                <a:noFill/>
              </a:ln>
              <a:solidFill>
                <a:schemeClr val="tx1"/>
              </a:solidFill>
              <a:effectLst/>
              <a:uLnTx/>
              <a:uFillTx/>
              <a:latin typeface="Arial" panose="020B0604020202020204"/>
              <a:ea typeface="+mn-ea"/>
              <a:cs typeface="+mn-cs"/>
            </a:endParaRPr>
          </a:p>
        </p:txBody>
      </p:sp>
      <p:sp>
        <p:nvSpPr>
          <p:cNvPr id="12" name="TextBox 11">
            <a:extLst>
              <a:ext uri="{FF2B5EF4-FFF2-40B4-BE49-F238E27FC236}">
                <a16:creationId xmlns:a16="http://schemas.microsoft.com/office/drawing/2014/main" id="{A1B393B6-D95B-AC69-A9E2-5542C75528E9}"/>
              </a:ext>
            </a:extLst>
          </p:cNvPr>
          <p:cNvSpPr txBox="1"/>
          <p:nvPr/>
        </p:nvSpPr>
        <p:spPr>
          <a:xfrm>
            <a:off x="10725697" y="3563513"/>
            <a:ext cx="1184766" cy="801525"/>
          </a:xfrm>
          <a:prstGeom prst="rect">
            <a:avLst/>
          </a:prstGeom>
        </p:spPr>
        <p:txBody>
          <a:bodyPr vert="horz" wrap="none" lIns="91440" tIns="45720" rIns="91440" bIns="45720" rtlCol="0">
            <a:noAutofit/>
          </a:bodyPr>
          <a:lstStyle>
            <a:defPPr>
              <a:defRPr lang="sk-SK"/>
            </a:defPPr>
            <a:lvl1pPr>
              <a:lnSpc>
                <a:spcPct val="90000"/>
              </a:lnSpc>
              <a:spcBef>
                <a:spcPts val="1000"/>
              </a:spcBef>
            </a:lvl1pPr>
          </a:lstStyle>
          <a:p>
            <a:pPr algn="ctr"/>
            <a:r>
              <a:rPr lang="en-US" dirty="0"/>
              <a:t>ID size:</a:t>
            </a:r>
          </a:p>
          <a:p>
            <a:pPr algn="ctr"/>
            <a:r>
              <a:rPr lang="en-US" dirty="0"/>
              <a:t>16 bits</a:t>
            </a:r>
          </a:p>
          <a:p>
            <a:endParaRPr lang="en-US" dirty="0"/>
          </a:p>
          <a:p>
            <a:endParaRPr lang="en-US" dirty="0" err="1"/>
          </a:p>
        </p:txBody>
      </p:sp>
    </p:spTree>
    <p:extLst>
      <p:ext uri="{BB962C8B-B14F-4D97-AF65-F5344CB8AC3E}">
        <p14:creationId xmlns:p14="http://schemas.microsoft.com/office/powerpoint/2010/main" val="835685966"/>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98F390D-849C-5EC0-E01E-1203CD3B57B8}"/>
              </a:ext>
            </a:extLst>
          </p:cNvPr>
          <p:cNvSpPr>
            <a:spLocks noGrp="1"/>
          </p:cNvSpPr>
          <p:nvPr>
            <p:ph type="body" sz="quarter" idx="11"/>
          </p:nvPr>
        </p:nvSpPr>
        <p:spPr/>
        <p:txBody>
          <a:bodyPr/>
          <a:lstStyle/>
          <a:p>
            <a:r>
              <a:rPr lang="en-US" dirty="0"/>
              <a:t>SRv6 uSID Planning Example</a:t>
            </a:r>
          </a:p>
        </p:txBody>
      </p:sp>
      <p:pic>
        <p:nvPicPr>
          <p:cNvPr id="9" name="Picture 8" descr="A diagram of a computer&#10;&#10;Description automatically generated">
            <a:extLst>
              <a:ext uri="{FF2B5EF4-FFF2-40B4-BE49-F238E27FC236}">
                <a16:creationId xmlns:a16="http://schemas.microsoft.com/office/drawing/2014/main" id="{62F38B8D-A4DC-732C-4FDE-CD1A47AC56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9677" y="1142778"/>
            <a:ext cx="10502183" cy="5561440"/>
          </a:xfrm>
          <a:prstGeom prst="rect">
            <a:avLst/>
          </a:prstGeom>
        </p:spPr>
      </p:pic>
    </p:spTree>
    <p:extLst>
      <p:ext uri="{BB962C8B-B14F-4D97-AF65-F5344CB8AC3E}">
        <p14:creationId xmlns:p14="http://schemas.microsoft.com/office/powerpoint/2010/main" val="3600655626"/>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E9C37D3-4356-6EDB-5788-BA044CF4F502}"/>
              </a:ext>
            </a:extLst>
          </p:cNvPr>
          <p:cNvSpPr>
            <a:spLocks noGrp="1"/>
          </p:cNvSpPr>
          <p:nvPr>
            <p:ph type="body" sz="quarter" idx="10"/>
          </p:nvPr>
        </p:nvSpPr>
        <p:spPr/>
        <p:txBody>
          <a:bodyPr/>
          <a:lstStyle/>
          <a:p>
            <a:endParaRPr lang="en-US" dirty="0"/>
          </a:p>
          <a:p>
            <a:endParaRPr lang="en-US" dirty="0"/>
          </a:p>
          <a:p>
            <a:endParaRPr lang="en-US" dirty="0"/>
          </a:p>
          <a:p>
            <a:endParaRPr lang="en-US" dirty="0"/>
          </a:p>
          <a:p>
            <a:pPr marL="0" indent="0">
              <a:buNone/>
            </a:pPr>
            <a:endParaRPr lang="en-US" dirty="0"/>
          </a:p>
          <a:p>
            <a:r>
              <a:rPr lang="en-US" dirty="0"/>
              <a:t>Back to basic IP routing and summarization</a:t>
            </a:r>
          </a:p>
          <a:p>
            <a:r>
              <a:rPr lang="en-US" dirty="0"/>
              <a:t>No BGP inter-AS Option A/B/C</a:t>
            </a:r>
          </a:p>
          <a:p>
            <a:endParaRPr lang="en-US" dirty="0"/>
          </a:p>
          <a:p>
            <a:endParaRPr lang="en-US" dirty="0"/>
          </a:p>
          <a:p>
            <a:r>
              <a:rPr lang="en-US" dirty="0">
                <a:solidFill>
                  <a:srgbClr val="FF0000"/>
                </a:solidFill>
              </a:rPr>
              <a:t>BGP PIC</a:t>
            </a:r>
          </a:p>
          <a:p>
            <a:pPr lvl="1"/>
            <a:r>
              <a:rPr lang="en-US" dirty="0"/>
              <a:t>summarization hide topology/reachability change</a:t>
            </a:r>
          </a:p>
          <a:p>
            <a:pPr lvl="2"/>
            <a:r>
              <a:rPr lang="en-US" dirty="0"/>
              <a:t>SRv6 </a:t>
            </a:r>
            <a:r>
              <a:rPr lang="en-US" dirty="0" err="1"/>
              <a:t>uSID</a:t>
            </a:r>
            <a:r>
              <a:rPr lang="en-US" dirty="0"/>
              <a:t> Unreachable Prefix Announcement (UPA)</a:t>
            </a:r>
          </a:p>
        </p:txBody>
      </p:sp>
      <p:sp>
        <p:nvSpPr>
          <p:cNvPr id="7" name="Text Placeholder 6">
            <a:extLst>
              <a:ext uri="{FF2B5EF4-FFF2-40B4-BE49-F238E27FC236}">
                <a16:creationId xmlns:a16="http://schemas.microsoft.com/office/drawing/2014/main" id="{C5A20EF4-47DC-7EDA-B533-3FF2C9C1BA68}"/>
              </a:ext>
            </a:extLst>
          </p:cNvPr>
          <p:cNvSpPr>
            <a:spLocks noGrp="1"/>
          </p:cNvSpPr>
          <p:nvPr>
            <p:ph type="body" sz="quarter" idx="11"/>
          </p:nvPr>
        </p:nvSpPr>
        <p:spPr/>
        <p:txBody>
          <a:bodyPr/>
          <a:lstStyle/>
          <a:p>
            <a:r>
              <a:rPr lang="en-US" dirty="0"/>
              <a:t>Best </a:t>
            </a:r>
            <a:r>
              <a:rPr lang="en-US" dirty="0" err="1"/>
              <a:t>Practise#1</a:t>
            </a:r>
            <a:r>
              <a:rPr lang="en-US" dirty="0"/>
              <a:t> : Prefix Summarization</a:t>
            </a:r>
          </a:p>
        </p:txBody>
      </p:sp>
      <p:pic>
        <p:nvPicPr>
          <p:cNvPr id="3" name="Picture 2" descr="A diagram of a diagram&#10;&#10;AI-generated content may be incorrect.">
            <a:extLst>
              <a:ext uri="{FF2B5EF4-FFF2-40B4-BE49-F238E27FC236}">
                <a16:creationId xmlns:a16="http://schemas.microsoft.com/office/drawing/2014/main" id="{5590517E-8314-D11F-654F-A8B46948B0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2467" y="939338"/>
            <a:ext cx="7049111" cy="2552921"/>
          </a:xfrm>
          <a:prstGeom prst="rect">
            <a:avLst/>
          </a:prstGeom>
        </p:spPr>
      </p:pic>
      <p:sp>
        <p:nvSpPr>
          <p:cNvPr id="4" name="Rectangle 3">
            <a:extLst>
              <a:ext uri="{FF2B5EF4-FFF2-40B4-BE49-F238E27FC236}">
                <a16:creationId xmlns:a16="http://schemas.microsoft.com/office/drawing/2014/main" id="{A8DF1986-9615-E5D7-665E-C64F7350FE43}"/>
              </a:ext>
            </a:extLst>
          </p:cNvPr>
          <p:cNvSpPr/>
          <p:nvPr/>
        </p:nvSpPr>
        <p:spPr>
          <a:xfrm>
            <a:off x="7581015" y="3946707"/>
            <a:ext cx="4327451" cy="1892826"/>
          </a:xfrm>
          <a:prstGeom prst="rect">
            <a:avLst/>
          </a:prstGeom>
          <a:solidFill>
            <a:schemeClr val="bg1">
              <a:lumMod val="95000"/>
            </a:schemeClr>
          </a:solidFill>
          <a:ln>
            <a:solidFill>
              <a:schemeClr val="tx1"/>
            </a:solidFill>
          </a:ln>
          <a:effectLst/>
        </p:spPr>
        <p:txBody>
          <a:bodyPr wrap="square">
            <a:spAutoFit/>
          </a:bodyPr>
          <a:lstStyle/>
          <a:p>
            <a:r>
              <a:rPr lang="en-US" sz="900" b="1" dirty="0">
                <a:latin typeface="Consolas" panose="020B0609020204030204" pitchFamily="49" charset="0"/>
              </a:rPr>
              <a:t>Unreachable Prefix Announcement configuration is very simple. It needs to be configured on the </a:t>
            </a:r>
            <a:r>
              <a:rPr lang="en-US" sz="900" b="1" dirty="0" err="1">
                <a:latin typeface="Consolas" panose="020B0609020204030204" pitchFamily="49" charset="0"/>
              </a:rPr>
              <a:t>ABR</a:t>
            </a:r>
            <a:r>
              <a:rPr lang="en-US" sz="900" b="1" dirty="0">
                <a:latin typeface="Consolas" panose="020B0609020204030204" pitchFamily="49" charset="0"/>
              </a:rPr>
              <a:t> – to generate the UPA route:</a:t>
            </a:r>
          </a:p>
          <a:p>
            <a:endParaRPr lang="en-US" sz="900" dirty="0">
              <a:latin typeface="Consolas" panose="020B0609020204030204" pitchFamily="49" charset="0"/>
            </a:endParaRPr>
          </a:p>
          <a:p>
            <a:r>
              <a:rPr lang="en-US" sz="900" dirty="0">
                <a:latin typeface="Consolas" panose="020B0609020204030204" pitchFamily="49" charset="0"/>
              </a:rPr>
              <a:t>router </a:t>
            </a:r>
            <a:r>
              <a:rPr lang="en-US" sz="900" dirty="0" err="1">
                <a:latin typeface="Consolas" panose="020B0609020204030204" pitchFamily="49" charset="0"/>
              </a:rPr>
              <a:t>isis</a:t>
            </a:r>
            <a:r>
              <a:rPr lang="en-US" sz="900" dirty="0">
                <a:latin typeface="Consolas" panose="020B0609020204030204" pitchFamily="49" charset="0"/>
              </a:rPr>
              <a:t> 100</a:t>
            </a:r>
          </a:p>
          <a:p>
            <a:r>
              <a:rPr lang="en-US" sz="900" dirty="0">
                <a:latin typeface="Consolas" panose="020B0609020204030204" pitchFamily="49" charset="0"/>
              </a:rPr>
              <a:t> address-family </a:t>
            </a:r>
            <a:r>
              <a:rPr lang="en-US" sz="900" dirty="0" err="1">
                <a:latin typeface="Consolas" panose="020B0609020204030204" pitchFamily="49" charset="0"/>
              </a:rPr>
              <a:t>ipv6</a:t>
            </a:r>
            <a:r>
              <a:rPr lang="en-US" sz="900" dirty="0">
                <a:latin typeface="Consolas" panose="020B0609020204030204" pitchFamily="49" charset="0"/>
              </a:rPr>
              <a:t> unicast</a:t>
            </a:r>
          </a:p>
          <a:p>
            <a:r>
              <a:rPr lang="en-US" sz="900" dirty="0">
                <a:latin typeface="Consolas" panose="020B0609020204030204" pitchFamily="49" charset="0"/>
              </a:rPr>
              <a:t>  summary-prefix </a:t>
            </a:r>
            <a:r>
              <a:rPr lang="en-US" sz="900" dirty="0" err="1">
                <a:latin typeface="Consolas" panose="020B0609020204030204" pitchFamily="49" charset="0"/>
              </a:rPr>
              <a:t>fccc:cc00:2000</a:t>
            </a:r>
            <a:r>
              <a:rPr lang="en-US" sz="900" dirty="0">
                <a:latin typeface="Consolas" panose="020B0609020204030204" pitchFamily="49" charset="0"/>
              </a:rPr>
              <a:t>::/40 level 2 adv-unreachable</a:t>
            </a:r>
          </a:p>
          <a:p>
            <a:endParaRPr lang="en-US" sz="900" dirty="0">
              <a:latin typeface="Consolas" panose="020B0609020204030204" pitchFamily="49" charset="0"/>
            </a:endParaRPr>
          </a:p>
          <a:p>
            <a:r>
              <a:rPr lang="en-US" sz="900" b="1" dirty="0">
                <a:latin typeface="Consolas" panose="020B0609020204030204" pitchFamily="49" charset="0"/>
              </a:rPr>
              <a:t>And also on the ingress PE router to react on UPA:</a:t>
            </a:r>
          </a:p>
          <a:p>
            <a:endParaRPr lang="en-US" sz="900" dirty="0">
              <a:latin typeface="Consolas" panose="020B0609020204030204" pitchFamily="49" charset="0"/>
            </a:endParaRPr>
          </a:p>
          <a:p>
            <a:r>
              <a:rPr lang="en-US" sz="900" dirty="0">
                <a:latin typeface="Consolas" panose="020B0609020204030204" pitchFamily="49" charset="0"/>
              </a:rPr>
              <a:t>router </a:t>
            </a:r>
            <a:r>
              <a:rPr lang="en-US" sz="900" dirty="0" err="1">
                <a:latin typeface="Consolas" panose="020B0609020204030204" pitchFamily="49" charset="0"/>
              </a:rPr>
              <a:t>isis</a:t>
            </a:r>
            <a:r>
              <a:rPr lang="en-US" sz="900" dirty="0">
                <a:latin typeface="Consolas" panose="020B0609020204030204" pitchFamily="49" charset="0"/>
              </a:rPr>
              <a:t> 100 </a:t>
            </a:r>
          </a:p>
          <a:p>
            <a:r>
              <a:rPr lang="en-US" sz="900" dirty="0">
                <a:latin typeface="Consolas" panose="020B0609020204030204" pitchFamily="49" charset="0"/>
              </a:rPr>
              <a:t>address-family </a:t>
            </a:r>
            <a:r>
              <a:rPr lang="en-US" sz="900" dirty="0" err="1">
                <a:latin typeface="Consolas" panose="020B0609020204030204" pitchFamily="49" charset="0"/>
              </a:rPr>
              <a:t>ipv6</a:t>
            </a:r>
            <a:r>
              <a:rPr lang="en-US" sz="900" dirty="0">
                <a:latin typeface="Consolas" panose="020B0609020204030204" pitchFamily="49" charset="0"/>
              </a:rPr>
              <a:t> unicast</a:t>
            </a:r>
          </a:p>
          <a:p>
            <a:r>
              <a:rPr lang="en-US" sz="900" dirty="0">
                <a:latin typeface="Consolas" panose="020B0609020204030204" pitchFamily="49" charset="0"/>
              </a:rPr>
              <a:t>  prefix-unreachable</a:t>
            </a:r>
          </a:p>
          <a:p>
            <a:r>
              <a:rPr lang="en-US" sz="900" dirty="0">
                <a:latin typeface="Consolas" panose="020B0609020204030204" pitchFamily="49" charset="0"/>
              </a:rPr>
              <a:t>   </a:t>
            </a:r>
            <a:r>
              <a:rPr lang="en-US" sz="900" dirty="0" err="1">
                <a:latin typeface="Consolas" panose="020B0609020204030204" pitchFamily="49" charset="0"/>
              </a:rPr>
              <a:t>rx</a:t>
            </a:r>
            <a:r>
              <a:rPr lang="en-US" sz="900" dirty="0">
                <a:latin typeface="Consolas" panose="020B0609020204030204" pitchFamily="49" charset="0"/>
              </a:rPr>
              <a:t>-process-enable</a:t>
            </a:r>
          </a:p>
        </p:txBody>
      </p:sp>
    </p:spTree>
    <p:extLst>
      <p:ext uri="{BB962C8B-B14F-4D97-AF65-F5344CB8AC3E}">
        <p14:creationId xmlns:p14="http://schemas.microsoft.com/office/powerpoint/2010/main" val="3339308742"/>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5A20EF4-47DC-7EDA-B533-3FF2C9C1BA68}"/>
              </a:ext>
            </a:extLst>
          </p:cNvPr>
          <p:cNvSpPr>
            <a:spLocks noGrp="1"/>
          </p:cNvSpPr>
          <p:nvPr>
            <p:ph type="body" sz="quarter" idx="11"/>
          </p:nvPr>
        </p:nvSpPr>
        <p:spPr/>
        <p:txBody>
          <a:bodyPr/>
          <a:lstStyle/>
          <a:p>
            <a:r>
              <a:rPr lang="en-US" dirty="0"/>
              <a:t>Multi-domain Summarization with </a:t>
            </a:r>
            <a:r>
              <a:rPr lang="en-US" dirty="0" err="1"/>
              <a:t>FlexAlgo</a:t>
            </a:r>
            <a:endParaRPr lang="en-US" dirty="0"/>
          </a:p>
        </p:txBody>
      </p:sp>
      <p:pic>
        <p:nvPicPr>
          <p:cNvPr id="9" name="Picture 8" descr="A screenshot of a computer screen&#10;&#10;AI-generated content may be incorrect.">
            <a:extLst>
              <a:ext uri="{FF2B5EF4-FFF2-40B4-BE49-F238E27FC236}">
                <a16:creationId xmlns:a16="http://schemas.microsoft.com/office/drawing/2014/main" id="{7AD81465-2C3F-7A06-5E5C-C6CE7EFF7B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918" y="879022"/>
            <a:ext cx="10688456" cy="5309127"/>
          </a:xfrm>
          <a:prstGeom prst="rect">
            <a:avLst/>
          </a:prstGeom>
        </p:spPr>
      </p:pic>
    </p:spTree>
    <p:extLst>
      <p:ext uri="{BB962C8B-B14F-4D97-AF65-F5344CB8AC3E}">
        <p14:creationId xmlns:p14="http://schemas.microsoft.com/office/powerpoint/2010/main" val="3091710681"/>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7DF76D3A-5E3E-4BC8-8F39-771134FF4322}"/>
              </a:ext>
            </a:extLst>
          </p:cNvPr>
          <p:cNvSpPr>
            <a:spLocks noGrp="1"/>
          </p:cNvSpPr>
          <p:nvPr>
            <p:ph type="body" idx="1"/>
          </p:nvPr>
        </p:nvSpPr>
        <p:spPr/>
        <p:txBody>
          <a:bodyPr/>
          <a:lstStyle/>
          <a:p>
            <a:r>
              <a:rPr lang="en-US" noProof="0" dirty="0"/>
              <a:t>Network Migration</a:t>
            </a:r>
          </a:p>
          <a:p>
            <a:r>
              <a:rPr lang="en-US" dirty="0"/>
              <a:t>MPLS -&gt; SRv6</a:t>
            </a:r>
            <a:endParaRPr lang="en-US" noProof="0" dirty="0"/>
          </a:p>
        </p:txBody>
      </p:sp>
      <p:sp>
        <p:nvSpPr>
          <p:cNvPr id="5" name="Zástupný text 4">
            <a:extLst>
              <a:ext uri="{FF2B5EF4-FFF2-40B4-BE49-F238E27FC236}">
                <a16:creationId xmlns:a16="http://schemas.microsoft.com/office/drawing/2014/main" id="{CA46CB7B-0002-4873-B253-4D2438CC3611}"/>
              </a:ext>
            </a:extLst>
          </p:cNvPr>
          <p:cNvSpPr>
            <a:spLocks noGrp="1"/>
          </p:cNvSpPr>
          <p:nvPr>
            <p:ph type="body" sz="quarter" idx="13"/>
          </p:nvPr>
        </p:nvSpPr>
        <p:spPr/>
        <p:txBody>
          <a:bodyPr/>
          <a:lstStyle/>
          <a:p>
            <a:r>
              <a:rPr lang="en-US" dirty="0"/>
              <a:t>Segment Routing MPLS and SRv6</a:t>
            </a:r>
          </a:p>
        </p:txBody>
      </p:sp>
      <p:sp>
        <p:nvSpPr>
          <p:cNvPr id="6" name="Zástupný text 5">
            <a:extLst>
              <a:ext uri="{FF2B5EF4-FFF2-40B4-BE49-F238E27FC236}">
                <a16:creationId xmlns:a16="http://schemas.microsoft.com/office/drawing/2014/main" id="{955FA430-FA92-4EB5-849C-E3D05AB9B217}"/>
              </a:ext>
            </a:extLst>
          </p:cNvPr>
          <p:cNvSpPr>
            <a:spLocks noGrp="1"/>
          </p:cNvSpPr>
          <p:nvPr>
            <p:ph type="body" sz="quarter" idx="14"/>
          </p:nvPr>
        </p:nvSpPr>
        <p:spPr/>
        <p:txBody>
          <a:bodyPr/>
          <a:lstStyle/>
          <a:p>
            <a:r>
              <a:rPr lang="en-US" dirty="0"/>
              <a:t>Overview</a:t>
            </a:r>
          </a:p>
        </p:txBody>
      </p:sp>
      <p:sp>
        <p:nvSpPr>
          <p:cNvPr id="2" name="Text Placeholder 1">
            <a:extLst>
              <a:ext uri="{FF2B5EF4-FFF2-40B4-BE49-F238E27FC236}">
                <a16:creationId xmlns:a16="http://schemas.microsoft.com/office/drawing/2014/main" id="{B367786B-A4DD-DB9E-9087-78A451525AAC}"/>
              </a:ext>
            </a:extLst>
          </p:cNvPr>
          <p:cNvSpPr>
            <a:spLocks noGrp="1"/>
          </p:cNvSpPr>
          <p:nvPr>
            <p:ph type="body" sz="quarter" idx="15"/>
          </p:nvPr>
        </p:nvSpPr>
        <p:spPr/>
        <p:txBody>
          <a:bodyPr/>
          <a:lstStyle/>
          <a:p>
            <a:r>
              <a:rPr lang="en-US" dirty="0">
                <a:cs typeface="Calibri" pitchFamily="34" charset="0"/>
              </a:rPr>
              <a:t>SRv6 and service migration</a:t>
            </a:r>
            <a:endParaRPr lang="cs-CZ" dirty="0"/>
          </a:p>
        </p:txBody>
      </p:sp>
    </p:spTree>
    <p:extLst>
      <p:ext uri="{BB962C8B-B14F-4D97-AF65-F5344CB8AC3E}">
        <p14:creationId xmlns:p14="http://schemas.microsoft.com/office/powerpoint/2010/main" val="2290632168"/>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75EB231-911F-C3CE-67FE-2A5B55445252}"/>
              </a:ext>
            </a:extLst>
          </p:cNvPr>
          <p:cNvSpPr>
            <a:spLocks noGrp="1"/>
          </p:cNvSpPr>
          <p:nvPr>
            <p:ph type="body" sz="quarter" idx="10"/>
          </p:nvPr>
        </p:nvSpPr>
        <p:spPr/>
        <p:txBody>
          <a:bodyPr/>
          <a:lstStyle/>
          <a:p>
            <a:r>
              <a:rPr lang="en-US" dirty="0"/>
              <a:t>Core - dual stack</a:t>
            </a:r>
          </a:p>
          <a:p>
            <a:r>
              <a:rPr lang="en-US" dirty="0"/>
              <a:t>Core - SRv6</a:t>
            </a:r>
          </a:p>
          <a:p>
            <a:r>
              <a:rPr lang="en-US" dirty="0"/>
              <a:t>Service Migration</a:t>
            </a:r>
          </a:p>
          <a:p>
            <a:pPr lvl="1"/>
            <a:r>
              <a:rPr lang="en-US" dirty="0"/>
              <a:t>L3VPN - dual connected PE</a:t>
            </a:r>
          </a:p>
          <a:p>
            <a:pPr lvl="2"/>
            <a:r>
              <a:rPr lang="en-US" dirty="0"/>
              <a:t>and/or MPLS/SRv6 Service GW (part of network remains in MPLS)</a:t>
            </a:r>
          </a:p>
          <a:p>
            <a:pPr lvl="1"/>
            <a:r>
              <a:rPr lang="en-US" dirty="0"/>
              <a:t>L2VPN</a:t>
            </a:r>
          </a:p>
          <a:p>
            <a:pPr lvl="2"/>
            <a:r>
              <a:rPr lang="en-US" dirty="0"/>
              <a:t>MPLS LDP (Pseudowire + VPLS) -&gt; SRv6 EVPN</a:t>
            </a:r>
          </a:p>
          <a:p>
            <a:pPr lvl="2"/>
            <a:r>
              <a:rPr lang="en-US" dirty="0"/>
              <a:t>MPLS EVPN -&gt; SRv6 EVPN</a:t>
            </a:r>
          </a:p>
        </p:txBody>
      </p:sp>
      <p:sp>
        <p:nvSpPr>
          <p:cNvPr id="7" name="Text Placeholder 6">
            <a:extLst>
              <a:ext uri="{FF2B5EF4-FFF2-40B4-BE49-F238E27FC236}">
                <a16:creationId xmlns:a16="http://schemas.microsoft.com/office/drawing/2014/main" id="{8C8F7525-A48F-8DFE-A5AA-97003A6C6B20}"/>
              </a:ext>
            </a:extLst>
          </p:cNvPr>
          <p:cNvSpPr>
            <a:spLocks noGrp="1"/>
          </p:cNvSpPr>
          <p:nvPr>
            <p:ph type="body" sz="quarter" idx="11"/>
          </p:nvPr>
        </p:nvSpPr>
        <p:spPr/>
        <p:txBody>
          <a:bodyPr/>
          <a:lstStyle/>
          <a:p>
            <a:r>
              <a:rPr lang="en-US" dirty="0"/>
              <a:t>IPv4 LDP/SR-MPLS -&gt; IPv6 SRv6</a:t>
            </a:r>
          </a:p>
        </p:txBody>
      </p:sp>
    </p:spTree>
    <p:extLst>
      <p:ext uri="{BB962C8B-B14F-4D97-AF65-F5344CB8AC3E}">
        <p14:creationId xmlns:p14="http://schemas.microsoft.com/office/powerpoint/2010/main" val="67170224"/>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8A5CF47-0576-FAB3-1364-5F9CD65CE14A}"/>
              </a:ext>
            </a:extLst>
          </p:cNvPr>
          <p:cNvSpPr>
            <a:spLocks noGrp="1"/>
          </p:cNvSpPr>
          <p:nvPr>
            <p:ph type="body" sz="quarter" idx="10"/>
          </p:nvPr>
        </p:nvSpPr>
        <p:spPr/>
        <p:txBody>
          <a:bodyPr/>
          <a:lstStyle/>
          <a:p>
            <a:r>
              <a:rPr lang="en-US" dirty="0"/>
              <a:t>Steps services transition to SRv6</a:t>
            </a:r>
          </a:p>
          <a:p>
            <a:pPr lvl="1"/>
            <a:r>
              <a:rPr lang="en-US" dirty="0"/>
              <a:t>L3VPN (</a:t>
            </a:r>
            <a:r>
              <a:rPr lang="en-US" dirty="0" err="1"/>
              <a:t>VPNv4</a:t>
            </a:r>
            <a:r>
              <a:rPr lang="en-US" dirty="0"/>
              <a:t> &amp; </a:t>
            </a:r>
            <a:r>
              <a:rPr lang="en-US" dirty="0" err="1"/>
              <a:t>VPNv6</a:t>
            </a:r>
            <a:r>
              <a:rPr lang="en-US" dirty="0"/>
              <a:t>)</a:t>
            </a:r>
          </a:p>
          <a:p>
            <a:pPr lvl="1"/>
            <a:r>
              <a:rPr lang="en-US" dirty="0"/>
              <a:t>L2VPN VPWS to EVPN ELINE</a:t>
            </a:r>
          </a:p>
          <a:p>
            <a:pPr lvl="1"/>
            <a:r>
              <a:rPr lang="en-US" dirty="0"/>
              <a:t>L2VPN VPLS to EVPN ELAN</a:t>
            </a:r>
          </a:p>
        </p:txBody>
      </p:sp>
      <p:sp>
        <p:nvSpPr>
          <p:cNvPr id="7" name="Text Placeholder 6">
            <a:extLst>
              <a:ext uri="{FF2B5EF4-FFF2-40B4-BE49-F238E27FC236}">
                <a16:creationId xmlns:a16="http://schemas.microsoft.com/office/drawing/2014/main" id="{66DFE3CE-D7A6-4E47-4698-67F414E18CE9}"/>
              </a:ext>
            </a:extLst>
          </p:cNvPr>
          <p:cNvSpPr>
            <a:spLocks noGrp="1"/>
          </p:cNvSpPr>
          <p:nvPr>
            <p:ph type="body" sz="quarter" idx="11"/>
          </p:nvPr>
        </p:nvSpPr>
        <p:spPr/>
        <p:txBody>
          <a:bodyPr/>
          <a:lstStyle/>
          <a:p>
            <a:r>
              <a:rPr lang="en-US" dirty="0"/>
              <a:t>SRv6 Services Transition</a:t>
            </a:r>
          </a:p>
        </p:txBody>
      </p:sp>
      <p:pic>
        <p:nvPicPr>
          <p:cNvPr id="9" name="Picture 8" descr="A comparison of steps and steps&#10;&#10;AI-generated content may be incorrect.">
            <a:extLst>
              <a:ext uri="{FF2B5EF4-FFF2-40B4-BE49-F238E27FC236}">
                <a16:creationId xmlns:a16="http://schemas.microsoft.com/office/drawing/2014/main" id="{D29D7689-70D1-D102-7A61-53186666C4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918" y="3006591"/>
            <a:ext cx="10196444" cy="2758679"/>
          </a:xfrm>
          <a:prstGeom prst="rect">
            <a:avLst/>
          </a:prstGeom>
        </p:spPr>
      </p:pic>
    </p:spTree>
    <p:extLst>
      <p:ext uri="{BB962C8B-B14F-4D97-AF65-F5344CB8AC3E}">
        <p14:creationId xmlns:p14="http://schemas.microsoft.com/office/powerpoint/2010/main" val="84647004"/>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950803D-97F6-9BC4-795F-FFD7DC1752EA}"/>
              </a:ext>
            </a:extLst>
          </p:cNvPr>
          <p:cNvPicPr>
            <a:picLocks noChangeAspect="1"/>
          </p:cNvPicPr>
          <p:nvPr/>
        </p:nvPicPr>
        <p:blipFill>
          <a:blip r:embed="rId2"/>
          <a:stretch>
            <a:fillRect/>
          </a:stretch>
        </p:blipFill>
        <p:spPr>
          <a:xfrm>
            <a:off x="784697" y="165370"/>
            <a:ext cx="10972800" cy="6172200"/>
          </a:xfrm>
          <a:prstGeom prst="rect">
            <a:avLst/>
          </a:prstGeom>
        </p:spPr>
      </p:pic>
      <p:sp>
        <p:nvSpPr>
          <p:cNvPr id="3" name="Text Placeholder 2">
            <a:extLst>
              <a:ext uri="{FF2B5EF4-FFF2-40B4-BE49-F238E27FC236}">
                <a16:creationId xmlns:a16="http://schemas.microsoft.com/office/drawing/2014/main" id="{88470354-69CB-8EB2-898A-FD786E7D25DE}"/>
              </a:ext>
            </a:extLst>
          </p:cNvPr>
          <p:cNvSpPr>
            <a:spLocks noGrp="1"/>
          </p:cNvSpPr>
          <p:nvPr>
            <p:ph type="body" sz="quarter" idx="11"/>
          </p:nvPr>
        </p:nvSpPr>
        <p:spPr/>
        <p:txBody>
          <a:bodyPr/>
          <a:lstStyle/>
          <a:p>
            <a:r>
              <a:rPr lang="en-US" dirty="0"/>
              <a:t>Dual connected PE</a:t>
            </a:r>
          </a:p>
        </p:txBody>
      </p:sp>
    </p:spTree>
    <p:extLst>
      <p:ext uri="{BB962C8B-B14F-4D97-AF65-F5344CB8AC3E}">
        <p14:creationId xmlns:p14="http://schemas.microsoft.com/office/powerpoint/2010/main" val="2229056030"/>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5C91CF6-5CAC-7973-44DB-82A09BDD9AD2}"/>
              </a:ext>
            </a:extLst>
          </p:cNvPr>
          <p:cNvSpPr>
            <a:spLocks noGrp="1"/>
          </p:cNvSpPr>
          <p:nvPr>
            <p:ph type="body" sz="quarter" idx="11"/>
          </p:nvPr>
        </p:nvSpPr>
        <p:spPr/>
        <p:txBody>
          <a:bodyPr/>
          <a:lstStyle/>
          <a:p>
            <a:r>
              <a:rPr lang="en-US" dirty="0"/>
              <a:t>Migration - use Dual Connected PE</a:t>
            </a:r>
          </a:p>
        </p:txBody>
      </p:sp>
      <p:pic>
        <p:nvPicPr>
          <p:cNvPr id="7" name="Picture 6" descr="A diagram of a connection&#10;&#10;AI-generated content may be incorrect.">
            <a:extLst>
              <a:ext uri="{FF2B5EF4-FFF2-40B4-BE49-F238E27FC236}">
                <a16:creationId xmlns:a16="http://schemas.microsoft.com/office/drawing/2014/main" id="{86D6A9B0-3356-A1E2-7E6E-A265F23D3A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945" y="1065262"/>
            <a:ext cx="11324120" cy="4868069"/>
          </a:xfrm>
          <a:prstGeom prst="rect">
            <a:avLst/>
          </a:prstGeom>
        </p:spPr>
      </p:pic>
      <p:sp>
        <p:nvSpPr>
          <p:cNvPr id="8" name="Arrow: Right 7">
            <a:extLst>
              <a:ext uri="{FF2B5EF4-FFF2-40B4-BE49-F238E27FC236}">
                <a16:creationId xmlns:a16="http://schemas.microsoft.com/office/drawing/2014/main" id="{98579BF6-AD60-3621-0D39-B3AEA3ACC85D}"/>
              </a:ext>
            </a:extLst>
          </p:cNvPr>
          <p:cNvSpPr/>
          <p:nvPr/>
        </p:nvSpPr>
        <p:spPr>
          <a:xfrm>
            <a:off x="668592" y="5933331"/>
            <a:ext cx="2172929" cy="444739"/>
          </a:xfrm>
          <a:prstGeom prst="right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Migration process</a:t>
            </a:r>
          </a:p>
        </p:txBody>
      </p:sp>
    </p:spTree>
    <p:extLst>
      <p:ext uri="{BB962C8B-B14F-4D97-AF65-F5344CB8AC3E}">
        <p14:creationId xmlns:p14="http://schemas.microsoft.com/office/powerpoint/2010/main" val="1142342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2.08333E-7 -0.00139 L 0.70365 -0.00741 " pathEditMode="relative" rAng="0" ptsTypes="AA">
                                      <p:cBhvr>
                                        <p:cTn id="6" dur="5000" fill="hold"/>
                                        <p:tgtEl>
                                          <p:spTgt spid="8"/>
                                        </p:tgtEl>
                                        <p:attrNameLst>
                                          <p:attrName>ppt_x</p:attrName>
                                          <p:attrName>ppt_y</p:attrName>
                                        </p:attrNameLst>
                                      </p:cBhvr>
                                      <p:rCtr x="35182" y="-30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7F06A49-AB48-419D-9523-25C2A083646C}"/>
              </a:ext>
            </a:extLst>
          </p:cNvPr>
          <p:cNvSpPr>
            <a:spLocks noGrp="1"/>
          </p:cNvSpPr>
          <p:nvPr>
            <p:ph type="body" sz="quarter" idx="11"/>
          </p:nvPr>
        </p:nvSpPr>
        <p:spPr/>
        <p:txBody>
          <a:bodyPr/>
          <a:lstStyle/>
          <a:p>
            <a:r>
              <a:rPr lang="en-US" dirty="0"/>
              <a:t>L3 Interworking Gateway</a:t>
            </a:r>
          </a:p>
        </p:txBody>
      </p:sp>
      <p:pic>
        <p:nvPicPr>
          <p:cNvPr id="7" name="Picture 6">
            <a:extLst>
              <a:ext uri="{FF2B5EF4-FFF2-40B4-BE49-F238E27FC236}">
                <a16:creationId xmlns:a16="http://schemas.microsoft.com/office/drawing/2014/main" id="{F5B2786D-B19F-E4FA-AF04-6DC37C39062C}"/>
              </a:ext>
            </a:extLst>
          </p:cNvPr>
          <p:cNvPicPr>
            <a:picLocks noChangeAspect="1"/>
          </p:cNvPicPr>
          <p:nvPr/>
        </p:nvPicPr>
        <p:blipFill>
          <a:blip r:embed="rId2"/>
          <a:stretch>
            <a:fillRect/>
          </a:stretch>
        </p:blipFill>
        <p:spPr>
          <a:xfrm>
            <a:off x="824175" y="785478"/>
            <a:ext cx="10493906" cy="5537501"/>
          </a:xfrm>
          <a:prstGeom prst="rect">
            <a:avLst/>
          </a:prstGeom>
        </p:spPr>
      </p:pic>
    </p:spTree>
    <p:extLst>
      <p:ext uri="{BB962C8B-B14F-4D97-AF65-F5344CB8AC3E}">
        <p14:creationId xmlns:p14="http://schemas.microsoft.com/office/powerpoint/2010/main" val="4014355647"/>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7DF76D3A-5E3E-4BC8-8F39-771134FF4322}"/>
              </a:ext>
            </a:extLst>
          </p:cNvPr>
          <p:cNvSpPr>
            <a:spLocks noGrp="1"/>
          </p:cNvSpPr>
          <p:nvPr>
            <p:ph type="body" idx="1"/>
          </p:nvPr>
        </p:nvSpPr>
        <p:spPr/>
        <p:txBody>
          <a:bodyPr/>
          <a:lstStyle/>
          <a:p>
            <a:r>
              <a:rPr lang="en-US" noProof="0" dirty="0"/>
              <a:t>Core Dual Stack + SRv6</a:t>
            </a:r>
          </a:p>
        </p:txBody>
      </p:sp>
      <p:sp>
        <p:nvSpPr>
          <p:cNvPr id="2" name="Text Placeholder 1">
            <a:extLst>
              <a:ext uri="{FF2B5EF4-FFF2-40B4-BE49-F238E27FC236}">
                <a16:creationId xmlns:a16="http://schemas.microsoft.com/office/drawing/2014/main" id="{B367786B-A4DD-DB9E-9087-78A451525AAC}"/>
              </a:ext>
            </a:extLst>
          </p:cNvPr>
          <p:cNvSpPr>
            <a:spLocks noGrp="1"/>
          </p:cNvSpPr>
          <p:nvPr>
            <p:ph type="body" sz="quarter" idx="15"/>
          </p:nvPr>
        </p:nvSpPr>
        <p:spPr/>
        <p:txBody>
          <a:bodyPr/>
          <a:lstStyle/>
          <a:p>
            <a:r>
              <a:rPr lang="en-US" dirty="0">
                <a:cs typeface="Calibri" pitchFamily="34" charset="0"/>
              </a:rPr>
              <a:t>SRv6 and service migration</a:t>
            </a:r>
            <a:endParaRPr lang="cs-CZ" dirty="0"/>
          </a:p>
        </p:txBody>
      </p:sp>
      <p:sp>
        <p:nvSpPr>
          <p:cNvPr id="5" name="Zástupný text 4">
            <a:extLst>
              <a:ext uri="{FF2B5EF4-FFF2-40B4-BE49-F238E27FC236}">
                <a16:creationId xmlns:a16="http://schemas.microsoft.com/office/drawing/2014/main" id="{CA46CB7B-0002-4873-B253-4D2438CC3611}"/>
              </a:ext>
            </a:extLst>
          </p:cNvPr>
          <p:cNvSpPr>
            <a:spLocks noGrp="1"/>
          </p:cNvSpPr>
          <p:nvPr>
            <p:ph type="body" sz="quarter" idx="13"/>
          </p:nvPr>
        </p:nvSpPr>
        <p:spPr/>
        <p:txBody>
          <a:bodyPr/>
          <a:lstStyle/>
          <a:p>
            <a:r>
              <a:rPr lang="en-US" dirty="0"/>
              <a:t>Segment Routing MPLS and SRv6</a:t>
            </a:r>
          </a:p>
        </p:txBody>
      </p:sp>
      <p:sp>
        <p:nvSpPr>
          <p:cNvPr id="6" name="Zástupný text 5">
            <a:extLst>
              <a:ext uri="{FF2B5EF4-FFF2-40B4-BE49-F238E27FC236}">
                <a16:creationId xmlns:a16="http://schemas.microsoft.com/office/drawing/2014/main" id="{955FA430-FA92-4EB5-849C-E3D05AB9B217}"/>
              </a:ext>
            </a:extLst>
          </p:cNvPr>
          <p:cNvSpPr>
            <a:spLocks noGrp="1"/>
          </p:cNvSpPr>
          <p:nvPr>
            <p:ph type="body" sz="quarter" idx="14"/>
          </p:nvPr>
        </p:nvSpPr>
        <p:spPr/>
        <p:txBody>
          <a:bodyPr/>
          <a:lstStyle/>
          <a:p>
            <a:r>
              <a:rPr lang="en-US" noProof="0" dirty="0"/>
              <a:t>Network Migration</a:t>
            </a:r>
          </a:p>
          <a:p>
            <a:r>
              <a:rPr lang="en-US" dirty="0"/>
              <a:t>MPLS -&gt; SRv6</a:t>
            </a:r>
            <a:endParaRPr lang="en-US" noProof="0" dirty="0"/>
          </a:p>
        </p:txBody>
      </p:sp>
    </p:spTree>
    <p:extLst>
      <p:ext uri="{BB962C8B-B14F-4D97-AF65-F5344CB8AC3E}">
        <p14:creationId xmlns:p14="http://schemas.microsoft.com/office/powerpoint/2010/main" val="2758605499"/>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 Placeholder 53">
            <a:extLst>
              <a:ext uri="{FF2B5EF4-FFF2-40B4-BE49-F238E27FC236}">
                <a16:creationId xmlns:a16="http://schemas.microsoft.com/office/drawing/2014/main" id="{644DD39E-246C-C23C-7452-137473BA63D9}"/>
              </a:ext>
            </a:extLst>
          </p:cNvPr>
          <p:cNvSpPr>
            <a:spLocks noGrp="1"/>
          </p:cNvSpPr>
          <p:nvPr>
            <p:ph type="body" sz="quarter" idx="10"/>
          </p:nvPr>
        </p:nvSpPr>
        <p:spPr/>
        <p:txBody>
          <a:bodyPr/>
          <a:lstStyle/>
          <a:p>
            <a:r>
              <a:rPr lang="en-US" dirty="0"/>
              <a:t>Initial state</a:t>
            </a:r>
          </a:p>
        </p:txBody>
      </p:sp>
      <p:sp>
        <p:nvSpPr>
          <p:cNvPr id="3" name="Text Placeholder 2">
            <a:extLst>
              <a:ext uri="{FF2B5EF4-FFF2-40B4-BE49-F238E27FC236}">
                <a16:creationId xmlns:a16="http://schemas.microsoft.com/office/drawing/2014/main" id="{D468842C-E9AA-4882-EC44-4597C8EA2A45}"/>
              </a:ext>
            </a:extLst>
          </p:cNvPr>
          <p:cNvSpPr>
            <a:spLocks noGrp="1"/>
          </p:cNvSpPr>
          <p:nvPr>
            <p:ph type="body" sz="quarter" idx="11"/>
          </p:nvPr>
        </p:nvSpPr>
        <p:spPr>
          <a:xfrm>
            <a:off x="873918" y="12461"/>
            <a:ext cx="10444163" cy="773017"/>
          </a:xfrm>
        </p:spPr>
        <p:txBody>
          <a:bodyPr/>
          <a:lstStyle/>
          <a:p>
            <a:r>
              <a:rPr lang="en-US" dirty="0"/>
              <a:t>Step 0 - MPLS LDP to SRv6 migration </a:t>
            </a:r>
            <a:r>
              <a:rPr lang="en-US" dirty="0">
                <a:solidFill>
                  <a:schemeClr val="bg1">
                    <a:lumMod val="50000"/>
                  </a:schemeClr>
                </a:solidFill>
              </a:rPr>
              <a:t>- L3VPN</a:t>
            </a:r>
          </a:p>
        </p:txBody>
      </p:sp>
      <p:sp>
        <p:nvSpPr>
          <p:cNvPr id="8" name="Oval 7">
            <a:extLst>
              <a:ext uri="{FF2B5EF4-FFF2-40B4-BE49-F238E27FC236}">
                <a16:creationId xmlns:a16="http://schemas.microsoft.com/office/drawing/2014/main" id="{993A2A87-8EB9-6614-516E-A2CB823D3BFE}"/>
              </a:ext>
            </a:extLst>
          </p:cNvPr>
          <p:cNvSpPr/>
          <p:nvPr/>
        </p:nvSpPr>
        <p:spPr>
          <a:xfrm>
            <a:off x="2861187" y="2743878"/>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PE-1</a:t>
            </a:r>
          </a:p>
        </p:txBody>
      </p:sp>
      <p:sp>
        <p:nvSpPr>
          <p:cNvPr id="9" name="Oval 8">
            <a:extLst>
              <a:ext uri="{FF2B5EF4-FFF2-40B4-BE49-F238E27FC236}">
                <a16:creationId xmlns:a16="http://schemas.microsoft.com/office/drawing/2014/main" id="{DBB2B752-AE8F-9DC3-0D63-E500CBE67C94}"/>
              </a:ext>
            </a:extLst>
          </p:cNvPr>
          <p:cNvSpPr/>
          <p:nvPr/>
        </p:nvSpPr>
        <p:spPr>
          <a:xfrm>
            <a:off x="2625213" y="3050586"/>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E0851D-CFCC-8023-A043-3964DDC76594}"/>
              </a:ext>
            </a:extLst>
          </p:cNvPr>
          <p:cNvSpPr/>
          <p:nvPr/>
        </p:nvSpPr>
        <p:spPr>
          <a:xfrm>
            <a:off x="5225845" y="1461634"/>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P-2</a:t>
            </a:r>
          </a:p>
        </p:txBody>
      </p:sp>
      <p:sp>
        <p:nvSpPr>
          <p:cNvPr id="11" name="Oval 10">
            <a:extLst>
              <a:ext uri="{FF2B5EF4-FFF2-40B4-BE49-F238E27FC236}">
                <a16:creationId xmlns:a16="http://schemas.microsoft.com/office/drawing/2014/main" id="{341588A8-533B-B65D-2813-E637BE0322E3}"/>
              </a:ext>
            </a:extLst>
          </p:cNvPr>
          <p:cNvSpPr/>
          <p:nvPr/>
        </p:nvSpPr>
        <p:spPr>
          <a:xfrm>
            <a:off x="5225845"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P-3</a:t>
            </a:r>
          </a:p>
        </p:txBody>
      </p:sp>
      <p:sp>
        <p:nvSpPr>
          <p:cNvPr id="12" name="Oval 11">
            <a:extLst>
              <a:ext uri="{FF2B5EF4-FFF2-40B4-BE49-F238E27FC236}">
                <a16:creationId xmlns:a16="http://schemas.microsoft.com/office/drawing/2014/main" id="{88820713-3A40-9E92-5017-307E1BA5FCFB}"/>
              </a:ext>
            </a:extLst>
          </p:cNvPr>
          <p:cNvSpPr/>
          <p:nvPr/>
        </p:nvSpPr>
        <p:spPr>
          <a:xfrm>
            <a:off x="8091948" y="1461633"/>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PE-4</a:t>
            </a:r>
          </a:p>
        </p:txBody>
      </p:sp>
      <p:sp>
        <p:nvSpPr>
          <p:cNvPr id="13" name="Oval 12">
            <a:extLst>
              <a:ext uri="{FF2B5EF4-FFF2-40B4-BE49-F238E27FC236}">
                <a16:creationId xmlns:a16="http://schemas.microsoft.com/office/drawing/2014/main" id="{34EEF5FE-F3A6-1D78-CBD1-D19B71E84401}"/>
              </a:ext>
            </a:extLst>
          </p:cNvPr>
          <p:cNvSpPr/>
          <p:nvPr/>
        </p:nvSpPr>
        <p:spPr>
          <a:xfrm>
            <a:off x="8091948"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PE-5</a:t>
            </a:r>
          </a:p>
        </p:txBody>
      </p:sp>
      <p:sp>
        <p:nvSpPr>
          <p:cNvPr id="14" name="Oval 13">
            <a:extLst>
              <a:ext uri="{FF2B5EF4-FFF2-40B4-BE49-F238E27FC236}">
                <a16:creationId xmlns:a16="http://schemas.microsoft.com/office/drawing/2014/main" id="{A33A844A-10F7-FA25-02CA-BE1263DA1218}"/>
              </a:ext>
            </a:extLst>
          </p:cNvPr>
          <p:cNvSpPr/>
          <p:nvPr/>
        </p:nvSpPr>
        <p:spPr>
          <a:xfrm>
            <a:off x="6744928" y="5296213"/>
            <a:ext cx="1061884" cy="1072819"/>
          </a:xfrm>
          <a:prstGeom prst="ellipse">
            <a:avLst/>
          </a:prstGeom>
          <a:solidFill>
            <a:schemeClr val="accent3">
              <a:lumMod val="75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PE-1</a:t>
            </a:r>
          </a:p>
        </p:txBody>
      </p:sp>
      <p:grpSp>
        <p:nvGrpSpPr>
          <p:cNvPr id="19" name="Group 18">
            <a:extLst>
              <a:ext uri="{FF2B5EF4-FFF2-40B4-BE49-F238E27FC236}">
                <a16:creationId xmlns:a16="http://schemas.microsoft.com/office/drawing/2014/main" id="{59FB8967-3128-1A08-0574-4C0477666AC1}"/>
              </a:ext>
            </a:extLst>
          </p:cNvPr>
          <p:cNvGrpSpPr/>
          <p:nvPr/>
        </p:nvGrpSpPr>
        <p:grpSpPr>
          <a:xfrm>
            <a:off x="229906" y="1793224"/>
            <a:ext cx="1933191" cy="1412092"/>
            <a:chOff x="229906" y="1793224"/>
            <a:chExt cx="1933191" cy="1412092"/>
          </a:xfrm>
        </p:grpSpPr>
        <p:sp>
          <p:nvSpPr>
            <p:cNvPr id="17" name="TextBox 16">
              <a:extLst>
                <a:ext uri="{FF2B5EF4-FFF2-40B4-BE49-F238E27FC236}">
                  <a16:creationId xmlns:a16="http://schemas.microsoft.com/office/drawing/2014/main" id="{DCABD92B-4299-3F62-AB81-C71EAEFBC20B}"/>
                </a:ext>
              </a:extLst>
            </p:cNvPr>
            <p:cNvSpPr txBox="1"/>
            <p:nvPr/>
          </p:nvSpPr>
          <p:spPr>
            <a:xfrm>
              <a:off x="353961" y="1793224"/>
              <a:ext cx="1809136" cy="1412092"/>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effectLst/>
                  <a:uLnTx/>
                  <a:uFillTx/>
                  <a:latin typeface="Arial" panose="020B0604020202020204"/>
                  <a:ea typeface="+mn-ea"/>
                  <a:cs typeface="+mn-cs"/>
                </a:rPr>
                <a:t>VRF 3001</a:t>
              </a:r>
            </a:p>
            <a:p>
              <a: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pPr>
              <a:r>
                <a:rPr lang="en-US" sz="2000" dirty="0">
                  <a:latin typeface="Arial" panose="020B0604020202020204"/>
                </a:rPr>
                <a:t>full mesh</a:t>
              </a:r>
            </a:p>
            <a:p>
              <a:pPr marR="0" algn="l" defTabSz="914400" rtl="0" eaLnBrk="1" fontAlgn="auto" latinLnBrk="0" hangingPunct="1">
                <a:lnSpc>
                  <a:spcPct val="90000"/>
                </a:lnSpc>
                <a:spcBef>
                  <a:spcPts val="1000"/>
                </a:spcBef>
                <a:spcAft>
                  <a:spcPts val="0"/>
                </a:spcAft>
                <a:buClrTx/>
                <a:buSzTx/>
                <a:tabLst/>
              </a:pPr>
              <a:r>
                <a:rPr kumimoji="0" lang="en-US" sz="2000" i="0" u="none" strike="noStrike" kern="1200" cap="none" spc="0" normalizeH="0" baseline="0" noProof="0" dirty="0">
                  <a:ln>
                    <a:noFill/>
                  </a:ln>
                  <a:effectLst/>
                  <a:uLnTx/>
                  <a:uFillTx/>
                  <a:latin typeface="Arial" panose="020B0604020202020204"/>
                  <a:ea typeface="+mn-ea"/>
                  <a:cs typeface="+mn-cs"/>
                </a:rPr>
                <a:t>     MPLS VRF </a:t>
              </a:r>
            </a:p>
          </p:txBody>
        </p:sp>
        <p:sp>
          <p:nvSpPr>
            <p:cNvPr id="18" name="Oval 17">
              <a:extLst>
                <a:ext uri="{FF2B5EF4-FFF2-40B4-BE49-F238E27FC236}">
                  <a16:creationId xmlns:a16="http://schemas.microsoft.com/office/drawing/2014/main" id="{C5A9DFEF-4947-F2F1-A76D-8AC479436895}"/>
                </a:ext>
              </a:extLst>
            </p:cNvPr>
            <p:cNvSpPr/>
            <p:nvPr/>
          </p:nvSpPr>
          <p:spPr>
            <a:xfrm>
              <a:off x="229906" y="2583736"/>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 name="Oval 19">
            <a:extLst>
              <a:ext uri="{FF2B5EF4-FFF2-40B4-BE49-F238E27FC236}">
                <a16:creationId xmlns:a16="http://schemas.microsoft.com/office/drawing/2014/main" id="{F29B4790-86CB-3D33-D8AA-E7828F3315AA}"/>
              </a:ext>
            </a:extLst>
          </p:cNvPr>
          <p:cNvSpPr/>
          <p:nvPr/>
        </p:nvSpPr>
        <p:spPr>
          <a:xfrm>
            <a:off x="8917858" y="4427967"/>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F7ADD5B5-1DE1-9F97-8D34-DA0DCA03396A}"/>
              </a:ext>
            </a:extLst>
          </p:cNvPr>
          <p:cNvSpPr/>
          <p:nvPr/>
        </p:nvSpPr>
        <p:spPr>
          <a:xfrm>
            <a:off x="8917858" y="1768341"/>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6313A627-B0A9-C701-976E-3F14F76CF28D}"/>
              </a:ext>
            </a:extLst>
          </p:cNvPr>
          <p:cNvCxnSpPr>
            <a:stCxn id="10" idx="6"/>
            <a:endCxn id="12" idx="2"/>
          </p:cNvCxnSpPr>
          <p:nvPr/>
        </p:nvCxnSpPr>
        <p:spPr>
          <a:xfrm flipV="1">
            <a:off x="6287729" y="1998043"/>
            <a:ext cx="1804219" cy="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A7F45EA-CD46-5772-EAFD-4AAC01B7BFC8}"/>
              </a:ext>
            </a:extLst>
          </p:cNvPr>
          <p:cNvCxnSpPr>
            <a:cxnSpLocks/>
            <a:stCxn id="11" idx="7"/>
          </p:cNvCxnSpPr>
          <p:nvPr/>
        </p:nvCxnSpPr>
        <p:spPr>
          <a:xfrm flipV="1">
            <a:off x="6132220" y="2336659"/>
            <a:ext cx="2083535" cy="194171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E852CC6-3C63-30D9-93E0-B76FA8598344}"/>
              </a:ext>
            </a:extLst>
          </p:cNvPr>
          <p:cNvCxnSpPr>
            <a:cxnSpLocks/>
            <a:stCxn id="12" idx="4"/>
          </p:cNvCxnSpPr>
          <p:nvPr/>
        </p:nvCxnSpPr>
        <p:spPr>
          <a:xfrm>
            <a:off x="8622890" y="2534452"/>
            <a:ext cx="0" cy="1592852"/>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BDE2377-063B-01BF-3CB6-05F3FBF4C424}"/>
              </a:ext>
            </a:extLst>
          </p:cNvPr>
          <p:cNvCxnSpPr>
            <a:cxnSpLocks/>
            <a:stCxn id="11" idx="6"/>
            <a:endCxn id="13" idx="2"/>
          </p:cNvCxnSpPr>
          <p:nvPr/>
        </p:nvCxnSpPr>
        <p:spPr>
          <a:xfrm>
            <a:off x="6287729" y="4657669"/>
            <a:ext cx="1804219"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F49B32-4149-6A9F-D7CA-BABCA0E7A0A6}"/>
              </a:ext>
            </a:extLst>
          </p:cNvPr>
          <p:cNvCxnSpPr>
            <a:cxnSpLocks/>
            <a:stCxn id="10" idx="4"/>
            <a:endCxn id="11" idx="0"/>
          </p:cNvCxnSpPr>
          <p:nvPr/>
        </p:nvCxnSpPr>
        <p:spPr>
          <a:xfrm>
            <a:off x="5756787" y="2534453"/>
            <a:ext cx="0" cy="1586806"/>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FB43A74-B938-0C85-4049-B54CC5E87491}"/>
              </a:ext>
            </a:extLst>
          </p:cNvPr>
          <p:cNvCxnSpPr>
            <a:cxnSpLocks/>
            <a:endCxn id="11" idx="2"/>
          </p:cNvCxnSpPr>
          <p:nvPr/>
        </p:nvCxnSpPr>
        <p:spPr>
          <a:xfrm>
            <a:off x="3767562" y="3644526"/>
            <a:ext cx="1458283" cy="1013143"/>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9A3A119-7341-52D5-CD04-1C055CBC3D2C}"/>
              </a:ext>
            </a:extLst>
          </p:cNvPr>
          <p:cNvCxnSpPr>
            <a:cxnSpLocks/>
            <a:stCxn id="8" idx="7"/>
            <a:endCxn id="10" idx="2"/>
          </p:cNvCxnSpPr>
          <p:nvPr/>
        </p:nvCxnSpPr>
        <p:spPr>
          <a:xfrm flipV="1">
            <a:off x="3767562" y="1998044"/>
            <a:ext cx="1458283" cy="902945"/>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1A45FB23-6677-0683-D6BF-311A237CE788}"/>
              </a:ext>
            </a:extLst>
          </p:cNvPr>
          <p:cNvSpPr txBox="1"/>
          <p:nvPr/>
        </p:nvSpPr>
        <p:spPr>
          <a:xfrm>
            <a:off x="7814862" y="1105548"/>
            <a:ext cx="1374465"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p:txBody>
      </p:sp>
      <p:sp>
        <p:nvSpPr>
          <p:cNvPr id="43" name="TextBox 42">
            <a:extLst>
              <a:ext uri="{FF2B5EF4-FFF2-40B4-BE49-F238E27FC236}">
                <a16:creationId xmlns:a16="http://schemas.microsoft.com/office/drawing/2014/main" id="{C351BAD3-249E-6202-E734-7CE40023932D}"/>
              </a:ext>
            </a:extLst>
          </p:cNvPr>
          <p:cNvSpPr txBox="1"/>
          <p:nvPr/>
        </p:nvSpPr>
        <p:spPr>
          <a:xfrm>
            <a:off x="5069554" y="1106123"/>
            <a:ext cx="1374465"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p:txBody>
      </p:sp>
      <p:sp>
        <p:nvSpPr>
          <p:cNvPr id="46" name="TextBox 45">
            <a:extLst>
              <a:ext uri="{FF2B5EF4-FFF2-40B4-BE49-F238E27FC236}">
                <a16:creationId xmlns:a16="http://schemas.microsoft.com/office/drawing/2014/main" id="{898EDAC9-27A0-A11A-F580-309512279BEF}"/>
              </a:ext>
            </a:extLst>
          </p:cNvPr>
          <p:cNvSpPr txBox="1"/>
          <p:nvPr/>
        </p:nvSpPr>
        <p:spPr>
          <a:xfrm>
            <a:off x="7814862" y="5233814"/>
            <a:ext cx="1374465"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p:txBody>
      </p:sp>
      <p:sp>
        <p:nvSpPr>
          <p:cNvPr id="47" name="TextBox 46">
            <a:extLst>
              <a:ext uri="{FF2B5EF4-FFF2-40B4-BE49-F238E27FC236}">
                <a16:creationId xmlns:a16="http://schemas.microsoft.com/office/drawing/2014/main" id="{3B626483-E2D2-158C-5A42-02260E93C4A1}"/>
              </a:ext>
            </a:extLst>
          </p:cNvPr>
          <p:cNvSpPr txBox="1"/>
          <p:nvPr/>
        </p:nvSpPr>
        <p:spPr>
          <a:xfrm>
            <a:off x="4991921" y="5230346"/>
            <a:ext cx="1374465"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p:txBody>
      </p:sp>
      <p:sp>
        <p:nvSpPr>
          <p:cNvPr id="48" name="TextBox 47">
            <a:extLst>
              <a:ext uri="{FF2B5EF4-FFF2-40B4-BE49-F238E27FC236}">
                <a16:creationId xmlns:a16="http://schemas.microsoft.com/office/drawing/2014/main" id="{AA5A7C64-24D0-F310-9369-5EE60113D0DD}"/>
              </a:ext>
            </a:extLst>
          </p:cNvPr>
          <p:cNvSpPr txBox="1"/>
          <p:nvPr/>
        </p:nvSpPr>
        <p:spPr>
          <a:xfrm>
            <a:off x="2654461" y="3946135"/>
            <a:ext cx="1374465"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p:txBody>
      </p:sp>
      <p:sp>
        <p:nvSpPr>
          <p:cNvPr id="49" name="TextBox 48">
            <a:extLst>
              <a:ext uri="{FF2B5EF4-FFF2-40B4-BE49-F238E27FC236}">
                <a16:creationId xmlns:a16="http://schemas.microsoft.com/office/drawing/2014/main" id="{EB9FF396-0612-A9EE-123E-7055BFAED65E}"/>
              </a:ext>
            </a:extLst>
          </p:cNvPr>
          <p:cNvSpPr txBox="1"/>
          <p:nvPr/>
        </p:nvSpPr>
        <p:spPr>
          <a:xfrm>
            <a:off x="6588637" y="6372412"/>
            <a:ext cx="1374465"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p:txBody>
      </p:sp>
      <p:cxnSp>
        <p:nvCxnSpPr>
          <p:cNvPr id="50" name="Straight Connector 49">
            <a:extLst>
              <a:ext uri="{FF2B5EF4-FFF2-40B4-BE49-F238E27FC236}">
                <a16:creationId xmlns:a16="http://schemas.microsoft.com/office/drawing/2014/main" id="{32AC3523-6F39-6CDD-5466-A394276895B0}"/>
              </a:ext>
            </a:extLst>
          </p:cNvPr>
          <p:cNvCxnSpPr>
            <a:cxnSpLocks/>
            <a:stCxn id="11" idx="5"/>
            <a:endCxn id="14" idx="1"/>
          </p:cNvCxnSpPr>
          <p:nvPr/>
        </p:nvCxnSpPr>
        <p:spPr>
          <a:xfrm>
            <a:off x="6132220" y="5036967"/>
            <a:ext cx="768217" cy="41635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1317F25D-B41D-CAAF-FCB6-1D3F49BE56B5}"/>
              </a:ext>
            </a:extLst>
          </p:cNvPr>
          <p:cNvSpPr txBox="1"/>
          <p:nvPr/>
        </p:nvSpPr>
        <p:spPr>
          <a:xfrm>
            <a:off x="1487018" y="3116372"/>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10.2.3.0/24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56" name="TextBox 55">
            <a:extLst>
              <a:ext uri="{FF2B5EF4-FFF2-40B4-BE49-F238E27FC236}">
                <a16:creationId xmlns:a16="http://schemas.microsoft.com/office/drawing/2014/main" id="{71597BD8-BA18-4458-65C4-EDF32B89A616}"/>
              </a:ext>
            </a:extLst>
          </p:cNvPr>
          <p:cNvSpPr txBox="1"/>
          <p:nvPr/>
        </p:nvSpPr>
        <p:spPr>
          <a:xfrm>
            <a:off x="9325819" y="4516166"/>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10.0.5.0/24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57" name="TextBox 56">
            <a:extLst>
              <a:ext uri="{FF2B5EF4-FFF2-40B4-BE49-F238E27FC236}">
                <a16:creationId xmlns:a16="http://schemas.microsoft.com/office/drawing/2014/main" id="{C4C859B2-6579-BA7E-74D3-8AC6D6CF78EA}"/>
              </a:ext>
            </a:extLst>
          </p:cNvPr>
          <p:cNvSpPr txBox="1"/>
          <p:nvPr/>
        </p:nvSpPr>
        <p:spPr>
          <a:xfrm>
            <a:off x="9325819" y="1844704"/>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10.0.4.0/24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Tree>
    <p:extLst>
      <p:ext uri="{BB962C8B-B14F-4D97-AF65-F5344CB8AC3E}">
        <p14:creationId xmlns:p14="http://schemas.microsoft.com/office/powerpoint/2010/main" val="3253864258"/>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 Placeholder 53">
            <a:extLst>
              <a:ext uri="{FF2B5EF4-FFF2-40B4-BE49-F238E27FC236}">
                <a16:creationId xmlns:a16="http://schemas.microsoft.com/office/drawing/2014/main" id="{644DD39E-246C-C23C-7452-137473BA63D9}"/>
              </a:ext>
            </a:extLst>
          </p:cNvPr>
          <p:cNvSpPr>
            <a:spLocks noGrp="1"/>
          </p:cNvSpPr>
          <p:nvPr>
            <p:ph type="body" sz="quarter" idx="10"/>
          </p:nvPr>
        </p:nvSpPr>
        <p:spPr/>
        <p:txBody>
          <a:bodyPr/>
          <a:lstStyle/>
          <a:p>
            <a:r>
              <a:rPr lang="en-US" dirty="0"/>
              <a:t>enable </a:t>
            </a:r>
            <a:r>
              <a:rPr lang="en-US" dirty="0" err="1">
                <a:solidFill>
                  <a:schemeClr val="accent4">
                    <a:lumMod val="75000"/>
                  </a:schemeClr>
                </a:solidFill>
              </a:rPr>
              <a:t>ISISv6</a:t>
            </a:r>
            <a:endParaRPr lang="en-US" dirty="0">
              <a:solidFill>
                <a:schemeClr val="accent4">
                  <a:lumMod val="75000"/>
                </a:schemeClr>
              </a:solidFill>
            </a:endParaRPr>
          </a:p>
        </p:txBody>
      </p:sp>
      <p:sp>
        <p:nvSpPr>
          <p:cNvPr id="3" name="Text Placeholder 2">
            <a:extLst>
              <a:ext uri="{FF2B5EF4-FFF2-40B4-BE49-F238E27FC236}">
                <a16:creationId xmlns:a16="http://schemas.microsoft.com/office/drawing/2014/main" id="{D468842C-E9AA-4882-EC44-4597C8EA2A45}"/>
              </a:ext>
            </a:extLst>
          </p:cNvPr>
          <p:cNvSpPr>
            <a:spLocks noGrp="1"/>
          </p:cNvSpPr>
          <p:nvPr>
            <p:ph type="body" sz="quarter" idx="11"/>
          </p:nvPr>
        </p:nvSpPr>
        <p:spPr>
          <a:xfrm>
            <a:off x="873918" y="12461"/>
            <a:ext cx="10444163" cy="773017"/>
          </a:xfrm>
        </p:spPr>
        <p:txBody>
          <a:bodyPr/>
          <a:lstStyle/>
          <a:p>
            <a:r>
              <a:rPr lang="en-US" dirty="0"/>
              <a:t>Step 1 - MPLS LDP to SRv6 migration </a:t>
            </a:r>
            <a:r>
              <a:rPr lang="en-US" dirty="0">
                <a:solidFill>
                  <a:schemeClr val="bg1">
                    <a:lumMod val="50000"/>
                  </a:schemeClr>
                </a:solidFill>
              </a:rPr>
              <a:t>- L3VPN</a:t>
            </a:r>
          </a:p>
        </p:txBody>
      </p:sp>
      <p:sp>
        <p:nvSpPr>
          <p:cNvPr id="8" name="Oval 7">
            <a:extLst>
              <a:ext uri="{FF2B5EF4-FFF2-40B4-BE49-F238E27FC236}">
                <a16:creationId xmlns:a16="http://schemas.microsoft.com/office/drawing/2014/main" id="{993A2A87-8EB9-6614-516E-A2CB823D3BFE}"/>
              </a:ext>
            </a:extLst>
          </p:cNvPr>
          <p:cNvSpPr/>
          <p:nvPr/>
        </p:nvSpPr>
        <p:spPr>
          <a:xfrm>
            <a:off x="2861187" y="2743878"/>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PE-1</a:t>
            </a:r>
          </a:p>
        </p:txBody>
      </p:sp>
      <p:sp>
        <p:nvSpPr>
          <p:cNvPr id="9" name="Oval 8">
            <a:extLst>
              <a:ext uri="{FF2B5EF4-FFF2-40B4-BE49-F238E27FC236}">
                <a16:creationId xmlns:a16="http://schemas.microsoft.com/office/drawing/2014/main" id="{DBB2B752-AE8F-9DC3-0D63-E500CBE67C94}"/>
              </a:ext>
            </a:extLst>
          </p:cNvPr>
          <p:cNvSpPr/>
          <p:nvPr/>
        </p:nvSpPr>
        <p:spPr>
          <a:xfrm>
            <a:off x="2625213" y="3050586"/>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E0851D-CFCC-8023-A043-3964DDC76594}"/>
              </a:ext>
            </a:extLst>
          </p:cNvPr>
          <p:cNvSpPr/>
          <p:nvPr/>
        </p:nvSpPr>
        <p:spPr>
          <a:xfrm>
            <a:off x="5225845" y="1461634"/>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P-2</a:t>
            </a:r>
          </a:p>
        </p:txBody>
      </p:sp>
      <p:sp>
        <p:nvSpPr>
          <p:cNvPr id="11" name="Oval 10">
            <a:extLst>
              <a:ext uri="{FF2B5EF4-FFF2-40B4-BE49-F238E27FC236}">
                <a16:creationId xmlns:a16="http://schemas.microsoft.com/office/drawing/2014/main" id="{341588A8-533B-B65D-2813-E637BE0322E3}"/>
              </a:ext>
            </a:extLst>
          </p:cNvPr>
          <p:cNvSpPr/>
          <p:nvPr/>
        </p:nvSpPr>
        <p:spPr>
          <a:xfrm>
            <a:off x="5225845"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P-3</a:t>
            </a:r>
          </a:p>
        </p:txBody>
      </p:sp>
      <p:sp>
        <p:nvSpPr>
          <p:cNvPr id="12" name="Oval 11">
            <a:extLst>
              <a:ext uri="{FF2B5EF4-FFF2-40B4-BE49-F238E27FC236}">
                <a16:creationId xmlns:a16="http://schemas.microsoft.com/office/drawing/2014/main" id="{88820713-3A40-9E92-5017-307E1BA5FCFB}"/>
              </a:ext>
            </a:extLst>
          </p:cNvPr>
          <p:cNvSpPr/>
          <p:nvPr/>
        </p:nvSpPr>
        <p:spPr>
          <a:xfrm>
            <a:off x="8091948" y="1461633"/>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PE-4</a:t>
            </a:r>
          </a:p>
        </p:txBody>
      </p:sp>
      <p:sp>
        <p:nvSpPr>
          <p:cNvPr id="13" name="Oval 12">
            <a:extLst>
              <a:ext uri="{FF2B5EF4-FFF2-40B4-BE49-F238E27FC236}">
                <a16:creationId xmlns:a16="http://schemas.microsoft.com/office/drawing/2014/main" id="{34EEF5FE-F3A6-1D78-CBD1-D19B71E84401}"/>
              </a:ext>
            </a:extLst>
          </p:cNvPr>
          <p:cNvSpPr/>
          <p:nvPr/>
        </p:nvSpPr>
        <p:spPr>
          <a:xfrm>
            <a:off x="8091948"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PE-5</a:t>
            </a:r>
          </a:p>
        </p:txBody>
      </p:sp>
      <p:sp>
        <p:nvSpPr>
          <p:cNvPr id="14" name="Oval 13">
            <a:extLst>
              <a:ext uri="{FF2B5EF4-FFF2-40B4-BE49-F238E27FC236}">
                <a16:creationId xmlns:a16="http://schemas.microsoft.com/office/drawing/2014/main" id="{A33A844A-10F7-FA25-02CA-BE1263DA1218}"/>
              </a:ext>
            </a:extLst>
          </p:cNvPr>
          <p:cNvSpPr/>
          <p:nvPr/>
        </p:nvSpPr>
        <p:spPr>
          <a:xfrm>
            <a:off x="6744928" y="5296213"/>
            <a:ext cx="1061884" cy="1072819"/>
          </a:xfrm>
          <a:prstGeom prst="ellipse">
            <a:avLst/>
          </a:prstGeom>
          <a:solidFill>
            <a:schemeClr val="accent3">
              <a:lumMod val="75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RRv4</a:t>
            </a:r>
            <a:endParaRPr lang="en-US" sz="1600" dirty="0"/>
          </a:p>
        </p:txBody>
      </p:sp>
      <p:grpSp>
        <p:nvGrpSpPr>
          <p:cNvPr id="19" name="Group 18">
            <a:extLst>
              <a:ext uri="{FF2B5EF4-FFF2-40B4-BE49-F238E27FC236}">
                <a16:creationId xmlns:a16="http://schemas.microsoft.com/office/drawing/2014/main" id="{59FB8967-3128-1A08-0574-4C0477666AC1}"/>
              </a:ext>
            </a:extLst>
          </p:cNvPr>
          <p:cNvGrpSpPr/>
          <p:nvPr/>
        </p:nvGrpSpPr>
        <p:grpSpPr>
          <a:xfrm>
            <a:off x="229906" y="1793224"/>
            <a:ext cx="1933191" cy="1412092"/>
            <a:chOff x="229906" y="1793224"/>
            <a:chExt cx="1933191" cy="1412092"/>
          </a:xfrm>
        </p:grpSpPr>
        <p:sp>
          <p:nvSpPr>
            <p:cNvPr id="17" name="TextBox 16">
              <a:extLst>
                <a:ext uri="{FF2B5EF4-FFF2-40B4-BE49-F238E27FC236}">
                  <a16:creationId xmlns:a16="http://schemas.microsoft.com/office/drawing/2014/main" id="{DCABD92B-4299-3F62-AB81-C71EAEFBC20B}"/>
                </a:ext>
              </a:extLst>
            </p:cNvPr>
            <p:cNvSpPr txBox="1"/>
            <p:nvPr/>
          </p:nvSpPr>
          <p:spPr>
            <a:xfrm>
              <a:off x="353961" y="1793224"/>
              <a:ext cx="1809136" cy="1412092"/>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effectLst/>
                  <a:uLnTx/>
                  <a:uFillTx/>
                  <a:latin typeface="Arial" panose="020B0604020202020204"/>
                  <a:ea typeface="+mn-ea"/>
                  <a:cs typeface="+mn-cs"/>
                </a:rPr>
                <a:t>VRF 3001</a:t>
              </a:r>
            </a:p>
            <a:p>
              <a: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pPr>
              <a:r>
                <a:rPr lang="en-US" sz="2000" dirty="0">
                  <a:latin typeface="Arial" panose="020B0604020202020204"/>
                </a:rPr>
                <a:t>full mesh</a:t>
              </a:r>
            </a:p>
            <a:p>
              <a:pPr marR="0" algn="l" defTabSz="914400" rtl="0" eaLnBrk="1" fontAlgn="auto" latinLnBrk="0" hangingPunct="1">
                <a:lnSpc>
                  <a:spcPct val="90000"/>
                </a:lnSpc>
                <a:spcBef>
                  <a:spcPts val="1000"/>
                </a:spcBef>
                <a:spcAft>
                  <a:spcPts val="0"/>
                </a:spcAft>
                <a:buClrTx/>
                <a:buSzTx/>
                <a:tabLst/>
              </a:pPr>
              <a:r>
                <a:rPr kumimoji="0" lang="en-US" sz="2000" i="0" u="none" strike="noStrike" kern="1200" cap="none" spc="0" normalizeH="0" baseline="0" noProof="0" dirty="0">
                  <a:ln>
                    <a:noFill/>
                  </a:ln>
                  <a:effectLst/>
                  <a:uLnTx/>
                  <a:uFillTx/>
                  <a:latin typeface="Arial" panose="020B0604020202020204"/>
                  <a:ea typeface="+mn-ea"/>
                  <a:cs typeface="+mn-cs"/>
                </a:rPr>
                <a:t>     MPLS VRF </a:t>
              </a:r>
            </a:p>
          </p:txBody>
        </p:sp>
        <p:sp>
          <p:nvSpPr>
            <p:cNvPr id="18" name="Oval 17">
              <a:extLst>
                <a:ext uri="{FF2B5EF4-FFF2-40B4-BE49-F238E27FC236}">
                  <a16:creationId xmlns:a16="http://schemas.microsoft.com/office/drawing/2014/main" id="{C5A9DFEF-4947-F2F1-A76D-8AC479436895}"/>
                </a:ext>
              </a:extLst>
            </p:cNvPr>
            <p:cNvSpPr/>
            <p:nvPr/>
          </p:nvSpPr>
          <p:spPr>
            <a:xfrm>
              <a:off x="229906" y="2583736"/>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 name="Oval 19">
            <a:extLst>
              <a:ext uri="{FF2B5EF4-FFF2-40B4-BE49-F238E27FC236}">
                <a16:creationId xmlns:a16="http://schemas.microsoft.com/office/drawing/2014/main" id="{F29B4790-86CB-3D33-D8AA-E7828F3315AA}"/>
              </a:ext>
            </a:extLst>
          </p:cNvPr>
          <p:cNvSpPr/>
          <p:nvPr/>
        </p:nvSpPr>
        <p:spPr>
          <a:xfrm>
            <a:off x="8917858" y="4427967"/>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F7ADD5B5-1DE1-9F97-8D34-DA0DCA03396A}"/>
              </a:ext>
            </a:extLst>
          </p:cNvPr>
          <p:cNvSpPr/>
          <p:nvPr/>
        </p:nvSpPr>
        <p:spPr>
          <a:xfrm>
            <a:off x="8917858" y="1768341"/>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6313A627-B0A9-C701-976E-3F14F76CF28D}"/>
              </a:ext>
            </a:extLst>
          </p:cNvPr>
          <p:cNvCxnSpPr>
            <a:stCxn id="10" idx="6"/>
            <a:endCxn id="12" idx="2"/>
          </p:cNvCxnSpPr>
          <p:nvPr/>
        </p:nvCxnSpPr>
        <p:spPr>
          <a:xfrm flipV="1">
            <a:off x="6287729" y="1998043"/>
            <a:ext cx="1804219" cy="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A7F45EA-CD46-5772-EAFD-4AAC01B7BFC8}"/>
              </a:ext>
            </a:extLst>
          </p:cNvPr>
          <p:cNvCxnSpPr>
            <a:cxnSpLocks/>
            <a:stCxn id="11" idx="7"/>
          </p:cNvCxnSpPr>
          <p:nvPr/>
        </p:nvCxnSpPr>
        <p:spPr>
          <a:xfrm flipV="1">
            <a:off x="6132220" y="2336659"/>
            <a:ext cx="2083535" cy="194171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E852CC6-3C63-30D9-93E0-B76FA8598344}"/>
              </a:ext>
            </a:extLst>
          </p:cNvPr>
          <p:cNvCxnSpPr>
            <a:cxnSpLocks/>
            <a:stCxn id="12" idx="4"/>
          </p:cNvCxnSpPr>
          <p:nvPr/>
        </p:nvCxnSpPr>
        <p:spPr>
          <a:xfrm>
            <a:off x="8622890" y="2534452"/>
            <a:ext cx="0" cy="1592852"/>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BDE2377-063B-01BF-3CB6-05F3FBF4C424}"/>
              </a:ext>
            </a:extLst>
          </p:cNvPr>
          <p:cNvCxnSpPr>
            <a:cxnSpLocks/>
            <a:stCxn id="11" idx="6"/>
            <a:endCxn id="13" idx="2"/>
          </p:cNvCxnSpPr>
          <p:nvPr/>
        </p:nvCxnSpPr>
        <p:spPr>
          <a:xfrm>
            <a:off x="6287729" y="4657669"/>
            <a:ext cx="1804219"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F49B32-4149-6A9F-D7CA-BABCA0E7A0A6}"/>
              </a:ext>
            </a:extLst>
          </p:cNvPr>
          <p:cNvCxnSpPr>
            <a:cxnSpLocks/>
            <a:stCxn id="10" idx="4"/>
            <a:endCxn id="11" idx="0"/>
          </p:cNvCxnSpPr>
          <p:nvPr/>
        </p:nvCxnSpPr>
        <p:spPr>
          <a:xfrm>
            <a:off x="5756787" y="2534453"/>
            <a:ext cx="0" cy="1586806"/>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FB43A74-B938-0C85-4049-B54CC5E87491}"/>
              </a:ext>
            </a:extLst>
          </p:cNvPr>
          <p:cNvCxnSpPr>
            <a:cxnSpLocks/>
            <a:endCxn id="11" idx="2"/>
          </p:cNvCxnSpPr>
          <p:nvPr/>
        </p:nvCxnSpPr>
        <p:spPr>
          <a:xfrm>
            <a:off x="3767562" y="3644526"/>
            <a:ext cx="1458283" cy="1013143"/>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9A3A119-7341-52D5-CD04-1C055CBC3D2C}"/>
              </a:ext>
            </a:extLst>
          </p:cNvPr>
          <p:cNvCxnSpPr>
            <a:cxnSpLocks/>
            <a:stCxn id="8" idx="7"/>
            <a:endCxn id="10" idx="2"/>
          </p:cNvCxnSpPr>
          <p:nvPr/>
        </p:nvCxnSpPr>
        <p:spPr>
          <a:xfrm flipV="1">
            <a:off x="3767562" y="1998044"/>
            <a:ext cx="1458283" cy="902945"/>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AA5A7C64-24D0-F310-9369-5EE60113D0DD}"/>
              </a:ext>
            </a:extLst>
          </p:cNvPr>
          <p:cNvSpPr txBox="1"/>
          <p:nvPr/>
        </p:nvSpPr>
        <p:spPr>
          <a:xfrm>
            <a:off x="2654461" y="3946136"/>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kumimoji="0" lang="en-US" b="1"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kumimoji="0" lang="en-US" b="1" i="0" u="none" strike="noStrike" kern="1200" cap="none" spc="0" normalizeH="0" baseline="0" noProof="0" dirty="0" err="1">
                <a:ln>
                  <a:noFill/>
                </a:ln>
                <a:solidFill>
                  <a:schemeClr val="accent4">
                    <a:lumMod val="75000"/>
                  </a:schemeClr>
                </a:solidFill>
                <a:effectLst/>
                <a:uLnTx/>
                <a:uFillTx/>
                <a:latin typeface="Arial" panose="020B0604020202020204"/>
                <a:ea typeface="+mn-ea"/>
                <a:cs typeface="+mn-cs"/>
              </a:rPr>
              <a:t>ISISv6</a:t>
            </a:r>
            <a:endParaRPr kumimoji="0" lang="en-US" sz="1600" b="1" i="0" u="none" strike="noStrike" kern="1200" cap="none" spc="0" normalizeH="0" baseline="0" noProof="0" dirty="0">
              <a:ln>
                <a:noFill/>
              </a:ln>
              <a:solidFill>
                <a:schemeClr val="tx1"/>
              </a:solidFill>
              <a:effectLst/>
              <a:uLnTx/>
              <a:uFillTx/>
              <a:latin typeface="Arial" panose="020B0604020202020204"/>
              <a:ea typeface="+mn-ea"/>
              <a:cs typeface="+mn-cs"/>
            </a:endParaRPr>
          </a:p>
        </p:txBody>
      </p:sp>
      <p:sp>
        <p:nvSpPr>
          <p:cNvPr id="49" name="TextBox 48">
            <a:extLst>
              <a:ext uri="{FF2B5EF4-FFF2-40B4-BE49-F238E27FC236}">
                <a16:creationId xmlns:a16="http://schemas.microsoft.com/office/drawing/2014/main" id="{EB9FF396-0612-A9EE-123E-7055BFAED65E}"/>
              </a:ext>
            </a:extLst>
          </p:cNvPr>
          <p:cNvSpPr txBox="1"/>
          <p:nvPr/>
        </p:nvSpPr>
        <p:spPr>
          <a:xfrm>
            <a:off x="6588637" y="6372412"/>
            <a:ext cx="1374465"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endPar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endParaRPr>
          </a:p>
        </p:txBody>
      </p:sp>
      <p:cxnSp>
        <p:nvCxnSpPr>
          <p:cNvPr id="50" name="Straight Connector 49">
            <a:extLst>
              <a:ext uri="{FF2B5EF4-FFF2-40B4-BE49-F238E27FC236}">
                <a16:creationId xmlns:a16="http://schemas.microsoft.com/office/drawing/2014/main" id="{32AC3523-6F39-6CDD-5466-A394276895B0}"/>
              </a:ext>
            </a:extLst>
          </p:cNvPr>
          <p:cNvCxnSpPr>
            <a:cxnSpLocks/>
            <a:stCxn id="11" idx="5"/>
            <a:endCxn id="14" idx="1"/>
          </p:cNvCxnSpPr>
          <p:nvPr/>
        </p:nvCxnSpPr>
        <p:spPr>
          <a:xfrm>
            <a:off x="6132220" y="5036967"/>
            <a:ext cx="768217" cy="41635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1317F25D-B41D-CAAF-FCB6-1D3F49BE56B5}"/>
              </a:ext>
            </a:extLst>
          </p:cNvPr>
          <p:cNvSpPr txBox="1"/>
          <p:nvPr/>
        </p:nvSpPr>
        <p:spPr>
          <a:xfrm>
            <a:off x="1487018" y="3116372"/>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10.2.3.0/24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56" name="TextBox 55">
            <a:extLst>
              <a:ext uri="{FF2B5EF4-FFF2-40B4-BE49-F238E27FC236}">
                <a16:creationId xmlns:a16="http://schemas.microsoft.com/office/drawing/2014/main" id="{71597BD8-BA18-4458-65C4-EDF32B89A616}"/>
              </a:ext>
            </a:extLst>
          </p:cNvPr>
          <p:cNvSpPr txBox="1"/>
          <p:nvPr/>
        </p:nvSpPr>
        <p:spPr>
          <a:xfrm>
            <a:off x="9325819" y="4516166"/>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10.0.5.0/24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57" name="TextBox 56">
            <a:extLst>
              <a:ext uri="{FF2B5EF4-FFF2-40B4-BE49-F238E27FC236}">
                <a16:creationId xmlns:a16="http://schemas.microsoft.com/office/drawing/2014/main" id="{C4C859B2-6579-BA7E-74D3-8AC6D6CF78EA}"/>
              </a:ext>
            </a:extLst>
          </p:cNvPr>
          <p:cNvSpPr txBox="1"/>
          <p:nvPr/>
        </p:nvSpPr>
        <p:spPr>
          <a:xfrm>
            <a:off x="9325819" y="1844704"/>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10.0.4.0/24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5C26D65D-05EF-FF2F-EBB6-12EF5D9AEE7B}"/>
              </a:ext>
            </a:extLst>
          </p:cNvPr>
          <p:cNvSpPr txBox="1"/>
          <p:nvPr/>
        </p:nvSpPr>
        <p:spPr>
          <a:xfrm>
            <a:off x="5064109" y="5286376"/>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kumimoji="0" lang="en-US" b="1"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kumimoji="0" lang="en-US" b="1" i="0" u="none" strike="noStrike" kern="1200" cap="none" spc="0" normalizeH="0" baseline="0" noProof="0" dirty="0" err="1">
                <a:ln>
                  <a:noFill/>
                </a:ln>
                <a:solidFill>
                  <a:schemeClr val="accent4">
                    <a:lumMod val="75000"/>
                  </a:schemeClr>
                </a:solidFill>
                <a:effectLst/>
                <a:uLnTx/>
                <a:uFillTx/>
                <a:latin typeface="Arial" panose="020B0604020202020204"/>
                <a:ea typeface="+mn-ea"/>
                <a:cs typeface="+mn-cs"/>
              </a:rPr>
              <a:t>ISISv6</a:t>
            </a:r>
            <a:endParaRPr kumimoji="0" lang="en-US" sz="1600" b="1" i="0" u="none" strike="noStrike" kern="1200" cap="none" spc="0" normalizeH="0" baseline="0" noProof="0" dirty="0">
              <a:ln>
                <a:noFill/>
              </a:ln>
              <a:solidFill>
                <a:schemeClr val="tx1"/>
              </a:solidFill>
              <a:effectLst/>
              <a:uLnTx/>
              <a:uFillTx/>
              <a:latin typeface="Arial" panose="020B0604020202020204"/>
              <a:ea typeface="+mn-ea"/>
              <a:cs typeface="+mn-cs"/>
            </a:endParaRPr>
          </a:p>
        </p:txBody>
      </p:sp>
      <p:sp>
        <p:nvSpPr>
          <p:cNvPr id="4" name="TextBox 3">
            <a:extLst>
              <a:ext uri="{FF2B5EF4-FFF2-40B4-BE49-F238E27FC236}">
                <a16:creationId xmlns:a16="http://schemas.microsoft.com/office/drawing/2014/main" id="{D9AA12F4-1770-F159-C6DB-8E028F5D9759}"/>
              </a:ext>
            </a:extLst>
          </p:cNvPr>
          <p:cNvSpPr txBox="1"/>
          <p:nvPr/>
        </p:nvSpPr>
        <p:spPr>
          <a:xfrm>
            <a:off x="5132763" y="949213"/>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kumimoji="0" lang="en-US" b="1"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kumimoji="0" lang="en-US" b="1" i="0" u="none" strike="noStrike" kern="1200" cap="none" spc="0" normalizeH="0" baseline="0" noProof="0" dirty="0" err="1">
                <a:ln>
                  <a:noFill/>
                </a:ln>
                <a:solidFill>
                  <a:schemeClr val="accent4">
                    <a:lumMod val="75000"/>
                  </a:schemeClr>
                </a:solidFill>
                <a:effectLst/>
                <a:uLnTx/>
                <a:uFillTx/>
                <a:latin typeface="Arial" panose="020B0604020202020204"/>
                <a:ea typeface="+mn-ea"/>
                <a:cs typeface="+mn-cs"/>
              </a:rPr>
              <a:t>ISISv6</a:t>
            </a:r>
            <a:endParaRPr kumimoji="0" lang="en-US" sz="1600" b="1" i="0" u="none" strike="noStrike" kern="1200" cap="none" spc="0" normalizeH="0" baseline="0" noProof="0" dirty="0">
              <a:ln>
                <a:noFill/>
              </a:ln>
              <a:solidFill>
                <a:schemeClr val="tx1"/>
              </a:solidFill>
              <a:effectLst/>
              <a:uLnTx/>
              <a:uFillTx/>
              <a:latin typeface="Arial" panose="020B0604020202020204"/>
              <a:ea typeface="+mn-ea"/>
              <a:cs typeface="+mn-cs"/>
            </a:endParaRPr>
          </a:p>
        </p:txBody>
      </p:sp>
      <p:sp>
        <p:nvSpPr>
          <p:cNvPr id="5" name="TextBox 4">
            <a:extLst>
              <a:ext uri="{FF2B5EF4-FFF2-40B4-BE49-F238E27FC236}">
                <a16:creationId xmlns:a16="http://schemas.microsoft.com/office/drawing/2014/main" id="{F20EC0DB-1B35-01BD-1164-A60ADEB8EA97}"/>
              </a:ext>
            </a:extLst>
          </p:cNvPr>
          <p:cNvSpPr txBox="1"/>
          <p:nvPr/>
        </p:nvSpPr>
        <p:spPr>
          <a:xfrm>
            <a:off x="7935657" y="95957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kumimoji="0" lang="en-US" b="1"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kumimoji="0" lang="en-US" b="1" i="0" u="none" strike="noStrike" kern="1200" cap="none" spc="0" normalizeH="0" baseline="0" noProof="0" dirty="0" err="1">
                <a:ln>
                  <a:noFill/>
                </a:ln>
                <a:solidFill>
                  <a:schemeClr val="accent4">
                    <a:lumMod val="75000"/>
                  </a:schemeClr>
                </a:solidFill>
                <a:effectLst/>
                <a:uLnTx/>
                <a:uFillTx/>
                <a:latin typeface="Arial" panose="020B0604020202020204"/>
                <a:ea typeface="+mn-ea"/>
                <a:cs typeface="+mn-cs"/>
              </a:rPr>
              <a:t>ISISv6</a:t>
            </a:r>
            <a:endParaRPr kumimoji="0" lang="en-US" sz="1600" b="1" i="0" u="none" strike="noStrike" kern="1200" cap="none" spc="0" normalizeH="0" baseline="0" noProof="0" dirty="0">
              <a:ln>
                <a:noFill/>
              </a:ln>
              <a:solidFill>
                <a:schemeClr val="tx1"/>
              </a:solidFill>
              <a:effectLst/>
              <a:uLnTx/>
              <a:uFillTx/>
              <a:latin typeface="Arial" panose="020B0604020202020204"/>
              <a:ea typeface="+mn-ea"/>
              <a:cs typeface="+mn-cs"/>
            </a:endParaRPr>
          </a:p>
        </p:txBody>
      </p:sp>
      <p:sp>
        <p:nvSpPr>
          <p:cNvPr id="6" name="TextBox 5">
            <a:extLst>
              <a:ext uri="{FF2B5EF4-FFF2-40B4-BE49-F238E27FC236}">
                <a16:creationId xmlns:a16="http://schemas.microsoft.com/office/drawing/2014/main" id="{C92528FF-DFC8-807F-35EC-6AEB2901F35D}"/>
              </a:ext>
            </a:extLst>
          </p:cNvPr>
          <p:cNvSpPr txBox="1"/>
          <p:nvPr/>
        </p:nvSpPr>
        <p:spPr>
          <a:xfrm>
            <a:off x="8015341" y="526693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kumimoji="0" lang="en-US" b="1"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kumimoji="0" lang="en-US" b="1" i="0" u="none" strike="noStrike" kern="1200" cap="none" spc="0" normalizeH="0" baseline="0" noProof="0" dirty="0" err="1">
                <a:ln>
                  <a:noFill/>
                </a:ln>
                <a:solidFill>
                  <a:schemeClr val="accent4">
                    <a:lumMod val="75000"/>
                  </a:schemeClr>
                </a:solidFill>
                <a:effectLst/>
                <a:uLnTx/>
                <a:uFillTx/>
                <a:latin typeface="Arial" panose="020B0604020202020204"/>
                <a:ea typeface="+mn-ea"/>
                <a:cs typeface="+mn-cs"/>
              </a:rPr>
              <a:t>ISISv6</a:t>
            </a:r>
            <a:endParaRPr kumimoji="0" lang="en-US" sz="1600" b="1" i="0" u="none" strike="noStrike" kern="1200" cap="none" spc="0" normalizeH="0" baseline="0" noProof="0" dirty="0">
              <a:ln>
                <a:noFill/>
              </a:ln>
              <a:solidFill>
                <a:schemeClr val="tx1"/>
              </a:solidFill>
              <a:effectLst/>
              <a:uLnTx/>
              <a:uFillTx/>
              <a:latin typeface="Arial" panose="020B0604020202020204"/>
              <a:ea typeface="+mn-ea"/>
              <a:cs typeface="+mn-cs"/>
            </a:endParaRPr>
          </a:p>
        </p:txBody>
      </p:sp>
    </p:spTree>
    <p:extLst>
      <p:ext uri="{BB962C8B-B14F-4D97-AF65-F5344CB8AC3E}">
        <p14:creationId xmlns:p14="http://schemas.microsoft.com/office/powerpoint/2010/main" val="3428240164"/>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0C4DE83-9298-809E-261F-86F4D10717BC}"/>
              </a:ext>
            </a:extLst>
          </p:cNvPr>
          <p:cNvSpPr>
            <a:spLocks noGrp="1"/>
          </p:cNvSpPr>
          <p:nvPr>
            <p:ph type="body" sz="quarter" idx="10"/>
          </p:nvPr>
        </p:nvSpPr>
        <p:spPr/>
        <p:txBody>
          <a:bodyPr/>
          <a:lstStyle/>
          <a:p>
            <a:endParaRPr lang="en-US" dirty="0"/>
          </a:p>
        </p:txBody>
      </p:sp>
      <p:sp>
        <p:nvSpPr>
          <p:cNvPr id="7" name="Text Placeholder 6">
            <a:extLst>
              <a:ext uri="{FF2B5EF4-FFF2-40B4-BE49-F238E27FC236}">
                <a16:creationId xmlns:a16="http://schemas.microsoft.com/office/drawing/2014/main" id="{6B0DEB13-3EF7-67DA-5148-FF05E855D34F}"/>
              </a:ext>
            </a:extLst>
          </p:cNvPr>
          <p:cNvSpPr>
            <a:spLocks noGrp="1"/>
          </p:cNvSpPr>
          <p:nvPr>
            <p:ph type="body" sz="quarter" idx="11"/>
          </p:nvPr>
        </p:nvSpPr>
        <p:spPr/>
        <p:txBody>
          <a:bodyPr/>
          <a:lstStyle/>
          <a:p>
            <a:r>
              <a:rPr lang="en-US" dirty="0"/>
              <a:t>Deploy IPv6 routing</a:t>
            </a:r>
          </a:p>
        </p:txBody>
      </p:sp>
      <p:sp>
        <p:nvSpPr>
          <p:cNvPr id="8" name="Rectangle 7">
            <a:extLst>
              <a:ext uri="{FF2B5EF4-FFF2-40B4-BE49-F238E27FC236}">
                <a16:creationId xmlns:a16="http://schemas.microsoft.com/office/drawing/2014/main" id="{D22F8B01-6D02-D13E-6456-8B9B4FC1AEA8}"/>
              </a:ext>
            </a:extLst>
          </p:cNvPr>
          <p:cNvSpPr/>
          <p:nvPr/>
        </p:nvSpPr>
        <p:spPr>
          <a:xfrm>
            <a:off x="873918" y="936357"/>
            <a:ext cx="6486305" cy="5355312"/>
          </a:xfrm>
          <a:prstGeom prst="rect">
            <a:avLst/>
          </a:prstGeom>
          <a:solidFill>
            <a:schemeClr val="bg1">
              <a:lumMod val="95000"/>
            </a:schemeClr>
          </a:solidFill>
          <a:ln>
            <a:solidFill>
              <a:schemeClr val="tx1"/>
            </a:solidFill>
          </a:ln>
          <a:effectLst/>
        </p:spPr>
        <p:txBody>
          <a:bodyPr wrap="square">
            <a:spAutoFit/>
          </a:bodyPr>
          <a:lstStyle/>
          <a:p>
            <a:r>
              <a:rPr lang="en-US" dirty="0">
                <a:latin typeface="Consolas" panose="020B0609020204030204" pitchFamily="49" charset="0"/>
              </a:rPr>
              <a:t>interface </a:t>
            </a:r>
            <a:r>
              <a:rPr lang="en-US" dirty="0" err="1">
                <a:latin typeface="Consolas" panose="020B0609020204030204" pitchFamily="49" charset="0"/>
              </a:rPr>
              <a:t>Loopback0</a:t>
            </a:r>
            <a:endParaRPr lang="en-US" dirty="0">
              <a:latin typeface="Consolas" panose="020B0609020204030204" pitchFamily="49" charset="0"/>
            </a:endParaRPr>
          </a:p>
          <a:p>
            <a:r>
              <a:rPr lang="en-US" dirty="0">
                <a:latin typeface="Consolas" panose="020B0609020204030204" pitchFamily="49" charset="0"/>
              </a:rPr>
              <a:t> ipv6 address </a:t>
            </a:r>
            <a:r>
              <a:rPr lang="en-US" dirty="0" err="1">
                <a:solidFill>
                  <a:schemeClr val="accent6"/>
                </a:solidFill>
                <a:latin typeface="Consolas" panose="020B0609020204030204" pitchFamily="49" charset="0"/>
              </a:rPr>
              <a:t>fcbb:bb00:2</a:t>
            </a:r>
            <a:r>
              <a:rPr lang="en-US" dirty="0">
                <a:solidFill>
                  <a:schemeClr val="accent6"/>
                </a:solidFill>
                <a:latin typeface="Consolas" panose="020B0609020204030204" pitchFamily="49" charset="0"/>
              </a:rPr>
              <a:t>::1/128</a:t>
            </a:r>
          </a:p>
          <a:p>
            <a:r>
              <a:rPr lang="en-US" dirty="0">
                <a:latin typeface="Consolas" panose="020B0609020204030204" pitchFamily="49" charset="0"/>
              </a:rPr>
              <a:t>! </a:t>
            </a:r>
          </a:p>
          <a:p>
            <a:r>
              <a:rPr lang="en-US" dirty="0">
                <a:latin typeface="Consolas" panose="020B0609020204030204" pitchFamily="49" charset="0"/>
              </a:rPr>
              <a:t>interface </a:t>
            </a:r>
            <a:r>
              <a:rPr lang="en-US" dirty="0" err="1">
                <a:latin typeface="Consolas" panose="020B0609020204030204" pitchFamily="49" charset="0"/>
              </a:rPr>
              <a:t>TenGigE</a:t>
            </a:r>
            <a:r>
              <a:rPr lang="en-US" dirty="0">
                <a:latin typeface="Consolas" panose="020B0609020204030204" pitchFamily="49" charset="0"/>
              </a:rPr>
              <a:t> 0/0/0/0</a:t>
            </a:r>
          </a:p>
          <a:p>
            <a:r>
              <a:rPr lang="en-US" dirty="0">
                <a:latin typeface="Consolas" panose="020B0609020204030204" pitchFamily="49" charset="0"/>
              </a:rPr>
              <a:t> </a:t>
            </a:r>
            <a:r>
              <a:rPr lang="en-US" dirty="0">
                <a:solidFill>
                  <a:schemeClr val="accent5"/>
                </a:solidFill>
                <a:latin typeface="Consolas" panose="020B0609020204030204" pitchFamily="49" charset="0"/>
              </a:rPr>
              <a:t>ipv6 enable</a:t>
            </a:r>
          </a:p>
          <a:p>
            <a:r>
              <a:rPr lang="en-US" dirty="0">
                <a:solidFill>
                  <a:schemeClr val="accent5"/>
                </a:solidFill>
                <a:latin typeface="Consolas" panose="020B0609020204030204" pitchFamily="49" charset="0"/>
              </a:rPr>
              <a:t> ipv6 address </a:t>
            </a:r>
            <a:r>
              <a:rPr lang="en-US" dirty="0" err="1">
                <a:solidFill>
                  <a:schemeClr val="accent5"/>
                </a:solidFill>
                <a:latin typeface="Consolas" panose="020B0609020204030204" pitchFamily="49" charset="0"/>
              </a:rPr>
              <a:t>fcaa:aaaa:1:2</a:t>
            </a:r>
            <a:r>
              <a:rPr lang="en-US" dirty="0">
                <a:solidFill>
                  <a:schemeClr val="accent5"/>
                </a:solidFill>
                <a:latin typeface="Consolas" panose="020B0609020204030204" pitchFamily="49" charset="0"/>
              </a:rPr>
              <a:t>::1/120</a:t>
            </a:r>
          </a:p>
          <a:p>
            <a:r>
              <a:rPr lang="en-US" dirty="0">
                <a:latin typeface="Consolas" panose="020B0609020204030204" pitchFamily="49" charset="0"/>
              </a:rPr>
              <a:t>!</a:t>
            </a:r>
          </a:p>
          <a:p>
            <a:r>
              <a:rPr lang="en-US" dirty="0">
                <a:latin typeface="Consolas" panose="020B0609020204030204" pitchFamily="49" charset="0"/>
              </a:rPr>
              <a:t>router isis 1</a:t>
            </a:r>
          </a:p>
          <a:p>
            <a:r>
              <a:rPr lang="en-US" dirty="0">
                <a:latin typeface="Consolas" panose="020B0609020204030204" pitchFamily="49" charset="0"/>
              </a:rPr>
              <a:t> </a:t>
            </a:r>
            <a:r>
              <a:rPr lang="en-US" b="1" dirty="0">
                <a:latin typeface="Consolas" panose="020B0609020204030204" pitchFamily="49" charset="0"/>
              </a:rPr>
              <a:t>address-family ipv6 unicast</a:t>
            </a:r>
          </a:p>
          <a:p>
            <a:r>
              <a:rPr lang="en-US" b="1" dirty="0">
                <a:latin typeface="Consolas" panose="020B0609020204030204" pitchFamily="49" charset="0"/>
              </a:rPr>
              <a:t>  metric-style wide</a:t>
            </a:r>
          </a:p>
          <a:p>
            <a:r>
              <a:rPr lang="en-US" b="1" dirty="0">
                <a:latin typeface="Consolas" panose="020B0609020204030204" pitchFamily="49" charset="0"/>
              </a:rPr>
              <a:t>  </a:t>
            </a:r>
            <a:r>
              <a:rPr lang="en-US" b="1" dirty="0">
                <a:solidFill>
                  <a:schemeClr val="tx2"/>
                </a:solidFill>
                <a:latin typeface="Consolas" panose="020B0609020204030204" pitchFamily="49" charset="0"/>
              </a:rPr>
              <a:t>advertise link attributes</a:t>
            </a:r>
          </a:p>
          <a:p>
            <a:r>
              <a:rPr lang="en-US" b="1" dirty="0">
                <a:latin typeface="Consolas" panose="020B0609020204030204" pitchFamily="49" charset="0"/>
              </a:rPr>
              <a:t>  router-id Loopback 0</a:t>
            </a:r>
          </a:p>
          <a:p>
            <a:r>
              <a:rPr lang="en-US" dirty="0">
                <a:latin typeface="Consolas" panose="020B0609020204030204" pitchFamily="49" charset="0"/>
              </a:rPr>
              <a:t>interface </a:t>
            </a:r>
            <a:r>
              <a:rPr lang="en-US" dirty="0" err="1">
                <a:latin typeface="Consolas" panose="020B0609020204030204" pitchFamily="49" charset="0"/>
              </a:rPr>
              <a:t>Loopback0</a:t>
            </a:r>
            <a:endParaRPr lang="en-US" dirty="0">
              <a:latin typeface="Consolas" panose="020B0609020204030204" pitchFamily="49" charset="0"/>
            </a:endParaRPr>
          </a:p>
          <a:p>
            <a:r>
              <a:rPr lang="en-US" dirty="0">
                <a:latin typeface="Consolas" panose="020B0609020204030204" pitchFamily="49" charset="0"/>
              </a:rPr>
              <a:t> passive</a:t>
            </a:r>
          </a:p>
          <a:p>
            <a:r>
              <a:rPr lang="en-US" dirty="0">
                <a:latin typeface="Consolas" panose="020B0609020204030204" pitchFamily="49" charset="0"/>
              </a:rPr>
              <a:t> </a:t>
            </a:r>
            <a:r>
              <a:rPr lang="en-US" b="1" dirty="0">
                <a:latin typeface="Consolas" panose="020B0609020204030204" pitchFamily="49" charset="0"/>
              </a:rPr>
              <a:t>address-family ipv6 unicast</a:t>
            </a:r>
          </a:p>
          <a:p>
            <a:r>
              <a:rPr lang="en-US" dirty="0">
                <a:latin typeface="Consolas" panose="020B0609020204030204" pitchFamily="49" charset="0"/>
              </a:rPr>
              <a:t>interface </a:t>
            </a:r>
            <a:r>
              <a:rPr lang="en-US" dirty="0" err="1">
                <a:latin typeface="Consolas" panose="020B0609020204030204" pitchFamily="49" charset="0"/>
              </a:rPr>
              <a:t>TenGigE</a:t>
            </a:r>
            <a:r>
              <a:rPr lang="en-US" dirty="0">
                <a:latin typeface="Consolas" panose="020B0609020204030204" pitchFamily="49" charset="0"/>
              </a:rPr>
              <a:t> 0/0/0/1</a:t>
            </a:r>
          </a:p>
          <a:p>
            <a:r>
              <a:rPr lang="en-US" dirty="0">
                <a:latin typeface="Consolas" panose="020B0609020204030204" pitchFamily="49" charset="0"/>
              </a:rPr>
              <a:t> circuit-type level-2-only</a:t>
            </a:r>
          </a:p>
          <a:p>
            <a:r>
              <a:rPr lang="en-US" dirty="0">
                <a:latin typeface="Consolas" panose="020B0609020204030204" pitchFamily="49" charset="0"/>
              </a:rPr>
              <a:t> point-to-point</a:t>
            </a:r>
          </a:p>
          <a:p>
            <a:r>
              <a:rPr lang="en-US" dirty="0">
                <a:latin typeface="Consolas" panose="020B0609020204030204" pitchFamily="49" charset="0"/>
              </a:rPr>
              <a:t> </a:t>
            </a:r>
            <a:r>
              <a:rPr lang="en-US" b="1" dirty="0">
                <a:latin typeface="Consolas" panose="020B0609020204030204" pitchFamily="49" charset="0"/>
              </a:rPr>
              <a:t>address-family ipv6 unicast</a:t>
            </a:r>
          </a:p>
        </p:txBody>
      </p:sp>
      <p:sp>
        <p:nvSpPr>
          <p:cNvPr id="2" name="Callout: Line 1">
            <a:extLst>
              <a:ext uri="{FF2B5EF4-FFF2-40B4-BE49-F238E27FC236}">
                <a16:creationId xmlns:a16="http://schemas.microsoft.com/office/drawing/2014/main" id="{10D4F843-B38D-871C-CC77-052CD87CB152}"/>
              </a:ext>
            </a:extLst>
          </p:cNvPr>
          <p:cNvSpPr/>
          <p:nvPr/>
        </p:nvSpPr>
        <p:spPr>
          <a:xfrm>
            <a:off x="6990735" y="788459"/>
            <a:ext cx="4935793" cy="339117"/>
          </a:xfrm>
          <a:prstGeom prst="borderCallout1">
            <a:avLst>
              <a:gd name="adj1" fmla="val 18750"/>
              <a:gd name="adj2" fmla="val -8333"/>
              <a:gd name="adj3" fmla="val 177013"/>
              <a:gd name="adj4" fmla="val -38476"/>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solidFill>
              </a:rPr>
              <a:t>Loopback IPv6 address - from "Locator space"</a:t>
            </a:r>
          </a:p>
        </p:txBody>
      </p:sp>
      <p:sp>
        <p:nvSpPr>
          <p:cNvPr id="3" name="Callout: Line 2">
            <a:extLst>
              <a:ext uri="{FF2B5EF4-FFF2-40B4-BE49-F238E27FC236}">
                <a16:creationId xmlns:a16="http://schemas.microsoft.com/office/drawing/2014/main" id="{CDFABA33-22B9-3A0C-8538-E2427A2F783C}"/>
              </a:ext>
            </a:extLst>
          </p:cNvPr>
          <p:cNvSpPr/>
          <p:nvPr/>
        </p:nvSpPr>
        <p:spPr>
          <a:xfrm>
            <a:off x="6990735" y="1533006"/>
            <a:ext cx="4935793" cy="339117"/>
          </a:xfrm>
          <a:prstGeom prst="borderCallout1">
            <a:avLst>
              <a:gd name="adj1" fmla="val 18750"/>
              <a:gd name="adj2" fmla="val -8333"/>
              <a:gd name="adj3" fmla="val 249498"/>
              <a:gd name="adj4" fmla="val -80907"/>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5"/>
                </a:solidFill>
              </a:rPr>
              <a:t>Link Local ONLY or public</a:t>
            </a:r>
          </a:p>
        </p:txBody>
      </p:sp>
      <p:sp>
        <p:nvSpPr>
          <p:cNvPr id="4" name="Callout: Line 3">
            <a:extLst>
              <a:ext uri="{FF2B5EF4-FFF2-40B4-BE49-F238E27FC236}">
                <a16:creationId xmlns:a16="http://schemas.microsoft.com/office/drawing/2014/main" id="{A0A6696E-05A9-FAA8-A636-456C91B342BD}"/>
              </a:ext>
            </a:extLst>
          </p:cNvPr>
          <p:cNvSpPr/>
          <p:nvPr/>
        </p:nvSpPr>
        <p:spPr>
          <a:xfrm>
            <a:off x="6990735" y="3025329"/>
            <a:ext cx="4935793" cy="626262"/>
          </a:xfrm>
          <a:prstGeom prst="borderCallout1">
            <a:avLst>
              <a:gd name="adj1" fmla="val 18750"/>
              <a:gd name="adj2" fmla="val -8333"/>
              <a:gd name="adj3" fmla="val 133938"/>
              <a:gd name="adj4" fmla="val -46844"/>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rPr>
              <a:t>Advertise all interconnecting link in </a:t>
            </a:r>
            <a:r>
              <a:rPr lang="en-US" dirty="0" err="1">
                <a:solidFill>
                  <a:schemeClr val="tx2"/>
                </a:solidFill>
              </a:rPr>
              <a:t>LSPDU</a:t>
            </a:r>
            <a:r>
              <a:rPr lang="en-US" dirty="0">
                <a:solidFill>
                  <a:schemeClr val="tx2"/>
                </a:solidFill>
              </a:rPr>
              <a:t> instead of only lowest cost link</a:t>
            </a:r>
          </a:p>
        </p:txBody>
      </p:sp>
      <p:sp>
        <p:nvSpPr>
          <p:cNvPr id="5" name="Callout: Line 4">
            <a:extLst>
              <a:ext uri="{FF2B5EF4-FFF2-40B4-BE49-F238E27FC236}">
                <a16:creationId xmlns:a16="http://schemas.microsoft.com/office/drawing/2014/main" id="{5AE1D061-B76E-3414-6678-4F8AEF0D1290}"/>
              </a:ext>
            </a:extLst>
          </p:cNvPr>
          <p:cNvSpPr/>
          <p:nvPr/>
        </p:nvSpPr>
        <p:spPr>
          <a:xfrm>
            <a:off x="6978889" y="2277553"/>
            <a:ext cx="4935793" cy="339117"/>
          </a:xfrm>
          <a:prstGeom prst="borderCallout1">
            <a:avLst>
              <a:gd name="adj1" fmla="val 18750"/>
              <a:gd name="adj2" fmla="val -8333"/>
              <a:gd name="adj3" fmla="val 292189"/>
              <a:gd name="adj4" fmla="val -42063"/>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IPv6 AF for ISIS</a:t>
            </a:r>
          </a:p>
        </p:txBody>
      </p:sp>
      <p:sp>
        <p:nvSpPr>
          <p:cNvPr id="9" name="Callout: Line 8">
            <a:extLst>
              <a:ext uri="{FF2B5EF4-FFF2-40B4-BE49-F238E27FC236}">
                <a16:creationId xmlns:a16="http://schemas.microsoft.com/office/drawing/2014/main" id="{A1BFE626-1FFC-9BDD-BCA1-2D58A029BCEC}"/>
              </a:ext>
            </a:extLst>
          </p:cNvPr>
          <p:cNvSpPr/>
          <p:nvPr/>
        </p:nvSpPr>
        <p:spPr>
          <a:xfrm>
            <a:off x="6990735" y="4060250"/>
            <a:ext cx="4935793" cy="339117"/>
          </a:xfrm>
          <a:prstGeom prst="borderCallout1">
            <a:avLst>
              <a:gd name="adj1" fmla="val 18750"/>
              <a:gd name="adj2" fmla="val -8333"/>
              <a:gd name="adj3" fmla="val 260295"/>
              <a:gd name="adj4" fmla="val -4664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IPv6 AF for every interface</a:t>
            </a:r>
          </a:p>
        </p:txBody>
      </p:sp>
      <p:sp>
        <p:nvSpPr>
          <p:cNvPr id="10" name="Callout: Line 9">
            <a:extLst>
              <a:ext uri="{FF2B5EF4-FFF2-40B4-BE49-F238E27FC236}">
                <a16:creationId xmlns:a16="http://schemas.microsoft.com/office/drawing/2014/main" id="{1505CB01-0F04-98B5-151F-E2A8B90E1ED7}"/>
              </a:ext>
            </a:extLst>
          </p:cNvPr>
          <p:cNvSpPr/>
          <p:nvPr/>
        </p:nvSpPr>
        <p:spPr>
          <a:xfrm>
            <a:off x="6990735" y="4804797"/>
            <a:ext cx="4935793" cy="339117"/>
          </a:xfrm>
          <a:prstGeom prst="borderCallout1">
            <a:avLst>
              <a:gd name="adj1" fmla="val 18750"/>
              <a:gd name="adj2" fmla="val -8333"/>
              <a:gd name="adj3" fmla="val 367572"/>
              <a:gd name="adj4" fmla="val -4644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IPv6 AF for every interface</a:t>
            </a:r>
          </a:p>
        </p:txBody>
      </p:sp>
    </p:spTree>
    <p:extLst>
      <p:ext uri="{BB962C8B-B14F-4D97-AF65-F5344CB8AC3E}">
        <p14:creationId xmlns:p14="http://schemas.microsoft.com/office/powerpoint/2010/main" val="260358177"/>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 Placeholder 53">
            <a:extLst>
              <a:ext uri="{FF2B5EF4-FFF2-40B4-BE49-F238E27FC236}">
                <a16:creationId xmlns:a16="http://schemas.microsoft.com/office/drawing/2014/main" id="{644DD39E-246C-C23C-7452-137473BA63D9}"/>
              </a:ext>
            </a:extLst>
          </p:cNvPr>
          <p:cNvSpPr>
            <a:spLocks noGrp="1"/>
          </p:cNvSpPr>
          <p:nvPr>
            <p:ph type="body" sz="quarter" idx="10"/>
          </p:nvPr>
        </p:nvSpPr>
        <p:spPr/>
        <p:txBody>
          <a:bodyPr/>
          <a:lstStyle/>
          <a:p>
            <a:r>
              <a:rPr lang="en-US" dirty="0"/>
              <a:t>enable </a:t>
            </a:r>
            <a:r>
              <a:rPr lang="en-US" dirty="0">
                <a:solidFill>
                  <a:schemeClr val="accent4">
                    <a:lumMod val="75000"/>
                  </a:schemeClr>
                </a:solidFill>
              </a:rPr>
              <a:t>SRv6 on PE</a:t>
            </a:r>
          </a:p>
        </p:txBody>
      </p:sp>
      <p:sp>
        <p:nvSpPr>
          <p:cNvPr id="3" name="Text Placeholder 2">
            <a:extLst>
              <a:ext uri="{FF2B5EF4-FFF2-40B4-BE49-F238E27FC236}">
                <a16:creationId xmlns:a16="http://schemas.microsoft.com/office/drawing/2014/main" id="{D468842C-E9AA-4882-EC44-4597C8EA2A45}"/>
              </a:ext>
            </a:extLst>
          </p:cNvPr>
          <p:cNvSpPr>
            <a:spLocks noGrp="1"/>
          </p:cNvSpPr>
          <p:nvPr>
            <p:ph type="body" sz="quarter" idx="11"/>
          </p:nvPr>
        </p:nvSpPr>
        <p:spPr>
          <a:xfrm>
            <a:off x="873918" y="12461"/>
            <a:ext cx="10444163" cy="773017"/>
          </a:xfrm>
        </p:spPr>
        <p:txBody>
          <a:bodyPr/>
          <a:lstStyle/>
          <a:p>
            <a:r>
              <a:rPr lang="en-US" dirty="0"/>
              <a:t>Step 2 - MPLS LDP to SRv6 migration </a:t>
            </a:r>
            <a:r>
              <a:rPr lang="en-US" dirty="0">
                <a:solidFill>
                  <a:schemeClr val="bg1">
                    <a:lumMod val="50000"/>
                  </a:schemeClr>
                </a:solidFill>
              </a:rPr>
              <a:t>- L3VPN</a:t>
            </a:r>
          </a:p>
        </p:txBody>
      </p:sp>
      <p:sp>
        <p:nvSpPr>
          <p:cNvPr id="8" name="Oval 7">
            <a:extLst>
              <a:ext uri="{FF2B5EF4-FFF2-40B4-BE49-F238E27FC236}">
                <a16:creationId xmlns:a16="http://schemas.microsoft.com/office/drawing/2014/main" id="{993A2A87-8EB9-6614-516E-A2CB823D3BFE}"/>
              </a:ext>
            </a:extLst>
          </p:cNvPr>
          <p:cNvSpPr/>
          <p:nvPr/>
        </p:nvSpPr>
        <p:spPr>
          <a:xfrm>
            <a:off x="2861187" y="2743878"/>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PE-1</a:t>
            </a:r>
          </a:p>
        </p:txBody>
      </p:sp>
      <p:sp>
        <p:nvSpPr>
          <p:cNvPr id="9" name="Oval 8">
            <a:extLst>
              <a:ext uri="{FF2B5EF4-FFF2-40B4-BE49-F238E27FC236}">
                <a16:creationId xmlns:a16="http://schemas.microsoft.com/office/drawing/2014/main" id="{DBB2B752-AE8F-9DC3-0D63-E500CBE67C94}"/>
              </a:ext>
            </a:extLst>
          </p:cNvPr>
          <p:cNvSpPr/>
          <p:nvPr/>
        </p:nvSpPr>
        <p:spPr>
          <a:xfrm>
            <a:off x="2625213" y="3050586"/>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E0851D-CFCC-8023-A043-3964DDC76594}"/>
              </a:ext>
            </a:extLst>
          </p:cNvPr>
          <p:cNvSpPr/>
          <p:nvPr/>
        </p:nvSpPr>
        <p:spPr>
          <a:xfrm>
            <a:off x="5225845" y="1461634"/>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P-2</a:t>
            </a:r>
          </a:p>
        </p:txBody>
      </p:sp>
      <p:sp>
        <p:nvSpPr>
          <p:cNvPr id="11" name="Oval 10">
            <a:extLst>
              <a:ext uri="{FF2B5EF4-FFF2-40B4-BE49-F238E27FC236}">
                <a16:creationId xmlns:a16="http://schemas.microsoft.com/office/drawing/2014/main" id="{341588A8-533B-B65D-2813-E637BE0322E3}"/>
              </a:ext>
            </a:extLst>
          </p:cNvPr>
          <p:cNvSpPr/>
          <p:nvPr/>
        </p:nvSpPr>
        <p:spPr>
          <a:xfrm>
            <a:off x="5225845"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P-3</a:t>
            </a:r>
          </a:p>
        </p:txBody>
      </p:sp>
      <p:sp>
        <p:nvSpPr>
          <p:cNvPr id="12" name="Oval 11">
            <a:extLst>
              <a:ext uri="{FF2B5EF4-FFF2-40B4-BE49-F238E27FC236}">
                <a16:creationId xmlns:a16="http://schemas.microsoft.com/office/drawing/2014/main" id="{88820713-3A40-9E92-5017-307E1BA5FCFB}"/>
              </a:ext>
            </a:extLst>
          </p:cNvPr>
          <p:cNvSpPr/>
          <p:nvPr/>
        </p:nvSpPr>
        <p:spPr>
          <a:xfrm>
            <a:off x="8091948" y="1461633"/>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PE-4</a:t>
            </a:r>
          </a:p>
        </p:txBody>
      </p:sp>
      <p:sp>
        <p:nvSpPr>
          <p:cNvPr id="13" name="Oval 12">
            <a:extLst>
              <a:ext uri="{FF2B5EF4-FFF2-40B4-BE49-F238E27FC236}">
                <a16:creationId xmlns:a16="http://schemas.microsoft.com/office/drawing/2014/main" id="{34EEF5FE-F3A6-1D78-CBD1-D19B71E84401}"/>
              </a:ext>
            </a:extLst>
          </p:cNvPr>
          <p:cNvSpPr/>
          <p:nvPr/>
        </p:nvSpPr>
        <p:spPr>
          <a:xfrm>
            <a:off x="8091948"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PE-5</a:t>
            </a:r>
          </a:p>
        </p:txBody>
      </p:sp>
      <p:sp>
        <p:nvSpPr>
          <p:cNvPr id="14" name="Oval 13">
            <a:extLst>
              <a:ext uri="{FF2B5EF4-FFF2-40B4-BE49-F238E27FC236}">
                <a16:creationId xmlns:a16="http://schemas.microsoft.com/office/drawing/2014/main" id="{A33A844A-10F7-FA25-02CA-BE1263DA1218}"/>
              </a:ext>
            </a:extLst>
          </p:cNvPr>
          <p:cNvSpPr/>
          <p:nvPr/>
        </p:nvSpPr>
        <p:spPr>
          <a:xfrm>
            <a:off x="6744928" y="5296213"/>
            <a:ext cx="1061884" cy="1072819"/>
          </a:xfrm>
          <a:prstGeom prst="ellipse">
            <a:avLst/>
          </a:prstGeom>
          <a:solidFill>
            <a:schemeClr val="accent3">
              <a:lumMod val="75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RRv4</a:t>
            </a:r>
            <a:endParaRPr lang="en-US" sz="1600" dirty="0"/>
          </a:p>
        </p:txBody>
      </p:sp>
      <p:grpSp>
        <p:nvGrpSpPr>
          <p:cNvPr id="19" name="Group 18">
            <a:extLst>
              <a:ext uri="{FF2B5EF4-FFF2-40B4-BE49-F238E27FC236}">
                <a16:creationId xmlns:a16="http://schemas.microsoft.com/office/drawing/2014/main" id="{59FB8967-3128-1A08-0574-4C0477666AC1}"/>
              </a:ext>
            </a:extLst>
          </p:cNvPr>
          <p:cNvGrpSpPr/>
          <p:nvPr/>
        </p:nvGrpSpPr>
        <p:grpSpPr>
          <a:xfrm>
            <a:off x="229906" y="1793224"/>
            <a:ext cx="1933191" cy="1412092"/>
            <a:chOff x="229906" y="1793224"/>
            <a:chExt cx="1933191" cy="1412092"/>
          </a:xfrm>
        </p:grpSpPr>
        <p:sp>
          <p:nvSpPr>
            <p:cNvPr id="17" name="TextBox 16">
              <a:extLst>
                <a:ext uri="{FF2B5EF4-FFF2-40B4-BE49-F238E27FC236}">
                  <a16:creationId xmlns:a16="http://schemas.microsoft.com/office/drawing/2014/main" id="{DCABD92B-4299-3F62-AB81-C71EAEFBC20B}"/>
                </a:ext>
              </a:extLst>
            </p:cNvPr>
            <p:cNvSpPr txBox="1"/>
            <p:nvPr/>
          </p:nvSpPr>
          <p:spPr>
            <a:xfrm>
              <a:off x="353961" y="1793224"/>
              <a:ext cx="1809136" cy="1412092"/>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effectLst/>
                  <a:uLnTx/>
                  <a:uFillTx/>
                  <a:latin typeface="Arial" panose="020B0604020202020204"/>
                  <a:ea typeface="+mn-ea"/>
                  <a:cs typeface="+mn-cs"/>
                </a:rPr>
                <a:t>VRF 3001</a:t>
              </a:r>
            </a:p>
            <a:p>
              <a: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pPr>
              <a:r>
                <a:rPr lang="en-US" sz="2000" dirty="0">
                  <a:latin typeface="Arial" panose="020B0604020202020204"/>
                </a:rPr>
                <a:t>full mesh</a:t>
              </a:r>
            </a:p>
            <a:p>
              <a:pPr marR="0" algn="l" defTabSz="914400" rtl="0" eaLnBrk="1" fontAlgn="auto" latinLnBrk="0" hangingPunct="1">
                <a:lnSpc>
                  <a:spcPct val="90000"/>
                </a:lnSpc>
                <a:spcBef>
                  <a:spcPts val="1000"/>
                </a:spcBef>
                <a:spcAft>
                  <a:spcPts val="0"/>
                </a:spcAft>
                <a:buClrTx/>
                <a:buSzTx/>
                <a:tabLst/>
              </a:pPr>
              <a:r>
                <a:rPr kumimoji="0" lang="en-US" sz="2000" i="0" u="none" strike="noStrike" kern="1200" cap="none" spc="0" normalizeH="0" baseline="0" noProof="0" dirty="0">
                  <a:ln>
                    <a:noFill/>
                  </a:ln>
                  <a:effectLst/>
                  <a:uLnTx/>
                  <a:uFillTx/>
                  <a:latin typeface="Arial" panose="020B0604020202020204"/>
                  <a:ea typeface="+mn-ea"/>
                  <a:cs typeface="+mn-cs"/>
                </a:rPr>
                <a:t>     MPLS VRF </a:t>
              </a:r>
            </a:p>
          </p:txBody>
        </p:sp>
        <p:sp>
          <p:nvSpPr>
            <p:cNvPr id="18" name="Oval 17">
              <a:extLst>
                <a:ext uri="{FF2B5EF4-FFF2-40B4-BE49-F238E27FC236}">
                  <a16:creationId xmlns:a16="http://schemas.microsoft.com/office/drawing/2014/main" id="{C5A9DFEF-4947-F2F1-A76D-8AC479436895}"/>
                </a:ext>
              </a:extLst>
            </p:cNvPr>
            <p:cNvSpPr/>
            <p:nvPr/>
          </p:nvSpPr>
          <p:spPr>
            <a:xfrm>
              <a:off x="229906" y="2583736"/>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 name="Oval 19">
            <a:extLst>
              <a:ext uri="{FF2B5EF4-FFF2-40B4-BE49-F238E27FC236}">
                <a16:creationId xmlns:a16="http://schemas.microsoft.com/office/drawing/2014/main" id="{F29B4790-86CB-3D33-D8AA-E7828F3315AA}"/>
              </a:ext>
            </a:extLst>
          </p:cNvPr>
          <p:cNvSpPr/>
          <p:nvPr/>
        </p:nvSpPr>
        <p:spPr>
          <a:xfrm>
            <a:off x="8917858" y="4427967"/>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F7ADD5B5-1DE1-9F97-8D34-DA0DCA03396A}"/>
              </a:ext>
            </a:extLst>
          </p:cNvPr>
          <p:cNvSpPr/>
          <p:nvPr/>
        </p:nvSpPr>
        <p:spPr>
          <a:xfrm>
            <a:off x="8917858" y="1768341"/>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6313A627-B0A9-C701-976E-3F14F76CF28D}"/>
              </a:ext>
            </a:extLst>
          </p:cNvPr>
          <p:cNvCxnSpPr>
            <a:stCxn id="10" idx="6"/>
            <a:endCxn id="12" idx="2"/>
          </p:cNvCxnSpPr>
          <p:nvPr/>
        </p:nvCxnSpPr>
        <p:spPr>
          <a:xfrm flipV="1">
            <a:off x="6287729" y="1998043"/>
            <a:ext cx="1804219" cy="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A7F45EA-CD46-5772-EAFD-4AAC01B7BFC8}"/>
              </a:ext>
            </a:extLst>
          </p:cNvPr>
          <p:cNvCxnSpPr>
            <a:cxnSpLocks/>
            <a:stCxn id="11" idx="7"/>
          </p:cNvCxnSpPr>
          <p:nvPr/>
        </p:nvCxnSpPr>
        <p:spPr>
          <a:xfrm flipV="1">
            <a:off x="6132220" y="2336659"/>
            <a:ext cx="2083535" cy="194171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E852CC6-3C63-30D9-93E0-B76FA8598344}"/>
              </a:ext>
            </a:extLst>
          </p:cNvPr>
          <p:cNvCxnSpPr>
            <a:cxnSpLocks/>
            <a:stCxn id="12" idx="4"/>
          </p:cNvCxnSpPr>
          <p:nvPr/>
        </p:nvCxnSpPr>
        <p:spPr>
          <a:xfrm>
            <a:off x="8622890" y="2534452"/>
            <a:ext cx="0" cy="1592852"/>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BDE2377-063B-01BF-3CB6-05F3FBF4C424}"/>
              </a:ext>
            </a:extLst>
          </p:cNvPr>
          <p:cNvCxnSpPr>
            <a:cxnSpLocks/>
            <a:stCxn id="11" idx="6"/>
            <a:endCxn id="13" idx="2"/>
          </p:cNvCxnSpPr>
          <p:nvPr/>
        </p:nvCxnSpPr>
        <p:spPr>
          <a:xfrm>
            <a:off x="6287729" y="4657669"/>
            <a:ext cx="1804219"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F49B32-4149-6A9F-D7CA-BABCA0E7A0A6}"/>
              </a:ext>
            </a:extLst>
          </p:cNvPr>
          <p:cNvCxnSpPr>
            <a:cxnSpLocks/>
            <a:stCxn id="10" idx="4"/>
            <a:endCxn id="11" idx="0"/>
          </p:cNvCxnSpPr>
          <p:nvPr/>
        </p:nvCxnSpPr>
        <p:spPr>
          <a:xfrm>
            <a:off x="5756787" y="2534453"/>
            <a:ext cx="0" cy="1586806"/>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FB43A74-B938-0C85-4049-B54CC5E87491}"/>
              </a:ext>
            </a:extLst>
          </p:cNvPr>
          <p:cNvCxnSpPr>
            <a:cxnSpLocks/>
            <a:endCxn id="11" idx="2"/>
          </p:cNvCxnSpPr>
          <p:nvPr/>
        </p:nvCxnSpPr>
        <p:spPr>
          <a:xfrm>
            <a:off x="3767562" y="3644526"/>
            <a:ext cx="1458283" cy="1013143"/>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9A3A119-7341-52D5-CD04-1C055CBC3D2C}"/>
              </a:ext>
            </a:extLst>
          </p:cNvPr>
          <p:cNvCxnSpPr>
            <a:cxnSpLocks/>
            <a:stCxn id="8" idx="7"/>
            <a:endCxn id="10" idx="2"/>
          </p:cNvCxnSpPr>
          <p:nvPr/>
        </p:nvCxnSpPr>
        <p:spPr>
          <a:xfrm flipV="1">
            <a:off x="3767562" y="1998044"/>
            <a:ext cx="1458283" cy="902945"/>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AA5A7C64-24D0-F310-9369-5EE60113D0DD}"/>
              </a:ext>
            </a:extLst>
          </p:cNvPr>
          <p:cNvSpPr txBox="1"/>
          <p:nvPr/>
        </p:nvSpPr>
        <p:spPr>
          <a:xfrm>
            <a:off x="2654461" y="3946135"/>
            <a:ext cx="1374465" cy="711533"/>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600" b="1" dirty="0">
                <a:solidFill>
                  <a:schemeClr val="accent4">
                    <a:lumMod val="75000"/>
                  </a:schemeClr>
                </a:solidFill>
                <a:latin typeface="Arial" panose="020B0604020202020204"/>
              </a:rPr>
              <a:t> + SRv6</a:t>
            </a:r>
            <a:endParaRPr kumimoji="0" lang="en-US" sz="1600" b="1" i="0" u="none" strike="noStrike" kern="1200" cap="none" spc="0" normalizeH="0" baseline="0" noProof="0" dirty="0">
              <a:ln>
                <a:noFill/>
              </a:ln>
              <a:solidFill>
                <a:schemeClr val="tx1"/>
              </a:solidFill>
              <a:effectLst/>
              <a:uLnTx/>
              <a:uFillTx/>
              <a:latin typeface="Arial" panose="020B0604020202020204"/>
              <a:ea typeface="+mn-ea"/>
              <a:cs typeface="+mn-cs"/>
            </a:endParaRPr>
          </a:p>
        </p:txBody>
      </p:sp>
      <p:sp>
        <p:nvSpPr>
          <p:cNvPr id="49" name="TextBox 48">
            <a:extLst>
              <a:ext uri="{FF2B5EF4-FFF2-40B4-BE49-F238E27FC236}">
                <a16:creationId xmlns:a16="http://schemas.microsoft.com/office/drawing/2014/main" id="{EB9FF396-0612-A9EE-123E-7055BFAED65E}"/>
              </a:ext>
            </a:extLst>
          </p:cNvPr>
          <p:cNvSpPr txBox="1"/>
          <p:nvPr/>
        </p:nvSpPr>
        <p:spPr>
          <a:xfrm>
            <a:off x="6588637" y="6372412"/>
            <a:ext cx="1374465"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endPar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endParaRPr>
          </a:p>
        </p:txBody>
      </p:sp>
      <p:cxnSp>
        <p:nvCxnSpPr>
          <p:cNvPr id="50" name="Straight Connector 49">
            <a:extLst>
              <a:ext uri="{FF2B5EF4-FFF2-40B4-BE49-F238E27FC236}">
                <a16:creationId xmlns:a16="http://schemas.microsoft.com/office/drawing/2014/main" id="{32AC3523-6F39-6CDD-5466-A394276895B0}"/>
              </a:ext>
            </a:extLst>
          </p:cNvPr>
          <p:cNvCxnSpPr>
            <a:cxnSpLocks/>
            <a:stCxn id="11" idx="5"/>
            <a:endCxn id="14" idx="1"/>
          </p:cNvCxnSpPr>
          <p:nvPr/>
        </p:nvCxnSpPr>
        <p:spPr>
          <a:xfrm>
            <a:off x="6132220" y="5036967"/>
            <a:ext cx="768217" cy="41635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1317F25D-B41D-CAAF-FCB6-1D3F49BE56B5}"/>
              </a:ext>
            </a:extLst>
          </p:cNvPr>
          <p:cNvSpPr txBox="1"/>
          <p:nvPr/>
        </p:nvSpPr>
        <p:spPr>
          <a:xfrm>
            <a:off x="1487018" y="3116372"/>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10.2.3.0/24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56" name="TextBox 55">
            <a:extLst>
              <a:ext uri="{FF2B5EF4-FFF2-40B4-BE49-F238E27FC236}">
                <a16:creationId xmlns:a16="http://schemas.microsoft.com/office/drawing/2014/main" id="{71597BD8-BA18-4458-65C4-EDF32B89A616}"/>
              </a:ext>
            </a:extLst>
          </p:cNvPr>
          <p:cNvSpPr txBox="1"/>
          <p:nvPr/>
        </p:nvSpPr>
        <p:spPr>
          <a:xfrm>
            <a:off x="9325819" y="4516166"/>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10.0.5.0/24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57" name="TextBox 56">
            <a:extLst>
              <a:ext uri="{FF2B5EF4-FFF2-40B4-BE49-F238E27FC236}">
                <a16:creationId xmlns:a16="http://schemas.microsoft.com/office/drawing/2014/main" id="{C4C859B2-6579-BA7E-74D3-8AC6D6CF78EA}"/>
              </a:ext>
            </a:extLst>
          </p:cNvPr>
          <p:cNvSpPr txBox="1"/>
          <p:nvPr/>
        </p:nvSpPr>
        <p:spPr>
          <a:xfrm>
            <a:off x="9325819" y="1844704"/>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10.0.4.0/24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5C26D65D-05EF-FF2F-EBB6-12EF5D9AEE7B}"/>
              </a:ext>
            </a:extLst>
          </p:cNvPr>
          <p:cNvSpPr txBox="1"/>
          <p:nvPr/>
        </p:nvSpPr>
        <p:spPr>
          <a:xfrm>
            <a:off x="5064109" y="5286376"/>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4" name="TextBox 3">
            <a:extLst>
              <a:ext uri="{FF2B5EF4-FFF2-40B4-BE49-F238E27FC236}">
                <a16:creationId xmlns:a16="http://schemas.microsoft.com/office/drawing/2014/main" id="{D9AA12F4-1770-F159-C6DB-8E028F5D9759}"/>
              </a:ext>
            </a:extLst>
          </p:cNvPr>
          <p:cNvSpPr txBox="1"/>
          <p:nvPr/>
        </p:nvSpPr>
        <p:spPr>
          <a:xfrm>
            <a:off x="5132763" y="949213"/>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5" name="TextBox 4">
            <a:extLst>
              <a:ext uri="{FF2B5EF4-FFF2-40B4-BE49-F238E27FC236}">
                <a16:creationId xmlns:a16="http://schemas.microsoft.com/office/drawing/2014/main" id="{F20EC0DB-1B35-01BD-1164-A60ADEB8EA97}"/>
              </a:ext>
            </a:extLst>
          </p:cNvPr>
          <p:cNvSpPr txBox="1"/>
          <p:nvPr/>
        </p:nvSpPr>
        <p:spPr>
          <a:xfrm>
            <a:off x="7935657" y="95957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r>
              <a:rPr lang="en-US" sz="1600" dirty="0">
                <a:latin typeface="Arial" panose="020B0604020202020204"/>
              </a:rPr>
              <a:t> </a:t>
            </a:r>
            <a:r>
              <a:rPr kumimoji="0" lang="en-US" b="1"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SRv6</a:t>
            </a:r>
            <a:endParaRPr kumimoji="0" lang="en-US" sz="1600" b="1" i="0" u="none" strike="noStrike" kern="1200" cap="none" spc="0" normalizeH="0" baseline="0" noProof="0" dirty="0">
              <a:ln>
                <a:noFill/>
              </a:ln>
              <a:solidFill>
                <a:schemeClr val="tx1"/>
              </a:solidFill>
              <a:effectLst/>
              <a:uLnTx/>
              <a:uFillTx/>
              <a:latin typeface="Arial" panose="020B0604020202020204"/>
              <a:ea typeface="+mn-ea"/>
              <a:cs typeface="+mn-cs"/>
            </a:endParaRPr>
          </a:p>
        </p:txBody>
      </p:sp>
      <p:sp>
        <p:nvSpPr>
          <p:cNvPr id="6" name="TextBox 5">
            <a:extLst>
              <a:ext uri="{FF2B5EF4-FFF2-40B4-BE49-F238E27FC236}">
                <a16:creationId xmlns:a16="http://schemas.microsoft.com/office/drawing/2014/main" id="{C92528FF-DFC8-807F-35EC-6AEB2901F35D}"/>
              </a:ext>
            </a:extLst>
          </p:cNvPr>
          <p:cNvSpPr txBox="1"/>
          <p:nvPr/>
        </p:nvSpPr>
        <p:spPr>
          <a:xfrm>
            <a:off x="8015341" y="526693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Tree>
    <p:extLst>
      <p:ext uri="{BB962C8B-B14F-4D97-AF65-F5344CB8AC3E}">
        <p14:creationId xmlns:p14="http://schemas.microsoft.com/office/powerpoint/2010/main" val="1429480200"/>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0C4DE83-9298-809E-261F-86F4D10717BC}"/>
              </a:ext>
            </a:extLst>
          </p:cNvPr>
          <p:cNvSpPr>
            <a:spLocks noGrp="1"/>
          </p:cNvSpPr>
          <p:nvPr>
            <p:ph type="body" sz="quarter" idx="10"/>
          </p:nvPr>
        </p:nvSpPr>
        <p:spPr/>
        <p:txBody>
          <a:bodyPr/>
          <a:lstStyle/>
          <a:p>
            <a:endParaRPr lang="en-US" dirty="0"/>
          </a:p>
        </p:txBody>
      </p:sp>
      <p:sp>
        <p:nvSpPr>
          <p:cNvPr id="7" name="Text Placeholder 6">
            <a:extLst>
              <a:ext uri="{FF2B5EF4-FFF2-40B4-BE49-F238E27FC236}">
                <a16:creationId xmlns:a16="http://schemas.microsoft.com/office/drawing/2014/main" id="{6B0DEB13-3EF7-67DA-5148-FF05E855D34F}"/>
              </a:ext>
            </a:extLst>
          </p:cNvPr>
          <p:cNvSpPr>
            <a:spLocks noGrp="1"/>
          </p:cNvSpPr>
          <p:nvPr>
            <p:ph type="body" sz="quarter" idx="11"/>
          </p:nvPr>
        </p:nvSpPr>
        <p:spPr/>
        <p:txBody>
          <a:bodyPr/>
          <a:lstStyle/>
          <a:p>
            <a:r>
              <a:rPr lang="en-US" dirty="0"/>
              <a:t>Enable SRv6</a:t>
            </a:r>
          </a:p>
        </p:txBody>
      </p:sp>
      <p:sp>
        <p:nvSpPr>
          <p:cNvPr id="8" name="Rectangle 7">
            <a:extLst>
              <a:ext uri="{FF2B5EF4-FFF2-40B4-BE49-F238E27FC236}">
                <a16:creationId xmlns:a16="http://schemas.microsoft.com/office/drawing/2014/main" id="{D22F8B01-6D02-D13E-6456-8B9B4FC1AEA8}"/>
              </a:ext>
            </a:extLst>
          </p:cNvPr>
          <p:cNvSpPr/>
          <p:nvPr/>
        </p:nvSpPr>
        <p:spPr>
          <a:xfrm>
            <a:off x="1089192" y="1443841"/>
            <a:ext cx="6486305" cy="4093428"/>
          </a:xfrm>
          <a:prstGeom prst="rect">
            <a:avLst/>
          </a:prstGeom>
          <a:solidFill>
            <a:schemeClr val="bg1">
              <a:lumMod val="95000"/>
            </a:schemeClr>
          </a:solidFill>
          <a:ln>
            <a:solidFill>
              <a:schemeClr val="tx1"/>
            </a:solidFill>
          </a:ln>
          <a:effectLst/>
        </p:spPr>
        <p:txBody>
          <a:bodyPr wrap="square">
            <a:spAutoFit/>
          </a:bodyPr>
          <a:lstStyle/>
          <a:p>
            <a:r>
              <a:rPr lang="en-US" sz="2000" dirty="0">
                <a:latin typeface="Consolas" panose="020B0609020204030204" pitchFamily="49" charset="0"/>
              </a:rPr>
              <a:t>segment-routing</a:t>
            </a:r>
          </a:p>
          <a:p>
            <a:r>
              <a:rPr lang="en-US" sz="2000" dirty="0">
                <a:latin typeface="Consolas" panose="020B0609020204030204" pitchFamily="49" charset="0"/>
              </a:rPr>
              <a:t> </a:t>
            </a:r>
            <a:r>
              <a:rPr lang="en-US" sz="2000" dirty="0" err="1">
                <a:latin typeface="Consolas" panose="020B0609020204030204" pitchFamily="49" charset="0"/>
              </a:rPr>
              <a:t>srv6</a:t>
            </a:r>
            <a:endParaRPr lang="en-US" sz="2000" dirty="0">
              <a:latin typeface="Consolas" panose="020B0609020204030204" pitchFamily="49" charset="0"/>
            </a:endParaRPr>
          </a:p>
          <a:p>
            <a:r>
              <a:rPr lang="en-US" sz="2000" dirty="0">
                <a:latin typeface="Consolas" panose="020B0609020204030204" pitchFamily="49" charset="0"/>
              </a:rPr>
              <a:t>  encapsulation</a:t>
            </a:r>
          </a:p>
          <a:p>
            <a:r>
              <a:rPr lang="en-US" sz="2000" dirty="0">
                <a:latin typeface="Consolas" panose="020B0609020204030204" pitchFamily="49" charset="0"/>
              </a:rPr>
              <a:t>   source-address </a:t>
            </a:r>
            <a:r>
              <a:rPr lang="en-US" sz="2000" dirty="0" err="1">
                <a:solidFill>
                  <a:schemeClr val="accent6"/>
                </a:solidFill>
                <a:latin typeface="Consolas" panose="020B0609020204030204" pitchFamily="49" charset="0"/>
              </a:rPr>
              <a:t>fcbb:bb00:2</a:t>
            </a:r>
            <a:r>
              <a:rPr lang="en-US" sz="2000" dirty="0">
                <a:solidFill>
                  <a:schemeClr val="accent6"/>
                </a:solidFill>
                <a:latin typeface="Consolas" panose="020B0609020204030204" pitchFamily="49" charset="0"/>
              </a:rPr>
              <a:t>::1/128</a:t>
            </a:r>
            <a:endParaRPr lang="en-US" sz="2000" dirty="0">
              <a:latin typeface="Consolas" panose="020B0609020204030204" pitchFamily="49" charset="0"/>
            </a:endParaRPr>
          </a:p>
          <a:p>
            <a:r>
              <a:rPr lang="en-US" sz="2000" dirty="0">
                <a:latin typeface="Consolas" panose="020B0609020204030204" pitchFamily="49" charset="0"/>
              </a:rPr>
              <a:t>  locators</a:t>
            </a:r>
          </a:p>
          <a:p>
            <a:r>
              <a:rPr lang="en-US" sz="2000" dirty="0">
                <a:latin typeface="Consolas" panose="020B0609020204030204" pitchFamily="49" charset="0"/>
              </a:rPr>
              <a:t>   locator </a:t>
            </a:r>
            <a:r>
              <a:rPr lang="en-US" sz="2000" b="1" dirty="0">
                <a:solidFill>
                  <a:srgbClr val="00B050"/>
                </a:solidFill>
                <a:latin typeface="Consolas" panose="020B0609020204030204" pitchFamily="49" charset="0"/>
              </a:rPr>
              <a:t>MAIN</a:t>
            </a:r>
          </a:p>
          <a:p>
            <a:r>
              <a:rPr lang="en-US" sz="2000" dirty="0">
                <a:latin typeface="Consolas" panose="020B0609020204030204" pitchFamily="49" charset="0"/>
              </a:rPr>
              <a:t>   micro-segment behavior </a:t>
            </a:r>
            <a:r>
              <a:rPr lang="en-US" sz="2000" dirty="0" err="1">
                <a:latin typeface="Consolas" panose="020B0609020204030204" pitchFamily="49" charset="0"/>
              </a:rPr>
              <a:t>unode</a:t>
            </a:r>
            <a:r>
              <a:rPr lang="en-US" sz="2000" dirty="0">
                <a:latin typeface="Consolas" panose="020B0609020204030204" pitchFamily="49" charset="0"/>
              </a:rPr>
              <a:t> </a:t>
            </a:r>
            <a:r>
              <a:rPr lang="en-US" sz="2000" dirty="0" err="1">
                <a:latin typeface="Consolas" panose="020B0609020204030204" pitchFamily="49" charset="0"/>
              </a:rPr>
              <a:t>psp-usd</a:t>
            </a:r>
            <a:endParaRPr lang="en-US" sz="2000" dirty="0">
              <a:latin typeface="Consolas" panose="020B0609020204030204" pitchFamily="49" charset="0"/>
            </a:endParaRPr>
          </a:p>
          <a:p>
            <a:r>
              <a:rPr lang="en-US" sz="2000" dirty="0">
                <a:latin typeface="Consolas" panose="020B0609020204030204" pitchFamily="49" charset="0"/>
              </a:rPr>
              <a:t>   prefix </a:t>
            </a:r>
            <a:r>
              <a:rPr lang="en-US" sz="2000" dirty="0" err="1">
                <a:solidFill>
                  <a:srgbClr val="00B050"/>
                </a:solidFill>
                <a:highlight>
                  <a:srgbClr val="FFFF00"/>
                </a:highlight>
                <a:latin typeface="Consolas" panose="020B0609020204030204" pitchFamily="49" charset="0"/>
              </a:rPr>
              <a:t>fcbb:bb00:2</a:t>
            </a:r>
            <a:r>
              <a:rPr lang="en-US" sz="2000" dirty="0">
                <a:solidFill>
                  <a:srgbClr val="00B050"/>
                </a:solidFill>
                <a:highlight>
                  <a:srgbClr val="FFFF00"/>
                </a:highlight>
                <a:latin typeface="Consolas" panose="020B0609020204030204" pitchFamily="49" charset="0"/>
              </a:rPr>
              <a:t>::/48</a:t>
            </a:r>
          </a:p>
          <a:p>
            <a:r>
              <a:rPr lang="en-US" sz="2000" b="1" dirty="0">
                <a:latin typeface="Consolas" panose="020B0609020204030204" pitchFamily="49" charset="0"/>
              </a:rPr>
              <a:t>!</a:t>
            </a:r>
          </a:p>
          <a:p>
            <a:r>
              <a:rPr lang="en-US" sz="2000" dirty="0">
                <a:latin typeface="Consolas" panose="020B0609020204030204" pitchFamily="49" charset="0"/>
              </a:rPr>
              <a:t>router isis 1</a:t>
            </a:r>
          </a:p>
          <a:p>
            <a:r>
              <a:rPr lang="en-US" sz="2000" dirty="0">
                <a:latin typeface="Consolas" panose="020B0609020204030204" pitchFamily="49" charset="0"/>
              </a:rPr>
              <a:t> address-family ipv6 unicast</a:t>
            </a:r>
          </a:p>
          <a:p>
            <a:r>
              <a:rPr lang="en-US" sz="2000" dirty="0">
                <a:latin typeface="Consolas" panose="020B0609020204030204" pitchFamily="49" charset="0"/>
              </a:rPr>
              <a:t>  segment-routing </a:t>
            </a:r>
            <a:r>
              <a:rPr lang="en-US" sz="2000" dirty="0" err="1">
                <a:latin typeface="Consolas" panose="020B0609020204030204" pitchFamily="49" charset="0"/>
              </a:rPr>
              <a:t>srv6</a:t>
            </a:r>
            <a:endParaRPr lang="en-US" sz="2000" dirty="0">
              <a:latin typeface="Consolas" panose="020B0609020204030204" pitchFamily="49" charset="0"/>
            </a:endParaRPr>
          </a:p>
          <a:p>
            <a:r>
              <a:rPr lang="en-US" sz="2000" dirty="0">
                <a:latin typeface="Consolas" panose="020B0609020204030204" pitchFamily="49" charset="0"/>
              </a:rPr>
              <a:t>   locator </a:t>
            </a:r>
            <a:r>
              <a:rPr lang="en-US" sz="2000" dirty="0">
                <a:solidFill>
                  <a:srgbClr val="00B050"/>
                </a:solidFill>
                <a:latin typeface="Consolas" panose="020B0609020204030204" pitchFamily="49" charset="0"/>
              </a:rPr>
              <a:t>MAIN</a:t>
            </a:r>
          </a:p>
        </p:txBody>
      </p:sp>
      <p:sp>
        <p:nvSpPr>
          <p:cNvPr id="2" name="Callout: Line 1">
            <a:extLst>
              <a:ext uri="{FF2B5EF4-FFF2-40B4-BE49-F238E27FC236}">
                <a16:creationId xmlns:a16="http://schemas.microsoft.com/office/drawing/2014/main" id="{10D4F843-B38D-871C-CC77-052CD87CB152}"/>
              </a:ext>
            </a:extLst>
          </p:cNvPr>
          <p:cNvSpPr/>
          <p:nvPr/>
        </p:nvSpPr>
        <p:spPr>
          <a:xfrm>
            <a:off x="6990733" y="3031282"/>
            <a:ext cx="4935793" cy="339117"/>
          </a:xfrm>
          <a:prstGeom prst="borderCallout1">
            <a:avLst>
              <a:gd name="adj1" fmla="val 18750"/>
              <a:gd name="adj2" fmla="val -8333"/>
              <a:gd name="adj3" fmla="val 34943"/>
              <a:gd name="adj4" fmla="val -73337"/>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00B050"/>
                </a:solidFill>
              </a:rPr>
              <a:t>Locator definition </a:t>
            </a:r>
            <a:r>
              <a:rPr lang="en-US" dirty="0">
                <a:solidFill>
                  <a:schemeClr val="tx1"/>
                </a:solidFill>
              </a:rPr>
              <a:t>+ use </a:t>
            </a:r>
            <a:r>
              <a:rPr lang="en-US" dirty="0" err="1">
                <a:solidFill>
                  <a:schemeClr val="tx1"/>
                </a:solidFill>
              </a:rPr>
              <a:t>uSID</a:t>
            </a:r>
            <a:r>
              <a:rPr lang="en-US" dirty="0">
                <a:solidFill>
                  <a:schemeClr val="tx1"/>
                </a:solidFill>
              </a:rPr>
              <a:t> format</a:t>
            </a:r>
          </a:p>
        </p:txBody>
      </p:sp>
      <p:sp>
        <p:nvSpPr>
          <p:cNvPr id="9" name="Callout: Line 8">
            <a:extLst>
              <a:ext uri="{FF2B5EF4-FFF2-40B4-BE49-F238E27FC236}">
                <a16:creationId xmlns:a16="http://schemas.microsoft.com/office/drawing/2014/main" id="{81E6BEDC-A52D-70D2-A0ED-39191BCC2246}"/>
              </a:ext>
            </a:extLst>
          </p:cNvPr>
          <p:cNvSpPr/>
          <p:nvPr/>
        </p:nvSpPr>
        <p:spPr>
          <a:xfrm>
            <a:off x="6990733" y="3593021"/>
            <a:ext cx="4935793" cy="339117"/>
          </a:xfrm>
          <a:prstGeom prst="borderCallout1">
            <a:avLst>
              <a:gd name="adj1" fmla="val 18750"/>
              <a:gd name="adj2" fmla="val -8333"/>
              <a:gd name="adj3" fmla="val 61038"/>
              <a:gd name="adj4" fmla="val -41862"/>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00B050"/>
                </a:solidFill>
              </a:rPr>
              <a:t>Locator </a:t>
            </a:r>
            <a:r>
              <a:rPr lang="en-US" dirty="0">
                <a:solidFill>
                  <a:srgbClr val="00B050"/>
                </a:solidFill>
                <a:highlight>
                  <a:srgbClr val="FFFF00"/>
                </a:highlight>
              </a:rPr>
              <a:t>value</a:t>
            </a:r>
          </a:p>
        </p:txBody>
      </p:sp>
      <p:sp>
        <p:nvSpPr>
          <p:cNvPr id="10" name="Callout: Line 9">
            <a:extLst>
              <a:ext uri="{FF2B5EF4-FFF2-40B4-BE49-F238E27FC236}">
                <a16:creationId xmlns:a16="http://schemas.microsoft.com/office/drawing/2014/main" id="{32621178-4F84-0559-24B6-7B344D9AFE07}"/>
              </a:ext>
            </a:extLst>
          </p:cNvPr>
          <p:cNvSpPr/>
          <p:nvPr/>
        </p:nvSpPr>
        <p:spPr>
          <a:xfrm>
            <a:off x="6990733" y="4154760"/>
            <a:ext cx="4935793" cy="339117"/>
          </a:xfrm>
          <a:prstGeom prst="borderCallout1">
            <a:avLst>
              <a:gd name="adj1" fmla="val 18750"/>
              <a:gd name="adj2" fmla="val -8333"/>
              <a:gd name="adj3" fmla="val 252398"/>
              <a:gd name="adj4" fmla="val -52619"/>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enable SRv6 </a:t>
            </a:r>
            <a:r>
              <a:rPr lang="en-US" dirty="0">
                <a:solidFill>
                  <a:srgbClr val="00B050"/>
                </a:solidFill>
              </a:rPr>
              <a:t>+ Advertise Locator</a:t>
            </a:r>
            <a:endParaRPr lang="en-US" dirty="0">
              <a:solidFill>
                <a:srgbClr val="00B050"/>
              </a:solidFill>
              <a:highlight>
                <a:srgbClr val="FFFF00"/>
              </a:highlight>
            </a:endParaRPr>
          </a:p>
        </p:txBody>
      </p:sp>
      <p:sp>
        <p:nvSpPr>
          <p:cNvPr id="11" name="Callout: Line 10">
            <a:extLst>
              <a:ext uri="{FF2B5EF4-FFF2-40B4-BE49-F238E27FC236}">
                <a16:creationId xmlns:a16="http://schemas.microsoft.com/office/drawing/2014/main" id="{FE98D29F-C2AE-87DC-6A92-89C041E412DE}"/>
              </a:ext>
            </a:extLst>
          </p:cNvPr>
          <p:cNvSpPr/>
          <p:nvPr/>
        </p:nvSpPr>
        <p:spPr>
          <a:xfrm>
            <a:off x="6990733" y="2469544"/>
            <a:ext cx="4935793" cy="339117"/>
          </a:xfrm>
          <a:prstGeom prst="borderCallout1">
            <a:avLst>
              <a:gd name="adj1" fmla="val 18750"/>
              <a:gd name="adj2" fmla="val -8333"/>
              <a:gd name="adj3" fmla="val 29145"/>
              <a:gd name="adj4" fmla="val -14373"/>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solidFill>
              </a:rPr>
              <a:t>source address for IPv6</a:t>
            </a:r>
          </a:p>
        </p:txBody>
      </p:sp>
    </p:spTree>
    <p:extLst>
      <p:ext uri="{BB962C8B-B14F-4D97-AF65-F5344CB8AC3E}">
        <p14:creationId xmlns:p14="http://schemas.microsoft.com/office/powerpoint/2010/main" val="3734995416"/>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 Placeholder 53">
            <a:extLst>
              <a:ext uri="{FF2B5EF4-FFF2-40B4-BE49-F238E27FC236}">
                <a16:creationId xmlns:a16="http://schemas.microsoft.com/office/drawing/2014/main" id="{644DD39E-246C-C23C-7452-137473BA63D9}"/>
              </a:ext>
            </a:extLst>
          </p:cNvPr>
          <p:cNvSpPr>
            <a:spLocks noGrp="1"/>
          </p:cNvSpPr>
          <p:nvPr>
            <p:ph type="body" sz="quarter" idx="10"/>
          </p:nvPr>
        </p:nvSpPr>
        <p:spPr/>
        <p:txBody>
          <a:bodyPr/>
          <a:lstStyle/>
          <a:p>
            <a:r>
              <a:rPr lang="en-US" dirty="0"/>
              <a:t>add </a:t>
            </a:r>
            <a:r>
              <a:rPr lang="en-US" dirty="0">
                <a:solidFill>
                  <a:schemeClr val="accent4">
                    <a:lumMod val="75000"/>
                  </a:schemeClr>
                </a:solidFill>
              </a:rPr>
              <a:t>RR for IPv6</a:t>
            </a:r>
          </a:p>
        </p:txBody>
      </p:sp>
      <p:sp>
        <p:nvSpPr>
          <p:cNvPr id="3" name="Text Placeholder 2">
            <a:extLst>
              <a:ext uri="{FF2B5EF4-FFF2-40B4-BE49-F238E27FC236}">
                <a16:creationId xmlns:a16="http://schemas.microsoft.com/office/drawing/2014/main" id="{D468842C-E9AA-4882-EC44-4597C8EA2A45}"/>
              </a:ext>
            </a:extLst>
          </p:cNvPr>
          <p:cNvSpPr>
            <a:spLocks noGrp="1"/>
          </p:cNvSpPr>
          <p:nvPr>
            <p:ph type="body" sz="quarter" idx="11"/>
          </p:nvPr>
        </p:nvSpPr>
        <p:spPr>
          <a:xfrm>
            <a:off x="873918" y="12461"/>
            <a:ext cx="10444163" cy="773017"/>
          </a:xfrm>
        </p:spPr>
        <p:txBody>
          <a:bodyPr/>
          <a:lstStyle/>
          <a:p>
            <a:r>
              <a:rPr lang="en-US" dirty="0"/>
              <a:t>Step 3 - MPLS LDP to SRv6 migration </a:t>
            </a:r>
            <a:r>
              <a:rPr lang="en-US" dirty="0">
                <a:solidFill>
                  <a:schemeClr val="bg1">
                    <a:lumMod val="50000"/>
                  </a:schemeClr>
                </a:solidFill>
              </a:rPr>
              <a:t>- L3VPN</a:t>
            </a:r>
          </a:p>
        </p:txBody>
      </p:sp>
      <p:sp>
        <p:nvSpPr>
          <p:cNvPr id="8" name="Oval 7">
            <a:extLst>
              <a:ext uri="{FF2B5EF4-FFF2-40B4-BE49-F238E27FC236}">
                <a16:creationId xmlns:a16="http://schemas.microsoft.com/office/drawing/2014/main" id="{993A2A87-8EB9-6614-516E-A2CB823D3BFE}"/>
              </a:ext>
            </a:extLst>
          </p:cNvPr>
          <p:cNvSpPr/>
          <p:nvPr/>
        </p:nvSpPr>
        <p:spPr>
          <a:xfrm>
            <a:off x="2861187" y="2743878"/>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PE-1</a:t>
            </a:r>
          </a:p>
        </p:txBody>
      </p:sp>
      <p:sp>
        <p:nvSpPr>
          <p:cNvPr id="9" name="Oval 8">
            <a:extLst>
              <a:ext uri="{FF2B5EF4-FFF2-40B4-BE49-F238E27FC236}">
                <a16:creationId xmlns:a16="http://schemas.microsoft.com/office/drawing/2014/main" id="{DBB2B752-AE8F-9DC3-0D63-E500CBE67C94}"/>
              </a:ext>
            </a:extLst>
          </p:cNvPr>
          <p:cNvSpPr/>
          <p:nvPr/>
        </p:nvSpPr>
        <p:spPr>
          <a:xfrm>
            <a:off x="2625213" y="3050586"/>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E0851D-CFCC-8023-A043-3964DDC76594}"/>
              </a:ext>
            </a:extLst>
          </p:cNvPr>
          <p:cNvSpPr/>
          <p:nvPr/>
        </p:nvSpPr>
        <p:spPr>
          <a:xfrm>
            <a:off x="5225845" y="1461634"/>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P-2</a:t>
            </a:r>
          </a:p>
        </p:txBody>
      </p:sp>
      <p:sp>
        <p:nvSpPr>
          <p:cNvPr id="11" name="Oval 10">
            <a:extLst>
              <a:ext uri="{FF2B5EF4-FFF2-40B4-BE49-F238E27FC236}">
                <a16:creationId xmlns:a16="http://schemas.microsoft.com/office/drawing/2014/main" id="{341588A8-533B-B65D-2813-E637BE0322E3}"/>
              </a:ext>
            </a:extLst>
          </p:cNvPr>
          <p:cNvSpPr/>
          <p:nvPr/>
        </p:nvSpPr>
        <p:spPr>
          <a:xfrm>
            <a:off x="5225845"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P-3</a:t>
            </a:r>
          </a:p>
        </p:txBody>
      </p:sp>
      <p:sp>
        <p:nvSpPr>
          <p:cNvPr id="12" name="Oval 11">
            <a:extLst>
              <a:ext uri="{FF2B5EF4-FFF2-40B4-BE49-F238E27FC236}">
                <a16:creationId xmlns:a16="http://schemas.microsoft.com/office/drawing/2014/main" id="{88820713-3A40-9E92-5017-307E1BA5FCFB}"/>
              </a:ext>
            </a:extLst>
          </p:cNvPr>
          <p:cNvSpPr/>
          <p:nvPr/>
        </p:nvSpPr>
        <p:spPr>
          <a:xfrm>
            <a:off x="8091948" y="1461633"/>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PE-4</a:t>
            </a:r>
          </a:p>
        </p:txBody>
      </p:sp>
      <p:sp>
        <p:nvSpPr>
          <p:cNvPr id="13" name="Oval 12">
            <a:extLst>
              <a:ext uri="{FF2B5EF4-FFF2-40B4-BE49-F238E27FC236}">
                <a16:creationId xmlns:a16="http://schemas.microsoft.com/office/drawing/2014/main" id="{34EEF5FE-F3A6-1D78-CBD1-D19B71E84401}"/>
              </a:ext>
            </a:extLst>
          </p:cNvPr>
          <p:cNvSpPr/>
          <p:nvPr/>
        </p:nvSpPr>
        <p:spPr>
          <a:xfrm>
            <a:off x="8091948"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PE-5</a:t>
            </a:r>
          </a:p>
        </p:txBody>
      </p:sp>
      <p:sp>
        <p:nvSpPr>
          <p:cNvPr id="14" name="Oval 13">
            <a:extLst>
              <a:ext uri="{FF2B5EF4-FFF2-40B4-BE49-F238E27FC236}">
                <a16:creationId xmlns:a16="http://schemas.microsoft.com/office/drawing/2014/main" id="{A33A844A-10F7-FA25-02CA-BE1263DA1218}"/>
              </a:ext>
            </a:extLst>
          </p:cNvPr>
          <p:cNvSpPr/>
          <p:nvPr/>
        </p:nvSpPr>
        <p:spPr>
          <a:xfrm>
            <a:off x="6744928" y="5296213"/>
            <a:ext cx="1061884" cy="1072819"/>
          </a:xfrm>
          <a:prstGeom prst="ellipse">
            <a:avLst/>
          </a:prstGeom>
          <a:solidFill>
            <a:schemeClr val="accent3">
              <a:lumMod val="75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RRv4</a:t>
            </a:r>
            <a:endParaRPr lang="en-US" sz="1600" dirty="0"/>
          </a:p>
        </p:txBody>
      </p:sp>
      <p:grpSp>
        <p:nvGrpSpPr>
          <p:cNvPr id="19" name="Group 18">
            <a:extLst>
              <a:ext uri="{FF2B5EF4-FFF2-40B4-BE49-F238E27FC236}">
                <a16:creationId xmlns:a16="http://schemas.microsoft.com/office/drawing/2014/main" id="{59FB8967-3128-1A08-0574-4C0477666AC1}"/>
              </a:ext>
            </a:extLst>
          </p:cNvPr>
          <p:cNvGrpSpPr/>
          <p:nvPr/>
        </p:nvGrpSpPr>
        <p:grpSpPr>
          <a:xfrm>
            <a:off x="229906" y="1793224"/>
            <a:ext cx="1933191" cy="1412092"/>
            <a:chOff x="229906" y="1793224"/>
            <a:chExt cx="1933191" cy="1412092"/>
          </a:xfrm>
        </p:grpSpPr>
        <p:sp>
          <p:nvSpPr>
            <p:cNvPr id="17" name="TextBox 16">
              <a:extLst>
                <a:ext uri="{FF2B5EF4-FFF2-40B4-BE49-F238E27FC236}">
                  <a16:creationId xmlns:a16="http://schemas.microsoft.com/office/drawing/2014/main" id="{DCABD92B-4299-3F62-AB81-C71EAEFBC20B}"/>
                </a:ext>
              </a:extLst>
            </p:cNvPr>
            <p:cNvSpPr txBox="1"/>
            <p:nvPr/>
          </p:nvSpPr>
          <p:spPr>
            <a:xfrm>
              <a:off x="353961" y="1793224"/>
              <a:ext cx="1809136" cy="1412092"/>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effectLst/>
                  <a:uLnTx/>
                  <a:uFillTx/>
                  <a:latin typeface="Arial" panose="020B0604020202020204"/>
                  <a:ea typeface="+mn-ea"/>
                  <a:cs typeface="+mn-cs"/>
                </a:rPr>
                <a:t>VRF 3001</a:t>
              </a:r>
            </a:p>
            <a:p>
              <a: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pPr>
              <a:r>
                <a:rPr lang="en-US" sz="2000" dirty="0">
                  <a:latin typeface="Arial" panose="020B0604020202020204"/>
                </a:rPr>
                <a:t>full mesh</a:t>
              </a:r>
            </a:p>
            <a:p>
              <a:pPr marR="0" algn="l" defTabSz="914400" rtl="0" eaLnBrk="1" fontAlgn="auto" latinLnBrk="0" hangingPunct="1">
                <a:lnSpc>
                  <a:spcPct val="90000"/>
                </a:lnSpc>
                <a:spcBef>
                  <a:spcPts val="1000"/>
                </a:spcBef>
                <a:spcAft>
                  <a:spcPts val="0"/>
                </a:spcAft>
                <a:buClrTx/>
                <a:buSzTx/>
                <a:tabLst/>
              </a:pPr>
              <a:r>
                <a:rPr kumimoji="0" lang="en-US" sz="2000" i="0" u="none" strike="noStrike" kern="1200" cap="none" spc="0" normalizeH="0" baseline="0" noProof="0" dirty="0">
                  <a:ln>
                    <a:noFill/>
                  </a:ln>
                  <a:effectLst/>
                  <a:uLnTx/>
                  <a:uFillTx/>
                  <a:latin typeface="Arial" panose="020B0604020202020204"/>
                  <a:ea typeface="+mn-ea"/>
                  <a:cs typeface="+mn-cs"/>
                </a:rPr>
                <a:t>     MPLS VRF </a:t>
              </a:r>
            </a:p>
          </p:txBody>
        </p:sp>
        <p:sp>
          <p:nvSpPr>
            <p:cNvPr id="18" name="Oval 17">
              <a:extLst>
                <a:ext uri="{FF2B5EF4-FFF2-40B4-BE49-F238E27FC236}">
                  <a16:creationId xmlns:a16="http://schemas.microsoft.com/office/drawing/2014/main" id="{C5A9DFEF-4947-F2F1-A76D-8AC479436895}"/>
                </a:ext>
              </a:extLst>
            </p:cNvPr>
            <p:cNvSpPr/>
            <p:nvPr/>
          </p:nvSpPr>
          <p:spPr>
            <a:xfrm>
              <a:off x="229906" y="2583736"/>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 name="Oval 19">
            <a:extLst>
              <a:ext uri="{FF2B5EF4-FFF2-40B4-BE49-F238E27FC236}">
                <a16:creationId xmlns:a16="http://schemas.microsoft.com/office/drawing/2014/main" id="{F29B4790-86CB-3D33-D8AA-E7828F3315AA}"/>
              </a:ext>
            </a:extLst>
          </p:cNvPr>
          <p:cNvSpPr/>
          <p:nvPr/>
        </p:nvSpPr>
        <p:spPr>
          <a:xfrm>
            <a:off x="8917858" y="4427967"/>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F7ADD5B5-1DE1-9F97-8D34-DA0DCA03396A}"/>
              </a:ext>
            </a:extLst>
          </p:cNvPr>
          <p:cNvSpPr/>
          <p:nvPr/>
        </p:nvSpPr>
        <p:spPr>
          <a:xfrm>
            <a:off x="8917858" y="1768341"/>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6313A627-B0A9-C701-976E-3F14F76CF28D}"/>
              </a:ext>
            </a:extLst>
          </p:cNvPr>
          <p:cNvCxnSpPr>
            <a:stCxn id="10" idx="6"/>
            <a:endCxn id="12" idx="2"/>
          </p:cNvCxnSpPr>
          <p:nvPr/>
        </p:nvCxnSpPr>
        <p:spPr>
          <a:xfrm flipV="1">
            <a:off x="6287729" y="1998043"/>
            <a:ext cx="1804219" cy="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A7F45EA-CD46-5772-EAFD-4AAC01B7BFC8}"/>
              </a:ext>
            </a:extLst>
          </p:cNvPr>
          <p:cNvCxnSpPr>
            <a:cxnSpLocks/>
            <a:stCxn id="11" idx="7"/>
          </p:cNvCxnSpPr>
          <p:nvPr/>
        </p:nvCxnSpPr>
        <p:spPr>
          <a:xfrm flipV="1">
            <a:off x="6132220" y="2336659"/>
            <a:ext cx="2083535" cy="194171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E852CC6-3C63-30D9-93E0-B76FA8598344}"/>
              </a:ext>
            </a:extLst>
          </p:cNvPr>
          <p:cNvCxnSpPr>
            <a:cxnSpLocks/>
            <a:stCxn id="12" idx="4"/>
          </p:cNvCxnSpPr>
          <p:nvPr/>
        </p:nvCxnSpPr>
        <p:spPr>
          <a:xfrm>
            <a:off x="8622890" y="2534452"/>
            <a:ext cx="0" cy="1592852"/>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BDE2377-063B-01BF-3CB6-05F3FBF4C424}"/>
              </a:ext>
            </a:extLst>
          </p:cNvPr>
          <p:cNvCxnSpPr>
            <a:cxnSpLocks/>
            <a:stCxn id="11" idx="6"/>
            <a:endCxn id="13" idx="2"/>
          </p:cNvCxnSpPr>
          <p:nvPr/>
        </p:nvCxnSpPr>
        <p:spPr>
          <a:xfrm>
            <a:off x="6287729" y="4657669"/>
            <a:ext cx="1804219"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F49B32-4149-6A9F-D7CA-BABCA0E7A0A6}"/>
              </a:ext>
            </a:extLst>
          </p:cNvPr>
          <p:cNvCxnSpPr>
            <a:cxnSpLocks/>
            <a:stCxn id="10" idx="4"/>
            <a:endCxn id="11" idx="0"/>
          </p:cNvCxnSpPr>
          <p:nvPr/>
        </p:nvCxnSpPr>
        <p:spPr>
          <a:xfrm>
            <a:off x="5756787" y="2534453"/>
            <a:ext cx="0" cy="1586806"/>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FB43A74-B938-0C85-4049-B54CC5E87491}"/>
              </a:ext>
            </a:extLst>
          </p:cNvPr>
          <p:cNvCxnSpPr>
            <a:cxnSpLocks/>
            <a:endCxn id="11" idx="2"/>
          </p:cNvCxnSpPr>
          <p:nvPr/>
        </p:nvCxnSpPr>
        <p:spPr>
          <a:xfrm>
            <a:off x="3767562" y="3644526"/>
            <a:ext cx="1458283" cy="1013143"/>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9A3A119-7341-52D5-CD04-1C055CBC3D2C}"/>
              </a:ext>
            </a:extLst>
          </p:cNvPr>
          <p:cNvCxnSpPr>
            <a:cxnSpLocks/>
            <a:stCxn id="8" idx="7"/>
            <a:endCxn id="10" idx="2"/>
          </p:cNvCxnSpPr>
          <p:nvPr/>
        </p:nvCxnSpPr>
        <p:spPr>
          <a:xfrm flipV="1">
            <a:off x="3767562" y="1998044"/>
            <a:ext cx="1458283" cy="902945"/>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AA5A7C64-24D0-F310-9369-5EE60113D0DD}"/>
              </a:ext>
            </a:extLst>
          </p:cNvPr>
          <p:cNvSpPr txBox="1"/>
          <p:nvPr/>
        </p:nvSpPr>
        <p:spPr>
          <a:xfrm>
            <a:off x="2654461" y="3946135"/>
            <a:ext cx="1374465" cy="711533"/>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600" b="1" dirty="0">
                <a:solidFill>
                  <a:schemeClr val="accent4">
                    <a:lumMod val="75000"/>
                  </a:schemeClr>
                </a:solidFill>
                <a:latin typeface="Arial" panose="020B0604020202020204"/>
              </a:rPr>
              <a:t> </a:t>
            </a:r>
            <a:r>
              <a:rPr lang="en-US" sz="1600" dirty="0">
                <a:latin typeface="Arial" panose="020B0604020202020204"/>
              </a:rPr>
              <a:t>+ SRv6</a:t>
            </a:r>
          </a:p>
        </p:txBody>
      </p:sp>
      <p:sp>
        <p:nvSpPr>
          <p:cNvPr id="49" name="TextBox 48">
            <a:extLst>
              <a:ext uri="{FF2B5EF4-FFF2-40B4-BE49-F238E27FC236}">
                <a16:creationId xmlns:a16="http://schemas.microsoft.com/office/drawing/2014/main" id="{EB9FF396-0612-A9EE-123E-7055BFAED65E}"/>
              </a:ext>
            </a:extLst>
          </p:cNvPr>
          <p:cNvSpPr txBox="1"/>
          <p:nvPr/>
        </p:nvSpPr>
        <p:spPr>
          <a:xfrm>
            <a:off x="6588637" y="6372412"/>
            <a:ext cx="1374465"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endPar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endParaRPr>
          </a:p>
        </p:txBody>
      </p:sp>
      <p:cxnSp>
        <p:nvCxnSpPr>
          <p:cNvPr id="50" name="Straight Connector 49">
            <a:extLst>
              <a:ext uri="{FF2B5EF4-FFF2-40B4-BE49-F238E27FC236}">
                <a16:creationId xmlns:a16="http://schemas.microsoft.com/office/drawing/2014/main" id="{32AC3523-6F39-6CDD-5466-A394276895B0}"/>
              </a:ext>
            </a:extLst>
          </p:cNvPr>
          <p:cNvCxnSpPr>
            <a:cxnSpLocks/>
            <a:stCxn id="11" idx="5"/>
            <a:endCxn id="14" idx="1"/>
          </p:cNvCxnSpPr>
          <p:nvPr/>
        </p:nvCxnSpPr>
        <p:spPr>
          <a:xfrm>
            <a:off x="6132220" y="5036967"/>
            <a:ext cx="768217" cy="41635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1317F25D-B41D-CAAF-FCB6-1D3F49BE56B5}"/>
              </a:ext>
            </a:extLst>
          </p:cNvPr>
          <p:cNvSpPr txBox="1"/>
          <p:nvPr/>
        </p:nvSpPr>
        <p:spPr>
          <a:xfrm>
            <a:off x="1487018" y="3116372"/>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10.2.3.0/24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56" name="TextBox 55">
            <a:extLst>
              <a:ext uri="{FF2B5EF4-FFF2-40B4-BE49-F238E27FC236}">
                <a16:creationId xmlns:a16="http://schemas.microsoft.com/office/drawing/2014/main" id="{71597BD8-BA18-4458-65C4-EDF32B89A616}"/>
              </a:ext>
            </a:extLst>
          </p:cNvPr>
          <p:cNvSpPr txBox="1"/>
          <p:nvPr/>
        </p:nvSpPr>
        <p:spPr>
          <a:xfrm>
            <a:off x="9325819" y="4516166"/>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10.0.5.0/24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57" name="TextBox 56">
            <a:extLst>
              <a:ext uri="{FF2B5EF4-FFF2-40B4-BE49-F238E27FC236}">
                <a16:creationId xmlns:a16="http://schemas.microsoft.com/office/drawing/2014/main" id="{C4C859B2-6579-BA7E-74D3-8AC6D6CF78EA}"/>
              </a:ext>
            </a:extLst>
          </p:cNvPr>
          <p:cNvSpPr txBox="1"/>
          <p:nvPr/>
        </p:nvSpPr>
        <p:spPr>
          <a:xfrm>
            <a:off x="9325819" y="1844704"/>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10.0.4.0/24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5C26D65D-05EF-FF2F-EBB6-12EF5D9AEE7B}"/>
              </a:ext>
            </a:extLst>
          </p:cNvPr>
          <p:cNvSpPr txBox="1"/>
          <p:nvPr/>
        </p:nvSpPr>
        <p:spPr>
          <a:xfrm>
            <a:off x="5064109" y="5286376"/>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4" name="TextBox 3">
            <a:extLst>
              <a:ext uri="{FF2B5EF4-FFF2-40B4-BE49-F238E27FC236}">
                <a16:creationId xmlns:a16="http://schemas.microsoft.com/office/drawing/2014/main" id="{D9AA12F4-1770-F159-C6DB-8E028F5D9759}"/>
              </a:ext>
            </a:extLst>
          </p:cNvPr>
          <p:cNvSpPr txBox="1"/>
          <p:nvPr/>
        </p:nvSpPr>
        <p:spPr>
          <a:xfrm>
            <a:off x="5132763" y="949213"/>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5" name="TextBox 4">
            <a:extLst>
              <a:ext uri="{FF2B5EF4-FFF2-40B4-BE49-F238E27FC236}">
                <a16:creationId xmlns:a16="http://schemas.microsoft.com/office/drawing/2014/main" id="{F20EC0DB-1B35-01BD-1164-A60ADEB8EA97}"/>
              </a:ext>
            </a:extLst>
          </p:cNvPr>
          <p:cNvSpPr txBox="1"/>
          <p:nvPr/>
        </p:nvSpPr>
        <p:spPr>
          <a:xfrm>
            <a:off x="7935657" y="95957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r>
              <a:rPr lang="en-US" sz="1600" dirty="0">
                <a:latin typeface="Arial" panose="020B0604020202020204"/>
              </a:rPr>
              <a:t> + SRv6</a:t>
            </a:r>
          </a:p>
        </p:txBody>
      </p:sp>
      <p:sp>
        <p:nvSpPr>
          <p:cNvPr id="6" name="TextBox 5">
            <a:extLst>
              <a:ext uri="{FF2B5EF4-FFF2-40B4-BE49-F238E27FC236}">
                <a16:creationId xmlns:a16="http://schemas.microsoft.com/office/drawing/2014/main" id="{C92528FF-DFC8-807F-35EC-6AEB2901F35D}"/>
              </a:ext>
            </a:extLst>
          </p:cNvPr>
          <p:cNvSpPr txBox="1"/>
          <p:nvPr/>
        </p:nvSpPr>
        <p:spPr>
          <a:xfrm>
            <a:off x="8015341" y="526693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7" name="Oval 6">
            <a:extLst>
              <a:ext uri="{FF2B5EF4-FFF2-40B4-BE49-F238E27FC236}">
                <a16:creationId xmlns:a16="http://schemas.microsoft.com/office/drawing/2014/main" id="{7107F0F5-5264-3C51-408B-196E23D21C09}"/>
              </a:ext>
            </a:extLst>
          </p:cNvPr>
          <p:cNvSpPr/>
          <p:nvPr/>
        </p:nvSpPr>
        <p:spPr>
          <a:xfrm>
            <a:off x="3849048" y="5296213"/>
            <a:ext cx="1061884" cy="1072819"/>
          </a:xfrm>
          <a:prstGeom prst="ellipse">
            <a:avLst/>
          </a:prstGeom>
          <a:solidFill>
            <a:schemeClr val="accent3">
              <a:lumMod val="75000"/>
            </a:schemeClr>
          </a:solidFill>
          <a:ln w="635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err="1">
                <a:solidFill>
                  <a:schemeClr val="accent4"/>
                </a:solidFill>
              </a:rPr>
              <a:t>RRv6</a:t>
            </a:r>
            <a:endParaRPr lang="en-US" sz="1600" b="1" dirty="0">
              <a:solidFill>
                <a:schemeClr val="accent4"/>
              </a:solidFill>
            </a:endParaRPr>
          </a:p>
        </p:txBody>
      </p:sp>
      <p:cxnSp>
        <p:nvCxnSpPr>
          <p:cNvPr id="15" name="Straight Connector 14">
            <a:extLst>
              <a:ext uri="{FF2B5EF4-FFF2-40B4-BE49-F238E27FC236}">
                <a16:creationId xmlns:a16="http://schemas.microsoft.com/office/drawing/2014/main" id="{3E97CA9D-FC9A-0C61-9CEE-DCD0C454E893}"/>
              </a:ext>
            </a:extLst>
          </p:cNvPr>
          <p:cNvCxnSpPr>
            <a:cxnSpLocks/>
            <a:stCxn id="7" idx="7"/>
            <a:endCxn id="11" idx="3"/>
          </p:cNvCxnSpPr>
          <p:nvPr/>
        </p:nvCxnSpPr>
        <p:spPr>
          <a:xfrm flipV="1">
            <a:off x="4755423" y="5036967"/>
            <a:ext cx="625931" cy="41635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1BE30D1-0A33-396A-DEBF-AFC8477DDA56}"/>
              </a:ext>
            </a:extLst>
          </p:cNvPr>
          <p:cNvCxnSpPr>
            <a:cxnSpLocks/>
          </p:cNvCxnSpPr>
          <p:nvPr/>
        </p:nvCxnSpPr>
        <p:spPr>
          <a:xfrm>
            <a:off x="3411794" y="3429000"/>
            <a:ext cx="894735" cy="2234381"/>
          </a:xfrm>
          <a:prstGeom prst="straightConnector1">
            <a:avLst/>
          </a:prstGeom>
          <a:ln w="50800">
            <a:solidFill>
              <a:schemeClr val="accent4"/>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24ABEDC-BF0E-4EB4-5B5B-BAE861C31855}"/>
              </a:ext>
            </a:extLst>
          </p:cNvPr>
          <p:cNvCxnSpPr>
            <a:cxnSpLocks/>
          </p:cNvCxnSpPr>
          <p:nvPr/>
        </p:nvCxnSpPr>
        <p:spPr>
          <a:xfrm flipH="1">
            <a:off x="4424516" y="2127707"/>
            <a:ext cx="4198374" cy="3535674"/>
          </a:xfrm>
          <a:prstGeom prst="straightConnector1">
            <a:avLst/>
          </a:prstGeom>
          <a:ln w="50800">
            <a:solidFill>
              <a:schemeClr val="accent4"/>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D7966DDF-2AC2-EBED-15B8-5E7744422014}"/>
              </a:ext>
            </a:extLst>
          </p:cNvPr>
          <p:cNvSpPr txBox="1"/>
          <p:nvPr/>
        </p:nvSpPr>
        <p:spPr>
          <a:xfrm>
            <a:off x="2599389" y="5081928"/>
            <a:ext cx="1530159" cy="335485"/>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600" b="1" i="0" u="none" strike="noStrike" kern="1200" cap="none" spc="0" normalizeH="0" baseline="0" noProof="0" dirty="0">
                <a:ln>
                  <a:noFill/>
                </a:ln>
                <a:solidFill>
                  <a:schemeClr val="accent4"/>
                </a:solidFill>
                <a:effectLst/>
                <a:uLnTx/>
                <a:uFillTx/>
                <a:latin typeface="Arial" panose="020B0604020202020204"/>
                <a:ea typeface="+mn-ea"/>
                <a:cs typeface="+mn-cs"/>
              </a:rPr>
              <a:t>iBGP peering</a:t>
            </a:r>
          </a:p>
        </p:txBody>
      </p:sp>
    </p:spTree>
    <p:extLst>
      <p:ext uri="{BB962C8B-B14F-4D97-AF65-F5344CB8AC3E}">
        <p14:creationId xmlns:p14="http://schemas.microsoft.com/office/powerpoint/2010/main" val="749274358"/>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0C4DE83-9298-809E-261F-86F4D10717BC}"/>
              </a:ext>
            </a:extLst>
          </p:cNvPr>
          <p:cNvSpPr>
            <a:spLocks noGrp="1"/>
          </p:cNvSpPr>
          <p:nvPr>
            <p:ph type="body" sz="quarter" idx="10"/>
          </p:nvPr>
        </p:nvSpPr>
        <p:spPr/>
        <p:txBody>
          <a:bodyPr/>
          <a:lstStyle/>
          <a:p>
            <a:endParaRPr lang="en-US" dirty="0"/>
          </a:p>
        </p:txBody>
      </p:sp>
      <p:sp>
        <p:nvSpPr>
          <p:cNvPr id="7" name="Text Placeholder 6">
            <a:extLst>
              <a:ext uri="{FF2B5EF4-FFF2-40B4-BE49-F238E27FC236}">
                <a16:creationId xmlns:a16="http://schemas.microsoft.com/office/drawing/2014/main" id="{6B0DEB13-3EF7-67DA-5148-FF05E855D34F}"/>
              </a:ext>
            </a:extLst>
          </p:cNvPr>
          <p:cNvSpPr>
            <a:spLocks noGrp="1"/>
          </p:cNvSpPr>
          <p:nvPr>
            <p:ph type="body" sz="quarter" idx="11"/>
          </p:nvPr>
        </p:nvSpPr>
        <p:spPr/>
        <p:txBody>
          <a:bodyPr/>
          <a:lstStyle/>
          <a:p>
            <a:r>
              <a:rPr lang="en-US" dirty="0"/>
              <a:t>BGP-</a:t>
            </a:r>
            <a:r>
              <a:rPr lang="en-US" dirty="0" err="1"/>
              <a:t>RRv6</a:t>
            </a:r>
            <a:endParaRPr lang="en-US" dirty="0"/>
          </a:p>
        </p:txBody>
      </p:sp>
      <p:sp>
        <p:nvSpPr>
          <p:cNvPr id="8" name="Rectangle 7">
            <a:extLst>
              <a:ext uri="{FF2B5EF4-FFF2-40B4-BE49-F238E27FC236}">
                <a16:creationId xmlns:a16="http://schemas.microsoft.com/office/drawing/2014/main" id="{D22F8B01-6D02-D13E-6456-8B9B4FC1AEA8}"/>
              </a:ext>
            </a:extLst>
          </p:cNvPr>
          <p:cNvSpPr/>
          <p:nvPr/>
        </p:nvSpPr>
        <p:spPr>
          <a:xfrm>
            <a:off x="1089192" y="1443841"/>
            <a:ext cx="6486305" cy="4093428"/>
          </a:xfrm>
          <a:prstGeom prst="rect">
            <a:avLst/>
          </a:prstGeom>
          <a:solidFill>
            <a:schemeClr val="bg1">
              <a:lumMod val="95000"/>
            </a:schemeClr>
          </a:solidFill>
          <a:ln>
            <a:solidFill>
              <a:schemeClr val="tx1"/>
            </a:solidFill>
          </a:ln>
          <a:effectLst/>
        </p:spPr>
        <p:txBody>
          <a:bodyPr wrap="square">
            <a:spAutoFit/>
          </a:bodyPr>
          <a:lstStyle/>
          <a:p>
            <a:r>
              <a:rPr lang="en-US" sz="2000" dirty="0">
                <a:latin typeface="Consolas" panose="020B0609020204030204" pitchFamily="49" charset="0"/>
              </a:rPr>
              <a:t>router bgp 64001</a:t>
            </a:r>
          </a:p>
          <a:p>
            <a:r>
              <a:rPr lang="en-US" sz="2000" dirty="0">
                <a:latin typeface="Consolas" panose="020B0609020204030204" pitchFamily="49" charset="0"/>
              </a:rPr>
              <a:t> segment-routing </a:t>
            </a:r>
            <a:r>
              <a:rPr lang="en-US" sz="2000" dirty="0" err="1">
                <a:latin typeface="Consolas" panose="020B0609020204030204" pitchFamily="49" charset="0"/>
              </a:rPr>
              <a:t>srv6</a:t>
            </a:r>
            <a:endParaRPr lang="en-US" sz="2000" dirty="0">
              <a:latin typeface="Consolas" panose="020B0609020204030204" pitchFamily="49" charset="0"/>
            </a:endParaRPr>
          </a:p>
          <a:p>
            <a:r>
              <a:rPr lang="en-US" sz="2000" dirty="0">
                <a:latin typeface="Consolas" panose="020B0609020204030204" pitchFamily="49" charset="0"/>
              </a:rPr>
              <a:t>  locator </a:t>
            </a:r>
            <a:r>
              <a:rPr lang="en-US" sz="2000" dirty="0">
                <a:solidFill>
                  <a:schemeClr val="accent4"/>
                </a:solidFill>
                <a:latin typeface="Consolas" panose="020B0609020204030204" pitchFamily="49" charset="0"/>
              </a:rPr>
              <a:t>MAIN</a:t>
            </a:r>
          </a:p>
          <a:p>
            <a:r>
              <a:rPr lang="en-US" sz="2000" dirty="0">
                <a:latin typeface="Consolas" panose="020B0609020204030204" pitchFamily="49" charset="0"/>
              </a:rPr>
              <a:t>!</a:t>
            </a:r>
          </a:p>
          <a:p>
            <a:r>
              <a:rPr lang="en-US" sz="2000" dirty="0">
                <a:latin typeface="Consolas" panose="020B0609020204030204" pitchFamily="49" charset="0"/>
              </a:rPr>
              <a:t>neighbor </a:t>
            </a:r>
            <a:r>
              <a:rPr lang="en-US" sz="2000" dirty="0" err="1">
                <a:highlight>
                  <a:srgbClr val="FFFF00"/>
                </a:highlight>
                <a:latin typeface="Consolas" panose="020B0609020204030204" pitchFamily="49" charset="0"/>
              </a:rPr>
              <a:t>fcbb:bb00:2</a:t>
            </a:r>
            <a:r>
              <a:rPr lang="en-US" sz="2000" dirty="0">
                <a:highlight>
                  <a:srgbClr val="FFFF00"/>
                </a:highlight>
                <a:latin typeface="Consolas" panose="020B0609020204030204" pitchFamily="49" charset="0"/>
              </a:rPr>
              <a:t>::1 </a:t>
            </a:r>
          </a:p>
          <a:p>
            <a:r>
              <a:rPr lang="en-US" sz="2000" dirty="0">
                <a:latin typeface="Consolas" panose="020B0609020204030204" pitchFamily="49" charset="0"/>
              </a:rPr>
              <a:t> remote-as 64001</a:t>
            </a:r>
          </a:p>
          <a:p>
            <a:r>
              <a:rPr lang="en-US" sz="2000" dirty="0">
                <a:latin typeface="Consolas" panose="020B0609020204030204" pitchFamily="49" charset="0"/>
              </a:rPr>
              <a:t> update-source </a:t>
            </a:r>
            <a:r>
              <a:rPr lang="en-US" sz="2000" dirty="0" err="1">
                <a:latin typeface="Consolas" panose="020B0609020204030204" pitchFamily="49" charset="0"/>
              </a:rPr>
              <a:t>Loopback0</a:t>
            </a:r>
            <a:endParaRPr lang="en-US" sz="2000" dirty="0">
              <a:latin typeface="Consolas" panose="020B0609020204030204" pitchFamily="49" charset="0"/>
            </a:endParaRPr>
          </a:p>
          <a:p>
            <a:r>
              <a:rPr lang="en-US" sz="2000" dirty="0">
                <a:latin typeface="Consolas" panose="020B0609020204030204" pitchFamily="49" charset="0"/>
              </a:rPr>
              <a:t> address-family </a:t>
            </a:r>
            <a:r>
              <a:rPr lang="en-US" sz="2000" dirty="0" err="1">
                <a:latin typeface="Consolas" panose="020B0609020204030204" pitchFamily="49" charset="0"/>
              </a:rPr>
              <a:t>vpnv4</a:t>
            </a:r>
            <a:r>
              <a:rPr lang="en-US" sz="2000" dirty="0">
                <a:latin typeface="Consolas" panose="020B0609020204030204" pitchFamily="49" charset="0"/>
              </a:rPr>
              <a:t> unicast</a:t>
            </a:r>
          </a:p>
          <a:p>
            <a:r>
              <a:rPr lang="en-US" sz="2000" dirty="0">
                <a:latin typeface="Consolas" panose="020B0609020204030204" pitchFamily="49" charset="0"/>
              </a:rPr>
              <a:t>  route-policy </a:t>
            </a:r>
            <a:r>
              <a:rPr lang="en-US" sz="2000" dirty="0">
                <a:solidFill>
                  <a:srgbClr val="FA661C"/>
                </a:solidFill>
                <a:latin typeface="Consolas" panose="020B0609020204030204" pitchFamily="49" charset="0"/>
              </a:rPr>
              <a:t>vpn-transport</a:t>
            </a:r>
            <a:r>
              <a:rPr lang="en-US" sz="2000" dirty="0">
                <a:latin typeface="Consolas" panose="020B0609020204030204" pitchFamily="49" charset="0"/>
              </a:rPr>
              <a:t> out</a:t>
            </a:r>
          </a:p>
          <a:p>
            <a:r>
              <a:rPr lang="en-US" sz="2000" dirty="0">
                <a:latin typeface="Consolas" panose="020B0609020204030204" pitchFamily="49" charset="0"/>
              </a:rPr>
              <a:t>  </a:t>
            </a:r>
            <a:r>
              <a:rPr lang="en-US" sz="2000" dirty="0">
                <a:solidFill>
                  <a:srgbClr val="FF0000"/>
                </a:solidFill>
                <a:latin typeface="Consolas" panose="020B0609020204030204" pitchFamily="49" charset="0"/>
              </a:rPr>
              <a:t>encapsulation-type </a:t>
            </a:r>
            <a:r>
              <a:rPr lang="en-US" sz="2000" dirty="0" err="1">
                <a:solidFill>
                  <a:srgbClr val="FF0000"/>
                </a:solidFill>
                <a:latin typeface="Consolas" panose="020B0609020204030204" pitchFamily="49" charset="0"/>
              </a:rPr>
              <a:t>srv6</a:t>
            </a:r>
            <a:endParaRPr lang="en-US" sz="2000" dirty="0">
              <a:solidFill>
                <a:srgbClr val="FF0000"/>
              </a:solidFill>
              <a:latin typeface="Consolas" panose="020B0609020204030204" pitchFamily="49" charset="0"/>
            </a:endParaRPr>
          </a:p>
          <a:p>
            <a:r>
              <a:rPr lang="en-US" sz="2000" dirty="0">
                <a:latin typeface="Consolas" panose="020B0609020204030204" pitchFamily="49" charset="0"/>
              </a:rPr>
              <a:t> !</a:t>
            </a:r>
          </a:p>
          <a:p>
            <a:r>
              <a:rPr lang="en-US" sz="2000" dirty="0">
                <a:latin typeface="Consolas" panose="020B0609020204030204" pitchFamily="49" charset="0"/>
              </a:rPr>
              <a:t> address-family l2vpn </a:t>
            </a:r>
            <a:r>
              <a:rPr lang="en-US" sz="2000" dirty="0" err="1">
                <a:latin typeface="Consolas" panose="020B0609020204030204" pitchFamily="49" charset="0"/>
              </a:rPr>
              <a:t>evpn</a:t>
            </a:r>
            <a:endParaRPr lang="en-US" sz="2000" dirty="0">
              <a:latin typeface="Consolas" panose="020B0609020204030204" pitchFamily="49" charset="0"/>
            </a:endParaRPr>
          </a:p>
          <a:p>
            <a:r>
              <a:rPr lang="en-US" sz="2000" dirty="0">
                <a:latin typeface="Consolas" panose="020B0609020204030204" pitchFamily="49" charset="0"/>
              </a:rPr>
              <a:t>!</a:t>
            </a:r>
          </a:p>
        </p:txBody>
      </p:sp>
      <p:sp>
        <p:nvSpPr>
          <p:cNvPr id="2" name="Callout: Line 1">
            <a:extLst>
              <a:ext uri="{FF2B5EF4-FFF2-40B4-BE49-F238E27FC236}">
                <a16:creationId xmlns:a16="http://schemas.microsoft.com/office/drawing/2014/main" id="{10D4F843-B38D-871C-CC77-052CD87CB152}"/>
              </a:ext>
            </a:extLst>
          </p:cNvPr>
          <p:cNvSpPr/>
          <p:nvPr/>
        </p:nvSpPr>
        <p:spPr>
          <a:xfrm>
            <a:off x="6990733" y="1617575"/>
            <a:ext cx="4935793" cy="339117"/>
          </a:xfrm>
          <a:prstGeom prst="borderCallout1">
            <a:avLst>
              <a:gd name="adj1" fmla="val 18750"/>
              <a:gd name="adj2" fmla="val -8333"/>
              <a:gd name="adj3" fmla="val 179912"/>
              <a:gd name="adj4" fmla="val -74134"/>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00B050"/>
                </a:solidFill>
              </a:rPr>
              <a:t>Default locator for VRF function</a:t>
            </a:r>
            <a:endParaRPr lang="en-US" dirty="0">
              <a:solidFill>
                <a:schemeClr val="tx1"/>
              </a:solidFill>
            </a:endParaRPr>
          </a:p>
        </p:txBody>
      </p:sp>
      <p:sp>
        <p:nvSpPr>
          <p:cNvPr id="9" name="Callout: Line 8">
            <a:extLst>
              <a:ext uri="{FF2B5EF4-FFF2-40B4-BE49-F238E27FC236}">
                <a16:creationId xmlns:a16="http://schemas.microsoft.com/office/drawing/2014/main" id="{81E6BEDC-A52D-70D2-A0ED-39191BCC2246}"/>
              </a:ext>
            </a:extLst>
          </p:cNvPr>
          <p:cNvSpPr/>
          <p:nvPr/>
        </p:nvSpPr>
        <p:spPr>
          <a:xfrm>
            <a:off x="6990733" y="3593021"/>
            <a:ext cx="4935793" cy="339117"/>
          </a:xfrm>
          <a:prstGeom prst="borderCallout1">
            <a:avLst>
              <a:gd name="adj1" fmla="val 18750"/>
              <a:gd name="adj2" fmla="val -8333"/>
              <a:gd name="adj3" fmla="val 139321"/>
              <a:gd name="adj4" fmla="val -37878"/>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rgbClr val="FA661C"/>
                </a:solidFill>
              </a:rPr>
              <a:t>RRv6</a:t>
            </a:r>
            <a:r>
              <a:rPr lang="en-US" dirty="0">
                <a:solidFill>
                  <a:srgbClr val="FA661C"/>
                </a:solidFill>
              </a:rPr>
              <a:t> policy</a:t>
            </a:r>
            <a:endParaRPr lang="en-US" dirty="0">
              <a:solidFill>
                <a:srgbClr val="FA661C"/>
              </a:solidFill>
              <a:highlight>
                <a:srgbClr val="FFFF00"/>
              </a:highlight>
            </a:endParaRPr>
          </a:p>
        </p:txBody>
      </p:sp>
      <p:sp>
        <p:nvSpPr>
          <p:cNvPr id="10" name="Callout: Line 9">
            <a:extLst>
              <a:ext uri="{FF2B5EF4-FFF2-40B4-BE49-F238E27FC236}">
                <a16:creationId xmlns:a16="http://schemas.microsoft.com/office/drawing/2014/main" id="{32621178-4F84-0559-24B6-7B344D9AFE07}"/>
              </a:ext>
            </a:extLst>
          </p:cNvPr>
          <p:cNvSpPr/>
          <p:nvPr/>
        </p:nvSpPr>
        <p:spPr>
          <a:xfrm>
            <a:off x="6990733" y="4154760"/>
            <a:ext cx="4935793" cy="339117"/>
          </a:xfrm>
          <a:prstGeom prst="borderCallout1">
            <a:avLst>
              <a:gd name="adj1" fmla="val 18750"/>
              <a:gd name="adj2" fmla="val -8333"/>
              <a:gd name="adj3" fmla="val 78436"/>
              <a:gd name="adj4" fmla="val -44252"/>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FF0000"/>
                </a:solidFill>
              </a:rPr>
              <a:t>Send </a:t>
            </a:r>
            <a:r>
              <a:rPr lang="en-US" dirty="0" err="1">
                <a:solidFill>
                  <a:srgbClr val="FF0000"/>
                </a:solidFill>
              </a:rPr>
              <a:t>Srv6</a:t>
            </a:r>
            <a:r>
              <a:rPr lang="en-US" dirty="0">
                <a:solidFill>
                  <a:srgbClr val="FF0000"/>
                </a:solidFill>
              </a:rPr>
              <a:t> SID</a:t>
            </a:r>
            <a:endParaRPr lang="en-US" dirty="0">
              <a:solidFill>
                <a:srgbClr val="FF0000"/>
              </a:solidFill>
              <a:highlight>
                <a:srgbClr val="FFFF00"/>
              </a:highlight>
            </a:endParaRPr>
          </a:p>
        </p:txBody>
      </p:sp>
      <p:sp>
        <p:nvSpPr>
          <p:cNvPr id="11" name="Callout: Line 10">
            <a:extLst>
              <a:ext uri="{FF2B5EF4-FFF2-40B4-BE49-F238E27FC236}">
                <a16:creationId xmlns:a16="http://schemas.microsoft.com/office/drawing/2014/main" id="{FE98D29F-C2AE-87DC-6A92-89C041E412DE}"/>
              </a:ext>
            </a:extLst>
          </p:cNvPr>
          <p:cNvSpPr/>
          <p:nvPr/>
        </p:nvSpPr>
        <p:spPr>
          <a:xfrm>
            <a:off x="6990733" y="2469544"/>
            <a:ext cx="4935793" cy="339117"/>
          </a:xfrm>
          <a:prstGeom prst="borderCallout1">
            <a:avLst>
              <a:gd name="adj1" fmla="val 18750"/>
              <a:gd name="adj2" fmla="val -8333"/>
              <a:gd name="adj3" fmla="val 116126"/>
              <a:gd name="adj4" fmla="val -49831"/>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PEx</a:t>
            </a:r>
            <a:r>
              <a:rPr lang="en-US" dirty="0">
                <a:solidFill>
                  <a:schemeClr val="tx1"/>
                </a:solidFill>
              </a:rPr>
              <a:t> </a:t>
            </a:r>
            <a:r>
              <a:rPr lang="en-US" dirty="0" err="1">
                <a:solidFill>
                  <a:schemeClr val="tx1"/>
                </a:solidFill>
              </a:rPr>
              <a:t>Loopback0</a:t>
            </a:r>
            <a:r>
              <a:rPr lang="en-US" dirty="0">
                <a:solidFill>
                  <a:schemeClr val="tx1"/>
                </a:solidFill>
              </a:rPr>
              <a:t> </a:t>
            </a:r>
            <a:r>
              <a:rPr lang="en-US" dirty="0">
                <a:solidFill>
                  <a:schemeClr val="tx1"/>
                </a:solidFill>
                <a:highlight>
                  <a:srgbClr val="FFFF00"/>
                </a:highlight>
              </a:rPr>
              <a:t>IPv6 address</a:t>
            </a:r>
          </a:p>
        </p:txBody>
      </p:sp>
    </p:spTree>
    <p:extLst>
      <p:ext uri="{BB962C8B-B14F-4D97-AF65-F5344CB8AC3E}">
        <p14:creationId xmlns:p14="http://schemas.microsoft.com/office/powerpoint/2010/main" val="2285094244"/>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7DF76D3A-5E3E-4BC8-8F39-771134FF4322}"/>
              </a:ext>
            </a:extLst>
          </p:cNvPr>
          <p:cNvSpPr>
            <a:spLocks noGrp="1"/>
          </p:cNvSpPr>
          <p:nvPr>
            <p:ph type="body" idx="1"/>
          </p:nvPr>
        </p:nvSpPr>
        <p:spPr/>
        <p:txBody>
          <a:bodyPr/>
          <a:lstStyle/>
          <a:p>
            <a:r>
              <a:rPr lang="en-US" noProof="0" dirty="0"/>
              <a:t>Service Migration</a:t>
            </a:r>
          </a:p>
        </p:txBody>
      </p:sp>
      <p:sp>
        <p:nvSpPr>
          <p:cNvPr id="2" name="Text Placeholder 1">
            <a:extLst>
              <a:ext uri="{FF2B5EF4-FFF2-40B4-BE49-F238E27FC236}">
                <a16:creationId xmlns:a16="http://schemas.microsoft.com/office/drawing/2014/main" id="{B367786B-A4DD-DB9E-9087-78A451525AAC}"/>
              </a:ext>
            </a:extLst>
          </p:cNvPr>
          <p:cNvSpPr>
            <a:spLocks noGrp="1"/>
          </p:cNvSpPr>
          <p:nvPr>
            <p:ph type="body" sz="quarter" idx="15"/>
          </p:nvPr>
        </p:nvSpPr>
        <p:spPr/>
        <p:txBody>
          <a:bodyPr/>
          <a:lstStyle/>
          <a:p>
            <a:r>
              <a:rPr lang="en-US" dirty="0">
                <a:cs typeface="Calibri" pitchFamily="34" charset="0"/>
              </a:rPr>
              <a:t>SRv6 and service migration</a:t>
            </a:r>
            <a:endParaRPr lang="cs-CZ" dirty="0"/>
          </a:p>
        </p:txBody>
      </p:sp>
      <p:sp>
        <p:nvSpPr>
          <p:cNvPr id="5" name="Zástupný text 4">
            <a:extLst>
              <a:ext uri="{FF2B5EF4-FFF2-40B4-BE49-F238E27FC236}">
                <a16:creationId xmlns:a16="http://schemas.microsoft.com/office/drawing/2014/main" id="{CA46CB7B-0002-4873-B253-4D2438CC3611}"/>
              </a:ext>
            </a:extLst>
          </p:cNvPr>
          <p:cNvSpPr>
            <a:spLocks noGrp="1"/>
          </p:cNvSpPr>
          <p:nvPr>
            <p:ph type="body" sz="quarter" idx="13"/>
          </p:nvPr>
        </p:nvSpPr>
        <p:spPr/>
        <p:txBody>
          <a:bodyPr/>
          <a:lstStyle/>
          <a:p>
            <a:r>
              <a:rPr lang="en-US" dirty="0"/>
              <a:t>Segment Routing MPLS and SRv6</a:t>
            </a:r>
          </a:p>
        </p:txBody>
      </p:sp>
      <p:sp>
        <p:nvSpPr>
          <p:cNvPr id="6" name="Zástupný text 5">
            <a:extLst>
              <a:ext uri="{FF2B5EF4-FFF2-40B4-BE49-F238E27FC236}">
                <a16:creationId xmlns:a16="http://schemas.microsoft.com/office/drawing/2014/main" id="{955FA430-FA92-4EB5-849C-E3D05AB9B217}"/>
              </a:ext>
            </a:extLst>
          </p:cNvPr>
          <p:cNvSpPr>
            <a:spLocks noGrp="1"/>
          </p:cNvSpPr>
          <p:nvPr>
            <p:ph type="body" sz="quarter" idx="14"/>
          </p:nvPr>
        </p:nvSpPr>
        <p:spPr/>
        <p:txBody>
          <a:bodyPr/>
          <a:lstStyle/>
          <a:p>
            <a:r>
              <a:rPr lang="en-US" noProof="0" dirty="0"/>
              <a:t>Network Migration</a:t>
            </a:r>
          </a:p>
          <a:p>
            <a:r>
              <a:rPr lang="en-US" dirty="0"/>
              <a:t>MPLS -&gt; SRv6</a:t>
            </a:r>
            <a:endParaRPr lang="en-US" noProof="0" dirty="0"/>
          </a:p>
        </p:txBody>
      </p:sp>
    </p:spTree>
    <p:extLst>
      <p:ext uri="{BB962C8B-B14F-4D97-AF65-F5344CB8AC3E}">
        <p14:creationId xmlns:p14="http://schemas.microsoft.com/office/powerpoint/2010/main" val="3628578086"/>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7DF76D3A-5E3E-4BC8-8F39-771134FF4322}"/>
              </a:ext>
            </a:extLst>
          </p:cNvPr>
          <p:cNvSpPr>
            <a:spLocks noGrp="1"/>
          </p:cNvSpPr>
          <p:nvPr>
            <p:ph type="body" idx="1"/>
          </p:nvPr>
        </p:nvSpPr>
        <p:spPr/>
        <p:txBody>
          <a:bodyPr/>
          <a:lstStyle/>
          <a:p>
            <a:r>
              <a:rPr lang="en-US" noProof="0" dirty="0"/>
              <a:t>L3VPN</a:t>
            </a:r>
          </a:p>
        </p:txBody>
      </p:sp>
      <p:sp>
        <p:nvSpPr>
          <p:cNvPr id="2" name="Text Placeholder 1">
            <a:extLst>
              <a:ext uri="{FF2B5EF4-FFF2-40B4-BE49-F238E27FC236}">
                <a16:creationId xmlns:a16="http://schemas.microsoft.com/office/drawing/2014/main" id="{B367786B-A4DD-DB9E-9087-78A451525AAC}"/>
              </a:ext>
            </a:extLst>
          </p:cNvPr>
          <p:cNvSpPr>
            <a:spLocks noGrp="1"/>
          </p:cNvSpPr>
          <p:nvPr>
            <p:ph type="body" sz="quarter" idx="15"/>
          </p:nvPr>
        </p:nvSpPr>
        <p:spPr/>
        <p:txBody>
          <a:bodyPr/>
          <a:lstStyle/>
          <a:p>
            <a:r>
              <a:rPr lang="en-US" dirty="0">
                <a:cs typeface="Calibri" pitchFamily="34" charset="0"/>
              </a:rPr>
              <a:t>SRv6 and service migration</a:t>
            </a:r>
            <a:endParaRPr lang="cs-CZ" dirty="0"/>
          </a:p>
        </p:txBody>
      </p:sp>
      <p:sp>
        <p:nvSpPr>
          <p:cNvPr id="5" name="Zástupný text 4">
            <a:extLst>
              <a:ext uri="{FF2B5EF4-FFF2-40B4-BE49-F238E27FC236}">
                <a16:creationId xmlns:a16="http://schemas.microsoft.com/office/drawing/2014/main" id="{CA46CB7B-0002-4873-B253-4D2438CC3611}"/>
              </a:ext>
            </a:extLst>
          </p:cNvPr>
          <p:cNvSpPr>
            <a:spLocks noGrp="1"/>
          </p:cNvSpPr>
          <p:nvPr>
            <p:ph type="body" sz="quarter" idx="13"/>
          </p:nvPr>
        </p:nvSpPr>
        <p:spPr/>
        <p:txBody>
          <a:bodyPr/>
          <a:lstStyle/>
          <a:p>
            <a:r>
              <a:rPr lang="en-US" dirty="0"/>
              <a:t>Segment Routing MPLS and SRv6</a:t>
            </a:r>
          </a:p>
        </p:txBody>
      </p:sp>
      <p:sp>
        <p:nvSpPr>
          <p:cNvPr id="6" name="Zástupný text 5">
            <a:extLst>
              <a:ext uri="{FF2B5EF4-FFF2-40B4-BE49-F238E27FC236}">
                <a16:creationId xmlns:a16="http://schemas.microsoft.com/office/drawing/2014/main" id="{955FA430-FA92-4EB5-849C-E3D05AB9B217}"/>
              </a:ext>
            </a:extLst>
          </p:cNvPr>
          <p:cNvSpPr>
            <a:spLocks noGrp="1"/>
          </p:cNvSpPr>
          <p:nvPr>
            <p:ph type="body" sz="quarter" idx="14"/>
          </p:nvPr>
        </p:nvSpPr>
        <p:spPr/>
        <p:txBody>
          <a:bodyPr/>
          <a:lstStyle/>
          <a:p>
            <a:r>
              <a:rPr lang="en-US" noProof="0" dirty="0"/>
              <a:t>Service Migration</a:t>
            </a:r>
          </a:p>
        </p:txBody>
      </p:sp>
    </p:spTree>
    <p:extLst>
      <p:ext uri="{BB962C8B-B14F-4D97-AF65-F5344CB8AC3E}">
        <p14:creationId xmlns:p14="http://schemas.microsoft.com/office/powerpoint/2010/main" val="1687405749"/>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3E3329E-7F40-8556-881D-C921B859ED5F}"/>
              </a:ext>
            </a:extLst>
          </p:cNvPr>
          <p:cNvSpPr>
            <a:spLocks noGrp="1"/>
          </p:cNvSpPr>
          <p:nvPr>
            <p:ph type="body" sz="quarter" idx="11"/>
          </p:nvPr>
        </p:nvSpPr>
        <p:spPr>
          <a:xfrm>
            <a:off x="873918" y="12461"/>
            <a:ext cx="10444163" cy="773017"/>
          </a:xfrm>
        </p:spPr>
        <p:txBody>
          <a:bodyPr/>
          <a:lstStyle/>
          <a:p>
            <a:r>
              <a:rPr lang="en-US" dirty="0"/>
              <a:t>L3VPN - MPLS LDP to SRv6 migration</a:t>
            </a:r>
          </a:p>
        </p:txBody>
      </p:sp>
      <p:pic>
        <p:nvPicPr>
          <p:cNvPr id="9" name="Picture 8" descr="A diagram of a service layer&#10;&#10;AI-generated content may be incorrect.">
            <a:extLst>
              <a:ext uri="{FF2B5EF4-FFF2-40B4-BE49-F238E27FC236}">
                <a16:creationId xmlns:a16="http://schemas.microsoft.com/office/drawing/2014/main" id="{0EF688FC-DF7E-3527-A5C4-BEBA6197B1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4001" y="1051354"/>
            <a:ext cx="9883997" cy="4755292"/>
          </a:xfrm>
          <a:prstGeom prst="rect">
            <a:avLst/>
          </a:prstGeom>
        </p:spPr>
      </p:pic>
    </p:spTree>
    <p:extLst>
      <p:ext uri="{BB962C8B-B14F-4D97-AF65-F5344CB8AC3E}">
        <p14:creationId xmlns:p14="http://schemas.microsoft.com/office/powerpoint/2010/main" val="949706293"/>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 Placeholder 53">
            <a:extLst>
              <a:ext uri="{FF2B5EF4-FFF2-40B4-BE49-F238E27FC236}">
                <a16:creationId xmlns:a16="http://schemas.microsoft.com/office/drawing/2014/main" id="{644DD39E-246C-C23C-7452-137473BA63D9}"/>
              </a:ext>
            </a:extLst>
          </p:cNvPr>
          <p:cNvSpPr>
            <a:spLocks noGrp="1"/>
          </p:cNvSpPr>
          <p:nvPr>
            <p:ph type="body" sz="quarter" idx="10"/>
          </p:nvPr>
        </p:nvSpPr>
        <p:spPr/>
        <p:txBody>
          <a:bodyPr/>
          <a:lstStyle/>
          <a:p>
            <a:r>
              <a:rPr lang="en-US" dirty="0"/>
              <a:t>Initial State</a:t>
            </a:r>
            <a:endParaRPr lang="en-US" dirty="0">
              <a:solidFill>
                <a:schemeClr val="accent4">
                  <a:lumMod val="75000"/>
                </a:schemeClr>
              </a:solidFill>
            </a:endParaRPr>
          </a:p>
        </p:txBody>
      </p:sp>
      <p:sp>
        <p:nvSpPr>
          <p:cNvPr id="3" name="Text Placeholder 2">
            <a:extLst>
              <a:ext uri="{FF2B5EF4-FFF2-40B4-BE49-F238E27FC236}">
                <a16:creationId xmlns:a16="http://schemas.microsoft.com/office/drawing/2014/main" id="{D468842C-E9AA-4882-EC44-4597C8EA2A45}"/>
              </a:ext>
            </a:extLst>
          </p:cNvPr>
          <p:cNvSpPr>
            <a:spLocks noGrp="1"/>
          </p:cNvSpPr>
          <p:nvPr>
            <p:ph type="body" sz="quarter" idx="11"/>
          </p:nvPr>
        </p:nvSpPr>
        <p:spPr>
          <a:xfrm>
            <a:off x="873918" y="12461"/>
            <a:ext cx="10444163" cy="773017"/>
          </a:xfrm>
        </p:spPr>
        <p:txBody>
          <a:bodyPr/>
          <a:lstStyle/>
          <a:p>
            <a:r>
              <a:rPr lang="en-US" dirty="0"/>
              <a:t>Step 0 - MPLS LDP to SRv6 migration </a:t>
            </a:r>
            <a:r>
              <a:rPr lang="en-US" dirty="0">
                <a:solidFill>
                  <a:schemeClr val="bg1">
                    <a:lumMod val="50000"/>
                  </a:schemeClr>
                </a:solidFill>
              </a:rPr>
              <a:t>- L3VPN</a:t>
            </a:r>
          </a:p>
        </p:txBody>
      </p:sp>
      <p:sp>
        <p:nvSpPr>
          <p:cNvPr id="8" name="Oval 7">
            <a:extLst>
              <a:ext uri="{FF2B5EF4-FFF2-40B4-BE49-F238E27FC236}">
                <a16:creationId xmlns:a16="http://schemas.microsoft.com/office/drawing/2014/main" id="{993A2A87-8EB9-6614-516E-A2CB823D3BFE}"/>
              </a:ext>
            </a:extLst>
          </p:cNvPr>
          <p:cNvSpPr/>
          <p:nvPr/>
        </p:nvSpPr>
        <p:spPr>
          <a:xfrm>
            <a:off x="2861187" y="2743878"/>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PE-1</a:t>
            </a:r>
          </a:p>
        </p:txBody>
      </p:sp>
      <p:sp>
        <p:nvSpPr>
          <p:cNvPr id="9" name="Oval 8">
            <a:extLst>
              <a:ext uri="{FF2B5EF4-FFF2-40B4-BE49-F238E27FC236}">
                <a16:creationId xmlns:a16="http://schemas.microsoft.com/office/drawing/2014/main" id="{DBB2B752-AE8F-9DC3-0D63-E500CBE67C94}"/>
              </a:ext>
            </a:extLst>
          </p:cNvPr>
          <p:cNvSpPr/>
          <p:nvPr/>
        </p:nvSpPr>
        <p:spPr>
          <a:xfrm>
            <a:off x="2625213" y="3050586"/>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E0851D-CFCC-8023-A043-3964DDC76594}"/>
              </a:ext>
            </a:extLst>
          </p:cNvPr>
          <p:cNvSpPr/>
          <p:nvPr/>
        </p:nvSpPr>
        <p:spPr>
          <a:xfrm>
            <a:off x="5225845" y="1461634"/>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P-2</a:t>
            </a:r>
          </a:p>
        </p:txBody>
      </p:sp>
      <p:sp>
        <p:nvSpPr>
          <p:cNvPr id="11" name="Oval 10">
            <a:extLst>
              <a:ext uri="{FF2B5EF4-FFF2-40B4-BE49-F238E27FC236}">
                <a16:creationId xmlns:a16="http://schemas.microsoft.com/office/drawing/2014/main" id="{341588A8-533B-B65D-2813-E637BE0322E3}"/>
              </a:ext>
            </a:extLst>
          </p:cNvPr>
          <p:cNvSpPr/>
          <p:nvPr/>
        </p:nvSpPr>
        <p:spPr>
          <a:xfrm>
            <a:off x="5225845"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P-3</a:t>
            </a:r>
          </a:p>
        </p:txBody>
      </p:sp>
      <p:sp>
        <p:nvSpPr>
          <p:cNvPr id="12" name="Oval 11">
            <a:extLst>
              <a:ext uri="{FF2B5EF4-FFF2-40B4-BE49-F238E27FC236}">
                <a16:creationId xmlns:a16="http://schemas.microsoft.com/office/drawing/2014/main" id="{88820713-3A40-9E92-5017-307E1BA5FCFB}"/>
              </a:ext>
            </a:extLst>
          </p:cNvPr>
          <p:cNvSpPr/>
          <p:nvPr/>
        </p:nvSpPr>
        <p:spPr>
          <a:xfrm>
            <a:off x="8091948" y="1461633"/>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PE-4</a:t>
            </a:r>
          </a:p>
        </p:txBody>
      </p:sp>
      <p:sp>
        <p:nvSpPr>
          <p:cNvPr id="13" name="Oval 12">
            <a:extLst>
              <a:ext uri="{FF2B5EF4-FFF2-40B4-BE49-F238E27FC236}">
                <a16:creationId xmlns:a16="http://schemas.microsoft.com/office/drawing/2014/main" id="{34EEF5FE-F3A6-1D78-CBD1-D19B71E84401}"/>
              </a:ext>
            </a:extLst>
          </p:cNvPr>
          <p:cNvSpPr/>
          <p:nvPr/>
        </p:nvSpPr>
        <p:spPr>
          <a:xfrm>
            <a:off x="8091948"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PE-5</a:t>
            </a:r>
          </a:p>
        </p:txBody>
      </p:sp>
      <p:sp>
        <p:nvSpPr>
          <p:cNvPr id="14" name="Oval 13">
            <a:extLst>
              <a:ext uri="{FF2B5EF4-FFF2-40B4-BE49-F238E27FC236}">
                <a16:creationId xmlns:a16="http://schemas.microsoft.com/office/drawing/2014/main" id="{A33A844A-10F7-FA25-02CA-BE1263DA1218}"/>
              </a:ext>
            </a:extLst>
          </p:cNvPr>
          <p:cNvSpPr/>
          <p:nvPr/>
        </p:nvSpPr>
        <p:spPr>
          <a:xfrm>
            <a:off x="6744928" y="5296213"/>
            <a:ext cx="1061884" cy="1072819"/>
          </a:xfrm>
          <a:prstGeom prst="ellipse">
            <a:avLst/>
          </a:prstGeom>
          <a:solidFill>
            <a:schemeClr val="accent3">
              <a:lumMod val="75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RRv4</a:t>
            </a:r>
            <a:endParaRPr lang="en-US" sz="1600" dirty="0"/>
          </a:p>
        </p:txBody>
      </p:sp>
      <p:grpSp>
        <p:nvGrpSpPr>
          <p:cNvPr id="19" name="Group 18">
            <a:extLst>
              <a:ext uri="{FF2B5EF4-FFF2-40B4-BE49-F238E27FC236}">
                <a16:creationId xmlns:a16="http://schemas.microsoft.com/office/drawing/2014/main" id="{59FB8967-3128-1A08-0574-4C0477666AC1}"/>
              </a:ext>
            </a:extLst>
          </p:cNvPr>
          <p:cNvGrpSpPr/>
          <p:nvPr/>
        </p:nvGrpSpPr>
        <p:grpSpPr>
          <a:xfrm>
            <a:off x="229906" y="1793224"/>
            <a:ext cx="1933191" cy="1412092"/>
            <a:chOff x="229906" y="1793224"/>
            <a:chExt cx="1933191" cy="1412092"/>
          </a:xfrm>
        </p:grpSpPr>
        <p:sp>
          <p:nvSpPr>
            <p:cNvPr id="17" name="TextBox 16">
              <a:extLst>
                <a:ext uri="{FF2B5EF4-FFF2-40B4-BE49-F238E27FC236}">
                  <a16:creationId xmlns:a16="http://schemas.microsoft.com/office/drawing/2014/main" id="{DCABD92B-4299-3F62-AB81-C71EAEFBC20B}"/>
                </a:ext>
              </a:extLst>
            </p:cNvPr>
            <p:cNvSpPr txBox="1"/>
            <p:nvPr/>
          </p:nvSpPr>
          <p:spPr>
            <a:xfrm>
              <a:off x="353961" y="1793224"/>
              <a:ext cx="1809136" cy="1412092"/>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effectLst/>
                  <a:uLnTx/>
                  <a:uFillTx/>
                  <a:latin typeface="Arial" panose="020B0604020202020204"/>
                  <a:ea typeface="+mn-ea"/>
                  <a:cs typeface="+mn-cs"/>
                </a:rPr>
                <a:t>VRF 3001</a:t>
              </a:r>
            </a:p>
            <a:p>
              <a: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pPr>
              <a:r>
                <a:rPr lang="en-US" sz="2000" dirty="0">
                  <a:latin typeface="Arial" panose="020B0604020202020204"/>
                </a:rPr>
                <a:t>full mesh</a:t>
              </a:r>
            </a:p>
            <a:p>
              <a:pPr marR="0" algn="l" defTabSz="914400" rtl="0" eaLnBrk="1" fontAlgn="auto" latinLnBrk="0" hangingPunct="1">
                <a:lnSpc>
                  <a:spcPct val="90000"/>
                </a:lnSpc>
                <a:spcBef>
                  <a:spcPts val="1000"/>
                </a:spcBef>
                <a:spcAft>
                  <a:spcPts val="0"/>
                </a:spcAft>
                <a:buClrTx/>
                <a:buSzTx/>
                <a:tabLst/>
              </a:pPr>
              <a:r>
                <a:rPr kumimoji="0" lang="en-US" sz="2000" i="0" u="none" strike="noStrike" kern="1200" cap="none" spc="0" normalizeH="0" baseline="0" noProof="0" dirty="0">
                  <a:ln>
                    <a:noFill/>
                  </a:ln>
                  <a:effectLst/>
                  <a:uLnTx/>
                  <a:uFillTx/>
                  <a:latin typeface="Arial" panose="020B0604020202020204"/>
                  <a:ea typeface="+mn-ea"/>
                  <a:cs typeface="+mn-cs"/>
                </a:rPr>
                <a:t>     MPLS VRF </a:t>
              </a:r>
            </a:p>
          </p:txBody>
        </p:sp>
        <p:sp>
          <p:nvSpPr>
            <p:cNvPr id="18" name="Oval 17">
              <a:extLst>
                <a:ext uri="{FF2B5EF4-FFF2-40B4-BE49-F238E27FC236}">
                  <a16:creationId xmlns:a16="http://schemas.microsoft.com/office/drawing/2014/main" id="{C5A9DFEF-4947-F2F1-A76D-8AC479436895}"/>
                </a:ext>
              </a:extLst>
            </p:cNvPr>
            <p:cNvSpPr/>
            <p:nvPr/>
          </p:nvSpPr>
          <p:spPr>
            <a:xfrm>
              <a:off x="229906" y="2583736"/>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 name="Oval 19">
            <a:extLst>
              <a:ext uri="{FF2B5EF4-FFF2-40B4-BE49-F238E27FC236}">
                <a16:creationId xmlns:a16="http://schemas.microsoft.com/office/drawing/2014/main" id="{F29B4790-86CB-3D33-D8AA-E7828F3315AA}"/>
              </a:ext>
            </a:extLst>
          </p:cNvPr>
          <p:cNvSpPr/>
          <p:nvPr/>
        </p:nvSpPr>
        <p:spPr>
          <a:xfrm>
            <a:off x="8917858" y="4427967"/>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F7ADD5B5-1DE1-9F97-8D34-DA0DCA03396A}"/>
              </a:ext>
            </a:extLst>
          </p:cNvPr>
          <p:cNvSpPr/>
          <p:nvPr/>
        </p:nvSpPr>
        <p:spPr>
          <a:xfrm>
            <a:off x="8917858" y="1768341"/>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6313A627-B0A9-C701-976E-3F14F76CF28D}"/>
              </a:ext>
            </a:extLst>
          </p:cNvPr>
          <p:cNvCxnSpPr>
            <a:stCxn id="10" idx="6"/>
            <a:endCxn id="12" idx="2"/>
          </p:cNvCxnSpPr>
          <p:nvPr/>
        </p:nvCxnSpPr>
        <p:spPr>
          <a:xfrm flipV="1">
            <a:off x="6287729" y="1998043"/>
            <a:ext cx="1804219" cy="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A7F45EA-CD46-5772-EAFD-4AAC01B7BFC8}"/>
              </a:ext>
            </a:extLst>
          </p:cNvPr>
          <p:cNvCxnSpPr>
            <a:cxnSpLocks/>
            <a:stCxn id="11" idx="7"/>
          </p:cNvCxnSpPr>
          <p:nvPr/>
        </p:nvCxnSpPr>
        <p:spPr>
          <a:xfrm flipV="1">
            <a:off x="6132220" y="2336659"/>
            <a:ext cx="2083535" cy="194171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E852CC6-3C63-30D9-93E0-B76FA8598344}"/>
              </a:ext>
            </a:extLst>
          </p:cNvPr>
          <p:cNvCxnSpPr>
            <a:cxnSpLocks/>
            <a:stCxn id="12" idx="4"/>
          </p:cNvCxnSpPr>
          <p:nvPr/>
        </p:nvCxnSpPr>
        <p:spPr>
          <a:xfrm>
            <a:off x="8622890" y="2534452"/>
            <a:ext cx="0" cy="1592852"/>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BDE2377-063B-01BF-3CB6-05F3FBF4C424}"/>
              </a:ext>
            </a:extLst>
          </p:cNvPr>
          <p:cNvCxnSpPr>
            <a:cxnSpLocks/>
            <a:stCxn id="11" idx="6"/>
            <a:endCxn id="13" idx="2"/>
          </p:cNvCxnSpPr>
          <p:nvPr/>
        </p:nvCxnSpPr>
        <p:spPr>
          <a:xfrm>
            <a:off x="6287729" y="4657669"/>
            <a:ext cx="1804219"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F49B32-4149-6A9F-D7CA-BABCA0E7A0A6}"/>
              </a:ext>
            </a:extLst>
          </p:cNvPr>
          <p:cNvCxnSpPr>
            <a:cxnSpLocks/>
            <a:stCxn id="10" idx="4"/>
            <a:endCxn id="11" idx="0"/>
          </p:cNvCxnSpPr>
          <p:nvPr/>
        </p:nvCxnSpPr>
        <p:spPr>
          <a:xfrm>
            <a:off x="5756787" y="2534453"/>
            <a:ext cx="0" cy="1586806"/>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FB43A74-B938-0C85-4049-B54CC5E87491}"/>
              </a:ext>
            </a:extLst>
          </p:cNvPr>
          <p:cNvCxnSpPr>
            <a:cxnSpLocks/>
            <a:endCxn id="11" idx="2"/>
          </p:cNvCxnSpPr>
          <p:nvPr/>
        </p:nvCxnSpPr>
        <p:spPr>
          <a:xfrm>
            <a:off x="3767562" y="3644526"/>
            <a:ext cx="1458283" cy="1013143"/>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9A3A119-7341-52D5-CD04-1C055CBC3D2C}"/>
              </a:ext>
            </a:extLst>
          </p:cNvPr>
          <p:cNvCxnSpPr>
            <a:cxnSpLocks/>
            <a:stCxn id="8" idx="7"/>
            <a:endCxn id="10" idx="2"/>
          </p:cNvCxnSpPr>
          <p:nvPr/>
        </p:nvCxnSpPr>
        <p:spPr>
          <a:xfrm flipV="1">
            <a:off x="3767562" y="1998044"/>
            <a:ext cx="1458283" cy="902945"/>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AA5A7C64-24D0-F310-9369-5EE60113D0DD}"/>
              </a:ext>
            </a:extLst>
          </p:cNvPr>
          <p:cNvSpPr txBox="1"/>
          <p:nvPr/>
        </p:nvSpPr>
        <p:spPr>
          <a:xfrm>
            <a:off x="2654461" y="3946135"/>
            <a:ext cx="1374465" cy="711533"/>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600" b="1" dirty="0">
                <a:solidFill>
                  <a:schemeClr val="accent4">
                    <a:lumMod val="75000"/>
                  </a:schemeClr>
                </a:solidFill>
                <a:latin typeface="Arial" panose="020B0604020202020204"/>
              </a:rPr>
              <a:t> </a:t>
            </a:r>
            <a:r>
              <a:rPr lang="en-US" sz="1600" dirty="0">
                <a:latin typeface="Arial" panose="020B0604020202020204"/>
              </a:rPr>
              <a:t>+ SRv6</a:t>
            </a:r>
          </a:p>
        </p:txBody>
      </p:sp>
      <p:sp>
        <p:nvSpPr>
          <p:cNvPr id="49" name="TextBox 48">
            <a:extLst>
              <a:ext uri="{FF2B5EF4-FFF2-40B4-BE49-F238E27FC236}">
                <a16:creationId xmlns:a16="http://schemas.microsoft.com/office/drawing/2014/main" id="{EB9FF396-0612-A9EE-123E-7055BFAED65E}"/>
              </a:ext>
            </a:extLst>
          </p:cNvPr>
          <p:cNvSpPr txBox="1"/>
          <p:nvPr/>
        </p:nvSpPr>
        <p:spPr>
          <a:xfrm>
            <a:off x="6588637" y="6372412"/>
            <a:ext cx="1374465"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endPar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endParaRPr>
          </a:p>
        </p:txBody>
      </p:sp>
      <p:cxnSp>
        <p:nvCxnSpPr>
          <p:cNvPr id="50" name="Straight Connector 49">
            <a:extLst>
              <a:ext uri="{FF2B5EF4-FFF2-40B4-BE49-F238E27FC236}">
                <a16:creationId xmlns:a16="http://schemas.microsoft.com/office/drawing/2014/main" id="{32AC3523-6F39-6CDD-5466-A394276895B0}"/>
              </a:ext>
            </a:extLst>
          </p:cNvPr>
          <p:cNvCxnSpPr>
            <a:cxnSpLocks/>
            <a:stCxn id="11" idx="5"/>
            <a:endCxn id="14" idx="1"/>
          </p:cNvCxnSpPr>
          <p:nvPr/>
        </p:nvCxnSpPr>
        <p:spPr>
          <a:xfrm>
            <a:off x="6132220" y="5036967"/>
            <a:ext cx="768217" cy="41635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1317F25D-B41D-CAAF-FCB6-1D3F49BE56B5}"/>
              </a:ext>
            </a:extLst>
          </p:cNvPr>
          <p:cNvSpPr txBox="1"/>
          <p:nvPr/>
        </p:nvSpPr>
        <p:spPr>
          <a:xfrm>
            <a:off x="1487018" y="3116372"/>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10.2.3.0/24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56" name="TextBox 55">
            <a:extLst>
              <a:ext uri="{FF2B5EF4-FFF2-40B4-BE49-F238E27FC236}">
                <a16:creationId xmlns:a16="http://schemas.microsoft.com/office/drawing/2014/main" id="{71597BD8-BA18-4458-65C4-EDF32B89A616}"/>
              </a:ext>
            </a:extLst>
          </p:cNvPr>
          <p:cNvSpPr txBox="1"/>
          <p:nvPr/>
        </p:nvSpPr>
        <p:spPr>
          <a:xfrm>
            <a:off x="9325819" y="4516166"/>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10.0.5.0/24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57" name="TextBox 56">
            <a:extLst>
              <a:ext uri="{FF2B5EF4-FFF2-40B4-BE49-F238E27FC236}">
                <a16:creationId xmlns:a16="http://schemas.microsoft.com/office/drawing/2014/main" id="{C4C859B2-6579-BA7E-74D3-8AC6D6CF78EA}"/>
              </a:ext>
            </a:extLst>
          </p:cNvPr>
          <p:cNvSpPr txBox="1"/>
          <p:nvPr/>
        </p:nvSpPr>
        <p:spPr>
          <a:xfrm>
            <a:off x="9325819" y="1844704"/>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10.0.4.0/24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5C26D65D-05EF-FF2F-EBB6-12EF5D9AEE7B}"/>
              </a:ext>
            </a:extLst>
          </p:cNvPr>
          <p:cNvSpPr txBox="1"/>
          <p:nvPr/>
        </p:nvSpPr>
        <p:spPr>
          <a:xfrm>
            <a:off x="5064109" y="5286376"/>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4" name="TextBox 3">
            <a:extLst>
              <a:ext uri="{FF2B5EF4-FFF2-40B4-BE49-F238E27FC236}">
                <a16:creationId xmlns:a16="http://schemas.microsoft.com/office/drawing/2014/main" id="{D9AA12F4-1770-F159-C6DB-8E028F5D9759}"/>
              </a:ext>
            </a:extLst>
          </p:cNvPr>
          <p:cNvSpPr txBox="1"/>
          <p:nvPr/>
        </p:nvSpPr>
        <p:spPr>
          <a:xfrm>
            <a:off x="5132763" y="949213"/>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5" name="TextBox 4">
            <a:extLst>
              <a:ext uri="{FF2B5EF4-FFF2-40B4-BE49-F238E27FC236}">
                <a16:creationId xmlns:a16="http://schemas.microsoft.com/office/drawing/2014/main" id="{F20EC0DB-1B35-01BD-1164-A60ADEB8EA97}"/>
              </a:ext>
            </a:extLst>
          </p:cNvPr>
          <p:cNvSpPr txBox="1"/>
          <p:nvPr/>
        </p:nvSpPr>
        <p:spPr>
          <a:xfrm>
            <a:off x="7935657" y="95957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r>
              <a:rPr lang="en-US" sz="1600" dirty="0">
                <a:latin typeface="Arial" panose="020B0604020202020204"/>
              </a:rPr>
              <a:t> + SRv6</a:t>
            </a:r>
          </a:p>
        </p:txBody>
      </p:sp>
      <p:sp>
        <p:nvSpPr>
          <p:cNvPr id="6" name="TextBox 5">
            <a:extLst>
              <a:ext uri="{FF2B5EF4-FFF2-40B4-BE49-F238E27FC236}">
                <a16:creationId xmlns:a16="http://schemas.microsoft.com/office/drawing/2014/main" id="{C92528FF-DFC8-807F-35EC-6AEB2901F35D}"/>
              </a:ext>
            </a:extLst>
          </p:cNvPr>
          <p:cNvSpPr txBox="1"/>
          <p:nvPr/>
        </p:nvSpPr>
        <p:spPr>
          <a:xfrm>
            <a:off x="8015341" y="526693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7" name="Oval 6">
            <a:extLst>
              <a:ext uri="{FF2B5EF4-FFF2-40B4-BE49-F238E27FC236}">
                <a16:creationId xmlns:a16="http://schemas.microsoft.com/office/drawing/2014/main" id="{7107F0F5-5264-3C51-408B-196E23D21C09}"/>
              </a:ext>
            </a:extLst>
          </p:cNvPr>
          <p:cNvSpPr/>
          <p:nvPr/>
        </p:nvSpPr>
        <p:spPr>
          <a:xfrm>
            <a:off x="3849048" y="5296213"/>
            <a:ext cx="1061884" cy="1072819"/>
          </a:xfrm>
          <a:prstGeom prst="ellipse">
            <a:avLst/>
          </a:prstGeom>
          <a:solidFill>
            <a:schemeClr val="accent3">
              <a:lumMod val="75000"/>
            </a:schemeClr>
          </a:solidFill>
          <a:ln w="635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bg1"/>
                </a:solidFill>
              </a:rPr>
              <a:t>RRv6</a:t>
            </a:r>
            <a:endParaRPr lang="en-US" sz="1600" dirty="0">
              <a:solidFill>
                <a:schemeClr val="bg1"/>
              </a:solidFill>
            </a:endParaRPr>
          </a:p>
        </p:txBody>
      </p:sp>
      <p:cxnSp>
        <p:nvCxnSpPr>
          <p:cNvPr id="15" name="Straight Connector 14">
            <a:extLst>
              <a:ext uri="{FF2B5EF4-FFF2-40B4-BE49-F238E27FC236}">
                <a16:creationId xmlns:a16="http://schemas.microsoft.com/office/drawing/2014/main" id="{3E97CA9D-FC9A-0C61-9CEE-DCD0C454E893}"/>
              </a:ext>
            </a:extLst>
          </p:cNvPr>
          <p:cNvCxnSpPr>
            <a:cxnSpLocks/>
            <a:stCxn id="7" idx="7"/>
            <a:endCxn id="11" idx="3"/>
          </p:cNvCxnSpPr>
          <p:nvPr/>
        </p:nvCxnSpPr>
        <p:spPr>
          <a:xfrm flipV="1">
            <a:off x="4755423" y="5036967"/>
            <a:ext cx="625931" cy="41635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1BE30D1-0A33-396A-DEBF-AFC8477DDA56}"/>
              </a:ext>
            </a:extLst>
          </p:cNvPr>
          <p:cNvCxnSpPr>
            <a:cxnSpLocks/>
          </p:cNvCxnSpPr>
          <p:nvPr/>
        </p:nvCxnSpPr>
        <p:spPr>
          <a:xfrm flipV="1">
            <a:off x="3923071" y="2151904"/>
            <a:ext cx="4092270" cy="805550"/>
          </a:xfrm>
          <a:prstGeom prst="straightConnector1">
            <a:avLst/>
          </a:prstGeom>
          <a:ln w="50800">
            <a:solidFill>
              <a:schemeClr val="accent3"/>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24ABEDC-BF0E-4EB4-5B5B-BAE861C31855}"/>
              </a:ext>
            </a:extLst>
          </p:cNvPr>
          <p:cNvCxnSpPr>
            <a:cxnSpLocks/>
          </p:cNvCxnSpPr>
          <p:nvPr/>
        </p:nvCxnSpPr>
        <p:spPr>
          <a:xfrm flipH="1" flipV="1">
            <a:off x="3965511" y="3516849"/>
            <a:ext cx="4059743" cy="911118"/>
          </a:xfrm>
          <a:prstGeom prst="straightConnector1">
            <a:avLst/>
          </a:prstGeom>
          <a:ln w="50800">
            <a:solidFill>
              <a:schemeClr val="accent3"/>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9A8F468-AB75-EA4F-2D00-1158D19ED420}"/>
              </a:ext>
            </a:extLst>
          </p:cNvPr>
          <p:cNvCxnSpPr>
            <a:cxnSpLocks/>
          </p:cNvCxnSpPr>
          <p:nvPr/>
        </p:nvCxnSpPr>
        <p:spPr>
          <a:xfrm flipV="1">
            <a:off x="8851164" y="2598784"/>
            <a:ext cx="0" cy="1434484"/>
          </a:xfrm>
          <a:prstGeom prst="straightConnector1">
            <a:avLst/>
          </a:prstGeom>
          <a:ln w="50800">
            <a:solidFill>
              <a:schemeClr val="accent3"/>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DBAB06F6-DA3D-71D8-B11A-03701AC3BF00}"/>
              </a:ext>
            </a:extLst>
          </p:cNvPr>
          <p:cNvSpPr txBox="1"/>
          <p:nvPr/>
        </p:nvSpPr>
        <p:spPr>
          <a:xfrm>
            <a:off x="8836837" y="3256040"/>
            <a:ext cx="755766" cy="183778"/>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MPLS</a:t>
            </a:r>
            <a:endParaRPr lang="en-US" sz="1600" dirty="0">
              <a:latin typeface="Arial" panose="020B0604020202020204"/>
            </a:endParaRPr>
          </a:p>
        </p:txBody>
      </p:sp>
      <p:sp>
        <p:nvSpPr>
          <p:cNvPr id="41" name="TextBox 40">
            <a:extLst>
              <a:ext uri="{FF2B5EF4-FFF2-40B4-BE49-F238E27FC236}">
                <a16:creationId xmlns:a16="http://schemas.microsoft.com/office/drawing/2014/main" id="{168350E7-8301-0EB0-92DB-CF4DA74DACBE}"/>
              </a:ext>
            </a:extLst>
          </p:cNvPr>
          <p:cNvSpPr txBox="1"/>
          <p:nvPr/>
        </p:nvSpPr>
        <p:spPr>
          <a:xfrm>
            <a:off x="6910269" y="2442563"/>
            <a:ext cx="755766" cy="183778"/>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MPLS</a:t>
            </a:r>
            <a:endParaRPr lang="en-US" sz="1600" dirty="0">
              <a:latin typeface="Arial" panose="020B0604020202020204"/>
            </a:endParaRPr>
          </a:p>
        </p:txBody>
      </p:sp>
      <p:sp>
        <p:nvSpPr>
          <p:cNvPr id="42" name="TextBox 41">
            <a:extLst>
              <a:ext uri="{FF2B5EF4-FFF2-40B4-BE49-F238E27FC236}">
                <a16:creationId xmlns:a16="http://schemas.microsoft.com/office/drawing/2014/main" id="{E35A792C-C2C6-11B8-332C-E5FAEB8A4F43}"/>
              </a:ext>
            </a:extLst>
          </p:cNvPr>
          <p:cNvSpPr txBox="1"/>
          <p:nvPr/>
        </p:nvSpPr>
        <p:spPr>
          <a:xfrm>
            <a:off x="6872267" y="4004393"/>
            <a:ext cx="755766" cy="183778"/>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MPLS</a:t>
            </a:r>
            <a:endParaRPr lang="en-US" sz="1600" dirty="0">
              <a:latin typeface="Arial" panose="020B0604020202020204"/>
            </a:endParaRPr>
          </a:p>
        </p:txBody>
      </p:sp>
    </p:spTree>
    <p:extLst>
      <p:ext uri="{BB962C8B-B14F-4D97-AF65-F5344CB8AC3E}">
        <p14:creationId xmlns:p14="http://schemas.microsoft.com/office/powerpoint/2010/main" val="810486189"/>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 Placeholder 53">
            <a:extLst>
              <a:ext uri="{FF2B5EF4-FFF2-40B4-BE49-F238E27FC236}">
                <a16:creationId xmlns:a16="http://schemas.microsoft.com/office/drawing/2014/main" id="{644DD39E-246C-C23C-7452-137473BA63D9}"/>
              </a:ext>
            </a:extLst>
          </p:cNvPr>
          <p:cNvSpPr>
            <a:spLocks noGrp="1"/>
          </p:cNvSpPr>
          <p:nvPr>
            <p:ph type="body" sz="quarter" idx="10"/>
          </p:nvPr>
        </p:nvSpPr>
        <p:spPr/>
        <p:txBody>
          <a:bodyPr/>
          <a:lstStyle/>
          <a:p>
            <a:r>
              <a:rPr lang="en-US" dirty="0"/>
              <a:t>Enable </a:t>
            </a:r>
            <a:r>
              <a:rPr lang="en-US" dirty="0">
                <a:solidFill>
                  <a:schemeClr val="accent4"/>
                </a:solidFill>
              </a:rPr>
              <a:t>Dual Connected VRF</a:t>
            </a:r>
          </a:p>
        </p:txBody>
      </p:sp>
      <p:sp>
        <p:nvSpPr>
          <p:cNvPr id="3" name="Text Placeholder 2">
            <a:extLst>
              <a:ext uri="{FF2B5EF4-FFF2-40B4-BE49-F238E27FC236}">
                <a16:creationId xmlns:a16="http://schemas.microsoft.com/office/drawing/2014/main" id="{D468842C-E9AA-4882-EC44-4597C8EA2A45}"/>
              </a:ext>
            </a:extLst>
          </p:cNvPr>
          <p:cNvSpPr>
            <a:spLocks noGrp="1"/>
          </p:cNvSpPr>
          <p:nvPr>
            <p:ph type="body" sz="quarter" idx="11"/>
          </p:nvPr>
        </p:nvSpPr>
        <p:spPr>
          <a:xfrm>
            <a:off x="873918" y="12461"/>
            <a:ext cx="10444163" cy="773017"/>
          </a:xfrm>
        </p:spPr>
        <p:txBody>
          <a:bodyPr/>
          <a:lstStyle/>
          <a:p>
            <a:r>
              <a:rPr lang="en-US" dirty="0"/>
              <a:t>Step 1 - MPLS LDP to SRv6 migration </a:t>
            </a:r>
            <a:r>
              <a:rPr lang="en-US" dirty="0">
                <a:solidFill>
                  <a:schemeClr val="bg1">
                    <a:lumMod val="50000"/>
                  </a:schemeClr>
                </a:solidFill>
              </a:rPr>
              <a:t>- L3VPN</a:t>
            </a:r>
          </a:p>
        </p:txBody>
      </p:sp>
      <p:sp>
        <p:nvSpPr>
          <p:cNvPr id="8" name="Oval 7">
            <a:extLst>
              <a:ext uri="{FF2B5EF4-FFF2-40B4-BE49-F238E27FC236}">
                <a16:creationId xmlns:a16="http://schemas.microsoft.com/office/drawing/2014/main" id="{993A2A87-8EB9-6614-516E-A2CB823D3BFE}"/>
              </a:ext>
            </a:extLst>
          </p:cNvPr>
          <p:cNvSpPr/>
          <p:nvPr/>
        </p:nvSpPr>
        <p:spPr>
          <a:xfrm>
            <a:off x="2861187" y="2743878"/>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PE-1</a:t>
            </a:r>
          </a:p>
        </p:txBody>
      </p:sp>
      <p:sp>
        <p:nvSpPr>
          <p:cNvPr id="9" name="Oval 8">
            <a:extLst>
              <a:ext uri="{FF2B5EF4-FFF2-40B4-BE49-F238E27FC236}">
                <a16:creationId xmlns:a16="http://schemas.microsoft.com/office/drawing/2014/main" id="{DBB2B752-AE8F-9DC3-0D63-E500CBE67C94}"/>
              </a:ext>
            </a:extLst>
          </p:cNvPr>
          <p:cNvSpPr/>
          <p:nvPr/>
        </p:nvSpPr>
        <p:spPr>
          <a:xfrm>
            <a:off x="2625213" y="3050586"/>
            <a:ext cx="471948" cy="459402"/>
          </a:xfrm>
          <a:prstGeom prst="ellipse">
            <a:avLst/>
          </a:prstGeom>
          <a:solidFill>
            <a:schemeClr val="accent3">
              <a:lumMod val="75000"/>
            </a:schemeClr>
          </a:solidFill>
          <a:ln w="508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E0851D-CFCC-8023-A043-3964DDC76594}"/>
              </a:ext>
            </a:extLst>
          </p:cNvPr>
          <p:cNvSpPr/>
          <p:nvPr/>
        </p:nvSpPr>
        <p:spPr>
          <a:xfrm>
            <a:off x="5225845" y="1461634"/>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P-2</a:t>
            </a:r>
          </a:p>
        </p:txBody>
      </p:sp>
      <p:sp>
        <p:nvSpPr>
          <p:cNvPr id="11" name="Oval 10">
            <a:extLst>
              <a:ext uri="{FF2B5EF4-FFF2-40B4-BE49-F238E27FC236}">
                <a16:creationId xmlns:a16="http://schemas.microsoft.com/office/drawing/2014/main" id="{341588A8-533B-B65D-2813-E637BE0322E3}"/>
              </a:ext>
            </a:extLst>
          </p:cNvPr>
          <p:cNvSpPr/>
          <p:nvPr/>
        </p:nvSpPr>
        <p:spPr>
          <a:xfrm>
            <a:off x="5225845"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P-3</a:t>
            </a:r>
          </a:p>
        </p:txBody>
      </p:sp>
      <p:sp>
        <p:nvSpPr>
          <p:cNvPr id="12" name="Oval 11">
            <a:extLst>
              <a:ext uri="{FF2B5EF4-FFF2-40B4-BE49-F238E27FC236}">
                <a16:creationId xmlns:a16="http://schemas.microsoft.com/office/drawing/2014/main" id="{88820713-3A40-9E92-5017-307E1BA5FCFB}"/>
              </a:ext>
            </a:extLst>
          </p:cNvPr>
          <p:cNvSpPr/>
          <p:nvPr/>
        </p:nvSpPr>
        <p:spPr>
          <a:xfrm>
            <a:off x="8091948" y="1461633"/>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PE-4</a:t>
            </a:r>
          </a:p>
        </p:txBody>
      </p:sp>
      <p:sp>
        <p:nvSpPr>
          <p:cNvPr id="13" name="Oval 12">
            <a:extLst>
              <a:ext uri="{FF2B5EF4-FFF2-40B4-BE49-F238E27FC236}">
                <a16:creationId xmlns:a16="http://schemas.microsoft.com/office/drawing/2014/main" id="{34EEF5FE-F3A6-1D78-CBD1-D19B71E84401}"/>
              </a:ext>
            </a:extLst>
          </p:cNvPr>
          <p:cNvSpPr/>
          <p:nvPr/>
        </p:nvSpPr>
        <p:spPr>
          <a:xfrm>
            <a:off x="8091948"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PE-5</a:t>
            </a:r>
          </a:p>
        </p:txBody>
      </p:sp>
      <p:sp>
        <p:nvSpPr>
          <p:cNvPr id="14" name="Oval 13">
            <a:extLst>
              <a:ext uri="{FF2B5EF4-FFF2-40B4-BE49-F238E27FC236}">
                <a16:creationId xmlns:a16="http://schemas.microsoft.com/office/drawing/2014/main" id="{A33A844A-10F7-FA25-02CA-BE1263DA1218}"/>
              </a:ext>
            </a:extLst>
          </p:cNvPr>
          <p:cNvSpPr/>
          <p:nvPr/>
        </p:nvSpPr>
        <p:spPr>
          <a:xfrm>
            <a:off x="6744928" y="5296213"/>
            <a:ext cx="1061884" cy="1072819"/>
          </a:xfrm>
          <a:prstGeom prst="ellipse">
            <a:avLst/>
          </a:prstGeom>
          <a:solidFill>
            <a:schemeClr val="accent3">
              <a:lumMod val="75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RRv4</a:t>
            </a:r>
            <a:endParaRPr lang="en-US" sz="1600" dirty="0"/>
          </a:p>
        </p:txBody>
      </p:sp>
      <p:sp>
        <p:nvSpPr>
          <p:cNvPr id="17" name="TextBox 16">
            <a:extLst>
              <a:ext uri="{FF2B5EF4-FFF2-40B4-BE49-F238E27FC236}">
                <a16:creationId xmlns:a16="http://schemas.microsoft.com/office/drawing/2014/main" id="{DCABD92B-4299-3F62-AB81-C71EAEFBC20B}"/>
              </a:ext>
            </a:extLst>
          </p:cNvPr>
          <p:cNvSpPr txBox="1"/>
          <p:nvPr/>
        </p:nvSpPr>
        <p:spPr>
          <a:xfrm>
            <a:off x="353961" y="1793224"/>
            <a:ext cx="2300500" cy="2562466"/>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effectLst/>
                <a:uLnTx/>
                <a:uFillTx/>
                <a:latin typeface="Arial" panose="020B0604020202020204"/>
                <a:ea typeface="+mn-ea"/>
                <a:cs typeface="+mn-cs"/>
              </a:rPr>
              <a:t>VRF 3001</a:t>
            </a:r>
          </a:p>
          <a:p>
            <a: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pPr>
            <a:r>
              <a:rPr lang="en-US" sz="2000" dirty="0">
                <a:latin typeface="Arial" panose="020B0604020202020204"/>
              </a:rPr>
              <a:t>full mesh</a:t>
            </a:r>
          </a:p>
          <a:p>
            <a:pPr marR="0" algn="l" defTabSz="914400" rtl="0" eaLnBrk="1" fontAlgn="auto" latinLnBrk="0" hangingPunct="1">
              <a:lnSpc>
                <a:spcPct val="90000"/>
              </a:lnSpc>
              <a:spcBef>
                <a:spcPts val="1000"/>
              </a:spcBef>
              <a:spcAft>
                <a:spcPts val="0"/>
              </a:spcAft>
              <a:buClrTx/>
              <a:buSzTx/>
              <a:tabLst/>
            </a:pPr>
            <a:r>
              <a:rPr kumimoji="0" lang="en-US" sz="2000" i="0" u="none" strike="noStrike" kern="1200" cap="none" spc="0" normalizeH="0" baseline="0" noProof="0" dirty="0">
                <a:ln>
                  <a:noFill/>
                </a:ln>
                <a:effectLst/>
                <a:uLnTx/>
                <a:uFillTx/>
                <a:latin typeface="Arial" panose="020B0604020202020204"/>
                <a:ea typeface="+mn-ea"/>
                <a:cs typeface="+mn-cs"/>
              </a:rPr>
              <a:t>     MPLS VRF</a:t>
            </a:r>
          </a:p>
          <a:p>
            <a:pPr marR="0" algn="l" defTabSz="914400" rtl="0" eaLnBrk="1" fontAlgn="auto" latinLnBrk="0" hangingPunct="1">
              <a:lnSpc>
                <a:spcPct val="90000"/>
              </a:lnSpc>
              <a:spcBef>
                <a:spcPts val="1000"/>
              </a:spcBef>
              <a:spcAft>
                <a:spcPts val="0"/>
              </a:spcAft>
              <a:buClrTx/>
              <a:buSzTx/>
              <a:tabLst/>
            </a:pPr>
            <a:endParaRPr lang="en-US" sz="2000" dirty="0">
              <a:latin typeface="Arial" panose="020B0604020202020204"/>
            </a:endParaRPr>
          </a:p>
          <a:p>
            <a:pPr marR="0" algn="l" defTabSz="914400" rtl="0" eaLnBrk="1" fontAlgn="auto" latinLnBrk="0" hangingPunct="1">
              <a:lnSpc>
                <a:spcPct val="90000"/>
              </a:lnSpc>
              <a:spcBef>
                <a:spcPts val="1000"/>
              </a:spcBef>
              <a:spcAft>
                <a:spcPts val="0"/>
              </a:spcAft>
              <a:buClrTx/>
              <a:buSzTx/>
              <a:tabLst/>
            </a:pPr>
            <a:r>
              <a:rPr kumimoji="0" lang="en-US" sz="2000" i="0" u="none" strike="noStrike" kern="1200" cap="none" spc="0" normalizeH="0" baseline="0" noProof="0" dirty="0">
                <a:ln>
                  <a:noFill/>
                </a:ln>
                <a:effectLst/>
                <a:uLnTx/>
                <a:uFillTx/>
                <a:latin typeface="Arial" panose="020B0604020202020204"/>
                <a:ea typeface="+mn-ea"/>
                <a:cs typeface="+mn-cs"/>
              </a:rPr>
              <a:t>     </a:t>
            </a:r>
            <a:r>
              <a:rPr kumimoji="0" lang="en-US" sz="2000" i="0" u="none" strike="noStrike" kern="1200" cap="none" spc="0" normalizeH="0" baseline="0" noProof="0" dirty="0">
                <a:ln>
                  <a:noFill/>
                </a:ln>
                <a:solidFill>
                  <a:schemeClr val="accent4"/>
                </a:solidFill>
                <a:effectLst/>
                <a:uLnTx/>
                <a:uFillTx/>
                <a:latin typeface="Arial" panose="020B0604020202020204"/>
                <a:ea typeface="+mn-ea"/>
                <a:cs typeface="+mn-cs"/>
              </a:rPr>
              <a:t>Dual connected</a:t>
            </a:r>
          </a:p>
          <a:p>
            <a:pPr marR="0" algn="l" defTabSz="914400" rtl="0" eaLnBrk="1" fontAlgn="auto" latinLnBrk="0" hangingPunct="1">
              <a:lnSpc>
                <a:spcPct val="90000"/>
              </a:lnSpc>
              <a:spcBef>
                <a:spcPts val="1000"/>
              </a:spcBef>
              <a:spcAft>
                <a:spcPts val="0"/>
              </a:spcAft>
              <a:buClrTx/>
              <a:buSzTx/>
              <a:tabLst/>
            </a:pPr>
            <a:r>
              <a:rPr kumimoji="0" lang="en-US" sz="2000" i="0" u="none" strike="noStrike" kern="1200" cap="none" spc="0" normalizeH="0" baseline="0" noProof="0" dirty="0">
                <a:ln>
                  <a:noFill/>
                </a:ln>
                <a:solidFill>
                  <a:schemeClr val="accent4"/>
                </a:solidFill>
                <a:effectLst/>
                <a:uLnTx/>
                <a:uFillTx/>
                <a:latin typeface="Arial" panose="020B0604020202020204"/>
                <a:ea typeface="+mn-ea"/>
                <a:cs typeface="+mn-cs"/>
              </a:rPr>
              <a:t>     VRF </a:t>
            </a:r>
          </a:p>
        </p:txBody>
      </p:sp>
      <p:sp>
        <p:nvSpPr>
          <p:cNvPr id="18" name="Oval 17">
            <a:extLst>
              <a:ext uri="{FF2B5EF4-FFF2-40B4-BE49-F238E27FC236}">
                <a16:creationId xmlns:a16="http://schemas.microsoft.com/office/drawing/2014/main" id="{C5A9DFEF-4947-F2F1-A76D-8AC479436895}"/>
              </a:ext>
            </a:extLst>
          </p:cNvPr>
          <p:cNvSpPr/>
          <p:nvPr/>
        </p:nvSpPr>
        <p:spPr>
          <a:xfrm>
            <a:off x="229906" y="2640948"/>
            <a:ext cx="471948" cy="492651"/>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F29B4790-86CB-3D33-D8AA-E7828F3315AA}"/>
              </a:ext>
            </a:extLst>
          </p:cNvPr>
          <p:cNvSpPr/>
          <p:nvPr/>
        </p:nvSpPr>
        <p:spPr>
          <a:xfrm>
            <a:off x="8917858" y="4427967"/>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F7ADD5B5-1DE1-9F97-8D34-DA0DCA03396A}"/>
              </a:ext>
            </a:extLst>
          </p:cNvPr>
          <p:cNvSpPr/>
          <p:nvPr/>
        </p:nvSpPr>
        <p:spPr>
          <a:xfrm>
            <a:off x="8917858" y="1768341"/>
            <a:ext cx="471948" cy="459402"/>
          </a:xfrm>
          <a:prstGeom prst="ellipse">
            <a:avLst/>
          </a:prstGeom>
          <a:solidFill>
            <a:schemeClr val="accent3">
              <a:lumMod val="75000"/>
            </a:schemeClr>
          </a:solidFill>
          <a:ln w="508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6313A627-B0A9-C701-976E-3F14F76CF28D}"/>
              </a:ext>
            </a:extLst>
          </p:cNvPr>
          <p:cNvCxnSpPr>
            <a:stCxn id="10" idx="6"/>
            <a:endCxn id="12" idx="2"/>
          </p:cNvCxnSpPr>
          <p:nvPr/>
        </p:nvCxnSpPr>
        <p:spPr>
          <a:xfrm flipV="1">
            <a:off x="6287729" y="1998043"/>
            <a:ext cx="1804219" cy="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A7F45EA-CD46-5772-EAFD-4AAC01B7BFC8}"/>
              </a:ext>
            </a:extLst>
          </p:cNvPr>
          <p:cNvCxnSpPr>
            <a:cxnSpLocks/>
            <a:stCxn id="11" idx="7"/>
          </p:cNvCxnSpPr>
          <p:nvPr/>
        </p:nvCxnSpPr>
        <p:spPr>
          <a:xfrm flipV="1">
            <a:off x="6132220" y="2336659"/>
            <a:ext cx="2083535" cy="194171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E852CC6-3C63-30D9-93E0-B76FA8598344}"/>
              </a:ext>
            </a:extLst>
          </p:cNvPr>
          <p:cNvCxnSpPr>
            <a:cxnSpLocks/>
            <a:stCxn id="12" idx="4"/>
          </p:cNvCxnSpPr>
          <p:nvPr/>
        </p:nvCxnSpPr>
        <p:spPr>
          <a:xfrm>
            <a:off x="8622890" y="2534452"/>
            <a:ext cx="0" cy="1592852"/>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BDE2377-063B-01BF-3CB6-05F3FBF4C424}"/>
              </a:ext>
            </a:extLst>
          </p:cNvPr>
          <p:cNvCxnSpPr>
            <a:cxnSpLocks/>
            <a:stCxn id="11" idx="6"/>
            <a:endCxn id="13" idx="2"/>
          </p:cNvCxnSpPr>
          <p:nvPr/>
        </p:nvCxnSpPr>
        <p:spPr>
          <a:xfrm>
            <a:off x="6287729" y="4657669"/>
            <a:ext cx="1804219"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F49B32-4149-6A9F-D7CA-BABCA0E7A0A6}"/>
              </a:ext>
            </a:extLst>
          </p:cNvPr>
          <p:cNvCxnSpPr>
            <a:cxnSpLocks/>
            <a:stCxn id="10" idx="4"/>
            <a:endCxn id="11" idx="0"/>
          </p:cNvCxnSpPr>
          <p:nvPr/>
        </p:nvCxnSpPr>
        <p:spPr>
          <a:xfrm>
            <a:off x="5756787" y="2534453"/>
            <a:ext cx="0" cy="1586806"/>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FB43A74-B938-0C85-4049-B54CC5E87491}"/>
              </a:ext>
            </a:extLst>
          </p:cNvPr>
          <p:cNvCxnSpPr>
            <a:cxnSpLocks/>
            <a:endCxn id="11" idx="2"/>
          </p:cNvCxnSpPr>
          <p:nvPr/>
        </p:nvCxnSpPr>
        <p:spPr>
          <a:xfrm>
            <a:off x="3767562" y="3644526"/>
            <a:ext cx="1458283" cy="1013143"/>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9A3A119-7341-52D5-CD04-1C055CBC3D2C}"/>
              </a:ext>
            </a:extLst>
          </p:cNvPr>
          <p:cNvCxnSpPr>
            <a:cxnSpLocks/>
            <a:stCxn id="8" idx="7"/>
            <a:endCxn id="10" idx="2"/>
          </p:cNvCxnSpPr>
          <p:nvPr/>
        </p:nvCxnSpPr>
        <p:spPr>
          <a:xfrm flipV="1">
            <a:off x="3767562" y="1998044"/>
            <a:ext cx="1458283" cy="902945"/>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AA5A7C64-24D0-F310-9369-5EE60113D0DD}"/>
              </a:ext>
            </a:extLst>
          </p:cNvPr>
          <p:cNvSpPr txBox="1"/>
          <p:nvPr/>
        </p:nvSpPr>
        <p:spPr>
          <a:xfrm>
            <a:off x="2654461" y="3946135"/>
            <a:ext cx="1374465" cy="711533"/>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600" b="1" dirty="0">
                <a:solidFill>
                  <a:schemeClr val="accent4">
                    <a:lumMod val="75000"/>
                  </a:schemeClr>
                </a:solidFill>
                <a:latin typeface="Arial" panose="020B0604020202020204"/>
              </a:rPr>
              <a:t> </a:t>
            </a:r>
            <a:r>
              <a:rPr lang="en-US" sz="1600" dirty="0">
                <a:latin typeface="Arial" panose="020B0604020202020204"/>
              </a:rPr>
              <a:t>+ SRv6</a:t>
            </a:r>
          </a:p>
        </p:txBody>
      </p:sp>
      <p:sp>
        <p:nvSpPr>
          <p:cNvPr id="49" name="TextBox 48">
            <a:extLst>
              <a:ext uri="{FF2B5EF4-FFF2-40B4-BE49-F238E27FC236}">
                <a16:creationId xmlns:a16="http://schemas.microsoft.com/office/drawing/2014/main" id="{EB9FF396-0612-A9EE-123E-7055BFAED65E}"/>
              </a:ext>
            </a:extLst>
          </p:cNvPr>
          <p:cNvSpPr txBox="1"/>
          <p:nvPr/>
        </p:nvSpPr>
        <p:spPr>
          <a:xfrm>
            <a:off x="6588637" y="6372412"/>
            <a:ext cx="1374465"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endPar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endParaRPr>
          </a:p>
        </p:txBody>
      </p:sp>
      <p:cxnSp>
        <p:nvCxnSpPr>
          <p:cNvPr id="50" name="Straight Connector 49">
            <a:extLst>
              <a:ext uri="{FF2B5EF4-FFF2-40B4-BE49-F238E27FC236}">
                <a16:creationId xmlns:a16="http://schemas.microsoft.com/office/drawing/2014/main" id="{32AC3523-6F39-6CDD-5466-A394276895B0}"/>
              </a:ext>
            </a:extLst>
          </p:cNvPr>
          <p:cNvCxnSpPr>
            <a:cxnSpLocks/>
            <a:stCxn id="11" idx="5"/>
            <a:endCxn id="14" idx="1"/>
          </p:cNvCxnSpPr>
          <p:nvPr/>
        </p:nvCxnSpPr>
        <p:spPr>
          <a:xfrm>
            <a:off x="6132220" y="5036967"/>
            <a:ext cx="768217" cy="41635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1317F25D-B41D-CAAF-FCB6-1D3F49BE56B5}"/>
              </a:ext>
            </a:extLst>
          </p:cNvPr>
          <p:cNvSpPr txBox="1"/>
          <p:nvPr/>
        </p:nvSpPr>
        <p:spPr>
          <a:xfrm>
            <a:off x="1487018" y="3116372"/>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10.2.3.0/24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56" name="TextBox 55">
            <a:extLst>
              <a:ext uri="{FF2B5EF4-FFF2-40B4-BE49-F238E27FC236}">
                <a16:creationId xmlns:a16="http://schemas.microsoft.com/office/drawing/2014/main" id="{71597BD8-BA18-4458-65C4-EDF32B89A616}"/>
              </a:ext>
            </a:extLst>
          </p:cNvPr>
          <p:cNvSpPr txBox="1"/>
          <p:nvPr/>
        </p:nvSpPr>
        <p:spPr>
          <a:xfrm>
            <a:off x="9325819" y="4516166"/>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10.0.5.0/24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57" name="TextBox 56">
            <a:extLst>
              <a:ext uri="{FF2B5EF4-FFF2-40B4-BE49-F238E27FC236}">
                <a16:creationId xmlns:a16="http://schemas.microsoft.com/office/drawing/2014/main" id="{C4C859B2-6579-BA7E-74D3-8AC6D6CF78EA}"/>
              </a:ext>
            </a:extLst>
          </p:cNvPr>
          <p:cNvSpPr txBox="1"/>
          <p:nvPr/>
        </p:nvSpPr>
        <p:spPr>
          <a:xfrm>
            <a:off x="9325819" y="1844704"/>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10.0.4.0/24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5C26D65D-05EF-FF2F-EBB6-12EF5D9AEE7B}"/>
              </a:ext>
            </a:extLst>
          </p:cNvPr>
          <p:cNvSpPr txBox="1"/>
          <p:nvPr/>
        </p:nvSpPr>
        <p:spPr>
          <a:xfrm>
            <a:off x="5064109" y="5286376"/>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4" name="TextBox 3">
            <a:extLst>
              <a:ext uri="{FF2B5EF4-FFF2-40B4-BE49-F238E27FC236}">
                <a16:creationId xmlns:a16="http://schemas.microsoft.com/office/drawing/2014/main" id="{D9AA12F4-1770-F159-C6DB-8E028F5D9759}"/>
              </a:ext>
            </a:extLst>
          </p:cNvPr>
          <p:cNvSpPr txBox="1"/>
          <p:nvPr/>
        </p:nvSpPr>
        <p:spPr>
          <a:xfrm>
            <a:off x="5132763" y="949213"/>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5" name="TextBox 4">
            <a:extLst>
              <a:ext uri="{FF2B5EF4-FFF2-40B4-BE49-F238E27FC236}">
                <a16:creationId xmlns:a16="http://schemas.microsoft.com/office/drawing/2014/main" id="{F20EC0DB-1B35-01BD-1164-A60ADEB8EA97}"/>
              </a:ext>
            </a:extLst>
          </p:cNvPr>
          <p:cNvSpPr txBox="1"/>
          <p:nvPr/>
        </p:nvSpPr>
        <p:spPr>
          <a:xfrm>
            <a:off x="7935657" y="95957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r>
              <a:rPr lang="en-US" sz="1600" dirty="0">
                <a:latin typeface="Arial" panose="020B0604020202020204"/>
              </a:rPr>
              <a:t> + SRv6</a:t>
            </a:r>
          </a:p>
        </p:txBody>
      </p:sp>
      <p:sp>
        <p:nvSpPr>
          <p:cNvPr id="6" name="TextBox 5">
            <a:extLst>
              <a:ext uri="{FF2B5EF4-FFF2-40B4-BE49-F238E27FC236}">
                <a16:creationId xmlns:a16="http://schemas.microsoft.com/office/drawing/2014/main" id="{C92528FF-DFC8-807F-35EC-6AEB2901F35D}"/>
              </a:ext>
            </a:extLst>
          </p:cNvPr>
          <p:cNvSpPr txBox="1"/>
          <p:nvPr/>
        </p:nvSpPr>
        <p:spPr>
          <a:xfrm>
            <a:off x="8015341" y="526693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7" name="Oval 6">
            <a:extLst>
              <a:ext uri="{FF2B5EF4-FFF2-40B4-BE49-F238E27FC236}">
                <a16:creationId xmlns:a16="http://schemas.microsoft.com/office/drawing/2014/main" id="{7107F0F5-5264-3C51-408B-196E23D21C09}"/>
              </a:ext>
            </a:extLst>
          </p:cNvPr>
          <p:cNvSpPr/>
          <p:nvPr/>
        </p:nvSpPr>
        <p:spPr>
          <a:xfrm>
            <a:off x="3849048" y="5296213"/>
            <a:ext cx="1061884" cy="1072819"/>
          </a:xfrm>
          <a:prstGeom prst="ellipse">
            <a:avLst/>
          </a:prstGeom>
          <a:solidFill>
            <a:schemeClr val="accent3">
              <a:lumMod val="75000"/>
            </a:schemeClr>
          </a:solidFill>
          <a:ln w="635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bg1"/>
                </a:solidFill>
              </a:rPr>
              <a:t>RRv6</a:t>
            </a:r>
            <a:endParaRPr lang="en-US" sz="1600" dirty="0">
              <a:solidFill>
                <a:schemeClr val="bg1"/>
              </a:solidFill>
            </a:endParaRPr>
          </a:p>
        </p:txBody>
      </p:sp>
      <p:cxnSp>
        <p:nvCxnSpPr>
          <p:cNvPr id="15" name="Straight Connector 14">
            <a:extLst>
              <a:ext uri="{FF2B5EF4-FFF2-40B4-BE49-F238E27FC236}">
                <a16:creationId xmlns:a16="http://schemas.microsoft.com/office/drawing/2014/main" id="{3E97CA9D-FC9A-0C61-9CEE-DCD0C454E893}"/>
              </a:ext>
            </a:extLst>
          </p:cNvPr>
          <p:cNvCxnSpPr>
            <a:cxnSpLocks/>
            <a:stCxn id="7" idx="7"/>
            <a:endCxn id="11" idx="3"/>
          </p:cNvCxnSpPr>
          <p:nvPr/>
        </p:nvCxnSpPr>
        <p:spPr>
          <a:xfrm flipV="1">
            <a:off x="4755423" y="5036967"/>
            <a:ext cx="625931" cy="41635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1BE30D1-0A33-396A-DEBF-AFC8477DDA56}"/>
              </a:ext>
            </a:extLst>
          </p:cNvPr>
          <p:cNvCxnSpPr>
            <a:cxnSpLocks/>
          </p:cNvCxnSpPr>
          <p:nvPr/>
        </p:nvCxnSpPr>
        <p:spPr>
          <a:xfrm flipV="1">
            <a:off x="3923071" y="2151904"/>
            <a:ext cx="4092270" cy="805550"/>
          </a:xfrm>
          <a:prstGeom prst="straightConnector1">
            <a:avLst/>
          </a:prstGeom>
          <a:ln w="50800">
            <a:solidFill>
              <a:schemeClr val="accent3"/>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24ABEDC-BF0E-4EB4-5B5B-BAE861C31855}"/>
              </a:ext>
            </a:extLst>
          </p:cNvPr>
          <p:cNvCxnSpPr>
            <a:cxnSpLocks/>
          </p:cNvCxnSpPr>
          <p:nvPr/>
        </p:nvCxnSpPr>
        <p:spPr>
          <a:xfrm flipH="1" flipV="1">
            <a:off x="3965511" y="3516849"/>
            <a:ext cx="4059743" cy="911118"/>
          </a:xfrm>
          <a:prstGeom prst="straightConnector1">
            <a:avLst/>
          </a:prstGeom>
          <a:ln w="50800">
            <a:solidFill>
              <a:schemeClr val="accent3"/>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9A8F468-AB75-EA4F-2D00-1158D19ED420}"/>
              </a:ext>
            </a:extLst>
          </p:cNvPr>
          <p:cNvCxnSpPr>
            <a:cxnSpLocks/>
          </p:cNvCxnSpPr>
          <p:nvPr/>
        </p:nvCxnSpPr>
        <p:spPr>
          <a:xfrm flipV="1">
            <a:off x="8851164" y="2598784"/>
            <a:ext cx="0" cy="1434484"/>
          </a:xfrm>
          <a:prstGeom prst="straightConnector1">
            <a:avLst/>
          </a:prstGeom>
          <a:ln w="50800">
            <a:solidFill>
              <a:schemeClr val="accent3"/>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DBAB06F6-DA3D-71D8-B11A-03701AC3BF00}"/>
              </a:ext>
            </a:extLst>
          </p:cNvPr>
          <p:cNvSpPr txBox="1"/>
          <p:nvPr/>
        </p:nvSpPr>
        <p:spPr>
          <a:xfrm>
            <a:off x="8836837" y="3256040"/>
            <a:ext cx="755766" cy="183778"/>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MPLS</a:t>
            </a:r>
            <a:endParaRPr lang="en-US" sz="1600" dirty="0">
              <a:latin typeface="Arial" panose="020B0604020202020204"/>
            </a:endParaRPr>
          </a:p>
        </p:txBody>
      </p:sp>
      <p:sp>
        <p:nvSpPr>
          <p:cNvPr id="41" name="TextBox 40">
            <a:extLst>
              <a:ext uri="{FF2B5EF4-FFF2-40B4-BE49-F238E27FC236}">
                <a16:creationId xmlns:a16="http://schemas.microsoft.com/office/drawing/2014/main" id="{168350E7-8301-0EB0-92DB-CF4DA74DACBE}"/>
              </a:ext>
            </a:extLst>
          </p:cNvPr>
          <p:cNvSpPr txBox="1"/>
          <p:nvPr/>
        </p:nvSpPr>
        <p:spPr>
          <a:xfrm>
            <a:off x="6910269" y="2442563"/>
            <a:ext cx="755766" cy="183778"/>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MPLS</a:t>
            </a:r>
            <a:endParaRPr lang="en-US" sz="1600" dirty="0">
              <a:latin typeface="Arial" panose="020B0604020202020204"/>
            </a:endParaRPr>
          </a:p>
        </p:txBody>
      </p:sp>
      <p:sp>
        <p:nvSpPr>
          <p:cNvPr id="42" name="TextBox 41">
            <a:extLst>
              <a:ext uri="{FF2B5EF4-FFF2-40B4-BE49-F238E27FC236}">
                <a16:creationId xmlns:a16="http://schemas.microsoft.com/office/drawing/2014/main" id="{E35A792C-C2C6-11B8-332C-E5FAEB8A4F43}"/>
              </a:ext>
            </a:extLst>
          </p:cNvPr>
          <p:cNvSpPr txBox="1"/>
          <p:nvPr/>
        </p:nvSpPr>
        <p:spPr>
          <a:xfrm>
            <a:off x="6872267" y="4004393"/>
            <a:ext cx="755766" cy="183778"/>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MPLS</a:t>
            </a:r>
            <a:endParaRPr lang="en-US" sz="1600" dirty="0">
              <a:latin typeface="Arial" panose="020B0604020202020204"/>
            </a:endParaRPr>
          </a:p>
        </p:txBody>
      </p:sp>
      <p:sp>
        <p:nvSpPr>
          <p:cNvPr id="16" name="Oval 15">
            <a:extLst>
              <a:ext uri="{FF2B5EF4-FFF2-40B4-BE49-F238E27FC236}">
                <a16:creationId xmlns:a16="http://schemas.microsoft.com/office/drawing/2014/main" id="{0129EBD1-BD3B-C467-C599-BC61342C3AD4}"/>
              </a:ext>
            </a:extLst>
          </p:cNvPr>
          <p:cNvSpPr/>
          <p:nvPr/>
        </p:nvSpPr>
        <p:spPr>
          <a:xfrm>
            <a:off x="257410" y="3307514"/>
            <a:ext cx="471948" cy="459402"/>
          </a:xfrm>
          <a:prstGeom prst="ellipse">
            <a:avLst/>
          </a:prstGeom>
          <a:solidFill>
            <a:schemeClr val="accent3">
              <a:lumMod val="75000"/>
            </a:schemeClr>
          </a:solidFill>
          <a:ln w="508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54292170"/>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0C4DE83-9298-809E-261F-86F4D10717BC}"/>
              </a:ext>
            </a:extLst>
          </p:cNvPr>
          <p:cNvSpPr>
            <a:spLocks noGrp="1"/>
          </p:cNvSpPr>
          <p:nvPr>
            <p:ph type="body" sz="quarter" idx="10"/>
          </p:nvPr>
        </p:nvSpPr>
        <p:spPr/>
        <p:txBody>
          <a:bodyPr/>
          <a:lstStyle/>
          <a:p>
            <a:endParaRPr lang="en-US" dirty="0"/>
          </a:p>
        </p:txBody>
      </p:sp>
      <p:sp>
        <p:nvSpPr>
          <p:cNvPr id="7" name="Text Placeholder 6">
            <a:extLst>
              <a:ext uri="{FF2B5EF4-FFF2-40B4-BE49-F238E27FC236}">
                <a16:creationId xmlns:a16="http://schemas.microsoft.com/office/drawing/2014/main" id="{6B0DEB13-3EF7-67DA-5148-FF05E855D34F}"/>
              </a:ext>
            </a:extLst>
          </p:cNvPr>
          <p:cNvSpPr>
            <a:spLocks noGrp="1"/>
          </p:cNvSpPr>
          <p:nvPr>
            <p:ph type="body" sz="quarter" idx="11"/>
          </p:nvPr>
        </p:nvSpPr>
        <p:spPr/>
        <p:txBody>
          <a:bodyPr/>
          <a:lstStyle/>
          <a:p>
            <a:r>
              <a:rPr lang="en-US" dirty="0"/>
              <a:t>Enable Dual Connected VRF</a:t>
            </a:r>
          </a:p>
        </p:txBody>
      </p:sp>
      <p:sp>
        <p:nvSpPr>
          <p:cNvPr id="8" name="Rectangle 7">
            <a:extLst>
              <a:ext uri="{FF2B5EF4-FFF2-40B4-BE49-F238E27FC236}">
                <a16:creationId xmlns:a16="http://schemas.microsoft.com/office/drawing/2014/main" id="{D22F8B01-6D02-D13E-6456-8B9B4FC1AEA8}"/>
              </a:ext>
            </a:extLst>
          </p:cNvPr>
          <p:cNvSpPr/>
          <p:nvPr/>
        </p:nvSpPr>
        <p:spPr>
          <a:xfrm>
            <a:off x="1089192" y="1443841"/>
            <a:ext cx="6486305" cy="5016758"/>
          </a:xfrm>
          <a:prstGeom prst="rect">
            <a:avLst/>
          </a:prstGeom>
          <a:solidFill>
            <a:schemeClr val="bg1">
              <a:lumMod val="95000"/>
            </a:schemeClr>
          </a:solidFill>
          <a:ln>
            <a:solidFill>
              <a:schemeClr val="tx1"/>
            </a:solidFill>
          </a:ln>
          <a:effectLst/>
        </p:spPr>
        <p:txBody>
          <a:bodyPr wrap="square">
            <a:spAutoFit/>
          </a:bodyPr>
          <a:lstStyle/>
          <a:p>
            <a:r>
              <a:rPr lang="en-US" sz="2000" dirty="0">
                <a:latin typeface="Consolas" panose="020B0609020204030204" pitchFamily="49" charset="0"/>
              </a:rPr>
              <a:t>route-policy </a:t>
            </a:r>
            <a:r>
              <a:rPr lang="en-US" sz="2000" dirty="0">
                <a:solidFill>
                  <a:srgbClr val="FA661C"/>
                </a:solidFill>
                <a:latin typeface="Consolas" panose="020B0609020204030204" pitchFamily="49" charset="0"/>
              </a:rPr>
              <a:t>vpn-transport</a:t>
            </a:r>
          </a:p>
          <a:p>
            <a:r>
              <a:rPr lang="en-US" sz="2000" dirty="0">
                <a:latin typeface="Consolas" panose="020B0609020204030204" pitchFamily="49" charset="0"/>
              </a:rPr>
              <a:t> set local-preference 50</a:t>
            </a:r>
          </a:p>
          <a:p>
            <a:r>
              <a:rPr lang="en-US" sz="2000" dirty="0">
                <a:latin typeface="Consolas" panose="020B0609020204030204" pitchFamily="49" charset="0"/>
              </a:rPr>
              <a:t>end-policy</a:t>
            </a:r>
          </a:p>
          <a:p>
            <a:r>
              <a:rPr lang="en-US" sz="2000" dirty="0">
                <a:latin typeface="Consolas" panose="020B0609020204030204" pitchFamily="49" charset="0"/>
              </a:rPr>
              <a:t>router bgp 64001</a:t>
            </a:r>
          </a:p>
          <a:p>
            <a:r>
              <a:rPr lang="en-US" sz="2000" dirty="0">
                <a:latin typeface="Consolas" panose="020B0609020204030204" pitchFamily="49" charset="0"/>
              </a:rPr>
              <a:t> segment-routing </a:t>
            </a:r>
            <a:r>
              <a:rPr lang="en-US" sz="2000" dirty="0" err="1">
                <a:latin typeface="Consolas" panose="020B0609020204030204" pitchFamily="49" charset="0"/>
              </a:rPr>
              <a:t>srv6</a:t>
            </a:r>
            <a:endParaRPr lang="en-US" sz="2000" dirty="0">
              <a:latin typeface="Consolas" panose="020B0609020204030204" pitchFamily="49" charset="0"/>
            </a:endParaRPr>
          </a:p>
          <a:p>
            <a:r>
              <a:rPr lang="en-US" sz="2000" dirty="0">
                <a:latin typeface="Consolas" panose="020B0609020204030204" pitchFamily="49" charset="0"/>
              </a:rPr>
              <a:t>  locator </a:t>
            </a:r>
            <a:r>
              <a:rPr lang="en-US" sz="2000" dirty="0">
                <a:solidFill>
                  <a:schemeClr val="accent4"/>
                </a:solidFill>
                <a:latin typeface="Consolas" panose="020B0609020204030204" pitchFamily="49" charset="0"/>
              </a:rPr>
              <a:t>MAIN</a:t>
            </a:r>
          </a:p>
          <a:p>
            <a:r>
              <a:rPr lang="en-US" sz="2000" dirty="0">
                <a:latin typeface="Consolas" panose="020B0609020204030204" pitchFamily="49" charset="0"/>
              </a:rPr>
              <a:t>!</a:t>
            </a:r>
          </a:p>
          <a:p>
            <a:r>
              <a:rPr lang="en-US" sz="2000" dirty="0">
                <a:latin typeface="Consolas" panose="020B0609020204030204" pitchFamily="49" charset="0"/>
              </a:rPr>
              <a:t>vrf 3001</a:t>
            </a:r>
          </a:p>
          <a:p>
            <a:r>
              <a:rPr lang="en-US" sz="2000" dirty="0">
                <a:latin typeface="Consolas" panose="020B0609020204030204" pitchFamily="49" charset="0"/>
              </a:rPr>
              <a:t> rd 23:3001</a:t>
            </a:r>
          </a:p>
          <a:p>
            <a:r>
              <a:rPr lang="en-US" sz="2000" dirty="0">
                <a:latin typeface="Consolas" panose="020B0609020204030204" pitchFamily="49" charset="0"/>
              </a:rPr>
              <a:t> address-family </a:t>
            </a:r>
            <a:r>
              <a:rPr lang="en-US" sz="2000" dirty="0" err="1">
                <a:latin typeface="Consolas" panose="020B0609020204030204" pitchFamily="49" charset="0"/>
              </a:rPr>
              <a:t>ipv4</a:t>
            </a:r>
            <a:r>
              <a:rPr lang="en-US" sz="2000" dirty="0">
                <a:latin typeface="Consolas" panose="020B0609020204030204" pitchFamily="49" charset="0"/>
              </a:rPr>
              <a:t> unicast</a:t>
            </a:r>
          </a:p>
          <a:p>
            <a:r>
              <a:rPr lang="en-US" sz="2000" dirty="0">
                <a:solidFill>
                  <a:srgbClr val="00B0F0"/>
                </a:solidFill>
                <a:latin typeface="Consolas" panose="020B0609020204030204" pitchFamily="49" charset="0"/>
              </a:rPr>
              <a:t>  mpls </a:t>
            </a:r>
            <a:r>
              <a:rPr lang="en-US" sz="2000" dirty="0" err="1">
                <a:solidFill>
                  <a:srgbClr val="00B0F0"/>
                </a:solidFill>
                <a:latin typeface="Consolas" panose="020B0609020204030204" pitchFamily="49" charset="0"/>
              </a:rPr>
              <a:t>alloc</a:t>
            </a:r>
            <a:r>
              <a:rPr lang="en-US" sz="2000" dirty="0">
                <a:solidFill>
                  <a:srgbClr val="00B0F0"/>
                </a:solidFill>
                <a:latin typeface="Consolas" panose="020B0609020204030204" pitchFamily="49" charset="0"/>
              </a:rPr>
              <a:t> enable</a:t>
            </a:r>
          </a:p>
          <a:p>
            <a:r>
              <a:rPr lang="en-US" sz="2000" dirty="0">
                <a:latin typeface="Consolas" panose="020B0609020204030204" pitchFamily="49" charset="0"/>
              </a:rPr>
              <a:t>  </a:t>
            </a:r>
            <a:r>
              <a:rPr lang="en-US" sz="2000" dirty="0">
                <a:solidFill>
                  <a:srgbClr val="00B050"/>
                </a:solidFill>
                <a:latin typeface="Consolas" panose="020B0609020204030204" pitchFamily="49" charset="0"/>
              </a:rPr>
              <a:t>segment-routing </a:t>
            </a:r>
            <a:r>
              <a:rPr lang="en-US" sz="2000" dirty="0" err="1">
                <a:solidFill>
                  <a:srgbClr val="00B050"/>
                </a:solidFill>
                <a:latin typeface="Consolas" panose="020B0609020204030204" pitchFamily="49" charset="0"/>
              </a:rPr>
              <a:t>srv6</a:t>
            </a:r>
            <a:endParaRPr lang="en-US" sz="2000" dirty="0">
              <a:solidFill>
                <a:srgbClr val="00B050"/>
              </a:solidFill>
              <a:latin typeface="Consolas" panose="020B0609020204030204" pitchFamily="49" charset="0"/>
            </a:endParaRPr>
          </a:p>
          <a:p>
            <a:r>
              <a:rPr lang="en-US" sz="2000" dirty="0">
                <a:solidFill>
                  <a:srgbClr val="00B050"/>
                </a:solidFill>
                <a:latin typeface="Consolas" panose="020B0609020204030204" pitchFamily="49" charset="0"/>
              </a:rPr>
              <a:t>   locator MAIN</a:t>
            </a:r>
          </a:p>
          <a:p>
            <a:r>
              <a:rPr lang="en-US" sz="2000" dirty="0">
                <a:latin typeface="Consolas" panose="020B0609020204030204" pitchFamily="49" charset="0"/>
              </a:rPr>
              <a:t>   </a:t>
            </a:r>
            <a:r>
              <a:rPr lang="en-US" sz="2000" dirty="0" err="1">
                <a:latin typeface="Consolas" panose="020B0609020204030204" pitchFamily="49" charset="0"/>
              </a:rPr>
              <a:t>alloc</a:t>
            </a:r>
            <a:r>
              <a:rPr lang="en-US" sz="2000" dirty="0">
                <a:latin typeface="Consolas" panose="020B0609020204030204" pitchFamily="49" charset="0"/>
              </a:rPr>
              <a:t> mode per-vrf</a:t>
            </a:r>
          </a:p>
          <a:p>
            <a:r>
              <a:rPr lang="en-US" sz="2000" dirty="0">
                <a:latin typeface="Consolas" panose="020B0609020204030204" pitchFamily="49" charset="0"/>
              </a:rPr>
              <a:t>!</a:t>
            </a:r>
          </a:p>
          <a:p>
            <a:r>
              <a:rPr lang="en-US" sz="2000" dirty="0">
                <a:latin typeface="Consolas" panose="020B0609020204030204" pitchFamily="49" charset="0"/>
              </a:rPr>
              <a:t>redistribute connected</a:t>
            </a:r>
          </a:p>
        </p:txBody>
      </p:sp>
      <p:sp>
        <p:nvSpPr>
          <p:cNvPr id="9" name="Callout: Line 8">
            <a:extLst>
              <a:ext uri="{FF2B5EF4-FFF2-40B4-BE49-F238E27FC236}">
                <a16:creationId xmlns:a16="http://schemas.microsoft.com/office/drawing/2014/main" id="{81E6BEDC-A52D-70D2-A0ED-39191BCC2246}"/>
              </a:ext>
            </a:extLst>
          </p:cNvPr>
          <p:cNvSpPr/>
          <p:nvPr/>
        </p:nvSpPr>
        <p:spPr>
          <a:xfrm>
            <a:off x="6978893" y="2638412"/>
            <a:ext cx="4935793" cy="339117"/>
          </a:xfrm>
          <a:prstGeom prst="borderCallout1">
            <a:avLst>
              <a:gd name="adj1" fmla="val 18750"/>
              <a:gd name="adj2" fmla="val -8333"/>
              <a:gd name="adj3" fmla="val -283987"/>
              <a:gd name="adj4" fmla="val -43057"/>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rgbClr val="FA661C"/>
                </a:solidFill>
              </a:rPr>
              <a:t>RRv6</a:t>
            </a:r>
            <a:r>
              <a:rPr lang="en-US" dirty="0">
                <a:solidFill>
                  <a:srgbClr val="FA661C"/>
                </a:solidFill>
              </a:rPr>
              <a:t> policy (prefer MPLS transport)</a:t>
            </a:r>
            <a:endParaRPr lang="en-US" dirty="0">
              <a:solidFill>
                <a:srgbClr val="FA661C"/>
              </a:solidFill>
              <a:highlight>
                <a:srgbClr val="FFFF00"/>
              </a:highlight>
            </a:endParaRPr>
          </a:p>
        </p:txBody>
      </p:sp>
      <p:sp>
        <p:nvSpPr>
          <p:cNvPr id="5" name="Callout: Line 4">
            <a:extLst>
              <a:ext uri="{FF2B5EF4-FFF2-40B4-BE49-F238E27FC236}">
                <a16:creationId xmlns:a16="http://schemas.microsoft.com/office/drawing/2014/main" id="{74349A8C-BE25-8F04-7829-E3144653AC82}"/>
              </a:ext>
            </a:extLst>
          </p:cNvPr>
          <p:cNvSpPr/>
          <p:nvPr/>
        </p:nvSpPr>
        <p:spPr>
          <a:xfrm>
            <a:off x="6990732" y="3287665"/>
            <a:ext cx="4935793" cy="559414"/>
          </a:xfrm>
          <a:prstGeom prst="borderCallout1">
            <a:avLst>
              <a:gd name="adj1" fmla="val 18750"/>
              <a:gd name="adj2" fmla="val -8333"/>
              <a:gd name="adj3" fmla="val 254720"/>
              <a:gd name="adj4" fmla="val -61982"/>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00B0F0"/>
                </a:solidFill>
              </a:rPr>
              <a:t>Allocate MPLS labels for all prefixes in the VRF also</a:t>
            </a:r>
            <a:endParaRPr lang="en-US" dirty="0">
              <a:solidFill>
                <a:srgbClr val="00B0F0"/>
              </a:solidFill>
              <a:highlight>
                <a:srgbClr val="FFFF00"/>
              </a:highlight>
            </a:endParaRPr>
          </a:p>
        </p:txBody>
      </p:sp>
      <p:sp>
        <p:nvSpPr>
          <p:cNvPr id="14" name="Callout: Line 13">
            <a:extLst>
              <a:ext uri="{FF2B5EF4-FFF2-40B4-BE49-F238E27FC236}">
                <a16:creationId xmlns:a16="http://schemas.microsoft.com/office/drawing/2014/main" id="{27EBF465-6DCD-6CA3-B3F8-BF37A8CBE15C}"/>
              </a:ext>
            </a:extLst>
          </p:cNvPr>
          <p:cNvSpPr/>
          <p:nvPr/>
        </p:nvSpPr>
        <p:spPr>
          <a:xfrm>
            <a:off x="6978893" y="5026765"/>
            <a:ext cx="4935793" cy="559414"/>
          </a:xfrm>
          <a:prstGeom prst="borderCallout1">
            <a:avLst>
              <a:gd name="adj1" fmla="val 18750"/>
              <a:gd name="adj2" fmla="val -8333"/>
              <a:gd name="adj3" fmla="val 105325"/>
              <a:gd name="adj4" fmla="val -5600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use per-vrf, per-</a:t>
            </a:r>
            <a:r>
              <a:rPr lang="en-US" dirty="0" err="1">
                <a:solidFill>
                  <a:schemeClr val="tx1"/>
                </a:solidFill>
              </a:rPr>
              <a:t>ce</a:t>
            </a:r>
            <a:r>
              <a:rPr lang="en-US" dirty="0">
                <a:solidFill>
                  <a:schemeClr val="tx1"/>
                </a:solidFill>
              </a:rPr>
              <a:t> </a:t>
            </a:r>
            <a:r>
              <a:rPr lang="en-US" dirty="0">
                <a:solidFill>
                  <a:srgbClr val="FF0000"/>
                </a:solidFill>
              </a:rPr>
              <a:t>(per prefix is not supported)</a:t>
            </a:r>
            <a:endParaRPr lang="en-US" dirty="0">
              <a:solidFill>
                <a:srgbClr val="FF0000"/>
              </a:solidFill>
              <a:highlight>
                <a:srgbClr val="FFFF00"/>
              </a:highlight>
            </a:endParaRPr>
          </a:p>
        </p:txBody>
      </p:sp>
      <p:sp>
        <p:nvSpPr>
          <p:cNvPr id="16" name="Callout: Line 15">
            <a:extLst>
              <a:ext uri="{FF2B5EF4-FFF2-40B4-BE49-F238E27FC236}">
                <a16:creationId xmlns:a16="http://schemas.microsoft.com/office/drawing/2014/main" id="{A7B23A51-F45C-8483-ABB6-25318D19684C}"/>
              </a:ext>
            </a:extLst>
          </p:cNvPr>
          <p:cNvSpPr/>
          <p:nvPr/>
        </p:nvSpPr>
        <p:spPr>
          <a:xfrm>
            <a:off x="6990732" y="4157215"/>
            <a:ext cx="4935793" cy="559414"/>
          </a:xfrm>
          <a:prstGeom prst="borderCallout1">
            <a:avLst>
              <a:gd name="adj1" fmla="val 18750"/>
              <a:gd name="adj2" fmla="val -8333"/>
              <a:gd name="adj3" fmla="val 149264"/>
              <a:gd name="adj4" fmla="val -52020"/>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00B050"/>
                </a:solidFill>
              </a:rPr>
              <a:t>Allocate </a:t>
            </a:r>
            <a:r>
              <a:rPr lang="en-US" dirty="0" err="1">
                <a:solidFill>
                  <a:srgbClr val="00B050"/>
                </a:solidFill>
              </a:rPr>
              <a:t>SIDs</a:t>
            </a:r>
            <a:r>
              <a:rPr lang="en-US" dirty="0">
                <a:solidFill>
                  <a:srgbClr val="00B050"/>
                </a:solidFill>
              </a:rPr>
              <a:t> for all prefixes in the VRF from Locator MAIN</a:t>
            </a:r>
            <a:endParaRPr lang="en-US" dirty="0">
              <a:solidFill>
                <a:srgbClr val="00B050"/>
              </a:solidFill>
              <a:highlight>
                <a:srgbClr val="FFFF00"/>
              </a:highlight>
            </a:endParaRPr>
          </a:p>
        </p:txBody>
      </p:sp>
    </p:spTree>
    <p:extLst>
      <p:ext uri="{BB962C8B-B14F-4D97-AF65-F5344CB8AC3E}">
        <p14:creationId xmlns:p14="http://schemas.microsoft.com/office/powerpoint/2010/main" val="3379463153"/>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B67B989-A1A1-D11E-4628-1B376C30A3F5}"/>
              </a:ext>
            </a:extLst>
          </p:cNvPr>
          <p:cNvSpPr>
            <a:spLocks noGrp="1"/>
          </p:cNvSpPr>
          <p:nvPr>
            <p:ph type="body" sz="quarter" idx="11"/>
          </p:nvPr>
        </p:nvSpPr>
        <p:spPr/>
        <p:txBody>
          <a:bodyPr/>
          <a:lstStyle/>
          <a:p>
            <a:r>
              <a:rPr lang="en-US" dirty="0"/>
              <a:t>L3VPN - MPLS LDP to SRv6</a:t>
            </a:r>
          </a:p>
        </p:txBody>
      </p:sp>
      <p:pic>
        <p:nvPicPr>
          <p:cNvPr id="5" name="Picture 4" descr="A diagram of a network&#10;&#10;AI-generated content may be incorrect.">
            <a:extLst>
              <a:ext uri="{FF2B5EF4-FFF2-40B4-BE49-F238E27FC236}">
                <a16:creationId xmlns:a16="http://schemas.microsoft.com/office/drawing/2014/main" id="{7338299E-724D-D8D8-A9CB-40B73EF40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3087" y="1028492"/>
            <a:ext cx="9525825" cy="4801016"/>
          </a:xfrm>
          <a:prstGeom prst="rect">
            <a:avLst/>
          </a:prstGeom>
        </p:spPr>
      </p:pic>
    </p:spTree>
    <p:extLst>
      <p:ext uri="{BB962C8B-B14F-4D97-AF65-F5344CB8AC3E}">
        <p14:creationId xmlns:p14="http://schemas.microsoft.com/office/powerpoint/2010/main" val="1313392278"/>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 Placeholder 53">
            <a:extLst>
              <a:ext uri="{FF2B5EF4-FFF2-40B4-BE49-F238E27FC236}">
                <a16:creationId xmlns:a16="http://schemas.microsoft.com/office/drawing/2014/main" id="{644DD39E-246C-C23C-7452-137473BA63D9}"/>
              </a:ext>
            </a:extLst>
          </p:cNvPr>
          <p:cNvSpPr>
            <a:spLocks noGrp="1"/>
          </p:cNvSpPr>
          <p:nvPr>
            <p:ph type="body" sz="quarter" idx="10"/>
          </p:nvPr>
        </p:nvSpPr>
        <p:spPr/>
        <p:txBody>
          <a:bodyPr/>
          <a:lstStyle/>
          <a:p>
            <a:r>
              <a:rPr lang="en-US" dirty="0">
                <a:solidFill>
                  <a:srgbClr val="7030A0"/>
                </a:solidFill>
              </a:rPr>
              <a:t>Prefer</a:t>
            </a:r>
            <a:r>
              <a:rPr lang="en-US" dirty="0"/>
              <a:t> </a:t>
            </a:r>
            <a:r>
              <a:rPr lang="en-US" b="1" dirty="0">
                <a:solidFill>
                  <a:srgbClr val="7030A0"/>
                </a:solidFill>
              </a:rPr>
              <a:t>SRv6</a:t>
            </a:r>
          </a:p>
        </p:txBody>
      </p:sp>
      <p:sp>
        <p:nvSpPr>
          <p:cNvPr id="3" name="Text Placeholder 2">
            <a:extLst>
              <a:ext uri="{FF2B5EF4-FFF2-40B4-BE49-F238E27FC236}">
                <a16:creationId xmlns:a16="http://schemas.microsoft.com/office/drawing/2014/main" id="{D468842C-E9AA-4882-EC44-4597C8EA2A45}"/>
              </a:ext>
            </a:extLst>
          </p:cNvPr>
          <p:cNvSpPr>
            <a:spLocks noGrp="1"/>
          </p:cNvSpPr>
          <p:nvPr>
            <p:ph type="body" sz="quarter" idx="11"/>
          </p:nvPr>
        </p:nvSpPr>
        <p:spPr>
          <a:xfrm>
            <a:off x="873918" y="12461"/>
            <a:ext cx="10444163" cy="773017"/>
          </a:xfrm>
        </p:spPr>
        <p:txBody>
          <a:bodyPr/>
          <a:lstStyle/>
          <a:p>
            <a:r>
              <a:rPr lang="en-US" dirty="0"/>
              <a:t>Step 2 - MPLS LDP to SRv6 migration </a:t>
            </a:r>
            <a:r>
              <a:rPr lang="en-US" dirty="0">
                <a:solidFill>
                  <a:schemeClr val="bg1">
                    <a:lumMod val="50000"/>
                  </a:schemeClr>
                </a:solidFill>
              </a:rPr>
              <a:t>- L3VPN</a:t>
            </a:r>
          </a:p>
        </p:txBody>
      </p:sp>
      <p:sp>
        <p:nvSpPr>
          <p:cNvPr id="8" name="Oval 7">
            <a:extLst>
              <a:ext uri="{FF2B5EF4-FFF2-40B4-BE49-F238E27FC236}">
                <a16:creationId xmlns:a16="http://schemas.microsoft.com/office/drawing/2014/main" id="{993A2A87-8EB9-6614-516E-A2CB823D3BFE}"/>
              </a:ext>
            </a:extLst>
          </p:cNvPr>
          <p:cNvSpPr/>
          <p:nvPr/>
        </p:nvSpPr>
        <p:spPr>
          <a:xfrm>
            <a:off x="2861187" y="2743878"/>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PE-1</a:t>
            </a:r>
          </a:p>
        </p:txBody>
      </p:sp>
      <p:sp>
        <p:nvSpPr>
          <p:cNvPr id="9" name="Oval 8">
            <a:extLst>
              <a:ext uri="{FF2B5EF4-FFF2-40B4-BE49-F238E27FC236}">
                <a16:creationId xmlns:a16="http://schemas.microsoft.com/office/drawing/2014/main" id="{DBB2B752-AE8F-9DC3-0D63-E500CBE67C94}"/>
              </a:ext>
            </a:extLst>
          </p:cNvPr>
          <p:cNvSpPr/>
          <p:nvPr/>
        </p:nvSpPr>
        <p:spPr>
          <a:xfrm>
            <a:off x="2625213" y="3050586"/>
            <a:ext cx="471948" cy="459402"/>
          </a:xfrm>
          <a:prstGeom prst="ellipse">
            <a:avLst/>
          </a:prstGeom>
          <a:solidFill>
            <a:schemeClr val="accent3">
              <a:lumMod val="75000"/>
            </a:schemeClr>
          </a:solidFill>
          <a:ln w="508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E0851D-CFCC-8023-A043-3964DDC76594}"/>
              </a:ext>
            </a:extLst>
          </p:cNvPr>
          <p:cNvSpPr/>
          <p:nvPr/>
        </p:nvSpPr>
        <p:spPr>
          <a:xfrm>
            <a:off x="5225845" y="1461634"/>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P-2</a:t>
            </a:r>
          </a:p>
        </p:txBody>
      </p:sp>
      <p:sp>
        <p:nvSpPr>
          <p:cNvPr id="11" name="Oval 10">
            <a:extLst>
              <a:ext uri="{FF2B5EF4-FFF2-40B4-BE49-F238E27FC236}">
                <a16:creationId xmlns:a16="http://schemas.microsoft.com/office/drawing/2014/main" id="{341588A8-533B-B65D-2813-E637BE0322E3}"/>
              </a:ext>
            </a:extLst>
          </p:cNvPr>
          <p:cNvSpPr/>
          <p:nvPr/>
        </p:nvSpPr>
        <p:spPr>
          <a:xfrm>
            <a:off x="5225845"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P-3</a:t>
            </a:r>
          </a:p>
        </p:txBody>
      </p:sp>
      <p:sp>
        <p:nvSpPr>
          <p:cNvPr id="12" name="Oval 11">
            <a:extLst>
              <a:ext uri="{FF2B5EF4-FFF2-40B4-BE49-F238E27FC236}">
                <a16:creationId xmlns:a16="http://schemas.microsoft.com/office/drawing/2014/main" id="{88820713-3A40-9E92-5017-307E1BA5FCFB}"/>
              </a:ext>
            </a:extLst>
          </p:cNvPr>
          <p:cNvSpPr/>
          <p:nvPr/>
        </p:nvSpPr>
        <p:spPr>
          <a:xfrm>
            <a:off x="8091948" y="1461633"/>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PE-4</a:t>
            </a:r>
          </a:p>
        </p:txBody>
      </p:sp>
      <p:sp>
        <p:nvSpPr>
          <p:cNvPr id="13" name="Oval 12">
            <a:extLst>
              <a:ext uri="{FF2B5EF4-FFF2-40B4-BE49-F238E27FC236}">
                <a16:creationId xmlns:a16="http://schemas.microsoft.com/office/drawing/2014/main" id="{34EEF5FE-F3A6-1D78-CBD1-D19B71E84401}"/>
              </a:ext>
            </a:extLst>
          </p:cNvPr>
          <p:cNvSpPr/>
          <p:nvPr/>
        </p:nvSpPr>
        <p:spPr>
          <a:xfrm>
            <a:off x="8091948"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PE-5</a:t>
            </a:r>
          </a:p>
        </p:txBody>
      </p:sp>
      <p:sp>
        <p:nvSpPr>
          <p:cNvPr id="14" name="Oval 13">
            <a:extLst>
              <a:ext uri="{FF2B5EF4-FFF2-40B4-BE49-F238E27FC236}">
                <a16:creationId xmlns:a16="http://schemas.microsoft.com/office/drawing/2014/main" id="{A33A844A-10F7-FA25-02CA-BE1263DA1218}"/>
              </a:ext>
            </a:extLst>
          </p:cNvPr>
          <p:cNvSpPr/>
          <p:nvPr/>
        </p:nvSpPr>
        <p:spPr>
          <a:xfrm>
            <a:off x="6744928" y="5296213"/>
            <a:ext cx="1061884" cy="1072819"/>
          </a:xfrm>
          <a:prstGeom prst="ellipse">
            <a:avLst/>
          </a:prstGeom>
          <a:solidFill>
            <a:schemeClr val="accent3">
              <a:lumMod val="75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RRv4</a:t>
            </a:r>
            <a:endParaRPr lang="en-US" sz="1600" dirty="0"/>
          </a:p>
        </p:txBody>
      </p:sp>
      <p:sp>
        <p:nvSpPr>
          <p:cNvPr id="17" name="TextBox 16">
            <a:extLst>
              <a:ext uri="{FF2B5EF4-FFF2-40B4-BE49-F238E27FC236}">
                <a16:creationId xmlns:a16="http://schemas.microsoft.com/office/drawing/2014/main" id="{DCABD92B-4299-3F62-AB81-C71EAEFBC20B}"/>
              </a:ext>
            </a:extLst>
          </p:cNvPr>
          <p:cNvSpPr txBox="1"/>
          <p:nvPr/>
        </p:nvSpPr>
        <p:spPr>
          <a:xfrm>
            <a:off x="353961" y="1793224"/>
            <a:ext cx="2300500" cy="2562466"/>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effectLst/>
                <a:uLnTx/>
                <a:uFillTx/>
                <a:latin typeface="Arial" panose="020B0604020202020204"/>
                <a:ea typeface="+mn-ea"/>
                <a:cs typeface="+mn-cs"/>
              </a:rPr>
              <a:t>VRF 3001</a:t>
            </a:r>
          </a:p>
          <a:p>
            <a: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pPr>
            <a:r>
              <a:rPr lang="en-US" sz="2000" dirty="0">
                <a:latin typeface="Arial" panose="020B0604020202020204"/>
              </a:rPr>
              <a:t>full mesh</a:t>
            </a:r>
          </a:p>
          <a:p>
            <a:pPr marR="0" algn="l" defTabSz="914400" rtl="0" eaLnBrk="1" fontAlgn="auto" latinLnBrk="0" hangingPunct="1">
              <a:lnSpc>
                <a:spcPct val="90000"/>
              </a:lnSpc>
              <a:spcBef>
                <a:spcPts val="1000"/>
              </a:spcBef>
              <a:spcAft>
                <a:spcPts val="0"/>
              </a:spcAft>
              <a:buClrTx/>
              <a:buSzTx/>
              <a:tabLst/>
            </a:pPr>
            <a:r>
              <a:rPr kumimoji="0" lang="en-US" sz="2000" i="0" u="none" strike="noStrike" kern="1200" cap="none" spc="0" normalizeH="0" baseline="0" noProof="0" dirty="0">
                <a:ln>
                  <a:noFill/>
                </a:ln>
                <a:effectLst/>
                <a:uLnTx/>
                <a:uFillTx/>
                <a:latin typeface="Arial" panose="020B0604020202020204"/>
                <a:ea typeface="+mn-ea"/>
                <a:cs typeface="+mn-cs"/>
              </a:rPr>
              <a:t>     MPLS VRF</a:t>
            </a:r>
          </a:p>
          <a:p>
            <a:pPr marR="0" algn="l" defTabSz="914400" rtl="0" eaLnBrk="1" fontAlgn="auto" latinLnBrk="0" hangingPunct="1">
              <a:lnSpc>
                <a:spcPct val="90000"/>
              </a:lnSpc>
              <a:spcBef>
                <a:spcPts val="1000"/>
              </a:spcBef>
              <a:spcAft>
                <a:spcPts val="0"/>
              </a:spcAft>
              <a:buClrTx/>
              <a:buSzTx/>
              <a:tabLst/>
            </a:pPr>
            <a:endParaRPr lang="en-US" sz="2000" dirty="0">
              <a:latin typeface="Arial" panose="020B0604020202020204"/>
            </a:endParaRPr>
          </a:p>
          <a:p>
            <a:pPr marR="0" algn="l" defTabSz="914400" rtl="0" eaLnBrk="1" fontAlgn="auto" latinLnBrk="0" hangingPunct="1">
              <a:lnSpc>
                <a:spcPct val="90000"/>
              </a:lnSpc>
              <a:spcBef>
                <a:spcPts val="1000"/>
              </a:spcBef>
              <a:spcAft>
                <a:spcPts val="0"/>
              </a:spcAft>
              <a:buClrTx/>
              <a:buSzTx/>
              <a:tabLst/>
            </a:pPr>
            <a:r>
              <a:rPr kumimoji="0" lang="en-US" sz="2000" i="0" u="none" strike="noStrike" kern="1200" cap="none" spc="0" normalizeH="0" baseline="0" noProof="0" dirty="0">
                <a:ln>
                  <a:noFill/>
                </a:ln>
                <a:effectLst/>
                <a:uLnTx/>
                <a:uFillTx/>
                <a:latin typeface="Arial" panose="020B0604020202020204"/>
                <a:ea typeface="+mn-ea"/>
                <a:cs typeface="+mn-cs"/>
              </a:rPr>
              <a:t>     Dual connected</a:t>
            </a:r>
          </a:p>
          <a:p>
            <a:pPr marR="0" algn="l" defTabSz="914400" rtl="0" eaLnBrk="1" fontAlgn="auto" latinLnBrk="0" hangingPunct="1">
              <a:lnSpc>
                <a:spcPct val="90000"/>
              </a:lnSpc>
              <a:spcBef>
                <a:spcPts val="1000"/>
              </a:spcBef>
              <a:spcAft>
                <a:spcPts val="0"/>
              </a:spcAft>
              <a:buClrTx/>
              <a:buSzTx/>
              <a:tabLst/>
            </a:pPr>
            <a:r>
              <a:rPr kumimoji="0" lang="en-US" sz="2000" i="0" u="none" strike="noStrike" kern="1200" cap="none" spc="0" normalizeH="0" baseline="0" noProof="0" dirty="0">
                <a:ln>
                  <a:noFill/>
                </a:ln>
                <a:effectLst/>
                <a:uLnTx/>
                <a:uFillTx/>
                <a:latin typeface="Arial" panose="020B0604020202020204"/>
                <a:ea typeface="+mn-ea"/>
                <a:cs typeface="+mn-cs"/>
              </a:rPr>
              <a:t>     VRF </a:t>
            </a:r>
          </a:p>
        </p:txBody>
      </p:sp>
      <p:sp>
        <p:nvSpPr>
          <p:cNvPr id="18" name="Oval 17">
            <a:extLst>
              <a:ext uri="{FF2B5EF4-FFF2-40B4-BE49-F238E27FC236}">
                <a16:creationId xmlns:a16="http://schemas.microsoft.com/office/drawing/2014/main" id="{C5A9DFEF-4947-F2F1-A76D-8AC479436895}"/>
              </a:ext>
            </a:extLst>
          </p:cNvPr>
          <p:cNvSpPr/>
          <p:nvPr/>
        </p:nvSpPr>
        <p:spPr>
          <a:xfrm>
            <a:off x="229906" y="2640948"/>
            <a:ext cx="471948" cy="492651"/>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F29B4790-86CB-3D33-D8AA-E7828F3315AA}"/>
              </a:ext>
            </a:extLst>
          </p:cNvPr>
          <p:cNvSpPr/>
          <p:nvPr/>
        </p:nvSpPr>
        <p:spPr>
          <a:xfrm>
            <a:off x="8917858" y="4427967"/>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F7ADD5B5-1DE1-9F97-8D34-DA0DCA03396A}"/>
              </a:ext>
            </a:extLst>
          </p:cNvPr>
          <p:cNvSpPr/>
          <p:nvPr/>
        </p:nvSpPr>
        <p:spPr>
          <a:xfrm>
            <a:off x="8917858" y="1768341"/>
            <a:ext cx="471948" cy="459402"/>
          </a:xfrm>
          <a:prstGeom prst="ellipse">
            <a:avLst/>
          </a:prstGeom>
          <a:solidFill>
            <a:schemeClr val="accent3">
              <a:lumMod val="75000"/>
            </a:schemeClr>
          </a:solidFill>
          <a:ln w="508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6313A627-B0A9-C701-976E-3F14F76CF28D}"/>
              </a:ext>
            </a:extLst>
          </p:cNvPr>
          <p:cNvCxnSpPr>
            <a:stCxn id="10" idx="6"/>
            <a:endCxn id="12" idx="2"/>
          </p:cNvCxnSpPr>
          <p:nvPr/>
        </p:nvCxnSpPr>
        <p:spPr>
          <a:xfrm flipV="1">
            <a:off x="6287729" y="1998043"/>
            <a:ext cx="1804219" cy="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A7F45EA-CD46-5772-EAFD-4AAC01B7BFC8}"/>
              </a:ext>
            </a:extLst>
          </p:cNvPr>
          <p:cNvCxnSpPr>
            <a:cxnSpLocks/>
            <a:stCxn id="11" idx="7"/>
          </p:cNvCxnSpPr>
          <p:nvPr/>
        </p:nvCxnSpPr>
        <p:spPr>
          <a:xfrm flipV="1">
            <a:off x="6132220" y="2336659"/>
            <a:ext cx="2083535" cy="194171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E852CC6-3C63-30D9-93E0-B76FA8598344}"/>
              </a:ext>
            </a:extLst>
          </p:cNvPr>
          <p:cNvCxnSpPr>
            <a:cxnSpLocks/>
            <a:stCxn id="12" idx="4"/>
          </p:cNvCxnSpPr>
          <p:nvPr/>
        </p:nvCxnSpPr>
        <p:spPr>
          <a:xfrm>
            <a:off x="8622890" y="2534452"/>
            <a:ext cx="0" cy="1592852"/>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BDE2377-063B-01BF-3CB6-05F3FBF4C424}"/>
              </a:ext>
            </a:extLst>
          </p:cNvPr>
          <p:cNvCxnSpPr>
            <a:cxnSpLocks/>
            <a:stCxn id="11" idx="6"/>
            <a:endCxn id="13" idx="2"/>
          </p:cNvCxnSpPr>
          <p:nvPr/>
        </p:nvCxnSpPr>
        <p:spPr>
          <a:xfrm>
            <a:off x="6287729" y="4657669"/>
            <a:ext cx="1804219"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F49B32-4149-6A9F-D7CA-BABCA0E7A0A6}"/>
              </a:ext>
            </a:extLst>
          </p:cNvPr>
          <p:cNvCxnSpPr>
            <a:cxnSpLocks/>
            <a:stCxn id="10" idx="4"/>
            <a:endCxn id="11" idx="0"/>
          </p:cNvCxnSpPr>
          <p:nvPr/>
        </p:nvCxnSpPr>
        <p:spPr>
          <a:xfrm>
            <a:off x="5756787" y="2534453"/>
            <a:ext cx="0" cy="1586806"/>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FB43A74-B938-0C85-4049-B54CC5E87491}"/>
              </a:ext>
            </a:extLst>
          </p:cNvPr>
          <p:cNvCxnSpPr>
            <a:cxnSpLocks/>
            <a:endCxn id="11" idx="2"/>
          </p:cNvCxnSpPr>
          <p:nvPr/>
        </p:nvCxnSpPr>
        <p:spPr>
          <a:xfrm>
            <a:off x="3767562" y="3644526"/>
            <a:ext cx="1458283" cy="1013143"/>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9A3A119-7341-52D5-CD04-1C055CBC3D2C}"/>
              </a:ext>
            </a:extLst>
          </p:cNvPr>
          <p:cNvCxnSpPr>
            <a:cxnSpLocks/>
            <a:stCxn id="8" idx="7"/>
            <a:endCxn id="10" idx="2"/>
          </p:cNvCxnSpPr>
          <p:nvPr/>
        </p:nvCxnSpPr>
        <p:spPr>
          <a:xfrm flipV="1">
            <a:off x="3767562" y="1998044"/>
            <a:ext cx="1458283" cy="902945"/>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AA5A7C64-24D0-F310-9369-5EE60113D0DD}"/>
              </a:ext>
            </a:extLst>
          </p:cNvPr>
          <p:cNvSpPr txBox="1"/>
          <p:nvPr/>
        </p:nvSpPr>
        <p:spPr>
          <a:xfrm>
            <a:off x="2654461" y="3946135"/>
            <a:ext cx="1374465" cy="711533"/>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600" b="1" dirty="0">
                <a:solidFill>
                  <a:schemeClr val="accent4">
                    <a:lumMod val="75000"/>
                  </a:schemeClr>
                </a:solidFill>
                <a:latin typeface="Arial" panose="020B0604020202020204"/>
              </a:rPr>
              <a:t> </a:t>
            </a:r>
            <a:r>
              <a:rPr lang="en-US" sz="1600" dirty="0">
                <a:latin typeface="Arial" panose="020B0604020202020204"/>
              </a:rPr>
              <a:t>+ SRv6</a:t>
            </a:r>
          </a:p>
        </p:txBody>
      </p:sp>
      <p:sp>
        <p:nvSpPr>
          <p:cNvPr id="49" name="TextBox 48">
            <a:extLst>
              <a:ext uri="{FF2B5EF4-FFF2-40B4-BE49-F238E27FC236}">
                <a16:creationId xmlns:a16="http://schemas.microsoft.com/office/drawing/2014/main" id="{EB9FF396-0612-A9EE-123E-7055BFAED65E}"/>
              </a:ext>
            </a:extLst>
          </p:cNvPr>
          <p:cNvSpPr txBox="1"/>
          <p:nvPr/>
        </p:nvSpPr>
        <p:spPr>
          <a:xfrm>
            <a:off x="6588637" y="6372412"/>
            <a:ext cx="1374465"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endPar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endParaRPr>
          </a:p>
        </p:txBody>
      </p:sp>
      <p:cxnSp>
        <p:nvCxnSpPr>
          <p:cNvPr id="50" name="Straight Connector 49">
            <a:extLst>
              <a:ext uri="{FF2B5EF4-FFF2-40B4-BE49-F238E27FC236}">
                <a16:creationId xmlns:a16="http://schemas.microsoft.com/office/drawing/2014/main" id="{32AC3523-6F39-6CDD-5466-A394276895B0}"/>
              </a:ext>
            </a:extLst>
          </p:cNvPr>
          <p:cNvCxnSpPr>
            <a:cxnSpLocks/>
            <a:stCxn id="11" idx="5"/>
            <a:endCxn id="14" idx="1"/>
          </p:cNvCxnSpPr>
          <p:nvPr/>
        </p:nvCxnSpPr>
        <p:spPr>
          <a:xfrm>
            <a:off x="6132220" y="5036967"/>
            <a:ext cx="768217" cy="41635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1317F25D-B41D-CAAF-FCB6-1D3F49BE56B5}"/>
              </a:ext>
            </a:extLst>
          </p:cNvPr>
          <p:cNvSpPr txBox="1"/>
          <p:nvPr/>
        </p:nvSpPr>
        <p:spPr>
          <a:xfrm>
            <a:off x="1487018" y="3116372"/>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10.2.3.0/24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56" name="TextBox 55">
            <a:extLst>
              <a:ext uri="{FF2B5EF4-FFF2-40B4-BE49-F238E27FC236}">
                <a16:creationId xmlns:a16="http://schemas.microsoft.com/office/drawing/2014/main" id="{71597BD8-BA18-4458-65C4-EDF32B89A616}"/>
              </a:ext>
            </a:extLst>
          </p:cNvPr>
          <p:cNvSpPr txBox="1"/>
          <p:nvPr/>
        </p:nvSpPr>
        <p:spPr>
          <a:xfrm>
            <a:off x="9325819" y="4516166"/>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10.0.5.0/24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57" name="TextBox 56">
            <a:extLst>
              <a:ext uri="{FF2B5EF4-FFF2-40B4-BE49-F238E27FC236}">
                <a16:creationId xmlns:a16="http://schemas.microsoft.com/office/drawing/2014/main" id="{C4C859B2-6579-BA7E-74D3-8AC6D6CF78EA}"/>
              </a:ext>
            </a:extLst>
          </p:cNvPr>
          <p:cNvSpPr txBox="1"/>
          <p:nvPr/>
        </p:nvSpPr>
        <p:spPr>
          <a:xfrm>
            <a:off x="9325819" y="1844704"/>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10.0.4.0/24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5C26D65D-05EF-FF2F-EBB6-12EF5D9AEE7B}"/>
              </a:ext>
            </a:extLst>
          </p:cNvPr>
          <p:cNvSpPr txBox="1"/>
          <p:nvPr/>
        </p:nvSpPr>
        <p:spPr>
          <a:xfrm>
            <a:off x="5064109" y="5286376"/>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4" name="TextBox 3">
            <a:extLst>
              <a:ext uri="{FF2B5EF4-FFF2-40B4-BE49-F238E27FC236}">
                <a16:creationId xmlns:a16="http://schemas.microsoft.com/office/drawing/2014/main" id="{D9AA12F4-1770-F159-C6DB-8E028F5D9759}"/>
              </a:ext>
            </a:extLst>
          </p:cNvPr>
          <p:cNvSpPr txBox="1"/>
          <p:nvPr/>
        </p:nvSpPr>
        <p:spPr>
          <a:xfrm>
            <a:off x="5132763" y="949213"/>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5" name="TextBox 4">
            <a:extLst>
              <a:ext uri="{FF2B5EF4-FFF2-40B4-BE49-F238E27FC236}">
                <a16:creationId xmlns:a16="http://schemas.microsoft.com/office/drawing/2014/main" id="{F20EC0DB-1B35-01BD-1164-A60ADEB8EA97}"/>
              </a:ext>
            </a:extLst>
          </p:cNvPr>
          <p:cNvSpPr txBox="1"/>
          <p:nvPr/>
        </p:nvSpPr>
        <p:spPr>
          <a:xfrm>
            <a:off x="7935657" y="95957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r>
              <a:rPr lang="en-US" sz="1600" dirty="0">
                <a:latin typeface="Arial" panose="020B0604020202020204"/>
              </a:rPr>
              <a:t> + SRv6</a:t>
            </a:r>
          </a:p>
        </p:txBody>
      </p:sp>
      <p:sp>
        <p:nvSpPr>
          <p:cNvPr id="6" name="TextBox 5">
            <a:extLst>
              <a:ext uri="{FF2B5EF4-FFF2-40B4-BE49-F238E27FC236}">
                <a16:creationId xmlns:a16="http://schemas.microsoft.com/office/drawing/2014/main" id="{C92528FF-DFC8-807F-35EC-6AEB2901F35D}"/>
              </a:ext>
            </a:extLst>
          </p:cNvPr>
          <p:cNvSpPr txBox="1"/>
          <p:nvPr/>
        </p:nvSpPr>
        <p:spPr>
          <a:xfrm>
            <a:off x="8015341" y="526693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7" name="Oval 6">
            <a:extLst>
              <a:ext uri="{FF2B5EF4-FFF2-40B4-BE49-F238E27FC236}">
                <a16:creationId xmlns:a16="http://schemas.microsoft.com/office/drawing/2014/main" id="{7107F0F5-5264-3C51-408B-196E23D21C09}"/>
              </a:ext>
            </a:extLst>
          </p:cNvPr>
          <p:cNvSpPr/>
          <p:nvPr/>
        </p:nvSpPr>
        <p:spPr>
          <a:xfrm>
            <a:off x="3849048" y="5296213"/>
            <a:ext cx="1061884" cy="1072819"/>
          </a:xfrm>
          <a:prstGeom prst="ellipse">
            <a:avLst/>
          </a:prstGeom>
          <a:solidFill>
            <a:schemeClr val="accent3">
              <a:lumMod val="75000"/>
            </a:schemeClr>
          </a:solidFill>
          <a:ln w="635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bg1"/>
                </a:solidFill>
              </a:rPr>
              <a:t>RRv6</a:t>
            </a:r>
            <a:endParaRPr lang="en-US" sz="1600" dirty="0">
              <a:solidFill>
                <a:schemeClr val="bg1"/>
              </a:solidFill>
            </a:endParaRPr>
          </a:p>
        </p:txBody>
      </p:sp>
      <p:cxnSp>
        <p:nvCxnSpPr>
          <p:cNvPr id="15" name="Straight Connector 14">
            <a:extLst>
              <a:ext uri="{FF2B5EF4-FFF2-40B4-BE49-F238E27FC236}">
                <a16:creationId xmlns:a16="http://schemas.microsoft.com/office/drawing/2014/main" id="{3E97CA9D-FC9A-0C61-9CEE-DCD0C454E893}"/>
              </a:ext>
            </a:extLst>
          </p:cNvPr>
          <p:cNvCxnSpPr>
            <a:cxnSpLocks/>
            <a:stCxn id="7" idx="7"/>
            <a:endCxn id="11" idx="3"/>
          </p:cNvCxnSpPr>
          <p:nvPr/>
        </p:nvCxnSpPr>
        <p:spPr>
          <a:xfrm flipV="1">
            <a:off x="4755423" y="5036967"/>
            <a:ext cx="625931" cy="41635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1BE30D1-0A33-396A-DEBF-AFC8477DDA56}"/>
              </a:ext>
            </a:extLst>
          </p:cNvPr>
          <p:cNvCxnSpPr>
            <a:cxnSpLocks/>
          </p:cNvCxnSpPr>
          <p:nvPr/>
        </p:nvCxnSpPr>
        <p:spPr>
          <a:xfrm flipV="1">
            <a:off x="3923071" y="2151904"/>
            <a:ext cx="4092270" cy="805550"/>
          </a:xfrm>
          <a:prstGeom prst="straightConnector1">
            <a:avLst/>
          </a:prstGeom>
          <a:ln w="508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24ABEDC-BF0E-4EB4-5B5B-BAE861C31855}"/>
              </a:ext>
            </a:extLst>
          </p:cNvPr>
          <p:cNvCxnSpPr>
            <a:cxnSpLocks/>
          </p:cNvCxnSpPr>
          <p:nvPr/>
        </p:nvCxnSpPr>
        <p:spPr>
          <a:xfrm flipH="1" flipV="1">
            <a:off x="3965511" y="3516849"/>
            <a:ext cx="4059743" cy="911118"/>
          </a:xfrm>
          <a:prstGeom prst="straightConnector1">
            <a:avLst/>
          </a:prstGeom>
          <a:ln w="50800">
            <a:solidFill>
              <a:schemeClr val="accent3"/>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9A8F468-AB75-EA4F-2D00-1158D19ED420}"/>
              </a:ext>
            </a:extLst>
          </p:cNvPr>
          <p:cNvCxnSpPr>
            <a:cxnSpLocks/>
          </p:cNvCxnSpPr>
          <p:nvPr/>
        </p:nvCxnSpPr>
        <p:spPr>
          <a:xfrm flipV="1">
            <a:off x="8851164" y="2598784"/>
            <a:ext cx="0" cy="1434484"/>
          </a:xfrm>
          <a:prstGeom prst="straightConnector1">
            <a:avLst/>
          </a:prstGeom>
          <a:ln w="50800">
            <a:solidFill>
              <a:schemeClr val="accent3"/>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DBAB06F6-DA3D-71D8-B11A-03701AC3BF00}"/>
              </a:ext>
            </a:extLst>
          </p:cNvPr>
          <p:cNvSpPr txBox="1"/>
          <p:nvPr/>
        </p:nvSpPr>
        <p:spPr>
          <a:xfrm>
            <a:off x="8836837" y="3256040"/>
            <a:ext cx="755766" cy="183778"/>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MPLS</a:t>
            </a:r>
            <a:endParaRPr lang="en-US" sz="1600" dirty="0">
              <a:latin typeface="Arial" panose="020B0604020202020204"/>
            </a:endParaRPr>
          </a:p>
        </p:txBody>
      </p:sp>
      <p:sp>
        <p:nvSpPr>
          <p:cNvPr id="41" name="TextBox 40">
            <a:extLst>
              <a:ext uri="{FF2B5EF4-FFF2-40B4-BE49-F238E27FC236}">
                <a16:creationId xmlns:a16="http://schemas.microsoft.com/office/drawing/2014/main" id="{168350E7-8301-0EB0-92DB-CF4DA74DACBE}"/>
              </a:ext>
            </a:extLst>
          </p:cNvPr>
          <p:cNvSpPr txBox="1"/>
          <p:nvPr/>
        </p:nvSpPr>
        <p:spPr>
          <a:xfrm>
            <a:off x="6910269" y="2442563"/>
            <a:ext cx="755766" cy="183778"/>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b="1" i="0" u="none" strike="noStrike" kern="1200" cap="none" spc="0" normalizeH="0" baseline="0" noProof="0" dirty="0">
                <a:ln>
                  <a:noFill/>
                </a:ln>
                <a:solidFill>
                  <a:srgbClr val="7030A0"/>
                </a:solidFill>
                <a:effectLst/>
                <a:uLnTx/>
                <a:uFillTx/>
                <a:latin typeface="Arial" panose="020B0604020202020204"/>
                <a:ea typeface="+mn-ea"/>
                <a:cs typeface="+mn-cs"/>
              </a:rPr>
              <a:t>SRv6</a:t>
            </a:r>
            <a:endParaRPr lang="en-US" sz="1600" b="1" dirty="0">
              <a:solidFill>
                <a:srgbClr val="7030A0"/>
              </a:solidFill>
              <a:latin typeface="Arial" panose="020B0604020202020204"/>
            </a:endParaRPr>
          </a:p>
        </p:txBody>
      </p:sp>
      <p:sp>
        <p:nvSpPr>
          <p:cNvPr id="42" name="TextBox 41">
            <a:extLst>
              <a:ext uri="{FF2B5EF4-FFF2-40B4-BE49-F238E27FC236}">
                <a16:creationId xmlns:a16="http://schemas.microsoft.com/office/drawing/2014/main" id="{E35A792C-C2C6-11B8-332C-E5FAEB8A4F43}"/>
              </a:ext>
            </a:extLst>
          </p:cNvPr>
          <p:cNvSpPr txBox="1"/>
          <p:nvPr/>
        </p:nvSpPr>
        <p:spPr>
          <a:xfrm>
            <a:off x="6872267" y="4004393"/>
            <a:ext cx="755766" cy="183778"/>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MPLS</a:t>
            </a:r>
            <a:endParaRPr lang="en-US" sz="1600" dirty="0">
              <a:latin typeface="Arial" panose="020B0604020202020204"/>
            </a:endParaRPr>
          </a:p>
        </p:txBody>
      </p:sp>
      <p:sp>
        <p:nvSpPr>
          <p:cNvPr id="16" name="Oval 15">
            <a:extLst>
              <a:ext uri="{FF2B5EF4-FFF2-40B4-BE49-F238E27FC236}">
                <a16:creationId xmlns:a16="http://schemas.microsoft.com/office/drawing/2014/main" id="{0129EBD1-BD3B-C467-C599-BC61342C3AD4}"/>
              </a:ext>
            </a:extLst>
          </p:cNvPr>
          <p:cNvSpPr/>
          <p:nvPr/>
        </p:nvSpPr>
        <p:spPr>
          <a:xfrm>
            <a:off x="257410" y="3307514"/>
            <a:ext cx="471948" cy="459402"/>
          </a:xfrm>
          <a:prstGeom prst="ellipse">
            <a:avLst/>
          </a:prstGeom>
          <a:solidFill>
            <a:schemeClr val="accent3">
              <a:lumMod val="75000"/>
            </a:schemeClr>
          </a:solidFill>
          <a:ln w="508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92185375"/>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0C4DE83-9298-809E-261F-86F4D10717BC}"/>
              </a:ext>
            </a:extLst>
          </p:cNvPr>
          <p:cNvSpPr>
            <a:spLocks noGrp="1"/>
          </p:cNvSpPr>
          <p:nvPr>
            <p:ph type="body" sz="quarter" idx="10"/>
          </p:nvPr>
        </p:nvSpPr>
        <p:spPr/>
        <p:txBody>
          <a:bodyPr/>
          <a:lstStyle/>
          <a:p>
            <a:endParaRPr lang="en-US" dirty="0"/>
          </a:p>
        </p:txBody>
      </p:sp>
      <p:sp>
        <p:nvSpPr>
          <p:cNvPr id="7" name="Text Placeholder 6">
            <a:extLst>
              <a:ext uri="{FF2B5EF4-FFF2-40B4-BE49-F238E27FC236}">
                <a16:creationId xmlns:a16="http://schemas.microsoft.com/office/drawing/2014/main" id="{6B0DEB13-3EF7-67DA-5148-FF05E855D34F}"/>
              </a:ext>
            </a:extLst>
          </p:cNvPr>
          <p:cNvSpPr>
            <a:spLocks noGrp="1"/>
          </p:cNvSpPr>
          <p:nvPr>
            <p:ph type="body" sz="quarter" idx="11"/>
          </p:nvPr>
        </p:nvSpPr>
        <p:spPr/>
        <p:txBody>
          <a:bodyPr/>
          <a:lstStyle/>
          <a:p>
            <a:r>
              <a:rPr lang="en-US" dirty="0"/>
              <a:t>Use SRv6 between the Dual Connected PEs</a:t>
            </a:r>
          </a:p>
        </p:txBody>
      </p:sp>
      <p:sp>
        <p:nvSpPr>
          <p:cNvPr id="8" name="Rectangle 7">
            <a:extLst>
              <a:ext uri="{FF2B5EF4-FFF2-40B4-BE49-F238E27FC236}">
                <a16:creationId xmlns:a16="http://schemas.microsoft.com/office/drawing/2014/main" id="{D22F8B01-6D02-D13E-6456-8B9B4FC1AEA8}"/>
              </a:ext>
            </a:extLst>
          </p:cNvPr>
          <p:cNvSpPr/>
          <p:nvPr/>
        </p:nvSpPr>
        <p:spPr>
          <a:xfrm>
            <a:off x="1089192" y="1443841"/>
            <a:ext cx="6486305" cy="1015663"/>
          </a:xfrm>
          <a:prstGeom prst="rect">
            <a:avLst/>
          </a:prstGeom>
          <a:solidFill>
            <a:schemeClr val="bg1">
              <a:lumMod val="95000"/>
            </a:schemeClr>
          </a:solidFill>
          <a:ln>
            <a:solidFill>
              <a:schemeClr val="tx1"/>
            </a:solidFill>
          </a:ln>
          <a:effectLst/>
        </p:spPr>
        <p:txBody>
          <a:bodyPr wrap="square">
            <a:spAutoFit/>
          </a:bodyPr>
          <a:lstStyle/>
          <a:p>
            <a:r>
              <a:rPr lang="en-US" sz="2000" dirty="0">
                <a:latin typeface="Consolas" panose="020B0609020204030204" pitchFamily="49" charset="0"/>
              </a:rPr>
              <a:t>route-policy </a:t>
            </a:r>
            <a:r>
              <a:rPr lang="en-US" sz="2000" dirty="0">
                <a:solidFill>
                  <a:srgbClr val="FA661C"/>
                </a:solidFill>
                <a:latin typeface="Consolas" panose="020B0609020204030204" pitchFamily="49" charset="0"/>
              </a:rPr>
              <a:t>vpn-transport</a:t>
            </a:r>
          </a:p>
          <a:p>
            <a:r>
              <a:rPr lang="en-US" sz="2000" dirty="0">
                <a:latin typeface="Consolas" panose="020B0609020204030204" pitchFamily="49" charset="0"/>
              </a:rPr>
              <a:t> set local-preference 150</a:t>
            </a:r>
          </a:p>
          <a:p>
            <a:r>
              <a:rPr lang="en-US" sz="2000" dirty="0">
                <a:latin typeface="Consolas" panose="020B0609020204030204" pitchFamily="49" charset="0"/>
              </a:rPr>
              <a:t>end-policy</a:t>
            </a:r>
          </a:p>
        </p:txBody>
      </p:sp>
      <p:sp>
        <p:nvSpPr>
          <p:cNvPr id="9" name="Callout: Line 8">
            <a:extLst>
              <a:ext uri="{FF2B5EF4-FFF2-40B4-BE49-F238E27FC236}">
                <a16:creationId xmlns:a16="http://schemas.microsoft.com/office/drawing/2014/main" id="{81E6BEDC-A52D-70D2-A0ED-39191BCC2246}"/>
              </a:ext>
            </a:extLst>
          </p:cNvPr>
          <p:cNvSpPr/>
          <p:nvPr/>
        </p:nvSpPr>
        <p:spPr>
          <a:xfrm>
            <a:off x="6978893" y="2638412"/>
            <a:ext cx="4935793" cy="339117"/>
          </a:xfrm>
          <a:prstGeom prst="borderCallout1">
            <a:avLst>
              <a:gd name="adj1" fmla="val 18750"/>
              <a:gd name="adj2" fmla="val -8333"/>
              <a:gd name="adj3" fmla="val -283987"/>
              <a:gd name="adj4" fmla="val -43057"/>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rgbClr val="FA661C"/>
                </a:solidFill>
              </a:rPr>
              <a:t>RRv6</a:t>
            </a:r>
            <a:r>
              <a:rPr lang="en-US" dirty="0">
                <a:solidFill>
                  <a:srgbClr val="FA661C"/>
                </a:solidFill>
              </a:rPr>
              <a:t> policy (prefer SRv6 transport)</a:t>
            </a:r>
            <a:endParaRPr lang="en-US" dirty="0">
              <a:solidFill>
                <a:srgbClr val="FA661C"/>
              </a:solidFill>
              <a:highlight>
                <a:srgbClr val="FFFF00"/>
              </a:highlight>
            </a:endParaRPr>
          </a:p>
        </p:txBody>
      </p:sp>
    </p:spTree>
    <p:extLst>
      <p:ext uri="{BB962C8B-B14F-4D97-AF65-F5344CB8AC3E}">
        <p14:creationId xmlns:p14="http://schemas.microsoft.com/office/powerpoint/2010/main" val="3651812318"/>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B67B989-A1A1-D11E-4628-1B376C30A3F5}"/>
              </a:ext>
            </a:extLst>
          </p:cNvPr>
          <p:cNvSpPr>
            <a:spLocks noGrp="1"/>
          </p:cNvSpPr>
          <p:nvPr>
            <p:ph type="body" sz="quarter" idx="11"/>
          </p:nvPr>
        </p:nvSpPr>
        <p:spPr/>
        <p:txBody>
          <a:bodyPr/>
          <a:lstStyle/>
          <a:p>
            <a:r>
              <a:rPr lang="en-US" dirty="0"/>
              <a:t>L3VPN - MPLS LDP to SRv6</a:t>
            </a:r>
          </a:p>
        </p:txBody>
      </p:sp>
      <p:pic>
        <p:nvPicPr>
          <p:cNvPr id="4" name="Picture 3" descr="A diagram of a network&#10;&#10;AI-generated content may be incorrect.">
            <a:extLst>
              <a:ext uri="{FF2B5EF4-FFF2-40B4-BE49-F238E27FC236}">
                <a16:creationId xmlns:a16="http://schemas.microsoft.com/office/drawing/2014/main" id="{2EE3441D-6AEF-7404-ED53-A41F72C96D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6897" y="1036112"/>
            <a:ext cx="9518205" cy="4785775"/>
          </a:xfrm>
          <a:prstGeom prst="rect">
            <a:avLst/>
          </a:prstGeom>
        </p:spPr>
      </p:pic>
    </p:spTree>
    <p:extLst>
      <p:ext uri="{BB962C8B-B14F-4D97-AF65-F5344CB8AC3E}">
        <p14:creationId xmlns:p14="http://schemas.microsoft.com/office/powerpoint/2010/main" val="738228085"/>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B67B989-A1A1-D11E-4628-1B376C30A3F5}"/>
              </a:ext>
            </a:extLst>
          </p:cNvPr>
          <p:cNvSpPr>
            <a:spLocks noGrp="1"/>
          </p:cNvSpPr>
          <p:nvPr>
            <p:ph type="body" sz="quarter" idx="11"/>
          </p:nvPr>
        </p:nvSpPr>
        <p:spPr/>
        <p:txBody>
          <a:bodyPr/>
          <a:lstStyle/>
          <a:p>
            <a:r>
              <a:rPr lang="en-US" dirty="0"/>
              <a:t>L3VPN - MPLS LDP to SRv6</a:t>
            </a:r>
          </a:p>
        </p:txBody>
      </p:sp>
      <p:pic>
        <p:nvPicPr>
          <p:cNvPr id="5" name="Picture 4" descr="A diagram of a network&#10;&#10;AI-generated content may be incorrect.">
            <a:extLst>
              <a:ext uri="{FF2B5EF4-FFF2-40B4-BE49-F238E27FC236}">
                <a16:creationId xmlns:a16="http://schemas.microsoft.com/office/drawing/2014/main" id="{A2E22379-1F77-A964-9D39-6AD6890D20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3570" y="1017061"/>
            <a:ext cx="9464860" cy="4823878"/>
          </a:xfrm>
          <a:prstGeom prst="rect">
            <a:avLst/>
          </a:prstGeom>
        </p:spPr>
      </p:pic>
    </p:spTree>
    <p:extLst>
      <p:ext uri="{BB962C8B-B14F-4D97-AF65-F5344CB8AC3E}">
        <p14:creationId xmlns:p14="http://schemas.microsoft.com/office/powerpoint/2010/main" val="2196357576"/>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B67B989-A1A1-D11E-4628-1B376C30A3F5}"/>
              </a:ext>
            </a:extLst>
          </p:cNvPr>
          <p:cNvSpPr>
            <a:spLocks noGrp="1"/>
          </p:cNvSpPr>
          <p:nvPr>
            <p:ph type="body" sz="quarter" idx="11"/>
          </p:nvPr>
        </p:nvSpPr>
        <p:spPr/>
        <p:txBody>
          <a:bodyPr/>
          <a:lstStyle/>
          <a:p>
            <a:r>
              <a:rPr lang="en-US" dirty="0"/>
              <a:t>L3VPN - MPLS LDP to SRv6</a:t>
            </a:r>
          </a:p>
        </p:txBody>
      </p:sp>
      <p:pic>
        <p:nvPicPr>
          <p:cNvPr id="4" name="Picture 3" descr="A diagram of a network&#10;&#10;AI-generated content may be incorrect.">
            <a:extLst>
              <a:ext uri="{FF2B5EF4-FFF2-40B4-BE49-F238E27FC236}">
                <a16:creationId xmlns:a16="http://schemas.microsoft.com/office/drawing/2014/main" id="{DC74E2A3-9792-4C2F-37F0-23073997B8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8328" y="1039923"/>
            <a:ext cx="9495343" cy="4778154"/>
          </a:xfrm>
          <a:prstGeom prst="rect">
            <a:avLst/>
          </a:prstGeom>
        </p:spPr>
      </p:pic>
    </p:spTree>
    <p:extLst>
      <p:ext uri="{BB962C8B-B14F-4D97-AF65-F5344CB8AC3E}">
        <p14:creationId xmlns:p14="http://schemas.microsoft.com/office/powerpoint/2010/main" val="166272454"/>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B67B989-A1A1-D11E-4628-1B376C30A3F5}"/>
              </a:ext>
            </a:extLst>
          </p:cNvPr>
          <p:cNvSpPr>
            <a:spLocks noGrp="1"/>
          </p:cNvSpPr>
          <p:nvPr>
            <p:ph type="body" sz="quarter" idx="11"/>
          </p:nvPr>
        </p:nvSpPr>
        <p:spPr/>
        <p:txBody>
          <a:bodyPr/>
          <a:lstStyle/>
          <a:p>
            <a:r>
              <a:rPr lang="en-US" dirty="0"/>
              <a:t>L3VPN - MPLS LDP to SRv6</a:t>
            </a:r>
          </a:p>
        </p:txBody>
      </p:sp>
      <p:pic>
        <p:nvPicPr>
          <p:cNvPr id="5" name="Picture 4" descr="A diagram of a network&#10;&#10;AI-generated content may be incorrect.">
            <a:extLst>
              <a:ext uri="{FF2B5EF4-FFF2-40B4-BE49-F238E27FC236}">
                <a16:creationId xmlns:a16="http://schemas.microsoft.com/office/drawing/2014/main" id="{D9BCE429-E800-5C82-AD6B-B2EA32A7A8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5949" y="1043733"/>
            <a:ext cx="9480102" cy="4770533"/>
          </a:xfrm>
          <a:prstGeom prst="rect">
            <a:avLst/>
          </a:prstGeom>
        </p:spPr>
      </p:pic>
    </p:spTree>
    <p:extLst>
      <p:ext uri="{BB962C8B-B14F-4D97-AF65-F5344CB8AC3E}">
        <p14:creationId xmlns:p14="http://schemas.microsoft.com/office/powerpoint/2010/main" val="808971637"/>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 Placeholder 53">
            <a:extLst>
              <a:ext uri="{FF2B5EF4-FFF2-40B4-BE49-F238E27FC236}">
                <a16:creationId xmlns:a16="http://schemas.microsoft.com/office/drawing/2014/main" id="{644DD39E-246C-C23C-7452-137473BA63D9}"/>
              </a:ext>
            </a:extLst>
          </p:cNvPr>
          <p:cNvSpPr>
            <a:spLocks noGrp="1"/>
          </p:cNvSpPr>
          <p:nvPr>
            <p:ph type="body" sz="quarter" idx="10"/>
          </p:nvPr>
        </p:nvSpPr>
        <p:spPr/>
        <p:txBody>
          <a:bodyPr/>
          <a:lstStyle/>
          <a:p>
            <a:r>
              <a:rPr lang="en-US" b="1" dirty="0">
                <a:solidFill>
                  <a:srgbClr val="7030A0"/>
                </a:solidFill>
              </a:rPr>
              <a:t>SRv6 on remaining PE</a:t>
            </a:r>
          </a:p>
        </p:txBody>
      </p:sp>
      <p:sp>
        <p:nvSpPr>
          <p:cNvPr id="3" name="Text Placeholder 2">
            <a:extLst>
              <a:ext uri="{FF2B5EF4-FFF2-40B4-BE49-F238E27FC236}">
                <a16:creationId xmlns:a16="http://schemas.microsoft.com/office/drawing/2014/main" id="{D468842C-E9AA-4882-EC44-4597C8EA2A45}"/>
              </a:ext>
            </a:extLst>
          </p:cNvPr>
          <p:cNvSpPr>
            <a:spLocks noGrp="1"/>
          </p:cNvSpPr>
          <p:nvPr>
            <p:ph type="body" sz="quarter" idx="11"/>
          </p:nvPr>
        </p:nvSpPr>
        <p:spPr>
          <a:xfrm>
            <a:off x="873918" y="12461"/>
            <a:ext cx="10444163" cy="773017"/>
          </a:xfrm>
        </p:spPr>
        <p:txBody>
          <a:bodyPr/>
          <a:lstStyle/>
          <a:p>
            <a:r>
              <a:rPr lang="en-US" dirty="0"/>
              <a:t>Step 3 - MPLS LDP to SRv6 migration </a:t>
            </a:r>
            <a:r>
              <a:rPr lang="en-US" dirty="0">
                <a:solidFill>
                  <a:schemeClr val="bg1">
                    <a:lumMod val="50000"/>
                  </a:schemeClr>
                </a:solidFill>
              </a:rPr>
              <a:t>- L3VPN</a:t>
            </a:r>
          </a:p>
        </p:txBody>
      </p:sp>
      <p:sp>
        <p:nvSpPr>
          <p:cNvPr id="8" name="Oval 7">
            <a:extLst>
              <a:ext uri="{FF2B5EF4-FFF2-40B4-BE49-F238E27FC236}">
                <a16:creationId xmlns:a16="http://schemas.microsoft.com/office/drawing/2014/main" id="{993A2A87-8EB9-6614-516E-A2CB823D3BFE}"/>
              </a:ext>
            </a:extLst>
          </p:cNvPr>
          <p:cNvSpPr/>
          <p:nvPr/>
        </p:nvSpPr>
        <p:spPr>
          <a:xfrm>
            <a:off x="2861187" y="2743878"/>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PE-1</a:t>
            </a:r>
          </a:p>
        </p:txBody>
      </p:sp>
      <p:sp>
        <p:nvSpPr>
          <p:cNvPr id="9" name="Oval 8">
            <a:extLst>
              <a:ext uri="{FF2B5EF4-FFF2-40B4-BE49-F238E27FC236}">
                <a16:creationId xmlns:a16="http://schemas.microsoft.com/office/drawing/2014/main" id="{DBB2B752-AE8F-9DC3-0D63-E500CBE67C94}"/>
              </a:ext>
            </a:extLst>
          </p:cNvPr>
          <p:cNvSpPr/>
          <p:nvPr/>
        </p:nvSpPr>
        <p:spPr>
          <a:xfrm>
            <a:off x="2625213" y="3050586"/>
            <a:ext cx="471948" cy="459402"/>
          </a:xfrm>
          <a:prstGeom prst="ellipse">
            <a:avLst/>
          </a:prstGeom>
          <a:solidFill>
            <a:schemeClr val="accent3">
              <a:lumMod val="75000"/>
            </a:schemeClr>
          </a:solidFill>
          <a:ln w="508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E0851D-CFCC-8023-A043-3964DDC76594}"/>
              </a:ext>
            </a:extLst>
          </p:cNvPr>
          <p:cNvSpPr/>
          <p:nvPr/>
        </p:nvSpPr>
        <p:spPr>
          <a:xfrm>
            <a:off x="5225845" y="1461634"/>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P-2</a:t>
            </a:r>
          </a:p>
        </p:txBody>
      </p:sp>
      <p:sp>
        <p:nvSpPr>
          <p:cNvPr id="11" name="Oval 10">
            <a:extLst>
              <a:ext uri="{FF2B5EF4-FFF2-40B4-BE49-F238E27FC236}">
                <a16:creationId xmlns:a16="http://schemas.microsoft.com/office/drawing/2014/main" id="{341588A8-533B-B65D-2813-E637BE0322E3}"/>
              </a:ext>
            </a:extLst>
          </p:cNvPr>
          <p:cNvSpPr/>
          <p:nvPr/>
        </p:nvSpPr>
        <p:spPr>
          <a:xfrm>
            <a:off x="5225845"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P-3</a:t>
            </a:r>
          </a:p>
        </p:txBody>
      </p:sp>
      <p:sp>
        <p:nvSpPr>
          <p:cNvPr id="12" name="Oval 11">
            <a:extLst>
              <a:ext uri="{FF2B5EF4-FFF2-40B4-BE49-F238E27FC236}">
                <a16:creationId xmlns:a16="http://schemas.microsoft.com/office/drawing/2014/main" id="{88820713-3A40-9E92-5017-307E1BA5FCFB}"/>
              </a:ext>
            </a:extLst>
          </p:cNvPr>
          <p:cNvSpPr/>
          <p:nvPr/>
        </p:nvSpPr>
        <p:spPr>
          <a:xfrm>
            <a:off x="8091948" y="1461633"/>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PE-4</a:t>
            </a:r>
          </a:p>
        </p:txBody>
      </p:sp>
      <p:sp>
        <p:nvSpPr>
          <p:cNvPr id="13" name="Oval 12">
            <a:extLst>
              <a:ext uri="{FF2B5EF4-FFF2-40B4-BE49-F238E27FC236}">
                <a16:creationId xmlns:a16="http://schemas.microsoft.com/office/drawing/2014/main" id="{34EEF5FE-F3A6-1D78-CBD1-D19B71E84401}"/>
              </a:ext>
            </a:extLst>
          </p:cNvPr>
          <p:cNvSpPr/>
          <p:nvPr/>
        </p:nvSpPr>
        <p:spPr>
          <a:xfrm>
            <a:off x="8091948"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PE-5</a:t>
            </a:r>
          </a:p>
        </p:txBody>
      </p:sp>
      <p:sp>
        <p:nvSpPr>
          <p:cNvPr id="14" name="Oval 13">
            <a:extLst>
              <a:ext uri="{FF2B5EF4-FFF2-40B4-BE49-F238E27FC236}">
                <a16:creationId xmlns:a16="http://schemas.microsoft.com/office/drawing/2014/main" id="{A33A844A-10F7-FA25-02CA-BE1263DA1218}"/>
              </a:ext>
            </a:extLst>
          </p:cNvPr>
          <p:cNvSpPr/>
          <p:nvPr/>
        </p:nvSpPr>
        <p:spPr>
          <a:xfrm>
            <a:off x="6744928" y="5296213"/>
            <a:ext cx="1061884" cy="1072819"/>
          </a:xfrm>
          <a:prstGeom prst="ellipse">
            <a:avLst/>
          </a:prstGeom>
          <a:solidFill>
            <a:schemeClr val="accent3">
              <a:lumMod val="75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RRv4</a:t>
            </a:r>
            <a:endParaRPr lang="en-US" sz="1600" dirty="0"/>
          </a:p>
        </p:txBody>
      </p:sp>
      <p:sp>
        <p:nvSpPr>
          <p:cNvPr id="17" name="TextBox 16">
            <a:extLst>
              <a:ext uri="{FF2B5EF4-FFF2-40B4-BE49-F238E27FC236}">
                <a16:creationId xmlns:a16="http://schemas.microsoft.com/office/drawing/2014/main" id="{DCABD92B-4299-3F62-AB81-C71EAEFBC20B}"/>
              </a:ext>
            </a:extLst>
          </p:cNvPr>
          <p:cNvSpPr txBox="1"/>
          <p:nvPr/>
        </p:nvSpPr>
        <p:spPr>
          <a:xfrm>
            <a:off x="353961" y="1793224"/>
            <a:ext cx="2300500" cy="2562466"/>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effectLst/>
                <a:uLnTx/>
                <a:uFillTx/>
                <a:latin typeface="Arial" panose="020B0604020202020204"/>
                <a:ea typeface="+mn-ea"/>
                <a:cs typeface="+mn-cs"/>
              </a:rPr>
              <a:t>VRF 3001</a:t>
            </a:r>
          </a:p>
          <a:p>
            <a: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pPr>
            <a:r>
              <a:rPr lang="en-US" sz="2000" dirty="0">
                <a:latin typeface="Arial" panose="020B0604020202020204"/>
              </a:rPr>
              <a:t>full mesh</a:t>
            </a:r>
          </a:p>
          <a:p>
            <a:pPr marR="0" algn="l" defTabSz="914400" rtl="0" eaLnBrk="1" fontAlgn="auto" latinLnBrk="0" hangingPunct="1">
              <a:lnSpc>
                <a:spcPct val="90000"/>
              </a:lnSpc>
              <a:spcBef>
                <a:spcPts val="1000"/>
              </a:spcBef>
              <a:spcAft>
                <a:spcPts val="0"/>
              </a:spcAft>
              <a:buClrTx/>
              <a:buSzTx/>
              <a:tabLst/>
            </a:pPr>
            <a:r>
              <a:rPr kumimoji="0" lang="en-US" sz="2000" i="0" u="none" strike="noStrike" kern="1200" cap="none" spc="0" normalizeH="0" baseline="0" noProof="0" dirty="0">
                <a:ln>
                  <a:noFill/>
                </a:ln>
                <a:effectLst/>
                <a:uLnTx/>
                <a:uFillTx/>
                <a:latin typeface="Arial" panose="020B0604020202020204"/>
                <a:ea typeface="+mn-ea"/>
                <a:cs typeface="+mn-cs"/>
              </a:rPr>
              <a:t>     MPLS VRF</a:t>
            </a:r>
          </a:p>
          <a:p>
            <a:pPr marR="0" algn="l" defTabSz="914400" rtl="0" eaLnBrk="1" fontAlgn="auto" latinLnBrk="0" hangingPunct="1">
              <a:lnSpc>
                <a:spcPct val="90000"/>
              </a:lnSpc>
              <a:spcBef>
                <a:spcPts val="1000"/>
              </a:spcBef>
              <a:spcAft>
                <a:spcPts val="0"/>
              </a:spcAft>
              <a:buClrTx/>
              <a:buSzTx/>
              <a:tabLst/>
            </a:pPr>
            <a:endParaRPr lang="en-US" sz="2000" dirty="0">
              <a:latin typeface="Arial" panose="020B0604020202020204"/>
            </a:endParaRPr>
          </a:p>
          <a:p>
            <a:pPr marR="0" algn="l" defTabSz="914400" rtl="0" eaLnBrk="1" fontAlgn="auto" latinLnBrk="0" hangingPunct="1">
              <a:lnSpc>
                <a:spcPct val="90000"/>
              </a:lnSpc>
              <a:spcBef>
                <a:spcPts val="1000"/>
              </a:spcBef>
              <a:spcAft>
                <a:spcPts val="0"/>
              </a:spcAft>
              <a:buClrTx/>
              <a:buSzTx/>
              <a:tabLst/>
            </a:pPr>
            <a:r>
              <a:rPr kumimoji="0" lang="en-US" sz="2000" i="0" u="none" strike="noStrike" kern="1200" cap="none" spc="0" normalizeH="0" baseline="0" noProof="0" dirty="0">
                <a:ln>
                  <a:noFill/>
                </a:ln>
                <a:effectLst/>
                <a:uLnTx/>
                <a:uFillTx/>
                <a:latin typeface="Arial" panose="020B0604020202020204"/>
                <a:ea typeface="+mn-ea"/>
                <a:cs typeface="+mn-cs"/>
              </a:rPr>
              <a:t>     Dual connected</a:t>
            </a:r>
          </a:p>
          <a:p>
            <a:pPr marR="0" algn="l" defTabSz="914400" rtl="0" eaLnBrk="1" fontAlgn="auto" latinLnBrk="0" hangingPunct="1">
              <a:lnSpc>
                <a:spcPct val="90000"/>
              </a:lnSpc>
              <a:spcBef>
                <a:spcPts val="1000"/>
              </a:spcBef>
              <a:spcAft>
                <a:spcPts val="0"/>
              </a:spcAft>
              <a:buClrTx/>
              <a:buSzTx/>
              <a:tabLst/>
            </a:pPr>
            <a:r>
              <a:rPr kumimoji="0" lang="en-US" sz="2000" i="0" u="none" strike="noStrike" kern="1200" cap="none" spc="0" normalizeH="0" baseline="0" noProof="0" dirty="0">
                <a:ln>
                  <a:noFill/>
                </a:ln>
                <a:effectLst/>
                <a:uLnTx/>
                <a:uFillTx/>
                <a:latin typeface="Arial" panose="020B0604020202020204"/>
                <a:ea typeface="+mn-ea"/>
                <a:cs typeface="+mn-cs"/>
              </a:rPr>
              <a:t>     VRF </a:t>
            </a:r>
          </a:p>
        </p:txBody>
      </p:sp>
      <p:sp>
        <p:nvSpPr>
          <p:cNvPr id="18" name="Oval 17">
            <a:extLst>
              <a:ext uri="{FF2B5EF4-FFF2-40B4-BE49-F238E27FC236}">
                <a16:creationId xmlns:a16="http://schemas.microsoft.com/office/drawing/2014/main" id="{C5A9DFEF-4947-F2F1-A76D-8AC479436895}"/>
              </a:ext>
            </a:extLst>
          </p:cNvPr>
          <p:cNvSpPr/>
          <p:nvPr/>
        </p:nvSpPr>
        <p:spPr>
          <a:xfrm>
            <a:off x="229906" y="2640948"/>
            <a:ext cx="471948" cy="492651"/>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F29B4790-86CB-3D33-D8AA-E7828F3315AA}"/>
              </a:ext>
            </a:extLst>
          </p:cNvPr>
          <p:cNvSpPr/>
          <p:nvPr/>
        </p:nvSpPr>
        <p:spPr>
          <a:xfrm>
            <a:off x="8917858" y="4427967"/>
            <a:ext cx="471948" cy="459402"/>
          </a:xfrm>
          <a:prstGeom prst="ellipse">
            <a:avLst/>
          </a:prstGeom>
          <a:solidFill>
            <a:schemeClr val="accent3">
              <a:lumMod val="75000"/>
            </a:schemeClr>
          </a:solidFill>
          <a:ln w="508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F7ADD5B5-1DE1-9F97-8D34-DA0DCA03396A}"/>
              </a:ext>
            </a:extLst>
          </p:cNvPr>
          <p:cNvSpPr/>
          <p:nvPr/>
        </p:nvSpPr>
        <p:spPr>
          <a:xfrm>
            <a:off x="8917858" y="1768341"/>
            <a:ext cx="471948" cy="459402"/>
          </a:xfrm>
          <a:prstGeom prst="ellipse">
            <a:avLst/>
          </a:prstGeom>
          <a:solidFill>
            <a:schemeClr val="accent3">
              <a:lumMod val="75000"/>
            </a:schemeClr>
          </a:solidFill>
          <a:ln w="508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6313A627-B0A9-C701-976E-3F14F76CF28D}"/>
              </a:ext>
            </a:extLst>
          </p:cNvPr>
          <p:cNvCxnSpPr>
            <a:stCxn id="10" idx="6"/>
            <a:endCxn id="12" idx="2"/>
          </p:cNvCxnSpPr>
          <p:nvPr/>
        </p:nvCxnSpPr>
        <p:spPr>
          <a:xfrm flipV="1">
            <a:off x="6287729" y="1998043"/>
            <a:ext cx="1804219" cy="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A7F45EA-CD46-5772-EAFD-4AAC01B7BFC8}"/>
              </a:ext>
            </a:extLst>
          </p:cNvPr>
          <p:cNvCxnSpPr>
            <a:cxnSpLocks/>
            <a:stCxn id="11" idx="7"/>
          </p:cNvCxnSpPr>
          <p:nvPr/>
        </p:nvCxnSpPr>
        <p:spPr>
          <a:xfrm flipV="1">
            <a:off x="6132220" y="2336659"/>
            <a:ext cx="2083535" cy="194171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E852CC6-3C63-30D9-93E0-B76FA8598344}"/>
              </a:ext>
            </a:extLst>
          </p:cNvPr>
          <p:cNvCxnSpPr>
            <a:cxnSpLocks/>
            <a:stCxn id="12" idx="4"/>
          </p:cNvCxnSpPr>
          <p:nvPr/>
        </p:nvCxnSpPr>
        <p:spPr>
          <a:xfrm>
            <a:off x="8622890" y="2534452"/>
            <a:ext cx="0" cy="1592852"/>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BDE2377-063B-01BF-3CB6-05F3FBF4C424}"/>
              </a:ext>
            </a:extLst>
          </p:cNvPr>
          <p:cNvCxnSpPr>
            <a:cxnSpLocks/>
            <a:stCxn id="11" idx="6"/>
            <a:endCxn id="13" idx="2"/>
          </p:cNvCxnSpPr>
          <p:nvPr/>
        </p:nvCxnSpPr>
        <p:spPr>
          <a:xfrm>
            <a:off x="6287729" y="4657669"/>
            <a:ext cx="1804219"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F49B32-4149-6A9F-D7CA-BABCA0E7A0A6}"/>
              </a:ext>
            </a:extLst>
          </p:cNvPr>
          <p:cNvCxnSpPr>
            <a:cxnSpLocks/>
            <a:stCxn id="10" idx="4"/>
            <a:endCxn id="11" idx="0"/>
          </p:cNvCxnSpPr>
          <p:nvPr/>
        </p:nvCxnSpPr>
        <p:spPr>
          <a:xfrm>
            <a:off x="5756787" y="2534453"/>
            <a:ext cx="0" cy="1586806"/>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FB43A74-B938-0C85-4049-B54CC5E87491}"/>
              </a:ext>
            </a:extLst>
          </p:cNvPr>
          <p:cNvCxnSpPr>
            <a:cxnSpLocks/>
            <a:endCxn id="11" idx="2"/>
          </p:cNvCxnSpPr>
          <p:nvPr/>
        </p:nvCxnSpPr>
        <p:spPr>
          <a:xfrm>
            <a:off x="3767562" y="3644526"/>
            <a:ext cx="1458283" cy="1013143"/>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9A3A119-7341-52D5-CD04-1C055CBC3D2C}"/>
              </a:ext>
            </a:extLst>
          </p:cNvPr>
          <p:cNvCxnSpPr>
            <a:cxnSpLocks/>
            <a:stCxn id="8" idx="7"/>
            <a:endCxn id="10" idx="2"/>
          </p:cNvCxnSpPr>
          <p:nvPr/>
        </p:nvCxnSpPr>
        <p:spPr>
          <a:xfrm flipV="1">
            <a:off x="3767562" y="1998044"/>
            <a:ext cx="1458283" cy="902945"/>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AA5A7C64-24D0-F310-9369-5EE60113D0DD}"/>
              </a:ext>
            </a:extLst>
          </p:cNvPr>
          <p:cNvSpPr txBox="1"/>
          <p:nvPr/>
        </p:nvSpPr>
        <p:spPr>
          <a:xfrm>
            <a:off x="2654461" y="3946135"/>
            <a:ext cx="1374465" cy="711533"/>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600" b="1" dirty="0">
                <a:solidFill>
                  <a:schemeClr val="accent4">
                    <a:lumMod val="75000"/>
                  </a:schemeClr>
                </a:solidFill>
                <a:latin typeface="Arial" panose="020B0604020202020204"/>
              </a:rPr>
              <a:t> </a:t>
            </a:r>
            <a:r>
              <a:rPr lang="en-US" sz="1600" dirty="0">
                <a:latin typeface="Arial" panose="020B0604020202020204"/>
              </a:rPr>
              <a:t>+ SRv6</a:t>
            </a:r>
          </a:p>
        </p:txBody>
      </p:sp>
      <p:sp>
        <p:nvSpPr>
          <p:cNvPr id="49" name="TextBox 48">
            <a:extLst>
              <a:ext uri="{FF2B5EF4-FFF2-40B4-BE49-F238E27FC236}">
                <a16:creationId xmlns:a16="http://schemas.microsoft.com/office/drawing/2014/main" id="{EB9FF396-0612-A9EE-123E-7055BFAED65E}"/>
              </a:ext>
            </a:extLst>
          </p:cNvPr>
          <p:cNvSpPr txBox="1"/>
          <p:nvPr/>
        </p:nvSpPr>
        <p:spPr>
          <a:xfrm>
            <a:off x="6588637" y="6372412"/>
            <a:ext cx="1374465"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endPar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endParaRPr>
          </a:p>
        </p:txBody>
      </p:sp>
      <p:cxnSp>
        <p:nvCxnSpPr>
          <p:cNvPr id="50" name="Straight Connector 49">
            <a:extLst>
              <a:ext uri="{FF2B5EF4-FFF2-40B4-BE49-F238E27FC236}">
                <a16:creationId xmlns:a16="http://schemas.microsoft.com/office/drawing/2014/main" id="{32AC3523-6F39-6CDD-5466-A394276895B0}"/>
              </a:ext>
            </a:extLst>
          </p:cNvPr>
          <p:cNvCxnSpPr>
            <a:cxnSpLocks/>
            <a:stCxn id="11" idx="5"/>
            <a:endCxn id="14" idx="1"/>
          </p:cNvCxnSpPr>
          <p:nvPr/>
        </p:nvCxnSpPr>
        <p:spPr>
          <a:xfrm>
            <a:off x="6132220" y="5036967"/>
            <a:ext cx="768217" cy="41635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1317F25D-B41D-CAAF-FCB6-1D3F49BE56B5}"/>
              </a:ext>
            </a:extLst>
          </p:cNvPr>
          <p:cNvSpPr txBox="1"/>
          <p:nvPr/>
        </p:nvSpPr>
        <p:spPr>
          <a:xfrm>
            <a:off x="1487018" y="3116372"/>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10.2.3.0/24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56" name="TextBox 55">
            <a:extLst>
              <a:ext uri="{FF2B5EF4-FFF2-40B4-BE49-F238E27FC236}">
                <a16:creationId xmlns:a16="http://schemas.microsoft.com/office/drawing/2014/main" id="{71597BD8-BA18-4458-65C4-EDF32B89A616}"/>
              </a:ext>
            </a:extLst>
          </p:cNvPr>
          <p:cNvSpPr txBox="1"/>
          <p:nvPr/>
        </p:nvSpPr>
        <p:spPr>
          <a:xfrm>
            <a:off x="9325819" y="4516166"/>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10.0.5.0/24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57" name="TextBox 56">
            <a:extLst>
              <a:ext uri="{FF2B5EF4-FFF2-40B4-BE49-F238E27FC236}">
                <a16:creationId xmlns:a16="http://schemas.microsoft.com/office/drawing/2014/main" id="{C4C859B2-6579-BA7E-74D3-8AC6D6CF78EA}"/>
              </a:ext>
            </a:extLst>
          </p:cNvPr>
          <p:cNvSpPr txBox="1"/>
          <p:nvPr/>
        </p:nvSpPr>
        <p:spPr>
          <a:xfrm>
            <a:off x="9325819" y="1844704"/>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10.0.4.0/24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5C26D65D-05EF-FF2F-EBB6-12EF5D9AEE7B}"/>
              </a:ext>
            </a:extLst>
          </p:cNvPr>
          <p:cNvSpPr txBox="1"/>
          <p:nvPr/>
        </p:nvSpPr>
        <p:spPr>
          <a:xfrm>
            <a:off x="5064109" y="5286376"/>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4" name="TextBox 3">
            <a:extLst>
              <a:ext uri="{FF2B5EF4-FFF2-40B4-BE49-F238E27FC236}">
                <a16:creationId xmlns:a16="http://schemas.microsoft.com/office/drawing/2014/main" id="{D9AA12F4-1770-F159-C6DB-8E028F5D9759}"/>
              </a:ext>
            </a:extLst>
          </p:cNvPr>
          <p:cNvSpPr txBox="1"/>
          <p:nvPr/>
        </p:nvSpPr>
        <p:spPr>
          <a:xfrm>
            <a:off x="5132763" y="949213"/>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5" name="TextBox 4">
            <a:extLst>
              <a:ext uri="{FF2B5EF4-FFF2-40B4-BE49-F238E27FC236}">
                <a16:creationId xmlns:a16="http://schemas.microsoft.com/office/drawing/2014/main" id="{F20EC0DB-1B35-01BD-1164-A60ADEB8EA97}"/>
              </a:ext>
            </a:extLst>
          </p:cNvPr>
          <p:cNvSpPr txBox="1"/>
          <p:nvPr/>
        </p:nvSpPr>
        <p:spPr>
          <a:xfrm>
            <a:off x="7935657" y="95957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r>
              <a:rPr lang="en-US" sz="1600" dirty="0">
                <a:latin typeface="Arial" panose="020B0604020202020204"/>
              </a:rPr>
              <a:t> + SRv6</a:t>
            </a:r>
          </a:p>
        </p:txBody>
      </p:sp>
      <p:sp>
        <p:nvSpPr>
          <p:cNvPr id="6" name="TextBox 5">
            <a:extLst>
              <a:ext uri="{FF2B5EF4-FFF2-40B4-BE49-F238E27FC236}">
                <a16:creationId xmlns:a16="http://schemas.microsoft.com/office/drawing/2014/main" id="{C92528FF-DFC8-807F-35EC-6AEB2901F35D}"/>
              </a:ext>
            </a:extLst>
          </p:cNvPr>
          <p:cNvSpPr txBox="1"/>
          <p:nvPr/>
        </p:nvSpPr>
        <p:spPr>
          <a:xfrm>
            <a:off x="8015341" y="526693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r>
              <a:rPr lang="en-US" sz="1600" dirty="0">
                <a:latin typeface="Arial" panose="020B0604020202020204"/>
              </a:rPr>
              <a:t> </a:t>
            </a:r>
            <a:r>
              <a:rPr lang="en-US" sz="1600" b="1" dirty="0">
                <a:solidFill>
                  <a:schemeClr val="accent4"/>
                </a:solidFill>
                <a:latin typeface="Arial" panose="020B0604020202020204"/>
              </a:rPr>
              <a:t>+ SRv6</a:t>
            </a:r>
          </a:p>
        </p:txBody>
      </p:sp>
      <p:sp>
        <p:nvSpPr>
          <p:cNvPr id="7" name="Oval 6">
            <a:extLst>
              <a:ext uri="{FF2B5EF4-FFF2-40B4-BE49-F238E27FC236}">
                <a16:creationId xmlns:a16="http://schemas.microsoft.com/office/drawing/2014/main" id="{7107F0F5-5264-3C51-408B-196E23D21C09}"/>
              </a:ext>
            </a:extLst>
          </p:cNvPr>
          <p:cNvSpPr/>
          <p:nvPr/>
        </p:nvSpPr>
        <p:spPr>
          <a:xfrm>
            <a:off x="3849048" y="5296213"/>
            <a:ext cx="1061884" cy="1072819"/>
          </a:xfrm>
          <a:prstGeom prst="ellipse">
            <a:avLst/>
          </a:prstGeom>
          <a:solidFill>
            <a:schemeClr val="accent3">
              <a:lumMod val="75000"/>
            </a:schemeClr>
          </a:solidFill>
          <a:ln w="635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bg1"/>
                </a:solidFill>
              </a:rPr>
              <a:t>RRv6</a:t>
            </a:r>
            <a:endParaRPr lang="en-US" sz="1600" dirty="0">
              <a:solidFill>
                <a:schemeClr val="bg1"/>
              </a:solidFill>
            </a:endParaRPr>
          </a:p>
        </p:txBody>
      </p:sp>
      <p:cxnSp>
        <p:nvCxnSpPr>
          <p:cNvPr id="15" name="Straight Connector 14">
            <a:extLst>
              <a:ext uri="{FF2B5EF4-FFF2-40B4-BE49-F238E27FC236}">
                <a16:creationId xmlns:a16="http://schemas.microsoft.com/office/drawing/2014/main" id="{3E97CA9D-FC9A-0C61-9CEE-DCD0C454E893}"/>
              </a:ext>
            </a:extLst>
          </p:cNvPr>
          <p:cNvCxnSpPr>
            <a:cxnSpLocks/>
            <a:stCxn id="7" idx="7"/>
            <a:endCxn id="11" idx="3"/>
          </p:cNvCxnSpPr>
          <p:nvPr/>
        </p:nvCxnSpPr>
        <p:spPr>
          <a:xfrm flipV="1">
            <a:off x="4755423" y="5036967"/>
            <a:ext cx="625931" cy="41635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1BE30D1-0A33-396A-DEBF-AFC8477DDA56}"/>
              </a:ext>
            </a:extLst>
          </p:cNvPr>
          <p:cNvCxnSpPr>
            <a:cxnSpLocks/>
          </p:cNvCxnSpPr>
          <p:nvPr/>
        </p:nvCxnSpPr>
        <p:spPr>
          <a:xfrm flipV="1">
            <a:off x="3923071" y="2151904"/>
            <a:ext cx="4092270" cy="805550"/>
          </a:xfrm>
          <a:prstGeom prst="straightConnector1">
            <a:avLst/>
          </a:prstGeom>
          <a:ln w="508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24ABEDC-BF0E-4EB4-5B5B-BAE861C31855}"/>
              </a:ext>
            </a:extLst>
          </p:cNvPr>
          <p:cNvCxnSpPr>
            <a:cxnSpLocks/>
          </p:cNvCxnSpPr>
          <p:nvPr/>
        </p:nvCxnSpPr>
        <p:spPr>
          <a:xfrm flipH="1" flipV="1">
            <a:off x="3965511" y="3516849"/>
            <a:ext cx="4059743" cy="911118"/>
          </a:xfrm>
          <a:prstGeom prst="straightConnector1">
            <a:avLst/>
          </a:prstGeom>
          <a:ln w="508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9A8F468-AB75-EA4F-2D00-1158D19ED420}"/>
              </a:ext>
            </a:extLst>
          </p:cNvPr>
          <p:cNvCxnSpPr>
            <a:cxnSpLocks/>
          </p:cNvCxnSpPr>
          <p:nvPr/>
        </p:nvCxnSpPr>
        <p:spPr>
          <a:xfrm flipV="1">
            <a:off x="8851164" y="2598784"/>
            <a:ext cx="0" cy="1434484"/>
          </a:xfrm>
          <a:prstGeom prst="straightConnector1">
            <a:avLst/>
          </a:prstGeom>
          <a:ln w="508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DBAB06F6-DA3D-71D8-B11A-03701AC3BF00}"/>
              </a:ext>
            </a:extLst>
          </p:cNvPr>
          <p:cNvSpPr txBox="1"/>
          <p:nvPr/>
        </p:nvSpPr>
        <p:spPr>
          <a:xfrm>
            <a:off x="8836837" y="3256040"/>
            <a:ext cx="755766" cy="183778"/>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b="1" i="0" u="none" strike="noStrike" kern="1200" cap="none" spc="0" normalizeH="0" baseline="0" noProof="0" dirty="0">
                <a:ln>
                  <a:noFill/>
                </a:ln>
                <a:solidFill>
                  <a:srgbClr val="7030A0"/>
                </a:solidFill>
                <a:effectLst/>
                <a:uLnTx/>
                <a:uFillTx/>
                <a:latin typeface="Arial" panose="020B0604020202020204"/>
                <a:ea typeface="+mn-ea"/>
                <a:cs typeface="+mn-cs"/>
              </a:rPr>
              <a:t>SRv6</a:t>
            </a:r>
            <a:endParaRPr lang="en-US" sz="1600" b="1" dirty="0">
              <a:solidFill>
                <a:srgbClr val="7030A0"/>
              </a:solidFill>
              <a:latin typeface="Arial" panose="020B0604020202020204"/>
            </a:endParaRPr>
          </a:p>
        </p:txBody>
      </p:sp>
      <p:sp>
        <p:nvSpPr>
          <p:cNvPr id="41" name="TextBox 40">
            <a:extLst>
              <a:ext uri="{FF2B5EF4-FFF2-40B4-BE49-F238E27FC236}">
                <a16:creationId xmlns:a16="http://schemas.microsoft.com/office/drawing/2014/main" id="{168350E7-8301-0EB0-92DB-CF4DA74DACBE}"/>
              </a:ext>
            </a:extLst>
          </p:cNvPr>
          <p:cNvSpPr txBox="1"/>
          <p:nvPr/>
        </p:nvSpPr>
        <p:spPr>
          <a:xfrm>
            <a:off x="6910269" y="2442563"/>
            <a:ext cx="755766" cy="183778"/>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rgbClr val="7030A0"/>
                </a:solidFill>
                <a:effectLst/>
                <a:uLnTx/>
                <a:uFillTx/>
                <a:latin typeface="Arial" panose="020B0604020202020204"/>
                <a:ea typeface="+mn-ea"/>
                <a:cs typeface="+mn-cs"/>
              </a:rPr>
              <a:t>SRv6</a:t>
            </a:r>
            <a:endParaRPr lang="en-US" sz="1600" dirty="0">
              <a:solidFill>
                <a:srgbClr val="7030A0"/>
              </a:solidFill>
              <a:latin typeface="Arial" panose="020B0604020202020204"/>
            </a:endParaRPr>
          </a:p>
        </p:txBody>
      </p:sp>
      <p:sp>
        <p:nvSpPr>
          <p:cNvPr id="42" name="TextBox 41">
            <a:extLst>
              <a:ext uri="{FF2B5EF4-FFF2-40B4-BE49-F238E27FC236}">
                <a16:creationId xmlns:a16="http://schemas.microsoft.com/office/drawing/2014/main" id="{E35A792C-C2C6-11B8-332C-E5FAEB8A4F43}"/>
              </a:ext>
            </a:extLst>
          </p:cNvPr>
          <p:cNvSpPr txBox="1"/>
          <p:nvPr/>
        </p:nvSpPr>
        <p:spPr>
          <a:xfrm>
            <a:off x="6872267" y="4004393"/>
            <a:ext cx="755766" cy="183778"/>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600" b="1" dirty="0">
                <a:solidFill>
                  <a:srgbClr val="7030A0"/>
                </a:solidFill>
                <a:latin typeface="Arial" panose="020B0604020202020204"/>
              </a:rPr>
              <a:t>SRv6</a:t>
            </a:r>
          </a:p>
        </p:txBody>
      </p:sp>
      <p:sp>
        <p:nvSpPr>
          <p:cNvPr id="16" name="Oval 15">
            <a:extLst>
              <a:ext uri="{FF2B5EF4-FFF2-40B4-BE49-F238E27FC236}">
                <a16:creationId xmlns:a16="http://schemas.microsoft.com/office/drawing/2014/main" id="{0129EBD1-BD3B-C467-C599-BC61342C3AD4}"/>
              </a:ext>
            </a:extLst>
          </p:cNvPr>
          <p:cNvSpPr/>
          <p:nvPr/>
        </p:nvSpPr>
        <p:spPr>
          <a:xfrm>
            <a:off x="257410" y="3307514"/>
            <a:ext cx="471948" cy="459402"/>
          </a:xfrm>
          <a:prstGeom prst="ellipse">
            <a:avLst/>
          </a:prstGeom>
          <a:solidFill>
            <a:schemeClr val="accent3">
              <a:lumMod val="75000"/>
            </a:schemeClr>
          </a:solidFill>
          <a:ln w="508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9" name="Straight Arrow Connector 18">
            <a:extLst>
              <a:ext uri="{FF2B5EF4-FFF2-40B4-BE49-F238E27FC236}">
                <a16:creationId xmlns:a16="http://schemas.microsoft.com/office/drawing/2014/main" id="{0AC815F2-D9D5-AC97-7431-F16F957B90CF}"/>
              </a:ext>
            </a:extLst>
          </p:cNvPr>
          <p:cNvCxnSpPr>
            <a:cxnSpLocks/>
          </p:cNvCxnSpPr>
          <p:nvPr/>
        </p:nvCxnSpPr>
        <p:spPr>
          <a:xfrm flipH="1">
            <a:off x="4395021" y="4841690"/>
            <a:ext cx="4198374" cy="864212"/>
          </a:xfrm>
          <a:prstGeom prst="straightConnector1">
            <a:avLst/>
          </a:prstGeom>
          <a:ln w="50800">
            <a:solidFill>
              <a:schemeClr val="accent4"/>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645F2023-3FCB-E91E-B045-2D46CC1B70A3}"/>
              </a:ext>
            </a:extLst>
          </p:cNvPr>
          <p:cNvSpPr txBox="1"/>
          <p:nvPr/>
        </p:nvSpPr>
        <p:spPr>
          <a:xfrm>
            <a:off x="6281465" y="4771087"/>
            <a:ext cx="1530159" cy="335485"/>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600" b="1" i="0" u="none" strike="noStrike" kern="1200" cap="none" spc="0" normalizeH="0" baseline="0" noProof="0" dirty="0">
                <a:ln>
                  <a:noFill/>
                </a:ln>
                <a:solidFill>
                  <a:schemeClr val="accent4"/>
                </a:solidFill>
                <a:effectLst/>
                <a:uLnTx/>
                <a:uFillTx/>
                <a:latin typeface="Arial" panose="020B0604020202020204"/>
                <a:ea typeface="+mn-ea"/>
                <a:cs typeface="+mn-cs"/>
              </a:rPr>
              <a:t>BGP </a:t>
            </a:r>
            <a:r>
              <a:rPr kumimoji="0" lang="en-US" sz="1600" b="1" i="0" u="none" strike="noStrike" kern="1200" cap="none" spc="0" normalizeH="0" baseline="0" noProof="0" dirty="0" err="1">
                <a:ln>
                  <a:noFill/>
                </a:ln>
                <a:solidFill>
                  <a:schemeClr val="accent4"/>
                </a:solidFill>
                <a:effectLst/>
                <a:uLnTx/>
                <a:uFillTx/>
                <a:latin typeface="Arial" panose="020B0604020202020204"/>
                <a:ea typeface="+mn-ea"/>
                <a:cs typeface="+mn-cs"/>
              </a:rPr>
              <a:t>vpnv4</a:t>
            </a:r>
            <a:endParaRPr kumimoji="0" lang="en-US" sz="1600" b="1" i="0" u="none" strike="noStrike" kern="1200" cap="none" spc="0" normalizeH="0" baseline="0" noProof="0" dirty="0">
              <a:ln>
                <a:noFill/>
              </a:ln>
              <a:solidFill>
                <a:schemeClr val="accent4"/>
              </a:solidFill>
              <a:effectLst/>
              <a:uLnTx/>
              <a:uFillTx/>
              <a:latin typeface="Arial" panose="020B0604020202020204"/>
              <a:ea typeface="+mn-ea"/>
              <a:cs typeface="+mn-cs"/>
            </a:endParaRPr>
          </a:p>
        </p:txBody>
      </p:sp>
    </p:spTree>
    <p:extLst>
      <p:ext uri="{BB962C8B-B14F-4D97-AF65-F5344CB8AC3E}">
        <p14:creationId xmlns:p14="http://schemas.microsoft.com/office/powerpoint/2010/main" val="2182689274"/>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 Placeholder 53">
            <a:extLst>
              <a:ext uri="{FF2B5EF4-FFF2-40B4-BE49-F238E27FC236}">
                <a16:creationId xmlns:a16="http://schemas.microsoft.com/office/drawing/2014/main" id="{644DD39E-246C-C23C-7452-137473BA63D9}"/>
              </a:ext>
            </a:extLst>
          </p:cNvPr>
          <p:cNvSpPr>
            <a:spLocks noGrp="1"/>
          </p:cNvSpPr>
          <p:nvPr>
            <p:ph type="body" sz="quarter" idx="10"/>
          </p:nvPr>
        </p:nvSpPr>
        <p:spPr/>
        <p:txBody>
          <a:bodyPr/>
          <a:lstStyle/>
          <a:p>
            <a:r>
              <a:rPr lang="en-US" b="1" dirty="0">
                <a:solidFill>
                  <a:schemeClr val="accent6"/>
                </a:solidFill>
              </a:rPr>
              <a:t>Remove LDP and </a:t>
            </a:r>
            <a:r>
              <a:rPr lang="en-US" b="1" dirty="0" err="1">
                <a:solidFill>
                  <a:schemeClr val="accent6"/>
                </a:solidFill>
              </a:rPr>
              <a:t>ISISv4</a:t>
            </a:r>
            <a:endParaRPr lang="en-US" b="1" dirty="0">
              <a:solidFill>
                <a:schemeClr val="accent6"/>
              </a:solidFill>
            </a:endParaRPr>
          </a:p>
        </p:txBody>
      </p:sp>
      <p:sp>
        <p:nvSpPr>
          <p:cNvPr id="3" name="Text Placeholder 2">
            <a:extLst>
              <a:ext uri="{FF2B5EF4-FFF2-40B4-BE49-F238E27FC236}">
                <a16:creationId xmlns:a16="http://schemas.microsoft.com/office/drawing/2014/main" id="{D468842C-E9AA-4882-EC44-4597C8EA2A45}"/>
              </a:ext>
            </a:extLst>
          </p:cNvPr>
          <p:cNvSpPr>
            <a:spLocks noGrp="1"/>
          </p:cNvSpPr>
          <p:nvPr>
            <p:ph type="body" sz="quarter" idx="11"/>
          </p:nvPr>
        </p:nvSpPr>
        <p:spPr>
          <a:xfrm>
            <a:off x="873918" y="12461"/>
            <a:ext cx="10444163" cy="773017"/>
          </a:xfrm>
        </p:spPr>
        <p:txBody>
          <a:bodyPr/>
          <a:lstStyle/>
          <a:p>
            <a:r>
              <a:rPr lang="en-US" dirty="0"/>
              <a:t>Step 4 - MPLS LDP to SRv6 migration </a:t>
            </a:r>
            <a:r>
              <a:rPr lang="en-US" dirty="0">
                <a:solidFill>
                  <a:schemeClr val="bg1">
                    <a:lumMod val="50000"/>
                  </a:schemeClr>
                </a:solidFill>
              </a:rPr>
              <a:t>- L3VPN</a:t>
            </a:r>
          </a:p>
        </p:txBody>
      </p:sp>
      <p:sp>
        <p:nvSpPr>
          <p:cNvPr id="8" name="Oval 7">
            <a:extLst>
              <a:ext uri="{FF2B5EF4-FFF2-40B4-BE49-F238E27FC236}">
                <a16:creationId xmlns:a16="http://schemas.microsoft.com/office/drawing/2014/main" id="{993A2A87-8EB9-6614-516E-A2CB823D3BFE}"/>
              </a:ext>
            </a:extLst>
          </p:cNvPr>
          <p:cNvSpPr/>
          <p:nvPr/>
        </p:nvSpPr>
        <p:spPr>
          <a:xfrm>
            <a:off x="2861187" y="2743878"/>
            <a:ext cx="1061884" cy="1072819"/>
          </a:xfrm>
          <a:prstGeom prst="ellipse">
            <a:avLst/>
          </a:prstGeom>
          <a:solidFill>
            <a:schemeClr val="accent3">
              <a:lumMod val="50000"/>
            </a:schemeClr>
          </a:solidFill>
          <a:ln w="635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PE-1</a:t>
            </a:r>
          </a:p>
        </p:txBody>
      </p:sp>
      <p:sp>
        <p:nvSpPr>
          <p:cNvPr id="9" name="Oval 8">
            <a:extLst>
              <a:ext uri="{FF2B5EF4-FFF2-40B4-BE49-F238E27FC236}">
                <a16:creationId xmlns:a16="http://schemas.microsoft.com/office/drawing/2014/main" id="{DBB2B752-AE8F-9DC3-0D63-E500CBE67C94}"/>
              </a:ext>
            </a:extLst>
          </p:cNvPr>
          <p:cNvSpPr/>
          <p:nvPr/>
        </p:nvSpPr>
        <p:spPr>
          <a:xfrm>
            <a:off x="2625213" y="3050586"/>
            <a:ext cx="471948" cy="459402"/>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E0851D-CFCC-8023-A043-3964DDC76594}"/>
              </a:ext>
            </a:extLst>
          </p:cNvPr>
          <p:cNvSpPr/>
          <p:nvPr/>
        </p:nvSpPr>
        <p:spPr>
          <a:xfrm>
            <a:off x="5225845" y="1461634"/>
            <a:ext cx="1061884" cy="1072819"/>
          </a:xfrm>
          <a:prstGeom prst="ellipse">
            <a:avLst/>
          </a:prstGeom>
          <a:solidFill>
            <a:schemeClr val="accent3">
              <a:lumMod val="50000"/>
            </a:schemeClr>
          </a:solidFill>
          <a:ln w="635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P-2</a:t>
            </a:r>
          </a:p>
        </p:txBody>
      </p:sp>
      <p:sp>
        <p:nvSpPr>
          <p:cNvPr id="11" name="Oval 10">
            <a:extLst>
              <a:ext uri="{FF2B5EF4-FFF2-40B4-BE49-F238E27FC236}">
                <a16:creationId xmlns:a16="http://schemas.microsoft.com/office/drawing/2014/main" id="{341588A8-533B-B65D-2813-E637BE0322E3}"/>
              </a:ext>
            </a:extLst>
          </p:cNvPr>
          <p:cNvSpPr/>
          <p:nvPr/>
        </p:nvSpPr>
        <p:spPr>
          <a:xfrm>
            <a:off x="5225845" y="4121259"/>
            <a:ext cx="1061884" cy="1072819"/>
          </a:xfrm>
          <a:prstGeom prst="ellipse">
            <a:avLst/>
          </a:prstGeom>
          <a:solidFill>
            <a:schemeClr val="accent3">
              <a:lumMod val="50000"/>
            </a:schemeClr>
          </a:solidFill>
          <a:ln w="635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P-3</a:t>
            </a:r>
          </a:p>
        </p:txBody>
      </p:sp>
      <p:sp>
        <p:nvSpPr>
          <p:cNvPr id="12" name="Oval 11">
            <a:extLst>
              <a:ext uri="{FF2B5EF4-FFF2-40B4-BE49-F238E27FC236}">
                <a16:creationId xmlns:a16="http://schemas.microsoft.com/office/drawing/2014/main" id="{88820713-3A40-9E92-5017-307E1BA5FCFB}"/>
              </a:ext>
            </a:extLst>
          </p:cNvPr>
          <p:cNvSpPr/>
          <p:nvPr/>
        </p:nvSpPr>
        <p:spPr>
          <a:xfrm>
            <a:off x="8091948" y="1461633"/>
            <a:ext cx="1061884" cy="1072819"/>
          </a:xfrm>
          <a:prstGeom prst="ellipse">
            <a:avLst/>
          </a:prstGeom>
          <a:solidFill>
            <a:schemeClr val="accent3">
              <a:lumMod val="50000"/>
            </a:schemeClr>
          </a:solidFill>
          <a:ln w="635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PE-4</a:t>
            </a:r>
          </a:p>
        </p:txBody>
      </p:sp>
      <p:sp>
        <p:nvSpPr>
          <p:cNvPr id="13" name="Oval 12">
            <a:extLst>
              <a:ext uri="{FF2B5EF4-FFF2-40B4-BE49-F238E27FC236}">
                <a16:creationId xmlns:a16="http://schemas.microsoft.com/office/drawing/2014/main" id="{34EEF5FE-F3A6-1D78-CBD1-D19B71E84401}"/>
              </a:ext>
            </a:extLst>
          </p:cNvPr>
          <p:cNvSpPr/>
          <p:nvPr/>
        </p:nvSpPr>
        <p:spPr>
          <a:xfrm>
            <a:off x="8091948" y="4121259"/>
            <a:ext cx="1061884" cy="1072819"/>
          </a:xfrm>
          <a:prstGeom prst="ellipse">
            <a:avLst/>
          </a:prstGeom>
          <a:solidFill>
            <a:schemeClr val="accent3">
              <a:lumMod val="50000"/>
            </a:schemeClr>
          </a:solidFill>
          <a:ln w="635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PE-5</a:t>
            </a:r>
          </a:p>
        </p:txBody>
      </p:sp>
      <p:sp>
        <p:nvSpPr>
          <p:cNvPr id="17" name="TextBox 16">
            <a:extLst>
              <a:ext uri="{FF2B5EF4-FFF2-40B4-BE49-F238E27FC236}">
                <a16:creationId xmlns:a16="http://schemas.microsoft.com/office/drawing/2014/main" id="{DCABD92B-4299-3F62-AB81-C71EAEFBC20B}"/>
              </a:ext>
            </a:extLst>
          </p:cNvPr>
          <p:cNvSpPr txBox="1"/>
          <p:nvPr/>
        </p:nvSpPr>
        <p:spPr>
          <a:xfrm>
            <a:off x="353961" y="1793224"/>
            <a:ext cx="2300500" cy="2562466"/>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effectLst/>
                <a:uLnTx/>
                <a:uFillTx/>
                <a:latin typeface="Arial" panose="020B0604020202020204"/>
                <a:ea typeface="+mn-ea"/>
                <a:cs typeface="+mn-cs"/>
              </a:rPr>
              <a:t>VRF 3001</a:t>
            </a:r>
          </a:p>
          <a:p>
            <a: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pPr>
            <a:r>
              <a:rPr lang="en-US" sz="2000" dirty="0">
                <a:latin typeface="Arial" panose="020B0604020202020204"/>
              </a:rPr>
              <a:t>full mesh</a:t>
            </a:r>
          </a:p>
          <a:p>
            <a:pPr marR="0" algn="l" defTabSz="914400" rtl="0" eaLnBrk="1" fontAlgn="auto" latinLnBrk="0" hangingPunct="1">
              <a:lnSpc>
                <a:spcPct val="90000"/>
              </a:lnSpc>
              <a:spcBef>
                <a:spcPts val="1000"/>
              </a:spcBef>
              <a:spcAft>
                <a:spcPts val="0"/>
              </a:spcAft>
              <a:buClrTx/>
              <a:buSzTx/>
              <a:tabLst/>
            </a:pPr>
            <a:r>
              <a:rPr kumimoji="0" lang="en-US" sz="2000" i="0" u="none" strike="noStrike" kern="1200" cap="none" spc="0" normalizeH="0" baseline="0" noProof="0" dirty="0">
                <a:ln>
                  <a:noFill/>
                </a:ln>
                <a:effectLst/>
                <a:uLnTx/>
                <a:uFillTx/>
                <a:latin typeface="Arial" panose="020B0604020202020204"/>
                <a:ea typeface="+mn-ea"/>
                <a:cs typeface="+mn-cs"/>
              </a:rPr>
              <a:t>     </a:t>
            </a:r>
            <a:r>
              <a:rPr lang="en-US" sz="2000" dirty="0">
                <a:latin typeface="Arial" panose="020B0604020202020204"/>
              </a:rPr>
              <a:t>SRv6</a:t>
            </a:r>
            <a:r>
              <a:rPr kumimoji="0" lang="en-US" sz="2000" i="0" u="none" strike="noStrike" kern="1200" cap="none" spc="0" normalizeH="0" baseline="0" noProof="0" dirty="0">
                <a:ln>
                  <a:noFill/>
                </a:ln>
                <a:effectLst/>
                <a:uLnTx/>
                <a:uFillTx/>
                <a:latin typeface="Arial" panose="020B0604020202020204"/>
                <a:ea typeface="+mn-ea"/>
                <a:cs typeface="+mn-cs"/>
              </a:rPr>
              <a:t> VRF</a:t>
            </a:r>
          </a:p>
          <a:p>
            <a:pPr marR="0" algn="l" defTabSz="914400" rtl="0" eaLnBrk="1" fontAlgn="auto" latinLnBrk="0" hangingPunct="1">
              <a:lnSpc>
                <a:spcPct val="90000"/>
              </a:lnSpc>
              <a:spcBef>
                <a:spcPts val="1000"/>
              </a:spcBef>
              <a:spcAft>
                <a:spcPts val="0"/>
              </a:spcAft>
              <a:buClrTx/>
              <a:buSzTx/>
              <a:tabLst/>
            </a:pPr>
            <a:endParaRPr lang="en-US" sz="2000" dirty="0">
              <a:latin typeface="Arial" panose="020B0604020202020204"/>
            </a:endParaRPr>
          </a:p>
        </p:txBody>
      </p:sp>
      <p:sp>
        <p:nvSpPr>
          <p:cNvPr id="18" name="Oval 17">
            <a:extLst>
              <a:ext uri="{FF2B5EF4-FFF2-40B4-BE49-F238E27FC236}">
                <a16:creationId xmlns:a16="http://schemas.microsoft.com/office/drawing/2014/main" id="{C5A9DFEF-4947-F2F1-A76D-8AC479436895}"/>
              </a:ext>
            </a:extLst>
          </p:cNvPr>
          <p:cNvSpPr/>
          <p:nvPr/>
        </p:nvSpPr>
        <p:spPr>
          <a:xfrm>
            <a:off x="229906" y="2640948"/>
            <a:ext cx="471948" cy="492651"/>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F29B4790-86CB-3D33-D8AA-E7828F3315AA}"/>
              </a:ext>
            </a:extLst>
          </p:cNvPr>
          <p:cNvSpPr/>
          <p:nvPr/>
        </p:nvSpPr>
        <p:spPr>
          <a:xfrm>
            <a:off x="8917858" y="4427967"/>
            <a:ext cx="471948" cy="459402"/>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F7ADD5B5-1DE1-9F97-8D34-DA0DCA03396A}"/>
              </a:ext>
            </a:extLst>
          </p:cNvPr>
          <p:cNvSpPr/>
          <p:nvPr/>
        </p:nvSpPr>
        <p:spPr>
          <a:xfrm>
            <a:off x="8917858" y="1768341"/>
            <a:ext cx="471948" cy="459402"/>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6313A627-B0A9-C701-976E-3F14F76CF28D}"/>
              </a:ext>
            </a:extLst>
          </p:cNvPr>
          <p:cNvCxnSpPr>
            <a:stCxn id="10" idx="6"/>
            <a:endCxn id="12" idx="2"/>
          </p:cNvCxnSpPr>
          <p:nvPr/>
        </p:nvCxnSpPr>
        <p:spPr>
          <a:xfrm flipV="1">
            <a:off x="6287729" y="1998043"/>
            <a:ext cx="1804219" cy="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A7F45EA-CD46-5772-EAFD-4AAC01B7BFC8}"/>
              </a:ext>
            </a:extLst>
          </p:cNvPr>
          <p:cNvCxnSpPr>
            <a:cxnSpLocks/>
            <a:stCxn id="11" idx="7"/>
          </p:cNvCxnSpPr>
          <p:nvPr/>
        </p:nvCxnSpPr>
        <p:spPr>
          <a:xfrm flipV="1">
            <a:off x="6132220" y="2336659"/>
            <a:ext cx="2083535" cy="194171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E852CC6-3C63-30D9-93E0-B76FA8598344}"/>
              </a:ext>
            </a:extLst>
          </p:cNvPr>
          <p:cNvCxnSpPr>
            <a:cxnSpLocks/>
            <a:stCxn id="12" idx="4"/>
          </p:cNvCxnSpPr>
          <p:nvPr/>
        </p:nvCxnSpPr>
        <p:spPr>
          <a:xfrm>
            <a:off x="8622890" y="2534452"/>
            <a:ext cx="0" cy="1592852"/>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BDE2377-063B-01BF-3CB6-05F3FBF4C424}"/>
              </a:ext>
            </a:extLst>
          </p:cNvPr>
          <p:cNvCxnSpPr>
            <a:cxnSpLocks/>
            <a:stCxn id="11" idx="6"/>
            <a:endCxn id="13" idx="2"/>
          </p:cNvCxnSpPr>
          <p:nvPr/>
        </p:nvCxnSpPr>
        <p:spPr>
          <a:xfrm>
            <a:off x="6287729" y="4657669"/>
            <a:ext cx="1804219"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F49B32-4149-6A9F-D7CA-BABCA0E7A0A6}"/>
              </a:ext>
            </a:extLst>
          </p:cNvPr>
          <p:cNvCxnSpPr>
            <a:cxnSpLocks/>
            <a:stCxn id="10" idx="4"/>
            <a:endCxn id="11" idx="0"/>
          </p:cNvCxnSpPr>
          <p:nvPr/>
        </p:nvCxnSpPr>
        <p:spPr>
          <a:xfrm>
            <a:off x="5756787" y="2534453"/>
            <a:ext cx="0" cy="1586806"/>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FB43A74-B938-0C85-4049-B54CC5E87491}"/>
              </a:ext>
            </a:extLst>
          </p:cNvPr>
          <p:cNvCxnSpPr>
            <a:cxnSpLocks/>
            <a:endCxn id="11" idx="2"/>
          </p:cNvCxnSpPr>
          <p:nvPr/>
        </p:nvCxnSpPr>
        <p:spPr>
          <a:xfrm>
            <a:off x="3767562" y="3644526"/>
            <a:ext cx="1458283" cy="1013143"/>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9A3A119-7341-52D5-CD04-1C055CBC3D2C}"/>
              </a:ext>
            </a:extLst>
          </p:cNvPr>
          <p:cNvCxnSpPr>
            <a:cxnSpLocks/>
            <a:stCxn id="8" idx="7"/>
            <a:endCxn id="10" idx="2"/>
          </p:cNvCxnSpPr>
          <p:nvPr/>
        </p:nvCxnSpPr>
        <p:spPr>
          <a:xfrm flipV="1">
            <a:off x="3767562" y="1998044"/>
            <a:ext cx="1458283" cy="902945"/>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AA5A7C64-24D0-F310-9369-5EE60113D0DD}"/>
              </a:ext>
            </a:extLst>
          </p:cNvPr>
          <p:cNvSpPr txBox="1"/>
          <p:nvPr/>
        </p:nvSpPr>
        <p:spPr>
          <a:xfrm>
            <a:off x="2654461" y="3946135"/>
            <a:ext cx="1374465" cy="711533"/>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600" dirty="0" err="1">
                <a:latin typeface="Arial" panose="020B0604020202020204"/>
              </a:rPr>
              <a:t>ISISv6</a:t>
            </a:r>
            <a:r>
              <a:rPr lang="en-US" sz="1600" dirty="0">
                <a:latin typeface="Arial" panose="020B0604020202020204"/>
              </a:rPr>
              <a:t> + SRv6</a:t>
            </a:r>
          </a:p>
        </p:txBody>
      </p:sp>
      <p:sp>
        <p:nvSpPr>
          <p:cNvPr id="55" name="TextBox 54">
            <a:extLst>
              <a:ext uri="{FF2B5EF4-FFF2-40B4-BE49-F238E27FC236}">
                <a16:creationId xmlns:a16="http://schemas.microsoft.com/office/drawing/2014/main" id="{1317F25D-B41D-CAAF-FCB6-1D3F49BE56B5}"/>
              </a:ext>
            </a:extLst>
          </p:cNvPr>
          <p:cNvSpPr txBox="1"/>
          <p:nvPr/>
        </p:nvSpPr>
        <p:spPr>
          <a:xfrm>
            <a:off x="1487018" y="3116372"/>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10.2.3.0/24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56" name="TextBox 55">
            <a:extLst>
              <a:ext uri="{FF2B5EF4-FFF2-40B4-BE49-F238E27FC236}">
                <a16:creationId xmlns:a16="http://schemas.microsoft.com/office/drawing/2014/main" id="{71597BD8-BA18-4458-65C4-EDF32B89A616}"/>
              </a:ext>
            </a:extLst>
          </p:cNvPr>
          <p:cNvSpPr txBox="1"/>
          <p:nvPr/>
        </p:nvSpPr>
        <p:spPr>
          <a:xfrm>
            <a:off x="9325819" y="4516166"/>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10.0.5.0/24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57" name="TextBox 56">
            <a:extLst>
              <a:ext uri="{FF2B5EF4-FFF2-40B4-BE49-F238E27FC236}">
                <a16:creationId xmlns:a16="http://schemas.microsoft.com/office/drawing/2014/main" id="{C4C859B2-6579-BA7E-74D3-8AC6D6CF78EA}"/>
              </a:ext>
            </a:extLst>
          </p:cNvPr>
          <p:cNvSpPr txBox="1"/>
          <p:nvPr/>
        </p:nvSpPr>
        <p:spPr>
          <a:xfrm>
            <a:off x="9325819" y="1844704"/>
            <a:ext cx="1250409"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sz="1600" dirty="0">
                <a:solidFill>
                  <a:schemeClr val="accent3"/>
                </a:solidFill>
                <a:latin typeface="Arial" panose="020B0604020202020204"/>
              </a:rPr>
              <a:t>10.0.4.0/24</a:t>
            </a:r>
            <a:endParaRPr kumimoji="0" lang="en-US" sz="1600" i="0" u="none" strike="noStrike" kern="1200" cap="none" spc="0" normalizeH="0" baseline="0" noProof="0" dirty="0">
              <a:ln>
                <a:noFill/>
              </a:ln>
              <a:solidFill>
                <a:schemeClr val="accent3"/>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5C26D65D-05EF-FF2F-EBB6-12EF5D9AEE7B}"/>
              </a:ext>
            </a:extLst>
          </p:cNvPr>
          <p:cNvSpPr txBox="1"/>
          <p:nvPr/>
        </p:nvSpPr>
        <p:spPr>
          <a:xfrm>
            <a:off x="5342801" y="5296213"/>
            <a:ext cx="753198" cy="166948"/>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600" dirty="0" err="1">
                <a:latin typeface="Arial" panose="020B0604020202020204"/>
              </a:rPr>
              <a:t>ISISv6</a:t>
            </a:r>
            <a:endParaRPr lang="en-US" sz="1600" dirty="0">
              <a:latin typeface="Arial" panose="020B0604020202020204"/>
            </a:endParaRPr>
          </a:p>
        </p:txBody>
      </p:sp>
      <p:sp>
        <p:nvSpPr>
          <p:cNvPr id="4" name="TextBox 3">
            <a:extLst>
              <a:ext uri="{FF2B5EF4-FFF2-40B4-BE49-F238E27FC236}">
                <a16:creationId xmlns:a16="http://schemas.microsoft.com/office/drawing/2014/main" id="{D9AA12F4-1770-F159-C6DB-8E028F5D9759}"/>
              </a:ext>
            </a:extLst>
          </p:cNvPr>
          <p:cNvSpPr txBox="1"/>
          <p:nvPr/>
        </p:nvSpPr>
        <p:spPr>
          <a:xfrm>
            <a:off x="5309743" y="1224198"/>
            <a:ext cx="786256" cy="140579"/>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600" dirty="0" err="1">
                <a:latin typeface="Arial" panose="020B0604020202020204"/>
              </a:rPr>
              <a:t>ISISv6</a:t>
            </a:r>
            <a:endParaRPr lang="en-US" sz="1600" dirty="0">
              <a:latin typeface="Arial" panose="020B0604020202020204"/>
            </a:endParaRPr>
          </a:p>
        </p:txBody>
      </p:sp>
      <p:sp>
        <p:nvSpPr>
          <p:cNvPr id="5" name="TextBox 4">
            <a:extLst>
              <a:ext uri="{FF2B5EF4-FFF2-40B4-BE49-F238E27FC236}">
                <a16:creationId xmlns:a16="http://schemas.microsoft.com/office/drawing/2014/main" id="{F20EC0DB-1B35-01BD-1164-A60ADEB8EA97}"/>
              </a:ext>
            </a:extLst>
          </p:cNvPr>
          <p:cNvSpPr txBox="1"/>
          <p:nvPr/>
        </p:nvSpPr>
        <p:spPr>
          <a:xfrm>
            <a:off x="7845830" y="1225541"/>
            <a:ext cx="1374465" cy="204185"/>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600" dirty="0" err="1">
                <a:latin typeface="Arial" panose="020B0604020202020204"/>
              </a:rPr>
              <a:t>ISISv6</a:t>
            </a:r>
            <a:r>
              <a:rPr lang="en-US" sz="1600" dirty="0">
                <a:latin typeface="Arial" panose="020B0604020202020204"/>
              </a:rPr>
              <a:t> + SRv6</a:t>
            </a:r>
          </a:p>
        </p:txBody>
      </p:sp>
      <p:sp>
        <p:nvSpPr>
          <p:cNvPr id="6" name="TextBox 5">
            <a:extLst>
              <a:ext uri="{FF2B5EF4-FFF2-40B4-BE49-F238E27FC236}">
                <a16:creationId xmlns:a16="http://schemas.microsoft.com/office/drawing/2014/main" id="{C92528FF-DFC8-807F-35EC-6AEB2901F35D}"/>
              </a:ext>
            </a:extLst>
          </p:cNvPr>
          <p:cNvSpPr txBox="1"/>
          <p:nvPr/>
        </p:nvSpPr>
        <p:spPr>
          <a:xfrm>
            <a:off x="8015341" y="526693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600" dirty="0" err="1">
                <a:latin typeface="Arial" panose="020B0604020202020204"/>
              </a:rPr>
              <a:t>ISISv6</a:t>
            </a:r>
            <a:r>
              <a:rPr lang="en-US" sz="1600" dirty="0">
                <a:latin typeface="Arial" panose="020B0604020202020204"/>
              </a:rPr>
              <a:t> + SRv6</a:t>
            </a:r>
          </a:p>
        </p:txBody>
      </p:sp>
      <p:sp>
        <p:nvSpPr>
          <p:cNvPr id="7" name="Oval 6">
            <a:extLst>
              <a:ext uri="{FF2B5EF4-FFF2-40B4-BE49-F238E27FC236}">
                <a16:creationId xmlns:a16="http://schemas.microsoft.com/office/drawing/2014/main" id="{7107F0F5-5264-3C51-408B-196E23D21C09}"/>
              </a:ext>
            </a:extLst>
          </p:cNvPr>
          <p:cNvSpPr/>
          <p:nvPr/>
        </p:nvSpPr>
        <p:spPr>
          <a:xfrm>
            <a:off x="3849048" y="5296213"/>
            <a:ext cx="1061884" cy="1072819"/>
          </a:xfrm>
          <a:prstGeom prst="ellipse">
            <a:avLst/>
          </a:prstGeom>
          <a:solidFill>
            <a:schemeClr val="accent3">
              <a:lumMod val="75000"/>
            </a:schemeClr>
          </a:solidFill>
          <a:ln w="635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bg1"/>
                </a:solidFill>
              </a:rPr>
              <a:t>RRv6</a:t>
            </a:r>
            <a:endParaRPr lang="en-US" sz="1600" dirty="0">
              <a:solidFill>
                <a:schemeClr val="bg1"/>
              </a:solidFill>
            </a:endParaRPr>
          </a:p>
        </p:txBody>
      </p:sp>
      <p:cxnSp>
        <p:nvCxnSpPr>
          <p:cNvPr id="15" name="Straight Connector 14">
            <a:extLst>
              <a:ext uri="{FF2B5EF4-FFF2-40B4-BE49-F238E27FC236}">
                <a16:creationId xmlns:a16="http://schemas.microsoft.com/office/drawing/2014/main" id="{3E97CA9D-FC9A-0C61-9CEE-DCD0C454E893}"/>
              </a:ext>
            </a:extLst>
          </p:cNvPr>
          <p:cNvCxnSpPr>
            <a:cxnSpLocks/>
            <a:stCxn id="7" idx="7"/>
            <a:endCxn id="11" idx="3"/>
          </p:cNvCxnSpPr>
          <p:nvPr/>
        </p:nvCxnSpPr>
        <p:spPr>
          <a:xfrm flipV="1">
            <a:off x="4755423" y="5036967"/>
            <a:ext cx="625931" cy="41635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1BE30D1-0A33-396A-DEBF-AFC8477DDA56}"/>
              </a:ext>
            </a:extLst>
          </p:cNvPr>
          <p:cNvCxnSpPr>
            <a:cxnSpLocks/>
          </p:cNvCxnSpPr>
          <p:nvPr/>
        </p:nvCxnSpPr>
        <p:spPr>
          <a:xfrm flipV="1">
            <a:off x="3923071" y="2151904"/>
            <a:ext cx="4092270" cy="805550"/>
          </a:xfrm>
          <a:prstGeom prst="straightConnector1">
            <a:avLst/>
          </a:prstGeom>
          <a:ln w="508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24ABEDC-BF0E-4EB4-5B5B-BAE861C31855}"/>
              </a:ext>
            </a:extLst>
          </p:cNvPr>
          <p:cNvCxnSpPr>
            <a:cxnSpLocks/>
          </p:cNvCxnSpPr>
          <p:nvPr/>
        </p:nvCxnSpPr>
        <p:spPr>
          <a:xfrm flipH="1" flipV="1">
            <a:off x="3965511" y="3516849"/>
            <a:ext cx="4059743" cy="911118"/>
          </a:xfrm>
          <a:prstGeom prst="straightConnector1">
            <a:avLst/>
          </a:prstGeom>
          <a:ln w="508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9A8F468-AB75-EA4F-2D00-1158D19ED420}"/>
              </a:ext>
            </a:extLst>
          </p:cNvPr>
          <p:cNvCxnSpPr>
            <a:cxnSpLocks/>
          </p:cNvCxnSpPr>
          <p:nvPr/>
        </p:nvCxnSpPr>
        <p:spPr>
          <a:xfrm flipV="1">
            <a:off x="8851164" y="2598784"/>
            <a:ext cx="0" cy="1434484"/>
          </a:xfrm>
          <a:prstGeom prst="straightConnector1">
            <a:avLst/>
          </a:prstGeom>
          <a:ln w="508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DBAB06F6-DA3D-71D8-B11A-03701AC3BF00}"/>
              </a:ext>
            </a:extLst>
          </p:cNvPr>
          <p:cNvSpPr txBox="1"/>
          <p:nvPr/>
        </p:nvSpPr>
        <p:spPr>
          <a:xfrm>
            <a:off x="8836837" y="3256040"/>
            <a:ext cx="755766" cy="183778"/>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b="1" i="0" u="none" strike="noStrike" kern="1200" cap="none" spc="0" normalizeH="0" baseline="0" noProof="0" dirty="0">
                <a:ln>
                  <a:noFill/>
                </a:ln>
                <a:solidFill>
                  <a:srgbClr val="7030A0"/>
                </a:solidFill>
                <a:effectLst/>
                <a:uLnTx/>
                <a:uFillTx/>
                <a:latin typeface="Arial" panose="020B0604020202020204"/>
                <a:ea typeface="+mn-ea"/>
                <a:cs typeface="+mn-cs"/>
              </a:rPr>
              <a:t>SRv6</a:t>
            </a:r>
            <a:endParaRPr lang="en-US" sz="1600" b="1" dirty="0">
              <a:solidFill>
                <a:srgbClr val="7030A0"/>
              </a:solidFill>
              <a:latin typeface="Arial" panose="020B0604020202020204"/>
            </a:endParaRPr>
          </a:p>
        </p:txBody>
      </p:sp>
      <p:sp>
        <p:nvSpPr>
          <p:cNvPr id="41" name="TextBox 40">
            <a:extLst>
              <a:ext uri="{FF2B5EF4-FFF2-40B4-BE49-F238E27FC236}">
                <a16:creationId xmlns:a16="http://schemas.microsoft.com/office/drawing/2014/main" id="{168350E7-8301-0EB0-92DB-CF4DA74DACBE}"/>
              </a:ext>
            </a:extLst>
          </p:cNvPr>
          <p:cNvSpPr txBox="1"/>
          <p:nvPr/>
        </p:nvSpPr>
        <p:spPr>
          <a:xfrm>
            <a:off x="6910269" y="2442563"/>
            <a:ext cx="755766" cy="183778"/>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rgbClr val="7030A0"/>
                </a:solidFill>
                <a:effectLst/>
                <a:uLnTx/>
                <a:uFillTx/>
                <a:latin typeface="Arial" panose="020B0604020202020204"/>
                <a:ea typeface="+mn-ea"/>
                <a:cs typeface="+mn-cs"/>
              </a:rPr>
              <a:t>SRv6</a:t>
            </a:r>
            <a:endParaRPr lang="en-US" sz="1600" dirty="0">
              <a:solidFill>
                <a:srgbClr val="7030A0"/>
              </a:solidFill>
              <a:latin typeface="Arial" panose="020B0604020202020204"/>
            </a:endParaRPr>
          </a:p>
        </p:txBody>
      </p:sp>
      <p:sp>
        <p:nvSpPr>
          <p:cNvPr id="42" name="TextBox 41">
            <a:extLst>
              <a:ext uri="{FF2B5EF4-FFF2-40B4-BE49-F238E27FC236}">
                <a16:creationId xmlns:a16="http://schemas.microsoft.com/office/drawing/2014/main" id="{E35A792C-C2C6-11B8-332C-E5FAEB8A4F43}"/>
              </a:ext>
            </a:extLst>
          </p:cNvPr>
          <p:cNvSpPr txBox="1"/>
          <p:nvPr/>
        </p:nvSpPr>
        <p:spPr>
          <a:xfrm>
            <a:off x="6872267" y="4004393"/>
            <a:ext cx="755766" cy="183778"/>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600" b="1" dirty="0">
                <a:solidFill>
                  <a:srgbClr val="7030A0"/>
                </a:solidFill>
                <a:latin typeface="Arial" panose="020B0604020202020204"/>
              </a:rPr>
              <a:t>SRv6</a:t>
            </a:r>
          </a:p>
        </p:txBody>
      </p:sp>
    </p:spTree>
    <p:extLst>
      <p:ext uri="{BB962C8B-B14F-4D97-AF65-F5344CB8AC3E}">
        <p14:creationId xmlns:p14="http://schemas.microsoft.com/office/powerpoint/2010/main" val="3486595290"/>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7DF76D3A-5E3E-4BC8-8F39-771134FF4322}"/>
              </a:ext>
            </a:extLst>
          </p:cNvPr>
          <p:cNvSpPr>
            <a:spLocks noGrp="1"/>
          </p:cNvSpPr>
          <p:nvPr>
            <p:ph type="body" idx="1"/>
          </p:nvPr>
        </p:nvSpPr>
        <p:spPr/>
        <p:txBody>
          <a:bodyPr/>
          <a:lstStyle/>
          <a:p>
            <a:r>
              <a:rPr lang="en-US" noProof="0" dirty="0"/>
              <a:t>L2VPN VPLS</a:t>
            </a:r>
          </a:p>
        </p:txBody>
      </p:sp>
      <p:sp>
        <p:nvSpPr>
          <p:cNvPr id="2" name="Text Placeholder 1">
            <a:extLst>
              <a:ext uri="{FF2B5EF4-FFF2-40B4-BE49-F238E27FC236}">
                <a16:creationId xmlns:a16="http://schemas.microsoft.com/office/drawing/2014/main" id="{B367786B-A4DD-DB9E-9087-78A451525AAC}"/>
              </a:ext>
            </a:extLst>
          </p:cNvPr>
          <p:cNvSpPr>
            <a:spLocks noGrp="1"/>
          </p:cNvSpPr>
          <p:nvPr>
            <p:ph type="body" sz="quarter" idx="15"/>
          </p:nvPr>
        </p:nvSpPr>
        <p:spPr/>
        <p:txBody>
          <a:bodyPr/>
          <a:lstStyle/>
          <a:p>
            <a:r>
              <a:rPr lang="en-US" dirty="0">
                <a:cs typeface="Calibri" pitchFamily="34" charset="0"/>
              </a:rPr>
              <a:t>SRv6 and service migration</a:t>
            </a:r>
            <a:endParaRPr lang="cs-CZ" dirty="0"/>
          </a:p>
        </p:txBody>
      </p:sp>
      <p:sp>
        <p:nvSpPr>
          <p:cNvPr id="5" name="Zástupný text 4">
            <a:extLst>
              <a:ext uri="{FF2B5EF4-FFF2-40B4-BE49-F238E27FC236}">
                <a16:creationId xmlns:a16="http://schemas.microsoft.com/office/drawing/2014/main" id="{CA46CB7B-0002-4873-B253-4D2438CC3611}"/>
              </a:ext>
            </a:extLst>
          </p:cNvPr>
          <p:cNvSpPr>
            <a:spLocks noGrp="1"/>
          </p:cNvSpPr>
          <p:nvPr>
            <p:ph type="body" sz="quarter" idx="13"/>
          </p:nvPr>
        </p:nvSpPr>
        <p:spPr/>
        <p:txBody>
          <a:bodyPr/>
          <a:lstStyle/>
          <a:p>
            <a:r>
              <a:rPr lang="en-US" dirty="0"/>
              <a:t>Segment Routing MPLS and SRv6</a:t>
            </a:r>
          </a:p>
        </p:txBody>
      </p:sp>
      <p:sp>
        <p:nvSpPr>
          <p:cNvPr id="6" name="Zástupný text 5">
            <a:extLst>
              <a:ext uri="{FF2B5EF4-FFF2-40B4-BE49-F238E27FC236}">
                <a16:creationId xmlns:a16="http://schemas.microsoft.com/office/drawing/2014/main" id="{955FA430-FA92-4EB5-849C-E3D05AB9B217}"/>
              </a:ext>
            </a:extLst>
          </p:cNvPr>
          <p:cNvSpPr>
            <a:spLocks noGrp="1"/>
          </p:cNvSpPr>
          <p:nvPr>
            <p:ph type="body" sz="quarter" idx="14"/>
          </p:nvPr>
        </p:nvSpPr>
        <p:spPr/>
        <p:txBody>
          <a:bodyPr/>
          <a:lstStyle/>
          <a:p>
            <a:r>
              <a:rPr lang="en-US" noProof="0" dirty="0"/>
              <a:t>Service Migration</a:t>
            </a:r>
          </a:p>
        </p:txBody>
      </p:sp>
    </p:spTree>
    <p:extLst>
      <p:ext uri="{BB962C8B-B14F-4D97-AF65-F5344CB8AC3E}">
        <p14:creationId xmlns:p14="http://schemas.microsoft.com/office/powerpoint/2010/main" val="3067847656"/>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3E3329E-7F40-8556-881D-C921B859ED5F}"/>
              </a:ext>
            </a:extLst>
          </p:cNvPr>
          <p:cNvSpPr>
            <a:spLocks noGrp="1"/>
          </p:cNvSpPr>
          <p:nvPr>
            <p:ph type="body" sz="quarter" idx="11"/>
          </p:nvPr>
        </p:nvSpPr>
        <p:spPr>
          <a:xfrm>
            <a:off x="873918" y="12461"/>
            <a:ext cx="10444163" cy="773017"/>
          </a:xfrm>
        </p:spPr>
        <p:txBody>
          <a:bodyPr/>
          <a:lstStyle/>
          <a:p>
            <a:r>
              <a:rPr lang="en-US" dirty="0"/>
              <a:t>L2VPN - MPLS LDP to SRv6 migration</a:t>
            </a:r>
          </a:p>
        </p:txBody>
      </p:sp>
      <p:pic>
        <p:nvPicPr>
          <p:cNvPr id="8" name="Picture 7" descr="A diagram of a service layer&#10;&#10;AI-generated content may be incorrect.">
            <a:extLst>
              <a:ext uri="{FF2B5EF4-FFF2-40B4-BE49-F238E27FC236}">
                <a16:creationId xmlns:a16="http://schemas.microsoft.com/office/drawing/2014/main" id="{F1667965-1C0F-9F93-170C-3D59427ACD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5382" y="898941"/>
            <a:ext cx="10341236" cy="5060118"/>
          </a:xfrm>
          <a:prstGeom prst="rect">
            <a:avLst/>
          </a:prstGeom>
        </p:spPr>
      </p:pic>
    </p:spTree>
    <p:extLst>
      <p:ext uri="{BB962C8B-B14F-4D97-AF65-F5344CB8AC3E}">
        <p14:creationId xmlns:p14="http://schemas.microsoft.com/office/powerpoint/2010/main" val="3868619095"/>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 Placeholder 53">
            <a:extLst>
              <a:ext uri="{FF2B5EF4-FFF2-40B4-BE49-F238E27FC236}">
                <a16:creationId xmlns:a16="http://schemas.microsoft.com/office/drawing/2014/main" id="{644DD39E-246C-C23C-7452-137473BA63D9}"/>
              </a:ext>
            </a:extLst>
          </p:cNvPr>
          <p:cNvSpPr>
            <a:spLocks noGrp="1"/>
          </p:cNvSpPr>
          <p:nvPr>
            <p:ph type="body" sz="quarter" idx="10"/>
          </p:nvPr>
        </p:nvSpPr>
        <p:spPr/>
        <p:txBody>
          <a:bodyPr/>
          <a:lstStyle/>
          <a:p>
            <a:r>
              <a:rPr lang="en-US" dirty="0"/>
              <a:t>Initial State</a:t>
            </a:r>
            <a:endParaRPr lang="en-US" dirty="0">
              <a:solidFill>
                <a:schemeClr val="accent4">
                  <a:lumMod val="75000"/>
                </a:schemeClr>
              </a:solidFill>
            </a:endParaRPr>
          </a:p>
        </p:txBody>
      </p:sp>
      <p:sp>
        <p:nvSpPr>
          <p:cNvPr id="3" name="Text Placeholder 2">
            <a:extLst>
              <a:ext uri="{FF2B5EF4-FFF2-40B4-BE49-F238E27FC236}">
                <a16:creationId xmlns:a16="http://schemas.microsoft.com/office/drawing/2014/main" id="{D468842C-E9AA-4882-EC44-4597C8EA2A45}"/>
              </a:ext>
            </a:extLst>
          </p:cNvPr>
          <p:cNvSpPr>
            <a:spLocks noGrp="1"/>
          </p:cNvSpPr>
          <p:nvPr>
            <p:ph type="body" sz="quarter" idx="11"/>
          </p:nvPr>
        </p:nvSpPr>
        <p:spPr>
          <a:xfrm>
            <a:off x="873918" y="12461"/>
            <a:ext cx="10444163" cy="773017"/>
          </a:xfrm>
        </p:spPr>
        <p:txBody>
          <a:bodyPr/>
          <a:lstStyle/>
          <a:p>
            <a:r>
              <a:rPr lang="en-US" dirty="0"/>
              <a:t>Step 0 - VPLS to SRv6 migration </a:t>
            </a:r>
            <a:r>
              <a:rPr lang="en-US" dirty="0">
                <a:solidFill>
                  <a:schemeClr val="bg1">
                    <a:lumMod val="50000"/>
                  </a:schemeClr>
                </a:solidFill>
              </a:rPr>
              <a:t>- L2VPN</a:t>
            </a:r>
          </a:p>
        </p:txBody>
      </p:sp>
      <p:sp>
        <p:nvSpPr>
          <p:cNvPr id="8" name="Oval 7">
            <a:extLst>
              <a:ext uri="{FF2B5EF4-FFF2-40B4-BE49-F238E27FC236}">
                <a16:creationId xmlns:a16="http://schemas.microsoft.com/office/drawing/2014/main" id="{993A2A87-8EB9-6614-516E-A2CB823D3BFE}"/>
              </a:ext>
            </a:extLst>
          </p:cNvPr>
          <p:cNvSpPr/>
          <p:nvPr/>
        </p:nvSpPr>
        <p:spPr>
          <a:xfrm>
            <a:off x="2861187" y="2743878"/>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PE-1</a:t>
            </a:r>
          </a:p>
        </p:txBody>
      </p:sp>
      <p:sp>
        <p:nvSpPr>
          <p:cNvPr id="9" name="Oval 8">
            <a:extLst>
              <a:ext uri="{FF2B5EF4-FFF2-40B4-BE49-F238E27FC236}">
                <a16:creationId xmlns:a16="http://schemas.microsoft.com/office/drawing/2014/main" id="{DBB2B752-AE8F-9DC3-0D63-E500CBE67C94}"/>
              </a:ext>
            </a:extLst>
          </p:cNvPr>
          <p:cNvSpPr/>
          <p:nvPr/>
        </p:nvSpPr>
        <p:spPr>
          <a:xfrm>
            <a:off x="2625213" y="3050586"/>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E0851D-CFCC-8023-A043-3964DDC76594}"/>
              </a:ext>
            </a:extLst>
          </p:cNvPr>
          <p:cNvSpPr/>
          <p:nvPr/>
        </p:nvSpPr>
        <p:spPr>
          <a:xfrm>
            <a:off x="5225845" y="1461634"/>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P-2</a:t>
            </a:r>
          </a:p>
        </p:txBody>
      </p:sp>
      <p:sp>
        <p:nvSpPr>
          <p:cNvPr id="11" name="Oval 10">
            <a:extLst>
              <a:ext uri="{FF2B5EF4-FFF2-40B4-BE49-F238E27FC236}">
                <a16:creationId xmlns:a16="http://schemas.microsoft.com/office/drawing/2014/main" id="{341588A8-533B-B65D-2813-E637BE0322E3}"/>
              </a:ext>
            </a:extLst>
          </p:cNvPr>
          <p:cNvSpPr/>
          <p:nvPr/>
        </p:nvSpPr>
        <p:spPr>
          <a:xfrm>
            <a:off x="5225845"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P-3</a:t>
            </a:r>
          </a:p>
        </p:txBody>
      </p:sp>
      <p:sp>
        <p:nvSpPr>
          <p:cNvPr id="12" name="Oval 11">
            <a:extLst>
              <a:ext uri="{FF2B5EF4-FFF2-40B4-BE49-F238E27FC236}">
                <a16:creationId xmlns:a16="http://schemas.microsoft.com/office/drawing/2014/main" id="{88820713-3A40-9E92-5017-307E1BA5FCFB}"/>
              </a:ext>
            </a:extLst>
          </p:cNvPr>
          <p:cNvSpPr/>
          <p:nvPr/>
        </p:nvSpPr>
        <p:spPr>
          <a:xfrm>
            <a:off x="8091948" y="1461633"/>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PE-4</a:t>
            </a:r>
          </a:p>
        </p:txBody>
      </p:sp>
      <p:sp>
        <p:nvSpPr>
          <p:cNvPr id="13" name="Oval 12">
            <a:extLst>
              <a:ext uri="{FF2B5EF4-FFF2-40B4-BE49-F238E27FC236}">
                <a16:creationId xmlns:a16="http://schemas.microsoft.com/office/drawing/2014/main" id="{34EEF5FE-F3A6-1D78-CBD1-D19B71E84401}"/>
              </a:ext>
            </a:extLst>
          </p:cNvPr>
          <p:cNvSpPr/>
          <p:nvPr/>
        </p:nvSpPr>
        <p:spPr>
          <a:xfrm>
            <a:off x="8091948"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PE-5</a:t>
            </a:r>
          </a:p>
        </p:txBody>
      </p:sp>
      <p:sp>
        <p:nvSpPr>
          <p:cNvPr id="14" name="Oval 13">
            <a:extLst>
              <a:ext uri="{FF2B5EF4-FFF2-40B4-BE49-F238E27FC236}">
                <a16:creationId xmlns:a16="http://schemas.microsoft.com/office/drawing/2014/main" id="{A33A844A-10F7-FA25-02CA-BE1263DA1218}"/>
              </a:ext>
            </a:extLst>
          </p:cNvPr>
          <p:cNvSpPr/>
          <p:nvPr/>
        </p:nvSpPr>
        <p:spPr>
          <a:xfrm>
            <a:off x="6744928" y="5296213"/>
            <a:ext cx="1061884" cy="1072819"/>
          </a:xfrm>
          <a:prstGeom prst="ellipse">
            <a:avLst/>
          </a:prstGeom>
          <a:solidFill>
            <a:schemeClr val="accent3">
              <a:lumMod val="75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RRv4</a:t>
            </a:r>
            <a:endParaRPr lang="en-US" sz="1600" dirty="0"/>
          </a:p>
        </p:txBody>
      </p:sp>
      <p:grpSp>
        <p:nvGrpSpPr>
          <p:cNvPr id="19" name="Group 18">
            <a:extLst>
              <a:ext uri="{FF2B5EF4-FFF2-40B4-BE49-F238E27FC236}">
                <a16:creationId xmlns:a16="http://schemas.microsoft.com/office/drawing/2014/main" id="{59FB8967-3128-1A08-0574-4C0477666AC1}"/>
              </a:ext>
            </a:extLst>
          </p:cNvPr>
          <p:cNvGrpSpPr/>
          <p:nvPr/>
        </p:nvGrpSpPr>
        <p:grpSpPr>
          <a:xfrm>
            <a:off x="229906" y="1793224"/>
            <a:ext cx="1933191" cy="1412092"/>
            <a:chOff x="229906" y="1793224"/>
            <a:chExt cx="1933191" cy="1412092"/>
          </a:xfrm>
        </p:grpSpPr>
        <p:sp>
          <p:nvSpPr>
            <p:cNvPr id="17" name="TextBox 16">
              <a:extLst>
                <a:ext uri="{FF2B5EF4-FFF2-40B4-BE49-F238E27FC236}">
                  <a16:creationId xmlns:a16="http://schemas.microsoft.com/office/drawing/2014/main" id="{DCABD92B-4299-3F62-AB81-C71EAEFBC20B}"/>
                </a:ext>
              </a:extLst>
            </p:cNvPr>
            <p:cNvSpPr txBox="1"/>
            <p:nvPr/>
          </p:nvSpPr>
          <p:spPr>
            <a:xfrm>
              <a:off x="353961" y="1793224"/>
              <a:ext cx="1809136" cy="1412092"/>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effectLst/>
                  <a:uLnTx/>
                  <a:uFillTx/>
                  <a:latin typeface="Arial" panose="020B0604020202020204"/>
                  <a:ea typeface="+mn-ea"/>
                  <a:cs typeface="+mn-cs"/>
                </a:rPr>
                <a:t>BD 2001</a:t>
              </a:r>
            </a:p>
            <a:p>
              <a: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pPr>
              <a:r>
                <a:rPr lang="en-US" sz="2000" dirty="0">
                  <a:latin typeface="Arial" panose="020B0604020202020204"/>
                </a:rPr>
                <a:t>full mesh</a:t>
              </a:r>
            </a:p>
            <a:p>
              <a:pPr marR="0" algn="l" defTabSz="914400" rtl="0" eaLnBrk="1" fontAlgn="auto" latinLnBrk="0" hangingPunct="1">
                <a:lnSpc>
                  <a:spcPct val="90000"/>
                </a:lnSpc>
                <a:spcBef>
                  <a:spcPts val="1000"/>
                </a:spcBef>
                <a:spcAft>
                  <a:spcPts val="0"/>
                </a:spcAft>
                <a:buClrTx/>
                <a:buSzTx/>
                <a:tabLst/>
              </a:pPr>
              <a:r>
                <a:rPr kumimoji="0" lang="en-US" sz="2000" i="0" u="none" strike="noStrike" kern="1200" cap="none" spc="0" normalizeH="0" baseline="0" noProof="0" dirty="0">
                  <a:ln>
                    <a:noFill/>
                  </a:ln>
                  <a:effectLst/>
                  <a:uLnTx/>
                  <a:uFillTx/>
                  <a:latin typeface="Arial" panose="020B0604020202020204"/>
                  <a:ea typeface="+mn-ea"/>
                  <a:cs typeface="+mn-cs"/>
                </a:rPr>
                <a:t>     </a:t>
              </a:r>
              <a:r>
                <a:rPr lang="en-US" sz="2000" dirty="0">
                  <a:latin typeface="Arial" panose="020B0604020202020204"/>
                </a:rPr>
                <a:t>VPLS LDP</a:t>
              </a:r>
              <a:endParaRPr kumimoji="0" lang="en-US" sz="2000" i="0" u="none" strike="noStrike" kern="1200" cap="none" spc="0" normalizeH="0" baseline="0" noProof="0" dirty="0">
                <a:ln>
                  <a:noFill/>
                </a:ln>
                <a:effectLst/>
                <a:uLnTx/>
                <a:uFillTx/>
                <a:latin typeface="Arial" panose="020B0604020202020204"/>
                <a:ea typeface="+mn-ea"/>
                <a:cs typeface="+mn-cs"/>
              </a:endParaRPr>
            </a:p>
          </p:txBody>
        </p:sp>
        <p:sp>
          <p:nvSpPr>
            <p:cNvPr id="18" name="Oval 17">
              <a:extLst>
                <a:ext uri="{FF2B5EF4-FFF2-40B4-BE49-F238E27FC236}">
                  <a16:creationId xmlns:a16="http://schemas.microsoft.com/office/drawing/2014/main" id="{C5A9DFEF-4947-F2F1-A76D-8AC479436895}"/>
                </a:ext>
              </a:extLst>
            </p:cNvPr>
            <p:cNvSpPr/>
            <p:nvPr/>
          </p:nvSpPr>
          <p:spPr>
            <a:xfrm>
              <a:off x="229906" y="2583736"/>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 name="Oval 19">
            <a:extLst>
              <a:ext uri="{FF2B5EF4-FFF2-40B4-BE49-F238E27FC236}">
                <a16:creationId xmlns:a16="http://schemas.microsoft.com/office/drawing/2014/main" id="{F29B4790-86CB-3D33-D8AA-E7828F3315AA}"/>
              </a:ext>
            </a:extLst>
          </p:cNvPr>
          <p:cNvSpPr/>
          <p:nvPr/>
        </p:nvSpPr>
        <p:spPr>
          <a:xfrm>
            <a:off x="8917858" y="4427967"/>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F7ADD5B5-1DE1-9F97-8D34-DA0DCA03396A}"/>
              </a:ext>
            </a:extLst>
          </p:cNvPr>
          <p:cNvSpPr/>
          <p:nvPr/>
        </p:nvSpPr>
        <p:spPr>
          <a:xfrm>
            <a:off x="8917858" y="1768341"/>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6313A627-B0A9-C701-976E-3F14F76CF28D}"/>
              </a:ext>
            </a:extLst>
          </p:cNvPr>
          <p:cNvCxnSpPr>
            <a:stCxn id="10" idx="6"/>
            <a:endCxn id="12" idx="2"/>
          </p:cNvCxnSpPr>
          <p:nvPr/>
        </p:nvCxnSpPr>
        <p:spPr>
          <a:xfrm flipV="1">
            <a:off x="6287729" y="1998043"/>
            <a:ext cx="1804219" cy="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A7F45EA-CD46-5772-EAFD-4AAC01B7BFC8}"/>
              </a:ext>
            </a:extLst>
          </p:cNvPr>
          <p:cNvCxnSpPr>
            <a:cxnSpLocks/>
            <a:stCxn id="11" idx="7"/>
          </p:cNvCxnSpPr>
          <p:nvPr/>
        </p:nvCxnSpPr>
        <p:spPr>
          <a:xfrm flipV="1">
            <a:off x="6132220" y="2336659"/>
            <a:ext cx="2083535" cy="194171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E852CC6-3C63-30D9-93E0-B76FA8598344}"/>
              </a:ext>
            </a:extLst>
          </p:cNvPr>
          <p:cNvCxnSpPr>
            <a:cxnSpLocks/>
            <a:stCxn id="12" idx="4"/>
          </p:cNvCxnSpPr>
          <p:nvPr/>
        </p:nvCxnSpPr>
        <p:spPr>
          <a:xfrm>
            <a:off x="8622890" y="2534452"/>
            <a:ext cx="0" cy="1592852"/>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BDE2377-063B-01BF-3CB6-05F3FBF4C424}"/>
              </a:ext>
            </a:extLst>
          </p:cNvPr>
          <p:cNvCxnSpPr>
            <a:cxnSpLocks/>
            <a:stCxn id="11" idx="6"/>
            <a:endCxn id="13" idx="2"/>
          </p:cNvCxnSpPr>
          <p:nvPr/>
        </p:nvCxnSpPr>
        <p:spPr>
          <a:xfrm>
            <a:off x="6287729" y="4657669"/>
            <a:ext cx="1804219"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F49B32-4149-6A9F-D7CA-BABCA0E7A0A6}"/>
              </a:ext>
            </a:extLst>
          </p:cNvPr>
          <p:cNvCxnSpPr>
            <a:cxnSpLocks/>
            <a:stCxn id="10" idx="4"/>
            <a:endCxn id="11" idx="0"/>
          </p:cNvCxnSpPr>
          <p:nvPr/>
        </p:nvCxnSpPr>
        <p:spPr>
          <a:xfrm>
            <a:off x="5756787" y="2534453"/>
            <a:ext cx="0" cy="1586806"/>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FB43A74-B938-0C85-4049-B54CC5E87491}"/>
              </a:ext>
            </a:extLst>
          </p:cNvPr>
          <p:cNvCxnSpPr>
            <a:cxnSpLocks/>
            <a:endCxn id="11" idx="2"/>
          </p:cNvCxnSpPr>
          <p:nvPr/>
        </p:nvCxnSpPr>
        <p:spPr>
          <a:xfrm>
            <a:off x="3767562" y="3644526"/>
            <a:ext cx="1458283" cy="1013143"/>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9A3A119-7341-52D5-CD04-1C055CBC3D2C}"/>
              </a:ext>
            </a:extLst>
          </p:cNvPr>
          <p:cNvCxnSpPr>
            <a:cxnSpLocks/>
            <a:stCxn id="8" idx="7"/>
            <a:endCxn id="10" idx="2"/>
          </p:cNvCxnSpPr>
          <p:nvPr/>
        </p:nvCxnSpPr>
        <p:spPr>
          <a:xfrm flipV="1">
            <a:off x="3767562" y="1998044"/>
            <a:ext cx="1458283" cy="902945"/>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AA5A7C64-24D0-F310-9369-5EE60113D0DD}"/>
              </a:ext>
            </a:extLst>
          </p:cNvPr>
          <p:cNvSpPr txBox="1"/>
          <p:nvPr/>
        </p:nvSpPr>
        <p:spPr>
          <a:xfrm>
            <a:off x="2654461" y="3946135"/>
            <a:ext cx="1374465" cy="711533"/>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600" b="1" dirty="0">
                <a:solidFill>
                  <a:schemeClr val="accent4">
                    <a:lumMod val="75000"/>
                  </a:schemeClr>
                </a:solidFill>
                <a:latin typeface="Arial" panose="020B0604020202020204"/>
              </a:rPr>
              <a:t> </a:t>
            </a:r>
            <a:r>
              <a:rPr lang="en-US" sz="1600" dirty="0">
                <a:latin typeface="Arial" panose="020B0604020202020204"/>
              </a:rPr>
              <a:t>+ SRv6</a:t>
            </a:r>
          </a:p>
        </p:txBody>
      </p:sp>
      <p:sp>
        <p:nvSpPr>
          <p:cNvPr id="49" name="TextBox 48">
            <a:extLst>
              <a:ext uri="{FF2B5EF4-FFF2-40B4-BE49-F238E27FC236}">
                <a16:creationId xmlns:a16="http://schemas.microsoft.com/office/drawing/2014/main" id="{EB9FF396-0612-A9EE-123E-7055BFAED65E}"/>
              </a:ext>
            </a:extLst>
          </p:cNvPr>
          <p:cNvSpPr txBox="1"/>
          <p:nvPr/>
        </p:nvSpPr>
        <p:spPr>
          <a:xfrm>
            <a:off x="6588637" y="6372412"/>
            <a:ext cx="1374465"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endPar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endParaRPr>
          </a:p>
        </p:txBody>
      </p:sp>
      <p:cxnSp>
        <p:nvCxnSpPr>
          <p:cNvPr id="50" name="Straight Connector 49">
            <a:extLst>
              <a:ext uri="{FF2B5EF4-FFF2-40B4-BE49-F238E27FC236}">
                <a16:creationId xmlns:a16="http://schemas.microsoft.com/office/drawing/2014/main" id="{32AC3523-6F39-6CDD-5466-A394276895B0}"/>
              </a:ext>
            </a:extLst>
          </p:cNvPr>
          <p:cNvCxnSpPr>
            <a:cxnSpLocks/>
            <a:stCxn id="11" idx="5"/>
            <a:endCxn id="14" idx="1"/>
          </p:cNvCxnSpPr>
          <p:nvPr/>
        </p:nvCxnSpPr>
        <p:spPr>
          <a:xfrm>
            <a:off x="6132220" y="5036967"/>
            <a:ext cx="768217" cy="41635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C26D65D-05EF-FF2F-EBB6-12EF5D9AEE7B}"/>
              </a:ext>
            </a:extLst>
          </p:cNvPr>
          <p:cNvSpPr txBox="1"/>
          <p:nvPr/>
        </p:nvSpPr>
        <p:spPr>
          <a:xfrm>
            <a:off x="5064109" y="5286376"/>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4" name="TextBox 3">
            <a:extLst>
              <a:ext uri="{FF2B5EF4-FFF2-40B4-BE49-F238E27FC236}">
                <a16:creationId xmlns:a16="http://schemas.microsoft.com/office/drawing/2014/main" id="{D9AA12F4-1770-F159-C6DB-8E028F5D9759}"/>
              </a:ext>
            </a:extLst>
          </p:cNvPr>
          <p:cNvSpPr txBox="1"/>
          <p:nvPr/>
        </p:nvSpPr>
        <p:spPr>
          <a:xfrm>
            <a:off x="5132763" y="949213"/>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5" name="TextBox 4">
            <a:extLst>
              <a:ext uri="{FF2B5EF4-FFF2-40B4-BE49-F238E27FC236}">
                <a16:creationId xmlns:a16="http://schemas.microsoft.com/office/drawing/2014/main" id="{F20EC0DB-1B35-01BD-1164-A60ADEB8EA97}"/>
              </a:ext>
            </a:extLst>
          </p:cNvPr>
          <p:cNvSpPr txBox="1"/>
          <p:nvPr/>
        </p:nvSpPr>
        <p:spPr>
          <a:xfrm>
            <a:off x="7935657" y="95957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r>
              <a:rPr lang="en-US" sz="1600" dirty="0">
                <a:latin typeface="Arial" panose="020B0604020202020204"/>
              </a:rPr>
              <a:t> + SRv6</a:t>
            </a:r>
          </a:p>
        </p:txBody>
      </p:sp>
      <p:sp>
        <p:nvSpPr>
          <p:cNvPr id="6" name="TextBox 5">
            <a:extLst>
              <a:ext uri="{FF2B5EF4-FFF2-40B4-BE49-F238E27FC236}">
                <a16:creationId xmlns:a16="http://schemas.microsoft.com/office/drawing/2014/main" id="{C92528FF-DFC8-807F-35EC-6AEB2901F35D}"/>
              </a:ext>
            </a:extLst>
          </p:cNvPr>
          <p:cNvSpPr txBox="1"/>
          <p:nvPr/>
        </p:nvSpPr>
        <p:spPr>
          <a:xfrm>
            <a:off x="8015341" y="526693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7" name="Oval 6">
            <a:extLst>
              <a:ext uri="{FF2B5EF4-FFF2-40B4-BE49-F238E27FC236}">
                <a16:creationId xmlns:a16="http://schemas.microsoft.com/office/drawing/2014/main" id="{7107F0F5-5264-3C51-408B-196E23D21C09}"/>
              </a:ext>
            </a:extLst>
          </p:cNvPr>
          <p:cNvSpPr/>
          <p:nvPr/>
        </p:nvSpPr>
        <p:spPr>
          <a:xfrm>
            <a:off x="3849048" y="5296213"/>
            <a:ext cx="1061884" cy="1072819"/>
          </a:xfrm>
          <a:prstGeom prst="ellipse">
            <a:avLst/>
          </a:prstGeom>
          <a:solidFill>
            <a:schemeClr val="accent3">
              <a:lumMod val="75000"/>
            </a:schemeClr>
          </a:solidFill>
          <a:ln w="635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bg1"/>
                </a:solidFill>
              </a:rPr>
              <a:t>RRv6</a:t>
            </a:r>
            <a:endParaRPr lang="en-US" sz="1600" dirty="0">
              <a:solidFill>
                <a:schemeClr val="bg1"/>
              </a:solidFill>
            </a:endParaRPr>
          </a:p>
        </p:txBody>
      </p:sp>
      <p:cxnSp>
        <p:nvCxnSpPr>
          <p:cNvPr id="15" name="Straight Connector 14">
            <a:extLst>
              <a:ext uri="{FF2B5EF4-FFF2-40B4-BE49-F238E27FC236}">
                <a16:creationId xmlns:a16="http://schemas.microsoft.com/office/drawing/2014/main" id="{3E97CA9D-FC9A-0C61-9CEE-DCD0C454E893}"/>
              </a:ext>
            </a:extLst>
          </p:cNvPr>
          <p:cNvCxnSpPr>
            <a:cxnSpLocks/>
            <a:stCxn id="7" idx="7"/>
            <a:endCxn id="11" idx="3"/>
          </p:cNvCxnSpPr>
          <p:nvPr/>
        </p:nvCxnSpPr>
        <p:spPr>
          <a:xfrm flipV="1">
            <a:off x="4755423" y="5036967"/>
            <a:ext cx="625931" cy="41635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1BE30D1-0A33-396A-DEBF-AFC8477DDA56}"/>
              </a:ext>
            </a:extLst>
          </p:cNvPr>
          <p:cNvCxnSpPr>
            <a:cxnSpLocks/>
          </p:cNvCxnSpPr>
          <p:nvPr/>
        </p:nvCxnSpPr>
        <p:spPr>
          <a:xfrm flipV="1">
            <a:off x="3923071" y="2151904"/>
            <a:ext cx="4092270" cy="805550"/>
          </a:xfrm>
          <a:prstGeom prst="straightConnector1">
            <a:avLst/>
          </a:prstGeom>
          <a:ln w="50800">
            <a:solidFill>
              <a:schemeClr val="accent3"/>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24ABEDC-BF0E-4EB4-5B5B-BAE861C31855}"/>
              </a:ext>
            </a:extLst>
          </p:cNvPr>
          <p:cNvCxnSpPr>
            <a:cxnSpLocks/>
          </p:cNvCxnSpPr>
          <p:nvPr/>
        </p:nvCxnSpPr>
        <p:spPr>
          <a:xfrm flipH="1" flipV="1">
            <a:off x="3965511" y="3516849"/>
            <a:ext cx="4059743" cy="911118"/>
          </a:xfrm>
          <a:prstGeom prst="straightConnector1">
            <a:avLst/>
          </a:prstGeom>
          <a:ln w="50800">
            <a:solidFill>
              <a:schemeClr val="accent3"/>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9A8F468-AB75-EA4F-2D00-1158D19ED420}"/>
              </a:ext>
            </a:extLst>
          </p:cNvPr>
          <p:cNvCxnSpPr>
            <a:cxnSpLocks/>
          </p:cNvCxnSpPr>
          <p:nvPr/>
        </p:nvCxnSpPr>
        <p:spPr>
          <a:xfrm flipV="1">
            <a:off x="8851164" y="2598784"/>
            <a:ext cx="0" cy="1434484"/>
          </a:xfrm>
          <a:prstGeom prst="straightConnector1">
            <a:avLst/>
          </a:prstGeom>
          <a:ln w="50800">
            <a:solidFill>
              <a:schemeClr val="accent3"/>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168350E7-8301-0EB0-92DB-CF4DA74DACBE}"/>
              </a:ext>
            </a:extLst>
          </p:cNvPr>
          <p:cNvSpPr txBox="1"/>
          <p:nvPr/>
        </p:nvSpPr>
        <p:spPr>
          <a:xfrm>
            <a:off x="6283789" y="2570131"/>
            <a:ext cx="1305485" cy="194024"/>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PW over LDP</a:t>
            </a:r>
            <a:endParaRPr lang="en-US" sz="1600" dirty="0">
              <a:latin typeface="Arial" panose="020B0604020202020204"/>
            </a:endParaRPr>
          </a:p>
        </p:txBody>
      </p:sp>
      <p:sp>
        <p:nvSpPr>
          <p:cNvPr id="16" name="TextBox 15">
            <a:extLst>
              <a:ext uri="{FF2B5EF4-FFF2-40B4-BE49-F238E27FC236}">
                <a16:creationId xmlns:a16="http://schemas.microsoft.com/office/drawing/2014/main" id="{3BF9F7CC-23C0-B435-E885-62CB7A98F8E5}"/>
              </a:ext>
            </a:extLst>
          </p:cNvPr>
          <p:cNvSpPr txBox="1"/>
          <p:nvPr/>
        </p:nvSpPr>
        <p:spPr>
          <a:xfrm>
            <a:off x="8858130" y="3193290"/>
            <a:ext cx="1305485" cy="194024"/>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PW over LDP</a:t>
            </a:r>
            <a:endParaRPr lang="en-US" sz="1600" dirty="0">
              <a:latin typeface="Arial" panose="020B0604020202020204"/>
            </a:endParaRPr>
          </a:p>
        </p:txBody>
      </p:sp>
      <p:sp>
        <p:nvSpPr>
          <p:cNvPr id="22" name="TextBox 21">
            <a:extLst>
              <a:ext uri="{FF2B5EF4-FFF2-40B4-BE49-F238E27FC236}">
                <a16:creationId xmlns:a16="http://schemas.microsoft.com/office/drawing/2014/main" id="{07568396-9140-C97F-D972-AA072B49AABE}"/>
              </a:ext>
            </a:extLst>
          </p:cNvPr>
          <p:cNvSpPr txBox="1"/>
          <p:nvPr/>
        </p:nvSpPr>
        <p:spPr>
          <a:xfrm>
            <a:off x="4278134" y="3348126"/>
            <a:ext cx="1305485" cy="194024"/>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PW over LDP</a:t>
            </a:r>
            <a:endParaRPr lang="en-US" sz="1600" dirty="0">
              <a:latin typeface="Arial" panose="020B0604020202020204"/>
            </a:endParaRPr>
          </a:p>
        </p:txBody>
      </p:sp>
    </p:spTree>
    <p:extLst>
      <p:ext uri="{BB962C8B-B14F-4D97-AF65-F5344CB8AC3E}">
        <p14:creationId xmlns:p14="http://schemas.microsoft.com/office/powerpoint/2010/main" val="2018642866"/>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 Placeholder 53">
            <a:extLst>
              <a:ext uri="{FF2B5EF4-FFF2-40B4-BE49-F238E27FC236}">
                <a16:creationId xmlns:a16="http://schemas.microsoft.com/office/drawing/2014/main" id="{644DD39E-246C-C23C-7452-137473BA63D9}"/>
              </a:ext>
            </a:extLst>
          </p:cNvPr>
          <p:cNvSpPr>
            <a:spLocks noGrp="1"/>
          </p:cNvSpPr>
          <p:nvPr>
            <p:ph type="body" sz="quarter" idx="10"/>
          </p:nvPr>
        </p:nvSpPr>
        <p:spPr/>
        <p:txBody>
          <a:bodyPr/>
          <a:lstStyle/>
          <a:p>
            <a:r>
              <a:rPr lang="en-US" dirty="0"/>
              <a:t>Enable EVPN on SRv6 PEs</a:t>
            </a:r>
            <a:endParaRPr lang="en-US" dirty="0">
              <a:solidFill>
                <a:schemeClr val="accent4">
                  <a:lumMod val="75000"/>
                </a:schemeClr>
              </a:solidFill>
            </a:endParaRPr>
          </a:p>
        </p:txBody>
      </p:sp>
      <p:sp>
        <p:nvSpPr>
          <p:cNvPr id="3" name="Text Placeholder 2">
            <a:extLst>
              <a:ext uri="{FF2B5EF4-FFF2-40B4-BE49-F238E27FC236}">
                <a16:creationId xmlns:a16="http://schemas.microsoft.com/office/drawing/2014/main" id="{D468842C-E9AA-4882-EC44-4597C8EA2A45}"/>
              </a:ext>
            </a:extLst>
          </p:cNvPr>
          <p:cNvSpPr>
            <a:spLocks noGrp="1"/>
          </p:cNvSpPr>
          <p:nvPr>
            <p:ph type="body" sz="quarter" idx="11"/>
          </p:nvPr>
        </p:nvSpPr>
        <p:spPr>
          <a:xfrm>
            <a:off x="873918" y="12461"/>
            <a:ext cx="10444163" cy="773017"/>
          </a:xfrm>
        </p:spPr>
        <p:txBody>
          <a:bodyPr/>
          <a:lstStyle/>
          <a:p>
            <a:r>
              <a:rPr lang="en-US" dirty="0"/>
              <a:t>Step 1 - VPLS to SRv6 migration </a:t>
            </a:r>
            <a:r>
              <a:rPr lang="en-US" dirty="0">
                <a:solidFill>
                  <a:schemeClr val="bg1">
                    <a:lumMod val="50000"/>
                  </a:schemeClr>
                </a:solidFill>
              </a:rPr>
              <a:t>- L2VPN</a:t>
            </a:r>
          </a:p>
        </p:txBody>
      </p:sp>
      <p:sp>
        <p:nvSpPr>
          <p:cNvPr id="8" name="Oval 7">
            <a:extLst>
              <a:ext uri="{FF2B5EF4-FFF2-40B4-BE49-F238E27FC236}">
                <a16:creationId xmlns:a16="http://schemas.microsoft.com/office/drawing/2014/main" id="{993A2A87-8EB9-6614-516E-A2CB823D3BFE}"/>
              </a:ext>
            </a:extLst>
          </p:cNvPr>
          <p:cNvSpPr/>
          <p:nvPr/>
        </p:nvSpPr>
        <p:spPr>
          <a:xfrm>
            <a:off x="2861187" y="2743878"/>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PE-1</a:t>
            </a:r>
          </a:p>
        </p:txBody>
      </p:sp>
      <p:sp>
        <p:nvSpPr>
          <p:cNvPr id="9" name="Oval 8">
            <a:extLst>
              <a:ext uri="{FF2B5EF4-FFF2-40B4-BE49-F238E27FC236}">
                <a16:creationId xmlns:a16="http://schemas.microsoft.com/office/drawing/2014/main" id="{DBB2B752-AE8F-9DC3-0D63-E500CBE67C94}"/>
              </a:ext>
            </a:extLst>
          </p:cNvPr>
          <p:cNvSpPr/>
          <p:nvPr/>
        </p:nvSpPr>
        <p:spPr>
          <a:xfrm>
            <a:off x="2625213" y="3050586"/>
            <a:ext cx="471948" cy="459402"/>
          </a:xfrm>
          <a:prstGeom prst="ellipse">
            <a:avLst/>
          </a:prstGeom>
          <a:solidFill>
            <a:schemeClr val="accent3">
              <a:lumMod val="75000"/>
            </a:schemeClr>
          </a:solidFill>
          <a:ln w="508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E0851D-CFCC-8023-A043-3964DDC76594}"/>
              </a:ext>
            </a:extLst>
          </p:cNvPr>
          <p:cNvSpPr/>
          <p:nvPr/>
        </p:nvSpPr>
        <p:spPr>
          <a:xfrm>
            <a:off x="5225845" y="1461634"/>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P-2</a:t>
            </a:r>
          </a:p>
        </p:txBody>
      </p:sp>
      <p:sp>
        <p:nvSpPr>
          <p:cNvPr id="11" name="Oval 10">
            <a:extLst>
              <a:ext uri="{FF2B5EF4-FFF2-40B4-BE49-F238E27FC236}">
                <a16:creationId xmlns:a16="http://schemas.microsoft.com/office/drawing/2014/main" id="{341588A8-533B-B65D-2813-E637BE0322E3}"/>
              </a:ext>
            </a:extLst>
          </p:cNvPr>
          <p:cNvSpPr/>
          <p:nvPr/>
        </p:nvSpPr>
        <p:spPr>
          <a:xfrm>
            <a:off x="5225845"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P-3</a:t>
            </a:r>
          </a:p>
        </p:txBody>
      </p:sp>
      <p:sp>
        <p:nvSpPr>
          <p:cNvPr id="12" name="Oval 11">
            <a:extLst>
              <a:ext uri="{FF2B5EF4-FFF2-40B4-BE49-F238E27FC236}">
                <a16:creationId xmlns:a16="http://schemas.microsoft.com/office/drawing/2014/main" id="{88820713-3A40-9E92-5017-307E1BA5FCFB}"/>
              </a:ext>
            </a:extLst>
          </p:cNvPr>
          <p:cNvSpPr/>
          <p:nvPr/>
        </p:nvSpPr>
        <p:spPr>
          <a:xfrm>
            <a:off x="8091948" y="1461633"/>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PE-4</a:t>
            </a:r>
          </a:p>
        </p:txBody>
      </p:sp>
      <p:sp>
        <p:nvSpPr>
          <p:cNvPr id="13" name="Oval 12">
            <a:extLst>
              <a:ext uri="{FF2B5EF4-FFF2-40B4-BE49-F238E27FC236}">
                <a16:creationId xmlns:a16="http://schemas.microsoft.com/office/drawing/2014/main" id="{34EEF5FE-F3A6-1D78-CBD1-D19B71E84401}"/>
              </a:ext>
            </a:extLst>
          </p:cNvPr>
          <p:cNvSpPr/>
          <p:nvPr/>
        </p:nvSpPr>
        <p:spPr>
          <a:xfrm>
            <a:off x="8091948"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PE-5</a:t>
            </a:r>
          </a:p>
        </p:txBody>
      </p:sp>
      <p:sp>
        <p:nvSpPr>
          <p:cNvPr id="14" name="Oval 13">
            <a:extLst>
              <a:ext uri="{FF2B5EF4-FFF2-40B4-BE49-F238E27FC236}">
                <a16:creationId xmlns:a16="http://schemas.microsoft.com/office/drawing/2014/main" id="{A33A844A-10F7-FA25-02CA-BE1263DA1218}"/>
              </a:ext>
            </a:extLst>
          </p:cNvPr>
          <p:cNvSpPr/>
          <p:nvPr/>
        </p:nvSpPr>
        <p:spPr>
          <a:xfrm>
            <a:off x="6744928" y="5296213"/>
            <a:ext cx="1061884" cy="1072819"/>
          </a:xfrm>
          <a:prstGeom prst="ellipse">
            <a:avLst/>
          </a:prstGeom>
          <a:solidFill>
            <a:schemeClr val="accent3">
              <a:lumMod val="75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RRv4</a:t>
            </a:r>
            <a:endParaRPr lang="en-US" sz="1600" dirty="0"/>
          </a:p>
        </p:txBody>
      </p:sp>
      <p:sp>
        <p:nvSpPr>
          <p:cNvPr id="17" name="TextBox 16">
            <a:extLst>
              <a:ext uri="{FF2B5EF4-FFF2-40B4-BE49-F238E27FC236}">
                <a16:creationId xmlns:a16="http://schemas.microsoft.com/office/drawing/2014/main" id="{DCABD92B-4299-3F62-AB81-C71EAEFBC20B}"/>
              </a:ext>
            </a:extLst>
          </p:cNvPr>
          <p:cNvSpPr txBox="1"/>
          <p:nvPr/>
        </p:nvSpPr>
        <p:spPr>
          <a:xfrm>
            <a:off x="353961" y="1793223"/>
            <a:ext cx="2271252" cy="2152912"/>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effectLst/>
                <a:uLnTx/>
                <a:uFillTx/>
                <a:latin typeface="Arial" panose="020B0604020202020204"/>
                <a:ea typeface="+mn-ea"/>
                <a:cs typeface="+mn-cs"/>
              </a:rPr>
              <a:t>BD 2001</a:t>
            </a:r>
          </a:p>
          <a:p>
            <a: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pPr>
            <a:r>
              <a:rPr lang="en-US" sz="2000" dirty="0">
                <a:latin typeface="Arial" panose="020B0604020202020204"/>
              </a:rPr>
              <a:t>full mesh</a:t>
            </a:r>
          </a:p>
          <a:p>
            <a:pPr marR="0" algn="l" defTabSz="914400" rtl="0" eaLnBrk="1" fontAlgn="auto" latinLnBrk="0" hangingPunct="1">
              <a:lnSpc>
                <a:spcPct val="90000"/>
              </a:lnSpc>
              <a:spcBef>
                <a:spcPts val="1000"/>
              </a:spcBef>
              <a:spcAft>
                <a:spcPts val="0"/>
              </a:spcAft>
              <a:buClrTx/>
              <a:buSzTx/>
              <a:tabLst/>
            </a:pPr>
            <a:r>
              <a:rPr kumimoji="0" lang="en-US" sz="2000" i="0" u="none" strike="noStrike" kern="1200" cap="none" spc="0" normalizeH="0" baseline="0" noProof="0" dirty="0">
                <a:ln>
                  <a:noFill/>
                </a:ln>
                <a:effectLst/>
                <a:uLnTx/>
                <a:uFillTx/>
                <a:latin typeface="Arial" panose="020B0604020202020204"/>
                <a:ea typeface="+mn-ea"/>
                <a:cs typeface="+mn-cs"/>
              </a:rPr>
              <a:t>     </a:t>
            </a:r>
            <a:r>
              <a:rPr lang="en-US" sz="2000" dirty="0">
                <a:latin typeface="Arial" panose="020B0604020202020204"/>
              </a:rPr>
              <a:t>VPLS LDP</a:t>
            </a:r>
          </a:p>
          <a:p>
            <a:pPr marR="0" algn="l" defTabSz="914400" rtl="0" eaLnBrk="1" fontAlgn="auto" latinLnBrk="0" hangingPunct="1">
              <a:lnSpc>
                <a:spcPct val="90000"/>
              </a:lnSpc>
              <a:spcBef>
                <a:spcPts val="1000"/>
              </a:spcBef>
              <a:spcAft>
                <a:spcPts val="0"/>
              </a:spcAft>
              <a:buClrTx/>
              <a:buSzTx/>
              <a:tabLst/>
            </a:pPr>
            <a:endParaRPr kumimoji="0" lang="en-US" sz="2000" i="0" u="none" strike="noStrike" kern="1200" cap="none" spc="0" normalizeH="0" baseline="0" noProof="0" dirty="0">
              <a:ln>
                <a:noFill/>
              </a:ln>
              <a:effectLst/>
              <a:uLnTx/>
              <a:uFillTx/>
              <a:latin typeface="Arial" panose="020B0604020202020204"/>
              <a:ea typeface="+mn-ea"/>
              <a:cs typeface="+mn-cs"/>
            </a:endParaRPr>
          </a:p>
          <a:p>
            <a:pPr marR="0" algn="l" defTabSz="914400" rtl="0" eaLnBrk="1" fontAlgn="auto" latinLnBrk="0" hangingPunct="1">
              <a:lnSpc>
                <a:spcPct val="90000"/>
              </a:lnSpc>
              <a:spcBef>
                <a:spcPts val="1000"/>
              </a:spcBef>
              <a:spcAft>
                <a:spcPts val="0"/>
              </a:spcAft>
              <a:buClrTx/>
              <a:buSzTx/>
              <a:tabLst/>
            </a:pPr>
            <a:r>
              <a:rPr lang="en-US" sz="2000" dirty="0">
                <a:latin typeface="Arial" panose="020B0604020202020204"/>
              </a:rPr>
              <a:t>     </a:t>
            </a:r>
            <a:r>
              <a:rPr lang="en-US" sz="2000" b="1" dirty="0">
                <a:solidFill>
                  <a:schemeClr val="accent4"/>
                </a:solidFill>
                <a:latin typeface="Arial" panose="020B0604020202020204"/>
              </a:rPr>
              <a:t>VPLS + EVPN</a:t>
            </a:r>
            <a:endParaRPr kumimoji="0" lang="en-US" sz="2000" b="1" i="0" u="none" strike="noStrike" kern="1200" cap="none" spc="0" normalizeH="0" baseline="0" noProof="0" dirty="0">
              <a:ln>
                <a:noFill/>
              </a:ln>
              <a:solidFill>
                <a:schemeClr val="accent4"/>
              </a:solidFill>
              <a:effectLst/>
              <a:uLnTx/>
              <a:uFillTx/>
              <a:latin typeface="Arial" panose="020B0604020202020204"/>
              <a:ea typeface="+mn-ea"/>
              <a:cs typeface="+mn-cs"/>
            </a:endParaRPr>
          </a:p>
        </p:txBody>
      </p:sp>
      <p:sp>
        <p:nvSpPr>
          <p:cNvPr id="18" name="Oval 17">
            <a:extLst>
              <a:ext uri="{FF2B5EF4-FFF2-40B4-BE49-F238E27FC236}">
                <a16:creationId xmlns:a16="http://schemas.microsoft.com/office/drawing/2014/main" id="{C5A9DFEF-4947-F2F1-A76D-8AC479436895}"/>
              </a:ext>
            </a:extLst>
          </p:cNvPr>
          <p:cNvSpPr/>
          <p:nvPr/>
        </p:nvSpPr>
        <p:spPr>
          <a:xfrm>
            <a:off x="229906" y="2583736"/>
            <a:ext cx="471948" cy="464024"/>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F29B4790-86CB-3D33-D8AA-E7828F3315AA}"/>
              </a:ext>
            </a:extLst>
          </p:cNvPr>
          <p:cNvSpPr/>
          <p:nvPr/>
        </p:nvSpPr>
        <p:spPr>
          <a:xfrm>
            <a:off x="8917858" y="4427967"/>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F7ADD5B5-1DE1-9F97-8D34-DA0DCA03396A}"/>
              </a:ext>
            </a:extLst>
          </p:cNvPr>
          <p:cNvSpPr/>
          <p:nvPr/>
        </p:nvSpPr>
        <p:spPr>
          <a:xfrm>
            <a:off x="8917858" y="1768341"/>
            <a:ext cx="471948" cy="459402"/>
          </a:xfrm>
          <a:prstGeom prst="ellipse">
            <a:avLst/>
          </a:prstGeom>
          <a:solidFill>
            <a:schemeClr val="accent3">
              <a:lumMod val="75000"/>
            </a:schemeClr>
          </a:solidFill>
          <a:ln w="508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6313A627-B0A9-C701-976E-3F14F76CF28D}"/>
              </a:ext>
            </a:extLst>
          </p:cNvPr>
          <p:cNvCxnSpPr>
            <a:stCxn id="10" idx="6"/>
            <a:endCxn id="12" idx="2"/>
          </p:cNvCxnSpPr>
          <p:nvPr/>
        </p:nvCxnSpPr>
        <p:spPr>
          <a:xfrm flipV="1">
            <a:off x="6287729" y="1998043"/>
            <a:ext cx="1804219" cy="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A7F45EA-CD46-5772-EAFD-4AAC01B7BFC8}"/>
              </a:ext>
            </a:extLst>
          </p:cNvPr>
          <p:cNvCxnSpPr>
            <a:cxnSpLocks/>
            <a:stCxn id="11" idx="7"/>
          </p:cNvCxnSpPr>
          <p:nvPr/>
        </p:nvCxnSpPr>
        <p:spPr>
          <a:xfrm flipV="1">
            <a:off x="6132220" y="2336659"/>
            <a:ext cx="2083535" cy="194171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E852CC6-3C63-30D9-93E0-B76FA8598344}"/>
              </a:ext>
            </a:extLst>
          </p:cNvPr>
          <p:cNvCxnSpPr>
            <a:cxnSpLocks/>
            <a:stCxn id="12" idx="4"/>
          </p:cNvCxnSpPr>
          <p:nvPr/>
        </p:nvCxnSpPr>
        <p:spPr>
          <a:xfrm>
            <a:off x="8622890" y="2534452"/>
            <a:ext cx="0" cy="1592852"/>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BDE2377-063B-01BF-3CB6-05F3FBF4C424}"/>
              </a:ext>
            </a:extLst>
          </p:cNvPr>
          <p:cNvCxnSpPr>
            <a:cxnSpLocks/>
            <a:stCxn id="11" idx="6"/>
            <a:endCxn id="13" idx="2"/>
          </p:cNvCxnSpPr>
          <p:nvPr/>
        </p:nvCxnSpPr>
        <p:spPr>
          <a:xfrm>
            <a:off x="6287729" y="4657669"/>
            <a:ext cx="1804219"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F49B32-4149-6A9F-D7CA-BABCA0E7A0A6}"/>
              </a:ext>
            </a:extLst>
          </p:cNvPr>
          <p:cNvCxnSpPr>
            <a:cxnSpLocks/>
            <a:stCxn id="10" idx="4"/>
            <a:endCxn id="11" idx="0"/>
          </p:cNvCxnSpPr>
          <p:nvPr/>
        </p:nvCxnSpPr>
        <p:spPr>
          <a:xfrm>
            <a:off x="5756787" y="2534453"/>
            <a:ext cx="0" cy="1586806"/>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FB43A74-B938-0C85-4049-B54CC5E87491}"/>
              </a:ext>
            </a:extLst>
          </p:cNvPr>
          <p:cNvCxnSpPr>
            <a:cxnSpLocks/>
            <a:endCxn id="11" idx="2"/>
          </p:cNvCxnSpPr>
          <p:nvPr/>
        </p:nvCxnSpPr>
        <p:spPr>
          <a:xfrm>
            <a:off x="3767562" y="3644526"/>
            <a:ext cx="1458283" cy="1013143"/>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9A3A119-7341-52D5-CD04-1C055CBC3D2C}"/>
              </a:ext>
            </a:extLst>
          </p:cNvPr>
          <p:cNvCxnSpPr>
            <a:cxnSpLocks/>
            <a:stCxn id="8" idx="7"/>
            <a:endCxn id="10" idx="2"/>
          </p:cNvCxnSpPr>
          <p:nvPr/>
        </p:nvCxnSpPr>
        <p:spPr>
          <a:xfrm flipV="1">
            <a:off x="3767562" y="1998044"/>
            <a:ext cx="1458283" cy="902945"/>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AA5A7C64-24D0-F310-9369-5EE60113D0DD}"/>
              </a:ext>
            </a:extLst>
          </p:cNvPr>
          <p:cNvSpPr txBox="1"/>
          <p:nvPr/>
        </p:nvSpPr>
        <p:spPr>
          <a:xfrm>
            <a:off x="2654461" y="3946135"/>
            <a:ext cx="1374465" cy="711533"/>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600" b="1" dirty="0">
                <a:solidFill>
                  <a:schemeClr val="accent4">
                    <a:lumMod val="75000"/>
                  </a:schemeClr>
                </a:solidFill>
                <a:latin typeface="Arial" panose="020B0604020202020204"/>
              </a:rPr>
              <a:t> </a:t>
            </a:r>
            <a:r>
              <a:rPr lang="en-US" sz="1600" dirty="0">
                <a:latin typeface="Arial" panose="020B0604020202020204"/>
              </a:rPr>
              <a:t>+ SRv6</a:t>
            </a:r>
          </a:p>
        </p:txBody>
      </p:sp>
      <p:sp>
        <p:nvSpPr>
          <p:cNvPr id="49" name="TextBox 48">
            <a:extLst>
              <a:ext uri="{FF2B5EF4-FFF2-40B4-BE49-F238E27FC236}">
                <a16:creationId xmlns:a16="http://schemas.microsoft.com/office/drawing/2014/main" id="{EB9FF396-0612-A9EE-123E-7055BFAED65E}"/>
              </a:ext>
            </a:extLst>
          </p:cNvPr>
          <p:cNvSpPr txBox="1"/>
          <p:nvPr/>
        </p:nvSpPr>
        <p:spPr>
          <a:xfrm>
            <a:off x="6588637" y="6372412"/>
            <a:ext cx="1374465"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endPar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endParaRPr>
          </a:p>
        </p:txBody>
      </p:sp>
      <p:cxnSp>
        <p:nvCxnSpPr>
          <p:cNvPr id="50" name="Straight Connector 49">
            <a:extLst>
              <a:ext uri="{FF2B5EF4-FFF2-40B4-BE49-F238E27FC236}">
                <a16:creationId xmlns:a16="http://schemas.microsoft.com/office/drawing/2014/main" id="{32AC3523-6F39-6CDD-5466-A394276895B0}"/>
              </a:ext>
            </a:extLst>
          </p:cNvPr>
          <p:cNvCxnSpPr>
            <a:cxnSpLocks/>
            <a:stCxn id="11" idx="5"/>
            <a:endCxn id="14" idx="1"/>
          </p:cNvCxnSpPr>
          <p:nvPr/>
        </p:nvCxnSpPr>
        <p:spPr>
          <a:xfrm>
            <a:off x="6132220" y="5036967"/>
            <a:ext cx="768217" cy="41635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C26D65D-05EF-FF2F-EBB6-12EF5D9AEE7B}"/>
              </a:ext>
            </a:extLst>
          </p:cNvPr>
          <p:cNvSpPr txBox="1"/>
          <p:nvPr/>
        </p:nvSpPr>
        <p:spPr>
          <a:xfrm>
            <a:off x="5064109" y="5286376"/>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4" name="TextBox 3">
            <a:extLst>
              <a:ext uri="{FF2B5EF4-FFF2-40B4-BE49-F238E27FC236}">
                <a16:creationId xmlns:a16="http://schemas.microsoft.com/office/drawing/2014/main" id="{D9AA12F4-1770-F159-C6DB-8E028F5D9759}"/>
              </a:ext>
            </a:extLst>
          </p:cNvPr>
          <p:cNvSpPr txBox="1"/>
          <p:nvPr/>
        </p:nvSpPr>
        <p:spPr>
          <a:xfrm>
            <a:off x="5132763" y="949213"/>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5" name="TextBox 4">
            <a:extLst>
              <a:ext uri="{FF2B5EF4-FFF2-40B4-BE49-F238E27FC236}">
                <a16:creationId xmlns:a16="http://schemas.microsoft.com/office/drawing/2014/main" id="{F20EC0DB-1B35-01BD-1164-A60ADEB8EA97}"/>
              </a:ext>
            </a:extLst>
          </p:cNvPr>
          <p:cNvSpPr txBox="1"/>
          <p:nvPr/>
        </p:nvSpPr>
        <p:spPr>
          <a:xfrm>
            <a:off x="7935657" y="95957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r>
              <a:rPr lang="en-US" sz="1600" dirty="0">
                <a:latin typeface="Arial" panose="020B0604020202020204"/>
              </a:rPr>
              <a:t> + SRv6</a:t>
            </a:r>
          </a:p>
        </p:txBody>
      </p:sp>
      <p:sp>
        <p:nvSpPr>
          <p:cNvPr id="6" name="TextBox 5">
            <a:extLst>
              <a:ext uri="{FF2B5EF4-FFF2-40B4-BE49-F238E27FC236}">
                <a16:creationId xmlns:a16="http://schemas.microsoft.com/office/drawing/2014/main" id="{C92528FF-DFC8-807F-35EC-6AEB2901F35D}"/>
              </a:ext>
            </a:extLst>
          </p:cNvPr>
          <p:cNvSpPr txBox="1"/>
          <p:nvPr/>
        </p:nvSpPr>
        <p:spPr>
          <a:xfrm>
            <a:off x="8015341" y="526693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7" name="Oval 6">
            <a:extLst>
              <a:ext uri="{FF2B5EF4-FFF2-40B4-BE49-F238E27FC236}">
                <a16:creationId xmlns:a16="http://schemas.microsoft.com/office/drawing/2014/main" id="{7107F0F5-5264-3C51-408B-196E23D21C09}"/>
              </a:ext>
            </a:extLst>
          </p:cNvPr>
          <p:cNvSpPr/>
          <p:nvPr/>
        </p:nvSpPr>
        <p:spPr>
          <a:xfrm>
            <a:off x="3849048" y="5296213"/>
            <a:ext cx="1061884" cy="1072819"/>
          </a:xfrm>
          <a:prstGeom prst="ellipse">
            <a:avLst/>
          </a:prstGeom>
          <a:solidFill>
            <a:schemeClr val="accent3">
              <a:lumMod val="75000"/>
            </a:schemeClr>
          </a:solidFill>
          <a:ln w="635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bg1"/>
                </a:solidFill>
              </a:rPr>
              <a:t>RRv6</a:t>
            </a:r>
            <a:endParaRPr lang="en-US" sz="1600" dirty="0">
              <a:solidFill>
                <a:schemeClr val="bg1"/>
              </a:solidFill>
            </a:endParaRPr>
          </a:p>
        </p:txBody>
      </p:sp>
      <p:cxnSp>
        <p:nvCxnSpPr>
          <p:cNvPr id="15" name="Straight Connector 14">
            <a:extLst>
              <a:ext uri="{FF2B5EF4-FFF2-40B4-BE49-F238E27FC236}">
                <a16:creationId xmlns:a16="http://schemas.microsoft.com/office/drawing/2014/main" id="{3E97CA9D-FC9A-0C61-9CEE-DCD0C454E893}"/>
              </a:ext>
            </a:extLst>
          </p:cNvPr>
          <p:cNvCxnSpPr>
            <a:cxnSpLocks/>
            <a:stCxn id="7" idx="7"/>
            <a:endCxn id="11" idx="3"/>
          </p:cNvCxnSpPr>
          <p:nvPr/>
        </p:nvCxnSpPr>
        <p:spPr>
          <a:xfrm flipV="1">
            <a:off x="4755423" y="5036967"/>
            <a:ext cx="625931" cy="41635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1BE30D1-0A33-396A-DEBF-AFC8477DDA56}"/>
              </a:ext>
            </a:extLst>
          </p:cNvPr>
          <p:cNvCxnSpPr>
            <a:cxnSpLocks/>
          </p:cNvCxnSpPr>
          <p:nvPr/>
        </p:nvCxnSpPr>
        <p:spPr>
          <a:xfrm flipV="1">
            <a:off x="3923071" y="2151904"/>
            <a:ext cx="4092270" cy="805550"/>
          </a:xfrm>
          <a:prstGeom prst="straightConnector1">
            <a:avLst/>
          </a:prstGeom>
          <a:ln w="508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24ABEDC-BF0E-4EB4-5B5B-BAE861C31855}"/>
              </a:ext>
            </a:extLst>
          </p:cNvPr>
          <p:cNvCxnSpPr>
            <a:cxnSpLocks/>
          </p:cNvCxnSpPr>
          <p:nvPr/>
        </p:nvCxnSpPr>
        <p:spPr>
          <a:xfrm flipH="1" flipV="1">
            <a:off x="3965511" y="3516849"/>
            <a:ext cx="4059743" cy="911118"/>
          </a:xfrm>
          <a:prstGeom prst="straightConnector1">
            <a:avLst/>
          </a:prstGeom>
          <a:ln w="50800">
            <a:solidFill>
              <a:schemeClr val="accent3"/>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9A8F468-AB75-EA4F-2D00-1158D19ED420}"/>
              </a:ext>
            </a:extLst>
          </p:cNvPr>
          <p:cNvCxnSpPr>
            <a:cxnSpLocks/>
          </p:cNvCxnSpPr>
          <p:nvPr/>
        </p:nvCxnSpPr>
        <p:spPr>
          <a:xfrm flipV="1">
            <a:off x="8851164" y="2598784"/>
            <a:ext cx="0" cy="1434484"/>
          </a:xfrm>
          <a:prstGeom prst="straightConnector1">
            <a:avLst/>
          </a:prstGeom>
          <a:ln w="50800">
            <a:solidFill>
              <a:schemeClr val="accent3"/>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168350E7-8301-0EB0-92DB-CF4DA74DACBE}"/>
              </a:ext>
            </a:extLst>
          </p:cNvPr>
          <p:cNvSpPr txBox="1"/>
          <p:nvPr/>
        </p:nvSpPr>
        <p:spPr>
          <a:xfrm>
            <a:off x="6283789" y="2570131"/>
            <a:ext cx="1305485" cy="194024"/>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rgbClr val="7030A0"/>
                </a:solidFill>
                <a:effectLst/>
                <a:uLnTx/>
                <a:uFillTx/>
                <a:latin typeface="Arial" panose="020B0604020202020204"/>
                <a:ea typeface="+mn-ea"/>
                <a:cs typeface="+mn-cs"/>
              </a:rPr>
              <a:t>EVPN SRv6</a:t>
            </a:r>
            <a:endParaRPr lang="en-US" sz="1600" dirty="0">
              <a:solidFill>
                <a:srgbClr val="7030A0"/>
              </a:solidFill>
              <a:latin typeface="Arial" panose="020B0604020202020204"/>
            </a:endParaRPr>
          </a:p>
        </p:txBody>
      </p:sp>
      <p:sp>
        <p:nvSpPr>
          <p:cNvPr id="16" name="TextBox 15">
            <a:extLst>
              <a:ext uri="{FF2B5EF4-FFF2-40B4-BE49-F238E27FC236}">
                <a16:creationId xmlns:a16="http://schemas.microsoft.com/office/drawing/2014/main" id="{3BF9F7CC-23C0-B435-E885-62CB7A98F8E5}"/>
              </a:ext>
            </a:extLst>
          </p:cNvPr>
          <p:cNvSpPr txBox="1"/>
          <p:nvPr/>
        </p:nvSpPr>
        <p:spPr>
          <a:xfrm>
            <a:off x="8858130" y="3193290"/>
            <a:ext cx="1305485" cy="194024"/>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PW over LDP</a:t>
            </a:r>
            <a:endParaRPr lang="en-US" sz="1600" dirty="0">
              <a:latin typeface="Arial" panose="020B0604020202020204"/>
            </a:endParaRPr>
          </a:p>
        </p:txBody>
      </p:sp>
      <p:sp>
        <p:nvSpPr>
          <p:cNvPr id="22" name="TextBox 21">
            <a:extLst>
              <a:ext uri="{FF2B5EF4-FFF2-40B4-BE49-F238E27FC236}">
                <a16:creationId xmlns:a16="http://schemas.microsoft.com/office/drawing/2014/main" id="{07568396-9140-C97F-D972-AA072B49AABE}"/>
              </a:ext>
            </a:extLst>
          </p:cNvPr>
          <p:cNvSpPr txBox="1"/>
          <p:nvPr/>
        </p:nvSpPr>
        <p:spPr>
          <a:xfrm>
            <a:off x="4278134" y="3348126"/>
            <a:ext cx="1305485" cy="194024"/>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PW over LDP</a:t>
            </a:r>
            <a:endParaRPr lang="en-US" sz="1600" dirty="0">
              <a:latin typeface="Arial" panose="020B0604020202020204"/>
            </a:endParaRPr>
          </a:p>
        </p:txBody>
      </p:sp>
      <p:sp>
        <p:nvSpPr>
          <p:cNvPr id="30" name="Oval 29">
            <a:extLst>
              <a:ext uri="{FF2B5EF4-FFF2-40B4-BE49-F238E27FC236}">
                <a16:creationId xmlns:a16="http://schemas.microsoft.com/office/drawing/2014/main" id="{673165D3-089A-BC19-0478-449AC363F24A}"/>
              </a:ext>
            </a:extLst>
          </p:cNvPr>
          <p:cNvSpPr/>
          <p:nvPr/>
        </p:nvSpPr>
        <p:spPr>
          <a:xfrm>
            <a:off x="257410" y="3307514"/>
            <a:ext cx="471948" cy="459402"/>
          </a:xfrm>
          <a:prstGeom prst="ellipse">
            <a:avLst/>
          </a:prstGeom>
          <a:solidFill>
            <a:schemeClr val="accent3">
              <a:lumMod val="75000"/>
            </a:schemeClr>
          </a:solidFill>
          <a:ln w="508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84010031"/>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0C4DE83-9298-809E-261F-86F4D10717BC}"/>
              </a:ext>
            </a:extLst>
          </p:cNvPr>
          <p:cNvSpPr>
            <a:spLocks noGrp="1"/>
          </p:cNvSpPr>
          <p:nvPr>
            <p:ph type="body" sz="quarter" idx="10"/>
          </p:nvPr>
        </p:nvSpPr>
        <p:spPr/>
        <p:txBody>
          <a:bodyPr/>
          <a:lstStyle/>
          <a:p>
            <a:endParaRPr lang="en-US" dirty="0"/>
          </a:p>
        </p:txBody>
      </p:sp>
      <p:sp>
        <p:nvSpPr>
          <p:cNvPr id="7" name="Text Placeholder 6">
            <a:extLst>
              <a:ext uri="{FF2B5EF4-FFF2-40B4-BE49-F238E27FC236}">
                <a16:creationId xmlns:a16="http://schemas.microsoft.com/office/drawing/2014/main" id="{6B0DEB13-3EF7-67DA-5148-FF05E855D34F}"/>
              </a:ext>
            </a:extLst>
          </p:cNvPr>
          <p:cNvSpPr>
            <a:spLocks noGrp="1"/>
          </p:cNvSpPr>
          <p:nvPr>
            <p:ph type="body" sz="quarter" idx="11"/>
          </p:nvPr>
        </p:nvSpPr>
        <p:spPr/>
        <p:txBody>
          <a:bodyPr/>
          <a:lstStyle/>
          <a:p>
            <a:r>
              <a:rPr lang="en-US" dirty="0"/>
              <a:t>Enable EVPN on SRv6 PEs</a:t>
            </a:r>
          </a:p>
        </p:txBody>
      </p:sp>
      <p:sp>
        <p:nvSpPr>
          <p:cNvPr id="8" name="Rectangle 7">
            <a:extLst>
              <a:ext uri="{FF2B5EF4-FFF2-40B4-BE49-F238E27FC236}">
                <a16:creationId xmlns:a16="http://schemas.microsoft.com/office/drawing/2014/main" id="{D22F8B01-6D02-D13E-6456-8B9B4FC1AEA8}"/>
              </a:ext>
            </a:extLst>
          </p:cNvPr>
          <p:cNvSpPr/>
          <p:nvPr/>
        </p:nvSpPr>
        <p:spPr>
          <a:xfrm>
            <a:off x="873918" y="785478"/>
            <a:ext cx="6486305" cy="5909310"/>
          </a:xfrm>
          <a:prstGeom prst="rect">
            <a:avLst/>
          </a:prstGeom>
          <a:solidFill>
            <a:schemeClr val="bg1">
              <a:lumMod val="95000"/>
            </a:schemeClr>
          </a:solidFill>
          <a:ln>
            <a:solidFill>
              <a:schemeClr val="tx1"/>
            </a:solidFill>
          </a:ln>
          <a:effectLst/>
        </p:spPr>
        <p:txBody>
          <a:bodyPr wrap="square">
            <a:spAutoFit/>
          </a:bodyPr>
          <a:lstStyle/>
          <a:p>
            <a:r>
              <a:rPr lang="en-US" dirty="0">
                <a:latin typeface="Consolas" panose="020B0609020204030204" pitchFamily="49" charset="0"/>
              </a:rPr>
              <a:t>l2vpn</a:t>
            </a:r>
          </a:p>
          <a:p>
            <a:r>
              <a:rPr lang="en-US" dirty="0">
                <a:latin typeface="Consolas" panose="020B0609020204030204" pitchFamily="49" charset="0"/>
              </a:rPr>
              <a:t> bridge group 2001</a:t>
            </a:r>
          </a:p>
          <a:p>
            <a:r>
              <a:rPr lang="en-US" dirty="0">
                <a:latin typeface="Consolas" panose="020B0609020204030204" pitchFamily="49" charset="0"/>
              </a:rPr>
              <a:t>  bridge-domain 2001</a:t>
            </a:r>
          </a:p>
          <a:p>
            <a:r>
              <a:rPr lang="en-US" dirty="0">
                <a:latin typeface="Consolas" panose="020B0609020204030204" pitchFamily="49" charset="0"/>
              </a:rPr>
              <a:t>   interface </a:t>
            </a:r>
            <a:r>
              <a:rPr lang="en-US" dirty="0" err="1">
                <a:latin typeface="Consolas" panose="020B0609020204030204" pitchFamily="49" charset="0"/>
              </a:rPr>
              <a:t>TenGigE0</a:t>
            </a:r>
            <a:r>
              <a:rPr lang="en-US" dirty="0">
                <a:latin typeface="Consolas" panose="020B0609020204030204" pitchFamily="49" charset="0"/>
              </a:rPr>
              <a:t>/0/0/1.268</a:t>
            </a:r>
          </a:p>
          <a:p>
            <a:r>
              <a:rPr lang="en-US" dirty="0">
                <a:latin typeface="Consolas" panose="020B0609020204030204" pitchFamily="49" charset="0"/>
              </a:rPr>
              <a:t>   !</a:t>
            </a:r>
          </a:p>
          <a:p>
            <a:r>
              <a:rPr lang="en-US" dirty="0">
                <a:latin typeface="Consolas" panose="020B0609020204030204" pitchFamily="49" charset="0"/>
              </a:rPr>
              <a:t>   </a:t>
            </a:r>
            <a:r>
              <a:rPr lang="en-US" dirty="0">
                <a:solidFill>
                  <a:schemeClr val="accent3"/>
                </a:solidFill>
                <a:latin typeface="Consolas" panose="020B0609020204030204" pitchFamily="49" charset="0"/>
              </a:rPr>
              <a:t>vfi 2001</a:t>
            </a:r>
          </a:p>
          <a:p>
            <a:r>
              <a:rPr lang="en-US" dirty="0">
                <a:solidFill>
                  <a:schemeClr val="accent3"/>
                </a:solidFill>
                <a:latin typeface="Consolas" panose="020B0609020204030204" pitchFamily="49" charset="0"/>
              </a:rPr>
              <a:t>    neighbor 24.24.24.24 pw-id 20012324</a:t>
            </a:r>
          </a:p>
          <a:p>
            <a:r>
              <a:rPr lang="en-US" dirty="0">
                <a:solidFill>
                  <a:schemeClr val="accent3"/>
                </a:solidFill>
                <a:latin typeface="Consolas" panose="020B0609020204030204" pitchFamily="49" charset="0"/>
              </a:rPr>
              <a:t>    !</a:t>
            </a:r>
          </a:p>
          <a:p>
            <a:r>
              <a:rPr lang="en-US" dirty="0">
                <a:solidFill>
                  <a:schemeClr val="accent3"/>
                </a:solidFill>
                <a:latin typeface="Consolas" panose="020B0609020204030204" pitchFamily="49" charset="0"/>
              </a:rPr>
              <a:t>    neighbor 26.26.26.26 pw-id 20012326</a:t>
            </a:r>
          </a:p>
          <a:p>
            <a:r>
              <a:rPr lang="en-US" dirty="0">
                <a:latin typeface="Consolas" panose="020B0609020204030204" pitchFamily="49" charset="0"/>
              </a:rPr>
              <a:t>   !</a:t>
            </a:r>
          </a:p>
          <a:p>
            <a:r>
              <a:rPr lang="en-US" dirty="0">
                <a:latin typeface="Consolas" panose="020B0609020204030204" pitchFamily="49" charset="0"/>
              </a:rPr>
              <a:t>  !</a:t>
            </a:r>
          </a:p>
          <a:p>
            <a:r>
              <a:rPr lang="en-US" dirty="0">
                <a:latin typeface="Consolas" panose="020B0609020204030204" pitchFamily="49" charset="0"/>
              </a:rPr>
              <a:t>  </a:t>
            </a:r>
            <a:r>
              <a:rPr lang="en-US" dirty="0" err="1">
                <a:latin typeface="Consolas" panose="020B0609020204030204" pitchFamily="49" charset="0"/>
              </a:rPr>
              <a:t>evi</a:t>
            </a:r>
            <a:r>
              <a:rPr lang="en-US" dirty="0">
                <a:latin typeface="Consolas" panose="020B0609020204030204" pitchFamily="49" charset="0"/>
              </a:rPr>
              <a:t> </a:t>
            </a:r>
            <a:r>
              <a:rPr lang="en-US" dirty="0">
                <a:solidFill>
                  <a:srgbClr val="7030A0"/>
                </a:solidFill>
                <a:latin typeface="Consolas" panose="020B0609020204030204" pitchFamily="49" charset="0"/>
              </a:rPr>
              <a:t>2001</a:t>
            </a:r>
            <a:r>
              <a:rPr lang="en-US" dirty="0">
                <a:latin typeface="Consolas" panose="020B0609020204030204" pitchFamily="49" charset="0"/>
              </a:rPr>
              <a:t> segment-routing </a:t>
            </a:r>
            <a:r>
              <a:rPr lang="en-US" dirty="0" err="1">
                <a:latin typeface="Consolas" panose="020B0609020204030204" pitchFamily="49" charset="0"/>
              </a:rPr>
              <a:t>srv6</a:t>
            </a:r>
            <a:endParaRPr lang="en-US" dirty="0">
              <a:latin typeface="Consolas" panose="020B0609020204030204" pitchFamily="49" charset="0"/>
            </a:endParaRPr>
          </a:p>
          <a:p>
            <a:r>
              <a:rPr lang="en-US" dirty="0">
                <a:latin typeface="Consolas" panose="020B0609020204030204" pitchFamily="49" charset="0"/>
              </a:rPr>
              <a:t>  !</a:t>
            </a:r>
          </a:p>
          <a:p>
            <a:r>
              <a:rPr lang="en-US" dirty="0" err="1">
                <a:latin typeface="Consolas" panose="020B0609020204030204" pitchFamily="49" charset="0"/>
              </a:rPr>
              <a:t>evpn</a:t>
            </a:r>
            <a:endParaRPr lang="en-US" dirty="0">
              <a:latin typeface="Consolas" panose="020B0609020204030204" pitchFamily="49" charset="0"/>
            </a:endParaRPr>
          </a:p>
          <a:p>
            <a:r>
              <a:rPr lang="en-US" dirty="0">
                <a:latin typeface="Consolas" panose="020B0609020204030204" pitchFamily="49" charset="0"/>
              </a:rPr>
              <a:t> </a:t>
            </a:r>
            <a:r>
              <a:rPr lang="en-US" dirty="0" err="1">
                <a:solidFill>
                  <a:srgbClr val="7030A0"/>
                </a:solidFill>
                <a:latin typeface="Consolas" panose="020B0609020204030204" pitchFamily="49" charset="0"/>
              </a:rPr>
              <a:t>evi</a:t>
            </a:r>
            <a:r>
              <a:rPr lang="en-US" dirty="0">
                <a:solidFill>
                  <a:srgbClr val="7030A0"/>
                </a:solidFill>
                <a:latin typeface="Consolas" panose="020B0609020204030204" pitchFamily="49" charset="0"/>
              </a:rPr>
              <a:t> 2001 </a:t>
            </a:r>
            <a:r>
              <a:rPr lang="en-US" dirty="0">
                <a:latin typeface="Consolas" panose="020B0609020204030204" pitchFamily="49" charset="0"/>
              </a:rPr>
              <a:t>segment-routing </a:t>
            </a:r>
            <a:r>
              <a:rPr lang="en-US" dirty="0" err="1">
                <a:latin typeface="Consolas" panose="020B0609020204030204" pitchFamily="49" charset="0"/>
              </a:rPr>
              <a:t>srv6</a:t>
            </a:r>
            <a:endParaRPr lang="en-US" dirty="0">
              <a:latin typeface="Consolas" panose="020B0609020204030204" pitchFamily="49" charset="0"/>
            </a:endParaRPr>
          </a:p>
          <a:p>
            <a:r>
              <a:rPr lang="en-US" dirty="0">
                <a:latin typeface="Consolas" panose="020B0609020204030204" pitchFamily="49" charset="0"/>
              </a:rPr>
              <a:t>  advertise-mac</a:t>
            </a:r>
          </a:p>
          <a:p>
            <a:r>
              <a:rPr lang="en-US" dirty="0">
                <a:latin typeface="Consolas" panose="020B0609020204030204" pitchFamily="49" charset="0"/>
              </a:rPr>
              <a:t>  !</a:t>
            </a:r>
          </a:p>
          <a:p>
            <a:r>
              <a:rPr lang="en-US" dirty="0">
                <a:latin typeface="Consolas" panose="020B0609020204030204" pitchFamily="49" charset="0"/>
              </a:rPr>
              <a:t>  locator </a:t>
            </a:r>
            <a:r>
              <a:rPr lang="en-US" dirty="0">
                <a:solidFill>
                  <a:srgbClr val="00B050"/>
                </a:solidFill>
                <a:latin typeface="Consolas" panose="020B0609020204030204" pitchFamily="49" charset="0"/>
              </a:rPr>
              <a:t>MAIN</a:t>
            </a:r>
          </a:p>
          <a:p>
            <a:r>
              <a:rPr lang="en-US" dirty="0">
                <a:latin typeface="Consolas" panose="020B0609020204030204" pitchFamily="49" charset="0"/>
              </a:rPr>
              <a:t>  !</a:t>
            </a:r>
          </a:p>
          <a:p>
            <a:r>
              <a:rPr lang="en-US" dirty="0">
                <a:latin typeface="Consolas" panose="020B0609020204030204" pitchFamily="49" charset="0"/>
              </a:rPr>
              <a:t>  segment-routing </a:t>
            </a:r>
            <a:r>
              <a:rPr lang="en-US" dirty="0" err="1">
                <a:latin typeface="Consolas" panose="020B0609020204030204" pitchFamily="49" charset="0"/>
              </a:rPr>
              <a:t>srv6</a:t>
            </a:r>
            <a:endParaRPr lang="en-US" dirty="0">
              <a:latin typeface="Consolas" panose="020B0609020204030204" pitchFamily="49" charset="0"/>
            </a:endParaRPr>
          </a:p>
          <a:p>
            <a:r>
              <a:rPr lang="en-US" dirty="0">
                <a:latin typeface="Consolas" panose="020B0609020204030204" pitchFamily="49" charset="0"/>
              </a:rPr>
              <a:t>   locator </a:t>
            </a:r>
            <a:r>
              <a:rPr lang="en-US" dirty="0">
                <a:solidFill>
                  <a:srgbClr val="00B050"/>
                </a:solidFill>
                <a:latin typeface="Consolas" panose="020B0609020204030204" pitchFamily="49" charset="0"/>
              </a:rPr>
              <a:t>MAIN</a:t>
            </a:r>
          </a:p>
        </p:txBody>
      </p:sp>
      <p:sp>
        <p:nvSpPr>
          <p:cNvPr id="9" name="Callout: Line 8">
            <a:extLst>
              <a:ext uri="{FF2B5EF4-FFF2-40B4-BE49-F238E27FC236}">
                <a16:creationId xmlns:a16="http://schemas.microsoft.com/office/drawing/2014/main" id="{81E6BEDC-A52D-70D2-A0ED-39191BCC2246}"/>
              </a:ext>
            </a:extLst>
          </p:cNvPr>
          <p:cNvSpPr/>
          <p:nvPr/>
        </p:nvSpPr>
        <p:spPr>
          <a:xfrm>
            <a:off x="6978893" y="4615288"/>
            <a:ext cx="4935793" cy="339117"/>
          </a:xfrm>
          <a:prstGeom prst="borderCallout1">
            <a:avLst>
              <a:gd name="adj1" fmla="val 18750"/>
              <a:gd name="adj2" fmla="val -8333"/>
              <a:gd name="adj3" fmla="val 52340"/>
              <a:gd name="adj4" fmla="val -43057"/>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7030A0"/>
                </a:solidFill>
              </a:rPr>
              <a:t>Define EVPN </a:t>
            </a:r>
            <a:r>
              <a:rPr lang="en-US" dirty="0" err="1">
                <a:solidFill>
                  <a:srgbClr val="7030A0"/>
                </a:solidFill>
              </a:rPr>
              <a:t>EVI</a:t>
            </a:r>
            <a:endParaRPr lang="en-US" dirty="0">
              <a:solidFill>
                <a:srgbClr val="7030A0"/>
              </a:solidFill>
            </a:endParaRPr>
          </a:p>
        </p:txBody>
      </p:sp>
      <p:sp>
        <p:nvSpPr>
          <p:cNvPr id="2" name="Callout: Line 1">
            <a:extLst>
              <a:ext uri="{FF2B5EF4-FFF2-40B4-BE49-F238E27FC236}">
                <a16:creationId xmlns:a16="http://schemas.microsoft.com/office/drawing/2014/main" id="{2AACA4C3-1821-69CE-092F-C18A3E62E6F5}"/>
              </a:ext>
            </a:extLst>
          </p:cNvPr>
          <p:cNvSpPr/>
          <p:nvPr/>
        </p:nvSpPr>
        <p:spPr>
          <a:xfrm>
            <a:off x="6978893" y="3617655"/>
            <a:ext cx="4935793" cy="339117"/>
          </a:xfrm>
          <a:prstGeom prst="borderCallout1">
            <a:avLst>
              <a:gd name="adj1" fmla="val 18750"/>
              <a:gd name="adj2" fmla="val -8333"/>
              <a:gd name="adj3" fmla="val 119026"/>
              <a:gd name="adj4" fmla="val -39671"/>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7030A0"/>
                </a:solidFill>
              </a:rPr>
              <a:t>Attach the </a:t>
            </a:r>
            <a:r>
              <a:rPr lang="en-US" dirty="0" err="1">
                <a:solidFill>
                  <a:srgbClr val="7030A0"/>
                </a:solidFill>
              </a:rPr>
              <a:t>EVI</a:t>
            </a:r>
            <a:r>
              <a:rPr lang="en-US" dirty="0">
                <a:solidFill>
                  <a:srgbClr val="7030A0"/>
                </a:solidFill>
              </a:rPr>
              <a:t> to the bridge domain</a:t>
            </a:r>
          </a:p>
        </p:txBody>
      </p:sp>
    </p:spTree>
    <p:extLst>
      <p:ext uri="{BB962C8B-B14F-4D97-AF65-F5344CB8AC3E}">
        <p14:creationId xmlns:p14="http://schemas.microsoft.com/office/powerpoint/2010/main" val="3795211502"/>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B0DEB13-3EF7-67DA-5148-FF05E855D34F}"/>
              </a:ext>
            </a:extLst>
          </p:cNvPr>
          <p:cNvSpPr>
            <a:spLocks noGrp="1"/>
          </p:cNvSpPr>
          <p:nvPr>
            <p:ph type="body" sz="quarter" idx="11"/>
          </p:nvPr>
        </p:nvSpPr>
        <p:spPr/>
        <p:txBody>
          <a:bodyPr/>
          <a:lstStyle/>
          <a:p>
            <a:r>
              <a:rPr lang="en-US" dirty="0"/>
              <a:t>L2VPN - VPLS to EVPN SRv6</a:t>
            </a:r>
          </a:p>
        </p:txBody>
      </p:sp>
      <p:pic>
        <p:nvPicPr>
          <p:cNvPr id="4" name="Picture 3" descr="A diagram of a computer&#10;&#10;AI-generated content may be incorrect.">
            <a:extLst>
              <a:ext uri="{FF2B5EF4-FFF2-40B4-BE49-F238E27FC236}">
                <a16:creationId xmlns:a16="http://schemas.microsoft.com/office/drawing/2014/main" id="{4FF06E5D-BA89-26C4-FD45-136B59927B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9209" y="864648"/>
            <a:ext cx="10173582" cy="5128704"/>
          </a:xfrm>
          <a:prstGeom prst="rect">
            <a:avLst/>
          </a:prstGeom>
        </p:spPr>
      </p:pic>
    </p:spTree>
    <p:extLst>
      <p:ext uri="{BB962C8B-B14F-4D97-AF65-F5344CB8AC3E}">
        <p14:creationId xmlns:p14="http://schemas.microsoft.com/office/powerpoint/2010/main" val="1391245908"/>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B0DEB13-3EF7-67DA-5148-FF05E855D34F}"/>
              </a:ext>
            </a:extLst>
          </p:cNvPr>
          <p:cNvSpPr>
            <a:spLocks noGrp="1"/>
          </p:cNvSpPr>
          <p:nvPr>
            <p:ph type="body" sz="quarter" idx="11"/>
          </p:nvPr>
        </p:nvSpPr>
        <p:spPr/>
        <p:txBody>
          <a:bodyPr/>
          <a:lstStyle/>
          <a:p>
            <a:r>
              <a:rPr lang="en-US" dirty="0"/>
              <a:t>L2VPN - VPLS to EVPN SRv6</a:t>
            </a:r>
          </a:p>
        </p:txBody>
      </p:sp>
      <p:pic>
        <p:nvPicPr>
          <p:cNvPr id="3" name="Picture 2" descr="A diagram of a diagram&#10;&#10;AI-generated content may be incorrect.">
            <a:extLst>
              <a:ext uri="{FF2B5EF4-FFF2-40B4-BE49-F238E27FC236}">
                <a16:creationId xmlns:a16="http://schemas.microsoft.com/office/drawing/2014/main" id="{A65D0552-5009-5DC0-4AE6-9A99EB297F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9675" y="796062"/>
            <a:ext cx="10272650" cy="5265876"/>
          </a:xfrm>
          <a:prstGeom prst="rect">
            <a:avLst/>
          </a:prstGeom>
        </p:spPr>
      </p:pic>
    </p:spTree>
    <p:extLst>
      <p:ext uri="{BB962C8B-B14F-4D97-AF65-F5344CB8AC3E}">
        <p14:creationId xmlns:p14="http://schemas.microsoft.com/office/powerpoint/2010/main" val="293779326"/>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B0DEB13-3EF7-67DA-5148-FF05E855D34F}"/>
              </a:ext>
            </a:extLst>
          </p:cNvPr>
          <p:cNvSpPr>
            <a:spLocks noGrp="1"/>
          </p:cNvSpPr>
          <p:nvPr>
            <p:ph type="body" sz="quarter" idx="11"/>
          </p:nvPr>
        </p:nvSpPr>
        <p:spPr/>
        <p:txBody>
          <a:bodyPr/>
          <a:lstStyle/>
          <a:p>
            <a:r>
              <a:rPr lang="en-US" dirty="0"/>
              <a:t>L2VPN - VPLS to EVPN SRv6</a:t>
            </a:r>
          </a:p>
        </p:txBody>
      </p:sp>
      <p:pic>
        <p:nvPicPr>
          <p:cNvPr id="4" name="Picture 3" descr="A diagram of a diagram&#10;&#10;AI-generated content may be incorrect.">
            <a:extLst>
              <a:ext uri="{FF2B5EF4-FFF2-40B4-BE49-F238E27FC236}">
                <a16:creationId xmlns:a16="http://schemas.microsoft.com/office/drawing/2014/main" id="{11C07A89-A646-AF7B-C9DC-EE028916EB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312" y="811303"/>
            <a:ext cx="10097375" cy="5235394"/>
          </a:xfrm>
          <a:prstGeom prst="rect">
            <a:avLst/>
          </a:prstGeom>
        </p:spPr>
      </p:pic>
    </p:spTree>
    <p:extLst>
      <p:ext uri="{BB962C8B-B14F-4D97-AF65-F5344CB8AC3E}">
        <p14:creationId xmlns:p14="http://schemas.microsoft.com/office/powerpoint/2010/main" val="2954706824"/>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B0DEB13-3EF7-67DA-5148-FF05E855D34F}"/>
              </a:ext>
            </a:extLst>
          </p:cNvPr>
          <p:cNvSpPr>
            <a:spLocks noGrp="1"/>
          </p:cNvSpPr>
          <p:nvPr>
            <p:ph type="body" sz="quarter" idx="11"/>
          </p:nvPr>
        </p:nvSpPr>
        <p:spPr/>
        <p:txBody>
          <a:bodyPr/>
          <a:lstStyle/>
          <a:p>
            <a:r>
              <a:rPr lang="en-US" dirty="0"/>
              <a:t>L2VPN - VPLS to EVPN SRv6</a:t>
            </a:r>
          </a:p>
        </p:txBody>
      </p:sp>
      <p:pic>
        <p:nvPicPr>
          <p:cNvPr id="4" name="Picture 3" descr="A diagram of a diagram&#10;&#10;AI-generated content may be incorrect.">
            <a:extLst>
              <a:ext uri="{FF2B5EF4-FFF2-40B4-BE49-F238E27FC236}">
                <a16:creationId xmlns:a16="http://schemas.microsoft.com/office/drawing/2014/main" id="{11C07A89-A646-AF7B-C9DC-EE028916EB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312" y="811303"/>
            <a:ext cx="10097375" cy="5235394"/>
          </a:xfrm>
          <a:prstGeom prst="rect">
            <a:avLst/>
          </a:prstGeom>
        </p:spPr>
      </p:pic>
    </p:spTree>
    <p:extLst>
      <p:ext uri="{BB962C8B-B14F-4D97-AF65-F5344CB8AC3E}">
        <p14:creationId xmlns:p14="http://schemas.microsoft.com/office/powerpoint/2010/main" val="1179071769"/>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 Placeholder 53">
            <a:extLst>
              <a:ext uri="{FF2B5EF4-FFF2-40B4-BE49-F238E27FC236}">
                <a16:creationId xmlns:a16="http://schemas.microsoft.com/office/drawing/2014/main" id="{644DD39E-246C-C23C-7452-137473BA63D9}"/>
              </a:ext>
            </a:extLst>
          </p:cNvPr>
          <p:cNvSpPr>
            <a:spLocks noGrp="1"/>
          </p:cNvSpPr>
          <p:nvPr>
            <p:ph type="body" sz="quarter" idx="10"/>
          </p:nvPr>
        </p:nvSpPr>
        <p:spPr/>
        <p:txBody>
          <a:bodyPr/>
          <a:lstStyle/>
          <a:p>
            <a:r>
              <a:rPr lang="en-US" dirty="0"/>
              <a:t>Enable EVPN + SRv6 </a:t>
            </a:r>
          </a:p>
          <a:p>
            <a:pPr marL="0" indent="0">
              <a:buNone/>
            </a:pPr>
            <a:r>
              <a:rPr lang="en-US" dirty="0"/>
              <a:t>      on remaining PE</a:t>
            </a:r>
          </a:p>
        </p:txBody>
      </p:sp>
      <p:sp>
        <p:nvSpPr>
          <p:cNvPr id="3" name="Text Placeholder 2">
            <a:extLst>
              <a:ext uri="{FF2B5EF4-FFF2-40B4-BE49-F238E27FC236}">
                <a16:creationId xmlns:a16="http://schemas.microsoft.com/office/drawing/2014/main" id="{D468842C-E9AA-4882-EC44-4597C8EA2A45}"/>
              </a:ext>
            </a:extLst>
          </p:cNvPr>
          <p:cNvSpPr>
            <a:spLocks noGrp="1"/>
          </p:cNvSpPr>
          <p:nvPr>
            <p:ph type="body" sz="quarter" idx="11"/>
          </p:nvPr>
        </p:nvSpPr>
        <p:spPr>
          <a:xfrm>
            <a:off x="873918" y="12461"/>
            <a:ext cx="10444163" cy="773017"/>
          </a:xfrm>
        </p:spPr>
        <p:txBody>
          <a:bodyPr/>
          <a:lstStyle/>
          <a:p>
            <a:r>
              <a:rPr lang="en-US" dirty="0"/>
              <a:t>Step 2 - VPLS to SRv6 migration </a:t>
            </a:r>
            <a:r>
              <a:rPr lang="en-US" dirty="0">
                <a:solidFill>
                  <a:schemeClr val="bg1">
                    <a:lumMod val="50000"/>
                  </a:schemeClr>
                </a:solidFill>
              </a:rPr>
              <a:t>- L2VPN</a:t>
            </a:r>
          </a:p>
        </p:txBody>
      </p:sp>
      <p:sp>
        <p:nvSpPr>
          <p:cNvPr id="8" name="Oval 7">
            <a:extLst>
              <a:ext uri="{FF2B5EF4-FFF2-40B4-BE49-F238E27FC236}">
                <a16:creationId xmlns:a16="http://schemas.microsoft.com/office/drawing/2014/main" id="{993A2A87-8EB9-6614-516E-A2CB823D3BFE}"/>
              </a:ext>
            </a:extLst>
          </p:cNvPr>
          <p:cNvSpPr/>
          <p:nvPr/>
        </p:nvSpPr>
        <p:spPr>
          <a:xfrm>
            <a:off x="2861187" y="2743878"/>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PE-1</a:t>
            </a:r>
          </a:p>
        </p:txBody>
      </p:sp>
      <p:sp>
        <p:nvSpPr>
          <p:cNvPr id="9" name="Oval 8">
            <a:extLst>
              <a:ext uri="{FF2B5EF4-FFF2-40B4-BE49-F238E27FC236}">
                <a16:creationId xmlns:a16="http://schemas.microsoft.com/office/drawing/2014/main" id="{DBB2B752-AE8F-9DC3-0D63-E500CBE67C94}"/>
              </a:ext>
            </a:extLst>
          </p:cNvPr>
          <p:cNvSpPr/>
          <p:nvPr/>
        </p:nvSpPr>
        <p:spPr>
          <a:xfrm>
            <a:off x="2625213" y="3050586"/>
            <a:ext cx="471948" cy="459402"/>
          </a:xfrm>
          <a:prstGeom prst="ellipse">
            <a:avLst/>
          </a:prstGeom>
          <a:solidFill>
            <a:schemeClr val="accent3">
              <a:lumMod val="75000"/>
            </a:schemeClr>
          </a:solidFill>
          <a:ln w="508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E0851D-CFCC-8023-A043-3964DDC76594}"/>
              </a:ext>
            </a:extLst>
          </p:cNvPr>
          <p:cNvSpPr/>
          <p:nvPr/>
        </p:nvSpPr>
        <p:spPr>
          <a:xfrm>
            <a:off x="5225845" y="1461634"/>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P-2</a:t>
            </a:r>
          </a:p>
        </p:txBody>
      </p:sp>
      <p:sp>
        <p:nvSpPr>
          <p:cNvPr id="11" name="Oval 10">
            <a:extLst>
              <a:ext uri="{FF2B5EF4-FFF2-40B4-BE49-F238E27FC236}">
                <a16:creationId xmlns:a16="http://schemas.microsoft.com/office/drawing/2014/main" id="{341588A8-533B-B65D-2813-E637BE0322E3}"/>
              </a:ext>
            </a:extLst>
          </p:cNvPr>
          <p:cNvSpPr/>
          <p:nvPr/>
        </p:nvSpPr>
        <p:spPr>
          <a:xfrm>
            <a:off x="5225845"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P-3</a:t>
            </a:r>
          </a:p>
        </p:txBody>
      </p:sp>
      <p:sp>
        <p:nvSpPr>
          <p:cNvPr id="12" name="Oval 11">
            <a:extLst>
              <a:ext uri="{FF2B5EF4-FFF2-40B4-BE49-F238E27FC236}">
                <a16:creationId xmlns:a16="http://schemas.microsoft.com/office/drawing/2014/main" id="{88820713-3A40-9E92-5017-307E1BA5FCFB}"/>
              </a:ext>
            </a:extLst>
          </p:cNvPr>
          <p:cNvSpPr/>
          <p:nvPr/>
        </p:nvSpPr>
        <p:spPr>
          <a:xfrm>
            <a:off x="8091948" y="1461633"/>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PE-4</a:t>
            </a:r>
          </a:p>
        </p:txBody>
      </p:sp>
      <p:sp>
        <p:nvSpPr>
          <p:cNvPr id="13" name="Oval 12">
            <a:extLst>
              <a:ext uri="{FF2B5EF4-FFF2-40B4-BE49-F238E27FC236}">
                <a16:creationId xmlns:a16="http://schemas.microsoft.com/office/drawing/2014/main" id="{34EEF5FE-F3A6-1D78-CBD1-D19B71E84401}"/>
              </a:ext>
            </a:extLst>
          </p:cNvPr>
          <p:cNvSpPr/>
          <p:nvPr/>
        </p:nvSpPr>
        <p:spPr>
          <a:xfrm>
            <a:off x="8091948"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PE-5</a:t>
            </a:r>
          </a:p>
        </p:txBody>
      </p:sp>
      <p:sp>
        <p:nvSpPr>
          <p:cNvPr id="14" name="Oval 13">
            <a:extLst>
              <a:ext uri="{FF2B5EF4-FFF2-40B4-BE49-F238E27FC236}">
                <a16:creationId xmlns:a16="http://schemas.microsoft.com/office/drawing/2014/main" id="{A33A844A-10F7-FA25-02CA-BE1263DA1218}"/>
              </a:ext>
            </a:extLst>
          </p:cNvPr>
          <p:cNvSpPr/>
          <p:nvPr/>
        </p:nvSpPr>
        <p:spPr>
          <a:xfrm>
            <a:off x="6744928" y="5296213"/>
            <a:ext cx="1061884" cy="1072819"/>
          </a:xfrm>
          <a:prstGeom prst="ellipse">
            <a:avLst/>
          </a:prstGeom>
          <a:solidFill>
            <a:schemeClr val="accent3">
              <a:lumMod val="75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RRv4</a:t>
            </a:r>
            <a:endParaRPr lang="en-US" sz="1600" dirty="0"/>
          </a:p>
        </p:txBody>
      </p:sp>
      <p:sp>
        <p:nvSpPr>
          <p:cNvPr id="17" name="TextBox 16">
            <a:extLst>
              <a:ext uri="{FF2B5EF4-FFF2-40B4-BE49-F238E27FC236}">
                <a16:creationId xmlns:a16="http://schemas.microsoft.com/office/drawing/2014/main" id="{DCABD92B-4299-3F62-AB81-C71EAEFBC20B}"/>
              </a:ext>
            </a:extLst>
          </p:cNvPr>
          <p:cNvSpPr txBox="1"/>
          <p:nvPr/>
        </p:nvSpPr>
        <p:spPr>
          <a:xfrm>
            <a:off x="353961" y="1793223"/>
            <a:ext cx="2271252" cy="2152912"/>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effectLst/>
                <a:uLnTx/>
                <a:uFillTx/>
                <a:latin typeface="Arial" panose="020B0604020202020204"/>
                <a:ea typeface="+mn-ea"/>
                <a:cs typeface="+mn-cs"/>
              </a:rPr>
              <a:t>BD 2001</a:t>
            </a:r>
          </a:p>
          <a:p>
            <a: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pPr>
            <a:r>
              <a:rPr lang="en-US" sz="2000" dirty="0">
                <a:latin typeface="Arial" panose="020B0604020202020204"/>
              </a:rPr>
              <a:t>full mesh</a:t>
            </a:r>
          </a:p>
          <a:p>
            <a:pPr marR="0" algn="l" defTabSz="914400" rtl="0" eaLnBrk="1" fontAlgn="auto" latinLnBrk="0" hangingPunct="1">
              <a:lnSpc>
                <a:spcPct val="90000"/>
              </a:lnSpc>
              <a:spcBef>
                <a:spcPts val="1000"/>
              </a:spcBef>
              <a:spcAft>
                <a:spcPts val="0"/>
              </a:spcAft>
              <a:buClrTx/>
              <a:buSzTx/>
              <a:tabLst/>
            </a:pPr>
            <a:r>
              <a:rPr kumimoji="0" lang="en-US" sz="2000" i="0" u="none" strike="noStrike" kern="1200" cap="none" spc="0" normalizeH="0" baseline="0" noProof="0" dirty="0">
                <a:ln>
                  <a:noFill/>
                </a:ln>
                <a:effectLst/>
                <a:uLnTx/>
                <a:uFillTx/>
                <a:latin typeface="Arial" panose="020B0604020202020204"/>
                <a:ea typeface="+mn-ea"/>
                <a:cs typeface="+mn-cs"/>
              </a:rPr>
              <a:t>     </a:t>
            </a:r>
            <a:r>
              <a:rPr lang="en-US" sz="2000" dirty="0">
                <a:latin typeface="Arial" panose="020B0604020202020204"/>
              </a:rPr>
              <a:t>VPLS LDP</a:t>
            </a:r>
          </a:p>
          <a:p>
            <a:pPr marR="0" algn="l" defTabSz="914400" rtl="0" eaLnBrk="1" fontAlgn="auto" latinLnBrk="0" hangingPunct="1">
              <a:lnSpc>
                <a:spcPct val="90000"/>
              </a:lnSpc>
              <a:spcBef>
                <a:spcPts val="1000"/>
              </a:spcBef>
              <a:spcAft>
                <a:spcPts val="0"/>
              </a:spcAft>
              <a:buClrTx/>
              <a:buSzTx/>
              <a:tabLst/>
            </a:pPr>
            <a:endParaRPr kumimoji="0" lang="en-US" sz="2000" i="0" u="none" strike="noStrike" kern="1200" cap="none" spc="0" normalizeH="0" baseline="0" noProof="0" dirty="0">
              <a:ln>
                <a:noFill/>
              </a:ln>
              <a:effectLst/>
              <a:uLnTx/>
              <a:uFillTx/>
              <a:latin typeface="Arial" panose="020B0604020202020204"/>
              <a:ea typeface="+mn-ea"/>
              <a:cs typeface="+mn-cs"/>
            </a:endParaRPr>
          </a:p>
          <a:p>
            <a:pPr marR="0" algn="l" defTabSz="914400" rtl="0" eaLnBrk="1" fontAlgn="auto" latinLnBrk="0" hangingPunct="1">
              <a:lnSpc>
                <a:spcPct val="90000"/>
              </a:lnSpc>
              <a:spcBef>
                <a:spcPts val="1000"/>
              </a:spcBef>
              <a:spcAft>
                <a:spcPts val="0"/>
              </a:spcAft>
              <a:buClrTx/>
              <a:buSzTx/>
              <a:tabLst/>
            </a:pPr>
            <a:r>
              <a:rPr lang="en-US" sz="2000" dirty="0">
                <a:latin typeface="Arial" panose="020B0604020202020204"/>
              </a:rPr>
              <a:t>     </a:t>
            </a:r>
            <a:r>
              <a:rPr lang="en-US" sz="2000" b="1" dirty="0">
                <a:solidFill>
                  <a:schemeClr val="accent4"/>
                </a:solidFill>
                <a:latin typeface="Arial" panose="020B0604020202020204"/>
              </a:rPr>
              <a:t>VPLS + EVPN</a:t>
            </a:r>
            <a:endParaRPr kumimoji="0" lang="en-US" sz="2000" b="1" i="0" u="none" strike="noStrike" kern="1200" cap="none" spc="0" normalizeH="0" baseline="0" noProof="0" dirty="0">
              <a:ln>
                <a:noFill/>
              </a:ln>
              <a:solidFill>
                <a:schemeClr val="accent4"/>
              </a:solidFill>
              <a:effectLst/>
              <a:uLnTx/>
              <a:uFillTx/>
              <a:latin typeface="Arial" panose="020B0604020202020204"/>
              <a:ea typeface="+mn-ea"/>
              <a:cs typeface="+mn-cs"/>
            </a:endParaRPr>
          </a:p>
        </p:txBody>
      </p:sp>
      <p:sp>
        <p:nvSpPr>
          <p:cNvPr id="18" name="Oval 17">
            <a:extLst>
              <a:ext uri="{FF2B5EF4-FFF2-40B4-BE49-F238E27FC236}">
                <a16:creationId xmlns:a16="http://schemas.microsoft.com/office/drawing/2014/main" id="{C5A9DFEF-4947-F2F1-A76D-8AC479436895}"/>
              </a:ext>
            </a:extLst>
          </p:cNvPr>
          <p:cNvSpPr/>
          <p:nvPr/>
        </p:nvSpPr>
        <p:spPr>
          <a:xfrm>
            <a:off x="229906" y="2583736"/>
            <a:ext cx="471948" cy="464024"/>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F29B4790-86CB-3D33-D8AA-E7828F3315AA}"/>
              </a:ext>
            </a:extLst>
          </p:cNvPr>
          <p:cNvSpPr/>
          <p:nvPr/>
        </p:nvSpPr>
        <p:spPr>
          <a:xfrm>
            <a:off x="8917858" y="4427967"/>
            <a:ext cx="471948" cy="459402"/>
          </a:xfrm>
          <a:prstGeom prst="ellipse">
            <a:avLst/>
          </a:prstGeom>
          <a:solidFill>
            <a:schemeClr val="accent3">
              <a:lumMod val="75000"/>
            </a:schemeClr>
          </a:solidFill>
          <a:ln w="508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F7ADD5B5-1DE1-9F97-8D34-DA0DCA03396A}"/>
              </a:ext>
            </a:extLst>
          </p:cNvPr>
          <p:cNvSpPr/>
          <p:nvPr/>
        </p:nvSpPr>
        <p:spPr>
          <a:xfrm>
            <a:off x="8917858" y="1768341"/>
            <a:ext cx="471948" cy="459402"/>
          </a:xfrm>
          <a:prstGeom prst="ellipse">
            <a:avLst/>
          </a:prstGeom>
          <a:solidFill>
            <a:schemeClr val="accent3">
              <a:lumMod val="75000"/>
            </a:schemeClr>
          </a:solidFill>
          <a:ln w="508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6313A627-B0A9-C701-976E-3F14F76CF28D}"/>
              </a:ext>
            </a:extLst>
          </p:cNvPr>
          <p:cNvCxnSpPr>
            <a:stCxn id="10" idx="6"/>
            <a:endCxn id="12" idx="2"/>
          </p:cNvCxnSpPr>
          <p:nvPr/>
        </p:nvCxnSpPr>
        <p:spPr>
          <a:xfrm flipV="1">
            <a:off x="6287729" y="1998043"/>
            <a:ext cx="1804219" cy="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A7F45EA-CD46-5772-EAFD-4AAC01B7BFC8}"/>
              </a:ext>
            </a:extLst>
          </p:cNvPr>
          <p:cNvCxnSpPr>
            <a:cxnSpLocks/>
            <a:stCxn id="11" idx="7"/>
          </p:cNvCxnSpPr>
          <p:nvPr/>
        </p:nvCxnSpPr>
        <p:spPr>
          <a:xfrm flipV="1">
            <a:off x="6132220" y="2336659"/>
            <a:ext cx="2083535" cy="194171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E852CC6-3C63-30D9-93E0-B76FA8598344}"/>
              </a:ext>
            </a:extLst>
          </p:cNvPr>
          <p:cNvCxnSpPr>
            <a:cxnSpLocks/>
            <a:stCxn id="12" idx="4"/>
          </p:cNvCxnSpPr>
          <p:nvPr/>
        </p:nvCxnSpPr>
        <p:spPr>
          <a:xfrm>
            <a:off x="8622890" y="2534452"/>
            <a:ext cx="0" cy="1592852"/>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BDE2377-063B-01BF-3CB6-05F3FBF4C424}"/>
              </a:ext>
            </a:extLst>
          </p:cNvPr>
          <p:cNvCxnSpPr>
            <a:cxnSpLocks/>
            <a:stCxn id="11" idx="6"/>
            <a:endCxn id="13" idx="2"/>
          </p:cNvCxnSpPr>
          <p:nvPr/>
        </p:nvCxnSpPr>
        <p:spPr>
          <a:xfrm>
            <a:off x="6287729" y="4657669"/>
            <a:ext cx="1804219"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F49B32-4149-6A9F-D7CA-BABCA0E7A0A6}"/>
              </a:ext>
            </a:extLst>
          </p:cNvPr>
          <p:cNvCxnSpPr>
            <a:cxnSpLocks/>
            <a:stCxn id="10" idx="4"/>
            <a:endCxn id="11" idx="0"/>
          </p:cNvCxnSpPr>
          <p:nvPr/>
        </p:nvCxnSpPr>
        <p:spPr>
          <a:xfrm>
            <a:off x="5756787" y="2534453"/>
            <a:ext cx="0" cy="1586806"/>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FB43A74-B938-0C85-4049-B54CC5E87491}"/>
              </a:ext>
            </a:extLst>
          </p:cNvPr>
          <p:cNvCxnSpPr>
            <a:cxnSpLocks/>
            <a:endCxn id="11" idx="2"/>
          </p:cNvCxnSpPr>
          <p:nvPr/>
        </p:nvCxnSpPr>
        <p:spPr>
          <a:xfrm>
            <a:off x="3767562" y="3644526"/>
            <a:ext cx="1458283" cy="1013143"/>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9A3A119-7341-52D5-CD04-1C055CBC3D2C}"/>
              </a:ext>
            </a:extLst>
          </p:cNvPr>
          <p:cNvCxnSpPr>
            <a:cxnSpLocks/>
            <a:stCxn id="8" idx="7"/>
            <a:endCxn id="10" idx="2"/>
          </p:cNvCxnSpPr>
          <p:nvPr/>
        </p:nvCxnSpPr>
        <p:spPr>
          <a:xfrm flipV="1">
            <a:off x="3767562" y="1998044"/>
            <a:ext cx="1458283" cy="902945"/>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AA5A7C64-24D0-F310-9369-5EE60113D0DD}"/>
              </a:ext>
            </a:extLst>
          </p:cNvPr>
          <p:cNvSpPr txBox="1"/>
          <p:nvPr/>
        </p:nvSpPr>
        <p:spPr>
          <a:xfrm>
            <a:off x="2654461" y="3946135"/>
            <a:ext cx="1374465" cy="711533"/>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600" b="1" dirty="0">
                <a:solidFill>
                  <a:schemeClr val="accent4">
                    <a:lumMod val="75000"/>
                  </a:schemeClr>
                </a:solidFill>
                <a:latin typeface="Arial" panose="020B0604020202020204"/>
              </a:rPr>
              <a:t> </a:t>
            </a:r>
            <a:r>
              <a:rPr lang="en-US" sz="1600" dirty="0">
                <a:latin typeface="Arial" panose="020B0604020202020204"/>
              </a:rPr>
              <a:t>+ SRv6</a:t>
            </a:r>
          </a:p>
        </p:txBody>
      </p:sp>
      <p:sp>
        <p:nvSpPr>
          <p:cNvPr id="49" name="TextBox 48">
            <a:extLst>
              <a:ext uri="{FF2B5EF4-FFF2-40B4-BE49-F238E27FC236}">
                <a16:creationId xmlns:a16="http://schemas.microsoft.com/office/drawing/2014/main" id="{EB9FF396-0612-A9EE-123E-7055BFAED65E}"/>
              </a:ext>
            </a:extLst>
          </p:cNvPr>
          <p:cNvSpPr txBox="1"/>
          <p:nvPr/>
        </p:nvSpPr>
        <p:spPr>
          <a:xfrm>
            <a:off x="6588637" y="6372412"/>
            <a:ext cx="1374465"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endPar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endParaRPr>
          </a:p>
        </p:txBody>
      </p:sp>
      <p:cxnSp>
        <p:nvCxnSpPr>
          <p:cNvPr id="50" name="Straight Connector 49">
            <a:extLst>
              <a:ext uri="{FF2B5EF4-FFF2-40B4-BE49-F238E27FC236}">
                <a16:creationId xmlns:a16="http://schemas.microsoft.com/office/drawing/2014/main" id="{32AC3523-6F39-6CDD-5466-A394276895B0}"/>
              </a:ext>
            </a:extLst>
          </p:cNvPr>
          <p:cNvCxnSpPr>
            <a:cxnSpLocks/>
            <a:stCxn id="11" idx="5"/>
            <a:endCxn id="14" idx="1"/>
          </p:cNvCxnSpPr>
          <p:nvPr/>
        </p:nvCxnSpPr>
        <p:spPr>
          <a:xfrm>
            <a:off x="6132220" y="5036967"/>
            <a:ext cx="768217" cy="41635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C26D65D-05EF-FF2F-EBB6-12EF5D9AEE7B}"/>
              </a:ext>
            </a:extLst>
          </p:cNvPr>
          <p:cNvSpPr txBox="1"/>
          <p:nvPr/>
        </p:nvSpPr>
        <p:spPr>
          <a:xfrm>
            <a:off x="5064109" y="5286376"/>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4" name="TextBox 3">
            <a:extLst>
              <a:ext uri="{FF2B5EF4-FFF2-40B4-BE49-F238E27FC236}">
                <a16:creationId xmlns:a16="http://schemas.microsoft.com/office/drawing/2014/main" id="{D9AA12F4-1770-F159-C6DB-8E028F5D9759}"/>
              </a:ext>
            </a:extLst>
          </p:cNvPr>
          <p:cNvSpPr txBox="1"/>
          <p:nvPr/>
        </p:nvSpPr>
        <p:spPr>
          <a:xfrm>
            <a:off x="5132763" y="949213"/>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5" name="TextBox 4">
            <a:extLst>
              <a:ext uri="{FF2B5EF4-FFF2-40B4-BE49-F238E27FC236}">
                <a16:creationId xmlns:a16="http://schemas.microsoft.com/office/drawing/2014/main" id="{F20EC0DB-1B35-01BD-1164-A60ADEB8EA97}"/>
              </a:ext>
            </a:extLst>
          </p:cNvPr>
          <p:cNvSpPr txBox="1"/>
          <p:nvPr/>
        </p:nvSpPr>
        <p:spPr>
          <a:xfrm>
            <a:off x="7935657" y="95957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r>
              <a:rPr lang="en-US" sz="1600" dirty="0">
                <a:latin typeface="Arial" panose="020B0604020202020204"/>
              </a:rPr>
              <a:t> + SRv6</a:t>
            </a:r>
          </a:p>
        </p:txBody>
      </p:sp>
      <p:sp>
        <p:nvSpPr>
          <p:cNvPr id="6" name="TextBox 5">
            <a:extLst>
              <a:ext uri="{FF2B5EF4-FFF2-40B4-BE49-F238E27FC236}">
                <a16:creationId xmlns:a16="http://schemas.microsoft.com/office/drawing/2014/main" id="{C92528FF-DFC8-807F-35EC-6AEB2901F35D}"/>
              </a:ext>
            </a:extLst>
          </p:cNvPr>
          <p:cNvSpPr txBox="1"/>
          <p:nvPr/>
        </p:nvSpPr>
        <p:spPr>
          <a:xfrm>
            <a:off x="8015341" y="526693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r>
              <a:rPr lang="en-US" sz="1600" dirty="0">
                <a:latin typeface="Arial" panose="020B0604020202020204"/>
              </a:rPr>
              <a:t> </a:t>
            </a:r>
            <a:r>
              <a:rPr lang="en-US" sz="1600" b="1" dirty="0">
                <a:solidFill>
                  <a:schemeClr val="accent4"/>
                </a:solidFill>
                <a:latin typeface="Arial" panose="020B0604020202020204"/>
              </a:rPr>
              <a:t>+ SRv6</a:t>
            </a:r>
          </a:p>
        </p:txBody>
      </p:sp>
      <p:sp>
        <p:nvSpPr>
          <p:cNvPr id="7" name="Oval 6">
            <a:extLst>
              <a:ext uri="{FF2B5EF4-FFF2-40B4-BE49-F238E27FC236}">
                <a16:creationId xmlns:a16="http://schemas.microsoft.com/office/drawing/2014/main" id="{7107F0F5-5264-3C51-408B-196E23D21C09}"/>
              </a:ext>
            </a:extLst>
          </p:cNvPr>
          <p:cNvSpPr/>
          <p:nvPr/>
        </p:nvSpPr>
        <p:spPr>
          <a:xfrm>
            <a:off x="3849048" y="5296213"/>
            <a:ext cx="1061884" cy="1072819"/>
          </a:xfrm>
          <a:prstGeom prst="ellipse">
            <a:avLst/>
          </a:prstGeom>
          <a:solidFill>
            <a:schemeClr val="accent3">
              <a:lumMod val="75000"/>
            </a:schemeClr>
          </a:solidFill>
          <a:ln w="635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bg1"/>
                </a:solidFill>
              </a:rPr>
              <a:t>RRv6</a:t>
            </a:r>
            <a:endParaRPr lang="en-US" sz="1600" dirty="0">
              <a:solidFill>
                <a:schemeClr val="bg1"/>
              </a:solidFill>
            </a:endParaRPr>
          </a:p>
        </p:txBody>
      </p:sp>
      <p:cxnSp>
        <p:nvCxnSpPr>
          <p:cNvPr id="15" name="Straight Connector 14">
            <a:extLst>
              <a:ext uri="{FF2B5EF4-FFF2-40B4-BE49-F238E27FC236}">
                <a16:creationId xmlns:a16="http://schemas.microsoft.com/office/drawing/2014/main" id="{3E97CA9D-FC9A-0C61-9CEE-DCD0C454E893}"/>
              </a:ext>
            </a:extLst>
          </p:cNvPr>
          <p:cNvCxnSpPr>
            <a:cxnSpLocks/>
            <a:stCxn id="7" idx="7"/>
            <a:endCxn id="11" idx="3"/>
          </p:cNvCxnSpPr>
          <p:nvPr/>
        </p:nvCxnSpPr>
        <p:spPr>
          <a:xfrm flipV="1">
            <a:off x="4755423" y="5036967"/>
            <a:ext cx="625931" cy="41635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1BE30D1-0A33-396A-DEBF-AFC8477DDA56}"/>
              </a:ext>
            </a:extLst>
          </p:cNvPr>
          <p:cNvCxnSpPr>
            <a:cxnSpLocks/>
          </p:cNvCxnSpPr>
          <p:nvPr/>
        </p:nvCxnSpPr>
        <p:spPr>
          <a:xfrm flipV="1">
            <a:off x="3923071" y="2151904"/>
            <a:ext cx="4092270" cy="805550"/>
          </a:xfrm>
          <a:prstGeom prst="straightConnector1">
            <a:avLst/>
          </a:prstGeom>
          <a:ln w="508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24ABEDC-BF0E-4EB4-5B5B-BAE861C31855}"/>
              </a:ext>
            </a:extLst>
          </p:cNvPr>
          <p:cNvCxnSpPr>
            <a:cxnSpLocks/>
          </p:cNvCxnSpPr>
          <p:nvPr/>
        </p:nvCxnSpPr>
        <p:spPr>
          <a:xfrm flipH="1" flipV="1">
            <a:off x="3965511" y="3516849"/>
            <a:ext cx="4059743" cy="911118"/>
          </a:xfrm>
          <a:prstGeom prst="straightConnector1">
            <a:avLst/>
          </a:prstGeom>
          <a:ln w="508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9A8F468-AB75-EA4F-2D00-1158D19ED420}"/>
              </a:ext>
            </a:extLst>
          </p:cNvPr>
          <p:cNvCxnSpPr>
            <a:cxnSpLocks/>
          </p:cNvCxnSpPr>
          <p:nvPr/>
        </p:nvCxnSpPr>
        <p:spPr>
          <a:xfrm flipV="1">
            <a:off x="8851164" y="2598784"/>
            <a:ext cx="0" cy="1434484"/>
          </a:xfrm>
          <a:prstGeom prst="straightConnector1">
            <a:avLst/>
          </a:prstGeom>
          <a:ln w="508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168350E7-8301-0EB0-92DB-CF4DA74DACBE}"/>
              </a:ext>
            </a:extLst>
          </p:cNvPr>
          <p:cNvSpPr txBox="1"/>
          <p:nvPr/>
        </p:nvSpPr>
        <p:spPr>
          <a:xfrm>
            <a:off x="6283789" y="2570131"/>
            <a:ext cx="1305485" cy="194024"/>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rgbClr val="7030A0"/>
                </a:solidFill>
                <a:effectLst/>
                <a:uLnTx/>
                <a:uFillTx/>
                <a:latin typeface="Arial" panose="020B0604020202020204"/>
                <a:ea typeface="+mn-ea"/>
                <a:cs typeface="+mn-cs"/>
              </a:rPr>
              <a:t>EVPN SRv6</a:t>
            </a:r>
            <a:endParaRPr lang="en-US" sz="1600" dirty="0">
              <a:solidFill>
                <a:srgbClr val="7030A0"/>
              </a:solidFill>
              <a:latin typeface="Arial" panose="020B0604020202020204"/>
            </a:endParaRPr>
          </a:p>
        </p:txBody>
      </p:sp>
      <p:sp>
        <p:nvSpPr>
          <p:cNvPr id="30" name="Oval 29">
            <a:extLst>
              <a:ext uri="{FF2B5EF4-FFF2-40B4-BE49-F238E27FC236}">
                <a16:creationId xmlns:a16="http://schemas.microsoft.com/office/drawing/2014/main" id="{673165D3-089A-BC19-0478-449AC363F24A}"/>
              </a:ext>
            </a:extLst>
          </p:cNvPr>
          <p:cNvSpPr/>
          <p:nvPr/>
        </p:nvSpPr>
        <p:spPr>
          <a:xfrm>
            <a:off x="257410" y="3307514"/>
            <a:ext cx="471948" cy="459402"/>
          </a:xfrm>
          <a:prstGeom prst="ellipse">
            <a:avLst/>
          </a:prstGeom>
          <a:solidFill>
            <a:schemeClr val="accent3">
              <a:lumMod val="75000"/>
            </a:schemeClr>
          </a:solidFill>
          <a:ln w="508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C14F512C-24BF-8B59-DA8B-68C0D69D7127}"/>
              </a:ext>
            </a:extLst>
          </p:cNvPr>
          <p:cNvSpPr txBox="1"/>
          <p:nvPr/>
        </p:nvSpPr>
        <p:spPr>
          <a:xfrm>
            <a:off x="4471498" y="3435881"/>
            <a:ext cx="1305485" cy="194024"/>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rgbClr val="7030A0"/>
                </a:solidFill>
                <a:effectLst/>
                <a:uLnTx/>
                <a:uFillTx/>
                <a:latin typeface="Arial" panose="020B0604020202020204"/>
                <a:ea typeface="+mn-ea"/>
                <a:cs typeface="+mn-cs"/>
              </a:rPr>
              <a:t>EVPN SRv6</a:t>
            </a:r>
            <a:endParaRPr lang="en-US" sz="1600" dirty="0">
              <a:solidFill>
                <a:srgbClr val="7030A0"/>
              </a:solidFill>
              <a:latin typeface="Arial" panose="020B0604020202020204"/>
            </a:endParaRPr>
          </a:p>
        </p:txBody>
      </p:sp>
      <p:cxnSp>
        <p:nvCxnSpPr>
          <p:cNvPr id="33" name="Straight Arrow Connector 32">
            <a:extLst>
              <a:ext uri="{FF2B5EF4-FFF2-40B4-BE49-F238E27FC236}">
                <a16:creationId xmlns:a16="http://schemas.microsoft.com/office/drawing/2014/main" id="{FCE75409-7C94-A686-45CB-64DF1706FA80}"/>
              </a:ext>
            </a:extLst>
          </p:cNvPr>
          <p:cNvCxnSpPr>
            <a:cxnSpLocks/>
          </p:cNvCxnSpPr>
          <p:nvPr/>
        </p:nvCxnSpPr>
        <p:spPr>
          <a:xfrm flipH="1">
            <a:off x="4395021" y="4841690"/>
            <a:ext cx="4198374" cy="864212"/>
          </a:xfrm>
          <a:prstGeom prst="straightConnector1">
            <a:avLst/>
          </a:prstGeom>
          <a:ln w="50800">
            <a:solidFill>
              <a:schemeClr val="accent4"/>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E4C6F140-AFBC-657D-7A4B-B9F74F6F7C6B}"/>
              </a:ext>
            </a:extLst>
          </p:cNvPr>
          <p:cNvSpPr txBox="1"/>
          <p:nvPr/>
        </p:nvSpPr>
        <p:spPr>
          <a:xfrm>
            <a:off x="6281465" y="4771087"/>
            <a:ext cx="1530159" cy="335485"/>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600" b="1" i="0" u="none" strike="noStrike" kern="1200" cap="none" spc="0" normalizeH="0" baseline="0" noProof="0" dirty="0">
                <a:ln>
                  <a:noFill/>
                </a:ln>
                <a:solidFill>
                  <a:schemeClr val="accent4"/>
                </a:solidFill>
                <a:effectLst/>
                <a:uLnTx/>
                <a:uFillTx/>
                <a:latin typeface="Arial" panose="020B0604020202020204"/>
                <a:ea typeface="+mn-ea"/>
                <a:cs typeface="+mn-cs"/>
              </a:rPr>
              <a:t>BGP EVPN</a:t>
            </a:r>
          </a:p>
        </p:txBody>
      </p:sp>
      <p:sp>
        <p:nvSpPr>
          <p:cNvPr id="35" name="TextBox 34">
            <a:extLst>
              <a:ext uri="{FF2B5EF4-FFF2-40B4-BE49-F238E27FC236}">
                <a16:creationId xmlns:a16="http://schemas.microsoft.com/office/drawing/2014/main" id="{EAC52C93-41B7-196A-0DA2-815815F05F27}"/>
              </a:ext>
            </a:extLst>
          </p:cNvPr>
          <p:cNvSpPr txBox="1"/>
          <p:nvPr/>
        </p:nvSpPr>
        <p:spPr>
          <a:xfrm>
            <a:off x="8851164" y="3280287"/>
            <a:ext cx="1305485" cy="194024"/>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rgbClr val="7030A0"/>
                </a:solidFill>
                <a:effectLst/>
                <a:uLnTx/>
                <a:uFillTx/>
                <a:latin typeface="Arial" panose="020B0604020202020204"/>
                <a:ea typeface="+mn-ea"/>
                <a:cs typeface="+mn-cs"/>
              </a:rPr>
              <a:t>EVPN SRv6</a:t>
            </a:r>
            <a:endParaRPr lang="en-US" sz="1600" dirty="0">
              <a:solidFill>
                <a:srgbClr val="7030A0"/>
              </a:solidFill>
              <a:latin typeface="Arial" panose="020B0604020202020204"/>
            </a:endParaRPr>
          </a:p>
        </p:txBody>
      </p:sp>
    </p:spTree>
    <p:extLst>
      <p:ext uri="{BB962C8B-B14F-4D97-AF65-F5344CB8AC3E}">
        <p14:creationId xmlns:p14="http://schemas.microsoft.com/office/powerpoint/2010/main" val="2018447276"/>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 Placeholder 53">
            <a:extLst>
              <a:ext uri="{FF2B5EF4-FFF2-40B4-BE49-F238E27FC236}">
                <a16:creationId xmlns:a16="http://schemas.microsoft.com/office/drawing/2014/main" id="{644DD39E-246C-C23C-7452-137473BA63D9}"/>
              </a:ext>
            </a:extLst>
          </p:cNvPr>
          <p:cNvSpPr>
            <a:spLocks noGrp="1"/>
          </p:cNvSpPr>
          <p:nvPr>
            <p:ph type="body" sz="quarter" idx="10"/>
          </p:nvPr>
        </p:nvSpPr>
        <p:spPr/>
        <p:txBody>
          <a:bodyPr/>
          <a:lstStyle/>
          <a:p>
            <a:r>
              <a:rPr lang="en-US" dirty="0">
                <a:solidFill>
                  <a:schemeClr val="accent6"/>
                </a:solidFill>
              </a:rPr>
              <a:t>Remove VPLS, LDP, </a:t>
            </a:r>
            <a:r>
              <a:rPr lang="en-US" dirty="0" err="1">
                <a:solidFill>
                  <a:schemeClr val="accent6"/>
                </a:solidFill>
              </a:rPr>
              <a:t>ISISv4</a:t>
            </a:r>
            <a:endParaRPr lang="en-US" dirty="0">
              <a:solidFill>
                <a:schemeClr val="accent6"/>
              </a:solidFill>
            </a:endParaRPr>
          </a:p>
        </p:txBody>
      </p:sp>
      <p:sp>
        <p:nvSpPr>
          <p:cNvPr id="3" name="Text Placeholder 2">
            <a:extLst>
              <a:ext uri="{FF2B5EF4-FFF2-40B4-BE49-F238E27FC236}">
                <a16:creationId xmlns:a16="http://schemas.microsoft.com/office/drawing/2014/main" id="{D468842C-E9AA-4882-EC44-4597C8EA2A45}"/>
              </a:ext>
            </a:extLst>
          </p:cNvPr>
          <p:cNvSpPr>
            <a:spLocks noGrp="1"/>
          </p:cNvSpPr>
          <p:nvPr>
            <p:ph type="body" sz="quarter" idx="11"/>
          </p:nvPr>
        </p:nvSpPr>
        <p:spPr>
          <a:xfrm>
            <a:off x="873918" y="12461"/>
            <a:ext cx="10444163" cy="773017"/>
          </a:xfrm>
        </p:spPr>
        <p:txBody>
          <a:bodyPr/>
          <a:lstStyle/>
          <a:p>
            <a:r>
              <a:rPr lang="en-US" dirty="0"/>
              <a:t>Step 3 - VPLS to SRv6 migration </a:t>
            </a:r>
            <a:r>
              <a:rPr lang="en-US" dirty="0">
                <a:solidFill>
                  <a:schemeClr val="bg1">
                    <a:lumMod val="50000"/>
                  </a:schemeClr>
                </a:solidFill>
              </a:rPr>
              <a:t>- L2VPN</a:t>
            </a:r>
          </a:p>
        </p:txBody>
      </p:sp>
      <p:sp>
        <p:nvSpPr>
          <p:cNvPr id="8" name="Oval 7">
            <a:extLst>
              <a:ext uri="{FF2B5EF4-FFF2-40B4-BE49-F238E27FC236}">
                <a16:creationId xmlns:a16="http://schemas.microsoft.com/office/drawing/2014/main" id="{993A2A87-8EB9-6614-516E-A2CB823D3BFE}"/>
              </a:ext>
            </a:extLst>
          </p:cNvPr>
          <p:cNvSpPr/>
          <p:nvPr/>
        </p:nvSpPr>
        <p:spPr>
          <a:xfrm>
            <a:off x="2861187" y="2743878"/>
            <a:ext cx="1061884" cy="1072819"/>
          </a:xfrm>
          <a:prstGeom prst="ellipse">
            <a:avLst/>
          </a:prstGeom>
          <a:solidFill>
            <a:schemeClr val="accent3">
              <a:lumMod val="50000"/>
            </a:schemeClr>
          </a:solidFill>
          <a:ln w="635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PE-1</a:t>
            </a:r>
          </a:p>
        </p:txBody>
      </p:sp>
      <p:sp>
        <p:nvSpPr>
          <p:cNvPr id="9" name="Oval 8">
            <a:extLst>
              <a:ext uri="{FF2B5EF4-FFF2-40B4-BE49-F238E27FC236}">
                <a16:creationId xmlns:a16="http://schemas.microsoft.com/office/drawing/2014/main" id="{DBB2B752-AE8F-9DC3-0D63-E500CBE67C94}"/>
              </a:ext>
            </a:extLst>
          </p:cNvPr>
          <p:cNvSpPr/>
          <p:nvPr/>
        </p:nvSpPr>
        <p:spPr>
          <a:xfrm>
            <a:off x="2625213" y="3050586"/>
            <a:ext cx="471948" cy="459402"/>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E0851D-CFCC-8023-A043-3964DDC76594}"/>
              </a:ext>
            </a:extLst>
          </p:cNvPr>
          <p:cNvSpPr/>
          <p:nvPr/>
        </p:nvSpPr>
        <p:spPr>
          <a:xfrm>
            <a:off x="5225845" y="1461634"/>
            <a:ext cx="1061884" cy="1072819"/>
          </a:xfrm>
          <a:prstGeom prst="ellipse">
            <a:avLst/>
          </a:prstGeom>
          <a:solidFill>
            <a:schemeClr val="accent3">
              <a:lumMod val="50000"/>
            </a:schemeClr>
          </a:solidFill>
          <a:ln w="635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P-2</a:t>
            </a:r>
          </a:p>
        </p:txBody>
      </p:sp>
      <p:sp>
        <p:nvSpPr>
          <p:cNvPr id="11" name="Oval 10">
            <a:extLst>
              <a:ext uri="{FF2B5EF4-FFF2-40B4-BE49-F238E27FC236}">
                <a16:creationId xmlns:a16="http://schemas.microsoft.com/office/drawing/2014/main" id="{341588A8-533B-B65D-2813-E637BE0322E3}"/>
              </a:ext>
            </a:extLst>
          </p:cNvPr>
          <p:cNvSpPr/>
          <p:nvPr/>
        </p:nvSpPr>
        <p:spPr>
          <a:xfrm>
            <a:off x="5225845" y="4121259"/>
            <a:ext cx="1061884" cy="1072819"/>
          </a:xfrm>
          <a:prstGeom prst="ellipse">
            <a:avLst/>
          </a:prstGeom>
          <a:solidFill>
            <a:schemeClr val="accent3">
              <a:lumMod val="50000"/>
            </a:schemeClr>
          </a:solidFill>
          <a:ln w="635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P-3</a:t>
            </a:r>
          </a:p>
        </p:txBody>
      </p:sp>
      <p:sp>
        <p:nvSpPr>
          <p:cNvPr id="12" name="Oval 11">
            <a:extLst>
              <a:ext uri="{FF2B5EF4-FFF2-40B4-BE49-F238E27FC236}">
                <a16:creationId xmlns:a16="http://schemas.microsoft.com/office/drawing/2014/main" id="{88820713-3A40-9E92-5017-307E1BA5FCFB}"/>
              </a:ext>
            </a:extLst>
          </p:cNvPr>
          <p:cNvSpPr/>
          <p:nvPr/>
        </p:nvSpPr>
        <p:spPr>
          <a:xfrm>
            <a:off x="8091948" y="1461633"/>
            <a:ext cx="1061884" cy="1072819"/>
          </a:xfrm>
          <a:prstGeom prst="ellipse">
            <a:avLst/>
          </a:prstGeom>
          <a:solidFill>
            <a:schemeClr val="accent3">
              <a:lumMod val="50000"/>
            </a:schemeClr>
          </a:solidFill>
          <a:ln w="635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PE-4</a:t>
            </a:r>
          </a:p>
        </p:txBody>
      </p:sp>
      <p:sp>
        <p:nvSpPr>
          <p:cNvPr id="13" name="Oval 12">
            <a:extLst>
              <a:ext uri="{FF2B5EF4-FFF2-40B4-BE49-F238E27FC236}">
                <a16:creationId xmlns:a16="http://schemas.microsoft.com/office/drawing/2014/main" id="{34EEF5FE-F3A6-1D78-CBD1-D19B71E84401}"/>
              </a:ext>
            </a:extLst>
          </p:cNvPr>
          <p:cNvSpPr/>
          <p:nvPr/>
        </p:nvSpPr>
        <p:spPr>
          <a:xfrm>
            <a:off x="8091948" y="4121259"/>
            <a:ext cx="1061884" cy="1072819"/>
          </a:xfrm>
          <a:prstGeom prst="ellipse">
            <a:avLst/>
          </a:prstGeom>
          <a:solidFill>
            <a:schemeClr val="accent3">
              <a:lumMod val="50000"/>
            </a:schemeClr>
          </a:solidFill>
          <a:ln w="635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PE-5</a:t>
            </a:r>
          </a:p>
        </p:txBody>
      </p:sp>
      <p:sp>
        <p:nvSpPr>
          <p:cNvPr id="17" name="TextBox 16">
            <a:extLst>
              <a:ext uri="{FF2B5EF4-FFF2-40B4-BE49-F238E27FC236}">
                <a16:creationId xmlns:a16="http://schemas.microsoft.com/office/drawing/2014/main" id="{DCABD92B-4299-3F62-AB81-C71EAEFBC20B}"/>
              </a:ext>
            </a:extLst>
          </p:cNvPr>
          <p:cNvSpPr txBox="1"/>
          <p:nvPr/>
        </p:nvSpPr>
        <p:spPr>
          <a:xfrm>
            <a:off x="353961" y="1793223"/>
            <a:ext cx="2271252" cy="2152912"/>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effectLst/>
                <a:uLnTx/>
                <a:uFillTx/>
                <a:latin typeface="Arial" panose="020B0604020202020204"/>
                <a:ea typeface="+mn-ea"/>
                <a:cs typeface="+mn-cs"/>
              </a:rPr>
              <a:t>BD 2001</a:t>
            </a:r>
          </a:p>
          <a:p>
            <a: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pPr>
            <a:r>
              <a:rPr lang="en-US" sz="2000" dirty="0">
                <a:latin typeface="Arial" panose="020B0604020202020204"/>
              </a:rPr>
              <a:t>full mesh</a:t>
            </a:r>
          </a:p>
          <a:p>
            <a:pPr marR="0" algn="l" defTabSz="914400" rtl="0" eaLnBrk="1" fontAlgn="auto" latinLnBrk="0" hangingPunct="1">
              <a:lnSpc>
                <a:spcPct val="90000"/>
              </a:lnSpc>
              <a:spcBef>
                <a:spcPts val="1000"/>
              </a:spcBef>
              <a:spcAft>
                <a:spcPts val="0"/>
              </a:spcAft>
              <a:buClrTx/>
              <a:buSzTx/>
              <a:tabLst/>
            </a:pPr>
            <a:r>
              <a:rPr kumimoji="0" lang="en-US" sz="2000" i="0" u="none" strike="noStrike" kern="1200" cap="none" spc="0" normalizeH="0" baseline="0" noProof="0" dirty="0">
                <a:ln>
                  <a:noFill/>
                </a:ln>
                <a:effectLst/>
                <a:uLnTx/>
                <a:uFillTx/>
                <a:latin typeface="Arial" panose="020B0604020202020204"/>
                <a:ea typeface="+mn-ea"/>
                <a:cs typeface="+mn-cs"/>
              </a:rPr>
              <a:t>     </a:t>
            </a:r>
            <a:r>
              <a:rPr lang="en-US" sz="2000" dirty="0">
                <a:latin typeface="Arial" panose="020B0604020202020204"/>
              </a:rPr>
              <a:t>EVPN</a:t>
            </a:r>
          </a:p>
          <a:p>
            <a:pPr marR="0" algn="l" defTabSz="914400" rtl="0" eaLnBrk="1" fontAlgn="auto" latinLnBrk="0" hangingPunct="1">
              <a:lnSpc>
                <a:spcPct val="90000"/>
              </a:lnSpc>
              <a:spcBef>
                <a:spcPts val="1000"/>
              </a:spcBef>
              <a:spcAft>
                <a:spcPts val="0"/>
              </a:spcAft>
              <a:buClrTx/>
              <a:buSzTx/>
              <a:tabLst/>
            </a:pPr>
            <a:endParaRPr kumimoji="0" lang="en-US" sz="2000" i="0" u="none" strike="noStrike" kern="1200" cap="none" spc="0" normalizeH="0" baseline="0" noProof="0" dirty="0">
              <a:ln>
                <a:noFill/>
              </a:ln>
              <a:effectLst/>
              <a:uLnTx/>
              <a:uFillTx/>
              <a:latin typeface="Arial" panose="020B0604020202020204"/>
              <a:ea typeface="+mn-ea"/>
              <a:cs typeface="+mn-cs"/>
            </a:endParaRPr>
          </a:p>
          <a:p>
            <a:pPr marR="0" algn="l" defTabSz="914400" rtl="0" eaLnBrk="1" fontAlgn="auto" latinLnBrk="0" hangingPunct="1">
              <a:lnSpc>
                <a:spcPct val="90000"/>
              </a:lnSpc>
              <a:spcBef>
                <a:spcPts val="1000"/>
              </a:spcBef>
              <a:spcAft>
                <a:spcPts val="0"/>
              </a:spcAft>
              <a:buClrTx/>
              <a:buSzTx/>
              <a:tabLst/>
            </a:pPr>
            <a:r>
              <a:rPr lang="en-US" sz="2000" dirty="0">
                <a:latin typeface="Arial" panose="020B0604020202020204"/>
              </a:rPr>
              <a:t>     </a:t>
            </a:r>
            <a:endParaRPr kumimoji="0" lang="en-US" sz="2000" b="1" i="0" u="none" strike="noStrike" kern="1200" cap="none" spc="0" normalizeH="0" baseline="0" noProof="0" dirty="0">
              <a:ln>
                <a:noFill/>
              </a:ln>
              <a:solidFill>
                <a:schemeClr val="accent4"/>
              </a:solidFill>
              <a:effectLst/>
              <a:uLnTx/>
              <a:uFillTx/>
              <a:latin typeface="Arial" panose="020B0604020202020204"/>
              <a:ea typeface="+mn-ea"/>
              <a:cs typeface="+mn-cs"/>
            </a:endParaRPr>
          </a:p>
        </p:txBody>
      </p:sp>
      <p:sp>
        <p:nvSpPr>
          <p:cNvPr id="18" name="Oval 17">
            <a:extLst>
              <a:ext uri="{FF2B5EF4-FFF2-40B4-BE49-F238E27FC236}">
                <a16:creationId xmlns:a16="http://schemas.microsoft.com/office/drawing/2014/main" id="{C5A9DFEF-4947-F2F1-A76D-8AC479436895}"/>
              </a:ext>
            </a:extLst>
          </p:cNvPr>
          <p:cNvSpPr/>
          <p:nvPr/>
        </p:nvSpPr>
        <p:spPr>
          <a:xfrm>
            <a:off x="229906" y="2583736"/>
            <a:ext cx="471948" cy="46402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F29B4790-86CB-3D33-D8AA-E7828F3315AA}"/>
              </a:ext>
            </a:extLst>
          </p:cNvPr>
          <p:cNvSpPr/>
          <p:nvPr/>
        </p:nvSpPr>
        <p:spPr>
          <a:xfrm>
            <a:off x="8917858" y="4427967"/>
            <a:ext cx="471948" cy="459402"/>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F7ADD5B5-1DE1-9F97-8D34-DA0DCA03396A}"/>
              </a:ext>
            </a:extLst>
          </p:cNvPr>
          <p:cNvSpPr/>
          <p:nvPr/>
        </p:nvSpPr>
        <p:spPr>
          <a:xfrm>
            <a:off x="8917858" y="1768341"/>
            <a:ext cx="471948" cy="459402"/>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6313A627-B0A9-C701-976E-3F14F76CF28D}"/>
              </a:ext>
            </a:extLst>
          </p:cNvPr>
          <p:cNvCxnSpPr>
            <a:stCxn id="10" idx="6"/>
            <a:endCxn id="12" idx="2"/>
          </p:cNvCxnSpPr>
          <p:nvPr/>
        </p:nvCxnSpPr>
        <p:spPr>
          <a:xfrm flipV="1">
            <a:off x="6287729" y="1998043"/>
            <a:ext cx="1804219" cy="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A7F45EA-CD46-5772-EAFD-4AAC01B7BFC8}"/>
              </a:ext>
            </a:extLst>
          </p:cNvPr>
          <p:cNvCxnSpPr>
            <a:cxnSpLocks/>
            <a:stCxn id="11" idx="7"/>
          </p:cNvCxnSpPr>
          <p:nvPr/>
        </p:nvCxnSpPr>
        <p:spPr>
          <a:xfrm flipV="1">
            <a:off x="6132220" y="2336659"/>
            <a:ext cx="2083535" cy="194171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E852CC6-3C63-30D9-93E0-B76FA8598344}"/>
              </a:ext>
            </a:extLst>
          </p:cNvPr>
          <p:cNvCxnSpPr>
            <a:cxnSpLocks/>
            <a:stCxn id="12" idx="4"/>
          </p:cNvCxnSpPr>
          <p:nvPr/>
        </p:nvCxnSpPr>
        <p:spPr>
          <a:xfrm>
            <a:off x="8622890" y="2534452"/>
            <a:ext cx="0" cy="1592852"/>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BDE2377-063B-01BF-3CB6-05F3FBF4C424}"/>
              </a:ext>
            </a:extLst>
          </p:cNvPr>
          <p:cNvCxnSpPr>
            <a:cxnSpLocks/>
            <a:stCxn id="11" idx="6"/>
            <a:endCxn id="13" idx="2"/>
          </p:cNvCxnSpPr>
          <p:nvPr/>
        </p:nvCxnSpPr>
        <p:spPr>
          <a:xfrm>
            <a:off x="6287729" y="4657669"/>
            <a:ext cx="1804219"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F49B32-4149-6A9F-D7CA-BABCA0E7A0A6}"/>
              </a:ext>
            </a:extLst>
          </p:cNvPr>
          <p:cNvCxnSpPr>
            <a:cxnSpLocks/>
            <a:stCxn id="10" idx="4"/>
            <a:endCxn id="11" idx="0"/>
          </p:cNvCxnSpPr>
          <p:nvPr/>
        </p:nvCxnSpPr>
        <p:spPr>
          <a:xfrm>
            <a:off x="5756787" y="2534453"/>
            <a:ext cx="0" cy="1586806"/>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FB43A74-B938-0C85-4049-B54CC5E87491}"/>
              </a:ext>
            </a:extLst>
          </p:cNvPr>
          <p:cNvCxnSpPr>
            <a:cxnSpLocks/>
            <a:endCxn id="11" idx="2"/>
          </p:cNvCxnSpPr>
          <p:nvPr/>
        </p:nvCxnSpPr>
        <p:spPr>
          <a:xfrm>
            <a:off x="3767562" y="3644526"/>
            <a:ext cx="1458283" cy="1013143"/>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9A3A119-7341-52D5-CD04-1C055CBC3D2C}"/>
              </a:ext>
            </a:extLst>
          </p:cNvPr>
          <p:cNvCxnSpPr>
            <a:cxnSpLocks/>
            <a:stCxn id="8" idx="7"/>
            <a:endCxn id="10" idx="2"/>
          </p:cNvCxnSpPr>
          <p:nvPr/>
        </p:nvCxnSpPr>
        <p:spPr>
          <a:xfrm flipV="1">
            <a:off x="3767562" y="1998044"/>
            <a:ext cx="1458283" cy="902945"/>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AA5A7C64-24D0-F310-9369-5EE60113D0DD}"/>
              </a:ext>
            </a:extLst>
          </p:cNvPr>
          <p:cNvSpPr txBox="1"/>
          <p:nvPr/>
        </p:nvSpPr>
        <p:spPr>
          <a:xfrm>
            <a:off x="2654461" y="3946135"/>
            <a:ext cx="1374465" cy="250925"/>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600" dirty="0" err="1">
                <a:latin typeface="Arial" panose="020B0604020202020204"/>
              </a:rPr>
              <a:t>ISISv6</a:t>
            </a:r>
            <a:r>
              <a:rPr lang="en-US" sz="1600" dirty="0">
                <a:latin typeface="Arial" panose="020B0604020202020204"/>
              </a:rPr>
              <a:t> </a:t>
            </a:r>
            <a:r>
              <a:rPr lang="en-US" sz="1600" b="1" dirty="0">
                <a:solidFill>
                  <a:schemeClr val="accent4">
                    <a:lumMod val="75000"/>
                  </a:schemeClr>
                </a:solidFill>
                <a:latin typeface="Arial" panose="020B0604020202020204"/>
              </a:rPr>
              <a:t> </a:t>
            </a:r>
            <a:r>
              <a:rPr lang="en-US" sz="1600" dirty="0">
                <a:latin typeface="Arial" panose="020B0604020202020204"/>
              </a:rPr>
              <a:t>+ SRv6</a:t>
            </a:r>
          </a:p>
        </p:txBody>
      </p:sp>
      <p:sp>
        <p:nvSpPr>
          <p:cNvPr id="2" name="TextBox 1">
            <a:extLst>
              <a:ext uri="{FF2B5EF4-FFF2-40B4-BE49-F238E27FC236}">
                <a16:creationId xmlns:a16="http://schemas.microsoft.com/office/drawing/2014/main" id="{5C26D65D-05EF-FF2F-EBB6-12EF5D9AEE7B}"/>
              </a:ext>
            </a:extLst>
          </p:cNvPr>
          <p:cNvSpPr txBox="1"/>
          <p:nvPr/>
        </p:nvSpPr>
        <p:spPr>
          <a:xfrm>
            <a:off x="5064109" y="5286376"/>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600" dirty="0" err="1">
                <a:latin typeface="Arial" panose="020B0604020202020204"/>
              </a:rPr>
              <a:t>ISISv6</a:t>
            </a:r>
            <a:endParaRPr lang="en-US" sz="1600" dirty="0">
              <a:latin typeface="Arial" panose="020B0604020202020204"/>
            </a:endParaRPr>
          </a:p>
        </p:txBody>
      </p:sp>
      <p:sp>
        <p:nvSpPr>
          <p:cNvPr id="4" name="TextBox 3">
            <a:extLst>
              <a:ext uri="{FF2B5EF4-FFF2-40B4-BE49-F238E27FC236}">
                <a16:creationId xmlns:a16="http://schemas.microsoft.com/office/drawing/2014/main" id="{D9AA12F4-1770-F159-C6DB-8E028F5D9759}"/>
              </a:ext>
            </a:extLst>
          </p:cNvPr>
          <p:cNvSpPr txBox="1"/>
          <p:nvPr/>
        </p:nvSpPr>
        <p:spPr>
          <a:xfrm>
            <a:off x="5132763" y="949213"/>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600" dirty="0" err="1">
                <a:latin typeface="Arial" panose="020B0604020202020204"/>
              </a:rPr>
              <a:t>ISISv6</a:t>
            </a:r>
            <a:endParaRPr lang="en-US" sz="1600" dirty="0">
              <a:latin typeface="Arial" panose="020B0604020202020204"/>
            </a:endParaRPr>
          </a:p>
        </p:txBody>
      </p:sp>
      <p:sp>
        <p:nvSpPr>
          <p:cNvPr id="5" name="TextBox 4">
            <a:extLst>
              <a:ext uri="{FF2B5EF4-FFF2-40B4-BE49-F238E27FC236}">
                <a16:creationId xmlns:a16="http://schemas.microsoft.com/office/drawing/2014/main" id="{F20EC0DB-1B35-01BD-1164-A60ADEB8EA97}"/>
              </a:ext>
            </a:extLst>
          </p:cNvPr>
          <p:cNvSpPr txBox="1"/>
          <p:nvPr/>
        </p:nvSpPr>
        <p:spPr>
          <a:xfrm>
            <a:off x="7935657" y="95957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600" dirty="0" err="1">
                <a:latin typeface="Arial" panose="020B0604020202020204"/>
              </a:rPr>
              <a:t>ISISv6</a:t>
            </a:r>
            <a:r>
              <a:rPr lang="en-US" sz="1600" dirty="0">
                <a:latin typeface="Arial" panose="020B0604020202020204"/>
              </a:rPr>
              <a:t> + SRv6</a:t>
            </a:r>
          </a:p>
        </p:txBody>
      </p:sp>
      <p:sp>
        <p:nvSpPr>
          <p:cNvPr id="6" name="TextBox 5">
            <a:extLst>
              <a:ext uri="{FF2B5EF4-FFF2-40B4-BE49-F238E27FC236}">
                <a16:creationId xmlns:a16="http://schemas.microsoft.com/office/drawing/2014/main" id="{C92528FF-DFC8-807F-35EC-6AEB2901F35D}"/>
              </a:ext>
            </a:extLst>
          </p:cNvPr>
          <p:cNvSpPr txBox="1"/>
          <p:nvPr/>
        </p:nvSpPr>
        <p:spPr>
          <a:xfrm>
            <a:off x="8015341" y="526693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600" dirty="0" err="1">
                <a:latin typeface="Arial" panose="020B0604020202020204"/>
              </a:rPr>
              <a:t>ISISv6</a:t>
            </a:r>
            <a:r>
              <a:rPr lang="en-US" sz="1600" dirty="0">
                <a:latin typeface="Arial" panose="020B0604020202020204"/>
              </a:rPr>
              <a:t> + SRv6</a:t>
            </a:r>
          </a:p>
        </p:txBody>
      </p:sp>
      <p:sp>
        <p:nvSpPr>
          <p:cNvPr id="7" name="Oval 6">
            <a:extLst>
              <a:ext uri="{FF2B5EF4-FFF2-40B4-BE49-F238E27FC236}">
                <a16:creationId xmlns:a16="http://schemas.microsoft.com/office/drawing/2014/main" id="{7107F0F5-5264-3C51-408B-196E23D21C09}"/>
              </a:ext>
            </a:extLst>
          </p:cNvPr>
          <p:cNvSpPr/>
          <p:nvPr/>
        </p:nvSpPr>
        <p:spPr>
          <a:xfrm>
            <a:off x="3849048" y="5296213"/>
            <a:ext cx="1061884" cy="1072819"/>
          </a:xfrm>
          <a:prstGeom prst="ellipse">
            <a:avLst/>
          </a:prstGeom>
          <a:solidFill>
            <a:schemeClr val="accent3">
              <a:lumMod val="75000"/>
            </a:schemeClr>
          </a:solidFill>
          <a:ln w="635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bg1"/>
                </a:solidFill>
              </a:rPr>
              <a:t>RRv6</a:t>
            </a:r>
            <a:endParaRPr lang="en-US" sz="1600" dirty="0">
              <a:solidFill>
                <a:schemeClr val="bg1"/>
              </a:solidFill>
            </a:endParaRPr>
          </a:p>
        </p:txBody>
      </p:sp>
      <p:cxnSp>
        <p:nvCxnSpPr>
          <p:cNvPr id="15" name="Straight Connector 14">
            <a:extLst>
              <a:ext uri="{FF2B5EF4-FFF2-40B4-BE49-F238E27FC236}">
                <a16:creationId xmlns:a16="http://schemas.microsoft.com/office/drawing/2014/main" id="{3E97CA9D-FC9A-0C61-9CEE-DCD0C454E893}"/>
              </a:ext>
            </a:extLst>
          </p:cNvPr>
          <p:cNvCxnSpPr>
            <a:cxnSpLocks/>
            <a:stCxn id="7" idx="7"/>
            <a:endCxn id="11" idx="3"/>
          </p:cNvCxnSpPr>
          <p:nvPr/>
        </p:nvCxnSpPr>
        <p:spPr>
          <a:xfrm flipV="1">
            <a:off x="4755423" y="5036967"/>
            <a:ext cx="625931" cy="41635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1BE30D1-0A33-396A-DEBF-AFC8477DDA56}"/>
              </a:ext>
            </a:extLst>
          </p:cNvPr>
          <p:cNvCxnSpPr>
            <a:cxnSpLocks/>
          </p:cNvCxnSpPr>
          <p:nvPr/>
        </p:nvCxnSpPr>
        <p:spPr>
          <a:xfrm flipV="1">
            <a:off x="3923071" y="2151904"/>
            <a:ext cx="4092270" cy="805550"/>
          </a:xfrm>
          <a:prstGeom prst="straightConnector1">
            <a:avLst/>
          </a:prstGeom>
          <a:ln w="508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24ABEDC-BF0E-4EB4-5B5B-BAE861C31855}"/>
              </a:ext>
            </a:extLst>
          </p:cNvPr>
          <p:cNvCxnSpPr>
            <a:cxnSpLocks/>
          </p:cNvCxnSpPr>
          <p:nvPr/>
        </p:nvCxnSpPr>
        <p:spPr>
          <a:xfrm flipH="1" flipV="1">
            <a:off x="3965511" y="3516849"/>
            <a:ext cx="4059743" cy="911118"/>
          </a:xfrm>
          <a:prstGeom prst="straightConnector1">
            <a:avLst/>
          </a:prstGeom>
          <a:ln w="508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9A8F468-AB75-EA4F-2D00-1158D19ED420}"/>
              </a:ext>
            </a:extLst>
          </p:cNvPr>
          <p:cNvCxnSpPr>
            <a:cxnSpLocks/>
          </p:cNvCxnSpPr>
          <p:nvPr/>
        </p:nvCxnSpPr>
        <p:spPr>
          <a:xfrm flipV="1">
            <a:off x="8851164" y="2598784"/>
            <a:ext cx="0" cy="1434484"/>
          </a:xfrm>
          <a:prstGeom prst="straightConnector1">
            <a:avLst/>
          </a:prstGeom>
          <a:ln w="508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168350E7-8301-0EB0-92DB-CF4DA74DACBE}"/>
              </a:ext>
            </a:extLst>
          </p:cNvPr>
          <p:cNvSpPr txBox="1"/>
          <p:nvPr/>
        </p:nvSpPr>
        <p:spPr>
          <a:xfrm>
            <a:off x="6283789" y="2570131"/>
            <a:ext cx="1305485" cy="194024"/>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rgbClr val="7030A0"/>
                </a:solidFill>
                <a:effectLst/>
                <a:uLnTx/>
                <a:uFillTx/>
                <a:latin typeface="Arial" panose="020B0604020202020204"/>
                <a:ea typeface="+mn-ea"/>
                <a:cs typeface="+mn-cs"/>
              </a:rPr>
              <a:t>EVPN SRv6</a:t>
            </a:r>
            <a:endParaRPr lang="en-US" sz="1600" dirty="0">
              <a:solidFill>
                <a:srgbClr val="7030A0"/>
              </a:solidFill>
              <a:latin typeface="Arial" panose="020B0604020202020204"/>
            </a:endParaRPr>
          </a:p>
        </p:txBody>
      </p:sp>
      <p:sp>
        <p:nvSpPr>
          <p:cNvPr id="19" name="TextBox 18">
            <a:extLst>
              <a:ext uri="{FF2B5EF4-FFF2-40B4-BE49-F238E27FC236}">
                <a16:creationId xmlns:a16="http://schemas.microsoft.com/office/drawing/2014/main" id="{C14F512C-24BF-8B59-DA8B-68C0D69D7127}"/>
              </a:ext>
            </a:extLst>
          </p:cNvPr>
          <p:cNvSpPr txBox="1"/>
          <p:nvPr/>
        </p:nvSpPr>
        <p:spPr>
          <a:xfrm>
            <a:off x="4471498" y="3435881"/>
            <a:ext cx="1305485" cy="194024"/>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rgbClr val="7030A0"/>
                </a:solidFill>
                <a:effectLst/>
                <a:uLnTx/>
                <a:uFillTx/>
                <a:latin typeface="Arial" panose="020B0604020202020204"/>
                <a:ea typeface="+mn-ea"/>
                <a:cs typeface="+mn-cs"/>
              </a:rPr>
              <a:t>EVPN SRv6</a:t>
            </a:r>
            <a:endParaRPr lang="en-US" sz="1600" dirty="0">
              <a:solidFill>
                <a:srgbClr val="7030A0"/>
              </a:solidFill>
              <a:latin typeface="Arial" panose="020B0604020202020204"/>
            </a:endParaRPr>
          </a:p>
        </p:txBody>
      </p:sp>
      <p:sp>
        <p:nvSpPr>
          <p:cNvPr id="16" name="TextBox 15">
            <a:extLst>
              <a:ext uri="{FF2B5EF4-FFF2-40B4-BE49-F238E27FC236}">
                <a16:creationId xmlns:a16="http://schemas.microsoft.com/office/drawing/2014/main" id="{BBF924A8-7A5C-564C-1166-C7A737836D75}"/>
              </a:ext>
            </a:extLst>
          </p:cNvPr>
          <p:cNvSpPr txBox="1"/>
          <p:nvPr/>
        </p:nvSpPr>
        <p:spPr>
          <a:xfrm>
            <a:off x="8851164" y="3210502"/>
            <a:ext cx="1305485" cy="194024"/>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rgbClr val="7030A0"/>
                </a:solidFill>
                <a:effectLst/>
                <a:uLnTx/>
                <a:uFillTx/>
                <a:latin typeface="Arial" panose="020B0604020202020204"/>
                <a:ea typeface="+mn-ea"/>
                <a:cs typeface="+mn-cs"/>
              </a:rPr>
              <a:t>EVPN SRv6</a:t>
            </a:r>
            <a:endParaRPr lang="en-US" sz="1600" dirty="0">
              <a:solidFill>
                <a:srgbClr val="7030A0"/>
              </a:solidFill>
              <a:latin typeface="Arial" panose="020B0604020202020204"/>
            </a:endParaRPr>
          </a:p>
        </p:txBody>
      </p:sp>
    </p:spTree>
    <p:extLst>
      <p:ext uri="{BB962C8B-B14F-4D97-AF65-F5344CB8AC3E}">
        <p14:creationId xmlns:p14="http://schemas.microsoft.com/office/powerpoint/2010/main" val="2660126772"/>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7DF76D3A-5E3E-4BC8-8F39-771134FF4322}"/>
              </a:ext>
            </a:extLst>
          </p:cNvPr>
          <p:cNvSpPr>
            <a:spLocks noGrp="1"/>
          </p:cNvSpPr>
          <p:nvPr>
            <p:ph type="body" idx="1"/>
          </p:nvPr>
        </p:nvSpPr>
        <p:spPr/>
        <p:txBody>
          <a:bodyPr/>
          <a:lstStyle/>
          <a:p>
            <a:r>
              <a:rPr lang="en-US" noProof="0" dirty="0"/>
              <a:t>L2VPN VPWS</a:t>
            </a:r>
          </a:p>
        </p:txBody>
      </p:sp>
      <p:sp>
        <p:nvSpPr>
          <p:cNvPr id="2" name="Text Placeholder 1">
            <a:extLst>
              <a:ext uri="{FF2B5EF4-FFF2-40B4-BE49-F238E27FC236}">
                <a16:creationId xmlns:a16="http://schemas.microsoft.com/office/drawing/2014/main" id="{B367786B-A4DD-DB9E-9087-78A451525AAC}"/>
              </a:ext>
            </a:extLst>
          </p:cNvPr>
          <p:cNvSpPr>
            <a:spLocks noGrp="1"/>
          </p:cNvSpPr>
          <p:nvPr>
            <p:ph type="body" sz="quarter" idx="15"/>
          </p:nvPr>
        </p:nvSpPr>
        <p:spPr/>
        <p:txBody>
          <a:bodyPr/>
          <a:lstStyle/>
          <a:p>
            <a:r>
              <a:rPr lang="en-US" dirty="0">
                <a:cs typeface="Calibri" pitchFamily="34" charset="0"/>
              </a:rPr>
              <a:t>SRv6 and service migration</a:t>
            </a:r>
            <a:endParaRPr lang="cs-CZ" dirty="0"/>
          </a:p>
        </p:txBody>
      </p:sp>
      <p:sp>
        <p:nvSpPr>
          <p:cNvPr id="5" name="Zástupný text 4">
            <a:extLst>
              <a:ext uri="{FF2B5EF4-FFF2-40B4-BE49-F238E27FC236}">
                <a16:creationId xmlns:a16="http://schemas.microsoft.com/office/drawing/2014/main" id="{CA46CB7B-0002-4873-B253-4D2438CC3611}"/>
              </a:ext>
            </a:extLst>
          </p:cNvPr>
          <p:cNvSpPr>
            <a:spLocks noGrp="1"/>
          </p:cNvSpPr>
          <p:nvPr>
            <p:ph type="body" sz="quarter" idx="13"/>
          </p:nvPr>
        </p:nvSpPr>
        <p:spPr/>
        <p:txBody>
          <a:bodyPr/>
          <a:lstStyle/>
          <a:p>
            <a:r>
              <a:rPr lang="en-US" dirty="0"/>
              <a:t>Segment Routing MPLS and SRv6</a:t>
            </a:r>
          </a:p>
        </p:txBody>
      </p:sp>
      <p:sp>
        <p:nvSpPr>
          <p:cNvPr id="6" name="Zástupný text 5">
            <a:extLst>
              <a:ext uri="{FF2B5EF4-FFF2-40B4-BE49-F238E27FC236}">
                <a16:creationId xmlns:a16="http://schemas.microsoft.com/office/drawing/2014/main" id="{955FA430-FA92-4EB5-849C-E3D05AB9B217}"/>
              </a:ext>
            </a:extLst>
          </p:cNvPr>
          <p:cNvSpPr>
            <a:spLocks noGrp="1"/>
          </p:cNvSpPr>
          <p:nvPr>
            <p:ph type="body" sz="quarter" idx="14"/>
          </p:nvPr>
        </p:nvSpPr>
        <p:spPr/>
        <p:txBody>
          <a:bodyPr/>
          <a:lstStyle/>
          <a:p>
            <a:r>
              <a:rPr lang="en-US" noProof="0" dirty="0"/>
              <a:t>Service Migration</a:t>
            </a:r>
          </a:p>
        </p:txBody>
      </p:sp>
    </p:spTree>
    <p:extLst>
      <p:ext uri="{BB962C8B-B14F-4D97-AF65-F5344CB8AC3E}">
        <p14:creationId xmlns:p14="http://schemas.microsoft.com/office/powerpoint/2010/main" val="217622615"/>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3E3329E-7F40-8556-881D-C921B859ED5F}"/>
              </a:ext>
            </a:extLst>
          </p:cNvPr>
          <p:cNvSpPr>
            <a:spLocks noGrp="1"/>
          </p:cNvSpPr>
          <p:nvPr>
            <p:ph type="body" sz="quarter" idx="11"/>
          </p:nvPr>
        </p:nvSpPr>
        <p:spPr>
          <a:xfrm>
            <a:off x="873918" y="12461"/>
            <a:ext cx="10444163" cy="773017"/>
          </a:xfrm>
        </p:spPr>
        <p:txBody>
          <a:bodyPr/>
          <a:lstStyle/>
          <a:p>
            <a:r>
              <a:rPr lang="en-US" dirty="0"/>
              <a:t>L2VPN - MPLS LDP to SRv6 migration</a:t>
            </a:r>
          </a:p>
        </p:txBody>
      </p:sp>
      <p:pic>
        <p:nvPicPr>
          <p:cNvPr id="4" name="Picture 3" descr="A diagram of a service layer&#10;&#10;AI-generated content may be incorrect.">
            <a:extLst>
              <a:ext uri="{FF2B5EF4-FFF2-40B4-BE49-F238E27FC236}">
                <a16:creationId xmlns:a16="http://schemas.microsoft.com/office/drawing/2014/main" id="{9DC52A55-C3EB-0861-437A-AFA8F415FB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3468" y="876079"/>
            <a:ext cx="10425063" cy="5105842"/>
          </a:xfrm>
          <a:prstGeom prst="rect">
            <a:avLst/>
          </a:prstGeom>
        </p:spPr>
      </p:pic>
    </p:spTree>
    <p:extLst>
      <p:ext uri="{BB962C8B-B14F-4D97-AF65-F5344CB8AC3E}">
        <p14:creationId xmlns:p14="http://schemas.microsoft.com/office/powerpoint/2010/main" val="2078124088"/>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 Placeholder 53">
            <a:extLst>
              <a:ext uri="{FF2B5EF4-FFF2-40B4-BE49-F238E27FC236}">
                <a16:creationId xmlns:a16="http://schemas.microsoft.com/office/drawing/2014/main" id="{644DD39E-246C-C23C-7452-137473BA63D9}"/>
              </a:ext>
            </a:extLst>
          </p:cNvPr>
          <p:cNvSpPr>
            <a:spLocks noGrp="1"/>
          </p:cNvSpPr>
          <p:nvPr>
            <p:ph type="body" sz="quarter" idx="10"/>
          </p:nvPr>
        </p:nvSpPr>
        <p:spPr/>
        <p:txBody>
          <a:bodyPr/>
          <a:lstStyle/>
          <a:p>
            <a:r>
              <a:rPr lang="en-US" dirty="0"/>
              <a:t>Initial State</a:t>
            </a:r>
            <a:endParaRPr lang="en-US" dirty="0">
              <a:solidFill>
                <a:schemeClr val="accent4">
                  <a:lumMod val="75000"/>
                </a:schemeClr>
              </a:solidFill>
            </a:endParaRPr>
          </a:p>
        </p:txBody>
      </p:sp>
      <p:sp>
        <p:nvSpPr>
          <p:cNvPr id="3" name="Text Placeholder 2">
            <a:extLst>
              <a:ext uri="{FF2B5EF4-FFF2-40B4-BE49-F238E27FC236}">
                <a16:creationId xmlns:a16="http://schemas.microsoft.com/office/drawing/2014/main" id="{D468842C-E9AA-4882-EC44-4597C8EA2A45}"/>
              </a:ext>
            </a:extLst>
          </p:cNvPr>
          <p:cNvSpPr>
            <a:spLocks noGrp="1"/>
          </p:cNvSpPr>
          <p:nvPr>
            <p:ph type="body" sz="quarter" idx="11"/>
          </p:nvPr>
        </p:nvSpPr>
        <p:spPr>
          <a:xfrm>
            <a:off x="873918" y="12461"/>
            <a:ext cx="10444163" cy="773017"/>
          </a:xfrm>
        </p:spPr>
        <p:txBody>
          <a:bodyPr/>
          <a:lstStyle/>
          <a:p>
            <a:r>
              <a:rPr lang="en-US" dirty="0">
                <a:solidFill>
                  <a:schemeClr val="bg1">
                    <a:lumMod val="50000"/>
                  </a:schemeClr>
                </a:solidFill>
              </a:rPr>
              <a:t>L2VPN </a:t>
            </a:r>
            <a:r>
              <a:rPr lang="en-US" dirty="0"/>
              <a:t>- VPWS to SRv6 migration</a:t>
            </a:r>
            <a:endParaRPr lang="en-US" dirty="0">
              <a:solidFill>
                <a:schemeClr val="bg1">
                  <a:lumMod val="50000"/>
                </a:schemeClr>
              </a:solidFill>
            </a:endParaRPr>
          </a:p>
        </p:txBody>
      </p:sp>
      <p:sp>
        <p:nvSpPr>
          <p:cNvPr id="8" name="Oval 7">
            <a:extLst>
              <a:ext uri="{FF2B5EF4-FFF2-40B4-BE49-F238E27FC236}">
                <a16:creationId xmlns:a16="http://schemas.microsoft.com/office/drawing/2014/main" id="{993A2A87-8EB9-6614-516E-A2CB823D3BFE}"/>
              </a:ext>
            </a:extLst>
          </p:cNvPr>
          <p:cNvSpPr/>
          <p:nvPr/>
        </p:nvSpPr>
        <p:spPr>
          <a:xfrm>
            <a:off x="2861187" y="2743878"/>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PE-1</a:t>
            </a:r>
          </a:p>
        </p:txBody>
      </p:sp>
      <p:sp>
        <p:nvSpPr>
          <p:cNvPr id="9" name="Oval 8">
            <a:extLst>
              <a:ext uri="{FF2B5EF4-FFF2-40B4-BE49-F238E27FC236}">
                <a16:creationId xmlns:a16="http://schemas.microsoft.com/office/drawing/2014/main" id="{DBB2B752-AE8F-9DC3-0D63-E500CBE67C94}"/>
              </a:ext>
            </a:extLst>
          </p:cNvPr>
          <p:cNvSpPr/>
          <p:nvPr/>
        </p:nvSpPr>
        <p:spPr>
          <a:xfrm>
            <a:off x="2625213" y="3050586"/>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E0851D-CFCC-8023-A043-3964DDC76594}"/>
              </a:ext>
            </a:extLst>
          </p:cNvPr>
          <p:cNvSpPr/>
          <p:nvPr/>
        </p:nvSpPr>
        <p:spPr>
          <a:xfrm>
            <a:off x="5225845" y="1461634"/>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P-2</a:t>
            </a:r>
          </a:p>
        </p:txBody>
      </p:sp>
      <p:sp>
        <p:nvSpPr>
          <p:cNvPr id="11" name="Oval 10">
            <a:extLst>
              <a:ext uri="{FF2B5EF4-FFF2-40B4-BE49-F238E27FC236}">
                <a16:creationId xmlns:a16="http://schemas.microsoft.com/office/drawing/2014/main" id="{341588A8-533B-B65D-2813-E637BE0322E3}"/>
              </a:ext>
            </a:extLst>
          </p:cNvPr>
          <p:cNvSpPr/>
          <p:nvPr/>
        </p:nvSpPr>
        <p:spPr>
          <a:xfrm>
            <a:off x="5225845"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P-3</a:t>
            </a:r>
          </a:p>
        </p:txBody>
      </p:sp>
      <p:sp>
        <p:nvSpPr>
          <p:cNvPr id="12" name="Oval 11">
            <a:extLst>
              <a:ext uri="{FF2B5EF4-FFF2-40B4-BE49-F238E27FC236}">
                <a16:creationId xmlns:a16="http://schemas.microsoft.com/office/drawing/2014/main" id="{88820713-3A40-9E92-5017-307E1BA5FCFB}"/>
              </a:ext>
            </a:extLst>
          </p:cNvPr>
          <p:cNvSpPr/>
          <p:nvPr/>
        </p:nvSpPr>
        <p:spPr>
          <a:xfrm>
            <a:off x="8091948" y="1461633"/>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PE-4</a:t>
            </a:r>
          </a:p>
        </p:txBody>
      </p:sp>
      <p:sp>
        <p:nvSpPr>
          <p:cNvPr id="13" name="Oval 12">
            <a:extLst>
              <a:ext uri="{FF2B5EF4-FFF2-40B4-BE49-F238E27FC236}">
                <a16:creationId xmlns:a16="http://schemas.microsoft.com/office/drawing/2014/main" id="{34EEF5FE-F3A6-1D78-CBD1-D19B71E84401}"/>
              </a:ext>
            </a:extLst>
          </p:cNvPr>
          <p:cNvSpPr/>
          <p:nvPr/>
        </p:nvSpPr>
        <p:spPr>
          <a:xfrm>
            <a:off x="8091948"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PE-5</a:t>
            </a:r>
          </a:p>
        </p:txBody>
      </p:sp>
      <p:sp>
        <p:nvSpPr>
          <p:cNvPr id="14" name="Oval 13">
            <a:extLst>
              <a:ext uri="{FF2B5EF4-FFF2-40B4-BE49-F238E27FC236}">
                <a16:creationId xmlns:a16="http://schemas.microsoft.com/office/drawing/2014/main" id="{A33A844A-10F7-FA25-02CA-BE1263DA1218}"/>
              </a:ext>
            </a:extLst>
          </p:cNvPr>
          <p:cNvSpPr/>
          <p:nvPr/>
        </p:nvSpPr>
        <p:spPr>
          <a:xfrm>
            <a:off x="6744928" y="5296213"/>
            <a:ext cx="1061884" cy="1072819"/>
          </a:xfrm>
          <a:prstGeom prst="ellipse">
            <a:avLst/>
          </a:prstGeom>
          <a:solidFill>
            <a:schemeClr val="accent3">
              <a:lumMod val="75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RRv4</a:t>
            </a:r>
            <a:endParaRPr lang="en-US" sz="1600" dirty="0"/>
          </a:p>
        </p:txBody>
      </p:sp>
      <p:sp>
        <p:nvSpPr>
          <p:cNvPr id="17" name="TextBox 16">
            <a:extLst>
              <a:ext uri="{FF2B5EF4-FFF2-40B4-BE49-F238E27FC236}">
                <a16:creationId xmlns:a16="http://schemas.microsoft.com/office/drawing/2014/main" id="{DCABD92B-4299-3F62-AB81-C71EAEFBC20B}"/>
              </a:ext>
            </a:extLst>
          </p:cNvPr>
          <p:cNvSpPr txBox="1"/>
          <p:nvPr/>
        </p:nvSpPr>
        <p:spPr>
          <a:xfrm>
            <a:off x="353960" y="1793224"/>
            <a:ext cx="2351717" cy="1412092"/>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effectLst/>
                <a:uLnTx/>
                <a:uFillTx/>
                <a:latin typeface="Arial" panose="020B0604020202020204"/>
                <a:ea typeface="+mn-ea"/>
                <a:cs typeface="+mn-cs"/>
              </a:rPr>
              <a:t>xconnect 2002</a:t>
            </a:r>
          </a:p>
          <a:p>
            <a: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pPr>
            <a:r>
              <a:rPr lang="en-US" sz="2000" dirty="0">
                <a:latin typeface="Arial" panose="020B0604020202020204"/>
              </a:rPr>
              <a:t>P2P</a:t>
            </a:r>
          </a:p>
          <a:p>
            <a:pPr marR="0" algn="l" defTabSz="914400" rtl="0" eaLnBrk="1" fontAlgn="auto" latinLnBrk="0" hangingPunct="1">
              <a:lnSpc>
                <a:spcPct val="90000"/>
              </a:lnSpc>
              <a:spcBef>
                <a:spcPts val="1000"/>
              </a:spcBef>
              <a:spcAft>
                <a:spcPts val="0"/>
              </a:spcAft>
              <a:buClrTx/>
              <a:buSzTx/>
              <a:tabLst/>
            </a:pPr>
            <a:r>
              <a:rPr kumimoji="0" lang="en-US" sz="2000" i="0" u="none" strike="noStrike" kern="1200" cap="none" spc="0" normalizeH="0" baseline="0" noProof="0" dirty="0">
                <a:ln>
                  <a:noFill/>
                </a:ln>
                <a:effectLst/>
                <a:uLnTx/>
                <a:uFillTx/>
                <a:latin typeface="Arial" panose="020B0604020202020204"/>
                <a:ea typeface="+mn-ea"/>
                <a:cs typeface="+mn-cs"/>
              </a:rPr>
              <a:t>     </a:t>
            </a:r>
            <a:r>
              <a:rPr lang="en-US" sz="2000" dirty="0">
                <a:latin typeface="Arial" panose="020B0604020202020204"/>
              </a:rPr>
              <a:t>VPWS LDP</a:t>
            </a:r>
            <a:endParaRPr kumimoji="0" lang="en-US" sz="2000" i="0" u="none" strike="noStrike" kern="1200" cap="none" spc="0" normalizeH="0" baseline="0" noProof="0" dirty="0">
              <a:ln>
                <a:noFill/>
              </a:ln>
              <a:effectLst/>
              <a:uLnTx/>
              <a:uFillTx/>
              <a:latin typeface="Arial" panose="020B0604020202020204"/>
              <a:ea typeface="+mn-ea"/>
              <a:cs typeface="+mn-cs"/>
            </a:endParaRPr>
          </a:p>
        </p:txBody>
      </p:sp>
      <p:sp>
        <p:nvSpPr>
          <p:cNvPr id="18" name="Oval 17">
            <a:extLst>
              <a:ext uri="{FF2B5EF4-FFF2-40B4-BE49-F238E27FC236}">
                <a16:creationId xmlns:a16="http://schemas.microsoft.com/office/drawing/2014/main" id="{C5A9DFEF-4947-F2F1-A76D-8AC479436895}"/>
              </a:ext>
            </a:extLst>
          </p:cNvPr>
          <p:cNvSpPr/>
          <p:nvPr/>
        </p:nvSpPr>
        <p:spPr>
          <a:xfrm>
            <a:off x="229906" y="2583736"/>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F7ADD5B5-1DE1-9F97-8D34-DA0DCA03396A}"/>
              </a:ext>
            </a:extLst>
          </p:cNvPr>
          <p:cNvSpPr/>
          <p:nvPr/>
        </p:nvSpPr>
        <p:spPr>
          <a:xfrm>
            <a:off x="8917858" y="1768341"/>
            <a:ext cx="471948" cy="459402"/>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6313A627-B0A9-C701-976E-3F14F76CF28D}"/>
              </a:ext>
            </a:extLst>
          </p:cNvPr>
          <p:cNvCxnSpPr>
            <a:stCxn id="10" idx="6"/>
            <a:endCxn id="12" idx="2"/>
          </p:cNvCxnSpPr>
          <p:nvPr/>
        </p:nvCxnSpPr>
        <p:spPr>
          <a:xfrm flipV="1">
            <a:off x="6287729" y="1998043"/>
            <a:ext cx="1804219" cy="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A7F45EA-CD46-5772-EAFD-4AAC01B7BFC8}"/>
              </a:ext>
            </a:extLst>
          </p:cNvPr>
          <p:cNvCxnSpPr>
            <a:cxnSpLocks/>
            <a:stCxn id="11" idx="7"/>
          </p:cNvCxnSpPr>
          <p:nvPr/>
        </p:nvCxnSpPr>
        <p:spPr>
          <a:xfrm flipV="1">
            <a:off x="6132220" y="2336659"/>
            <a:ext cx="2083535" cy="194171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E852CC6-3C63-30D9-93E0-B76FA8598344}"/>
              </a:ext>
            </a:extLst>
          </p:cNvPr>
          <p:cNvCxnSpPr>
            <a:cxnSpLocks/>
            <a:stCxn id="12" idx="4"/>
          </p:cNvCxnSpPr>
          <p:nvPr/>
        </p:nvCxnSpPr>
        <p:spPr>
          <a:xfrm>
            <a:off x="8622890" y="2534452"/>
            <a:ext cx="0" cy="1592852"/>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BDE2377-063B-01BF-3CB6-05F3FBF4C424}"/>
              </a:ext>
            </a:extLst>
          </p:cNvPr>
          <p:cNvCxnSpPr>
            <a:cxnSpLocks/>
            <a:stCxn id="11" idx="6"/>
            <a:endCxn id="13" idx="2"/>
          </p:cNvCxnSpPr>
          <p:nvPr/>
        </p:nvCxnSpPr>
        <p:spPr>
          <a:xfrm>
            <a:off x="6287729" y="4657669"/>
            <a:ext cx="1804219"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F49B32-4149-6A9F-D7CA-BABCA0E7A0A6}"/>
              </a:ext>
            </a:extLst>
          </p:cNvPr>
          <p:cNvCxnSpPr>
            <a:cxnSpLocks/>
            <a:stCxn id="10" idx="4"/>
            <a:endCxn id="11" idx="0"/>
          </p:cNvCxnSpPr>
          <p:nvPr/>
        </p:nvCxnSpPr>
        <p:spPr>
          <a:xfrm>
            <a:off x="5756787" y="2534453"/>
            <a:ext cx="0" cy="1586806"/>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FB43A74-B938-0C85-4049-B54CC5E87491}"/>
              </a:ext>
            </a:extLst>
          </p:cNvPr>
          <p:cNvCxnSpPr>
            <a:cxnSpLocks/>
            <a:endCxn id="11" idx="2"/>
          </p:cNvCxnSpPr>
          <p:nvPr/>
        </p:nvCxnSpPr>
        <p:spPr>
          <a:xfrm>
            <a:off x="3767562" y="3644526"/>
            <a:ext cx="1458283" cy="1013143"/>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9A3A119-7341-52D5-CD04-1C055CBC3D2C}"/>
              </a:ext>
            </a:extLst>
          </p:cNvPr>
          <p:cNvCxnSpPr>
            <a:cxnSpLocks/>
            <a:stCxn id="8" idx="7"/>
            <a:endCxn id="10" idx="2"/>
          </p:cNvCxnSpPr>
          <p:nvPr/>
        </p:nvCxnSpPr>
        <p:spPr>
          <a:xfrm flipV="1">
            <a:off x="3767562" y="1998044"/>
            <a:ext cx="1458283" cy="902945"/>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AA5A7C64-24D0-F310-9369-5EE60113D0DD}"/>
              </a:ext>
            </a:extLst>
          </p:cNvPr>
          <p:cNvSpPr txBox="1"/>
          <p:nvPr/>
        </p:nvSpPr>
        <p:spPr>
          <a:xfrm>
            <a:off x="2654461" y="3946135"/>
            <a:ext cx="1374465" cy="711533"/>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600" b="1" dirty="0">
                <a:solidFill>
                  <a:schemeClr val="accent4">
                    <a:lumMod val="75000"/>
                  </a:schemeClr>
                </a:solidFill>
                <a:latin typeface="Arial" panose="020B0604020202020204"/>
              </a:rPr>
              <a:t> </a:t>
            </a:r>
            <a:r>
              <a:rPr lang="en-US" sz="1600" dirty="0">
                <a:latin typeface="Arial" panose="020B0604020202020204"/>
              </a:rPr>
              <a:t>+ SRv6</a:t>
            </a:r>
          </a:p>
        </p:txBody>
      </p:sp>
      <p:sp>
        <p:nvSpPr>
          <p:cNvPr id="49" name="TextBox 48">
            <a:extLst>
              <a:ext uri="{FF2B5EF4-FFF2-40B4-BE49-F238E27FC236}">
                <a16:creationId xmlns:a16="http://schemas.microsoft.com/office/drawing/2014/main" id="{EB9FF396-0612-A9EE-123E-7055BFAED65E}"/>
              </a:ext>
            </a:extLst>
          </p:cNvPr>
          <p:cNvSpPr txBox="1"/>
          <p:nvPr/>
        </p:nvSpPr>
        <p:spPr>
          <a:xfrm>
            <a:off x="6588637" y="6372412"/>
            <a:ext cx="1374465"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endPar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endParaRPr>
          </a:p>
        </p:txBody>
      </p:sp>
      <p:cxnSp>
        <p:nvCxnSpPr>
          <p:cNvPr id="50" name="Straight Connector 49">
            <a:extLst>
              <a:ext uri="{FF2B5EF4-FFF2-40B4-BE49-F238E27FC236}">
                <a16:creationId xmlns:a16="http://schemas.microsoft.com/office/drawing/2014/main" id="{32AC3523-6F39-6CDD-5466-A394276895B0}"/>
              </a:ext>
            </a:extLst>
          </p:cNvPr>
          <p:cNvCxnSpPr>
            <a:cxnSpLocks/>
            <a:stCxn id="11" idx="5"/>
            <a:endCxn id="14" idx="1"/>
          </p:cNvCxnSpPr>
          <p:nvPr/>
        </p:nvCxnSpPr>
        <p:spPr>
          <a:xfrm>
            <a:off x="6132220" y="5036967"/>
            <a:ext cx="768217" cy="41635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C26D65D-05EF-FF2F-EBB6-12EF5D9AEE7B}"/>
              </a:ext>
            </a:extLst>
          </p:cNvPr>
          <p:cNvSpPr txBox="1"/>
          <p:nvPr/>
        </p:nvSpPr>
        <p:spPr>
          <a:xfrm>
            <a:off x="5064109" y="5286376"/>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4" name="TextBox 3">
            <a:extLst>
              <a:ext uri="{FF2B5EF4-FFF2-40B4-BE49-F238E27FC236}">
                <a16:creationId xmlns:a16="http://schemas.microsoft.com/office/drawing/2014/main" id="{D9AA12F4-1770-F159-C6DB-8E028F5D9759}"/>
              </a:ext>
            </a:extLst>
          </p:cNvPr>
          <p:cNvSpPr txBox="1"/>
          <p:nvPr/>
        </p:nvSpPr>
        <p:spPr>
          <a:xfrm>
            <a:off x="5132763" y="949213"/>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5" name="TextBox 4">
            <a:extLst>
              <a:ext uri="{FF2B5EF4-FFF2-40B4-BE49-F238E27FC236}">
                <a16:creationId xmlns:a16="http://schemas.microsoft.com/office/drawing/2014/main" id="{F20EC0DB-1B35-01BD-1164-A60ADEB8EA97}"/>
              </a:ext>
            </a:extLst>
          </p:cNvPr>
          <p:cNvSpPr txBox="1"/>
          <p:nvPr/>
        </p:nvSpPr>
        <p:spPr>
          <a:xfrm>
            <a:off x="7935657" y="95957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r>
              <a:rPr lang="en-US" sz="1600" dirty="0">
                <a:latin typeface="Arial" panose="020B0604020202020204"/>
              </a:rPr>
              <a:t> + SRv6</a:t>
            </a:r>
          </a:p>
        </p:txBody>
      </p:sp>
      <p:sp>
        <p:nvSpPr>
          <p:cNvPr id="6" name="TextBox 5">
            <a:extLst>
              <a:ext uri="{FF2B5EF4-FFF2-40B4-BE49-F238E27FC236}">
                <a16:creationId xmlns:a16="http://schemas.microsoft.com/office/drawing/2014/main" id="{C92528FF-DFC8-807F-35EC-6AEB2901F35D}"/>
              </a:ext>
            </a:extLst>
          </p:cNvPr>
          <p:cNvSpPr txBox="1"/>
          <p:nvPr/>
        </p:nvSpPr>
        <p:spPr>
          <a:xfrm>
            <a:off x="8015341" y="526693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7" name="Oval 6">
            <a:extLst>
              <a:ext uri="{FF2B5EF4-FFF2-40B4-BE49-F238E27FC236}">
                <a16:creationId xmlns:a16="http://schemas.microsoft.com/office/drawing/2014/main" id="{7107F0F5-5264-3C51-408B-196E23D21C09}"/>
              </a:ext>
            </a:extLst>
          </p:cNvPr>
          <p:cNvSpPr/>
          <p:nvPr/>
        </p:nvSpPr>
        <p:spPr>
          <a:xfrm>
            <a:off x="3849048" y="5296213"/>
            <a:ext cx="1061884" cy="1072819"/>
          </a:xfrm>
          <a:prstGeom prst="ellipse">
            <a:avLst/>
          </a:prstGeom>
          <a:solidFill>
            <a:schemeClr val="accent3">
              <a:lumMod val="75000"/>
            </a:schemeClr>
          </a:solidFill>
          <a:ln w="635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bg1"/>
                </a:solidFill>
              </a:rPr>
              <a:t>RRv6</a:t>
            </a:r>
            <a:endParaRPr lang="en-US" sz="1600" dirty="0">
              <a:solidFill>
                <a:schemeClr val="bg1"/>
              </a:solidFill>
            </a:endParaRPr>
          </a:p>
        </p:txBody>
      </p:sp>
      <p:cxnSp>
        <p:nvCxnSpPr>
          <p:cNvPr id="15" name="Straight Connector 14">
            <a:extLst>
              <a:ext uri="{FF2B5EF4-FFF2-40B4-BE49-F238E27FC236}">
                <a16:creationId xmlns:a16="http://schemas.microsoft.com/office/drawing/2014/main" id="{3E97CA9D-FC9A-0C61-9CEE-DCD0C454E893}"/>
              </a:ext>
            </a:extLst>
          </p:cNvPr>
          <p:cNvCxnSpPr>
            <a:cxnSpLocks/>
            <a:stCxn id="7" idx="7"/>
            <a:endCxn id="11" idx="3"/>
          </p:cNvCxnSpPr>
          <p:nvPr/>
        </p:nvCxnSpPr>
        <p:spPr>
          <a:xfrm flipV="1">
            <a:off x="4755423" y="5036967"/>
            <a:ext cx="625931" cy="41635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1BE30D1-0A33-396A-DEBF-AFC8477DDA56}"/>
              </a:ext>
            </a:extLst>
          </p:cNvPr>
          <p:cNvCxnSpPr>
            <a:cxnSpLocks/>
          </p:cNvCxnSpPr>
          <p:nvPr/>
        </p:nvCxnSpPr>
        <p:spPr>
          <a:xfrm flipV="1">
            <a:off x="3923071" y="2151904"/>
            <a:ext cx="4092270" cy="805550"/>
          </a:xfrm>
          <a:prstGeom prst="straightConnector1">
            <a:avLst/>
          </a:prstGeom>
          <a:ln w="50800">
            <a:solidFill>
              <a:schemeClr val="accent3"/>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168350E7-8301-0EB0-92DB-CF4DA74DACBE}"/>
              </a:ext>
            </a:extLst>
          </p:cNvPr>
          <p:cNvSpPr txBox="1"/>
          <p:nvPr/>
        </p:nvSpPr>
        <p:spPr>
          <a:xfrm>
            <a:off x="6283789" y="2570131"/>
            <a:ext cx="1305485" cy="194024"/>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PW over LDP</a:t>
            </a:r>
            <a:endParaRPr lang="en-US" sz="1600" dirty="0">
              <a:latin typeface="Arial" panose="020B0604020202020204"/>
            </a:endParaRPr>
          </a:p>
        </p:txBody>
      </p:sp>
      <p:sp>
        <p:nvSpPr>
          <p:cNvPr id="30" name="TextBox 29">
            <a:extLst>
              <a:ext uri="{FF2B5EF4-FFF2-40B4-BE49-F238E27FC236}">
                <a16:creationId xmlns:a16="http://schemas.microsoft.com/office/drawing/2014/main" id="{16B1E27F-AD0A-1849-D057-CCBBC0BDE634}"/>
              </a:ext>
            </a:extLst>
          </p:cNvPr>
          <p:cNvSpPr txBox="1"/>
          <p:nvPr/>
        </p:nvSpPr>
        <p:spPr>
          <a:xfrm>
            <a:off x="3996030" y="6462191"/>
            <a:ext cx="759393" cy="25837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ISISv6</a:t>
            </a:r>
            <a:endPar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endParaRPr>
          </a:p>
        </p:txBody>
      </p:sp>
    </p:spTree>
    <p:extLst>
      <p:ext uri="{BB962C8B-B14F-4D97-AF65-F5344CB8AC3E}">
        <p14:creationId xmlns:p14="http://schemas.microsoft.com/office/powerpoint/2010/main" val="1141251256"/>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 Placeholder 53">
            <a:extLst>
              <a:ext uri="{FF2B5EF4-FFF2-40B4-BE49-F238E27FC236}">
                <a16:creationId xmlns:a16="http://schemas.microsoft.com/office/drawing/2014/main" id="{644DD39E-246C-C23C-7452-137473BA63D9}"/>
              </a:ext>
            </a:extLst>
          </p:cNvPr>
          <p:cNvSpPr>
            <a:spLocks noGrp="1"/>
          </p:cNvSpPr>
          <p:nvPr>
            <p:ph type="body" sz="quarter" idx="10"/>
          </p:nvPr>
        </p:nvSpPr>
        <p:spPr/>
        <p:txBody>
          <a:bodyPr/>
          <a:lstStyle/>
          <a:p>
            <a:r>
              <a:rPr lang="en-US" dirty="0" err="1"/>
              <a:t>Step1</a:t>
            </a:r>
            <a:r>
              <a:rPr lang="en-US" dirty="0"/>
              <a:t>: Enable EVPN </a:t>
            </a:r>
          </a:p>
          <a:p>
            <a:pPr marL="0" indent="0">
              <a:lnSpc>
                <a:spcPts val="1000"/>
              </a:lnSpc>
              <a:buNone/>
            </a:pPr>
            <a:r>
              <a:rPr lang="en-US" dirty="0"/>
              <a:t>               on SRv6 PEs</a:t>
            </a:r>
            <a:endParaRPr lang="en-US" dirty="0">
              <a:solidFill>
                <a:schemeClr val="accent4">
                  <a:lumMod val="75000"/>
                </a:schemeClr>
              </a:solidFill>
            </a:endParaRPr>
          </a:p>
        </p:txBody>
      </p:sp>
      <p:sp>
        <p:nvSpPr>
          <p:cNvPr id="3" name="Text Placeholder 2">
            <a:extLst>
              <a:ext uri="{FF2B5EF4-FFF2-40B4-BE49-F238E27FC236}">
                <a16:creationId xmlns:a16="http://schemas.microsoft.com/office/drawing/2014/main" id="{D468842C-E9AA-4882-EC44-4597C8EA2A45}"/>
              </a:ext>
            </a:extLst>
          </p:cNvPr>
          <p:cNvSpPr>
            <a:spLocks noGrp="1"/>
          </p:cNvSpPr>
          <p:nvPr>
            <p:ph type="body" sz="quarter" idx="11"/>
          </p:nvPr>
        </p:nvSpPr>
        <p:spPr>
          <a:xfrm>
            <a:off x="873918" y="12461"/>
            <a:ext cx="10444163" cy="773017"/>
          </a:xfrm>
        </p:spPr>
        <p:txBody>
          <a:bodyPr/>
          <a:lstStyle/>
          <a:p>
            <a:r>
              <a:rPr lang="en-US" dirty="0">
                <a:solidFill>
                  <a:schemeClr val="bg1">
                    <a:lumMod val="50000"/>
                  </a:schemeClr>
                </a:solidFill>
              </a:rPr>
              <a:t>L2VPN </a:t>
            </a:r>
            <a:r>
              <a:rPr lang="en-US" dirty="0"/>
              <a:t>- VPWS to SRv6 migration</a:t>
            </a:r>
            <a:endParaRPr lang="en-US" dirty="0">
              <a:solidFill>
                <a:schemeClr val="bg1">
                  <a:lumMod val="50000"/>
                </a:schemeClr>
              </a:solidFill>
            </a:endParaRPr>
          </a:p>
        </p:txBody>
      </p:sp>
      <p:sp>
        <p:nvSpPr>
          <p:cNvPr id="8" name="Oval 7">
            <a:extLst>
              <a:ext uri="{FF2B5EF4-FFF2-40B4-BE49-F238E27FC236}">
                <a16:creationId xmlns:a16="http://schemas.microsoft.com/office/drawing/2014/main" id="{993A2A87-8EB9-6614-516E-A2CB823D3BFE}"/>
              </a:ext>
            </a:extLst>
          </p:cNvPr>
          <p:cNvSpPr/>
          <p:nvPr/>
        </p:nvSpPr>
        <p:spPr>
          <a:xfrm>
            <a:off x="2861187" y="2743878"/>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PE-1</a:t>
            </a:r>
          </a:p>
        </p:txBody>
      </p:sp>
      <p:sp>
        <p:nvSpPr>
          <p:cNvPr id="9" name="Oval 8">
            <a:extLst>
              <a:ext uri="{FF2B5EF4-FFF2-40B4-BE49-F238E27FC236}">
                <a16:creationId xmlns:a16="http://schemas.microsoft.com/office/drawing/2014/main" id="{DBB2B752-AE8F-9DC3-0D63-E500CBE67C94}"/>
              </a:ext>
            </a:extLst>
          </p:cNvPr>
          <p:cNvSpPr/>
          <p:nvPr/>
        </p:nvSpPr>
        <p:spPr>
          <a:xfrm>
            <a:off x="2625213" y="3050586"/>
            <a:ext cx="471948" cy="459402"/>
          </a:xfrm>
          <a:prstGeom prst="ellipse">
            <a:avLst/>
          </a:prstGeom>
          <a:solidFill>
            <a:schemeClr val="accent3">
              <a:lumMod val="75000"/>
            </a:schemeClr>
          </a:solidFill>
          <a:ln w="508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E0851D-CFCC-8023-A043-3964DDC76594}"/>
              </a:ext>
            </a:extLst>
          </p:cNvPr>
          <p:cNvSpPr/>
          <p:nvPr/>
        </p:nvSpPr>
        <p:spPr>
          <a:xfrm>
            <a:off x="5225845" y="1461634"/>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P-2</a:t>
            </a:r>
          </a:p>
        </p:txBody>
      </p:sp>
      <p:sp>
        <p:nvSpPr>
          <p:cNvPr id="11" name="Oval 10">
            <a:extLst>
              <a:ext uri="{FF2B5EF4-FFF2-40B4-BE49-F238E27FC236}">
                <a16:creationId xmlns:a16="http://schemas.microsoft.com/office/drawing/2014/main" id="{341588A8-533B-B65D-2813-E637BE0322E3}"/>
              </a:ext>
            </a:extLst>
          </p:cNvPr>
          <p:cNvSpPr/>
          <p:nvPr/>
        </p:nvSpPr>
        <p:spPr>
          <a:xfrm>
            <a:off x="5225845"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P-3</a:t>
            </a:r>
          </a:p>
        </p:txBody>
      </p:sp>
      <p:sp>
        <p:nvSpPr>
          <p:cNvPr id="12" name="Oval 11">
            <a:extLst>
              <a:ext uri="{FF2B5EF4-FFF2-40B4-BE49-F238E27FC236}">
                <a16:creationId xmlns:a16="http://schemas.microsoft.com/office/drawing/2014/main" id="{88820713-3A40-9E92-5017-307E1BA5FCFB}"/>
              </a:ext>
            </a:extLst>
          </p:cNvPr>
          <p:cNvSpPr/>
          <p:nvPr/>
        </p:nvSpPr>
        <p:spPr>
          <a:xfrm>
            <a:off x="8091948" y="1461633"/>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PE-4</a:t>
            </a:r>
          </a:p>
        </p:txBody>
      </p:sp>
      <p:sp>
        <p:nvSpPr>
          <p:cNvPr id="13" name="Oval 12">
            <a:extLst>
              <a:ext uri="{FF2B5EF4-FFF2-40B4-BE49-F238E27FC236}">
                <a16:creationId xmlns:a16="http://schemas.microsoft.com/office/drawing/2014/main" id="{34EEF5FE-F3A6-1D78-CBD1-D19B71E84401}"/>
              </a:ext>
            </a:extLst>
          </p:cNvPr>
          <p:cNvSpPr/>
          <p:nvPr/>
        </p:nvSpPr>
        <p:spPr>
          <a:xfrm>
            <a:off x="8091948" y="4121259"/>
            <a:ext cx="1061884" cy="1072819"/>
          </a:xfrm>
          <a:prstGeom prst="ellipse">
            <a:avLst/>
          </a:prstGeom>
          <a:solidFill>
            <a:schemeClr val="accent3">
              <a:lumMod val="50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PE-5</a:t>
            </a:r>
          </a:p>
        </p:txBody>
      </p:sp>
      <p:sp>
        <p:nvSpPr>
          <p:cNvPr id="14" name="Oval 13">
            <a:extLst>
              <a:ext uri="{FF2B5EF4-FFF2-40B4-BE49-F238E27FC236}">
                <a16:creationId xmlns:a16="http://schemas.microsoft.com/office/drawing/2014/main" id="{A33A844A-10F7-FA25-02CA-BE1263DA1218}"/>
              </a:ext>
            </a:extLst>
          </p:cNvPr>
          <p:cNvSpPr/>
          <p:nvPr/>
        </p:nvSpPr>
        <p:spPr>
          <a:xfrm>
            <a:off x="6744928" y="5296213"/>
            <a:ext cx="1061884" cy="1072819"/>
          </a:xfrm>
          <a:prstGeom prst="ellipse">
            <a:avLst/>
          </a:prstGeom>
          <a:solidFill>
            <a:schemeClr val="accent3">
              <a:lumMod val="75000"/>
            </a:schemeClr>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RRv4</a:t>
            </a:r>
            <a:endParaRPr lang="en-US" sz="1600" dirty="0"/>
          </a:p>
        </p:txBody>
      </p:sp>
      <p:sp>
        <p:nvSpPr>
          <p:cNvPr id="17" name="TextBox 16">
            <a:extLst>
              <a:ext uri="{FF2B5EF4-FFF2-40B4-BE49-F238E27FC236}">
                <a16:creationId xmlns:a16="http://schemas.microsoft.com/office/drawing/2014/main" id="{DCABD92B-4299-3F62-AB81-C71EAEFBC20B}"/>
              </a:ext>
            </a:extLst>
          </p:cNvPr>
          <p:cNvSpPr txBox="1"/>
          <p:nvPr/>
        </p:nvSpPr>
        <p:spPr>
          <a:xfrm>
            <a:off x="353960" y="1793224"/>
            <a:ext cx="2351717" cy="1412092"/>
          </a:xfrm>
          <a:prstGeom prst="rect">
            <a:avLst/>
          </a:prstGeom>
        </p:spPr>
        <p:txBody>
          <a:bodyPr vert="horz" wrap="squar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2400" b="1" i="0" u="none" strike="noStrike" kern="1200" cap="none" spc="0" normalizeH="0" baseline="0" noProof="0" dirty="0">
                <a:ln>
                  <a:noFill/>
                </a:ln>
                <a:effectLst/>
                <a:uLnTx/>
                <a:uFillTx/>
                <a:latin typeface="Arial" panose="020B0604020202020204"/>
                <a:ea typeface="+mn-ea"/>
                <a:cs typeface="+mn-cs"/>
              </a:rPr>
              <a:t>xconnect 2002</a:t>
            </a:r>
          </a:p>
          <a:p>
            <a: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pPr>
            <a:r>
              <a:rPr lang="en-US" sz="2000" dirty="0">
                <a:latin typeface="Arial" panose="020B0604020202020204"/>
              </a:rPr>
              <a:t>P2P</a:t>
            </a:r>
          </a:p>
          <a:p>
            <a:pPr marR="0" algn="l" defTabSz="914400" rtl="0" eaLnBrk="1" fontAlgn="auto" latinLnBrk="0" hangingPunct="1">
              <a:lnSpc>
                <a:spcPct val="90000"/>
              </a:lnSpc>
              <a:spcBef>
                <a:spcPts val="1000"/>
              </a:spcBef>
              <a:spcAft>
                <a:spcPts val="0"/>
              </a:spcAft>
              <a:buClrTx/>
              <a:buSzTx/>
              <a:tabLst/>
            </a:pPr>
            <a:r>
              <a:rPr kumimoji="0" lang="en-US" sz="2000" i="0" u="none" strike="noStrike" kern="1200" cap="none" spc="0" normalizeH="0" baseline="0" noProof="0" dirty="0">
                <a:ln>
                  <a:noFill/>
                </a:ln>
                <a:effectLst/>
                <a:uLnTx/>
                <a:uFillTx/>
                <a:latin typeface="Arial" panose="020B0604020202020204"/>
                <a:ea typeface="+mn-ea"/>
                <a:cs typeface="+mn-cs"/>
              </a:rPr>
              <a:t>     </a:t>
            </a:r>
            <a:r>
              <a:rPr lang="en-US" sz="2000" dirty="0">
                <a:latin typeface="Arial" panose="020B0604020202020204"/>
              </a:rPr>
              <a:t>VPWS + EVPN</a:t>
            </a:r>
            <a:endParaRPr kumimoji="0" lang="en-US" sz="2000" i="0" u="none" strike="noStrike" kern="1200" cap="none" spc="0" normalizeH="0" baseline="0" noProof="0" dirty="0">
              <a:ln>
                <a:noFill/>
              </a:ln>
              <a:effectLst/>
              <a:uLnTx/>
              <a:uFillTx/>
              <a:latin typeface="Arial" panose="020B0604020202020204"/>
              <a:ea typeface="+mn-ea"/>
              <a:cs typeface="+mn-cs"/>
            </a:endParaRPr>
          </a:p>
        </p:txBody>
      </p:sp>
      <p:sp>
        <p:nvSpPr>
          <p:cNvPr id="18" name="Oval 17">
            <a:extLst>
              <a:ext uri="{FF2B5EF4-FFF2-40B4-BE49-F238E27FC236}">
                <a16:creationId xmlns:a16="http://schemas.microsoft.com/office/drawing/2014/main" id="{C5A9DFEF-4947-F2F1-A76D-8AC479436895}"/>
              </a:ext>
            </a:extLst>
          </p:cNvPr>
          <p:cNvSpPr/>
          <p:nvPr/>
        </p:nvSpPr>
        <p:spPr>
          <a:xfrm>
            <a:off x="229906" y="2583736"/>
            <a:ext cx="471948" cy="459402"/>
          </a:xfrm>
          <a:prstGeom prst="ellipse">
            <a:avLst/>
          </a:prstGeom>
          <a:solidFill>
            <a:schemeClr val="accent3">
              <a:lumMod val="75000"/>
            </a:schemeClr>
          </a:solidFill>
          <a:ln w="508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F7ADD5B5-1DE1-9F97-8D34-DA0DCA03396A}"/>
              </a:ext>
            </a:extLst>
          </p:cNvPr>
          <p:cNvSpPr/>
          <p:nvPr/>
        </p:nvSpPr>
        <p:spPr>
          <a:xfrm>
            <a:off x="8917858" y="1768341"/>
            <a:ext cx="471948" cy="459402"/>
          </a:xfrm>
          <a:prstGeom prst="ellipse">
            <a:avLst/>
          </a:prstGeom>
          <a:solidFill>
            <a:schemeClr val="accent3">
              <a:lumMod val="75000"/>
            </a:schemeClr>
          </a:solidFill>
          <a:ln w="508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6313A627-B0A9-C701-976E-3F14F76CF28D}"/>
              </a:ext>
            </a:extLst>
          </p:cNvPr>
          <p:cNvCxnSpPr>
            <a:stCxn id="10" idx="6"/>
            <a:endCxn id="12" idx="2"/>
          </p:cNvCxnSpPr>
          <p:nvPr/>
        </p:nvCxnSpPr>
        <p:spPr>
          <a:xfrm flipV="1">
            <a:off x="6287729" y="1998043"/>
            <a:ext cx="1804219" cy="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A7F45EA-CD46-5772-EAFD-4AAC01B7BFC8}"/>
              </a:ext>
            </a:extLst>
          </p:cNvPr>
          <p:cNvCxnSpPr>
            <a:cxnSpLocks/>
            <a:stCxn id="11" idx="7"/>
          </p:cNvCxnSpPr>
          <p:nvPr/>
        </p:nvCxnSpPr>
        <p:spPr>
          <a:xfrm flipV="1">
            <a:off x="6132220" y="2336659"/>
            <a:ext cx="2083535" cy="1941711"/>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E852CC6-3C63-30D9-93E0-B76FA8598344}"/>
              </a:ext>
            </a:extLst>
          </p:cNvPr>
          <p:cNvCxnSpPr>
            <a:cxnSpLocks/>
            <a:stCxn id="12" idx="4"/>
          </p:cNvCxnSpPr>
          <p:nvPr/>
        </p:nvCxnSpPr>
        <p:spPr>
          <a:xfrm>
            <a:off x="8622890" y="2534452"/>
            <a:ext cx="0" cy="1592852"/>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BDE2377-063B-01BF-3CB6-05F3FBF4C424}"/>
              </a:ext>
            </a:extLst>
          </p:cNvPr>
          <p:cNvCxnSpPr>
            <a:cxnSpLocks/>
            <a:stCxn id="11" idx="6"/>
            <a:endCxn id="13" idx="2"/>
          </p:cNvCxnSpPr>
          <p:nvPr/>
        </p:nvCxnSpPr>
        <p:spPr>
          <a:xfrm>
            <a:off x="6287729" y="4657669"/>
            <a:ext cx="1804219"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F49B32-4149-6A9F-D7CA-BABCA0E7A0A6}"/>
              </a:ext>
            </a:extLst>
          </p:cNvPr>
          <p:cNvCxnSpPr>
            <a:cxnSpLocks/>
            <a:stCxn id="10" idx="4"/>
            <a:endCxn id="11" idx="0"/>
          </p:cNvCxnSpPr>
          <p:nvPr/>
        </p:nvCxnSpPr>
        <p:spPr>
          <a:xfrm>
            <a:off x="5756787" y="2534453"/>
            <a:ext cx="0" cy="1586806"/>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FB43A74-B938-0C85-4049-B54CC5E87491}"/>
              </a:ext>
            </a:extLst>
          </p:cNvPr>
          <p:cNvCxnSpPr>
            <a:cxnSpLocks/>
            <a:endCxn id="11" idx="2"/>
          </p:cNvCxnSpPr>
          <p:nvPr/>
        </p:nvCxnSpPr>
        <p:spPr>
          <a:xfrm>
            <a:off x="3767562" y="3644526"/>
            <a:ext cx="1458283" cy="1013143"/>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9A3A119-7341-52D5-CD04-1C055CBC3D2C}"/>
              </a:ext>
            </a:extLst>
          </p:cNvPr>
          <p:cNvCxnSpPr>
            <a:cxnSpLocks/>
            <a:stCxn id="8" idx="7"/>
            <a:endCxn id="10" idx="2"/>
          </p:cNvCxnSpPr>
          <p:nvPr/>
        </p:nvCxnSpPr>
        <p:spPr>
          <a:xfrm flipV="1">
            <a:off x="3767562" y="1998044"/>
            <a:ext cx="1458283" cy="902945"/>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AA5A7C64-24D0-F310-9369-5EE60113D0DD}"/>
              </a:ext>
            </a:extLst>
          </p:cNvPr>
          <p:cNvSpPr txBox="1"/>
          <p:nvPr/>
        </p:nvSpPr>
        <p:spPr>
          <a:xfrm>
            <a:off x="2654461" y="3946135"/>
            <a:ext cx="1374465" cy="711533"/>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lang="en-US" sz="1600" b="1" dirty="0">
                <a:solidFill>
                  <a:schemeClr val="accent4">
                    <a:lumMod val="75000"/>
                  </a:schemeClr>
                </a:solidFill>
                <a:latin typeface="Arial" panose="020B0604020202020204"/>
              </a:rPr>
              <a:t> </a:t>
            </a:r>
            <a:r>
              <a:rPr lang="en-US" sz="1600" dirty="0">
                <a:latin typeface="Arial" panose="020B0604020202020204"/>
              </a:rPr>
              <a:t>+ SRv6</a:t>
            </a:r>
          </a:p>
        </p:txBody>
      </p:sp>
      <p:sp>
        <p:nvSpPr>
          <p:cNvPr id="49" name="TextBox 48">
            <a:extLst>
              <a:ext uri="{FF2B5EF4-FFF2-40B4-BE49-F238E27FC236}">
                <a16:creationId xmlns:a16="http://schemas.microsoft.com/office/drawing/2014/main" id="{EB9FF396-0612-A9EE-123E-7055BFAED65E}"/>
              </a:ext>
            </a:extLst>
          </p:cNvPr>
          <p:cNvSpPr txBox="1"/>
          <p:nvPr/>
        </p:nvSpPr>
        <p:spPr>
          <a:xfrm>
            <a:off x="6588637" y="6372412"/>
            <a:ext cx="1374465" cy="283003"/>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endPar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endParaRPr>
          </a:p>
        </p:txBody>
      </p:sp>
      <p:cxnSp>
        <p:nvCxnSpPr>
          <p:cNvPr id="50" name="Straight Connector 49">
            <a:extLst>
              <a:ext uri="{FF2B5EF4-FFF2-40B4-BE49-F238E27FC236}">
                <a16:creationId xmlns:a16="http://schemas.microsoft.com/office/drawing/2014/main" id="{32AC3523-6F39-6CDD-5466-A394276895B0}"/>
              </a:ext>
            </a:extLst>
          </p:cNvPr>
          <p:cNvCxnSpPr>
            <a:cxnSpLocks/>
            <a:stCxn id="11" idx="5"/>
            <a:endCxn id="14" idx="1"/>
          </p:cNvCxnSpPr>
          <p:nvPr/>
        </p:nvCxnSpPr>
        <p:spPr>
          <a:xfrm>
            <a:off x="6132220" y="5036967"/>
            <a:ext cx="768217" cy="41635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C26D65D-05EF-FF2F-EBB6-12EF5D9AEE7B}"/>
              </a:ext>
            </a:extLst>
          </p:cNvPr>
          <p:cNvSpPr txBox="1"/>
          <p:nvPr/>
        </p:nvSpPr>
        <p:spPr>
          <a:xfrm>
            <a:off x="5064109" y="5286376"/>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4" name="TextBox 3">
            <a:extLst>
              <a:ext uri="{FF2B5EF4-FFF2-40B4-BE49-F238E27FC236}">
                <a16:creationId xmlns:a16="http://schemas.microsoft.com/office/drawing/2014/main" id="{D9AA12F4-1770-F159-C6DB-8E028F5D9759}"/>
              </a:ext>
            </a:extLst>
          </p:cNvPr>
          <p:cNvSpPr txBox="1"/>
          <p:nvPr/>
        </p:nvSpPr>
        <p:spPr>
          <a:xfrm>
            <a:off x="5132763" y="949213"/>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5" name="TextBox 4">
            <a:extLst>
              <a:ext uri="{FF2B5EF4-FFF2-40B4-BE49-F238E27FC236}">
                <a16:creationId xmlns:a16="http://schemas.microsoft.com/office/drawing/2014/main" id="{F20EC0DB-1B35-01BD-1164-A60ADEB8EA97}"/>
              </a:ext>
            </a:extLst>
          </p:cNvPr>
          <p:cNvSpPr txBox="1"/>
          <p:nvPr/>
        </p:nvSpPr>
        <p:spPr>
          <a:xfrm>
            <a:off x="7935657" y="95957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r>
              <a:rPr lang="en-US" sz="1600" dirty="0">
                <a:latin typeface="Arial" panose="020B0604020202020204"/>
              </a:rPr>
              <a:t> + SRv6</a:t>
            </a:r>
          </a:p>
        </p:txBody>
      </p:sp>
      <p:sp>
        <p:nvSpPr>
          <p:cNvPr id="6" name="TextBox 5">
            <a:extLst>
              <a:ext uri="{FF2B5EF4-FFF2-40B4-BE49-F238E27FC236}">
                <a16:creationId xmlns:a16="http://schemas.microsoft.com/office/drawing/2014/main" id="{C92528FF-DFC8-807F-35EC-6AEB2901F35D}"/>
              </a:ext>
            </a:extLst>
          </p:cNvPr>
          <p:cNvSpPr txBox="1"/>
          <p:nvPr/>
        </p:nvSpPr>
        <p:spPr>
          <a:xfrm>
            <a:off x="8015341" y="5266930"/>
            <a:ext cx="1374465" cy="481832"/>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ISISv4</a:t>
            </a:r>
            <a:r>
              <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rPr>
              <a:t> + LDP</a:t>
            </a:r>
          </a:p>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chemeClr val="accent4">
                    <a:lumMod val="75000"/>
                  </a:schemeClr>
                </a:solidFill>
                <a:effectLst/>
                <a:uLnTx/>
                <a:uFillTx/>
                <a:latin typeface="Arial" panose="020B0604020202020204"/>
                <a:ea typeface="+mn-ea"/>
                <a:cs typeface="+mn-cs"/>
              </a:rPr>
              <a:t> </a:t>
            </a:r>
            <a:r>
              <a:rPr lang="en-US" sz="1600" dirty="0">
                <a:latin typeface="Arial" panose="020B0604020202020204"/>
              </a:rPr>
              <a:t>+ </a:t>
            </a:r>
            <a:r>
              <a:rPr lang="en-US" sz="1600" dirty="0" err="1">
                <a:latin typeface="Arial" panose="020B0604020202020204"/>
              </a:rPr>
              <a:t>ISISv6</a:t>
            </a:r>
            <a:endParaRPr lang="en-US" sz="1600" dirty="0">
              <a:latin typeface="Arial" panose="020B0604020202020204"/>
            </a:endParaRPr>
          </a:p>
        </p:txBody>
      </p:sp>
      <p:sp>
        <p:nvSpPr>
          <p:cNvPr id="7" name="Oval 6">
            <a:extLst>
              <a:ext uri="{FF2B5EF4-FFF2-40B4-BE49-F238E27FC236}">
                <a16:creationId xmlns:a16="http://schemas.microsoft.com/office/drawing/2014/main" id="{7107F0F5-5264-3C51-408B-196E23D21C09}"/>
              </a:ext>
            </a:extLst>
          </p:cNvPr>
          <p:cNvSpPr/>
          <p:nvPr/>
        </p:nvSpPr>
        <p:spPr>
          <a:xfrm>
            <a:off x="3849048" y="5296213"/>
            <a:ext cx="1061884" cy="1072819"/>
          </a:xfrm>
          <a:prstGeom prst="ellipse">
            <a:avLst/>
          </a:prstGeom>
          <a:solidFill>
            <a:schemeClr val="accent3">
              <a:lumMod val="75000"/>
            </a:schemeClr>
          </a:solidFill>
          <a:ln w="635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bg1"/>
                </a:solidFill>
              </a:rPr>
              <a:t>RRv6</a:t>
            </a:r>
            <a:endParaRPr lang="en-US" sz="1600" dirty="0">
              <a:solidFill>
                <a:schemeClr val="bg1"/>
              </a:solidFill>
            </a:endParaRPr>
          </a:p>
        </p:txBody>
      </p:sp>
      <p:cxnSp>
        <p:nvCxnSpPr>
          <p:cNvPr id="15" name="Straight Connector 14">
            <a:extLst>
              <a:ext uri="{FF2B5EF4-FFF2-40B4-BE49-F238E27FC236}">
                <a16:creationId xmlns:a16="http://schemas.microsoft.com/office/drawing/2014/main" id="{3E97CA9D-FC9A-0C61-9CEE-DCD0C454E893}"/>
              </a:ext>
            </a:extLst>
          </p:cNvPr>
          <p:cNvCxnSpPr>
            <a:cxnSpLocks/>
            <a:stCxn id="7" idx="7"/>
            <a:endCxn id="11" idx="3"/>
          </p:cNvCxnSpPr>
          <p:nvPr/>
        </p:nvCxnSpPr>
        <p:spPr>
          <a:xfrm flipV="1">
            <a:off x="4755423" y="5036967"/>
            <a:ext cx="625931" cy="416357"/>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1BE30D1-0A33-396A-DEBF-AFC8477DDA56}"/>
              </a:ext>
            </a:extLst>
          </p:cNvPr>
          <p:cNvCxnSpPr>
            <a:cxnSpLocks/>
          </p:cNvCxnSpPr>
          <p:nvPr/>
        </p:nvCxnSpPr>
        <p:spPr>
          <a:xfrm flipV="1">
            <a:off x="3923071" y="2151904"/>
            <a:ext cx="4092270" cy="805550"/>
          </a:xfrm>
          <a:prstGeom prst="straightConnector1">
            <a:avLst/>
          </a:prstGeom>
          <a:ln w="508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168350E7-8301-0EB0-92DB-CF4DA74DACBE}"/>
              </a:ext>
            </a:extLst>
          </p:cNvPr>
          <p:cNvSpPr txBox="1"/>
          <p:nvPr/>
        </p:nvSpPr>
        <p:spPr>
          <a:xfrm>
            <a:off x="6283789" y="2570131"/>
            <a:ext cx="1305485" cy="194024"/>
          </a:xfrm>
          <a:prstGeom prst="rect">
            <a:avLst/>
          </a:prstGeom>
        </p:spPr>
        <p:txBody>
          <a:bodyPr vert="horz" wrap="none" lIns="91440" tIns="45720" rIns="91440" bIns="45720" rtlCol="0">
            <a:noAutofit/>
          </a:bodyPr>
          <a:lstStyle/>
          <a:p>
            <a:pPr marR="0" indent="0" algn="l" defTabSz="914400" rtl="0" eaLnBrk="1" fontAlgn="auto" latinLnBrk="0" hangingPunct="1">
              <a:lnSpc>
                <a:spcPts val="1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a:ln>
                  <a:noFill/>
                </a:ln>
                <a:solidFill>
                  <a:srgbClr val="7030A0"/>
                </a:solidFill>
                <a:effectLst/>
                <a:uLnTx/>
                <a:uFillTx/>
                <a:latin typeface="Arial" panose="020B0604020202020204"/>
                <a:ea typeface="+mn-ea"/>
                <a:cs typeface="+mn-cs"/>
              </a:rPr>
              <a:t>EVPN SRv6</a:t>
            </a:r>
            <a:endParaRPr lang="en-US" sz="1600" dirty="0">
              <a:solidFill>
                <a:srgbClr val="7030A0"/>
              </a:solidFill>
              <a:latin typeface="Arial" panose="020B0604020202020204"/>
            </a:endParaRPr>
          </a:p>
        </p:txBody>
      </p:sp>
      <p:sp>
        <p:nvSpPr>
          <p:cNvPr id="30" name="TextBox 29">
            <a:extLst>
              <a:ext uri="{FF2B5EF4-FFF2-40B4-BE49-F238E27FC236}">
                <a16:creationId xmlns:a16="http://schemas.microsoft.com/office/drawing/2014/main" id="{16B1E27F-AD0A-1849-D057-CCBBC0BDE634}"/>
              </a:ext>
            </a:extLst>
          </p:cNvPr>
          <p:cNvSpPr txBox="1"/>
          <p:nvPr/>
        </p:nvSpPr>
        <p:spPr>
          <a:xfrm>
            <a:off x="3996030" y="6462191"/>
            <a:ext cx="759393" cy="258377"/>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kumimoji="0" lang="en-US" sz="1600" i="0" u="none" strike="noStrike" kern="1200" cap="none" spc="0" normalizeH="0" baseline="0" noProof="0" dirty="0" err="1">
                <a:ln>
                  <a:noFill/>
                </a:ln>
                <a:solidFill>
                  <a:schemeClr val="tx1"/>
                </a:solidFill>
                <a:effectLst/>
                <a:uLnTx/>
                <a:uFillTx/>
                <a:latin typeface="Arial" panose="020B0604020202020204"/>
                <a:ea typeface="+mn-ea"/>
                <a:cs typeface="+mn-cs"/>
              </a:rPr>
              <a:t>ISISv6</a:t>
            </a:r>
            <a:endParaRPr kumimoji="0" lang="en-US" sz="1600" i="0" u="none" strike="noStrike" kern="1200" cap="none" spc="0" normalizeH="0" baseline="0" noProof="0" dirty="0">
              <a:ln>
                <a:noFill/>
              </a:ln>
              <a:solidFill>
                <a:schemeClr val="tx1"/>
              </a:solidFill>
              <a:effectLst/>
              <a:uLnTx/>
              <a:uFillTx/>
              <a:latin typeface="Arial" panose="020B0604020202020204"/>
              <a:ea typeface="+mn-ea"/>
              <a:cs typeface="+mn-cs"/>
            </a:endParaRPr>
          </a:p>
        </p:txBody>
      </p:sp>
    </p:spTree>
    <p:extLst>
      <p:ext uri="{BB962C8B-B14F-4D97-AF65-F5344CB8AC3E}">
        <p14:creationId xmlns:p14="http://schemas.microsoft.com/office/powerpoint/2010/main" val="4249093416"/>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0C4DE83-9298-809E-261F-86F4D10717BC}"/>
              </a:ext>
            </a:extLst>
          </p:cNvPr>
          <p:cNvSpPr>
            <a:spLocks noGrp="1"/>
          </p:cNvSpPr>
          <p:nvPr>
            <p:ph type="body" sz="quarter" idx="10"/>
          </p:nvPr>
        </p:nvSpPr>
        <p:spPr/>
        <p:txBody>
          <a:bodyPr/>
          <a:lstStyle/>
          <a:p>
            <a:endParaRPr lang="en-US" dirty="0"/>
          </a:p>
        </p:txBody>
      </p:sp>
      <p:sp>
        <p:nvSpPr>
          <p:cNvPr id="7" name="Text Placeholder 6">
            <a:extLst>
              <a:ext uri="{FF2B5EF4-FFF2-40B4-BE49-F238E27FC236}">
                <a16:creationId xmlns:a16="http://schemas.microsoft.com/office/drawing/2014/main" id="{6B0DEB13-3EF7-67DA-5148-FF05E855D34F}"/>
              </a:ext>
            </a:extLst>
          </p:cNvPr>
          <p:cNvSpPr>
            <a:spLocks noGrp="1"/>
          </p:cNvSpPr>
          <p:nvPr>
            <p:ph type="body" sz="quarter" idx="11"/>
          </p:nvPr>
        </p:nvSpPr>
        <p:spPr/>
        <p:txBody>
          <a:bodyPr/>
          <a:lstStyle/>
          <a:p>
            <a:r>
              <a:rPr lang="en-US" dirty="0"/>
              <a:t>Enable EVPN on SRv6 PEs</a:t>
            </a:r>
          </a:p>
        </p:txBody>
      </p:sp>
      <p:sp>
        <p:nvSpPr>
          <p:cNvPr id="8" name="Rectangle 7">
            <a:extLst>
              <a:ext uri="{FF2B5EF4-FFF2-40B4-BE49-F238E27FC236}">
                <a16:creationId xmlns:a16="http://schemas.microsoft.com/office/drawing/2014/main" id="{D22F8B01-6D02-D13E-6456-8B9B4FC1AEA8}"/>
              </a:ext>
            </a:extLst>
          </p:cNvPr>
          <p:cNvSpPr/>
          <p:nvPr/>
        </p:nvSpPr>
        <p:spPr>
          <a:xfrm>
            <a:off x="805092" y="889843"/>
            <a:ext cx="7729308" cy="5078313"/>
          </a:xfrm>
          <a:prstGeom prst="rect">
            <a:avLst/>
          </a:prstGeom>
          <a:solidFill>
            <a:schemeClr val="bg1">
              <a:lumMod val="95000"/>
            </a:schemeClr>
          </a:solidFill>
          <a:ln>
            <a:solidFill>
              <a:schemeClr val="tx1"/>
            </a:solidFill>
          </a:ln>
          <a:effectLst/>
        </p:spPr>
        <p:txBody>
          <a:bodyPr wrap="square">
            <a:spAutoFit/>
          </a:bodyPr>
          <a:lstStyle/>
          <a:p>
            <a:r>
              <a:rPr lang="en-US" dirty="0">
                <a:latin typeface="Consolas" panose="020B0609020204030204" pitchFamily="49" charset="0"/>
              </a:rPr>
              <a:t>l2vpn</a:t>
            </a:r>
          </a:p>
          <a:p>
            <a:r>
              <a:rPr lang="en-US" dirty="0">
                <a:latin typeface="Consolas" panose="020B0609020204030204" pitchFamily="49" charset="0"/>
              </a:rPr>
              <a:t> xconnect group 2002</a:t>
            </a:r>
          </a:p>
          <a:p>
            <a:r>
              <a:rPr lang="en-US" dirty="0">
                <a:latin typeface="Consolas" panose="020B0609020204030204" pitchFamily="49" charset="0"/>
              </a:rPr>
              <a:t>  </a:t>
            </a:r>
            <a:r>
              <a:rPr lang="en-US" dirty="0" err="1">
                <a:latin typeface="Consolas" panose="020B0609020204030204" pitchFamily="49" charset="0"/>
              </a:rPr>
              <a:t>p2p</a:t>
            </a:r>
            <a:r>
              <a:rPr lang="en-US" dirty="0">
                <a:latin typeface="Consolas" panose="020B0609020204030204" pitchFamily="49" charset="0"/>
              </a:rPr>
              <a:t> 2002</a:t>
            </a:r>
          </a:p>
          <a:p>
            <a:r>
              <a:rPr lang="en-US" dirty="0">
                <a:latin typeface="Consolas" panose="020B0609020204030204" pitchFamily="49" charset="0"/>
              </a:rPr>
              <a:t>   </a:t>
            </a:r>
            <a:r>
              <a:rPr lang="en-US" b="1" dirty="0" err="1">
                <a:solidFill>
                  <a:schemeClr val="accent6"/>
                </a:solidFill>
                <a:latin typeface="Consolas" panose="020B0609020204030204" pitchFamily="49" charset="0"/>
              </a:rPr>
              <a:t>vpws</a:t>
            </a:r>
            <a:r>
              <a:rPr lang="en-US" b="1" dirty="0">
                <a:solidFill>
                  <a:schemeClr val="accent6"/>
                </a:solidFill>
                <a:latin typeface="Consolas" panose="020B0609020204030204" pitchFamily="49" charset="0"/>
              </a:rPr>
              <a:t>-seamless-integration</a:t>
            </a:r>
          </a:p>
          <a:p>
            <a:r>
              <a:rPr lang="en-US" dirty="0">
                <a:latin typeface="Consolas" panose="020B0609020204030204" pitchFamily="49" charset="0"/>
              </a:rPr>
              <a:t>   interface </a:t>
            </a:r>
            <a:r>
              <a:rPr lang="en-US" dirty="0" err="1">
                <a:latin typeface="Consolas" panose="020B0609020204030204" pitchFamily="49" charset="0"/>
              </a:rPr>
              <a:t>TenGigE0</a:t>
            </a:r>
            <a:r>
              <a:rPr lang="en-US" dirty="0">
                <a:latin typeface="Consolas" panose="020B0609020204030204" pitchFamily="49" charset="0"/>
              </a:rPr>
              <a:t>/0/0/1.252</a:t>
            </a:r>
          </a:p>
          <a:p>
            <a:r>
              <a:rPr lang="en-US" dirty="0">
                <a:latin typeface="Consolas" panose="020B0609020204030204" pitchFamily="49" charset="0"/>
              </a:rPr>
              <a:t>   neighbor </a:t>
            </a:r>
            <a:r>
              <a:rPr lang="en-US" dirty="0" err="1">
                <a:latin typeface="Consolas" panose="020B0609020204030204" pitchFamily="49" charset="0"/>
              </a:rPr>
              <a:t>ipv4</a:t>
            </a:r>
            <a:r>
              <a:rPr lang="en-US" dirty="0">
                <a:latin typeface="Consolas" panose="020B0609020204030204" pitchFamily="49" charset="0"/>
              </a:rPr>
              <a:t> 26.26.26.26 pw-id 20022326</a:t>
            </a:r>
          </a:p>
          <a:p>
            <a:r>
              <a:rPr lang="en-US" dirty="0">
                <a:latin typeface="Consolas" panose="020B0609020204030204" pitchFamily="49" charset="0"/>
              </a:rPr>
              <a:t>  !</a:t>
            </a:r>
          </a:p>
          <a:p>
            <a:r>
              <a:rPr lang="en-US" dirty="0">
                <a:latin typeface="Consolas" panose="020B0609020204030204" pitchFamily="49" charset="0"/>
              </a:rPr>
              <a:t> !</a:t>
            </a:r>
          </a:p>
          <a:p>
            <a:r>
              <a:rPr lang="en-US" dirty="0">
                <a:latin typeface="Consolas" panose="020B0609020204030204" pitchFamily="49" charset="0"/>
              </a:rPr>
              <a:t> </a:t>
            </a:r>
            <a:r>
              <a:rPr lang="en-US" b="1" dirty="0" err="1">
                <a:latin typeface="Consolas" panose="020B0609020204030204" pitchFamily="49" charset="0"/>
              </a:rPr>
              <a:t>p2p</a:t>
            </a:r>
            <a:r>
              <a:rPr lang="en-US" b="1" dirty="0">
                <a:latin typeface="Consolas" panose="020B0609020204030204" pitchFamily="49" charset="0"/>
              </a:rPr>
              <a:t> 2002-</a:t>
            </a:r>
            <a:r>
              <a:rPr lang="en-US" b="1" dirty="0" err="1">
                <a:latin typeface="Consolas" panose="020B0609020204030204" pitchFamily="49" charset="0"/>
              </a:rPr>
              <a:t>evpn</a:t>
            </a:r>
            <a:endParaRPr lang="en-US" b="1" dirty="0">
              <a:latin typeface="Consolas" panose="020B0609020204030204" pitchFamily="49" charset="0"/>
            </a:endParaRPr>
          </a:p>
          <a:p>
            <a:r>
              <a:rPr lang="en-US" b="1" dirty="0">
                <a:latin typeface="Consolas" panose="020B0609020204030204" pitchFamily="49" charset="0"/>
              </a:rPr>
              <a:t>  interface </a:t>
            </a:r>
            <a:r>
              <a:rPr lang="en-US" b="1" dirty="0" err="1">
                <a:latin typeface="Consolas" panose="020B0609020204030204" pitchFamily="49" charset="0"/>
              </a:rPr>
              <a:t>TenGigE0</a:t>
            </a:r>
            <a:r>
              <a:rPr lang="en-US" b="1" dirty="0">
                <a:latin typeface="Consolas" panose="020B0609020204030204" pitchFamily="49" charset="0"/>
              </a:rPr>
              <a:t>/0/0/1.252</a:t>
            </a:r>
          </a:p>
          <a:p>
            <a:r>
              <a:rPr lang="en-US" b="1" dirty="0">
                <a:latin typeface="Consolas" panose="020B0609020204030204" pitchFamily="49" charset="0"/>
              </a:rPr>
              <a:t>  neighbor </a:t>
            </a:r>
            <a:r>
              <a:rPr lang="en-US" b="1" dirty="0" err="1">
                <a:latin typeface="Consolas" panose="020B0609020204030204" pitchFamily="49" charset="0"/>
              </a:rPr>
              <a:t>evpn</a:t>
            </a:r>
            <a:r>
              <a:rPr lang="en-US" b="1" dirty="0">
                <a:latin typeface="Consolas" panose="020B0609020204030204" pitchFamily="49" charset="0"/>
              </a:rPr>
              <a:t> </a:t>
            </a:r>
            <a:r>
              <a:rPr lang="en-US" b="1" dirty="0" err="1">
                <a:latin typeface="Consolas" panose="020B0609020204030204" pitchFamily="49" charset="0"/>
              </a:rPr>
              <a:t>evi</a:t>
            </a:r>
            <a:r>
              <a:rPr lang="en-US" b="1" dirty="0">
                <a:latin typeface="Consolas" panose="020B0609020204030204" pitchFamily="49" charset="0"/>
              </a:rPr>
              <a:t> </a:t>
            </a:r>
            <a:r>
              <a:rPr lang="en-US" b="1" dirty="0">
                <a:solidFill>
                  <a:srgbClr val="7030A0"/>
                </a:solidFill>
                <a:latin typeface="Consolas" panose="020B0609020204030204" pitchFamily="49" charset="0"/>
              </a:rPr>
              <a:t>2002</a:t>
            </a:r>
            <a:r>
              <a:rPr lang="en-US" b="1" dirty="0">
                <a:latin typeface="Consolas" panose="020B0609020204030204" pitchFamily="49" charset="0"/>
              </a:rPr>
              <a:t> service 2002 segment-routing </a:t>
            </a:r>
            <a:r>
              <a:rPr lang="en-US" b="1" dirty="0" err="1">
                <a:latin typeface="Consolas" panose="020B0609020204030204" pitchFamily="49" charset="0"/>
              </a:rPr>
              <a:t>srv6</a:t>
            </a:r>
            <a:endParaRPr lang="en-US" b="1" dirty="0">
              <a:latin typeface="Consolas" panose="020B0609020204030204" pitchFamily="49" charset="0"/>
            </a:endParaRPr>
          </a:p>
          <a:p>
            <a:r>
              <a:rPr lang="en-US" dirty="0">
                <a:latin typeface="Consolas" panose="020B0609020204030204" pitchFamily="49" charset="0"/>
              </a:rPr>
              <a:t>!</a:t>
            </a:r>
          </a:p>
          <a:p>
            <a:r>
              <a:rPr lang="en-US" dirty="0" err="1">
                <a:latin typeface="Consolas" panose="020B0609020204030204" pitchFamily="49" charset="0"/>
              </a:rPr>
              <a:t>evpn</a:t>
            </a:r>
            <a:endParaRPr lang="en-US" dirty="0">
              <a:latin typeface="Consolas" panose="020B0609020204030204" pitchFamily="49" charset="0"/>
            </a:endParaRPr>
          </a:p>
          <a:p>
            <a:r>
              <a:rPr lang="en-US" dirty="0">
                <a:latin typeface="Consolas" panose="020B0609020204030204" pitchFamily="49" charset="0"/>
              </a:rPr>
              <a:t> </a:t>
            </a:r>
            <a:r>
              <a:rPr lang="en-US" b="1" dirty="0" err="1">
                <a:solidFill>
                  <a:srgbClr val="7030A0"/>
                </a:solidFill>
                <a:latin typeface="Consolas" panose="020B0609020204030204" pitchFamily="49" charset="0"/>
              </a:rPr>
              <a:t>evi</a:t>
            </a:r>
            <a:r>
              <a:rPr lang="en-US" b="1" dirty="0">
                <a:solidFill>
                  <a:srgbClr val="7030A0"/>
                </a:solidFill>
                <a:latin typeface="Consolas" panose="020B0609020204030204" pitchFamily="49" charset="0"/>
              </a:rPr>
              <a:t> 2002 segment-routing </a:t>
            </a:r>
            <a:r>
              <a:rPr lang="en-US" b="1" dirty="0" err="1">
                <a:solidFill>
                  <a:srgbClr val="7030A0"/>
                </a:solidFill>
                <a:latin typeface="Consolas" panose="020B0609020204030204" pitchFamily="49" charset="0"/>
              </a:rPr>
              <a:t>srv6</a:t>
            </a:r>
            <a:endParaRPr lang="en-US" b="1" dirty="0">
              <a:solidFill>
                <a:srgbClr val="7030A0"/>
              </a:solidFill>
              <a:latin typeface="Consolas" panose="020B0609020204030204" pitchFamily="49" charset="0"/>
            </a:endParaRPr>
          </a:p>
          <a:p>
            <a:r>
              <a:rPr lang="en-US" b="1" dirty="0">
                <a:solidFill>
                  <a:srgbClr val="7030A0"/>
                </a:solidFill>
                <a:latin typeface="Consolas" panose="020B0609020204030204" pitchFamily="49" charset="0"/>
              </a:rPr>
              <a:t>  locator </a:t>
            </a:r>
            <a:r>
              <a:rPr lang="en-US" b="1" dirty="0">
                <a:solidFill>
                  <a:schemeClr val="accent4"/>
                </a:solidFill>
                <a:latin typeface="Consolas" panose="020B0609020204030204" pitchFamily="49" charset="0"/>
              </a:rPr>
              <a:t>MAIN</a:t>
            </a:r>
          </a:p>
          <a:p>
            <a:r>
              <a:rPr lang="en-US" dirty="0">
                <a:solidFill>
                  <a:srgbClr val="7030A0"/>
                </a:solidFill>
                <a:latin typeface="Consolas" panose="020B0609020204030204" pitchFamily="49" charset="0"/>
              </a:rPr>
              <a:t> !</a:t>
            </a:r>
          </a:p>
          <a:p>
            <a:r>
              <a:rPr lang="en-US" dirty="0">
                <a:latin typeface="Consolas" panose="020B0609020204030204" pitchFamily="49" charset="0"/>
              </a:rPr>
              <a:t> segment-routing </a:t>
            </a:r>
            <a:r>
              <a:rPr lang="en-US" dirty="0" err="1">
                <a:latin typeface="Consolas" panose="020B0609020204030204" pitchFamily="49" charset="0"/>
              </a:rPr>
              <a:t>srv6</a:t>
            </a:r>
            <a:endParaRPr lang="en-US" dirty="0">
              <a:latin typeface="Consolas" panose="020B0609020204030204" pitchFamily="49" charset="0"/>
            </a:endParaRPr>
          </a:p>
          <a:p>
            <a:r>
              <a:rPr lang="en-US" dirty="0">
                <a:latin typeface="Consolas" panose="020B0609020204030204" pitchFamily="49" charset="0"/>
              </a:rPr>
              <a:t>  locator </a:t>
            </a:r>
            <a:r>
              <a:rPr lang="en-US" dirty="0">
                <a:solidFill>
                  <a:schemeClr val="accent4"/>
                </a:solidFill>
                <a:latin typeface="Consolas" panose="020B0609020204030204" pitchFamily="49" charset="0"/>
              </a:rPr>
              <a:t>MAIN</a:t>
            </a:r>
          </a:p>
        </p:txBody>
      </p:sp>
      <p:sp>
        <p:nvSpPr>
          <p:cNvPr id="9" name="Callout: Line 8">
            <a:extLst>
              <a:ext uri="{FF2B5EF4-FFF2-40B4-BE49-F238E27FC236}">
                <a16:creationId xmlns:a16="http://schemas.microsoft.com/office/drawing/2014/main" id="{81E6BEDC-A52D-70D2-A0ED-39191BCC2246}"/>
              </a:ext>
            </a:extLst>
          </p:cNvPr>
          <p:cNvSpPr/>
          <p:nvPr/>
        </p:nvSpPr>
        <p:spPr>
          <a:xfrm>
            <a:off x="6978892" y="4467901"/>
            <a:ext cx="4935793" cy="339117"/>
          </a:xfrm>
          <a:prstGeom prst="borderCallout1">
            <a:avLst>
              <a:gd name="adj1" fmla="val 18750"/>
              <a:gd name="adj2" fmla="val -8333"/>
              <a:gd name="adj3" fmla="val 52340"/>
              <a:gd name="adj4" fmla="val -43057"/>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7030A0"/>
                </a:solidFill>
              </a:rPr>
              <a:t>Define EVPN </a:t>
            </a:r>
            <a:r>
              <a:rPr lang="en-US" dirty="0" err="1">
                <a:solidFill>
                  <a:srgbClr val="7030A0"/>
                </a:solidFill>
              </a:rPr>
              <a:t>EVI</a:t>
            </a:r>
            <a:endParaRPr lang="en-US" dirty="0">
              <a:solidFill>
                <a:srgbClr val="7030A0"/>
              </a:solidFill>
            </a:endParaRPr>
          </a:p>
        </p:txBody>
      </p:sp>
      <p:sp>
        <p:nvSpPr>
          <p:cNvPr id="2" name="Callout: Line 1">
            <a:extLst>
              <a:ext uri="{FF2B5EF4-FFF2-40B4-BE49-F238E27FC236}">
                <a16:creationId xmlns:a16="http://schemas.microsoft.com/office/drawing/2014/main" id="{2AACA4C3-1821-69CE-092F-C18A3E62E6F5}"/>
              </a:ext>
            </a:extLst>
          </p:cNvPr>
          <p:cNvSpPr/>
          <p:nvPr/>
        </p:nvSpPr>
        <p:spPr>
          <a:xfrm>
            <a:off x="6978893" y="1484055"/>
            <a:ext cx="4935793" cy="570887"/>
          </a:xfrm>
          <a:prstGeom prst="borderCallout1">
            <a:avLst>
              <a:gd name="adj1" fmla="val 18750"/>
              <a:gd name="adj2" fmla="val -8333"/>
              <a:gd name="adj3" fmla="val 77691"/>
              <a:gd name="adj4" fmla="val -4863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solidFill>
              </a:rPr>
              <a:t>Authorize dual attached of the AC </a:t>
            </a:r>
            <a:r>
              <a:rPr lang="en-US" sz="1400" dirty="0">
                <a:solidFill>
                  <a:schemeClr val="accent6"/>
                </a:solidFill>
              </a:rPr>
              <a:t>(you can configure the same AC to 2 different "</a:t>
            </a:r>
            <a:r>
              <a:rPr lang="en-US" sz="1400" dirty="0" err="1">
                <a:solidFill>
                  <a:schemeClr val="accent6"/>
                </a:solidFill>
              </a:rPr>
              <a:t>p2p</a:t>
            </a:r>
            <a:r>
              <a:rPr lang="en-US" sz="1400" dirty="0">
                <a:solidFill>
                  <a:schemeClr val="accent6"/>
                </a:solidFill>
              </a:rPr>
              <a:t>")</a:t>
            </a:r>
            <a:endParaRPr lang="en-US" dirty="0">
              <a:solidFill>
                <a:schemeClr val="accent6"/>
              </a:solidFill>
            </a:endParaRPr>
          </a:p>
        </p:txBody>
      </p:sp>
      <p:sp>
        <p:nvSpPr>
          <p:cNvPr id="3" name="Callout: Line 2">
            <a:extLst>
              <a:ext uri="{FF2B5EF4-FFF2-40B4-BE49-F238E27FC236}">
                <a16:creationId xmlns:a16="http://schemas.microsoft.com/office/drawing/2014/main" id="{E459DE81-4DF9-E210-F0B9-0E82EDA365B7}"/>
              </a:ext>
            </a:extLst>
          </p:cNvPr>
          <p:cNvSpPr/>
          <p:nvPr/>
        </p:nvSpPr>
        <p:spPr>
          <a:xfrm>
            <a:off x="6978892" y="3098328"/>
            <a:ext cx="4935793" cy="339117"/>
          </a:xfrm>
          <a:prstGeom prst="borderCallout1">
            <a:avLst>
              <a:gd name="adj1" fmla="val 18750"/>
              <a:gd name="adj2" fmla="val -8333"/>
              <a:gd name="adj3" fmla="val 52340"/>
              <a:gd name="adj4" fmla="val -43057"/>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Attach the </a:t>
            </a:r>
            <a:r>
              <a:rPr lang="en-US" dirty="0" err="1">
                <a:solidFill>
                  <a:schemeClr val="tx1"/>
                </a:solidFill>
              </a:rPr>
              <a:t>EVI</a:t>
            </a:r>
            <a:r>
              <a:rPr lang="en-US" dirty="0">
                <a:solidFill>
                  <a:schemeClr val="tx1"/>
                </a:solidFill>
              </a:rPr>
              <a:t> to a </a:t>
            </a:r>
            <a:r>
              <a:rPr lang="en-US" dirty="0" err="1">
                <a:solidFill>
                  <a:schemeClr val="tx1"/>
                </a:solidFill>
              </a:rPr>
              <a:t>nwe</a:t>
            </a:r>
            <a:r>
              <a:rPr lang="en-US" dirty="0">
                <a:solidFill>
                  <a:schemeClr val="tx1"/>
                </a:solidFill>
              </a:rPr>
              <a:t> xconnect</a:t>
            </a:r>
          </a:p>
        </p:txBody>
      </p:sp>
    </p:spTree>
    <p:extLst>
      <p:ext uri="{BB962C8B-B14F-4D97-AF65-F5344CB8AC3E}">
        <p14:creationId xmlns:p14="http://schemas.microsoft.com/office/powerpoint/2010/main" val="2097029772"/>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7DF76D3A-5E3E-4BC8-8F39-771134FF4322}"/>
              </a:ext>
            </a:extLst>
          </p:cNvPr>
          <p:cNvSpPr>
            <a:spLocks noGrp="1"/>
          </p:cNvSpPr>
          <p:nvPr>
            <p:ph type="body" idx="1"/>
          </p:nvPr>
        </p:nvSpPr>
        <p:spPr/>
        <p:txBody>
          <a:bodyPr/>
          <a:lstStyle/>
          <a:p>
            <a:r>
              <a:rPr lang="en-US" noProof="0" dirty="0"/>
              <a:t>IOS-XE</a:t>
            </a:r>
          </a:p>
        </p:txBody>
      </p:sp>
      <p:sp>
        <p:nvSpPr>
          <p:cNvPr id="2" name="Text Placeholder 1">
            <a:extLst>
              <a:ext uri="{FF2B5EF4-FFF2-40B4-BE49-F238E27FC236}">
                <a16:creationId xmlns:a16="http://schemas.microsoft.com/office/drawing/2014/main" id="{B367786B-A4DD-DB9E-9087-78A451525AAC}"/>
              </a:ext>
            </a:extLst>
          </p:cNvPr>
          <p:cNvSpPr>
            <a:spLocks noGrp="1"/>
          </p:cNvSpPr>
          <p:nvPr>
            <p:ph type="body" sz="quarter" idx="15"/>
          </p:nvPr>
        </p:nvSpPr>
        <p:spPr/>
        <p:txBody>
          <a:bodyPr/>
          <a:lstStyle/>
          <a:p>
            <a:r>
              <a:rPr lang="en-US" dirty="0">
                <a:cs typeface="Calibri" pitchFamily="34" charset="0"/>
              </a:rPr>
              <a:t>SRv6 and service migration</a:t>
            </a:r>
            <a:endParaRPr lang="cs-CZ" dirty="0"/>
          </a:p>
        </p:txBody>
      </p:sp>
      <p:sp>
        <p:nvSpPr>
          <p:cNvPr id="5" name="Zástupný text 4">
            <a:extLst>
              <a:ext uri="{FF2B5EF4-FFF2-40B4-BE49-F238E27FC236}">
                <a16:creationId xmlns:a16="http://schemas.microsoft.com/office/drawing/2014/main" id="{CA46CB7B-0002-4873-B253-4D2438CC3611}"/>
              </a:ext>
            </a:extLst>
          </p:cNvPr>
          <p:cNvSpPr>
            <a:spLocks noGrp="1"/>
          </p:cNvSpPr>
          <p:nvPr>
            <p:ph type="body" sz="quarter" idx="13"/>
          </p:nvPr>
        </p:nvSpPr>
        <p:spPr/>
        <p:txBody>
          <a:bodyPr/>
          <a:lstStyle/>
          <a:p>
            <a:r>
              <a:rPr lang="en-US" dirty="0"/>
              <a:t>Segment Routing MPLS and SRv6</a:t>
            </a:r>
          </a:p>
        </p:txBody>
      </p:sp>
      <p:sp>
        <p:nvSpPr>
          <p:cNvPr id="6" name="Zástupný text 5">
            <a:extLst>
              <a:ext uri="{FF2B5EF4-FFF2-40B4-BE49-F238E27FC236}">
                <a16:creationId xmlns:a16="http://schemas.microsoft.com/office/drawing/2014/main" id="{955FA430-FA92-4EB5-849C-E3D05AB9B217}"/>
              </a:ext>
            </a:extLst>
          </p:cNvPr>
          <p:cNvSpPr>
            <a:spLocks noGrp="1"/>
          </p:cNvSpPr>
          <p:nvPr>
            <p:ph type="body" sz="quarter" idx="14"/>
          </p:nvPr>
        </p:nvSpPr>
        <p:spPr/>
        <p:txBody>
          <a:bodyPr/>
          <a:lstStyle/>
          <a:p>
            <a:r>
              <a:rPr lang="en-US" dirty="0"/>
              <a:t>Platform specific</a:t>
            </a:r>
          </a:p>
        </p:txBody>
      </p:sp>
    </p:spTree>
    <p:extLst>
      <p:ext uri="{BB962C8B-B14F-4D97-AF65-F5344CB8AC3E}">
        <p14:creationId xmlns:p14="http://schemas.microsoft.com/office/powerpoint/2010/main" val="4081810257"/>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E816D3A-8A23-788F-629E-228A1DBBCB7D}"/>
              </a:ext>
            </a:extLst>
          </p:cNvPr>
          <p:cNvSpPr>
            <a:spLocks noGrp="1"/>
          </p:cNvSpPr>
          <p:nvPr>
            <p:ph type="body" sz="quarter" idx="11"/>
          </p:nvPr>
        </p:nvSpPr>
        <p:spPr/>
        <p:txBody>
          <a:bodyPr/>
          <a:lstStyle/>
          <a:p>
            <a:r>
              <a:rPr lang="en-US" dirty="0"/>
              <a:t>SRv6 IOS-XE</a:t>
            </a:r>
          </a:p>
        </p:txBody>
      </p:sp>
      <p:pic>
        <p:nvPicPr>
          <p:cNvPr id="5" name="Picture 4" descr="A screenshot of a computer&#10;&#10;AI-generated content may be incorrect.">
            <a:extLst>
              <a:ext uri="{FF2B5EF4-FFF2-40B4-BE49-F238E27FC236}">
                <a16:creationId xmlns:a16="http://schemas.microsoft.com/office/drawing/2014/main" id="{7E90CFF4-4353-54FF-8E29-A9E2DCCB0D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192" y="1379254"/>
            <a:ext cx="10775614" cy="4907705"/>
          </a:xfrm>
          <a:prstGeom prst="rect">
            <a:avLst/>
          </a:prstGeom>
        </p:spPr>
      </p:pic>
    </p:spTree>
    <p:extLst>
      <p:ext uri="{BB962C8B-B14F-4D97-AF65-F5344CB8AC3E}">
        <p14:creationId xmlns:p14="http://schemas.microsoft.com/office/powerpoint/2010/main" val="113342304"/>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355300C-34F2-4E9E-80A2-D28BE8EECFF4}"/>
              </a:ext>
            </a:extLst>
          </p:cNvPr>
          <p:cNvSpPr>
            <a:spLocks noGrp="1"/>
          </p:cNvSpPr>
          <p:nvPr>
            <p:ph type="body" sz="quarter" idx="10"/>
          </p:nvPr>
        </p:nvSpPr>
        <p:spPr/>
        <p:txBody>
          <a:bodyPr/>
          <a:lstStyle/>
          <a:p>
            <a:r>
              <a:rPr lang="en-US" dirty="0"/>
              <a:t>Supports uSID (</a:t>
            </a:r>
            <a:r>
              <a:rPr lang="en-US" dirty="0" err="1"/>
              <a:t>F3216</a:t>
            </a:r>
            <a:r>
              <a:rPr lang="en-US" dirty="0"/>
              <a:t>), consistent with customer deployment blueprint</a:t>
            </a:r>
          </a:p>
          <a:p>
            <a:r>
              <a:rPr lang="en-US" dirty="0"/>
              <a:t>Support End-behaviors*:</a:t>
            </a:r>
          </a:p>
          <a:p>
            <a:pPr lvl="1"/>
            <a:r>
              <a:rPr lang="en-US" dirty="0" err="1"/>
              <a:t>uN</a:t>
            </a:r>
            <a:r>
              <a:rPr lang="en-US" dirty="0"/>
              <a:t> (PSP/USD)</a:t>
            </a:r>
          </a:p>
          <a:p>
            <a:pPr lvl="1"/>
            <a:r>
              <a:rPr lang="en-US" dirty="0" err="1"/>
              <a:t>uA</a:t>
            </a:r>
            <a:r>
              <a:rPr lang="en-US" dirty="0"/>
              <a:t> (PSP/USD)</a:t>
            </a:r>
          </a:p>
          <a:p>
            <a:pPr lvl="1"/>
            <a:r>
              <a:rPr lang="en-US" dirty="0" err="1"/>
              <a:t>uDT6</a:t>
            </a:r>
            <a:endParaRPr lang="en-US" dirty="0"/>
          </a:p>
          <a:p>
            <a:pPr lvl="1"/>
            <a:r>
              <a:rPr lang="en-US" dirty="0" err="1"/>
              <a:t>uDT4</a:t>
            </a:r>
            <a:endParaRPr lang="en-US" dirty="0"/>
          </a:p>
          <a:p>
            <a:pPr lvl="1"/>
            <a:r>
              <a:rPr lang="en-US" dirty="0" err="1"/>
              <a:t>uDT46</a:t>
            </a:r>
            <a:endParaRPr lang="en-US" dirty="0"/>
          </a:p>
          <a:p>
            <a:r>
              <a:rPr lang="en-US" dirty="0"/>
              <a:t>Support Policy Headend behaviors*:</a:t>
            </a:r>
          </a:p>
          <a:p>
            <a:pPr lvl="1"/>
            <a:r>
              <a:rPr lang="en-US" dirty="0" err="1"/>
              <a:t>H.Encaps.Red</a:t>
            </a:r>
            <a:endParaRPr lang="en-US" dirty="0"/>
          </a:p>
          <a:p>
            <a:pPr marL="0" indent="0">
              <a:buNone/>
            </a:pPr>
            <a:r>
              <a:rPr lang="en-US" dirty="0"/>
              <a:t>*Behaviors reference: </a:t>
            </a:r>
            <a:r>
              <a:rPr lang="en-US" dirty="0" err="1"/>
              <a:t>rfc8986</a:t>
            </a:r>
            <a:endParaRPr lang="en-US" dirty="0"/>
          </a:p>
        </p:txBody>
      </p:sp>
      <p:sp>
        <p:nvSpPr>
          <p:cNvPr id="3" name="Text Placeholder 2">
            <a:extLst>
              <a:ext uri="{FF2B5EF4-FFF2-40B4-BE49-F238E27FC236}">
                <a16:creationId xmlns:a16="http://schemas.microsoft.com/office/drawing/2014/main" id="{3678E04C-6C30-2CDD-98B4-A845E2BA7AD5}"/>
              </a:ext>
            </a:extLst>
          </p:cNvPr>
          <p:cNvSpPr>
            <a:spLocks noGrp="1"/>
          </p:cNvSpPr>
          <p:nvPr>
            <p:ph type="body" sz="quarter" idx="11"/>
          </p:nvPr>
        </p:nvSpPr>
        <p:spPr/>
        <p:txBody>
          <a:bodyPr/>
          <a:lstStyle/>
          <a:p>
            <a:r>
              <a:rPr lang="en-US" dirty="0"/>
              <a:t>IOS XE SRv6 uSID and Behaviors</a:t>
            </a:r>
          </a:p>
        </p:txBody>
      </p:sp>
    </p:spTree>
    <p:extLst>
      <p:ext uri="{BB962C8B-B14F-4D97-AF65-F5344CB8AC3E}">
        <p14:creationId xmlns:p14="http://schemas.microsoft.com/office/powerpoint/2010/main" val="1540157959"/>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A1EBE2-716A-36EA-A2BC-6550D5217591}"/>
              </a:ext>
            </a:extLst>
          </p:cNvPr>
          <p:cNvSpPr>
            <a:spLocks noGrp="1"/>
          </p:cNvSpPr>
          <p:nvPr>
            <p:ph type="body" sz="quarter" idx="10"/>
          </p:nvPr>
        </p:nvSpPr>
        <p:spPr/>
        <p:txBody>
          <a:bodyPr/>
          <a:lstStyle/>
          <a:p>
            <a:r>
              <a:rPr lang="fr-FR" dirty="0"/>
              <a:t>Catalyst 8500/</a:t>
            </a:r>
            <a:r>
              <a:rPr lang="fr-FR" dirty="0" err="1"/>
              <a:t>8500L</a:t>
            </a:r>
            <a:endParaRPr lang="fr-FR" dirty="0"/>
          </a:p>
          <a:p>
            <a:r>
              <a:rPr lang="fr-FR" dirty="0"/>
              <a:t>Catalyst 8300</a:t>
            </a:r>
          </a:p>
          <a:p>
            <a:r>
              <a:rPr lang="fr-FR" dirty="0"/>
              <a:t>Catalyst 8200</a:t>
            </a:r>
          </a:p>
          <a:p>
            <a:r>
              <a:rPr lang="fr-FR" dirty="0"/>
              <a:t>Catalyst </a:t>
            </a:r>
            <a:r>
              <a:rPr lang="fr-FR" dirty="0" err="1"/>
              <a:t>8000V</a:t>
            </a:r>
            <a:endParaRPr lang="fr-FR" dirty="0"/>
          </a:p>
          <a:p>
            <a:r>
              <a:rPr lang="fr-FR" dirty="0" err="1"/>
              <a:t>ASR1000-RP3</a:t>
            </a:r>
            <a:r>
              <a:rPr lang="fr-FR" dirty="0"/>
              <a:t>/</a:t>
            </a:r>
            <a:r>
              <a:rPr lang="fr-FR" dirty="0" err="1"/>
              <a:t>ESP100</a:t>
            </a:r>
            <a:r>
              <a:rPr lang="fr-FR" dirty="0"/>
              <a:t>-X</a:t>
            </a:r>
            <a:endParaRPr lang="en-US" dirty="0"/>
          </a:p>
        </p:txBody>
      </p:sp>
      <p:sp>
        <p:nvSpPr>
          <p:cNvPr id="3" name="Text Placeholder 2">
            <a:extLst>
              <a:ext uri="{FF2B5EF4-FFF2-40B4-BE49-F238E27FC236}">
                <a16:creationId xmlns:a16="http://schemas.microsoft.com/office/drawing/2014/main" id="{ECC1B3B6-F1A6-561F-63BF-91E15E47D0A0}"/>
              </a:ext>
            </a:extLst>
          </p:cNvPr>
          <p:cNvSpPr>
            <a:spLocks noGrp="1"/>
          </p:cNvSpPr>
          <p:nvPr>
            <p:ph type="body" sz="quarter" idx="11"/>
          </p:nvPr>
        </p:nvSpPr>
        <p:spPr/>
        <p:txBody>
          <a:bodyPr/>
          <a:lstStyle/>
          <a:p>
            <a:r>
              <a:rPr lang="en-US" dirty="0"/>
              <a:t>Platforms IOS-XE</a:t>
            </a:r>
          </a:p>
        </p:txBody>
      </p:sp>
    </p:spTree>
    <p:extLst>
      <p:ext uri="{BB962C8B-B14F-4D97-AF65-F5344CB8AC3E}">
        <p14:creationId xmlns:p14="http://schemas.microsoft.com/office/powerpoint/2010/main" val="816781023"/>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22851A4-4C87-E8EA-C674-0E18A6AB564E}"/>
              </a:ext>
            </a:extLst>
          </p:cNvPr>
          <p:cNvSpPr>
            <a:spLocks noGrp="1"/>
          </p:cNvSpPr>
          <p:nvPr>
            <p:ph type="body" sz="quarter" idx="10"/>
          </p:nvPr>
        </p:nvSpPr>
        <p:spPr/>
        <p:txBody>
          <a:bodyPr/>
          <a:lstStyle/>
          <a:p>
            <a:r>
              <a:rPr lang="en-US" dirty="0"/>
              <a:t>Scale - One of the main benefits of SRv6 is the ability to build networks at huge scale through address summarization.</a:t>
            </a:r>
          </a:p>
          <a:p>
            <a:r>
              <a:rPr lang="en-US" dirty="0"/>
              <a:t>Simple Forwarding - In SRv6, if a node is not a terminating node it simply forwards the traffic using IPv6 IP forwarding. </a:t>
            </a:r>
          </a:p>
          <a:p>
            <a:pPr lvl="1"/>
            <a:r>
              <a:rPr lang="en-US" dirty="0"/>
              <a:t>This means nodes which are not SRv6 aware can also participate in a SRv6 network.</a:t>
            </a:r>
          </a:p>
          <a:p>
            <a:r>
              <a:rPr lang="en-US" dirty="0"/>
              <a:t>Forwarding and Service Congruency - As you will see in the services section, the destination IPv6 address in SRv6 is the service endpoint. Coupled with the simple forwarding this aids in troubleshooting and is much easier to understand than the MPLS layered service and data plane.</a:t>
            </a:r>
          </a:p>
          <a:p>
            <a:endParaRPr lang="en-US" dirty="0"/>
          </a:p>
        </p:txBody>
      </p:sp>
      <p:sp>
        <p:nvSpPr>
          <p:cNvPr id="3" name="Text Placeholder 2">
            <a:extLst>
              <a:ext uri="{FF2B5EF4-FFF2-40B4-BE49-F238E27FC236}">
                <a16:creationId xmlns:a16="http://schemas.microsoft.com/office/drawing/2014/main" id="{94B8ED6C-7982-3897-7E1B-8084D5838EE0}"/>
              </a:ext>
            </a:extLst>
          </p:cNvPr>
          <p:cNvSpPr>
            <a:spLocks noGrp="1"/>
          </p:cNvSpPr>
          <p:nvPr>
            <p:ph type="body" sz="quarter" idx="11"/>
          </p:nvPr>
        </p:nvSpPr>
        <p:spPr/>
        <p:txBody>
          <a:bodyPr/>
          <a:lstStyle/>
          <a:p>
            <a:r>
              <a:rPr lang="en-US" dirty="0"/>
              <a:t>SRv6 Benefits</a:t>
            </a:r>
          </a:p>
        </p:txBody>
      </p:sp>
    </p:spTree>
    <p:extLst>
      <p:ext uri="{BB962C8B-B14F-4D97-AF65-F5344CB8AC3E}">
        <p14:creationId xmlns:p14="http://schemas.microsoft.com/office/powerpoint/2010/main" val="1030946044"/>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adpis 3">
            <a:extLst>
              <a:ext uri="{FF2B5EF4-FFF2-40B4-BE49-F238E27FC236}">
                <a16:creationId xmlns:a16="http://schemas.microsoft.com/office/drawing/2014/main" id="{74462042-8033-45A7-8C50-9728D8737E26}"/>
              </a:ext>
            </a:extLst>
          </p:cNvPr>
          <p:cNvSpPr>
            <a:spLocks noGrp="1"/>
          </p:cNvSpPr>
          <p:nvPr>
            <p:ph type="ctrTitle"/>
          </p:nvPr>
        </p:nvSpPr>
        <p:spPr>
          <a:xfrm>
            <a:off x="1524000" y="1788417"/>
            <a:ext cx="9144000" cy="2583544"/>
          </a:xfrm>
        </p:spPr>
        <p:txBody>
          <a:bodyPr/>
          <a:lstStyle/>
          <a:p>
            <a:r>
              <a:rPr lang="en-US" sz="4000" dirty="0">
                <a:cs typeface="Calibri" pitchFamily="34" charset="0"/>
              </a:rPr>
              <a:t>I look forward to seeing you again soon </a:t>
            </a:r>
            <a:br>
              <a:rPr lang="en-US" sz="4000" dirty="0">
                <a:cs typeface="Calibri" pitchFamily="34" charset="0"/>
              </a:rPr>
            </a:br>
            <a:br>
              <a:rPr lang="en-US" sz="4000" dirty="0">
                <a:cs typeface="Calibri" pitchFamily="34" charset="0"/>
              </a:rPr>
            </a:br>
            <a:endParaRPr lang="en-US" sz="4000" noProof="0" dirty="0"/>
          </a:p>
        </p:txBody>
      </p:sp>
      <p:pic>
        <p:nvPicPr>
          <p:cNvPr id="5" name="Obrázek 4">
            <a:extLst>
              <a:ext uri="{FF2B5EF4-FFF2-40B4-BE49-F238E27FC236}">
                <a16:creationId xmlns:a16="http://schemas.microsoft.com/office/drawing/2014/main" id="{E221F373-FD28-45EB-A650-FC7A9AEB62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8527" y="4136571"/>
            <a:ext cx="4670958" cy="2583544"/>
          </a:xfrm>
          <a:prstGeom prst="rect">
            <a:avLst/>
          </a:prstGeom>
        </p:spPr>
      </p:pic>
      <p:pic>
        <p:nvPicPr>
          <p:cNvPr id="7" name="Obrázek 6">
            <a:extLst>
              <a:ext uri="{FF2B5EF4-FFF2-40B4-BE49-F238E27FC236}">
                <a16:creationId xmlns:a16="http://schemas.microsoft.com/office/drawing/2014/main" id="{DBCEB049-E292-4779-9B74-FA641E35BC1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flipH="1">
            <a:off x="522515" y="3305603"/>
            <a:ext cx="5326743" cy="3414512"/>
          </a:xfrm>
          <a:prstGeom prst="rect">
            <a:avLst/>
          </a:prstGeom>
        </p:spPr>
      </p:pic>
    </p:spTree>
    <p:extLst>
      <p:ext uri="{BB962C8B-B14F-4D97-AF65-F5344CB8AC3E}">
        <p14:creationId xmlns:p14="http://schemas.microsoft.com/office/powerpoint/2010/main" val="4009165694"/>
      </p:ext>
    </p:extLst>
  </p:cSld>
  <p:clrMapOvr>
    <a:masterClrMapping/>
  </p:clrMapOvr>
</p:sld>
</file>

<file path=ppt/theme/theme1.xml><?xml version="1.0" encoding="utf-8"?>
<a:theme xmlns:a="http://schemas.openxmlformats.org/drawingml/2006/main" name="Motiv1">
  <a:themeElements>
    <a:clrScheme name="Alef-2018-v2">
      <a:dk1>
        <a:sysClr val="windowText" lastClr="000000"/>
      </a:dk1>
      <a:lt1>
        <a:sysClr val="window" lastClr="FFFFFF"/>
      </a:lt1>
      <a:dk2>
        <a:srgbClr val="00AAAA"/>
      </a:dk2>
      <a:lt2>
        <a:srgbClr val="FFFFFF"/>
      </a:lt2>
      <a:accent1>
        <a:srgbClr val="00AAAA"/>
      </a:accent1>
      <a:accent2>
        <a:srgbClr val="4E55A2"/>
      </a:accent2>
      <a:accent3>
        <a:srgbClr val="00B6ED"/>
      </a:accent3>
      <a:accent4>
        <a:srgbClr val="A0C83C"/>
      </a:accent4>
      <a:accent5>
        <a:srgbClr val="964B96"/>
      </a:accent5>
      <a:accent6>
        <a:srgbClr val="E8335E"/>
      </a:accent6>
      <a:hlink>
        <a:srgbClr val="007A77"/>
      </a:hlink>
      <a:folHlink>
        <a:srgbClr val="004C4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kumimoji="0" sz="2400" b="1" i="0" u="none" strike="noStrike" kern="1200" cap="none" spc="0" normalizeH="0" baseline="0" noProof="0" dirty="0" err="1" smtClean="0">
            <a:ln>
              <a:noFill/>
            </a:ln>
            <a:solidFill>
              <a:schemeClr val="tx1"/>
            </a:solidFill>
            <a:effectLst/>
            <a:uLnTx/>
            <a:uFillTx/>
            <a:latin typeface="Arial" panose="020B0604020202020204"/>
            <a:ea typeface="+mn-ea"/>
            <a:cs typeface="+mn-cs"/>
          </a:defRPr>
        </a:defPPr>
      </a:lstStyle>
    </a:txDef>
  </a:objectDefaults>
  <a:extraClrSchemeLst/>
  <a:extLst>
    <a:ext uri="{05A4C25C-085E-4340-85A3-A5531E510DB2}">
      <thm15:themeFamily xmlns:thm15="http://schemas.microsoft.com/office/thememl/2012/main" name="Motiv1" id="{F6792067-4313-4539-B395-61E5FF34C4DA}" vid="{00193B1F-B531-42DF-A924-3A3900146259}"/>
    </a:ext>
  </a:extLst>
</a:theme>
</file>

<file path=ppt/theme/theme2.xml><?xml version="1.0" encoding="utf-8"?>
<a:theme xmlns:a="http://schemas.openxmlformats.org/drawingml/2006/main" name="Motiv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otiv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b966b0c6-c4b8-4f66-b12c-1fddfbfd88f5">
      <Terms xmlns="http://schemas.microsoft.com/office/infopath/2007/PartnerControls"/>
    </lcf76f155ced4ddcb4097134ff3c332f>
    <TaxCatchAll xmlns="5771ae63-22bc-471d-a4f9-1b8f4e8389d6" xsi:nil="true"/>
    <_ip_UnifiedCompliancePolicyProperties xmlns="http://schemas.microsoft.com/sharepoint/v3" xsi:nil="true"/>
    <uhnq xmlns="b966b0c6-c4b8-4f66-b12c-1fddfbfd88f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E9991B5C1F6214B9D04FBEEF82F0B26" ma:contentTypeVersion="22" ma:contentTypeDescription="Create a new document." ma:contentTypeScope="" ma:versionID="a0fa90a763883c509ffa08b460b38bf6">
  <xsd:schema xmlns:xsd="http://www.w3.org/2001/XMLSchema" xmlns:xs="http://www.w3.org/2001/XMLSchema" xmlns:p="http://schemas.microsoft.com/office/2006/metadata/properties" xmlns:ns1="http://schemas.microsoft.com/sharepoint/v3" xmlns:ns2="b966b0c6-c4b8-4f66-b12c-1fddfbfd88f5" xmlns:ns3="5771ae63-22bc-471d-a4f9-1b8f4e8389d6" targetNamespace="http://schemas.microsoft.com/office/2006/metadata/properties" ma:root="true" ma:fieldsID="32391b4059bda7cba9d281f557c06caa" ns1:_="" ns2:_="" ns3:_="">
    <xsd:import namespace="http://schemas.microsoft.com/sharepoint/v3"/>
    <xsd:import namespace="b966b0c6-c4b8-4f66-b12c-1fddfbfd88f5"/>
    <xsd:import namespace="5771ae63-22bc-471d-a4f9-1b8f4e8389d6"/>
    <xsd:element name="properties">
      <xsd:complexType>
        <xsd:sequence>
          <xsd:element name="documentManagement">
            <xsd:complexType>
              <xsd:all>
                <xsd:element ref="ns2:uhnq" minOccurs="0"/>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SearchPropertie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5" nillable="true" ma:displayName="Unified Compliance Policy Properties" ma:hidden="true" ma:internalName="_ip_UnifiedCompliancePolicyProperties">
      <xsd:simpleType>
        <xsd:restriction base="dms:Note"/>
      </xsd:simpleType>
    </xsd:element>
    <xsd:element name="_ip_UnifiedCompliancePolicyUIAction" ma:index="2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966b0c6-c4b8-4f66-b12c-1fddfbfd88f5" elementFormDefault="qualified">
    <xsd:import namespace="http://schemas.microsoft.com/office/2006/documentManagement/types"/>
    <xsd:import namespace="http://schemas.microsoft.com/office/infopath/2007/PartnerControls"/>
    <xsd:element name="uhnq" ma:index="8" nillable="true" ma:displayName="Date and time" ma:internalName="uhnq">
      <xsd:simpleType>
        <xsd:restriction base="dms:DateTim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DateTaken" ma:index="11" nillable="true" ma:displayName="MediaServiceDateTaken" ma:hidden="true" ma:internalName="MediaServiceDateTaken" ma:readOnly="true">
      <xsd:simpleType>
        <xsd:restriction base="dms:Text"/>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ac36cd28-bbdb-40de-ae41-fabe63487e5a" ma:termSetId="09814cd3-568e-fe90-9814-8d621ff8fb84" ma:anchorId="fba54fb3-c3e1-fe81-a776-ca4b69148c4d" ma:open="true" ma:isKeyword="false">
      <xsd:complexType>
        <xsd:sequence>
          <xsd:element ref="pc:Terms" minOccurs="0" maxOccurs="1"/>
        </xsd:sequence>
      </xsd:complex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ObjectDetectorVersions" ma:index="28" nillable="true" ma:displayName="MediaServiceObjectDetectorVersions" ma:hidden="true" ma:indexed="true" ma:internalName="MediaServiceObjectDetectorVersions" ma:readOnly="true">
      <xsd:simpleType>
        <xsd:restriction base="dms:Text"/>
      </xsd:simpleType>
    </xsd:element>
    <xsd:element name="MediaServiceBillingMetadata" ma:index="2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771ae63-22bc-471d-a4f9-1b8f4e8389d6"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90403493-d0f7-4f49-b71f-0eb68ea8a258}" ma:internalName="TaxCatchAll" ma:showField="CatchAllData" ma:web="5771ae63-22bc-471d-a4f9-1b8f4e8389d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E712C41-15C3-4BAD-8BC5-8A8961DB1660}">
  <ds:schemaRefs>
    <ds:schemaRef ds:uri="5771ae63-22bc-471d-a4f9-1b8f4e8389d6"/>
    <ds:schemaRef ds:uri="http://schemas.openxmlformats.org/package/2006/metadata/core-properties"/>
    <ds:schemaRef ds:uri="http://schemas.microsoft.com/office/2006/documentManagement/types"/>
    <ds:schemaRef ds:uri="http://purl.org/dc/elements/1.1/"/>
    <ds:schemaRef ds:uri="http://purl.org/dc/dcmitype/"/>
    <ds:schemaRef ds:uri="http://schemas.microsoft.com/office/2006/metadata/properties"/>
    <ds:schemaRef ds:uri="http://www.w3.org/XML/1998/namespace"/>
    <ds:schemaRef ds:uri="http://purl.org/dc/terms/"/>
    <ds:schemaRef ds:uri="http://schemas.microsoft.com/sharepoint/v3"/>
    <ds:schemaRef ds:uri="http://schemas.microsoft.com/office/infopath/2007/PartnerControls"/>
    <ds:schemaRef ds:uri="b966b0c6-c4b8-4f66-b12c-1fddfbfd88f5"/>
  </ds:schemaRefs>
</ds:datastoreItem>
</file>

<file path=customXml/itemProps2.xml><?xml version="1.0" encoding="utf-8"?>
<ds:datastoreItem xmlns:ds="http://schemas.openxmlformats.org/officeDocument/2006/customXml" ds:itemID="{636650F5-9A6F-4EBA-8517-C67723DCBB41}">
  <ds:schemaRefs>
    <ds:schemaRef ds:uri="http://schemas.microsoft.com/sharepoint/v3/contenttype/forms"/>
  </ds:schemaRefs>
</ds:datastoreItem>
</file>

<file path=customXml/itemProps3.xml><?xml version="1.0" encoding="utf-8"?>
<ds:datastoreItem xmlns:ds="http://schemas.openxmlformats.org/officeDocument/2006/customXml" ds:itemID="{A3D4585A-53CF-40A6-AD4F-6242589FAB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966b0c6-c4b8-4f66-b12c-1fddfbfd88f5"/>
    <ds:schemaRef ds:uri="5771ae63-22bc-471d-a4f9-1b8f4e8389d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Motiv1</Template>
  <TotalTime>29438</TotalTime>
  <Words>41780</Words>
  <Application>Microsoft Office PowerPoint</Application>
  <PresentationFormat>Widescreen</PresentationFormat>
  <Paragraphs>6602</Paragraphs>
  <Slides>322</Slides>
  <Notes>125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322</vt:i4>
      </vt:variant>
    </vt:vector>
  </HeadingPairs>
  <TitlesOfParts>
    <vt:vector size="334" baseType="lpstr">
      <vt:lpstr>Arial</vt:lpstr>
      <vt:lpstr>Calibri</vt:lpstr>
      <vt:lpstr>Calibri-Light</vt:lpstr>
      <vt:lpstr>Cambria Math</vt:lpstr>
      <vt:lpstr>CiscoSans</vt:lpstr>
      <vt:lpstr>CiscoSansTT ExtraLight</vt:lpstr>
      <vt:lpstr>CiscoSansTT Light</vt:lpstr>
      <vt:lpstr>Consolas</vt:lpstr>
      <vt:lpstr>Courier New</vt:lpstr>
      <vt:lpstr>Verdana</vt:lpstr>
      <vt:lpstr>Wingdings</vt:lpstr>
      <vt:lpstr>Motiv1</vt:lpstr>
      <vt:lpstr>Segment Routing over IPv6 dataplane (SRv6)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 look forward to seeing you again soon   </vt:lpstr>
    </vt:vector>
  </TitlesOfParts>
  <Manager>Dalibor.Naus@alef.com</Manager>
  <Company>Alef NULA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Prezentace aplikace PowerPoint</dc:title>
  <dc:subject>SRv6</dc:subject>
  <dc:creator>Vladimir.Bures@alef.com</dc:creator>
  <cp:lastModifiedBy>Martin Brenek</cp:lastModifiedBy>
  <cp:revision>416</cp:revision>
  <dcterms:created xsi:type="dcterms:W3CDTF">2019-02-28T12:38:33Z</dcterms:created>
  <dcterms:modified xsi:type="dcterms:W3CDTF">2026-04-06T08:54:48Z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0x0101002E9991B5C1F6214B9D04FBEEF82F0B26</vt:lpwstr>
  </property>
  <property fmtid="{D5CDD505-2E9C-101B-9397-08002B2CF9AE}" pid="3" name="MediaServiceImageTags">
    <vt:lpwstr/>
  </property>
</Properties>
</file>